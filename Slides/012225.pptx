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258" r:id="rId2"/>
    <p:sldId id="487" r:id="rId3"/>
    <p:sldId id="564" r:id="rId4"/>
    <p:sldId id="565" r:id="rId5"/>
    <p:sldId id="566" r:id="rId6"/>
    <p:sldId id="567" r:id="rId7"/>
    <p:sldId id="568" r:id="rId8"/>
    <p:sldId id="578" r:id="rId9"/>
    <p:sldId id="579" r:id="rId10"/>
    <p:sldId id="518" r:id="rId11"/>
    <p:sldId id="622" r:id="rId12"/>
    <p:sldId id="516" r:id="rId13"/>
    <p:sldId id="621" r:id="rId14"/>
    <p:sldId id="588" r:id="rId15"/>
    <p:sldId id="520" r:id="rId16"/>
    <p:sldId id="596" r:id="rId17"/>
    <p:sldId id="521" r:id="rId18"/>
    <p:sldId id="623" r:id="rId19"/>
    <p:sldId id="522" r:id="rId20"/>
    <p:sldId id="597" r:id="rId21"/>
    <p:sldId id="523" r:id="rId22"/>
    <p:sldId id="524" r:id="rId23"/>
    <p:sldId id="592" r:id="rId24"/>
    <p:sldId id="526" r:id="rId25"/>
    <p:sldId id="527" r:id="rId26"/>
    <p:sldId id="528" r:id="rId27"/>
    <p:sldId id="626" r:id="rId28"/>
    <p:sldId id="628" r:id="rId29"/>
    <p:sldId id="595" r:id="rId30"/>
    <p:sldId id="629" r:id="rId31"/>
    <p:sldId id="598" r:id="rId32"/>
    <p:sldId id="599" r:id="rId33"/>
    <p:sldId id="617" r:id="rId34"/>
    <p:sldId id="618" r:id="rId35"/>
    <p:sldId id="619" r:id="rId36"/>
    <p:sldId id="627" r:id="rId37"/>
    <p:sldId id="602" r:id="rId38"/>
    <p:sldId id="603" r:id="rId39"/>
    <p:sldId id="604" r:id="rId40"/>
    <p:sldId id="605" r:id="rId41"/>
    <p:sldId id="606" r:id="rId42"/>
    <p:sldId id="607" r:id="rId43"/>
    <p:sldId id="608" r:id="rId44"/>
    <p:sldId id="609" r:id="rId45"/>
    <p:sldId id="610" r:id="rId46"/>
    <p:sldId id="611" r:id="rId47"/>
    <p:sldId id="612" r:id="rId48"/>
    <p:sldId id="613" r:id="rId49"/>
    <p:sldId id="620" r:id="rId50"/>
    <p:sldId id="615" r:id="rId51"/>
    <p:sldId id="616" r:id="rId52"/>
    <p:sldId id="594" r:id="rId53"/>
    <p:sldId id="630" r:id="rId54"/>
    <p:sldId id="614" r:id="rId55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3A600"/>
    <a:srgbClr val="333399"/>
    <a:srgbClr val="FFCB05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17"/>
    <p:restoredTop sz="91408"/>
  </p:normalViewPr>
  <p:slideViewPr>
    <p:cSldViewPr>
      <p:cViewPr varScale="1">
        <p:scale>
          <a:sx n="108" d="100"/>
          <a:sy n="108" d="100"/>
        </p:scale>
        <p:origin x="173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14EF427-E3A8-D542-91D3-317F25033480}" type="slidenum">
              <a:rPr lang="en-US" sz="1100" b="0">
                <a:latin typeface="Times New Roman" charset="0"/>
              </a:rPr>
              <a:pPr/>
              <a:t>1</a:t>
            </a:fld>
            <a:endParaRPr lang="en-US" sz="1100" b="0">
              <a:latin typeface="Times New Roman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311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3328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1248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237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Transcoding = change compression rate per user</a:t>
            </a:r>
            <a:r>
              <a:rPr lang="ja-JP" altLang="en-US">
                <a:ea typeface="ＭＳ Ｐゴシック" charset="0"/>
                <a:cs typeface="ＭＳ Ｐゴシック" charset="0"/>
              </a:rPr>
              <a:t>’</a:t>
            </a:r>
            <a:r>
              <a:rPr lang="en-US">
                <a:ea typeface="ＭＳ Ｐゴシック" charset="0"/>
                <a:cs typeface="ＭＳ Ｐゴシック" charset="0"/>
              </a:rPr>
              <a:t>s bandwidth</a:t>
            </a:r>
          </a:p>
        </p:txBody>
      </p:sp>
    </p:spTree>
    <p:extLst>
      <p:ext uri="{BB962C8B-B14F-4D97-AF65-F5344CB8AC3E}">
        <p14:creationId xmlns:p14="http://schemas.microsoft.com/office/powerpoint/2010/main" val="15706595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035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ICANN: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Internet Corporation for Assigned Names and Numbers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IANA: Internet Assigned Numbers Authority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571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4C77BAE-B1F9-894F-A30D-94797C2329C5}" type="slidenum">
              <a:rPr lang="en-US" sz="1300" b="0">
                <a:latin typeface="Times New Roman" charset="0"/>
              </a:rPr>
              <a:pPr eaLnBrk="1" hangingPunct="1"/>
              <a:t>24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0950" y="708025"/>
            <a:ext cx="4814888" cy="3611563"/>
          </a:xfrm>
          <a:solidFill>
            <a:srgbClr val="FFFFFF"/>
          </a:solidFill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4564063"/>
            <a:ext cx="5429250" cy="43338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fr-FR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7446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97F5172E-D380-4348-84B1-443CFC9E7DD9}" type="slidenum">
              <a:rPr lang="en-US" sz="1300" b="0">
                <a:latin typeface="Times New Roman" charset="0"/>
              </a:rPr>
              <a:pPr eaLnBrk="1" hangingPunct="1"/>
              <a:t>26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2682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763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DHCP: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Dynamic Host Configuration Protocol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191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8E6DECEB-02F6-8C41-99F5-759492C41FD1}" type="slidenum">
              <a:rPr lang="en-US" sz="1300" b="0">
                <a:latin typeface="Times New Roman" charset="0"/>
              </a:rPr>
              <a:pPr eaLnBrk="1" hangingPunct="1"/>
              <a:t>46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7179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5E7A2AF4-21A1-4549-972D-2D4D3C966DCF}" type="slidenum">
              <a:rPr lang="en-US" sz="1300" b="0">
                <a:latin typeface="Times New Roman" charset="0"/>
              </a:rPr>
              <a:pPr eaLnBrk="1" hangingPunct="1"/>
              <a:t>48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7120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5462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F2A1D53B-0B65-174C-A832-8F76934966BD}" type="slidenum">
              <a:rPr lang="en-US" sz="1300" b="0">
                <a:latin typeface="Times New Roman" charset="0"/>
              </a:rPr>
              <a:pPr eaLnBrk="1" hangingPunct="1"/>
              <a:t>51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2528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7556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F244B183-CBA1-BA47-8281-488AF6A9CE4D}" type="slidenum">
              <a:rPr lang="en-US" sz="1300" b="0">
                <a:latin typeface="Times New Roman" charset="0"/>
              </a:rPr>
              <a:pPr eaLnBrk="1" hangingPunct="1"/>
              <a:t>54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301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January 22, 2025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EECS 489 – Lecture 4</a:t>
            </a:r>
          </a:p>
        </p:txBody>
      </p:sp>
    </p:spTree>
    <p:extLst>
      <p:ext uri="{BB962C8B-B14F-4D97-AF65-F5344CB8AC3E}">
        <p14:creationId xmlns:p14="http://schemas.microsoft.com/office/powerpoint/2010/main" val="351196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90D881-957A-7944-A8D0-1584E528B8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0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F2EB77-FB6C-2244-A076-ADF097535D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20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6FED86-94EF-254D-90EE-B810FE8299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1CF967-1287-0948-92AE-55309D19614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4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07A418-0CEB-9E4A-BA45-3B7D3D133E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1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D7AD44-FDD5-3640-B5FD-B68DA213B1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1E35D2-F4F4-2848-A65C-22D2D75C674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27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309860-561E-FA4E-8AD9-21F393B80F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2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00292D-9130-BA41-A2F4-8C3DF7A50D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8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995D8D-2725-7449-9768-A6F305723FF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46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750"/>
            </a:lvl1pPr>
          </a:lstStyle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750"/>
            </a:lvl1pPr>
          </a:lstStyle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750"/>
            </a:lvl1pPr>
          </a:lstStyle>
          <a:p>
            <a:fld id="{6CABC02E-5657-E248-B9C6-199B1358382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effectLst/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57350" y="1257300"/>
            <a:ext cx="5829300" cy="2286000"/>
          </a:xfrm>
        </p:spPr>
        <p:txBody>
          <a:bodyPr/>
          <a:lstStyle/>
          <a:p>
            <a:pPr algn="ctr"/>
            <a: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  <a:t>EECS 489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  <a:t>Winter 2025</a:t>
            </a:r>
            <a:endParaRPr lang="en-US" dirty="0">
              <a:effectLst/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00100" y="3771900"/>
            <a:ext cx="7543800" cy="1828800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Mosharaf Chowdhury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colleagues.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CDN: Content Distribution Network</a:t>
            </a:r>
          </a:p>
          <a:p>
            <a:r>
              <a:rPr lang="en-US" dirty="0"/>
              <a:t>DNS: Domain Name System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Caching</a:t>
            </a:r>
          </a:p>
        </p:txBody>
      </p:sp>
      <p:sp>
        <p:nvSpPr>
          <p:cNvPr id="9216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Exploits locality of reference</a:t>
            </a:r>
          </a:p>
          <a:p>
            <a:pPr lvl="1"/>
            <a:endParaRPr lang="en-US" dirty="0"/>
          </a:p>
          <a:p>
            <a:r>
              <a:rPr lang="en-US" dirty="0"/>
              <a:t>Works well for popular content</a:t>
            </a:r>
          </a:p>
          <a:p>
            <a:pPr lvl="1"/>
            <a:r>
              <a:rPr lang="en-US" dirty="0"/>
              <a:t>Not so much for unique requests</a:t>
            </a:r>
          </a:p>
          <a:p>
            <a:pPr lvl="2"/>
            <a:r>
              <a:rPr lang="en-US" dirty="0"/>
              <a:t>Effectiveness of caching grows logarithmically with size</a:t>
            </a:r>
          </a:p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15, 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CDE19-F834-0349-9B7F-E2878B182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285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Caching: How</a:t>
            </a:r>
          </a:p>
        </p:txBody>
      </p:sp>
      <p:sp>
        <p:nvSpPr>
          <p:cNvPr id="1085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Modifier to GET requests:</a:t>
            </a:r>
          </a:p>
          <a:p>
            <a:pPr lvl="1"/>
            <a:r>
              <a:rPr lang="en-US" dirty="0">
                <a:solidFill>
                  <a:srgbClr val="0000FF"/>
                </a:solidFill>
                <a:latin typeface="Lucida Console" charset="0"/>
                <a:ea typeface="Lucida Console" charset="0"/>
                <a:cs typeface="Lucida Console" charset="0"/>
              </a:rPr>
              <a:t>If-modified-since</a:t>
            </a:r>
            <a:r>
              <a:rPr lang="en-US" dirty="0"/>
              <a:t> – returns </a:t>
            </a:r>
            <a:r>
              <a:rPr lang="ja-JP" altLang="en-US" dirty="0"/>
              <a:t>“</a:t>
            </a:r>
            <a:r>
              <a:rPr lang="en-US" dirty="0"/>
              <a:t>not modified</a:t>
            </a:r>
            <a:r>
              <a:rPr lang="ja-JP" altLang="en-US" dirty="0"/>
              <a:t>”</a:t>
            </a:r>
            <a:r>
              <a:rPr lang="en-US" dirty="0"/>
              <a:t> if resource not modified since specified time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15, 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3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786406" y="3474241"/>
            <a:ext cx="7571188" cy="1631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383" tIns="45692" rIns="91383" bIns="4569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dirty="0">
                <a:solidFill>
                  <a:srgbClr val="D3A600"/>
                </a:solidFill>
                <a:latin typeface="Lucida Console" charset="0"/>
                <a:ea typeface="Lucida Console" charset="0"/>
                <a:cs typeface="Lucida Console" charset="0"/>
              </a:rPr>
              <a:t>GET /</a:t>
            </a:r>
            <a:r>
              <a:rPr lang="en-US" dirty="0" err="1">
                <a:solidFill>
                  <a:srgbClr val="D3A600"/>
                </a:solidFill>
                <a:latin typeface="Lucida Console" charset="0"/>
                <a:ea typeface="Lucida Console" charset="0"/>
                <a:cs typeface="Lucida Console" charset="0"/>
              </a:rPr>
              <a:t>somedir</a:t>
            </a:r>
            <a:r>
              <a:rPr lang="en-US" dirty="0">
                <a:solidFill>
                  <a:srgbClr val="D3A600"/>
                </a:solidFill>
                <a:latin typeface="Lucida Console" charset="0"/>
                <a:ea typeface="Lucida Console" charset="0"/>
                <a:cs typeface="Lucida Console" charset="0"/>
              </a:rPr>
              <a:t>/</a:t>
            </a:r>
            <a:r>
              <a:rPr lang="en-US" dirty="0" err="1">
                <a:solidFill>
                  <a:srgbClr val="D3A600"/>
                </a:solidFill>
                <a:latin typeface="Lucida Console" charset="0"/>
                <a:ea typeface="Lucida Console" charset="0"/>
                <a:cs typeface="Lucida Console" charset="0"/>
              </a:rPr>
              <a:t>page.html</a:t>
            </a:r>
            <a:r>
              <a:rPr lang="en-US" dirty="0">
                <a:solidFill>
                  <a:srgbClr val="D3A600"/>
                </a:solidFill>
                <a:latin typeface="Lucida Console" charset="0"/>
                <a:ea typeface="Lucida Console" charset="0"/>
                <a:cs typeface="Lucida Console" charset="0"/>
              </a:rPr>
              <a:t> HTTP/1.1</a:t>
            </a:r>
          </a:p>
          <a:p>
            <a:pPr algn="l"/>
            <a:r>
              <a:rPr lang="en-US" dirty="0">
                <a:solidFill>
                  <a:srgbClr val="D3A600"/>
                </a:solidFill>
                <a:latin typeface="Lucida Console" charset="0"/>
                <a:ea typeface="Lucida Console" charset="0"/>
                <a:cs typeface="Lucida Console" charset="0"/>
              </a:rPr>
              <a:t>Host: </a:t>
            </a:r>
            <a:r>
              <a:rPr lang="en-US" dirty="0" err="1">
                <a:solidFill>
                  <a:srgbClr val="D3A600"/>
                </a:solidFill>
                <a:latin typeface="Lucida Console" charset="0"/>
                <a:ea typeface="Lucida Console" charset="0"/>
                <a:cs typeface="Lucida Console" charset="0"/>
              </a:rPr>
              <a:t>www.someschool.edu</a:t>
            </a:r>
            <a:r>
              <a:rPr lang="en-US" dirty="0">
                <a:solidFill>
                  <a:srgbClr val="D3A600"/>
                </a:solidFill>
                <a:latin typeface="Lucida Console" charset="0"/>
                <a:ea typeface="Lucida Console" charset="0"/>
                <a:cs typeface="Lucida Console" charset="0"/>
              </a:rPr>
              <a:t> </a:t>
            </a:r>
          </a:p>
          <a:p>
            <a:pPr algn="l"/>
            <a:r>
              <a:rPr lang="en-US" dirty="0">
                <a:solidFill>
                  <a:srgbClr val="D3A600"/>
                </a:solidFill>
                <a:latin typeface="Lucida Console" charset="0"/>
                <a:ea typeface="Lucida Console" charset="0"/>
                <a:cs typeface="Lucida Console" charset="0"/>
              </a:rPr>
              <a:t>User-agent: Mozilla/4.0</a:t>
            </a:r>
          </a:p>
          <a:p>
            <a:r>
              <a:rPr lang="en-US" dirty="0">
                <a:solidFill>
                  <a:srgbClr val="D3A600"/>
                </a:solidFill>
                <a:latin typeface="Lucida Console" charset="0"/>
                <a:ea typeface="Lucida Console" charset="0"/>
                <a:cs typeface="Lucida Console" charset="0"/>
              </a:rPr>
              <a:t>If-modified-since: Wed, 18 Jan 2017 10:25:50 GMT</a:t>
            </a:r>
          </a:p>
          <a:p>
            <a:pPr algn="l"/>
            <a:r>
              <a:rPr lang="en-US" b="0" dirty="0">
                <a:solidFill>
                  <a:srgbClr val="D3A600"/>
                </a:solidFill>
                <a:latin typeface="Lucida Console" charset="0"/>
                <a:ea typeface="Lucida Console" charset="0"/>
                <a:cs typeface="Lucida Console" charset="0"/>
              </a:rPr>
              <a:t>(blank line)</a:t>
            </a:r>
            <a:r>
              <a:rPr lang="en-US" dirty="0">
                <a:solidFill>
                  <a:srgbClr val="D3A600"/>
                </a:solidFill>
                <a:latin typeface="Lucida Console" charset="0"/>
                <a:ea typeface="Lucida Console" charset="0"/>
                <a:cs typeface="Lucida Console" charset="0"/>
              </a:rPr>
              <a:t> </a:t>
            </a:r>
            <a:endParaRPr lang="en-US" sz="2400" b="0" dirty="0">
              <a:solidFill>
                <a:srgbClr val="D3A600"/>
              </a:solidFill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4E5D9-0F0C-5947-9FC5-E584C570E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429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Caching: How</a:t>
            </a:r>
          </a:p>
        </p:txBody>
      </p:sp>
      <p:sp>
        <p:nvSpPr>
          <p:cNvPr id="1085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Modifier to GET requests:</a:t>
            </a:r>
          </a:p>
          <a:p>
            <a:pPr lvl="1"/>
            <a:r>
              <a:rPr lang="en-US" dirty="0">
                <a:solidFill>
                  <a:srgbClr val="0000FF"/>
                </a:solidFill>
                <a:latin typeface="Lucida Console" charset="0"/>
                <a:ea typeface="Lucida Console" charset="0"/>
                <a:cs typeface="Lucida Console" charset="0"/>
              </a:rPr>
              <a:t>If-modified-since</a:t>
            </a:r>
            <a:r>
              <a:rPr lang="en-US" dirty="0"/>
              <a:t> – returns </a:t>
            </a:r>
            <a:r>
              <a:rPr lang="ja-JP" altLang="en-US" dirty="0"/>
              <a:t>“</a:t>
            </a:r>
            <a:r>
              <a:rPr lang="en-US" dirty="0"/>
              <a:t>not modified</a:t>
            </a:r>
            <a:r>
              <a:rPr lang="ja-JP" altLang="en-US" dirty="0"/>
              <a:t>”</a:t>
            </a:r>
            <a:r>
              <a:rPr lang="en-US" dirty="0"/>
              <a:t> if resource not modified since specified time </a:t>
            </a:r>
          </a:p>
          <a:p>
            <a:r>
              <a:rPr lang="en-US" dirty="0"/>
              <a:t>Response header:</a:t>
            </a:r>
          </a:p>
          <a:p>
            <a:pPr lvl="1"/>
            <a:r>
              <a:rPr lang="en-US" dirty="0">
                <a:solidFill>
                  <a:srgbClr val="0000FF"/>
                </a:solidFill>
                <a:latin typeface="Lucida Console" charset="0"/>
                <a:ea typeface="Lucida Console" charset="0"/>
                <a:cs typeface="Lucida Console" charset="0"/>
              </a:rPr>
              <a:t>Expires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– how long it’s safe to cache the resource</a:t>
            </a:r>
          </a:p>
          <a:p>
            <a:pPr lvl="1"/>
            <a:r>
              <a:rPr lang="en-US" dirty="0">
                <a:solidFill>
                  <a:srgbClr val="0000FF"/>
                </a:solidFill>
                <a:latin typeface="Lucida Console" charset="0"/>
                <a:ea typeface="Lucida Console" charset="0"/>
                <a:cs typeface="Lucida Console" charset="0"/>
              </a:rPr>
              <a:t>No-cache</a:t>
            </a:r>
            <a:r>
              <a:rPr lang="en-US" dirty="0"/>
              <a:t> – ignore all caches; always get resource directly from server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15, 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0C67B-99EF-AE4B-A8A5-0F34252B0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76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Caching: Where?</a:t>
            </a:r>
            <a:endParaRPr lang="en-US" dirty="0"/>
          </a:p>
        </p:txBody>
      </p:sp>
      <p:sp>
        <p:nvSpPr>
          <p:cNvPr id="1085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Options</a:t>
            </a:r>
          </a:p>
          <a:p>
            <a:pPr lvl="1"/>
            <a:r>
              <a:rPr lang="en-US" dirty="0"/>
              <a:t>Client (browser)</a:t>
            </a:r>
          </a:p>
          <a:p>
            <a:pPr lvl="1"/>
            <a:r>
              <a:rPr lang="en-US" dirty="0"/>
              <a:t>Forward proxies </a:t>
            </a:r>
          </a:p>
          <a:p>
            <a:pPr lvl="1"/>
            <a:r>
              <a:rPr lang="en-US" dirty="0"/>
              <a:t>Reverse proxies</a:t>
            </a:r>
          </a:p>
          <a:p>
            <a:pPr lvl="1"/>
            <a:r>
              <a:rPr lang="en-US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Content Distribution Network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15, 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AD6CE-9751-0545-A7C3-E688F48EE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22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Caching: Where?</a:t>
            </a:r>
          </a:p>
        </p:txBody>
      </p:sp>
      <p:sp>
        <p:nvSpPr>
          <p:cNvPr id="1669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clients transfer same information</a:t>
            </a:r>
            <a:r>
              <a:rPr lang="en-US" dirty="0">
                <a:sym typeface="Wingdings" charset="0"/>
              </a:rPr>
              <a:t> </a:t>
            </a:r>
          </a:p>
          <a:p>
            <a:pPr lvl="1"/>
            <a:r>
              <a:rPr lang="en-US" dirty="0">
                <a:sym typeface="Wingdings" charset="0"/>
              </a:rPr>
              <a:t>Generate unnecessary server and network load</a:t>
            </a:r>
          </a:p>
          <a:p>
            <a:pPr lvl="1"/>
            <a:r>
              <a:rPr lang="en-US" dirty="0">
                <a:sym typeface="Wingdings" charset="0"/>
              </a:rPr>
              <a:t>Clients experience unnecessary latency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3</a:t>
            </a:r>
          </a:p>
        </p:txBody>
      </p:sp>
      <p:grpSp>
        <p:nvGrpSpPr>
          <p:cNvPr id="1669124" name="Group 4"/>
          <p:cNvGrpSpPr>
            <a:grpSpLocks/>
          </p:cNvGrpSpPr>
          <p:nvPr/>
        </p:nvGrpSpPr>
        <p:grpSpPr bwMode="auto">
          <a:xfrm>
            <a:off x="6019800" y="6096001"/>
            <a:ext cx="371475" cy="381000"/>
            <a:chOff x="1014" y="912"/>
            <a:chExt cx="574" cy="596"/>
          </a:xfrm>
        </p:grpSpPr>
        <p:sp>
          <p:nvSpPr>
            <p:cNvPr id="1669125" name="Freeform 5"/>
            <p:cNvSpPr>
              <a:spLocks/>
            </p:cNvSpPr>
            <p:nvPr/>
          </p:nvSpPr>
          <p:spPr bwMode="auto">
            <a:xfrm>
              <a:off x="1014" y="912"/>
              <a:ext cx="574" cy="596"/>
            </a:xfrm>
            <a:custGeom>
              <a:avLst/>
              <a:gdLst>
                <a:gd name="T0" fmla="*/ 124 w 574"/>
                <a:gd name="T1" fmla="*/ 391 h 596"/>
                <a:gd name="T2" fmla="*/ 0 w 574"/>
                <a:gd name="T3" fmla="*/ 391 h 596"/>
                <a:gd name="T4" fmla="*/ 0 w 574"/>
                <a:gd name="T5" fmla="*/ 596 h 596"/>
                <a:gd name="T6" fmla="*/ 574 w 574"/>
                <a:gd name="T7" fmla="*/ 596 h 596"/>
                <a:gd name="T8" fmla="*/ 574 w 574"/>
                <a:gd name="T9" fmla="*/ 391 h 596"/>
                <a:gd name="T10" fmla="*/ 446 w 574"/>
                <a:gd name="T11" fmla="*/ 391 h 596"/>
                <a:gd name="T12" fmla="*/ 446 w 574"/>
                <a:gd name="T13" fmla="*/ 364 h 596"/>
                <a:gd name="T14" fmla="*/ 500 w 574"/>
                <a:gd name="T15" fmla="*/ 364 h 596"/>
                <a:gd name="T16" fmla="*/ 500 w 574"/>
                <a:gd name="T17" fmla="*/ 0 h 596"/>
                <a:gd name="T18" fmla="*/ 70 w 574"/>
                <a:gd name="T19" fmla="*/ 0 h 596"/>
                <a:gd name="T20" fmla="*/ 70 w 574"/>
                <a:gd name="T21" fmla="*/ 364 h 596"/>
                <a:gd name="T22" fmla="*/ 124 w 574"/>
                <a:gd name="T23" fmla="*/ 364 h 596"/>
                <a:gd name="T24" fmla="*/ 124 w 574"/>
                <a:gd name="T25" fmla="*/ 39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4" h="596">
                  <a:moveTo>
                    <a:pt x="124" y="391"/>
                  </a:moveTo>
                  <a:lnTo>
                    <a:pt x="0" y="391"/>
                  </a:lnTo>
                  <a:lnTo>
                    <a:pt x="0" y="596"/>
                  </a:lnTo>
                  <a:lnTo>
                    <a:pt x="574" y="596"/>
                  </a:lnTo>
                  <a:lnTo>
                    <a:pt x="574" y="391"/>
                  </a:lnTo>
                  <a:lnTo>
                    <a:pt x="446" y="391"/>
                  </a:lnTo>
                  <a:lnTo>
                    <a:pt x="446" y="364"/>
                  </a:lnTo>
                  <a:lnTo>
                    <a:pt x="500" y="364"/>
                  </a:lnTo>
                  <a:lnTo>
                    <a:pt x="500" y="0"/>
                  </a:lnTo>
                  <a:lnTo>
                    <a:pt x="70" y="0"/>
                  </a:lnTo>
                  <a:lnTo>
                    <a:pt x="70" y="364"/>
                  </a:lnTo>
                  <a:lnTo>
                    <a:pt x="124" y="364"/>
                  </a:lnTo>
                  <a:lnTo>
                    <a:pt x="124" y="39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26" name="Line 6"/>
            <p:cNvSpPr>
              <a:spLocks noChangeShapeType="1"/>
            </p:cNvSpPr>
            <p:nvPr/>
          </p:nvSpPr>
          <p:spPr bwMode="auto">
            <a:xfrm>
              <a:off x="1138" y="1303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27" name="Line 7"/>
            <p:cNvSpPr>
              <a:spLocks noChangeShapeType="1"/>
            </p:cNvSpPr>
            <p:nvPr/>
          </p:nvSpPr>
          <p:spPr bwMode="auto">
            <a:xfrm>
              <a:off x="1138" y="1276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28" name="Freeform 8"/>
            <p:cNvSpPr>
              <a:spLocks noEditPoints="1"/>
            </p:cNvSpPr>
            <p:nvPr/>
          </p:nvSpPr>
          <p:spPr bwMode="auto">
            <a:xfrm>
              <a:off x="1310" y="1323"/>
              <a:ext cx="233" cy="168"/>
            </a:xfrm>
            <a:custGeom>
              <a:avLst/>
              <a:gdLst>
                <a:gd name="T0" fmla="*/ 0 w 233"/>
                <a:gd name="T1" fmla="*/ 168 h 168"/>
                <a:gd name="T2" fmla="*/ 188 w 233"/>
                <a:gd name="T3" fmla="*/ 168 h 168"/>
                <a:gd name="T4" fmla="*/ 188 w 233"/>
                <a:gd name="T5" fmla="*/ 0 h 168"/>
                <a:gd name="T6" fmla="*/ 0 w 233"/>
                <a:gd name="T7" fmla="*/ 0 h 168"/>
                <a:gd name="T8" fmla="*/ 0 w 233"/>
                <a:gd name="T9" fmla="*/ 168 h 168"/>
                <a:gd name="T10" fmla="*/ 204 w 233"/>
                <a:gd name="T11" fmla="*/ 26 h 168"/>
                <a:gd name="T12" fmla="*/ 233 w 233"/>
                <a:gd name="T13" fmla="*/ 26 h 168"/>
                <a:gd name="T14" fmla="*/ 233 w 233"/>
                <a:gd name="T15" fmla="*/ 0 h 168"/>
                <a:gd name="T16" fmla="*/ 204 w 233"/>
                <a:gd name="T17" fmla="*/ 0 h 168"/>
                <a:gd name="T18" fmla="*/ 204 w 233"/>
                <a:gd name="T19" fmla="*/ 2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3" h="168">
                  <a:moveTo>
                    <a:pt x="0" y="168"/>
                  </a:moveTo>
                  <a:lnTo>
                    <a:pt x="188" y="168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0" y="168"/>
                  </a:lnTo>
                  <a:close/>
                  <a:moveTo>
                    <a:pt x="204" y="26"/>
                  </a:moveTo>
                  <a:lnTo>
                    <a:pt x="233" y="26"/>
                  </a:lnTo>
                  <a:lnTo>
                    <a:pt x="233" y="0"/>
                  </a:lnTo>
                  <a:lnTo>
                    <a:pt x="204" y="0"/>
                  </a:lnTo>
                  <a:lnTo>
                    <a:pt x="204" y="26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29" name="Line 9"/>
            <p:cNvSpPr>
              <a:spLocks noChangeShapeType="1"/>
            </p:cNvSpPr>
            <p:nvPr/>
          </p:nvSpPr>
          <p:spPr bwMode="auto">
            <a:xfrm>
              <a:off x="1310" y="1379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30" name="Line 10"/>
            <p:cNvSpPr>
              <a:spLocks noChangeShapeType="1"/>
            </p:cNvSpPr>
            <p:nvPr/>
          </p:nvSpPr>
          <p:spPr bwMode="auto">
            <a:xfrm>
              <a:off x="1310" y="1435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31" name="Line 11"/>
            <p:cNvSpPr>
              <a:spLocks noChangeShapeType="1"/>
            </p:cNvSpPr>
            <p:nvPr/>
          </p:nvSpPr>
          <p:spPr bwMode="auto">
            <a:xfrm>
              <a:off x="1317" y="1405"/>
              <a:ext cx="17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32" name="Rectangle 12"/>
            <p:cNvSpPr>
              <a:spLocks noChangeArrowheads="1"/>
            </p:cNvSpPr>
            <p:nvPr/>
          </p:nvSpPr>
          <p:spPr bwMode="auto">
            <a:xfrm>
              <a:off x="1416" y="1389"/>
              <a:ext cx="54" cy="36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33" name="Freeform 13"/>
            <p:cNvSpPr>
              <a:spLocks noEditPoints="1"/>
            </p:cNvSpPr>
            <p:nvPr/>
          </p:nvSpPr>
          <p:spPr bwMode="auto">
            <a:xfrm>
              <a:off x="1030" y="955"/>
              <a:ext cx="538" cy="401"/>
            </a:xfrm>
            <a:custGeom>
              <a:avLst/>
              <a:gdLst>
                <a:gd name="T0" fmla="*/ 452 w 538"/>
                <a:gd name="T1" fmla="*/ 285 h 401"/>
                <a:gd name="T2" fmla="*/ 472 w 538"/>
                <a:gd name="T3" fmla="*/ 285 h 401"/>
                <a:gd name="T4" fmla="*/ 472 w 538"/>
                <a:gd name="T5" fmla="*/ 278 h 401"/>
                <a:gd name="T6" fmla="*/ 452 w 538"/>
                <a:gd name="T7" fmla="*/ 278 h 401"/>
                <a:gd name="T8" fmla="*/ 452 w 538"/>
                <a:gd name="T9" fmla="*/ 285 h 401"/>
                <a:gd name="T10" fmla="*/ 121 w 538"/>
                <a:gd name="T11" fmla="*/ 239 h 401"/>
                <a:gd name="T12" fmla="*/ 121 w 538"/>
                <a:gd name="T13" fmla="*/ 27 h 401"/>
                <a:gd name="T14" fmla="*/ 417 w 538"/>
                <a:gd name="T15" fmla="*/ 27 h 401"/>
                <a:gd name="T16" fmla="*/ 417 w 538"/>
                <a:gd name="T17" fmla="*/ 239 h 401"/>
                <a:gd name="T18" fmla="*/ 121 w 538"/>
                <a:gd name="T19" fmla="*/ 239 h 401"/>
                <a:gd name="T20" fmla="*/ 108 w 538"/>
                <a:gd name="T21" fmla="*/ 252 h 401"/>
                <a:gd name="T22" fmla="*/ 430 w 538"/>
                <a:gd name="T23" fmla="*/ 252 h 401"/>
                <a:gd name="T24" fmla="*/ 430 w 538"/>
                <a:gd name="T25" fmla="*/ 14 h 401"/>
                <a:gd name="T26" fmla="*/ 446 w 538"/>
                <a:gd name="T27" fmla="*/ 14 h 401"/>
                <a:gd name="T28" fmla="*/ 446 w 538"/>
                <a:gd name="T29" fmla="*/ 0 h 401"/>
                <a:gd name="T30" fmla="*/ 96 w 538"/>
                <a:gd name="T31" fmla="*/ 0 h 401"/>
                <a:gd name="T32" fmla="*/ 96 w 538"/>
                <a:gd name="T33" fmla="*/ 265 h 401"/>
                <a:gd name="T34" fmla="*/ 108 w 538"/>
                <a:gd name="T35" fmla="*/ 265 h 401"/>
                <a:gd name="T36" fmla="*/ 108 w 538"/>
                <a:gd name="T37" fmla="*/ 252 h 401"/>
                <a:gd name="T38" fmla="*/ 0 w 538"/>
                <a:gd name="T39" fmla="*/ 388 h 401"/>
                <a:gd name="T40" fmla="*/ 54 w 538"/>
                <a:gd name="T41" fmla="*/ 388 h 401"/>
                <a:gd name="T42" fmla="*/ 54 w 538"/>
                <a:gd name="T43" fmla="*/ 368 h 401"/>
                <a:gd name="T44" fmla="*/ 0 w 538"/>
                <a:gd name="T45" fmla="*/ 368 h 401"/>
                <a:gd name="T46" fmla="*/ 0 w 538"/>
                <a:gd name="T47" fmla="*/ 388 h 401"/>
                <a:gd name="T48" fmla="*/ 316 w 538"/>
                <a:gd name="T49" fmla="*/ 401 h 401"/>
                <a:gd name="T50" fmla="*/ 430 w 538"/>
                <a:gd name="T51" fmla="*/ 401 h 401"/>
                <a:gd name="T52" fmla="*/ 430 w 538"/>
                <a:gd name="T53" fmla="*/ 391 h 401"/>
                <a:gd name="T54" fmla="*/ 316 w 538"/>
                <a:gd name="T55" fmla="*/ 391 h 401"/>
                <a:gd name="T56" fmla="*/ 316 w 538"/>
                <a:gd name="T57" fmla="*/ 401 h 401"/>
                <a:gd name="T58" fmla="*/ 523 w 538"/>
                <a:gd name="T59" fmla="*/ 378 h 401"/>
                <a:gd name="T60" fmla="*/ 538 w 538"/>
                <a:gd name="T61" fmla="*/ 378 h 401"/>
                <a:gd name="T62" fmla="*/ 538 w 538"/>
                <a:gd name="T63" fmla="*/ 368 h 401"/>
                <a:gd name="T64" fmla="*/ 523 w 538"/>
                <a:gd name="T65" fmla="*/ 368 h 401"/>
                <a:gd name="T66" fmla="*/ 523 w 538"/>
                <a:gd name="T67" fmla="*/ 378 h 401"/>
                <a:gd name="T68" fmla="*/ 523 w 538"/>
                <a:gd name="T69" fmla="*/ 394 h 401"/>
                <a:gd name="T70" fmla="*/ 538 w 538"/>
                <a:gd name="T71" fmla="*/ 394 h 401"/>
                <a:gd name="T72" fmla="*/ 538 w 538"/>
                <a:gd name="T73" fmla="*/ 388 h 401"/>
                <a:gd name="T74" fmla="*/ 523 w 538"/>
                <a:gd name="T75" fmla="*/ 388 h 401"/>
                <a:gd name="T76" fmla="*/ 523 w 538"/>
                <a:gd name="T77" fmla="*/ 39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8" h="401">
                  <a:moveTo>
                    <a:pt x="452" y="285"/>
                  </a:moveTo>
                  <a:lnTo>
                    <a:pt x="472" y="285"/>
                  </a:lnTo>
                  <a:lnTo>
                    <a:pt x="472" y="278"/>
                  </a:lnTo>
                  <a:lnTo>
                    <a:pt x="452" y="278"/>
                  </a:lnTo>
                  <a:lnTo>
                    <a:pt x="452" y="285"/>
                  </a:lnTo>
                  <a:close/>
                  <a:moveTo>
                    <a:pt x="121" y="239"/>
                  </a:moveTo>
                  <a:lnTo>
                    <a:pt x="121" y="27"/>
                  </a:lnTo>
                  <a:lnTo>
                    <a:pt x="417" y="27"/>
                  </a:lnTo>
                  <a:lnTo>
                    <a:pt x="417" y="239"/>
                  </a:lnTo>
                  <a:lnTo>
                    <a:pt x="121" y="239"/>
                  </a:lnTo>
                  <a:close/>
                  <a:moveTo>
                    <a:pt x="108" y="252"/>
                  </a:moveTo>
                  <a:lnTo>
                    <a:pt x="430" y="252"/>
                  </a:lnTo>
                  <a:lnTo>
                    <a:pt x="430" y="14"/>
                  </a:lnTo>
                  <a:lnTo>
                    <a:pt x="446" y="14"/>
                  </a:lnTo>
                  <a:lnTo>
                    <a:pt x="446" y="0"/>
                  </a:lnTo>
                  <a:lnTo>
                    <a:pt x="96" y="0"/>
                  </a:lnTo>
                  <a:lnTo>
                    <a:pt x="96" y="265"/>
                  </a:lnTo>
                  <a:lnTo>
                    <a:pt x="108" y="265"/>
                  </a:lnTo>
                  <a:lnTo>
                    <a:pt x="108" y="252"/>
                  </a:lnTo>
                  <a:close/>
                  <a:moveTo>
                    <a:pt x="0" y="388"/>
                  </a:moveTo>
                  <a:lnTo>
                    <a:pt x="54" y="388"/>
                  </a:lnTo>
                  <a:lnTo>
                    <a:pt x="54" y="368"/>
                  </a:lnTo>
                  <a:lnTo>
                    <a:pt x="0" y="368"/>
                  </a:lnTo>
                  <a:lnTo>
                    <a:pt x="0" y="388"/>
                  </a:lnTo>
                  <a:close/>
                  <a:moveTo>
                    <a:pt x="316" y="401"/>
                  </a:moveTo>
                  <a:lnTo>
                    <a:pt x="430" y="401"/>
                  </a:lnTo>
                  <a:lnTo>
                    <a:pt x="430" y="391"/>
                  </a:lnTo>
                  <a:lnTo>
                    <a:pt x="316" y="391"/>
                  </a:lnTo>
                  <a:lnTo>
                    <a:pt x="316" y="401"/>
                  </a:lnTo>
                  <a:close/>
                  <a:moveTo>
                    <a:pt x="523" y="378"/>
                  </a:moveTo>
                  <a:lnTo>
                    <a:pt x="538" y="378"/>
                  </a:lnTo>
                  <a:lnTo>
                    <a:pt x="538" y="368"/>
                  </a:lnTo>
                  <a:lnTo>
                    <a:pt x="523" y="368"/>
                  </a:lnTo>
                  <a:lnTo>
                    <a:pt x="523" y="378"/>
                  </a:lnTo>
                  <a:close/>
                  <a:moveTo>
                    <a:pt x="523" y="394"/>
                  </a:moveTo>
                  <a:lnTo>
                    <a:pt x="538" y="394"/>
                  </a:lnTo>
                  <a:lnTo>
                    <a:pt x="538" y="388"/>
                  </a:lnTo>
                  <a:lnTo>
                    <a:pt x="523" y="388"/>
                  </a:lnTo>
                  <a:lnTo>
                    <a:pt x="523" y="394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34" name="Line 14"/>
            <p:cNvSpPr>
              <a:spLocks noChangeShapeType="1"/>
            </p:cNvSpPr>
            <p:nvPr/>
          </p:nvSpPr>
          <p:spPr bwMode="auto">
            <a:xfrm>
              <a:off x="1084" y="1257"/>
              <a:ext cx="43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35" name="Line 15"/>
            <p:cNvSpPr>
              <a:spLocks noChangeShapeType="1"/>
            </p:cNvSpPr>
            <p:nvPr/>
          </p:nvSpPr>
          <p:spPr bwMode="auto">
            <a:xfrm flipV="1">
              <a:off x="1193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36" name="Line 16"/>
            <p:cNvSpPr>
              <a:spLocks noChangeShapeType="1"/>
            </p:cNvSpPr>
            <p:nvPr/>
          </p:nvSpPr>
          <p:spPr bwMode="auto">
            <a:xfrm flipV="1">
              <a:off x="1301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1669137" name="Group 17"/>
          <p:cNvGrpSpPr>
            <a:grpSpLocks/>
          </p:cNvGrpSpPr>
          <p:nvPr/>
        </p:nvGrpSpPr>
        <p:grpSpPr bwMode="auto">
          <a:xfrm>
            <a:off x="7477125" y="6096001"/>
            <a:ext cx="371475" cy="381000"/>
            <a:chOff x="1014" y="912"/>
            <a:chExt cx="574" cy="596"/>
          </a:xfrm>
        </p:grpSpPr>
        <p:sp>
          <p:nvSpPr>
            <p:cNvPr id="1669138" name="Freeform 18"/>
            <p:cNvSpPr>
              <a:spLocks/>
            </p:cNvSpPr>
            <p:nvPr/>
          </p:nvSpPr>
          <p:spPr bwMode="auto">
            <a:xfrm>
              <a:off x="1014" y="912"/>
              <a:ext cx="574" cy="596"/>
            </a:xfrm>
            <a:custGeom>
              <a:avLst/>
              <a:gdLst>
                <a:gd name="T0" fmla="*/ 124 w 574"/>
                <a:gd name="T1" fmla="*/ 391 h 596"/>
                <a:gd name="T2" fmla="*/ 0 w 574"/>
                <a:gd name="T3" fmla="*/ 391 h 596"/>
                <a:gd name="T4" fmla="*/ 0 w 574"/>
                <a:gd name="T5" fmla="*/ 596 h 596"/>
                <a:gd name="T6" fmla="*/ 574 w 574"/>
                <a:gd name="T7" fmla="*/ 596 h 596"/>
                <a:gd name="T8" fmla="*/ 574 w 574"/>
                <a:gd name="T9" fmla="*/ 391 h 596"/>
                <a:gd name="T10" fmla="*/ 446 w 574"/>
                <a:gd name="T11" fmla="*/ 391 h 596"/>
                <a:gd name="T12" fmla="*/ 446 w 574"/>
                <a:gd name="T13" fmla="*/ 364 h 596"/>
                <a:gd name="T14" fmla="*/ 500 w 574"/>
                <a:gd name="T15" fmla="*/ 364 h 596"/>
                <a:gd name="T16" fmla="*/ 500 w 574"/>
                <a:gd name="T17" fmla="*/ 0 h 596"/>
                <a:gd name="T18" fmla="*/ 70 w 574"/>
                <a:gd name="T19" fmla="*/ 0 h 596"/>
                <a:gd name="T20" fmla="*/ 70 w 574"/>
                <a:gd name="T21" fmla="*/ 364 h 596"/>
                <a:gd name="T22" fmla="*/ 124 w 574"/>
                <a:gd name="T23" fmla="*/ 364 h 596"/>
                <a:gd name="T24" fmla="*/ 124 w 574"/>
                <a:gd name="T25" fmla="*/ 39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4" h="596">
                  <a:moveTo>
                    <a:pt x="124" y="391"/>
                  </a:moveTo>
                  <a:lnTo>
                    <a:pt x="0" y="391"/>
                  </a:lnTo>
                  <a:lnTo>
                    <a:pt x="0" y="596"/>
                  </a:lnTo>
                  <a:lnTo>
                    <a:pt x="574" y="596"/>
                  </a:lnTo>
                  <a:lnTo>
                    <a:pt x="574" y="391"/>
                  </a:lnTo>
                  <a:lnTo>
                    <a:pt x="446" y="391"/>
                  </a:lnTo>
                  <a:lnTo>
                    <a:pt x="446" y="364"/>
                  </a:lnTo>
                  <a:lnTo>
                    <a:pt x="500" y="364"/>
                  </a:lnTo>
                  <a:lnTo>
                    <a:pt x="500" y="0"/>
                  </a:lnTo>
                  <a:lnTo>
                    <a:pt x="70" y="0"/>
                  </a:lnTo>
                  <a:lnTo>
                    <a:pt x="70" y="364"/>
                  </a:lnTo>
                  <a:lnTo>
                    <a:pt x="124" y="364"/>
                  </a:lnTo>
                  <a:lnTo>
                    <a:pt x="124" y="39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39" name="Line 19"/>
            <p:cNvSpPr>
              <a:spLocks noChangeShapeType="1"/>
            </p:cNvSpPr>
            <p:nvPr/>
          </p:nvSpPr>
          <p:spPr bwMode="auto">
            <a:xfrm>
              <a:off x="1138" y="1303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40" name="Line 20"/>
            <p:cNvSpPr>
              <a:spLocks noChangeShapeType="1"/>
            </p:cNvSpPr>
            <p:nvPr/>
          </p:nvSpPr>
          <p:spPr bwMode="auto">
            <a:xfrm>
              <a:off x="1138" y="1276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41" name="Freeform 21"/>
            <p:cNvSpPr>
              <a:spLocks noEditPoints="1"/>
            </p:cNvSpPr>
            <p:nvPr/>
          </p:nvSpPr>
          <p:spPr bwMode="auto">
            <a:xfrm>
              <a:off x="1310" y="1323"/>
              <a:ext cx="233" cy="168"/>
            </a:xfrm>
            <a:custGeom>
              <a:avLst/>
              <a:gdLst>
                <a:gd name="T0" fmla="*/ 0 w 233"/>
                <a:gd name="T1" fmla="*/ 168 h 168"/>
                <a:gd name="T2" fmla="*/ 188 w 233"/>
                <a:gd name="T3" fmla="*/ 168 h 168"/>
                <a:gd name="T4" fmla="*/ 188 w 233"/>
                <a:gd name="T5" fmla="*/ 0 h 168"/>
                <a:gd name="T6" fmla="*/ 0 w 233"/>
                <a:gd name="T7" fmla="*/ 0 h 168"/>
                <a:gd name="T8" fmla="*/ 0 w 233"/>
                <a:gd name="T9" fmla="*/ 168 h 168"/>
                <a:gd name="T10" fmla="*/ 204 w 233"/>
                <a:gd name="T11" fmla="*/ 26 h 168"/>
                <a:gd name="T12" fmla="*/ 233 w 233"/>
                <a:gd name="T13" fmla="*/ 26 h 168"/>
                <a:gd name="T14" fmla="*/ 233 w 233"/>
                <a:gd name="T15" fmla="*/ 0 h 168"/>
                <a:gd name="T16" fmla="*/ 204 w 233"/>
                <a:gd name="T17" fmla="*/ 0 h 168"/>
                <a:gd name="T18" fmla="*/ 204 w 233"/>
                <a:gd name="T19" fmla="*/ 2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3" h="168">
                  <a:moveTo>
                    <a:pt x="0" y="168"/>
                  </a:moveTo>
                  <a:lnTo>
                    <a:pt x="188" y="168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0" y="168"/>
                  </a:lnTo>
                  <a:close/>
                  <a:moveTo>
                    <a:pt x="204" y="26"/>
                  </a:moveTo>
                  <a:lnTo>
                    <a:pt x="233" y="26"/>
                  </a:lnTo>
                  <a:lnTo>
                    <a:pt x="233" y="0"/>
                  </a:lnTo>
                  <a:lnTo>
                    <a:pt x="204" y="0"/>
                  </a:lnTo>
                  <a:lnTo>
                    <a:pt x="204" y="26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42" name="Line 22"/>
            <p:cNvSpPr>
              <a:spLocks noChangeShapeType="1"/>
            </p:cNvSpPr>
            <p:nvPr/>
          </p:nvSpPr>
          <p:spPr bwMode="auto">
            <a:xfrm>
              <a:off x="1310" y="1379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43" name="Line 23"/>
            <p:cNvSpPr>
              <a:spLocks noChangeShapeType="1"/>
            </p:cNvSpPr>
            <p:nvPr/>
          </p:nvSpPr>
          <p:spPr bwMode="auto">
            <a:xfrm>
              <a:off x="1310" y="1435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44" name="Line 24"/>
            <p:cNvSpPr>
              <a:spLocks noChangeShapeType="1"/>
            </p:cNvSpPr>
            <p:nvPr/>
          </p:nvSpPr>
          <p:spPr bwMode="auto">
            <a:xfrm>
              <a:off x="1317" y="1405"/>
              <a:ext cx="17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45" name="Rectangle 25"/>
            <p:cNvSpPr>
              <a:spLocks noChangeArrowheads="1"/>
            </p:cNvSpPr>
            <p:nvPr/>
          </p:nvSpPr>
          <p:spPr bwMode="auto">
            <a:xfrm>
              <a:off x="1416" y="1389"/>
              <a:ext cx="54" cy="36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46" name="Freeform 26"/>
            <p:cNvSpPr>
              <a:spLocks noEditPoints="1"/>
            </p:cNvSpPr>
            <p:nvPr/>
          </p:nvSpPr>
          <p:spPr bwMode="auto">
            <a:xfrm>
              <a:off x="1030" y="955"/>
              <a:ext cx="538" cy="401"/>
            </a:xfrm>
            <a:custGeom>
              <a:avLst/>
              <a:gdLst>
                <a:gd name="T0" fmla="*/ 452 w 538"/>
                <a:gd name="T1" fmla="*/ 285 h 401"/>
                <a:gd name="T2" fmla="*/ 472 w 538"/>
                <a:gd name="T3" fmla="*/ 285 h 401"/>
                <a:gd name="T4" fmla="*/ 472 w 538"/>
                <a:gd name="T5" fmla="*/ 278 h 401"/>
                <a:gd name="T6" fmla="*/ 452 w 538"/>
                <a:gd name="T7" fmla="*/ 278 h 401"/>
                <a:gd name="T8" fmla="*/ 452 w 538"/>
                <a:gd name="T9" fmla="*/ 285 h 401"/>
                <a:gd name="T10" fmla="*/ 121 w 538"/>
                <a:gd name="T11" fmla="*/ 239 h 401"/>
                <a:gd name="T12" fmla="*/ 121 w 538"/>
                <a:gd name="T13" fmla="*/ 27 h 401"/>
                <a:gd name="T14" fmla="*/ 417 w 538"/>
                <a:gd name="T15" fmla="*/ 27 h 401"/>
                <a:gd name="T16" fmla="*/ 417 w 538"/>
                <a:gd name="T17" fmla="*/ 239 h 401"/>
                <a:gd name="T18" fmla="*/ 121 w 538"/>
                <a:gd name="T19" fmla="*/ 239 h 401"/>
                <a:gd name="T20" fmla="*/ 108 w 538"/>
                <a:gd name="T21" fmla="*/ 252 h 401"/>
                <a:gd name="T22" fmla="*/ 430 w 538"/>
                <a:gd name="T23" fmla="*/ 252 h 401"/>
                <a:gd name="T24" fmla="*/ 430 w 538"/>
                <a:gd name="T25" fmla="*/ 14 h 401"/>
                <a:gd name="T26" fmla="*/ 446 w 538"/>
                <a:gd name="T27" fmla="*/ 14 h 401"/>
                <a:gd name="T28" fmla="*/ 446 w 538"/>
                <a:gd name="T29" fmla="*/ 0 h 401"/>
                <a:gd name="T30" fmla="*/ 96 w 538"/>
                <a:gd name="T31" fmla="*/ 0 h 401"/>
                <a:gd name="T32" fmla="*/ 96 w 538"/>
                <a:gd name="T33" fmla="*/ 265 h 401"/>
                <a:gd name="T34" fmla="*/ 108 w 538"/>
                <a:gd name="T35" fmla="*/ 265 h 401"/>
                <a:gd name="T36" fmla="*/ 108 w 538"/>
                <a:gd name="T37" fmla="*/ 252 h 401"/>
                <a:gd name="T38" fmla="*/ 0 w 538"/>
                <a:gd name="T39" fmla="*/ 388 h 401"/>
                <a:gd name="T40" fmla="*/ 54 w 538"/>
                <a:gd name="T41" fmla="*/ 388 h 401"/>
                <a:gd name="T42" fmla="*/ 54 w 538"/>
                <a:gd name="T43" fmla="*/ 368 h 401"/>
                <a:gd name="T44" fmla="*/ 0 w 538"/>
                <a:gd name="T45" fmla="*/ 368 h 401"/>
                <a:gd name="T46" fmla="*/ 0 w 538"/>
                <a:gd name="T47" fmla="*/ 388 h 401"/>
                <a:gd name="T48" fmla="*/ 316 w 538"/>
                <a:gd name="T49" fmla="*/ 401 h 401"/>
                <a:gd name="T50" fmla="*/ 430 w 538"/>
                <a:gd name="T51" fmla="*/ 401 h 401"/>
                <a:gd name="T52" fmla="*/ 430 w 538"/>
                <a:gd name="T53" fmla="*/ 391 h 401"/>
                <a:gd name="T54" fmla="*/ 316 w 538"/>
                <a:gd name="T55" fmla="*/ 391 h 401"/>
                <a:gd name="T56" fmla="*/ 316 w 538"/>
                <a:gd name="T57" fmla="*/ 401 h 401"/>
                <a:gd name="T58" fmla="*/ 523 w 538"/>
                <a:gd name="T59" fmla="*/ 378 h 401"/>
                <a:gd name="T60" fmla="*/ 538 w 538"/>
                <a:gd name="T61" fmla="*/ 378 h 401"/>
                <a:gd name="T62" fmla="*/ 538 w 538"/>
                <a:gd name="T63" fmla="*/ 368 h 401"/>
                <a:gd name="T64" fmla="*/ 523 w 538"/>
                <a:gd name="T65" fmla="*/ 368 h 401"/>
                <a:gd name="T66" fmla="*/ 523 w 538"/>
                <a:gd name="T67" fmla="*/ 378 h 401"/>
                <a:gd name="T68" fmla="*/ 523 w 538"/>
                <a:gd name="T69" fmla="*/ 394 h 401"/>
                <a:gd name="T70" fmla="*/ 538 w 538"/>
                <a:gd name="T71" fmla="*/ 394 h 401"/>
                <a:gd name="T72" fmla="*/ 538 w 538"/>
                <a:gd name="T73" fmla="*/ 388 h 401"/>
                <a:gd name="T74" fmla="*/ 523 w 538"/>
                <a:gd name="T75" fmla="*/ 388 h 401"/>
                <a:gd name="T76" fmla="*/ 523 w 538"/>
                <a:gd name="T77" fmla="*/ 39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8" h="401">
                  <a:moveTo>
                    <a:pt x="452" y="285"/>
                  </a:moveTo>
                  <a:lnTo>
                    <a:pt x="472" y="285"/>
                  </a:lnTo>
                  <a:lnTo>
                    <a:pt x="472" y="278"/>
                  </a:lnTo>
                  <a:lnTo>
                    <a:pt x="452" y="278"/>
                  </a:lnTo>
                  <a:lnTo>
                    <a:pt x="452" y="285"/>
                  </a:lnTo>
                  <a:close/>
                  <a:moveTo>
                    <a:pt x="121" y="239"/>
                  </a:moveTo>
                  <a:lnTo>
                    <a:pt x="121" y="27"/>
                  </a:lnTo>
                  <a:lnTo>
                    <a:pt x="417" y="27"/>
                  </a:lnTo>
                  <a:lnTo>
                    <a:pt x="417" y="239"/>
                  </a:lnTo>
                  <a:lnTo>
                    <a:pt x="121" y="239"/>
                  </a:lnTo>
                  <a:close/>
                  <a:moveTo>
                    <a:pt x="108" y="252"/>
                  </a:moveTo>
                  <a:lnTo>
                    <a:pt x="430" y="252"/>
                  </a:lnTo>
                  <a:lnTo>
                    <a:pt x="430" y="14"/>
                  </a:lnTo>
                  <a:lnTo>
                    <a:pt x="446" y="14"/>
                  </a:lnTo>
                  <a:lnTo>
                    <a:pt x="446" y="0"/>
                  </a:lnTo>
                  <a:lnTo>
                    <a:pt x="96" y="0"/>
                  </a:lnTo>
                  <a:lnTo>
                    <a:pt x="96" y="265"/>
                  </a:lnTo>
                  <a:lnTo>
                    <a:pt x="108" y="265"/>
                  </a:lnTo>
                  <a:lnTo>
                    <a:pt x="108" y="252"/>
                  </a:lnTo>
                  <a:close/>
                  <a:moveTo>
                    <a:pt x="0" y="388"/>
                  </a:moveTo>
                  <a:lnTo>
                    <a:pt x="54" y="388"/>
                  </a:lnTo>
                  <a:lnTo>
                    <a:pt x="54" y="368"/>
                  </a:lnTo>
                  <a:lnTo>
                    <a:pt x="0" y="368"/>
                  </a:lnTo>
                  <a:lnTo>
                    <a:pt x="0" y="388"/>
                  </a:lnTo>
                  <a:close/>
                  <a:moveTo>
                    <a:pt x="316" y="401"/>
                  </a:moveTo>
                  <a:lnTo>
                    <a:pt x="430" y="401"/>
                  </a:lnTo>
                  <a:lnTo>
                    <a:pt x="430" y="391"/>
                  </a:lnTo>
                  <a:lnTo>
                    <a:pt x="316" y="391"/>
                  </a:lnTo>
                  <a:lnTo>
                    <a:pt x="316" y="401"/>
                  </a:lnTo>
                  <a:close/>
                  <a:moveTo>
                    <a:pt x="523" y="378"/>
                  </a:moveTo>
                  <a:lnTo>
                    <a:pt x="538" y="378"/>
                  </a:lnTo>
                  <a:lnTo>
                    <a:pt x="538" y="368"/>
                  </a:lnTo>
                  <a:lnTo>
                    <a:pt x="523" y="368"/>
                  </a:lnTo>
                  <a:lnTo>
                    <a:pt x="523" y="378"/>
                  </a:lnTo>
                  <a:close/>
                  <a:moveTo>
                    <a:pt x="523" y="394"/>
                  </a:moveTo>
                  <a:lnTo>
                    <a:pt x="538" y="394"/>
                  </a:lnTo>
                  <a:lnTo>
                    <a:pt x="538" y="388"/>
                  </a:lnTo>
                  <a:lnTo>
                    <a:pt x="523" y="388"/>
                  </a:lnTo>
                  <a:lnTo>
                    <a:pt x="523" y="394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47" name="Line 27"/>
            <p:cNvSpPr>
              <a:spLocks noChangeShapeType="1"/>
            </p:cNvSpPr>
            <p:nvPr/>
          </p:nvSpPr>
          <p:spPr bwMode="auto">
            <a:xfrm>
              <a:off x="1084" y="1257"/>
              <a:ext cx="43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48" name="Line 28"/>
            <p:cNvSpPr>
              <a:spLocks noChangeShapeType="1"/>
            </p:cNvSpPr>
            <p:nvPr/>
          </p:nvSpPr>
          <p:spPr bwMode="auto">
            <a:xfrm flipV="1">
              <a:off x="1193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49" name="Line 29"/>
            <p:cNvSpPr>
              <a:spLocks noChangeShapeType="1"/>
            </p:cNvSpPr>
            <p:nvPr/>
          </p:nvSpPr>
          <p:spPr bwMode="auto">
            <a:xfrm flipV="1">
              <a:off x="1301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1669150" name="Group 30"/>
          <p:cNvGrpSpPr>
            <a:grpSpLocks/>
          </p:cNvGrpSpPr>
          <p:nvPr/>
        </p:nvGrpSpPr>
        <p:grpSpPr bwMode="auto">
          <a:xfrm>
            <a:off x="1219200" y="6096001"/>
            <a:ext cx="371475" cy="381000"/>
            <a:chOff x="1014" y="912"/>
            <a:chExt cx="574" cy="596"/>
          </a:xfrm>
        </p:grpSpPr>
        <p:sp>
          <p:nvSpPr>
            <p:cNvPr id="1669151" name="Freeform 31"/>
            <p:cNvSpPr>
              <a:spLocks/>
            </p:cNvSpPr>
            <p:nvPr/>
          </p:nvSpPr>
          <p:spPr bwMode="auto">
            <a:xfrm>
              <a:off x="1014" y="912"/>
              <a:ext cx="574" cy="596"/>
            </a:xfrm>
            <a:custGeom>
              <a:avLst/>
              <a:gdLst>
                <a:gd name="T0" fmla="*/ 124 w 574"/>
                <a:gd name="T1" fmla="*/ 391 h 596"/>
                <a:gd name="T2" fmla="*/ 0 w 574"/>
                <a:gd name="T3" fmla="*/ 391 h 596"/>
                <a:gd name="T4" fmla="*/ 0 w 574"/>
                <a:gd name="T5" fmla="*/ 596 h 596"/>
                <a:gd name="T6" fmla="*/ 574 w 574"/>
                <a:gd name="T7" fmla="*/ 596 h 596"/>
                <a:gd name="T8" fmla="*/ 574 w 574"/>
                <a:gd name="T9" fmla="*/ 391 h 596"/>
                <a:gd name="T10" fmla="*/ 446 w 574"/>
                <a:gd name="T11" fmla="*/ 391 h 596"/>
                <a:gd name="T12" fmla="*/ 446 w 574"/>
                <a:gd name="T13" fmla="*/ 364 h 596"/>
                <a:gd name="T14" fmla="*/ 500 w 574"/>
                <a:gd name="T15" fmla="*/ 364 h 596"/>
                <a:gd name="T16" fmla="*/ 500 w 574"/>
                <a:gd name="T17" fmla="*/ 0 h 596"/>
                <a:gd name="T18" fmla="*/ 70 w 574"/>
                <a:gd name="T19" fmla="*/ 0 h 596"/>
                <a:gd name="T20" fmla="*/ 70 w 574"/>
                <a:gd name="T21" fmla="*/ 364 h 596"/>
                <a:gd name="T22" fmla="*/ 124 w 574"/>
                <a:gd name="T23" fmla="*/ 364 h 596"/>
                <a:gd name="T24" fmla="*/ 124 w 574"/>
                <a:gd name="T25" fmla="*/ 39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4" h="596">
                  <a:moveTo>
                    <a:pt x="124" y="391"/>
                  </a:moveTo>
                  <a:lnTo>
                    <a:pt x="0" y="391"/>
                  </a:lnTo>
                  <a:lnTo>
                    <a:pt x="0" y="596"/>
                  </a:lnTo>
                  <a:lnTo>
                    <a:pt x="574" y="596"/>
                  </a:lnTo>
                  <a:lnTo>
                    <a:pt x="574" y="391"/>
                  </a:lnTo>
                  <a:lnTo>
                    <a:pt x="446" y="391"/>
                  </a:lnTo>
                  <a:lnTo>
                    <a:pt x="446" y="364"/>
                  </a:lnTo>
                  <a:lnTo>
                    <a:pt x="500" y="364"/>
                  </a:lnTo>
                  <a:lnTo>
                    <a:pt x="500" y="0"/>
                  </a:lnTo>
                  <a:lnTo>
                    <a:pt x="70" y="0"/>
                  </a:lnTo>
                  <a:lnTo>
                    <a:pt x="70" y="364"/>
                  </a:lnTo>
                  <a:lnTo>
                    <a:pt x="124" y="364"/>
                  </a:lnTo>
                  <a:lnTo>
                    <a:pt x="124" y="39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52" name="Line 32"/>
            <p:cNvSpPr>
              <a:spLocks noChangeShapeType="1"/>
            </p:cNvSpPr>
            <p:nvPr/>
          </p:nvSpPr>
          <p:spPr bwMode="auto">
            <a:xfrm>
              <a:off x="1138" y="1303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53" name="Line 33"/>
            <p:cNvSpPr>
              <a:spLocks noChangeShapeType="1"/>
            </p:cNvSpPr>
            <p:nvPr/>
          </p:nvSpPr>
          <p:spPr bwMode="auto">
            <a:xfrm>
              <a:off x="1138" y="1276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54" name="Freeform 34"/>
            <p:cNvSpPr>
              <a:spLocks noEditPoints="1"/>
            </p:cNvSpPr>
            <p:nvPr/>
          </p:nvSpPr>
          <p:spPr bwMode="auto">
            <a:xfrm>
              <a:off x="1310" y="1323"/>
              <a:ext cx="233" cy="168"/>
            </a:xfrm>
            <a:custGeom>
              <a:avLst/>
              <a:gdLst>
                <a:gd name="T0" fmla="*/ 0 w 233"/>
                <a:gd name="T1" fmla="*/ 168 h 168"/>
                <a:gd name="T2" fmla="*/ 188 w 233"/>
                <a:gd name="T3" fmla="*/ 168 h 168"/>
                <a:gd name="T4" fmla="*/ 188 w 233"/>
                <a:gd name="T5" fmla="*/ 0 h 168"/>
                <a:gd name="T6" fmla="*/ 0 w 233"/>
                <a:gd name="T7" fmla="*/ 0 h 168"/>
                <a:gd name="T8" fmla="*/ 0 w 233"/>
                <a:gd name="T9" fmla="*/ 168 h 168"/>
                <a:gd name="T10" fmla="*/ 204 w 233"/>
                <a:gd name="T11" fmla="*/ 26 h 168"/>
                <a:gd name="T12" fmla="*/ 233 w 233"/>
                <a:gd name="T13" fmla="*/ 26 h 168"/>
                <a:gd name="T14" fmla="*/ 233 w 233"/>
                <a:gd name="T15" fmla="*/ 0 h 168"/>
                <a:gd name="T16" fmla="*/ 204 w 233"/>
                <a:gd name="T17" fmla="*/ 0 h 168"/>
                <a:gd name="T18" fmla="*/ 204 w 233"/>
                <a:gd name="T19" fmla="*/ 2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3" h="168">
                  <a:moveTo>
                    <a:pt x="0" y="168"/>
                  </a:moveTo>
                  <a:lnTo>
                    <a:pt x="188" y="168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0" y="168"/>
                  </a:lnTo>
                  <a:close/>
                  <a:moveTo>
                    <a:pt x="204" y="26"/>
                  </a:moveTo>
                  <a:lnTo>
                    <a:pt x="233" y="26"/>
                  </a:lnTo>
                  <a:lnTo>
                    <a:pt x="233" y="0"/>
                  </a:lnTo>
                  <a:lnTo>
                    <a:pt x="204" y="0"/>
                  </a:lnTo>
                  <a:lnTo>
                    <a:pt x="204" y="26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55" name="Line 35"/>
            <p:cNvSpPr>
              <a:spLocks noChangeShapeType="1"/>
            </p:cNvSpPr>
            <p:nvPr/>
          </p:nvSpPr>
          <p:spPr bwMode="auto">
            <a:xfrm>
              <a:off x="1310" y="1379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56" name="Line 36"/>
            <p:cNvSpPr>
              <a:spLocks noChangeShapeType="1"/>
            </p:cNvSpPr>
            <p:nvPr/>
          </p:nvSpPr>
          <p:spPr bwMode="auto">
            <a:xfrm>
              <a:off x="1310" y="1435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57" name="Line 37"/>
            <p:cNvSpPr>
              <a:spLocks noChangeShapeType="1"/>
            </p:cNvSpPr>
            <p:nvPr/>
          </p:nvSpPr>
          <p:spPr bwMode="auto">
            <a:xfrm>
              <a:off x="1317" y="1405"/>
              <a:ext cx="17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58" name="Rectangle 38"/>
            <p:cNvSpPr>
              <a:spLocks noChangeArrowheads="1"/>
            </p:cNvSpPr>
            <p:nvPr/>
          </p:nvSpPr>
          <p:spPr bwMode="auto">
            <a:xfrm>
              <a:off x="1416" y="1389"/>
              <a:ext cx="54" cy="36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59" name="Freeform 39"/>
            <p:cNvSpPr>
              <a:spLocks noEditPoints="1"/>
            </p:cNvSpPr>
            <p:nvPr/>
          </p:nvSpPr>
          <p:spPr bwMode="auto">
            <a:xfrm>
              <a:off x="1030" y="955"/>
              <a:ext cx="538" cy="401"/>
            </a:xfrm>
            <a:custGeom>
              <a:avLst/>
              <a:gdLst>
                <a:gd name="T0" fmla="*/ 452 w 538"/>
                <a:gd name="T1" fmla="*/ 285 h 401"/>
                <a:gd name="T2" fmla="*/ 472 w 538"/>
                <a:gd name="T3" fmla="*/ 285 h 401"/>
                <a:gd name="T4" fmla="*/ 472 w 538"/>
                <a:gd name="T5" fmla="*/ 278 h 401"/>
                <a:gd name="T6" fmla="*/ 452 w 538"/>
                <a:gd name="T7" fmla="*/ 278 h 401"/>
                <a:gd name="T8" fmla="*/ 452 w 538"/>
                <a:gd name="T9" fmla="*/ 285 h 401"/>
                <a:gd name="T10" fmla="*/ 121 w 538"/>
                <a:gd name="T11" fmla="*/ 239 h 401"/>
                <a:gd name="T12" fmla="*/ 121 w 538"/>
                <a:gd name="T13" fmla="*/ 27 h 401"/>
                <a:gd name="T14" fmla="*/ 417 w 538"/>
                <a:gd name="T15" fmla="*/ 27 h 401"/>
                <a:gd name="T16" fmla="*/ 417 w 538"/>
                <a:gd name="T17" fmla="*/ 239 h 401"/>
                <a:gd name="T18" fmla="*/ 121 w 538"/>
                <a:gd name="T19" fmla="*/ 239 h 401"/>
                <a:gd name="T20" fmla="*/ 108 w 538"/>
                <a:gd name="T21" fmla="*/ 252 h 401"/>
                <a:gd name="T22" fmla="*/ 430 w 538"/>
                <a:gd name="T23" fmla="*/ 252 h 401"/>
                <a:gd name="T24" fmla="*/ 430 w 538"/>
                <a:gd name="T25" fmla="*/ 14 h 401"/>
                <a:gd name="T26" fmla="*/ 446 w 538"/>
                <a:gd name="T27" fmla="*/ 14 h 401"/>
                <a:gd name="T28" fmla="*/ 446 w 538"/>
                <a:gd name="T29" fmla="*/ 0 h 401"/>
                <a:gd name="T30" fmla="*/ 96 w 538"/>
                <a:gd name="T31" fmla="*/ 0 h 401"/>
                <a:gd name="T32" fmla="*/ 96 w 538"/>
                <a:gd name="T33" fmla="*/ 265 h 401"/>
                <a:gd name="T34" fmla="*/ 108 w 538"/>
                <a:gd name="T35" fmla="*/ 265 h 401"/>
                <a:gd name="T36" fmla="*/ 108 w 538"/>
                <a:gd name="T37" fmla="*/ 252 h 401"/>
                <a:gd name="T38" fmla="*/ 0 w 538"/>
                <a:gd name="T39" fmla="*/ 388 h 401"/>
                <a:gd name="T40" fmla="*/ 54 w 538"/>
                <a:gd name="T41" fmla="*/ 388 h 401"/>
                <a:gd name="T42" fmla="*/ 54 w 538"/>
                <a:gd name="T43" fmla="*/ 368 h 401"/>
                <a:gd name="T44" fmla="*/ 0 w 538"/>
                <a:gd name="T45" fmla="*/ 368 h 401"/>
                <a:gd name="T46" fmla="*/ 0 w 538"/>
                <a:gd name="T47" fmla="*/ 388 h 401"/>
                <a:gd name="T48" fmla="*/ 316 w 538"/>
                <a:gd name="T49" fmla="*/ 401 h 401"/>
                <a:gd name="T50" fmla="*/ 430 w 538"/>
                <a:gd name="T51" fmla="*/ 401 h 401"/>
                <a:gd name="T52" fmla="*/ 430 w 538"/>
                <a:gd name="T53" fmla="*/ 391 h 401"/>
                <a:gd name="T54" fmla="*/ 316 w 538"/>
                <a:gd name="T55" fmla="*/ 391 h 401"/>
                <a:gd name="T56" fmla="*/ 316 w 538"/>
                <a:gd name="T57" fmla="*/ 401 h 401"/>
                <a:gd name="T58" fmla="*/ 523 w 538"/>
                <a:gd name="T59" fmla="*/ 378 h 401"/>
                <a:gd name="T60" fmla="*/ 538 w 538"/>
                <a:gd name="T61" fmla="*/ 378 h 401"/>
                <a:gd name="T62" fmla="*/ 538 w 538"/>
                <a:gd name="T63" fmla="*/ 368 h 401"/>
                <a:gd name="T64" fmla="*/ 523 w 538"/>
                <a:gd name="T65" fmla="*/ 368 h 401"/>
                <a:gd name="T66" fmla="*/ 523 w 538"/>
                <a:gd name="T67" fmla="*/ 378 h 401"/>
                <a:gd name="T68" fmla="*/ 523 w 538"/>
                <a:gd name="T69" fmla="*/ 394 h 401"/>
                <a:gd name="T70" fmla="*/ 538 w 538"/>
                <a:gd name="T71" fmla="*/ 394 h 401"/>
                <a:gd name="T72" fmla="*/ 538 w 538"/>
                <a:gd name="T73" fmla="*/ 388 h 401"/>
                <a:gd name="T74" fmla="*/ 523 w 538"/>
                <a:gd name="T75" fmla="*/ 388 h 401"/>
                <a:gd name="T76" fmla="*/ 523 w 538"/>
                <a:gd name="T77" fmla="*/ 39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8" h="401">
                  <a:moveTo>
                    <a:pt x="452" y="285"/>
                  </a:moveTo>
                  <a:lnTo>
                    <a:pt x="472" y="285"/>
                  </a:lnTo>
                  <a:lnTo>
                    <a:pt x="472" y="278"/>
                  </a:lnTo>
                  <a:lnTo>
                    <a:pt x="452" y="278"/>
                  </a:lnTo>
                  <a:lnTo>
                    <a:pt x="452" y="285"/>
                  </a:lnTo>
                  <a:close/>
                  <a:moveTo>
                    <a:pt x="121" y="239"/>
                  </a:moveTo>
                  <a:lnTo>
                    <a:pt x="121" y="27"/>
                  </a:lnTo>
                  <a:lnTo>
                    <a:pt x="417" y="27"/>
                  </a:lnTo>
                  <a:lnTo>
                    <a:pt x="417" y="239"/>
                  </a:lnTo>
                  <a:lnTo>
                    <a:pt x="121" y="239"/>
                  </a:lnTo>
                  <a:close/>
                  <a:moveTo>
                    <a:pt x="108" y="252"/>
                  </a:moveTo>
                  <a:lnTo>
                    <a:pt x="430" y="252"/>
                  </a:lnTo>
                  <a:lnTo>
                    <a:pt x="430" y="14"/>
                  </a:lnTo>
                  <a:lnTo>
                    <a:pt x="446" y="14"/>
                  </a:lnTo>
                  <a:lnTo>
                    <a:pt x="446" y="0"/>
                  </a:lnTo>
                  <a:lnTo>
                    <a:pt x="96" y="0"/>
                  </a:lnTo>
                  <a:lnTo>
                    <a:pt x="96" y="265"/>
                  </a:lnTo>
                  <a:lnTo>
                    <a:pt x="108" y="265"/>
                  </a:lnTo>
                  <a:lnTo>
                    <a:pt x="108" y="252"/>
                  </a:lnTo>
                  <a:close/>
                  <a:moveTo>
                    <a:pt x="0" y="388"/>
                  </a:moveTo>
                  <a:lnTo>
                    <a:pt x="54" y="388"/>
                  </a:lnTo>
                  <a:lnTo>
                    <a:pt x="54" y="368"/>
                  </a:lnTo>
                  <a:lnTo>
                    <a:pt x="0" y="368"/>
                  </a:lnTo>
                  <a:lnTo>
                    <a:pt x="0" y="388"/>
                  </a:lnTo>
                  <a:close/>
                  <a:moveTo>
                    <a:pt x="316" y="401"/>
                  </a:moveTo>
                  <a:lnTo>
                    <a:pt x="430" y="401"/>
                  </a:lnTo>
                  <a:lnTo>
                    <a:pt x="430" y="391"/>
                  </a:lnTo>
                  <a:lnTo>
                    <a:pt x="316" y="391"/>
                  </a:lnTo>
                  <a:lnTo>
                    <a:pt x="316" y="401"/>
                  </a:lnTo>
                  <a:close/>
                  <a:moveTo>
                    <a:pt x="523" y="378"/>
                  </a:moveTo>
                  <a:lnTo>
                    <a:pt x="538" y="378"/>
                  </a:lnTo>
                  <a:lnTo>
                    <a:pt x="538" y="368"/>
                  </a:lnTo>
                  <a:lnTo>
                    <a:pt x="523" y="368"/>
                  </a:lnTo>
                  <a:lnTo>
                    <a:pt x="523" y="378"/>
                  </a:lnTo>
                  <a:close/>
                  <a:moveTo>
                    <a:pt x="523" y="394"/>
                  </a:moveTo>
                  <a:lnTo>
                    <a:pt x="538" y="394"/>
                  </a:lnTo>
                  <a:lnTo>
                    <a:pt x="538" y="388"/>
                  </a:lnTo>
                  <a:lnTo>
                    <a:pt x="523" y="388"/>
                  </a:lnTo>
                  <a:lnTo>
                    <a:pt x="523" y="394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60" name="Line 40"/>
            <p:cNvSpPr>
              <a:spLocks noChangeShapeType="1"/>
            </p:cNvSpPr>
            <p:nvPr/>
          </p:nvSpPr>
          <p:spPr bwMode="auto">
            <a:xfrm>
              <a:off x="1084" y="1257"/>
              <a:ext cx="43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61" name="Line 41"/>
            <p:cNvSpPr>
              <a:spLocks noChangeShapeType="1"/>
            </p:cNvSpPr>
            <p:nvPr/>
          </p:nvSpPr>
          <p:spPr bwMode="auto">
            <a:xfrm flipV="1">
              <a:off x="1193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62" name="Line 42"/>
            <p:cNvSpPr>
              <a:spLocks noChangeShapeType="1"/>
            </p:cNvSpPr>
            <p:nvPr/>
          </p:nvSpPr>
          <p:spPr bwMode="auto">
            <a:xfrm flipV="1">
              <a:off x="1301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1669163" name="Group 43"/>
          <p:cNvGrpSpPr>
            <a:grpSpLocks/>
          </p:cNvGrpSpPr>
          <p:nvPr/>
        </p:nvGrpSpPr>
        <p:grpSpPr bwMode="auto">
          <a:xfrm>
            <a:off x="2895600" y="6096001"/>
            <a:ext cx="371475" cy="381000"/>
            <a:chOff x="1014" y="912"/>
            <a:chExt cx="574" cy="596"/>
          </a:xfrm>
        </p:grpSpPr>
        <p:sp>
          <p:nvSpPr>
            <p:cNvPr id="1669164" name="Freeform 44"/>
            <p:cNvSpPr>
              <a:spLocks/>
            </p:cNvSpPr>
            <p:nvPr/>
          </p:nvSpPr>
          <p:spPr bwMode="auto">
            <a:xfrm>
              <a:off x="1014" y="912"/>
              <a:ext cx="574" cy="596"/>
            </a:xfrm>
            <a:custGeom>
              <a:avLst/>
              <a:gdLst>
                <a:gd name="T0" fmla="*/ 124 w 574"/>
                <a:gd name="T1" fmla="*/ 391 h 596"/>
                <a:gd name="T2" fmla="*/ 0 w 574"/>
                <a:gd name="T3" fmla="*/ 391 h 596"/>
                <a:gd name="T4" fmla="*/ 0 w 574"/>
                <a:gd name="T5" fmla="*/ 596 h 596"/>
                <a:gd name="T6" fmla="*/ 574 w 574"/>
                <a:gd name="T7" fmla="*/ 596 h 596"/>
                <a:gd name="T8" fmla="*/ 574 w 574"/>
                <a:gd name="T9" fmla="*/ 391 h 596"/>
                <a:gd name="T10" fmla="*/ 446 w 574"/>
                <a:gd name="T11" fmla="*/ 391 h 596"/>
                <a:gd name="T12" fmla="*/ 446 w 574"/>
                <a:gd name="T13" fmla="*/ 364 h 596"/>
                <a:gd name="T14" fmla="*/ 500 w 574"/>
                <a:gd name="T15" fmla="*/ 364 h 596"/>
                <a:gd name="T16" fmla="*/ 500 w 574"/>
                <a:gd name="T17" fmla="*/ 0 h 596"/>
                <a:gd name="T18" fmla="*/ 70 w 574"/>
                <a:gd name="T19" fmla="*/ 0 h 596"/>
                <a:gd name="T20" fmla="*/ 70 w 574"/>
                <a:gd name="T21" fmla="*/ 364 h 596"/>
                <a:gd name="T22" fmla="*/ 124 w 574"/>
                <a:gd name="T23" fmla="*/ 364 h 596"/>
                <a:gd name="T24" fmla="*/ 124 w 574"/>
                <a:gd name="T25" fmla="*/ 39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4" h="596">
                  <a:moveTo>
                    <a:pt x="124" y="391"/>
                  </a:moveTo>
                  <a:lnTo>
                    <a:pt x="0" y="391"/>
                  </a:lnTo>
                  <a:lnTo>
                    <a:pt x="0" y="596"/>
                  </a:lnTo>
                  <a:lnTo>
                    <a:pt x="574" y="596"/>
                  </a:lnTo>
                  <a:lnTo>
                    <a:pt x="574" y="391"/>
                  </a:lnTo>
                  <a:lnTo>
                    <a:pt x="446" y="391"/>
                  </a:lnTo>
                  <a:lnTo>
                    <a:pt x="446" y="364"/>
                  </a:lnTo>
                  <a:lnTo>
                    <a:pt x="500" y="364"/>
                  </a:lnTo>
                  <a:lnTo>
                    <a:pt x="500" y="0"/>
                  </a:lnTo>
                  <a:lnTo>
                    <a:pt x="70" y="0"/>
                  </a:lnTo>
                  <a:lnTo>
                    <a:pt x="70" y="364"/>
                  </a:lnTo>
                  <a:lnTo>
                    <a:pt x="124" y="364"/>
                  </a:lnTo>
                  <a:lnTo>
                    <a:pt x="124" y="39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65" name="Line 45"/>
            <p:cNvSpPr>
              <a:spLocks noChangeShapeType="1"/>
            </p:cNvSpPr>
            <p:nvPr/>
          </p:nvSpPr>
          <p:spPr bwMode="auto">
            <a:xfrm>
              <a:off x="1138" y="1303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66" name="Line 46"/>
            <p:cNvSpPr>
              <a:spLocks noChangeShapeType="1"/>
            </p:cNvSpPr>
            <p:nvPr/>
          </p:nvSpPr>
          <p:spPr bwMode="auto">
            <a:xfrm>
              <a:off x="1138" y="1276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67" name="Freeform 47"/>
            <p:cNvSpPr>
              <a:spLocks noEditPoints="1"/>
            </p:cNvSpPr>
            <p:nvPr/>
          </p:nvSpPr>
          <p:spPr bwMode="auto">
            <a:xfrm>
              <a:off x="1310" y="1323"/>
              <a:ext cx="233" cy="168"/>
            </a:xfrm>
            <a:custGeom>
              <a:avLst/>
              <a:gdLst>
                <a:gd name="T0" fmla="*/ 0 w 233"/>
                <a:gd name="T1" fmla="*/ 168 h 168"/>
                <a:gd name="T2" fmla="*/ 188 w 233"/>
                <a:gd name="T3" fmla="*/ 168 h 168"/>
                <a:gd name="T4" fmla="*/ 188 w 233"/>
                <a:gd name="T5" fmla="*/ 0 h 168"/>
                <a:gd name="T6" fmla="*/ 0 w 233"/>
                <a:gd name="T7" fmla="*/ 0 h 168"/>
                <a:gd name="T8" fmla="*/ 0 w 233"/>
                <a:gd name="T9" fmla="*/ 168 h 168"/>
                <a:gd name="T10" fmla="*/ 204 w 233"/>
                <a:gd name="T11" fmla="*/ 26 h 168"/>
                <a:gd name="T12" fmla="*/ 233 w 233"/>
                <a:gd name="T13" fmla="*/ 26 h 168"/>
                <a:gd name="T14" fmla="*/ 233 w 233"/>
                <a:gd name="T15" fmla="*/ 0 h 168"/>
                <a:gd name="T16" fmla="*/ 204 w 233"/>
                <a:gd name="T17" fmla="*/ 0 h 168"/>
                <a:gd name="T18" fmla="*/ 204 w 233"/>
                <a:gd name="T19" fmla="*/ 2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3" h="168">
                  <a:moveTo>
                    <a:pt x="0" y="168"/>
                  </a:moveTo>
                  <a:lnTo>
                    <a:pt x="188" y="168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0" y="168"/>
                  </a:lnTo>
                  <a:close/>
                  <a:moveTo>
                    <a:pt x="204" y="26"/>
                  </a:moveTo>
                  <a:lnTo>
                    <a:pt x="233" y="26"/>
                  </a:lnTo>
                  <a:lnTo>
                    <a:pt x="233" y="0"/>
                  </a:lnTo>
                  <a:lnTo>
                    <a:pt x="204" y="0"/>
                  </a:lnTo>
                  <a:lnTo>
                    <a:pt x="204" y="26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68" name="Line 48"/>
            <p:cNvSpPr>
              <a:spLocks noChangeShapeType="1"/>
            </p:cNvSpPr>
            <p:nvPr/>
          </p:nvSpPr>
          <p:spPr bwMode="auto">
            <a:xfrm>
              <a:off x="1310" y="1379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69" name="Line 49"/>
            <p:cNvSpPr>
              <a:spLocks noChangeShapeType="1"/>
            </p:cNvSpPr>
            <p:nvPr/>
          </p:nvSpPr>
          <p:spPr bwMode="auto">
            <a:xfrm>
              <a:off x="1310" y="1435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70" name="Line 50"/>
            <p:cNvSpPr>
              <a:spLocks noChangeShapeType="1"/>
            </p:cNvSpPr>
            <p:nvPr/>
          </p:nvSpPr>
          <p:spPr bwMode="auto">
            <a:xfrm>
              <a:off x="1317" y="1405"/>
              <a:ext cx="17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71" name="Rectangle 51"/>
            <p:cNvSpPr>
              <a:spLocks noChangeArrowheads="1"/>
            </p:cNvSpPr>
            <p:nvPr/>
          </p:nvSpPr>
          <p:spPr bwMode="auto">
            <a:xfrm>
              <a:off x="1416" y="1389"/>
              <a:ext cx="54" cy="36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72" name="Freeform 52"/>
            <p:cNvSpPr>
              <a:spLocks noEditPoints="1"/>
            </p:cNvSpPr>
            <p:nvPr/>
          </p:nvSpPr>
          <p:spPr bwMode="auto">
            <a:xfrm>
              <a:off x="1030" y="955"/>
              <a:ext cx="538" cy="401"/>
            </a:xfrm>
            <a:custGeom>
              <a:avLst/>
              <a:gdLst>
                <a:gd name="T0" fmla="*/ 452 w 538"/>
                <a:gd name="T1" fmla="*/ 285 h 401"/>
                <a:gd name="T2" fmla="*/ 472 w 538"/>
                <a:gd name="T3" fmla="*/ 285 h 401"/>
                <a:gd name="T4" fmla="*/ 472 w 538"/>
                <a:gd name="T5" fmla="*/ 278 h 401"/>
                <a:gd name="T6" fmla="*/ 452 w 538"/>
                <a:gd name="T7" fmla="*/ 278 h 401"/>
                <a:gd name="T8" fmla="*/ 452 w 538"/>
                <a:gd name="T9" fmla="*/ 285 h 401"/>
                <a:gd name="T10" fmla="*/ 121 w 538"/>
                <a:gd name="T11" fmla="*/ 239 h 401"/>
                <a:gd name="T12" fmla="*/ 121 w 538"/>
                <a:gd name="T13" fmla="*/ 27 h 401"/>
                <a:gd name="T14" fmla="*/ 417 w 538"/>
                <a:gd name="T15" fmla="*/ 27 h 401"/>
                <a:gd name="T16" fmla="*/ 417 w 538"/>
                <a:gd name="T17" fmla="*/ 239 h 401"/>
                <a:gd name="T18" fmla="*/ 121 w 538"/>
                <a:gd name="T19" fmla="*/ 239 h 401"/>
                <a:gd name="T20" fmla="*/ 108 w 538"/>
                <a:gd name="T21" fmla="*/ 252 h 401"/>
                <a:gd name="T22" fmla="*/ 430 w 538"/>
                <a:gd name="T23" fmla="*/ 252 h 401"/>
                <a:gd name="T24" fmla="*/ 430 w 538"/>
                <a:gd name="T25" fmla="*/ 14 h 401"/>
                <a:gd name="T26" fmla="*/ 446 w 538"/>
                <a:gd name="T27" fmla="*/ 14 h 401"/>
                <a:gd name="T28" fmla="*/ 446 w 538"/>
                <a:gd name="T29" fmla="*/ 0 h 401"/>
                <a:gd name="T30" fmla="*/ 96 w 538"/>
                <a:gd name="T31" fmla="*/ 0 h 401"/>
                <a:gd name="T32" fmla="*/ 96 w 538"/>
                <a:gd name="T33" fmla="*/ 265 h 401"/>
                <a:gd name="T34" fmla="*/ 108 w 538"/>
                <a:gd name="T35" fmla="*/ 265 h 401"/>
                <a:gd name="T36" fmla="*/ 108 w 538"/>
                <a:gd name="T37" fmla="*/ 252 h 401"/>
                <a:gd name="T38" fmla="*/ 0 w 538"/>
                <a:gd name="T39" fmla="*/ 388 h 401"/>
                <a:gd name="T40" fmla="*/ 54 w 538"/>
                <a:gd name="T41" fmla="*/ 388 h 401"/>
                <a:gd name="T42" fmla="*/ 54 w 538"/>
                <a:gd name="T43" fmla="*/ 368 h 401"/>
                <a:gd name="T44" fmla="*/ 0 w 538"/>
                <a:gd name="T45" fmla="*/ 368 h 401"/>
                <a:gd name="T46" fmla="*/ 0 w 538"/>
                <a:gd name="T47" fmla="*/ 388 h 401"/>
                <a:gd name="T48" fmla="*/ 316 w 538"/>
                <a:gd name="T49" fmla="*/ 401 h 401"/>
                <a:gd name="T50" fmla="*/ 430 w 538"/>
                <a:gd name="T51" fmla="*/ 401 h 401"/>
                <a:gd name="T52" fmla="*/ 430 w 538"/>
                <a:gd name="T53" fmla="*/ 391 h 401"/>
                <a:gd name="T54" fmla="*/ 316 w 538"/>
                <a:gd name="T55" fmla="*/ 391 h 401"/>
                <a:gd name="T56" fmla="*/ 316 w 538"/>
                <a:gd name="T57" fmla="*/ 401 h 401"/>
                <a:gd name="T58" fmla="*/ 523 w 538"/>
                <a:gd name="T59" fmla="*/ 378 h 401"/>
                <a:gd name="T60" fmla="*/ 538 w 538"/>
                <a:gd name="T61" fmla="*/ 378 h 401"/>
                <a:gd name="T62" fmla="*/ 538 w 538"/>
                <a:gd name="T63" fmla="*/ 368 h 401"/>
                <a:gd name="T64" fmla="*/ 523 w 538"/>
                <a:gd name="T65" fmla="*/ 368 h 401"/>
                <a:gd name="T66" fmla="*/ 523 w 538"/>
                <a:gd name="T67" fmla="*/ 378 h 401"/>
                <a:gd name="T68" fmla="*/ 523 w 538"/>
                <a:gd name="T69" fmla="*/ 394 h 401"/>
                <a:gd name="T70" fmla="*/ 538 w 538"/>
                <a:gd name="T71" fmla="*/ 394 h 401"/>
                <a:gd name="T72" fmla="*/ 538 w 538"/>
                <a:gd name="T73" fmla="*/ 388 h 401"/>
                <a:gd name="T74" fmla="*/ 523 w 538"/>
                <a:gd name="T75" fmla="*/ 388 h 401"/>
                <a:gd name="T76" fmla="*/ 523 w 538"/>
                <a:gd name="T77" fmla="*/ 39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8" h="401">
                  <a:moveTo>
                    <a:pt x="452" y="285"/>
                  </a:moveTo>
                  <a:lnTo>
                    <a:pt x="472" y="285"/>
                  </a:lnTo>
                  <a:lnTo>
                    <a:pt x="472" y="278"/>
                  </a:lnTo>
                  <a:lnTo>
                    <a:pt x="452" y="278"/>
                  </a:lnTo>
                  <a:lnTo>
                    <a:pt x="452" y="285"/>
                  </a:lnTo>
                  <a:close/>
                  <a:moveTo>
                    <a:pt x="121" y="239"/>
                  </a:moveTo>
                  <a:lnTo>
                    <a:pt x="121" y="27"/>
                  </a:lnTo>
                  <a:lnTo>
                    <a:pt x="417" y="27"/>
                  </a:lnTo>
                  <a:lnTo>
                    <a:pt x="417" y="239"/>
                  </a:lnTo>
                  <a:lnTo>
                    <a:pt x="121" y="239"/>
                  </a:lnTo>
                  <a:close/>
                  <a:moveTo>
                    <a:pt x="108" y="252"/>
                  </a:moveTo>
                  <a:lnTo>
                    <a:pt x="430" y="252"/>
                  </a:lnTo>
                  <a:lnTo>
                    <a:pt x="430" y="14"/>
                  </a:lnTo>
                  <a:lnTo>
                    <a:pt x="446" y="14"/>
                  </a:lnTo>
                  <a:lnTo>
                    <a:pt x="446" y="0"/>
                  </a:lnTo>
                  <a:lnTo>
                    <a:pt x="96" y="0"/>
                  </a:lnTo>
                  <a:lnTo>
                    <a:pt x="96" y="265"/>
                  </a:lnTo>
                  <a:lnTo>
                    <a:pt x="108" y="265"/>
                  </a:lnTo>
                  <a:lnTo>
                    <a:pt x="108" y="252"/>
                  </a:lnTo>
                  <a:close/>
                  <a:moveTo>
                    <a:pt x="0" y="388"/>
                  </a:moveTo>
                  <a:lnTo>
                    <a:pt x="54" y="388"/>
                  </a:lnTo>
                  <a:lnTo>
                    <a:pt x="54" y="368"/>
                  </a:lnTo>
                  <a:lnTo>
                    <a:pt x="0" y="368"/>
                  </a:lnTo>
                  <a:lnTo>
                    <a:pt x="0" y="388"/>
                  </a:lnTo>
                  <a:close/>
                  <a:moveTo>
                    <a:pt x="316" y="401"/>
                  </a:moveTo>
                  <a:lnTo>
                    <a:pt x="430" y="401"/>
                  </a:lnTo>
                  <a:lnTo>
                    <a:pt x="430" y="391"/>
                  </a:lnTo>
                  <a:lnTo>
                    <a:pt x="316" y="391"/>
                  </a:lnTo>
                  <a:lnTo>
                    <a:pt x="316" y="401"/>
                  </a:lnTo>
                  <a:close/>
                  <a:moveTo>
                    <a:pt x="523" y="378"/>
                  </a:moveTo>
                  <a:lnTo>
                    <a:pt x="538" y="378"/>
                  </a:lnTo>
                  <a:lnTo>
                    <a:pt x="538" y="368"/>
                  </a:lnTo>
                  <a:lnTo>
                    <a:pt x="523" y="368"/>
                  </a:lnTo>
                  <a:lnTo>
                    <a:pt x="523" y="378"/>
                  </a:lnTo>
                  <a:close/>
                  <a:moveTo>
                    <a:pt x="523" y="394"/>
                  </a:moveTo>
                  <a:lnTo>
                    <a:pt x="538" y="394"/>
                  </a:lnTo>
                  <a:lnTo>
                    <a:pt x="538" y="388"/>
                  </a:lnTo>
                  <a:lnTo>
                    <a:pt x="523" y="388"/>
                  </a:lnTo>
                  <a:lnTo>
                    <a:pt x="523" y="394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73" name="Line 53"/>
            <p:cNvSpPr>
              <a:spLocks noChangeShapeType="1"/>
            </p:cNvSpPr>
            <p:nvPr/>
          </p:nvSpPr>
          <p:spPr bwMode="auto">
            <a:xfrm>
              <a:off x="1084" y="1257"/>
              <a:ext cx="43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74" name="Line 54"/>
            <p:cNvSpPr>
              <a:spLocks noChangeShapeType="1"/>
            </p:cNvSpPr>
            <p:nvPr/>
          </p:nvSpPr>
          <p:spPr bwMode="auto">
            <a:xfrm flipV="1">
              <a:off x="1193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75" name="Line 55"/>
            <p:cNvSpPr>
              <a:spLocks noChangeShapeType="1"/>
            </p:cNvSpPr>
            <p:nvPr/>
          </p:nvSpPr>
          <p:spPr bwMode="auto">
            <a:xfrm flipV="1">
              <a:off x="1301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1669176" name="Group 56"/>
          <p:cNvGrpSpPr>
            <a:grpSpLocks/>
          </p:cNvGrpSpPr>
          <p:nvPr/>
        </p:nvGrpSpPr>
        <p:grpSpPr bwMode="auto">
          <a:xfrm>
            <a:off x="1371600" y="4572000"/>
            <a:ext cx="2179638" cy="1447800"/>
            <a:chOff x="832" y="1344"/>
            <a:chExt cx="1136" cy="1024"/>
          </a:xfrm>
        </p:grpSpPr>
        <p:sp>
          <p:nvSpPr>
            <p:cNvPr id="1669177" name="Oval 57"/>
            <p:cNvSpPr>
              <a:spLocks noChangeArrowheads="1"/>
            </p:cNvSpPr>
            <p:nvPr/>
          </p:nvSpPr>
          <p:spPr bwMode="auto">
            <a:xfrm>
              <a:off x="1220" y="1344"/>
              <a:ext cx="495" cy="424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78" name="Oval 58"/>
            <p:cNvSpPr>
              <a:spLocks noChangeArrowheads="1"/>
            </p:cNvSpPr>
            <p:nvPr/>
          </p:nvSpPr>
          <p:spPr bwMode="auto">
            <a:xfrm>
              <a:off x="948" y="1455"/>
              <a:ext cx="379" cy="424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79" name="Oval 59"/>
            <p:cNvSpPr>
              <a:spLocks noChangeArrowheads="1"/>
            </p:cNvSpPr>
            <p:nvPr/>
          </p:nvSpPr>
          <p:spPr bwMode="auto">
            <a:xfrm>
              <a:off x="832" y="1710"/>
              <a:ext cx="256" cy="306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80" name="Oval 60"/>
            <p:cNvSpPr>
              <a:spLocks noChangeArrowheads="1"/>
            </p:cNvSpPr>
            <p:nvPr/>
          </p:nvSpPr>
          <p:spPr bwMode="auto">
            <a:xfrm>
              <a:off x="909" y="1862"/>
              <a:ext cx="435" cy="442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81" name="Oval 61"/>
            <p:cNvSpPr>
              <a:spLocks noChangeArrowheads="1"/>
            </p:cNvSpPr>
            <p:nvPr/>
          </p:nvSpPr>
          <p:spPr bwMode="auto">
            <a:xfrm>
              <a:off x="1086" y="1924"/>
              <a:ext cx="671" cy="444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82" name="Oval 62"/>
            <p:cNvSpPr>
              <a:spLocks noChangeArrowheads="1"/>
            </p:cNvSpPr>
            <p:nvPr/>
          </p:nvSpPr>
          <p:spPr bwMode="auto">
            <a:xfrm>
              <a:off x="1605" y="1488"/>
              <a:ext cx="311" cy="312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83" name="Oval 63"/>
            <p:cNvSpPr>
              <a:spLocks noChangeArrowheads="1"/>
            </p:cNvSpPr>
            <p:nvPr/>
          </p:nvSpPr>
          <p:spPr bwMode="auto">
            <a:xfrm>
              <a:off x="1602" y="1681"/>
              <a:ext cx="366" cy="333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84" name="Oval 64"/>
            <p:cNvSpPr>
              <a:spLocks noChangeArrowheads="1"/>
            </p:cNvSpPr>
            <p:nvPr/>
          </p:nvSpPr>
          <p:spPr bwMode="auto">
            <a:xfrm>
              <a:off x="1569" y="1751"/>
              <a:ext cx="364" cy="547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85" name="Oval 65"/>
            <p:cNvSpPr>
              <a:spLocks noChangeArrowheads="1"/>
            </p:cNvSpPr>
            <p:nvPr/>
          </p:nvSpPr>
          <p:spPr bwMode="auto">
            <a:xfrm>
              <a:off x="912" y="1434"/>
              <a:ext cx="1008" cy="918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1669186" name="Group 66"/>
          <p:cNvGrpSpPr>
            <a:grpSpLocks/>
          </p:cNvGrpSpPr>
          <p:nvPr/>
        </p:nvGrpSpPr>
        <p:grpSpPr bwMode="auto">
          <a:xfrm>
            <a:off x="5440364" y="4572000"/>
            <a:ext cx="2179637" cy="1447800"/>
            <a:chOff x="832" y="1344"/>
            <a:chExt cx="1136" cy="1024"/>
          </a:xfrm>
        </p:grpSpPr>
        <p:sp>
          <p:nvSpPr>
            <p:cNvPr id="1669187" name="Oval 67"/>
            <p:cNvSpPr>
              <a:spLocks noChangeArrowheads="1"/>
            </p:cNvSpPr>
            <p:nvPr/>
          </p:nvSpPr>
          <p:spPr bwMode="auto">
            <a:xfrm>
              <a:off x="1220" y="1344"/>
              <a:ext cx="495" cy="424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88" name="Oval 68"/>
            <p:cNvSpPr>
              <a:spLocks noChangeArrowheads="1"/>
            </p:cNvSpPr>
            <p:nvPr/>
          </p:nvSpPr>
          <p:spPr bwMode="auto">
            <a:xfrm>
              <a:off x="948" y="1455"/>
              <a:ext cx="379" cy="424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89" name="Oval 69"/>
            <p:cNvSpPr>
              <a:spLocks noChangeArrowheads="1"/>
            </p:cNvSpPr>
            <p:nvPr/>
          </p:nvSpPr>
          <p:spPr bwMode="auto">
            <a:xfrm>
              <a:off x="832" y="1710"/>
              <a:ext cx="256" cy="306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90" name="Oval 70"/>
            <p:cNvSpPr>
              <a:spLocks noChangeArrowheads="1"/>
            </p:cNvSpPr>
            <p:nvPr/>
          </p:nvSpPr>
          <p:spPr bwMode="auto">
            <a:xfrm>
              <a:off x="909" y="1862"/>
              <a:ext cx="435" cy="442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91" name="Oval 71"/>
            <p:cNvSpPr>
              <a:spLocks noChangeArrowheads="1"/>
            </p:cNvSpPr>
            <p:nvPr/>
          </p:nvSpPr>
          <p:spPr bwMode="auto">
            <a:xfrm>
              <a:off x="1086" y="1924"/>
              <a:ext cx="671" cy="444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92" name="Oval 72"/>
            <p:cNvSpPr>
              <a:spLocks noChangeArrowheads="1"/>
            </p:cNvSpPr>
            <p:nvPr/>
          </p:nvSpPr>
          <p:spPr bwMode="auto">
            <a:xfrm>
              <a:off x="1605" y="1488"/>
              <a:ext cx="311" cy="312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93" name="Oval 73"/>
            <p:cNvSpPr>
              <a:spLocks noChangeArrowheads="1"/>
            </p:cNvSpPr>
            <p:nvPr/>
          </p:nvSpPr>
          <p:spPr bwMode="auto">
            <a:xfrm>
              <a:off x="1602" y="1681"/>
              <a:ext cx="366" cy="333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94" name="Oval 74"/>
            <p:cNvSpPr>
              <a:spLocks noChangeArrowheads="1"/>
            </p:cNvSpPr>
            <p:nvPr/>
          </p:nvSpPr>
          <p:spPr bwMode="auto">
            <a:xfrm>
              <a:off x="1569" y="1751"/>
              <a:ext cx="364" cy="547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95" name="Oval 75"/>
            <p:cNvSpPr>
              <a:spLocks noChangeArrowheads="1"/>
            </p:cNvSpPr>
            <p:nvPr/>
          </p:nvSpPr>
          <p:spPr bwMode="auto">
            <a:xfrm>
              <a:off x="912" y="1434"/>
              <a:ext cx="1008" cy="918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1669196" name="Group 76"/>
          <p:cNvGrpSpPr>
            <a:grpSpLocks/>
          </p:cNvGrpSpPr>
          <p:nvPr/>
        </p:nvGrpSpPr>
        <p:grpSpPr bwMode="auto">
          <a:xfrm>
            <a:off x="3276600" y="3962401"/>
            <a:ext cx="2438400" cy="1447800"/>
            <a:chOff x="832" y="1344"/>
            <a:chExt cx="1136" cy="1024"/>
          </a:xfrm>
        </p:grpSpPr>
        <p:sp>
          <p:nvSpPr>
            <p:cNvPr id="1669197" name="Oval 77"/>
            <p:cNvSpPr>
              <a:spLocks noChangeArrowheads="1"/>
            </p:cNvSpPr>
            <p:nvPr/>
          </p:nvSpPr>
          <p:spPr bwMode="auto">
            <a:xfrm>
              <a:off x="1220" y="1344"/>
              <a:ext cx="495" cy="424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98" name="Oval 78"/>
            <p:cNvSpPr>
              <a:spLocks noChangeArrowheads="1"/>
            </p:cNvSpPr>
            <p:nvPr/>
          </p:nvSpPr>
          <p:spPr bwMode="auto">
            <a:xfrm>
              <a:off x="948" y="1455"/>
              <a:ext cx="379" cy="424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199" name="Oval 79"/>
            <p:cNvSpPr>
              <a:spLocks noChangeArrowheads="1"/>
            </p:cNvSpPr>
            <p:nvPr/>
          </p:nvSpPr>
          <p:spPr bwMode="auto">
            <a:xfrm>
              <a:off x="832" y="1710"/>
              <a:ext cx="256" cy="306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200" name="Oval 80"/>
            <p:cNvSpPr>
              <a:spLocks noChangeArrowheads="1"/>
            </p:cNvSpPr>
            <p:nvPr/>
          </p:nvSpPr>
          <p:spPr bwMode="auto">
            <a:xfrm>
              <a:off x="909" y="1862"/>
              <a:ext cx="435" cy="442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201" name="Oval 81"/>
            <p:cNvSpPr>
              <a:spLocks noChangeArrowheads="1"/>
            </p:cNvSpPr>
            <p:nvPr/>
          </p:nvSpPr>
          <p:spPr bwMode="auto">
            <a:xfrm>
              <a:off x="1086" y="1924"/>
              <a:ext cx="671" cy="444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202" name="Oval 82"/>
            <p:cNvSpPr>
              <a:spLocks noChangeArrowheads="1"/>
            </p:cNvSpPr>
            <p:nvPr/>
          </p:nvSpPr>
          <p:spPr bwMode="auto">
            <a:xfrm>
              <a:off x="1605" y="1488"/>
              <a:ext cx="311" cy="312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203" name="Oval 83"/>
            <p:cNvSpPr>
              <a:spLocks noChangeArrowheads="1"/>
            </p:cNvSpPr>
            <p:nvPr/>
          </p:nvSpPr>
          <p:spPr bwMode="auto">
            <a:xfrm>
              <a:off x="1602" y="1681"/>
              <a:ext cx="366" cy="333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204" name="Oval 84"/>
            <p:cNvSpPr>
              <a:spLocks noChangeArrowheads="1"/>
            </p:cNvSpPr>
            <p:nvPr/>
          </p:nvSpPr>
          <p:spPr bwMode="auto">
            <a:xfrm>
              <a:off x="1569" y="1751"/>
              <a:ext cx="364" cy="547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69205" name="Oval 85"/>
            <p:cNvSpPr>
              <a:spLocks noChangeArrowheads="1"/>
            </p:cNvSpPr>
            <p:nvPr/>
          </p:nvSpPr>
          <p:spPr bwMode="auto">
            <a:xfrm>
              <a:off x="912" y="1434"/>
              <a:ext cx="1008" cy="918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sp>
        <p:nvSpPr>
          <p:cNvPr id="1669206" name="Text Box 86"/>
          <p:cNvSpPr txBox="1">
            <a:spLocks noChangeArrowheads="1"/>
          </p:cNvSpPr>
          <p:nvPr/>
        </p:nvSpPr>
        <p:spPr bwMode="auto">
          <a:xfrm>
            <a:off x="3556439" y="3476637"/>
            <a:ext cx="939361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31" tIns="44423" rIns="90431" bIns="44423">
            <a:spAutoFit/>
          </a:bodyPr>
          <a:lstStyle/>
          <a:p>
            <a:r>
              <a:rPr lang="en-US" b="0">
                <a:latin typeface="+mn-lt"/>
              </a:rPr>
              <a:t>Server</a:t>
            </a:r>
          </a:p>
        </p:txBody>
      </p:sp>
      <p:sp>
        <p:nvSpPr>
          <p:cNvPr id="1669207" name="Text Box 87"/>
          <p:cNvSpPr txBox="1">
            <a:spLocks noChangeArrowheads="1"/>
          </p:cNvSpPr>
          <p:nvPr/>
        </p:nvSpPr>
        <p:spPr bwMode="auto">
          <a:xfrm>
            <a:off x="252488" y="6143637"/>
            <a:ext cx="867111" cy="335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31" tIns="44423" rIns="90431" bIns="44423">
            <a:spAutoFit/>
          </a:bodyPr>
          <a:lstStyle/>
          <a:p>
            <a:r>
              <a:rPr lang="en-US">
                <a:latin typeface="+mn-lt"/>
              </a:rPr>
              <a:t>Clients</a:t>
            </a:r>
          </a:p>
        </p:txBody>
      </p:sp>
      <p:sp>
        <p:nvSpPr>
          <p:cNvPr id="1669208" name="Freeform 88"/>
          <p:cNvSpPr>
            <a:spLocks/>
          </p:cNvSpPr>
          <p:nvPr/>
        </p:nvSpPr>
        <p:spPr bwMode="auto">
          <a:xfrm>
            <a:off x="1525600" y="3881439"/>
            <a:ext cx="3043237" cy="2211387"/>
          </a:xfrm>
          <a:custGeom>
            <a:avLst/>
            <a:gdLst>
              <a:gd name="T0" fmla="*/ 1920 w 1920"/>
              <a:gd name="T1" fmla="*/ 0 h 1392"/>
              <a:gd name="T2" fmla="*/ 1776 w 1920"/>
              <a:gd name="T3" fmla="*/ 192 h 1392"/>
              <a:gd name="T4" fmla="*/ 1488 w 1920"/>
              <a:gd name="T5" fmla="*/ 288 h 1392"/>
              <a:gd name="T6" fmla="*/ 864 w 1920"/>
              <a:gd name="T7" fmla="*/ 672 h 1392"/>
              <a:gd name="T8" fmla="*/ 288 w 1920"/>
              <a:gd name="T9" fmla="*/ 1056 h 1392"/>
              <a:gd name="T10" fmla="*/ 0 w 1920"/>
              <a:gd name="T11" fmla="*/ 1392 h 1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20" h="1392">
                <a:moveTo>
                  <a:pt x="1920" y="0"/>
                </a:moveTo>
                <a:lnTo>
                  <a:pt x="1776" y="192"/>
                </a:lnTo>
                <a:lnTo>
                  <a:pt x="1488" y="288"/>
                </a:lnTo>
                <a:lnTo>
                  <a:pt x="864" y="672"/>
                </a:lnTo>
                <a:lnTo>
                  <a:pt x="288" y="1056"/>
                </a:lnTo>
                <a:lnTo>
                  <a:pt x="0" y="1392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31" tIns="44423" rIns="90431" bIns="44423"/>
          <a:lstStyle/>
          <a:p>
            <a:endParaRPr lang="en-US" b="0">
              <a:latin typeface="+mn-lt"/>
            </a:endParaRPr>
          </a:p>
        </p:txBody>
      </p:sp>
      <p:sp>
        <p:nvSpPr>
          <p:cNvPr id="1669209" name="Freeform 89"/>
          <p:cNvSpPr>
            <a:spLocks/>
          </p:cNvSpPr>
          <p:nvPr/>
        </p:nvSpPr>
        <p:spPr bwMode="auto">
          <a:xfrm>
            <a:off x="3048000" y="3886200"/>
            <a:ext cx="1600200" cy="2209800"/>
          </a:xfrm>
          <a:custGeom>
            <a:avLst/>
            <a:gdLst>
              <a:gd name="T0" fmla="*/ 1008 w 1008"/>
              <a:gd name="T1" fmla="*/ 0 h 1296"/>
              <a:gd name="T2" fmla="*/ 864 w 1008"/>
              <a:gd name="T3" fmla="*/ 336 h 1296"/>
              <a:gd name="T4" fmla="*/ 0 w 1008"/>
              <a:gd name="T5" fmla="*/ 864 h 1296"/>
              <a:gd name="T6" fmla="*/ 0 w 1008"/>
              <a:gd name="T7" fmla="*/ 1296 h 1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296">
                <a:moveTo>
                  <a:pt x="1008" y="0"/>
                </a:moveTo>
                <a:lnTo>
                  <a:pt x="864" y="336"/>
                </a:lnTo>
                <a:lnTo>
                  <a:pt x="0" y="864"/>
                </a:lnTo>
                <a:lnTo>
                  <a:pt x="0" y="1296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31" tIns="44423" rIns="90431" bIns="44423"/>
          <a:lstStyle/>
          <a:p>
            <a:endParaRPr lang="en-US" b="0">
              <a:latin typeface="+mn-lt"/>
            </a:endParaRPr>
          </a:p>
        </p:txBody>
      </p:sp>
      <p:sp>
        <p:nvSpPr>
          <p:cNvPr id="1669210" name="Freeform 90"/>
          <p:cNvSpPr>
            <a:spLocks/>
          </p:cNvSpPr>
          <p:nvPr/>
        </p:nvSpPr>
        <p:spPr bwMode="auto">
          <a:xfrm>
            <a:off x="4724401" y="3886200"/>
            <a:ext cx="2895600" cy="2209800"/>
          </a:xfrm>
          <a:custGeom>
            <a:avLst/>
            <a:gdLst>
              <a:gd name="T0" fmla="*/ 0 w 1824"/>
              <a:gd name="T1" fmla="*/ 0 h 1392"/>
              <a:gd name="T2" fmla="*/ 384 w 1824"/>
              <a:gd name="T3" fmla="*/ 288 h 1392"/>
              <a:gd name="T4" fmla="*/ 672 w 1824"/>
              <a:gd name="T5" fmla="*/ 624 h 1392"/>
              <a:gd name="T6" fmla="*/ 1248 w 1824"/>
              <a:gd name="T7" fmla="*/ 672 h 1392"/>
              <a:gd name="T8" fmla="*/ 1824 w 1824"/>
              <a:gd name="T9" fmla="*/ 1392 h 1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24" h="1392">
                <a:moveTo>
                  <a:pt x="0" y="0"/>
                </a:moveTo>
                <a:lnTo>
                  <a:pt x="384" y="288"/>
                </a:lnTo>
                <a:lnTo>
                  <a:pt x="672" y="624"/>
                </a:lnTo>
                <a:lnTo>
                  <a:pt x="1248" y="672"/>
                </a:lnTo>
                <a:lnTo>
                  <a:pt x="1824" y="1392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31" tIns="44423" rIns="90431" bIns="44423"/>
          <a:lstStyle/>
          <a:p>
            <a:endParaRPr lang="en-US" b="0">
              <a:latin typeface="+mn-lt"/>
            </a:endParaRPr>
          </a:p>
        </p:txBody>
      </p:sp>
      <p:sp>
        <p:nvSpPr>
          <p:cNvPr id="1669211" name="Freeform 91"/>
          <p:cNvSpPr>
            <a:spLocks/>
          </p:cNvSpPr>
          <p:nvPr/>
        </p:nvSpPr>
        <p:spPr bwMode="auto">
          <a:xfrm>
            <a:off x="4648200" y="3886200"/>
            <a:ext cx="1600200" cy="2209800"/>
          </a:xfrm>
          <a:custGeom>
            <a:avLst/>
            <a:gdLst>
              <a:gd name="T0" fmla="*/ 0 w 1008"/>
              <a:gd name="T1" fmla="*/ 0 h 1392"/>
              <a:gd name="T2" fmla="*/ 384 w 1008"/>
              <a:gd name="T3" fmla="*/ 432 h 1392"/>
              <a:gd name="T4" fmla="*/ 672 w 1008"/>
              <a:gd name="T5" fmla="*/ 864 h 1392"/>
              <a:gd name="T6" fmla="*/ 912 w 1008"/>
              <a:gd name="T7" fmla="*/ 1008 h 1392"/>
              <a:gd name="T8" fmla="*/ 1008 w 1008"/>
              <a:gd name="T9" fmla="*/ 1392 h 1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08" h="1392">
                <a:moveTo>
                  <a:pt x="0" y="0"/>
                </a:moveTo>
                <a:lnTo>
                  <a:pt x="384" y="432"/>
                </a:lnTo>
                <a:lnTo>
                  <a:pt x="672" y="864"/>
                </a:lnTo>
                <a:lnTo>
                  <a:pt x="912" y="1008"/>
                </a:lnTo>
                <a:lnTo>
                  <a:pt x="1008" y="1392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31" tIns="44423" rIns="90431" bIns="44423"/>
          <a:lstStyle/>
          <a:p>
            <a:endParaRPr lang="en-US" b="0">
              <a:latin typeface="+mn-lt"/>
            </a:endParaRPr>
          </a:p>
        </p:txBody>
      </p:sp>
      <p:sp>
        <p:nvSpPr>
          <p:cNvPr id="1669212" name="Text Box 92"/>
          <p:cNvSpPr txBox="1">
            <a:spLocks noChangeArrowheads="1"/>
          </p:cNvSpPr>
          <p:nvPr/>
        </p:nvSpPr>
        <p:spPr bwMode="auto">
          <a:xfrm>
            <a:off x="4087196" y="4860267"/>
            <a:ext cx="1323004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31" tIns="44423" rIns="90431" bIns="44423">
            <a:spAutoFit/>
          </a:bodyPr>
          <a:lstStyle/>
          <a:p>
            <a:r>
              <a:rPr lang="en-US" b="0" dirty="0">
                <a:latin typeface="+mn-lt"/>
              </a:rPr>
              <a:t>Tier-1 ISP</a:t>
            </a:r>
          </a:p>
        </p:txBody>
      </p:sp>
      <p:sp>
        <p:nvSpPr>
          <p:cNvPr id="1669213" name="Text Box 93"/>
          <p:cNvSpPr txBox="1">
            <a:spLocks noChangeArrowheads="1"/>
          </p:cNvSpPr>
          <p:nvPr/>
        </p:nvSpPr>
        <p:spPr bwMode="auto">
          <a:xfrm>
            <a:off x="2048383" y="5562600"/>
            <a:ext cx="769068" cy="371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31" tIns="44423" rIns="90431" bIns="44423">
            <a:spAutoFit/>
          </a:bodyPr>
          <a:lstStyle/>
          <a:p>
            <a:r>
              <a:rPr lang="en-US" sz="1800" b="0" dirty="0">
                <a:latin typeface="+mn-lt"/>
              </a:rPr>
              <a:t>ISP-1</a:t>
            </a:r>
          </a:p>
        </p:txBody>
      </p:sp>
      <p:sp>
        <p:nvSpPr>
          <p:cNvPr id="1669214" name="Text Box 94"/>
          <p:cNvSpPr txBox="1">
            <a:spLocks noChangeArrowheads="1"/>
          </p:cNvSpPr>
          <p:nvPr/>
        </p:nvSpPr>
        <p:spPr bwMode="auto">
          <a:xfrm>
            <a:off x="6315583" y="5562600"/>
            <a:ext cx="769068" cy="371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31" tIns="44423" rIns="90431" bIns="44423">
            <a:spAutoFit/>
          </a:bodyPr>
          <a:lstStyle/>
          <a:p>
            <a:r>
              <a:rPr lang="en-US" sz="1800" b="0" dirty="0">
                <a:latin typeface="+mn-lt"/>
              </a:rPr>
              <a:t>ISP-2</a:t>
            </a:r>
          </a:p>
        </p:txBody>
      </p:sp>
      <p:graphicFrame>
        <p:nvGraphicFramePr>
          <p:cNvPr id="1669215" name="Object 95"/>
          <p:cNvGraphicFramePr>
            <a:graphicFrameLocks noChangeAspect="1"/>
          </p:cNvGraphicFramePr>
          <p:nvPr/>
        </p:nvGraphicFramePr>
        <p:xfrm>
          <a:off x="4486276" y="3429000"/>
          <a:ext cx="31432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2106360" imgH="3468960" progId="MS_ClipArt_Gallery.5">
                  <p:embed/>
                </p:oleObj>
              </mc:Choice>
              <mc:Fallback>
                <p:oleObj name="Clip" r:id="rId2" imgW="2106360" imgH="3468960" progId="MS_ClipArt_Gallery.5">
                  <p:embed/>
                  <p:pic>
                    <p:nvPicPr>
                      <p:cNvPr id="1669215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6276" y="3429000"/>
                        <a:ext cx="314325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97946-A228-5840-82F4-EDAA8A6DD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242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Caching with Reverse Proxies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Cache documents close to server</a:t>
            </a:r>
          </a:p>
          <a:p>
            <a:pPr lvl="1"/>
            <a:r>
              <a:rPr lang="en-US" dirty="0">
                <a:sym typeface="Wingdings" charset="0"/>
              </a:rPr>
              <a:t>Decrease server load</a:t>
            </a:r>
          </a:p>
          <a:p>
            <a:pPr lvl="1"/>
            <a:r>
              <a:rPr lang="en-US" dirty="0">
                <a:sym typeface="Wingdings" charset="0"/>
              </a:rPr>
              <a:t>By content provider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 bwMode="auto">
          <a:xfrm>
            <a:off x="80010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75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9" name="Group 4"/>
          <p:cNvGrpSpPr>
            <a:grpSpLocks/>
          </p:cNvGrpSpPr>
          <p:nvPr/>
        </p:nvGrpSpPr>
        <p:grpSpPr bwMode="auto">
          <a:xfrm>
            <a:off x="6019800" y="6096001"/>
            <a:ext cx="371475" cy="381000"/>
            <a:chOff x="1014" y="912"/>
            <a:chExt cx="574" cy="596"/>
          </a:xfrm>
        </p:grpSpPr>
        <p:sp>
          <p:nvSpPr>
            <p:cNvPr id="10" name="Freeform 5"/>
            <p:cNvSpPr>
              <a:spLocks/>
            </p:cNvSpPr>
            <p:nvPr/>
          </p:nvSpPr>
          <p:spPr bwMode="auto">
            <a:xfrm>
              <a:off x="1014" y="912"/>
              <a:ext cx="574" cy="596"/>
            </a:xfrm>
            <a:custGeom>
              <a:avLst/>
              <a:gdLst>
                <a:gd name="T0" fmla="*/ 124 w 574"/>
                <a:gd name="T1" fmla="*/ 391 h 596"/>
                <a:gd name="T2" fmla="*/ 0 w 574"/>
                <a:gd name="T3" fmla="*/ 391 h 596"/>
                <a:gd name="T4" fmla="*/ 0 w 574"/>
                <a:gd name="T5" fmla="*/ 596 h 596"/>
                <a:gd name="T6" fmla="*/ 574 w 574"/>
                <a:gd name="T7" fmla="*/ 596 h 596"/>
                <a:gd name="T8" fmla="*/ 574 w 574"/>
                <a:gd name="T9" fmla="*/ 391 h 596"/>
                <a:gd name="T10" fmla="*/ 446 w 574"/>
                <a:gd name="T11" fmla="*/ 391 h 596"/>
                <a:gd name="T12" fmla="*/ 446 w 574"/>
                <a:gd name="T13" fmla="*/ 364 h 596"/>
                <a:gd name="T14" fmla="*/ 500 w 574"/>
                <a:gd name="T15" fmla="*/ 364 h 596"/>
                <a:gd name="T16" fmla="*/ 500 w 574"/>
                <a:gd name="T17" fmla="*/ 0 h 596"/>
                <a:gd name="T18" fmla="*/ 70 w 574"/>
                <a:gd name="T19" fmla="*/ 0 h 596"/>
                <a:gd name="T20" fmla="*/ 70 w 574"/>
                <a:gd name="T21" fmla="*/ 364 h 596"/>
                <a:gd name="T22" fmla="*/ 124 w 574"/>
                <a:gd name="T23" fmla="*/ 364 h 596"/>
                <a:gd name="T24" fmla="*/ 124 w 574"/>
                <a:gd name="T25" fmla="*/ 39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4" h="596">
                  <a:moveTo>
                    <a:pt x="124" y="391"/>
                  </a:moveTo>
                  <a:lnTo>
                    <a:pt x="0" y="391"/>
                  </a:lnTo>
                  <a:lnTo>
                    <a:pt x="0" y="596"/>
                  </a:lnTo>
                  <a:lnTo>
                    <a:pt x="574" y="596"/>
                  </a:lnTo>
                  <a:lnTo>
                    <a:pt x="574" y="391"/>
                  </a:lnTo>
                  <a:lnTo>
                    <a:pt x="446" y="391"/>
                  </a:lnTo>
                  <a:lnTo>
                    <a:pt x="446" y="364"/>
                  </a:lnTo>
                  <a:lnTo>
                    <a:pt x="500" y="364"/>
                  </a:lnTo>
                  <a:lnTo>
                    <a:pt x="500" y="0"/>
                  </a:lnTo>
                  <a:lnTo>
                    <a:pt x="70" y="0"/>
                  </a:lnTo>
                  <a:lnTo>
                    <a:pt x="70" y="364"/>
                  </a:lnTo>
                  <a:lnTo>
                    <a:pt x="124" y="364"/>
                  </a:lnTo>
                  <a:lnTo>
                    <a:pt x="124" y="39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1138" y="1303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1138" y="1276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3" name="Freeform 8"/>
            <p:cNvSpPr>
              <a:spLocks noEditPoints="1"/>
            </p:cNvSpPr>
            <p:nvPr/>
          </p:nvSpPr>
          <p:spPr bwMode="auto">
            <a:xfrm>
              <a:off x="1310" y="1323"/>
              <a:ext cx="233" cy="168"/>
            </a:xfrm>
            <a:custGeom>
              <a:avLst/>
              <a:gdLst>
                <a:gd name="T0" fmla="*/ 0 w 233"/>
                <a:gd name="T1" fmla="*/ 168 h 168"/>
                <a:gd name="T2" fmla="*/ 188 w 233"/>
                <a:gd name="T3" fmla="*/ 168 h 168"/>
                <a:gd name="T4" fmla="*/ 188 w 233"/>
                <a:gd name="T5" fmla="*/ 0 h 168"/>
                <a:gd name="T6" fmla="*/ 0 w 233"/>
                <a:gd name="T7" fmla="*/ 0 h 168"/>
                <a:gd name="T8" fmla="*/ 0 w 233"/>
                <a:gd name="T9" fmla="*/ 168 h 168"/>
                <a:gd name="T10" fmla="*/ 204 w 233"/>
                <a:gd name="T11" fmla="*/ 26 h 168"/>
                <a:gd name="T12" fmla="*/ 233 w 233"/>
                <a:gd name="T13" fmla="*/ 26 h 168"/>
                <a:gd name="T14" fmla="*/ 233 w 233"/>
                <a:gd name="T15" fmla="*/ 0 h 168"/>
                <a:gd name="T16" fmla="*/ 204 w 233"/>
                <a:gd name="T17" fmla="*/ 0 h 168"/>
                <a:gd name="T18" fmla="*/ 204 w 233"/>
                <a:gd name="T19" fmla="*/ 2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3" h="168">
                  <a:moveTo>
                    <a:pt x="0" y="168"/>
                  </a:moveTo>
                  <a:lnTo>
                    <a:pt x="188" y="168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0" y="168"/>
                  </a:lnTo>
                  <a:close/>
                  <a:moveTo>
                    <a:pt x="204" y="26"/>
                  </a:moveTo>
                  <a:lnTo>
                    <a:pt x="233" y="26"/>
                  </a:lnTo>
                  <a:lnTo>
                    <a:pt x="233" y="0"/>
                  </a:lnTo>
                  <a:lnTo>
                    <a:pt x="204" y="0"/>
                  </a:lnTo>
                  <a:lnTo>
                    <a:pt x="204" y="26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>
              <a:off x="1310" y="1379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>
              <a:off x="1310" y="1435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1317" y="1405"/>
              <a:ext cx="17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7" name="Rectangle 12"/>
            <p:cNvSpPr>
              <a:spLocks noChangeArrowheads="1"/>
            </p:cNvSpPr>
            <p:nvPr/>
          </p:nvSpPr>
          <p:spPr bwMode="auto">
            <a:xfrm>
              <a:off x="1416" y="1389"/>
              <a:ext cx="54" cy="36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8" name="Freeform 13"/>
            <p:cNvSpPr>
              <a:spLocks noEditPoints="1"/>
            </p:cNvSpPr>
            <p:nvPr/>
          </p:nvSpPr>
          <p:spPr bwMode="auto">
            <a:xfrm>
              <a:off x="1030" y="955"/>
              <a:ext cx="538" cy="401"/>
            </a:xfrm>
            <a:custGeom>
              <a:avLst/>
              <a:gdLst>
                <a:gd name="T0" fmla="*/ 452 w 538"/>
                <a:gd name="T1" fmla="*/ 285 h 401"/>
                <a:gd name="T2" fmla="*/ 472 w 538"/>
                <a:gd name="T3" fmla="*/ 285 h 401"/>
                <a:gd name="T4" fmla="*/ 472 w 538"/>
                <a:gd name="T5" fmla="*/ 278 h 401"/>
                <a:gd name="T6" fmla="*/ 452 w 538"/>
                <a:gd name="T7" fmla="*/ 278 h 401"/>
                <a:gd name="T8" fmla="*/ 452 w 538"/>
                <a:gd name="T9" fmla="*/ 285 h 401"/>
                <a:gd name="T10" fmla="*/ 121 w 538"/>
                <a:gd name="T11" fmla="*/ 239 h 401"/>
                <a:gd name="T12" fmla="*/ 121 w 538"/>
                <a:gd name="T13" fmla="*/ 27 h 401"/>
                <a:gd name="T14" fmla="*/ 417 w 538"/>
                <a:gd name="T15" fmla="*/ 27 h 401"/>
                <a:gd name="T16" fmla="*/ 417 w 538"/>
                <a:gd name="T17" fmla="*/ 239 h 401"/>
                <a:gd name="T18" fmla="*/ 121 w 538"/>
                <a:gd name="T19" fmla="*/ 239 h 401"/>
                <a:gd name="T20" fmla="*/ 108 w 538"/>
                <a:gd name="T21" fmla="*/ 252 h 401"/>
                <a:gd name="T22" fmla="*/ 430 w 538"/>
                <a:gd name="T23" fmla="*/ 252 h 401"/>
                <a:gd name="T24" fmla="*/ 430 w 538"/>
                <a:gd name="T25" fmla="*/ 14 h 401"/>
                <a:gd name="T26" fmla="*/ 446 w 538"/>
                <a:gd name="T27" fmla="*/ 14 h 401"/>
                <a:gd name="T28" fmla="*/ 446 w 538"/>
                <a:gd name="T29" fmla="*/ 0 h 401"/>
                <a:gd name="T30" fmla="*/ 96 w 538"/>
                <a:gd name="T31" fmla="*/ 0 h 401"/>
                <a:gd name="T32" fmla="*/ 96 w 538"/>
                <a:gd name="T33" fmla="*/ 265 h 401"/>
                <a:gd name="T34" fmla="*/ 108 w 538"/>
                <a:gd name="T35" fmla="*/ 265 h 401"/>
                <a:gd name="T36" fmla="*/ 108 w 538"/>
                <a:gd name="T37" fmla="*/ 252 h 401"/>
                <a:gd name="T38" fmla="*/ 0 w 538"/>
                <a:gd name="T39" fmla="*/ 388 h 401"/>
                <a:gd name="T40" fmla="*/ 54 w 538"/>
                <a:gd name="T41" fmla="*/ 388 h 401"/>
                <a:gd name="T42" fmla="*/ 54 w 538"/>
                <a:gd name="T43" fmla="*/ 368 h 401"/>
                <a:gd name="T44" fmla="*/ 0 w 538"/>
                <a:gd name="T45" fmla="*/ 368 h 401"/>
                <a:gd name="T46" fmla="*/ 0 w 538"/>
                <a:gd name="T47" fmla="*/ 388 h 401"/>
                <a:gd name="T48" fmla="*/ 316 w 538"/>
                <a:gd name="T49" fmla="*/ 401 h 401"/>
                <a:gd name="T50" fmla="*/ 430 w 538"/>
                <a:gd name="T51" fmla="*/ 401 h 401"/>
                <a:gd name="T52" fmla="*/ 430 w 538"/>
                <a:gd name="T53" fmla="*/ 391 h 401"/>
                <a:gd name="T54" fmla="*/ 316 w 538"/>
                <a:gd name="T55" fmla="*/ 391 h 401"/>
                <a:gd name="T56" fmla="*/ 316 w 538"/>
                <a:gd name="T57" fmla="*/ 401 h 401"/>
                <a:gd name="T58" fmla="*/ 523 w 538"/>
                <a:gd name="T59" fmla="*/ 378 h 401"/>
                <a:gd name="T60" fmla="*/ 538 w 538"/>
                <a:gd name="T61" fmla="*/ 378 h 401"/>
                <a:gd name="T62" fmla="*/ 538 w 538"/>
                <a:gd name="T63" fmla="*/ 368 h 401"/>
                <a:gd name="T64" fmla="*/ 523 w 538"/>
                <a:gd name="T65" fmla="*/ 368 h 401"/>
                <a:gd name="T66" fmla="*/ 523 w 538"/>
                <a:gd name="T67" fmla="*/ 378 h 401"/>
                <a:gd name="T68" fmla="*/ 523 w 538"/>
                <a:gd name="T69" fmla="*/ 394 h 401"/>
                <a:gd name="T70" fmla="*/ 538 w 538"/>
                <a:gd name="T71" fmla="*/ 394 h 401"/>
                <a:gd name="T72" fmla="*/ 538 w 538"/>
                <a:gd name="T73" fmla="*/ 388 h 401"/>
                <a:gd name="T74" fmla="*/ 523 w 538"/>
                <a:gd name="T75" fmla="*/ 388 h 401"/>
                <a:gd name="T76" fmla="*/ 523 w 538"/>
                <a:gd name="T77" fmla="*/ 39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8" h="401">
                  <a:moveTo>
                    <a:pt x="452" y="285"/>
                  </a:moveTo>
                  <a:lnTo>
                    <a:pt x="472" y="285"/>
                  </a:lnTo>
                  <a:lnTo>
                    <a:pt x="472" y="278"/>
                  </a:lnTo>
                  <a:lnTo>
                    <a:pt x="452" y="278"/>
                  </a:lnTo>
                  <a:lnTo>
                    <a:pt x="452" y="285"/>
                  </a:lnTo>
                  <a:close/>
                  <a:moveTo>
                    <a:pt x="121" y="239"/>
                  </a:moveTo>
                  <a:lnTo>
                    <a:pt x="121" y="27"/>
                  </a:lnTo>
                  <a:lnTo>
                    <a:pt x="417" y="27"/>
                  </a:lnTo>
                  <a:lnTo>
                    <a:pt x="417" y="239"/>
                  </a:lnTo>
                  <a:lnTo>
                    <a:pt x="121" y="239"/>
                  </a:lnTo>
                  <a:close/>
                  <a:moveTo>
                    <a:pt x="108" y="252"/>
                  </a:moveTo>
                  <a:lnTo>
                    <a:pt x="430" y="252"/>
                  </a:lnTo>
                  <a:lnTo>
                    <a:pt x="430" y="14"/>
                  </a:lnTo>
                  <a:lnTo>
                    <a:pt x="446" y="14"/>
                  </a:lnTo>
                  <a:lnTo>
                    <a:pt x="446" y="0"/>
                  </a:lnTo>
                  <a:lnTo>
                    <a:pt x="96" y="0"/>
                  </a:lnTo>
                  <a:lnTo>
                    <a:pt x="96" y="265"/>
                  </a:lnTo>
                  <a:lnTo>
                    <a:pt x="108" y="265"/>
                  </a:lnTo>
                  <a:lnTo>
                    <a:pt x="108" y="252"/>
                  </a:lnTo>
                  <a:close/>
                  <a:moveTo>
                    <a:pt x="0" y="388"/>
                  </a:moveTo>
                  <a:lnTo>
                    <a:pt x="54" y="388"/>
                  </a:lnTo>
                  <a:lnTo>
                    <a:pt x="54" y="368"/>
                  </a:lnTo>
                  <a:lnTo>
                    <a:pt x="0" y="368"/>
                  </a:lnTo>
                  <a:lnTo>
                    <a:pt x="0" y="388"/>
                  </a:lnTo>
                  <a:close/>
                  <a:moveTo>
                    <a:pt x="316" y="401"/>
                  </a:moveTo>
                  <a:lnTo>
                    <a:pt x="430" y="401"/>
                  </a:lnTo>
                  <a:lnTo>
                    <a:pt x="430" y="391"/>
                  </a:lnTo>
                  <a:lnTo>
                    <a:pt x="316" y="391"/>
                  </a:lnTo>
                  <a:lnTo>
                    <a:pt x="316" y="401"/>
                  </a:lnTo>
                  <a:close/>
                  <a:moveTo>
                    <a:pt x="523" y="378"/>
                  </a:moveTo>
                  <a:lnTo>
                    <a:pt x="538" y="378"/>
                  </a:lnTo>
                  <a:lnTo>
                    <a:pt x="538" y="368"/>
                  </a:lnTo>
                  <a:lnTo>
                    <a:pt x="523" y="368"/>
                  </a:lnTo>
                  <a:lnTo>
                    <a:pt x="523" y="378"/>
                  </a:lnTo>
                  <a:close/>
                  <a:moveTo>
                    <a:pt x="523" y="394"/>
                  </a:moveTo>
                  <a:lnTo>
                    <a:pt x="538" y="394"/>
                  </a:lnTo>
                  <a:lnTo>
                    <a:pt x="538" y="388"/>
                  </a:lnTo>
                  <a:lnTo>
                    <a:pt x="523" y="388"/>
                  </a:lnTo>
                  <a:lnTo>
                    <a:pt x="523" y="394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1084" y="1257"/>
              <a:ext cx="43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 flipV="1">
              <a:off x="1193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 flipV="1">
              <a:off x="1301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22" name="Group 17"/>
          <p:cNvGrpSpPr>
            <a:grpSpLocks/>
          </p:cNvGrpSpPr>
          <p:nvPr/>
        </p:nvGrpSpPr>
        <p:grpSpPr bwMode="auto">
          <a:xfrm>
            <a:off x="7477125" y="6096001"/>
            <a:ext cx="371475" cy="381000"/>
            <a:chOff x="1014" y="912"/>
            <a:chExt cx="574" cy="596"/>
          </a:xfrm>
        </p:grpSpPr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1014" y="912"/>
              <a:ext cx="574" cy="596"/>
            </a:xfrm>
            <a:custGeom>
              <a:avLst/>
              <a:gdLst>
                <a:gd name="T0" fmla="*/ 124 w 574"/>
                <a:gd name="T1" fmla="*/ 391 h 596"/>
                <a:gd name="T2" fmla="*/ 0 w 574"/>
                <a:gd name="T3" fmla="*/ 391 h 596"/>
                <a:gd name="T4" fmla="*/ 0 w 574"/>
                <a:gd name="T5" fmla="*/ 596 h 596"/>
                <a:gd name="T6" fmla="*/ 574 w 574"/>
                <a:gd name="T7" fmla="*/ 596 h 596"/>
                <a:gd name="T8" fmla="*/ 574 w 574"/>
                <a:gd name="T9" fmla="*/ 391 h 596"/>
                <a:gd name="T10" fmla="*/ 446 w 574"/>
                <a:gd name="T11" fmla="*/ 391 h 596"/>
                <a:gd name="T12" fmla="*/ 446 w 574"/>
                <a:gd name="T13" fmla="*/ 364 h 596"/>
                <a:gd name="T14" fmla="*/ 500 w 574"/>
                <a:gd name="T15" fmla="*/ 364 h 596"/>
                <a:gd name="T16" fmla="*/ 500 w 574"/>
                <a:gd name="T17" fmla="*/ 0 h 596"/>
                <a:gd name="T18" fmla="*/ 70 w 574"/>
                <a:gd name="T19" fmla="*/ 0 h 596"/>
                <a:gd name="T20" fmla="*/ 70 w 574"/>
                <a:gd name="T21" fmla="*/ 364 h 596"/>
                <a:gd name="T22" fmla="*/ 124 w 574"/>
                <a:gd name="T23" fmla="*/ 364 h 596"/>
                <a:gd name="T24" fmla="*/ 124 w 574"/>
                <a:gd name="T25" fmla="*/ 39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4" h="596">
                  <a:moveTo>
                    <a:pt x="124" y="391"/>
                  </a:moveTo>
                  <a:lnTo>
                    <a:pt x="0" y="391"/>
                  </a:lnTo>
                  <a:lnTo>
                    <a:pt x="0" y="596"/>
                  </a:lnTo>
                  <a:lnTo>
                    <a:pt x="574" y="596"/>
                  </a:lnTo>
                  <a:lnTo>
                    <a:pt x="574" y="391"/>
                  </a:lnTo>
                  <a:lnTo>
                    <a:pt x="446" y="391"/>
                  </a:lnTo>
                  <a:lnTo>
                    <a:pt x="446" y="364"/>
                  </a:lnTo>
                  <a:lnTo>
                    <a:pt x="500" y="364"/>
                  </a:lnTo>
                  <a:lnTo>
                    <a:pt x="500" y="0"/>
                  </a:lnTo>
                  <a:lnTo>
                    <a:pt x="70" y="0"/>
                  </a:lnTo>
                  <a:lnTo>
                    <a:pt x="70" y="364"/>
                  </a:lnTo>
                  <a:lnTo>
                    <a:pt x="124" y="364"/>
                  </a:lnTo>
                  <a:lnTo>
                    <a:pt x="124" y="39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4" name="Line 19"/>
            <p:cNvSpPr>
              <a:spLocks noChangeShapeType="1"/>
            </p:cNvSpPr>
            <p:nvPr/>
          </p:nvSpPr>
          <p:spPr bwMode="auto">
            <a:xfrm>
              <a:off x="1138" y="1303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5" name="Line 20"/>
            <p:cNvSpPr>
              <a:spLocks noChangeShapeType="1"/>
            </p:cNvSpPr>
            <p:nvPr/>
          </p:nvSpPr>
          <p:spPr bwMode="auto">
            <a:xfrm>
              <a:off x="1138" y="1276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6" name="Freeform 21"/>
            <p:cNvSpPr>
              <a:spLocks noEditPoints="1"/>
            </p:cNvSpPr>
            <p:nvPr/>
          </p:nvSpPr>
          <p:spPr bwMode="auto">
            <a:xfrm>
              <a:off x="1310" y="1323"/>
              <a:ext cx="233" cy="168"/>
            </a:xfrm>
            <a:custGeom>
              <a:avLst/>
              <a:gdLst>
                <a:gd name="T0" fmla="*/ 0 w 233"/>
                <a:gd name="T1" fmla="*/ 168 h 168"/>
                <a:gd name="T2" fmla="*/ 188 w 233"/>
                <a:gd name="T3" fmla="*/ 168 h 168"/>
                <a:gd name="T4" fmla="*/ 188 w 233"/>
                <a:gd name="T5" fmla="*/ 0 h 168"/>
                <a:gd name="T6" fmla="*/ 0 w 233"/>
                <a:gd name="T7" fmla="*/ 0 h 168"/>
                <a:gd name="T8" fmla="*/ 0 w 233"/>
                <a:gd name="T9" fmla="*/ 168 h 168"/>
                <a:gd name="T10" fmla="*/ 204 w 233"/>
                <a:gd name="T11" fmla="*/ 26 h 168"/>
                <a:gd name="T12" fmla="*/ 233 w 233"/>
                <a:gd name="T13" fmla="*/ 26 h 168"/>
                <a:gd name="T14" fmla="*/ 233 w 233"/>
                <a:gd name="T15" fmla="*/ 0 h 168"/>
                <a:gd name="T16" fmla="*/ 204 w 233"/>
                <a:gd name="T17" fmla="*/ 0 h 168"/>
                <a:gd name="T18" fmla="*/ 204 w 233"/>
                <a:gd name="T19" fmla="*/ 2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3" h="168">
                  <a:moveTo>
                    <a:pt x="0" y="168"/>
                  </a:moveTo>
                  <a:lnTo>
                    <a:pt x="188" y="168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0" y="168"/>
                  </a:lnTo>
                  <a:close/>
                  <a:moveTo>
                    <a:pt x="204" y="26"/>
                  </a:moveTo>
                  <a:lnTo>
                    <a:pt x="233" y="26"/>
                  </a:lnTo>
                  <a:lnTo>
                    <a:pt x="233" y="0"/>
                  </a:lnTo>
                  <a:lnTo>
                    <a:pt x="204" y="0"/>
                  </a:lnTo>
                  <a:lnTo>
                    <a:pt x="204" y="26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1310" y="1379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1310" y="1435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>
              <a:off x="1317" y="1405"/>
              <a:ext cx="17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0" name="Rectangle 25"/>
            <p:cNvSpPr>
              <a:spLocks noChangeArrowheads="1"/>
            </p:cNvSpPr>
            <p:nvPr/>
          </p:nvSpPr>
          <p:spPr bwMode="auto">
            <a:xfrm>
              <a:off x="1416" y="1389"/>
              <a:ext cx="54" cy="36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1" name="Freeform 26"/>
            <p:cNvSpPr>
              <a:spLocks noEditPoints="1"/>
            </p:cNvSpPr>
            <p:nvPr/>
          </p:nvSpPr>
          <p:spPr bwMode="auto">
            <a:xfrm>
              <a:off x="1030" y="955"/>
              <a:ext cx="538" cy="401"/>
            </a:xfrm>
            <a:custGeom>
              <a:avLst/>
              <a:gdLst>
                <a:gd name="T0" fmla="*/ 452 w 538"/>
                <a:gd name="T1" fmla="*/ 285 h 401"/>
                <a:gd name="T2" fmla="*/ 472 w 538"/>
                <a:gd name="T3" fmla="*/ 285 h 401"/>
                <a:gd name="T4" fmla="*/ 472 w 538"/>
                <a:gd name="T5" fmla="*/ 278 h 401"/>
                <a:gd name="T6" fmla="*/ 452 w 538"/>
                <a:gd name="T7" fmla="*/ 278 h 401"/>
                <a:gd name="T8" fmla="*/ 452 w 538"/>
                <a:gd name="T9" fmla="*/ 285 h 401"/>
                <a:gd name="T10" fmla="*/ 121 w 538"/>
                <a:gd name="T11" fmla="*/ 239 h 401"/>
                <a:gd name="T12" fmla="*/ 121 w 538"/>
                <a:gd name="T13" fmla="*/ 27 h 401"/>
                <a:gd name="T14" fmla="*/ 417 w 538"/>
                <a:gd name="T15" fmla="*/ 27 h 401"/>
                <a:gd name="T16" fmla="*/ 417 w 538"/>
                <a:gd name="T17" fmla="*/ 239 h 401"/>
                <a:gd name="T18" fmla="*/ 121 w 538"/>
                <a:gd name="T19" fmla="*/ 239 h 401"/>
                <a:gd name="T20" fmla="*/ 108 w 538"/>
                <a:gd name="T21" fmla="*/ 252 h 401"/>
                <a:gd name="T22" fmla="*/ 430 w 538"/>
                <a:gd name="T23" fmla="*/ 252 h 401"/>
                <a:gd name="T24" fmla="*/ 430 w 538"/>
                <a:gd name="T25" fmla="*/ 14 h 401"/>
                <a:gd name="T26" fmla="*/ 446 w 538"/>
                <a:gd name="T27" fmla="*/ 14 h 401"/>
                <a:gd name="T28" fmla="*/ 446 w 538"/>
                <a:gd name="T29" fmla="*/ 0 h 401"/>
                <a:gd name="T30" fmla="*/ 96 w 538"/>
                <a:gd name="T31" fmla="*/ 0 h 401"/>
                <a:gd name="T32" fmla="*/ 96 w 538"/>
                <a:gd name="T33" fmla="*/ 265 h 401"/>
                <a:gd name="T34" fmla="*/ 108 w 538"/>
                <a:gd name="T35" fmla="*/ 265 h 401"/>
                <a:gd name="T36" fmla="*/ 108 w 538"/>
                <a:gd name="T37" fmla="*/ 252 h 401"/>
                <a:gd name="T38" fmla="*/ 0 w 538"/>
                <a:gd name="T39" fmla="*/ 388 h 401"/>
                <a:gd name="T40" fmla="*/ 54 w 538"/>
                <a:gd name="T41" fmla="*/ 388 h 401"/>
                <a:gd name="T42" fmla="*/ 54 w 538"/>
                <a:gd name="T43" fmla="*/ 368 h 401"/>
                <a:gd name="T44" fmla="*/ 0 w 538"/>
                <a:gd name="T45" fmla="*/ 368 h 401"/>
                <a:gd name="T46" fmla="*/ 0 w 538"/>
                <a:gd name="T47" fmla="*/ 388 h 401"/>
                <a:gd name="T48" fmla="*/ 316 w 538"/>
                <a:gd name="T49" fmla="*/ 401 h 401"/>
                <a:gd name="T50" fmla="*/ 430 w 538"/>
                <a:gd name="T51" fmla="*/ 401 h 401"/>
                <a:gd name="T52" fmla="*/ 430 w 538"/>
                <a:gd name="T53" fmla="*/ 391 h 401"/>
                <a:gd name="T54" fmla="*/ 316 w 538"/>
                <a:gd name="T55" fmla="*/ 391 h 401"/>
                <a:gd name="T56" fmla="*/ 316 w 538"/>
                <a:gd name="T57" fmla="*/ 401 h 401"/>
                <a:gd name="T58" fmla="*/ 523 w 538"/>
                <a:gd name="T59" fmla="*/ 378 h 401"/>
                <a:gd name="T60" fmla="*/ 538 w 538"/>
                <a:gd name="T61" fmla="*/ 378 h 401"/>
                <a:gd name="T62" fmla="*/ 538 w 538"/>
                <a:gd name="T63" fmla="*/ 368 h 401"/>
                <a:gd name="T64" fmla="*/ 523 w 538"/>
                <a:gd name="T65" fmla="*/ 368 h 401"/>
                <a:gd name="T66" fmla="*/ 523 w 538"/>
                <a:gd name="T67" fmla="*/ 378 h 401"/>
                <a:gd name="T68" fmla="*/ 523 w 538"/>
                <a:gd name="T69" fmla="*/ 394 h 401"/>
                <a:gd name="T70" fmla="*/ 538 w 538"/>
                <a:gd name="T71" fmla="*/ 394 h 401"/>
                <a:gd name="T72" fmla="*/ 538 w 538"/>
                <a:gd name="T73" fmla="*/ 388 h 401"/>
                <a:gd name="T74" fmla="*/ 523 w 538"/>
                <a:gd name="T75" fmla="*/ 388 h 401"/>
                <a:gd name="T76" fmla="*/ 523 w 538"/>
                <a:gd name="T77" fmla="*/ 39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8" h="401">
                  <a:moveTo>
                    <a:pt x="452" y="285"/>
                  </a:moveTo>
                  <a:lnTo>
                    <a:pt x="472" y="285"/>
                  </a:lnTo>
                  <a:lnTo>
                    <a:pt x="472" y="278"/>
                  </a:lnTo>
                  <a:lnTo>
                    <a:pt x="452" y="278"/>
                  </a:lnTo>
                  <a:lnTo>
                    <a:pt x="452" y="285"/>
                  </a:lnTo>
                  <a:close/>
                  <a:moveTo>
                    <a:pt x="121" y="239"/>
                  </a:moveTo>
                  <a:lnTo>
                    <a:pt x="121" y="27"/>
                  </a:lnTo>
                  <a:lnTo>
                    <a:pt x="417" y="27"/>
                  </a:lnTo>
                  <a:lnTo>
                    <a:pt x="417" y="239"/>
                  </a:lnTo>
                  <a:lnTo>
                    <a:pt x="121" y="239"/>
                  </a:lnTo>
                  <a:close/>
                  <a:moveTo>
                    <a:pt x="108" y="252"/>
                  </a:moveTo>
                  <a:lnTo>
                    <a:pt x="430" y="252"/>
                  </a:lnTo>
                  <a:lnTo>
                    <a:pt x="430" y="14"/>
                  </a:lnTo>
                  <a:lnTo>
                    <a:pt x="446" y="14"/>
                  </a:lnTo>
                  <a:lnTo>
                    <a:pt x="446" y="0"/>
                  </a:lnTo>
                  <a:lnTo>
                    <a:pt x="96" y="0"/>
                  </a:lnTo>
                  <a:lnTo>
                    <a:pt x="96" y="265"/>
                  </a:lnTo>
                  <a:lnTo>
                    <a:pt x="108" y="265"/>
                  </a:lnTo>
                  <a:lnTo>
                    <a:pt x="108" y="252"/>
                  </a:lnTo>
                  <a:close/>
                  <a:moveTo>
                    <a:pt x="0" y="388"/>
                  </a:moveTo>
                  <a:lnTo>
                    <a:pt x="54" y="388"/>
                  </a:lnTo>
                  <a:lnTo>
                    <a:pt x="54" y="368"/>
                  </a:lnTo>
                  <a:lnTo>
                    <a:pt x="0" y="368"/>
                  </a:lnTo>
                  <a:lnTo>
                    <a:pt x="0" y="388"/>
                  </a:lnTo>
                  <a:close/>
                  <a:moveTo>
                    <a:pt x="316" y="401"/>
                  </a:moveTo>
                  <a:lnTo>
                    <a:pt x="430" y="401"/>
                  </a:lnTo>
                  <a:lnTo>
                    <a:pt x="430" y="391"/>
                  </a:lnTo>
                  <a:lnTo>
                    <a:pt x="316" y="391"/>
                  </a:lnTo>
                  <a:lnTo>
                    <a:pt x="316" y="401"/>
                  </a:lnTo>
                  <a:close/>
                  <a:moveTo>
                    <a:pt x="523" y="378"/>
                  </a:moveTo>
                  <a:lnTo>
                    <a:pt x="538" y="378"/>
                  </a:lnTo>
                  <a:lnTo>
                    <a:pt x="538" y="368"/>
                  </a:lnTo>
                  <a:lnTo>
                    <a:pt x="523" y="368"/>
                  </a:lnTo>
                  <a:lnTo>
                    <a:pt x="523" y="378"/>
                  </a:lnTo>
                  <a:close/>
                  <a:moveTo>
                    <a:pt x="523" y="394"/>
                  </a:moveTo>
                  <a:lnTo>
                    <a:pt x="538" y="394"/>
                  </a:lnTo>
                  <a:lnTo>
                    <a:pt x="538" y="388"/>
                  </a:lnTo>
                  <a:lnTo>
                    <a:pt x="523" y="388"/>
                  </a:lnTo>
                  <a:lnTo>
                    <a:pt x="523" y="394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2" name="Line 27"/>
            <p:cNvSpPr>
              <a:spLocks noChangeShapeType="1"/>
            </p:cNvSpPr>
            <p:nvPr/>
          </p:nvSpPr>
          <p:spPr bwMode="auto">
            <a:xfrm>
              <a:off x="1084" y="1257"/>
              <a:ext cx="43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3" name="Line 28"/>
            <p:cNvSpPr>
              <a:spLocks noChangeShapeType="1"/>
            </p:cNvSpPr>
            <p:nvPr/>
          </p:nvSpPr>
          <p:spPr bwMode="auto">
            <a:xfrm flipV="1">
              <a:off x="1193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4" name="Line 29"/>
            <p:cNvSpPr>
              <a:spLocks noChangeShapeType="1"/>
            </p:cNvSpPr>
            <p:nvPr/>
          </p:nvSpPr>
          <p:spPr bwMode="auto">
            <a:xfrm flipV="1">
              <a:off x="1301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35" name="Group 30"/>
          <p:cNvGrpSpPr>
            <a:grpSpLocks/>
          </p:cNvGrpSpPr>
          <p:nvPr/>
        </p:nvGrpSpPr>
        <p:grpSpPr bwMode="auto">
          <a:xfrm>
            <a:off x="1219200" y="6096001"/>
            <a:ext cx="371475" cy="381000"/>
            <a:chOff x="1014" y="912"/>
            <a:chExt cx="574" cy="596"/>
          </a:xfrm>
        </p:grpSpPr>
        <p:sp>
          <p:nvSpPr>
            <p:cNvPr id="36" name="Freeform 31"/>
            <p:cNvSpPr>
              <a:spLocks/>
            </p:cNvSpPr>
            <p:nvPr/>
          </p:nvSpPr>
          <p:spPr bwMode="auto">
            <a:xfrm>
              <a:off x="1014" y="912"/>
              <a:ext cx="574" cy="596"/>
            </a:xfrm>
            <a:custGeom>
              <a:avLst/>
              <a:gdLst>
                <a:gd name="T0" fmla="*/ 124 w 574"/>
                <a:gd name="T1" fmla="*/ 391 h 596"/>
                <a:gd name="T2" fmla="*/ 0 w 574"/>
                <a:gd name="T3" fmla="*/ 391 h 596"/>
                <a:gd name="T4" fmla="*/ 0 w 574"/>
                <a:gd name="T5" fmla="*/ 596 h 596"/>
                <a:gd name="T6" fmla="*/ 574 w 574"/>
                <a:gd name="T7" fmla="*/ 596 h 596"/>
                <a:gd name="T8" fmla="*/ 574 w 574"/>
                <a:gd name="T9" fmla="*/ 391 h 596"/>
                <a:gd name="T10" fmla="*/ 446 w 574"/>
                <a:gd name="T11" fmla="*/ 391 h 596"/>
                <a:gd name="T12" fmla="*/ 446 w 574"/>
                <a:gd name="T13" fmla="*/ 364 h 596"/>
                <a:gd name="T14" fmla="*/ 500 w 574"/>
                <a:gd name="T15" fmla="*/ 364 h 596"/>
                <a:gd name="T16" fmla="*/ 500 w 574"/>
                <a:gd name="T17" fmla="*/ 0 h 596"/>
                <a:gd name="T18" fmla="*/ 70 w 574"/>
                <a:gd name="T19" fmla="*/ 0 h 596"/>
                <a:gd name="T20" fmla="*/ 70 w 574"/>
                <a:gd name="T21" fmla="*/ 364 h 596"/>
                <a:gd name="T22" fmla="*/ 124 w 574"/>
                <a:gd name="T23" fmla="*/ 364 h 596"/>
                <a:gd name="T24" fmla="*/ 124 w 574"/>
                <a:gd name="T25" fmla="*/ 39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4" h="596">
                  <a:moveTo>
                    <a:pt x="124" y="391"/>
                  </a:moveTo>
                  <a:lnTo>
                    <a:pt x="0" y="391"/>
                  </a:lnTo>
                  <a:lnTo>
                    <a:pt x="0" y="596"/>
                  </a:lnTo>
                  <a:lnTo>
                    <a:pt x="574" y="596"/>
                  </a:lnTo>
                  <a:lnTo>
                    <a:pt x="574" y="391"/>
                  </a:lnTo>
                  <a:lnTo>
                    <a:pt x="446" y="391"/>
                  </a:lnTo>
                  <a:lnTo>
                    <a:pt x="446" y="364"/>
                  </a:lnTo>
                  <a:lnTo>
                    <a:pt x="500" y="364"/>
                  </a:lnTo>
                  <a:lnTo>
                    <a:pt x="500" y="0"/>
                  </a:lnTo>
                  <a:lnTo>
                    <a:pt x="70" y="0"/>
                  </a:lnTo>
                  <a:lnTo>
                    <a:pt x="70" y="364"/>
                  </a:lnTo>
                  <a:lnTo>
                    <a:pt x="124" y="364"/>
                  </a:lnTo>
                  <a:lnTo>
                    <a:pt x="124" y="39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7" name="Line 32"/>
            <p:cNvSpPr>
              <a:spLocks noChangeShapeType="1"/>
            </p:cNvSpPr>
            <p:nvPr/>
          </p:nvSpPr>
          <p:spPr bwMode="auto">
            <a:xfrm>
              <a:off x="1138" y="1303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8" name="Line 33"/>
            <p:cNvSpPr>
              <a:spLocks noChangeShapeType="1"/>
            </p:cNvSpPr>
            <p:nvPr/>
          </p:nvSpPr>
          <p:spPr bwMode="auto">
            <a:xfrm>
              <a:off x="1138" y="1276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9" name="Freeform 34"/>
            <p:cNvSpPr>
              <a:spLocks noEditPoints="1"/>
            </p:cNvSpPr>
            <p:nvPr/>
          </p:nvSpPr>
          <p:spPr bwMode="auto">
            <a:xfrm>
              <a:off x="1310" y="1323"/>
              <a:ext cx="233" cy="168"/>
            </a:xfrm>
            <a:custGeom>
              <a:avLst/>
              <a:gdLst>
                <a:gd name="T0" fmla="*/ 0 w 233"/>
                <a:gd name="T1" fmla="*/ 168 h 168"/>
                <a:gd name="T2" fmla="*/ 188 w 233"/>
                <a:gd name="T3" fmla="*/ 168 h 168"/>
                <a:gd name="T4" fmla="*/ 188 w 233"/>
                <a:gd name="T5" fmla="*/ 0 h 168"/>
                <a:gd name="T6" fmla="*/ 0 w 233"/>
                <a:gd name="T7" fmla="*/ 0 h 168"/>
                <a:gd name="T8" fmla="*/ 0 w 233"/>
                <a:gd name="T9" fmla="*/ 168 h 168"/>
                <a:gd name="T10" fmla="*/ 204 w 233"/>
                <a:gd name="T11" fmla="*/ 26 h 168"/>
                <a:gd name="T12" fmla="*/ 233 w 233"/>
                <a:gd name="T13" fmla="*/ 26 h 168"/>
                <a:gd name="T14" fmla="*/ 233 w 233"/>
                <a:gd name="T15" fmla="*/ 0 h 168"/>
                <a:gd name="T16" fmla="*/ 204 w 233"/>
                <a:gd name="T17" fmla="*/ 0 h 168"/>
                <a:gd name="T18" fmla="*/ 204 w 233"/>
                <a:gd name="T19" fmla="*/ 2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3" h="168">
                  <a:moveTo>
                    <a:pt x="0" y="168"/>
                  </a:moveTo>
                  <a:lnTo>
                    <a:pt x="188" y="168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0" y="168"/>
                  </a:lnTo>
                  <a:close/>
                  <a:moveTo>
                    <a:pt x="204" y="26"/>
                  </a:moveTo>
                  <a:lnTo>
                    <a:pt x="233" y="26"/>
                  </a:lnTo>
                  <a:lnTo>
                    <a:pt x="233" y="0"/>
                  </a:lnTo>
                  <a:lnTo>
                    <a:pt x="204" y="0"/>
                  </a:lnTo>
                  <a:lnTo>
                    <a:pt x="204" y="26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0" name="Line 35"/>
            <p:cNvSpPr>
              <a:spLocks noChangeShapeType="1"/>
            </p:cNvSpPr>
            <p:nvPr/>
          </p:nvSpPr>
          <p:spPr bwMode="auto">
            <a:xfrm>
              <a:off x="1310" y="1379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1" name="Line 36"/>
            <p:cNvSpPr>
              <a:spLocks noChangeShapeType="1"/>
            </p:cNvSpPr>
            <p:nvPr/>
          </p:nvSpPr>
          <p:spPr bwMode="auto">
            <a:xfrm>
              <a:off x="1310" y="1435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2" name="Line 37"/>
            <p:cNvSpPr>
              <a:spLocks noChangeShapeType="1"/>
            </p:cNvSpPr>
            <p:nvPr/>
          </p:nvSpPr>
          <p:spPr bwMode="auto">
            <a:xfrm>
              <a:off x="1317" y="1405"/>
              <a:ext cx="17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3" name="Rectangle 38"/>
            <p:cNvSpPr>
              <a:spLocks noChangeArrowheads="1"/>
            </p:cNvSpPr>
            <p:nvPr/>
          </p:nvSpPr>
          <p:spPr bwMode="auto">
            <a:xfrm>
              <a:off x="1416" y="1389"/>
              <a:ext cx="54" cy="36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4" name="Freeform 39"/>
            <p:cNvSpPr>
              <a:spLocks noEditPoints="1"/>
            </p:cNvSpPr>
            <p:nvPr/>
          </p:nvSpPr>
          <p:spPr bwMode="auto">
            <a:xfrm>
              <a:off x="1030" y="955"/>
              <a:ext cx="538" cy="401"/>
            </a:xfrm>
            <a:custGeom>
              <a:avLst/>
              <a:gdLst>
                <a:gd name="T0" fmla="*/ 452 w 538"/>
                <a:gd name="T1" fmla="*/ 285 h 401"/>
                <a:gd name="T2" fmla="*/ 472 w 538"/>
                <a:gd name="T3" fmla="*/ 285 h 401"/>
                <a:gd name="T4" fmla="*/ 472 w 538"/>
                <a:gd name="T5" fmla="*/ 278 h 401"/>
                <a:gd name="T6" fmla="*/ 452 w 538"/>
                <a:gd name="T7" fmla="*/ 278 h 401"/>
                <a:gd name="T8" fmla="*/ 452 w 538"/>
                <a:gd name="T9" fmla="*/ 285 h 401"/>
                <a:gd name="T10" fmla="*/ 121 w 538"/>
                <a:gd name="T11" fmla="*/ 239 h 401"/>
                <a:gd name="T12" fmla="*/ 121 w 538"/>
                <a:gd name="T13" fmla="*/ 27 h 401"/>
                <a:gd name="T14" fmla="*/ 417 w 538"/>
                <a:gd name="T15" fmla="*/ 27 h 401"/>
                <a:gd name="T16" fmla="*/ 417 w 538"/>
                <a:gd name="T17" fmla="*/ 239 h 401"/>
                <a:gd name="T18" fmla="*/ 121 w 538"/>
                <a:gd name="T19" fmla="*/ 239 h 401"/>
                <a:gd name="T20" fmla="*/ 108 w 538"/>
                <a:gd name="T21" fmla="*/ 252 h 401"/>
                <a:gd name="T22" fmla="*/ 430 w 538"/>
                <a:gd name="T23" fmla="*/ 252 h 401"/>
                <a:gd name="T24" fmla="*/ 430 w 538"/>
                <a:gd name="T25" fmla="*/ 14 h 401"/>
                <a:gd name="T26" fmla="*/ 446 w 538"/>
                <a:gd name="T27" fmla="*/ 14 h 401"/>
                <a:gd name="T28" fmla="*/ 446 w 538"/>
                <a:gd name="T29" fmla="*/ 0 h 401"/>
                <a:gd name="T30" fmla="*/ 96 w 538"/>
                <a:gd name="T31" fmla="*/ 0 h 401"/>
                <a:gd name="T32" fmla="*/ 96 w 538"/>
                <a:gd name="T33" fmla="*/ 265 h 401"/>
                <a:gd name="T34" fmla="*/ 108 w 538"/>
                <a:gd name="T35" fmla="*/ 265 h 401"/>
                <a:gd name="T36" fmla="*/ 108 w 538"/>
                <a:gd name="T37" fmla="*/ 252 h 401"/>
                <a:gd name="T38" fmla="*/ 0 w 538"/>
                <a:gd name="T39" fmla="*/ 388 h 401"/>
                <a:gd name="T40" fmla="*/ 54 w 538"/>
                <a:gd name="T41" fmla="*/ 388 h 401"/>
                <a:gd name="T42" fmla="*/ 54 w 538"/>
                <a:gd name="T43" fmla="*/ 368 h 401"/>
                <a:gd name="T44" fmla="*/ 0 w 538"/>
                <a:gd name="T45" fmla="*/ 368 h 401"/>
                <a:gd name="T46" fmla="*/ 0 w 538"/>
                <a:gd name="T47" fmla="*/ 388 h 401"/>
                <a:gd name="T48" fmla="*/ 316 w 538"/>
                <a:gd name="T49" fmla="*/ 401 h 401"/>
                <a:gd name="T50" fmla="*/ 430 w 538"/>
                <a:gd name="T51" fmla="*/ 401 h 401"/>
                <a:gd name="T52" fmla="*/ 430 w 538"/>
                <a:gd name="T53" fmla="*/ 391 h 401"/>
                <a:gd name="T54" fmla="*/ 316 w 538"/>
                <a:gd name="T55" fmla="*/ 391 h 401"/>
                <a:gd name="T56" fmla="*/ 316 w 538"/>
                <a:gd name="T57" fmla="*/ 401 h 401"/>
                <a:gd name="T58" fmla="*/ 523 w 538"/>
                <a:gd name="T59" fmla="*/ 378 h 401"/>
                <a:gd name="T60" fmla="*/ 538 w 538"/>
                <a:gd name="T61" fmla="*/ 378 h 401"/>
                <a:gd name="T62" fmla="*/ 538 w 538"/>
                <a:gd name="T63" fmla="*/ 368 h 401"/>
                <a:gd name="T64" fmla="*/ 523 w 538"/>
                <a:gd name="T65" fmla="*/ 368 h 401"/>
                <a:gd name="T66" fmla="*/ 523 w 538"/>
                <a:gd name="T67" fmla="*/ 378 h 401"/>
                <a:gd name="T68" fmla="*/ 523 w 538"/>
                <a:gd name="T69" fmla="*/ 394 h 401"/>
                <a:gd name="T70" fmla="*/ 538 w 538"/>
                <a:gd name="T71" fmla="*/ 394 h 401"/>
                <a:gd name="T72" fmla="*/ 538 w 538"/>
                <a:gd name="T73" fmla="*/ 388 h 401"/>
                <a:gd name="T74" fmla="*/ 523 w 538"/>
                <a:gd name="T75" fmla="*/ 388 h 401"/>
                <a:gd name="T76" fmla="*/ 523 w 538"/>
                <a:gd name="T77" fmla="*/ 39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8" h="401">
                  <a:moveTo>
                    <a:pt x="452" y="285"/>
                  </a:moveTo>
                  <a:lnTo>
                    <a:pt x="472" y="285"/>
                  </a:lnTo>
                  <a:lnTo>
                    <a:pt x="472" y="278"/>
                  </a:lnTo>
                  <a:lnTo>
                    <a:pt x="452" y="278"/>
                  </a:lnTo>
                  <a:lnTo>
                    <a:pt x="452" y="285"/>
                  </a:lnTo>
                  <a:close/>
                  <a:moveTo>
                    <a:pt x="121" y="239"/>
                  </a:moveTo>
                  <a:lnTo>
                    <a:pt x="121" y="27"/>
                  </a:lnTo>
                  <a:lnTo>
                    <a:pt x="417" y="27"/>
                  </a:lnTo>
                  <a:lnTo>
                    <a:pt x="417" y="239"/>
                  </a:lnTo>
                  <a:lnTo>
                    <a:pt x="121" y="239"/>
                  </a:lnTo>
                  <a:close/>
                  <a:moveTo>
                    <a:pt x="108" y="252"/>
                  </a:moveTo>
                  <a:lnTo>
                    <a:pt x="430" y="252"/>
                  </a:lnTo>
                  <a:lnTo>
                    <a:pt x="430" y="14"/>
                  </a:lnTo>
                  <a:lnTo>
                    <a:pt x="446" y="14"/>
                  </a:lnTo>
                  <a:lnTo>
                    <a:pt x="446" y="0"/>
                  </a:lnTo>
                  <a:lnTo>
                    <a:pt x="96" y="0"/>
                  </a:lnTo>
                  <a:lnTo>
                    <a:pt x="96" y="265"/>
                  </a:lnTo>
                  <a:lnTo>
                    <a:pt x="108" y="265"/>
                  </a:lnTo>
                  <a:lnTo>
                    <a:pt x="108" y="252"/>
                  </a:lnTo>
                  <a:close/>
                  <a:moveTo>
                    <a:pt x="0" y="388"/>
                  </a:moveTo>
                  <a:lnTo>
                    <a:pt x="54" y="388"/>
                  </a:lnTo>
                  <a:lnTo>
                    <a:pt x="54" y="368"/>
                  </a:lnTo>
                  <a:lnTo>
                    <a:pt x="0" y="368"/>
                  </a:lnTo>
                  <a:lnTo>
                    <a:pt x="0" y="388"/>
                  </a:lnTo>
                  <a:close/>
                  <a:moveTo>
                    <a:pt x="316" y="401"/>
                  </a:moveTo>
                  <a:lnTo>
                    <a:pt x="430" y="401"/>
                  </a:lnTo>
                  <a:lnTo>
                    <a:pt x="430" y="391"/>
                  </a:lnTo>
                  <a:lnTo>
                    <a:pt x="316" y="391"/>
                  </a:lnTo>
                  <a:lnTo>
                    <a:pt x="316" y="401"/>
                  </a:lnTo>
                  <a:close/>
                  <a:moveTo>
                    <a:pt x="523" y="378"/>
                  </a:moveTo>
                  <a:lnTo>
                    <a:pt x="538" y="378"/>
                  </a:lnTo>
                  <a:lnTo>
                    <a:pt x="538" y="368"/>
                  </a:lnTo>
                  <a:lnTo>
                    <a:pt x="523" y="368"/>
                  </a:lnTo>
                  <a:lnTo>
                    <a:pt x="523" y="378"/>
                  </a:lnTo>
                  <a:close/>
                  <a:moveTo>
                    <a:pt x="523" y="394"/>
                  </a:moveTo>
                  <a:lnTo>
                    <a:pt x="538" y="394"/>
                  </a:lnTo>
                  <a:lnTo>
                    <a:pt x="538" y="388"/>
                  </a:lnTo>
                  <a:lnTo>
                    <a:pt x="523" y="388"/>
                  </a:lnTo>
                  <a:lnTo>
                    <a:pt x="523" y="394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5" name="Line 40"/>
            <p:cNvSpPr>
              <a:spLocks noChangeShapeType="1"/>
            </p:cNvSpPr>
            <p:nvPr/>
          </p:nvSpPr>
          <p:spPr bwMode="auto">
            <a:xfrm>
              <a:off x="1084" y="1257"/>
              <a:ext cx="43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6" name="Line 41"/>
            <p:cNvSpPr>
              <a:spLocks noChangeShapeType="1"/>
            </p:cNvSpPr>
            <p:nvPr/>
          </p:nvSpPr>
          <p:spPr bwMode="auto">
            <a:xfrm flipV="1">
              <a:off x="1193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7" name="Line 42"/>
            <p:cNvSpPr>
              <a:spLocks noChangeShapeType="1"/>
            </p:cNvSpPr>
            <p:nvPr/>
          </p:nvSpPr>
          <p:spPr bwMode="auto">
            <a:xfrm flipV="1">
              <a:off x="1301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48" name="Group 43"/>
          <p:cNvGrpSpPr>
            <a:grpSpLocks/>
          </p:cNvGrpSpPr>
          <p:nvPr/>
        </p:nvGrpSpPr>
        <p:grpSpPr bwMode="auto">
          <a:xfrm>
            <a:off x="2895600" y="6096001"/>
            <a:ext cx="371475" cy="381000"/>
            <a:chOff x="1014" y="912"/>
            <a:chExt cx="574" cy="596"/>
          </a:xfrm>
        </p:grpSpPr>
        <p:sp>
          <p:nvSpPr>
            <p:cNvPr id="49" name="Freeform 44"/>
            <p:cNvSpPr>
              <a:spLocks/>
            </p:cNvSpPr>
            <p:nvPr/>
          </p:nvSpPr>
          <p:spPr bwMode="auto">
            <a:xfrm>
              <a:off x="1014" y="912"/>
              <a:ext cx="574" cy="596"/>
            </a:xfrm>
            <a:custGeom>
              <a:avLst/>
              <a:gdLst>
                <a:gd name="T0" fmla="*/ 124 w 574"/>
                <a:gd name="T1" fmla="*/ 391 h 596"/>
                <a:gd name="T2" fmla="*/ 0 w 574"/>
                <a:gd name="T3" fmla="*/ 391 h 596"/>
                <a:gd name="T4" fmla="*/ 0 w 574"/>
                <a:gd name="T5" fmla="*/ 596 h 596"/>
                <a:gd name="T6" fmla="*/ 574 w 574"/>
                <a:gd name="T7" fmla="*/ 596 h 596"/>
                <a:gd name="T8" fmla="*/ 574 w 574"/>
                <a:gd name="T9" fmla="*/ 391 h 596"/>
                <a:gd name="T10" fmla="*/ 446 w 574"/>
                <a:gd name="T11" fmla="*/ 391 h 596"/>
                <a:gd name="T12" fmla="*/ 446 w 574"/>
                <a:gd name="T13" fmla="*/ 364 h 596"/>
                <a:gd name="T14" fmla="*/ 500 w 574"/>
                <a:gd name="T15" fmla="*/ 364 h 596"/>
                <a:gd name="T16" fmla="*/ 500 w 574"/>
                <a:gd name="T17" fmla="*/ 0 h 596"/>
                <a:gd name="T18" fmla="*/ 70 w 574"/>
                <a:gd name="T19" fmla="*/ 0 h 596"/>
                <a:gd name="T20" fmla="*/ 70 w 574"/>
                <a:gd name="T21" fmla="*/ 364 h 596"/>
                <a:gd name="T22" fmla="*/ 124 w 574"/>
                <a:gd name="T23" fmla="*/ 364 h 596"/>
                <a:gd name="T24" fmla="*/ 124 w 574"/>
                <a:gd name="T25" fmla="*/ 39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4" h="596">
                  <a:moveTo>
                    <a:pt x="124" y="391"/>
                  </a:moveTo>
                  <a:lnTo>
                    <a:pt x="0" y="391"/>
                  </a:lnTo>
                  <a:lnTo>
                    <a:pt x="0" y="596"/>
                  </a:lnTo>
                  <a:lnTo>
                    <a:pt x="574" y="596"/>
                  </a:lnTo>
                  <a:lnTo>
                    <a:pt x="574" y="391"/>
                  </a:lnTo>
                  <a:lnTo>
                    <a:pt x="446" y="391"/>
                  </a:lnTo>
                  <a:lnTo>
                    <a:pt x="446" y="364"/>
                  </a:lnTo>
                  <a:lnTo>
                    <a:pt x="500" y="364"/>
                  </a:lnTo>
                  <a:lnTo>
                    <a:pt x="500" y="0"/>
                  </a:lnTo>
                  <a:lnTo>
                    <a:pt x="70" y="0"/>
                  </a:lnTo>
                  <a:lnTo>
                    <a:pt x="70" y="364"/>
                  </a:lnTo>
                  <a:lnTo>
                    <a:pt x="124" y="364"/>
                  </a:lnTo>
                  <a:lnTo>
                    <a:pt x="124" y="39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0" name="Line 45"/>
            <p:cNvSpPr>
              <a:spLocks noChangeShapeType="1"/>
            </p:cNvSpPr>
            <p:nvPr/>
          </p:nvSpPr>
          <p:spPr bwMode="auto">
            <a:xfrm>
              <a:off x="1138" y="1303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1" name="Line 46"/>
            <p:cNvSpPr>
              <a:spLocks noChangeShapeType="1"/>
            </p:cNvSpPr>
            <p:nvPr/>
          </p:nvSpPr>
          <p:spPr bwMode="auto">
            <a:xfrm>
              <a:off x="1138" y="1276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2" name="Freeform 47"/>
            <p:cNvSpPr>
              <a:spLocks noEditPoints="1"/>
            </p:cNvSpPr>
            <p:nvPr/>
          </p:nvSpPr>
          <p:spPr bwMode="auto">
            <a:xfrm>
              <a:off x="1310" y="1323"/>
              <a:ext cx="233" cy="168"/>
            </a:xfrm>
            <a:custGeom>
              <a:avLst/>
              <a:gdLst>
                <a:gd name="T0" fmla="*/ 0 w 233"/>
                <a:gd name="T1" fmla="*/ 168 h 168"/>
                <a:gd name="T2" fmla="*/ 188 w 233"/>
                <a:gd name="T3" fmla="*/ 168 h 168"/>
                <a:gd name="T4" fmla="*/ 188 w 233"/>
                <a:gd name="T5" fmla="*/ 0 h 168"/>
                <a:gd name="T6" fmla="*/ 0 w 233"/>
                <a:gd name="T7" fmla="*/ 0 h 168"/>
                <a:gd name="T8" fmla="*/ 0 w 233"/>
                <a:gd name="T9" fmla="*/ 168 h 168"/>
                <a:gd name="T10" fmla="*/ 204 w 233"/>
                <a:gd name="T11" fmla="*/ 26 h 168"/>
                <a:gd name="T12" fmla="*/ 233 w 233"/>
                <a:gd name="T13" fmla="*/ 26 h 168"/>
                <a:gd name="T14" fmla="*/ 233 w 233"/>
                <a:gd name="T15" fmla="*/ 0 h 168"/>
                <a:gd name="T16" fmla="*/ 204 w 233"/>
                <a:gd name="T17" fmla="*/ 0 h 168"/>
                <a:gd name="T18" fmla="*/ 204 w 233"/>
                <a:gd name="T19" fmla="*/ 2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3" h="168">
                  <a:moveTo>
                    <a:pt x="0" y="168"/>
                  </a:moveTo>
                  <a:lnTo>
                    <a:pt x="188" y="168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0" y="168"/>
                  </a:lnTo>
                  <a:close/>
                  <a:moveTo>
                    <a:pt x="204" y="26"/>
                  </a:moveTo>
                  <a:lnTo>
                    <a:pt x="233" y="26"/>
                  </a:lnTo>
                  <a:lnTo>
                    <a:pt x="233" y="0"/>
                  </a:lnTo>
                  <a:lnTo>
                    <a:pt x="204" y="0"/>
                  </a:lnTo>
                  <a:lnTo>
                    <a:pt x="204" y="26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3" name="Line 48"/>
            <p:cNvSpPr>
              <a:spLocks noChangeShapeType="1"/>
            </p:cNvSpPr>
            <p:nvPr/>
          </p:nvSpPr>
          <p:spPr bwMode="auto">
            <a:xfrm>
              <a:off x="1310" y="1379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4" name="Line 49"/>
            <p:cNvSpPr>
              <a:spLocks noChangeShapeType="1"/>
            </p:cNvSpPr>
            <p:nvPr/>
          </p:nvSpPr>
          <p:spPr bwMode="auto">
            <a:xfrm>
              <a:off x="1310" y="1435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5" name="Line 50"/>
            <p:cNvSpPr>
              <a:spLocks noChangeShapeType="1"/>
            </p:cNvSpPr>
            <p:nvPr/>
          </p:nvSpPr>
          <p:spPr bwMode="auto">
            <a:xfrm>
              <a:off x="1317" y="1405"/>
              <a:ext cx="17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6" name="Rectangle 51"/>
            <p:cNvSpPr>
              <a:spLocks noChangeArrowheads="1"/>
            </p:cNvSpPr>
            <p:nvPr/>
          </p:nvSpPr>
          <p:spPr bwMode="auto">
            <a:xfrm>
              <a:off x="1416" y="1389"/>
              <a:ext cx="54" cy="36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7" name="Freeform 52"/>
            <p:cNvSpPr>
              <a:spLocks noEditPoints="1"/>
            </p:cNvSpPr>
            <p:nvPr/>
          </p:nvSpPr>
          <p:spPr bwMode="auto">
            <a:xfrm>
              <a:off x="1030" y="955"/>
              <a:ext cx="538" cy="401"/>
            </a:xfrm>
            <a:custGeom>
              <a:avLst/>
              <a:gdLst>
                <a:gd name="T0" fmla="*/ 452 w 538"/>
                <a:gd name="T1" fmla="*/ 285 h 401"/>
                <a:gd name="T2" fmla="*/ 472 w 538"/>
                <a:gd name="T3" fmla="*/ 285 h 401"/>
                <a:gd name="T4" fmla="*/ 472 w 538"/>
                <a:gd name="T5" fmla="*/ 278 h 401"/>
                <a:gd name="T6" fmla="*/ 452 w 538"/>
                <a:gd name="T7" fmla="*/ 278 h 401"/>
                <a:gd name="T8" fmla="*/ 452 w 538"/>
                <a:gd name="T9" fmla="*/ 285 h 401"/>
                <a:gd name="T10" fmla="*/ 121 w 538"/>
                <a:gd name="T11" fmla="*/ 239 h 401"/>
                <a:gd name="T12" fmla="*/ 121 w 538"/>
                <a:gd name="T13" fmla="*/ 27 h 401"/>
                <a:gd name="T14" fmla="*/ 417 w 538"/>
                <a:gd name="T15" fmla="*/ 27 h 401"/>
                <a:gd name="T16" fmla="*/ 417 w 538"/>
                <a:gd name="T17" fmla="*/ 239 h 401"/>
                <a:gd name="T18" fmla="*/ 121 w 538"/>
                <a:gd name="T19" fmla="*/ 239 h 401"/>
                <a:gd name="T20" fmla="*/ 108 w 538"/>
                <a:gd name="T21" fmla="*/ 252 h 401"/>
                <a:gd name="T22" fmla="*/ 430 w 538"/>
                <a:gd name="T23" fmla="*/ 252 h 401"/>
                <a:gd name="T24" fmla="*/ 430 w 538"/>
                <a:gd name="T25" fmla="*/ 14 h 401"/>
                <a:gd name="T26" fmla="*/ 446 w 538"/>
                <a:gd name="T27" fmla="*/ 14 h 401"/>
                <a:gd name="T28" fmla="*/ 446 w 538"/>
                <a:gd name="T29" fmla="*/ 0 h 401"/>
                <a:gd name="T30" fmla="*/ 96 w 538"/>
                <a:gd name="T31" fmla="*/ 0 h 401"/>
                <a:gd name="T32" fmla="*/ 96 w 538"/>
                <a:gd name="T33" fmla="*/ 265 h 401"/>
                <a:gd name="T34" fmla="*/ 108 w 538"/>
                <a:gd name="T35" fmla="*/ 265 h 401"/>
                <a:gd name="T36" fmla="*/ 108 w 538"/>
                <a:gd name="T37" fmla="*/ 252 h 401"/>
                <a:gd name="T38" fmla="*/ 0 w 538"/>
                <a:gd name="T39" fmla="*/ 388 h 401"/>
                <a:gd name="T40" fmla="*/ 54 w 538"/>
                <a:gd name="T41" fmla="*/ 388 h 401"/>
                <a:gd name="T42" fmla="*/ 54 w 538"/>
                <a:gd name="T43" fmla="*/ 368 h 401"/>
                <a:gd name="T44" fmla="*/ 0 w 538"/>
                <a:gd name="T45" fmla="*/ 368 h 401"/>
                <a:gd name="T46" fmla="*/ 0 w 538"/>
                <a:gd name="T47" fmla="*/ 388 h 401"/>
                <a:gd name="T48" fmla="*/ 316 w 538"/>
                <a:gd name="T49" fmla="*/ 401 h 401"/>
                <a:gd name="T50" fmla="*/ 430 w 538"/>
                <a:gd name="T51" fmla="*/ 401 h 401"/>
                <a:gd name="T52" fmla="*/ 430 w 538"/>
                <a:gd name="T53" fmla="*/ 391 h 401"/>
                <a:gd name="T54" fmla="*/ 316 w 538"/>
                <a:gd name="T55" fmla="*/ 391 h 401"/>
                <a:gd name="T56" fmla="*/ 316 w 538"/>
                <a:gd name="T57" fmla="*/ 401 h 401"/>
                <a:gd name="T58" fmla="*/ 523 w 538"/>
                <a:gd name="T59" fmla="*/ 378 h 401"/>
                <a:gd name="T60" fmla="*/ 538 w 538"/>
                <a:gd name="T61" fmla="*/ 378 h 401"/>
                <a:gd name="T62" fmla="*/ 538 w 538"/>
                <a:gd name="T63" fmla="*/ 368 h 401"/>
                <a:gd name="T64" fmla="*/ 523 w 538"/>
                <a:gd name="T65" fmla="*/ 368 h 401"/>
                <a:gd name="T66" fmla="*/ 523 w 538"/>
                <a:gd name="T67" fmla="*/ 378 h 401"/>
                <a:gd name="T68" fmla="*/ 523 w 538"/>
                <a:gd name="T69" fmla="*/ 394 h 401"/>
                <a:gd name="T70" fmla="*/ 538 w 538"/>
                <a:gd name="T71" fmla="*/ 394 h 401"/>
                <a:gd name="T72" fmla="*/ 538 w 538"/>
                <a:gd name="T73" fmla="*/ 388 h 401"/>
                <a:gd name="T74" fmla="*/ 523 w 538"/>
                <a:gd name="T75" fmla="*/ 388 h 401"/>
                <a:gd name="T76" fmla="*/ 523 w 538"/>
                <a:gd name="T77" fmla="*/ 39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8" h="401">
                  <a:moveTo>
                    <a:pt x="452" y="285"/>
                  </a:moveTo>
                  <a:lnTo>
                    <a:pt x="472" y="285"/>
                  </a:lnTo>
                  <a:lnTo>
                    <a:pt x="472" y="278"/>
                  </a:lnTo>
                  <a:lnTo>
                    <a:pt x="452" y="278"/>
                  </a:lnTo>
                  <a:lnTo>
                    <a:pt x="452" y="285"/>
                  </a:lnTo>
                  <a:close/>
                  <a:moveTo>
                    <a:pt x="121" y="239"/>
                  </a:moveTo>
                  <a:lnTo>
                    <a:pt x="121" y="27"/>
                  </a:lnTo>
                  <a:lnTo>
                    <a:pt x="417" y="27"/>
                  </a:lnTo>
                  <a:lnTo>
                    <a:pt x="417" y="239"/>
                  </a:lnTo>
                  <a:lnTo>
                    <a:pt x="121" y="239"/>
                  </a:lnTo>
                  <a:close/>
                  <a:moveTo>
                    <a:pt x="108" y="252"/>
                  </a:moveTo>
                  <a:lnTo>
                    <a:pt x="430" y="252"/>
                  </a:lnTo>
                  <a:lnTo>
                    <a:pt x="430" y="14"/>
                  </a:lnTo>
                  <a:lnTo>
                    <a:pt x="446" y="14"/>
                  </a:lnTo>
                  <a:lnTo>
                    <a:pt x="446" y="0"/>
                  </a:lnTo>
                  <a:lnTo>
                    <a:pt x="96" y="0"/>
                  </a:lnTo>
                  <a:lnTo>
                    <a:pt x="96" y="265"/>
                  </a:lnTo>
                  <a:lnTo>
                    <a:pt x="108" y="265"/>
                  </a:lnTo>
                  <a:lnTo>
                    <a:pt x="108" y="252"/>
                  </a:lnTo>
                  <a:close/>
                  <a:moveTo>
                    <a:pt x="0" y="388"/>
                  </a:moveTo>
                  <a:lnTo>
                    <a:pt x="54" y="388"/>
                  </a:lnTo>
                  <a:lnTo>
                    <a:pt x="54" y="368"/>
                  </a:lnTo>
                  <a:lnTo>
                    <a:pt x="0" y="368"/>
                  </a:lnTo>
                  <a:lnTo>
                    <a:pt x="0" y="388"/>
                  </a:lnTo>
                  <a:close/>
                  <a:moveTo>
                    <a:pt x="316" y="401"/>
                  </a:moveTo>
                  <a:lnTo>
                    <a:pt x="430" y="401"/>
                  </a:lnTo>
                  <a:lnTo>
                    <a:pt x="430" y="391"/>
                  </a:lnTo>
                  <a:lnTo>
                    <a:pt x="316" y="391"/>
                  </a:lnTo>
                  <a:lnTo>
                    <a:pt x="316" y="401"/>
                  </a:lnTo>
                  <a:close/>
                  <a:moveTo>
                    <a:pt x="523" y="378"/>
                  </a:moveTo>
                  <a:lnTo>
                    <a:pt x="538" y="378"/>
                  </a:lnTo>
                  <a:lnTo>
                    <a:pt x="538" y="368"/>
                  </a:lnTo>
                  <a:lnTo>
                    <a:pt x="523" y="368"/>
                  </a:lnTo>
                  <a:lnTo>
                    <a:pt x="523" y="378"/>
                  </a:lnTo>
                  <a:close/>
                  <a:moveTo>
                    <a:pt x="523" y="394"/>
                  </a:moveTo>
                  <a:lnTo>
                    <a:pt x="538" y="394"/>
                  </a:lnTo>
                  <a:lnTo>
                    <a:pt x="538" y="388"/>
                  </a:lnTo>
                  <a:lnTo>
                    <a:pt x="523" y="388"/>
                  </a:lnTo>
                  <a:lnTo>
                    <a:pt x="523" y="394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8" name="Line 53"/>
            <p:cNvSpPr>
              <a:spLocks noChangeShapeType="1"/>
            </p:cNvSpPr>
            <p:nvPr/>
          </p:nvSpPr>
          <p:spPr bwMode="auto">
            <a:xfrm>
              <a:off x="1084" y="1257"/>
              <a:ext cx="43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9" name="Line 54"/>
            <p:cNvSpPr>
              <a:spLocks noChangeShapeType="1"/>
            </p:cNvSpPr>
            <p:nvPr/>
          </p:nvSpPr>
          <p:spPr bwMode="auto">
            <a:xfrm flipV="1">
              <a:off x="1193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60" name="Line 55"/>
            <p:cNvSpPr>
              <a:spLocks noChangeShapeType="1"/>
            </p:cNvSpPr>
            <p:nvPr/>
          </p:nvSpPr>
          <p:spPr bwMode="auto">
            <a:xfrm flipV="1">
              <a:off x="1301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61" name="Group 56"/>
          <p:cNvGrpSpPr>
            <a:grpSpLocks/>
          </p:cNvGrpSpPr>
          <p:nvPr/>
        </p:nvGrpSpPr>
        <p:grpSpPr bwMode="auto">
          <a:xfrm>
            <a:off x="1371600" y="4572000"/>
            <a:ext cx="2179638" cy="1447800"/>
            <a:chOff x="832" y="1344"/>
            <a:chExt cx="1136" cy="1024"/>
          </a:xfrm>
        </p:grpSpPr>
        <p:sp>
          <p:nvSpPr>
            <p:cNvPr id="62" name="Oval 57"/>
            <p:cNvSpPr>
              <a:spLocks noChangeArrowheads="1"/>
            </p:cNvSpPr>
            <p:nvPr/>
          </p:nvSpPr>
          <p:spPr bwMode="auto">
            <a:xfrm>
              <a:off x="1220" y="1344"/>
              <a:ext cx="495" cy="424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63" name="Oval 58"/>
            <p:cNvSpPr>
              <a:spLocks noChangeArrowheads="1"/>
            </p:cNvSpPr>
            <p:nvPr/>
          </p:nvSpPr>
          <p:spPr bwMode="auto">
            <a:xfrm>
              <a:off x="948" y="1455"/>
              <a:ext cx="379" cy="424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64" name="Oval 59"/>
            <p:cNvSpPr>
              <a:spLocks noChangeArrowheads="1"/>
            </p:cNvSpPr>
            <p:nvPr/>
          </p:nvSpPr>
          <p:spPr bwMode="auto">
            <a:xfrm>
              <a:off x="832" y="1710"/>
              <a:ext cx="256" cy="306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65" name="Oval 60"/>
            <p:cNvSpPr>
              <a:spLocks noChangeArrowheads="1"/>
            </p:cNvSpPr>
            <p:nvPr/>
          </p:nvSpPr>
          <p:spPr bwMode="auto">
            <a:xfrm>
              <a:off x="909" y="1862"/>
              <a:ext cx="435" cy="442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66" name="Oval 61"/>
            <p:cNvSpPr>
              <a:spLocks noChangeArrowheads="1"/>
            </p:cNvSpPr>
            <p:nvPr/>
          </p:nvSpPr>
          <p:spPr bwMode="auto">
            <a:xfrm>
              <a:off x="1086" y="1924"/>
              <a:ext cx="671" cy="444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67" name="Oval 62"/>
            <p:cNvSpPr>
              <a:spLocks noChangeArrowheads="1"/>
            </p:cNvSpPr>
            <p:nvPr/>
          </p:nvSpPr>
          <p:spPr bwMode="auto">
            <a:xfrm>
              <a:off x="1605" y="1488"/>
              <a:ext cx="311" cy="312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68" name="Oval 63"/>
            <p:cNvSpPr>
              <a:spLocks noChangeArrowheads="1"/>
            </p:cNvSpPr>
            <p:nvPr/>
          </p:nvSpPr>
          <p:spPr bwMode="auto">
            <a:xfrm>
              <a:off x="1602" y="1681"/>
              <a:ext cx="366" cy="333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69" name="Oval 64"/>
            <p:cNvSpPr>
              <a:spLocks noChangeArrowheads="1"/>
            </p:cNvSpPr>
            <p:nvPr/>
          </p:nvSpPr>
          <p:spPr bwMode="auto">
            <a:xfrm>
              <a:off x="1569" y="1751"/>
              <a:ext cx="364" cy="547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0" name="Oval 65"/>
            <p:cNvSpPr>
              <a:spLocks noChangeArrowheads="1"/>
            </p:cNvSpPr>
            <p:nvPr/>
          </p:nvSpPr>
          <p:spPr bwMode="auto">
            <a:xfrm>
              <a:off x="912" y="1434"/>
              <a:ext cx="1008" cy="918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71" name="Group 66"/>
          <p:cNvGrpSpPr>
            <a:grpSpLocks/>
          </p:cNvGrpSpPr>
          <p:nvPr/>
        </p:nvGrpSpPr>
        <p:grpSpPr bwMode="auto">
          <a:xfrm>
            <a:off x="5440364" y="4572000"/>
            <a:ext cx="2179637" cy="1447800"/>
            <a:chOff x="832" y="1344"/>
            <a:chExt cx="1136" cy="1024"/>
          </a:xfrm>
        </p:grpSpPr>
        <p:sp>
          <p:nvSpPr>
            <p:cNvPr id="72" name="Oval 67"/>
            <p:cNvSpPr>
              <a:spLocks noChangeArrowheads="1"/>
            </p:cNvSpPr>
            <p:nvPr/>
          </p:nvSpPr>
          <p:spPr bwMode="auto">
            <a:xfrm>
              <a:off x="1220" y="1344"/>
              <a:ext cx="495" cy="424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3" name="Oval 68"/>
            <p:cNvSpPr>
              <a:spLocks noChangeArrowheads="1"/>
            </p:cNvSpPr>
            <p:nvPr/>
          </p:nvSpPr>
          <p:spPr bwMode="auto">
            <a:xfrm>
              <a:off x="948" y="1455"/>
              <a:ext cx="379" cy="424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4" name="Oval 69"/>
            <p:cNvSpPr>
              <a:spLocks noChangeArrowheads="1"/>
            </p:cNvSpPr>
            <p:nvPr/>
          </p:nvSpPr>
          <p:spPr bwMode="auto">
            <a:xfrm>
              <a:off x="832" y="1710"/>
              <a:ext cx="256" cy="306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5" name="Oval 70"/>
            <p:cNvSpPr>
              <a:spLocks noChangeArrowheads="1"/>
            </p:cNvSpPr>
            <p:nvPr/>
          </p:nvSpPr>
          <p:spPr bwMode="auto">
            <a:xfrm>
              <a:off x="909" y="1862"/>
              <a:ext cx="435" cy="442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6" name="Oval 71"/>
            <p:cNvSpPr>
              <a:spLocks noChangeArrowheads="1"/>
            </p:cNvSpPr>
            <p:nvPr/>
          </p:nvSpPr>
          <p:spPr bwMode="auto">
            <a:xfrm>
              <a:off x="1086" y="1924"/>
              <a:ext cx="671" cy="444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7" name="Oval 72"/>
            <p:cNvSpPr>
              <a:spLocks noChangeArrowheads="1"/>
            </p:cNvSpPr>
            <p:nvPr/>
          </p:nvSpPr>
          <p:spPr bwMode="auto">
            <a:xfrm>
              <a:off x="1605" y="1488"/>
              <a:ext cx="311" cy="312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8" name="Oval 73"/>
            <p:cNvSpPr>
              <a:spLocks noChangeArrowheads="1"/>
            </p:cNvSpPr>
            <p:nvPr/>
          </p:nvSpPr>
          <p:spPr bwMode="auto">
            <a:xfrm>
              <a:off x="1602" y="1681"/>
              <a:ext cx="366" cy="333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9" name="Oval 74"/>
            <p:cNvSpPr>
              <a:spLocks noChangeArrowheads="1"/>
            </p:cNvSpPr>
            <p:nvPr/>
          </p:nvSpPr>
          <p:spPr bwMode="auto">
            <a:xfrm>
              <a:off x="1569" y="1751"/>
              <a:ext cx="364" cy="547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0" name="Oval 75"/>
            <p:cNvSpPr>
              <a:spLocks noChangeArrowheads="1"/>
            </p:cNvSpPr>
            <p:nvPr/>
          </p:nvSpPr>
          <p:spPr bwMode="auto">
            <a:xfrm>
              <a:off x="912" y="1434"/>
              <a:ext cx="1008" cy="918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81" name="Group 76"/>
          <p:cNvGrpSpPr>
            <a:grpSpLocks/>
          </p:cNvGrpSpPr>
          <p:nvPr/>
        </p:nvGrpSpPr>
        <p:grpSpPr bwMode="auto">
          <a:xfrm>
            <a:off x="3276600" y="3962401"/>
            <a:ext cx="2438400" cy="1447800"/>
            <a:chOff x="832" y="1344"/>
            <a:chExt cx="1136" cy="1024"/>
          </a:xfrm>
        </p:grpSpPr>
        <p:sp>
          <p:nvSpPr>
            <p:cNvPr id="82" name="Oval 77"/>
            <p:cNvSpPr>
              <a:spLocks noChangeArrowheads="1"/>
            </p:cNvSpPr>
            <p:nvPr/>
          </p:nvSpPr>
          <p:spPr bwMode="auto">
            <a:xfrm>
              <a:off x="1220" y="1344"/>
              <a:ext cx="495" cy="424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3" name="Oval 78"/>
            <p:cNvSpPr>
              <a:spLocks noChangeArrowheads="1"/>
            </p:cNvSpPr>
            <p:nvPr/>
          </p:nvSpPr>
          <p:spPr bwMode="auto">
            <a:xfrm>
              <a:off x="948" y="1455"/>
              <a:ext cx="379" cy="424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4" name="Oval 79"/>
            <p:cNvSpPr>
              <a:spLocks noChangeArrowheads="1"/>
            </p:cNvSpPr>
            <p:nvPr/>
          </p:nvSpPr>
          <p:spPr bwMode="auto">
            <a:xfrm>
              <a:off x="832" y="1710"/>
              <a:ext cx="256" cy="306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5" name="Oval 80"/>
            <p:cNvSpPr>
              <a:spLocks noChangeArrowheads="1"/>
            </p:cNvSpPr>
            <p:nvPr/>
          </p:nvSpPr>
          <p:spPr bwMode="auto">
            <a:xfrm>
              <a:off x="909" y="1862"/>
              <a:ext cx="435" cy="442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6" name="Oval 81"/>
            <p:cNvSpPr>
              <a:spLocks noChangeArrowheads="1"/>
            </p:cNvSpPr>
            <p:nvPr/>
          </p:nvSpPr>
          <p:spPr bwMode="auto">
            <a:xfrm>
              <a:off x="1086" y="1924"/>
              <a:ext cx="671" cy="444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7" name="Oval 82"/>
            <p:cNvSpPr>
              <a:spLocks noChangeArrowheads="1"/>
            </p:cNvSpPr>
            <p:nvPr/>
          </p:nvSpPr>
          <p:spPr bwMode="auto">
            <a:xfrm>
              <a:off x="1605" y="1488"/>
              <a:ext cx="311" cy="312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8" name="Oval 83"/>
            <p:cNvSpPr>
              <a:spLocks noChangeArrowheads="1"/>
            </p:cNvSpPr>
            <p:nvPr/>
          </p:nvSpPr>
          <p:spPr bwMode="auto">
            <a:xfrm>
              <a:off x="1602" y="1681"/>
              <a:ext cx="366" cy="333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9" name="Oval 84"/>
            <p:cNvSpPr>
              <a:spLocks noChangeArrowheads="1"/>
            </p:cNvSpPr>
            <p:nvPr/>
          </p:nvSpPr>
          <p:spPr bwMode="auto">
            <a:xfrm>
              <a:off x="1569" y="1751"/>
              <a:ext cx="364" cy="547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90" name="Oval 85"/>
            <p:cNvSpPr>
              <a:spLocks noChangeArrowheads="1"/>
            </p:cNvSpPr>
            <p:nvPr/>
          </p:nvSpPr>
          <p:spPr bwMode="auto">
            <a:xfrm>
              <a:off x="912" y="1434"/>
              <a:ext cx="1008" cy="918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sp>
        <p:nvSpPr>
          <p:cNvPr id="92" name="Text Box 87"/>
          <p:cNvSpPr txBox="1">
            <a:spLocks noChangeArrowheads="1"/>
          </p:cNvSpPr>
          <p:nvPr/>
        </p:nvSpPr>
        <p:spPr bwMode="auto">
          <a:xfrm>
            <a:off x="252488" y="6143637"/>
            <a:ext cx="867111" cy="335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31" tIns="44423" rIns="90431" bIns="44423">
            <a:spAutoFit/>
          </a:bodyPr>
          <a:lstStyle/>
          <a:p>
            <a:r>
              <a:rPr lang="en-US">
                <a:latin typeface="+mn-lt"/>
              </a:rPr>
              <a:t>Clients</a:t>
            </a:r>
          </a:p>
        </p:txBody>
      </p:sp>
      <p:sp>
        <p:nvSpPr>
          <p:cNvPr id="93" name="Freeform 88"/>
          <p:cNvSpPr>
            <a:spLocks/>
          </p:cNvSpPr>
          <p:nvPr/>
        </p:nvSpPr>
        <p:spPr bwMode="auto">
          <a:xfrm>
            <a:off x="1525600" y="3881439"/>
            <a:ext cx="3043237" cy="2211387"/>
          </a:xfrm>
          <a:custGeom>
            <a:avLst/>
            <a:gdLst>
              <a:gd name="T0" fmla="*/ 1920 w 1920"/>
              <a:gd name="T1" fmla="*/ 0 h 1392"/>
              <a:gd name="T2" fmla="*/ 1776 w 1920"/>
              <a:gd name="T3" fmla="*/ 192 h 1392"/>
              <a:gd name="T4" fmla="*/ 1488 w 1920"/>
              <a:gd name="T5" fmla="*/ 288 h 1392"/>
              <a:gd name="T6" fmla="*/ 864 w 1920"/>
              <a:gd name="T7" fmla="*/ 672 h 1392"/>
              <a:gd name="T8" fmla="*/ 288 w 1920"/>
              <a:gd name="T9" fmla="*/ 1056 h 1392"/>
              <a:gd name="T10" fmla="*/ 0 w 1920"/>
              <a:gd name="T11" fmla="*/ 1392 h 1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20" h="1392">
                <a:moveTo>
                  <a:pt x="1920" y="0"/>
                </a:moveTo>
                <a:lnTo>
                  <a:pt x="1776" y="192"/>
                </a:lnTo>
                <a:lnTo>
                  <a:pt x="1488" y="288"/>
                </a:lnTo>
                <a:lnTo>
                  <a:pt x="864" y="672"/>
                </a:lnTo>
                <a:lnTo>
                  <a:pt x="288" y="1056"/>
                </a:lnTo>
                <a:lnTo>
                  <a:pt x="0" y="1392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31" tIns="44423" rIns="90431" bIns="44423"/>
          <a:lstStyle/>
          <a:p>
            <a:endParaRPr lang="en-US" b="0">
              <a:latin typeface="+mn-lt"/>
            </a:endParaRPr>
          </a:p>
        </p:txBody>
      </p:sp>
      <p:sp>
        <p:nvSpPr>
          <p:cNvPr id="94" name="Freeform 89"/>
          <p:cNvSpPr>
            <a:spLocks/>
          </p:cNvSpPr>
          <p:nvPr/>
        </p:nvSpPr>
        <p:spPr bwMode="auto">
          <a:xfrm>
            <a:off x="3048000" y="3886200"/>
            <a:ext cx="1600200" cy="2209800"/>
          </a:xfrm>
          <a:custGeom>
            <a:avLst/>
            <a:gdLst>
              <a:gd name="T0" fmla="*/ 1008 w 1008"/>
              <a:gd name="T1" fmla="*/ 0 h 1296"/>
              <a:gd name="T2" fmla="*/ 864 w 1008"/>
              <a:gd name="T3" fmla="*/ 336 h 1296"/>
              <a:gd name="T4" fmla="*/ 0 w 1008"/>
              <a:gd name="T5" fmla="*/ 864 h 1296"/>
              <a:gd name="T6" fmla="*/ 0 w 1008"/>
              <a:gd name="T7" fmla="*/ 1296 h 1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296">
                <a:moveTo>
                  <a:pt x="1008" y="0"/>
                </a:moveTo>
                <a:lnTo>
                  <a:pt x="864" y="336"/>
                </a:lnTo>
                <a:lnTo>
                  <a:pt x="0" y="864"/>
                </a:lnTo>
                <a:lnTo>
                  <a:pt x="0" y="1296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31" tIns="44423" rIns="90431" bIns="44423"/>
          <a:lstStyle/>
          <a:p>
            <a:endParaRPr lang="en-US" b="0">
              <a:latin typeface="+mn-lt"/>
            </a:endParaRPr>
          </a:p>
        </p:txBody>
      </p:sp>
      <p:sp>
        <p:nvSpPr>
          <p:cNvPr id="95" name="Freeform 90"/>
          <p:cNvSpPr>
            <a:spLocks/>
          </p:cNvSpPr>
          <p:nvPr/>
        </p:nvSpPr>
        <p:spPr bwMode="auto">
          <a:xfrm>
            <a:off x="4724401" y="3886200"/>
            <a:ext cx="2895600" cy="2209800"/>
          </a:xfrm>
          <a:custGeom>
            <a:avLst/>
            <a:gdLst>
              <a:gd name="T0" fmla="*/ 0 w 1824"/>
              <a:gd name="T1" fmla="*/ 0 h 1392"/>
              <a:gd name="T2" fmla="*/ 384 w 1824"/>
              <a:gd name="T3" fmla="*/ 288 h 1392"/>
              <a:gd name="T4" fmla="*/ 672 w 1824"/>
              <a:gd name="T5" fmla="*/ 624 h 1392"/>
              <a:gd name="T6" fmla="*/ 1248 w 1824"/>
              <a:gd name="T7" fmla="*/ 672 h 1392"/>
              <a:gd name="T8" fmla="*/ 1824 w 1824"/>
              <a:gd name="T9" fmla="*/ 1392 h 1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24" h="1392">
                <a:moveTo>
                  <a:pt x="0" y="0"/>
                </a:moveTo>
                <a:lnTo>
                  <a:pt x="384" y="288"/>
                </a:lnTo>
                <a:lnTo>
                  <a:pt x="672" y="624"/>
                </a:lnTo>
                <a:lnTo>
                  <a:pt x="1248" y="672"/>
                </a:lnTo>
                <a:lnTo>
                  <a:pt x="1824" y="1392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31" tIns="44423" rIns="90431" bIns="44423"/>
          <a:lstStyle/>
          <a:p>
            <a:endParaRPr lang="en-US" b="0">
              <a:latin typeface="+mn-lt"/>
            </a:endParaRPr>
          </a:p>
        </p:txBody>
      </p:sp>
      <p:sp>
        <p:nvSpPr>
          <p:cNvPr id="96" name="Freeform 91"/>
          <p:cNvSpPr>
            <a:spLocks/>
          </p:cNvSpPr>
          <p:nvPr/>
        </p:nvSpPr>
        <p:spPr bwMode="auto">
          <a:xfrm>
            <a:off x="4648200" y="3886200"/>
            <a:ext cx="1600200" cy="2209800"/>
          </a:xfrm>
          <a:custGeom>
            <a:avLst/>
            <a:gdLst>
              <a:gd name="T0" fmla="*/ 0 w 1008"/>
              <a:gd name="T1" fmla="*/ 0 h 1392"/>
              <a:gd name="T2" fmla="*/ 384 w 1008"/>
              <a:gd name="T3" fmla="*/ 432 h 1392"/>
              <a:gd name="T4" fmla="*/ 672 w 1008"/>
              <a:gd name="T5" fmla="*/ 864 h 1392"/>
              <a:gd name="T6" fmla="*/ 912 w 1008"/>
              <a:gd name="T7" fmla="*/ 1008 h 1392"/>
              <a:gd name="T8" fmla="*/ 1008 w 1008"/>
              <a:gd name="T9" fmla="*/ 1392 h 1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08" h="1392">
                <a:moveTo>
                  <a:pt x="0" y="0"/>
                </a:moveTo>
                <a:lnTo>
                  <a:pt x="384" y="432"/>
                </a:lnTo>
                <a:lnTo>
                  <a:pt x="672" y="864"/>
                </a:lnTo>
                <a:lnTo>
                  <a:pt x="912" y="1008"/>
                </a:lnTo>
                <a:lnTo>
                  <a:pt x="1008" y="1392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31" tIns="44423" rIns="90431" bIns="44423"/>
          <a:lstStyle/>
          <a:p>
            <a:endParaRPr lang="en-US" b="0">
              <a:latin typeface="+mn-lt"/>
            </a:endParaRPr>
          </a:p>
        </p:txBody>
      </p:sp>
      <p:sp>
        <p:nvSpPr>
          <p:cNvPr id="97" name="Text Box 92"/>
          <p:cNvSpPr txBox="1">
            <a:spLocks noChangeArrowheads="1"/>
          </p:cNvSpPr>
          <p:nvPr/>
        </p:nvSpPr>
        <p:spPr bwMode="auto">
          <a:xfrm>
            <a:off x="4087196" y="4860267"/>
            <a:ext cx="1323004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31" tIns="44423" rIns="90431" bIns="44423">
            <a:spAutoFit/>
          </a:bodyPr>
          <a:lstStyle/>
          <a:p>
            <a:r>
              <a:rPr lang="en-US" b="0" dirty="0">
                <a:latin typeface="+mn-lt"/>
              </a:rPr>
              <a:t>Tier-1 ISP</a:t>
            </a:r>
          </a:p>
        </p:txBody>
      </p:sp>
      <p:sp>
        <p:nvSpPr>
          <p:cNvPr id="98" name="Text Box 93"/>
          <p:cNvSpPr txBox="1">
            <a:spLocks noChangeArrowheads="1"/>
          </p:cNvSpPr>
          <p:nvPr/>
        </p:nvSpPr>
        <p:spPr bwMode="auto">
          <a:xfrm>
            <a:off x="2048383" y="5562600"/>
            <a:ext cx="769068" cy="371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31" tIns="44423" rIns="90431" bIns="44423">
            <a:spAutoFit/>
          </a:bodyPr>
          <a:lstStyle/>
          <a:p>
            <a:r>
              <a:rPr lang="en-US" sz="1800" b="0" dirty="0">
                <a:latin typeface="+mn-lt"/>
              </a:rPr>
              <a:t>ISP-1</a:t>
            </a:r>
          </a:p>
        </p:txBody>
      </p:sp>
      <p:sp>
        <p:nvSpPr>
          <p:cNvPr id="99" name="Text Box 94"/>
          <p:cNvSpPr txBox="1">
            <a:spLocks noChangeArrowheads="1"/>
          </p:cNvSpPr>
          <p:nvPr/>
        </p:nvSpPr>
        <p:spPr bwMode="auto">
          <a:xfrm>
            <a:off x="6315583" y="5562600"/>
            <a:ext cx="769068" cy="371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31" tIns="44423" rIns="90431" bIns="44423">
            <a:spAutoFit/>
          </a:bodyPr>
          <a:lstStyle/>
          <a:p>
            <a:r>
              <a:rPr lang="en-US" sz="1800" b="0" dirty="0">
                <a:latin typeface="+mn-lt"/>
              </a:rPr>
              <a:t>ISP-2</a:t>
            </a:r>
          </a:p>
        </p:txBody>
      </p:sp>
      <p:graphicFrame>
        <p:nvGraphicFramePr>
          <p:cNvPr id="101" name="Object 2"/>
          <p:cNvGraphicFramePr>
            <a:graphicFrameLocks noChangeAspect="1"/>
          </p:cNvGraphicFramePr>
          <p:nvPr/>
        </p:nvGraphicFramePr>
        <p:xfrm>
          <a:off x="4562474" y="2566987"/>
          <a:ext cx="31432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2107949" imgH="3470495" progId="MS_ClipArt_Gallery.5">
                  <p:embed/>
                </p:oleObj>
              </mc:Choice>
              <mc:Fallback>
                <p:oleObj name="Clip" r:id="rId2" imgW="2107949" imgH="3470495" progId="MS_ClipArt_Gallery.5">
                  <p:embed/>
                  <p:pic>
                    <p:nvPicPr>
                      <p:cNvPr id="10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2474" y="2566987"/>
                        <a:ext cx="314325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" name="Rectangle 96"/>
          <p:cNvSpPr>
            <a:spLocks noChangeArrowheads="1"/>
          </p:cNvSpPr>
          <p:nvPr/>
        </p:nvSpPr>
        <p:spPr bwMode="auto">
          <a:xfrm>
            <a:off x="4114799" y="3586162"/>
            <a:ext cx="236538" cy="228600"/>
          </a:xfrm>
          <a:prstGeom prst="rect">
            <a:avLst/>
          </a:prstGeom>
          <a:solidFill>
            <a:srgbClr val="EAEAEA"/>
          </a:solidFill>
          <a:ln w="9525">
            <a:miter lim="800000"/>
            <a:headEnd/>
            <a:tailEnd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rgbClr val="EAEAEA"/>
            </a:extrusionClr>
          </a:sp3d>
        </p:spPr>
        <p:txBody>
          <a:bodyPr wrap="none" lIns="90431" tIns="44423" rIns="90431" bIns="44423" anchor="ctr">
            <a:flatTx/>
          </a:bodyPr>
          <a:lstStyle/>
          <a:p>
            <a:endParaRPr lang="en-US"/>
          </a:p>
        </p:txBody>
      </p:sp>
      <p:sp>
        <p:nvSpPr>
          <p:cNvPr id="103" name="Rectangle 97"/>
          <p:cNvSpPr>
            <a:spLocks noChangeArrowheads="1"/>
          </p:cNvSpPr>
          <p:nvPr/>
        </p:nvSpPr>
        <p:spPr bwMode="auto">
          <a:xfrm>
            <a:off x="4648199" y="3586162"/>
            <a:ext cx="236538" cy="228600"/>
          </a:xfrm>
          <a:prstGeom prst="rect">
            <a:avLst/>
          </a:prstGeom>
          <a:solidFill>
            <a:srgbClr val="EAEAEA"/>
          </a:solidFill>
          <a:ln w="9525">
            <a:miter lim="800000"/>
            <a:headEnd/>
            <a:tailEnd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rgbClr val="EAEAEA"/>
            </a:extrusionClr>
          </a:sp3d>
        </p:spPr>
        <p:txBody>
          <a:bodyPr wrap="none" lIns="90431" tIns="44423" rIns="90431" bIns="44423" anchor="ctr">
            <a:flatTx/>
          </a:bodyPr>
          <a:lstStyle/>
          <a:p>
            <a:endParaRPr lang="en-US"/>
          </a:p>
        </p:txBody>
      </p:sp>
      <p:sp>
        <p:nvSpPr>
          <p:cNvPr id="104" name="Rectangle 98"/>
          <p:cNvSpPr>
            <a:spLocks noChangeArrowheads="1"/>
          </p:cNvSpPr>
          <p:nvPr/>
        </p:nvSpPr>
        <p:spPr bwMode="auto">
          <a:xfrm>
            <a:off x="5105399" y="3586162"/>
            <a:ext cx="236538" cy="228600"/>
          </a:xfrm>
          <a:prstGeom prst="rect">
            <a:avLst/>
          </a:prstGeom>
          <a:solidFill>
            <a:srgbClr val="EAEAEA"/>
          </a:solidFill>
          <a:ln w="9525">
            <a:miter lim="800000"/>
            <a:headEnd/>
            <a:tailEnd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rgbClr val="EAEAEA"/>
            </a:extrusionClr>
          </a:sp3d>
        </p:spPr>
        <p:txBody>
          <a:bodyPr wrap="none" lIns="90431" tIns="44423" rIns="90431" bIns="44423" anchor="ctr">
            <a:flatTx/>
          </a:bodyPr>
          <a:lstStyle/>
          <a:p>
            <a:endParaRPr lang="en-US"/>
          </a:p>
        </p:txBody>
      </p:sp>
      <p:sp>
        <p:nvSpPr>
          <p:cNvPr id="105" name="Oval 99"/>
          <p:cNvSpPr>
            <a:spLocks noChangeArrowheads="1"/>
          </p:cNvSpPr>
          <p:nvPr/>
        </p:nvSpPr>
        <p:spPr bwMode="auto">
          <a:xfrm>
            <a:off x="3659187" y="3429000"/>
            <a:ext cx="1979612" cy="457200"/>
          </a:xfrm>
          <a:prstGeom prst="ellips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90431" tIns="44423" rIns="90431" bIns="44423" anchor="ctr"/>
          <a:lstStyle/>
          <a:p>
            <a:endParaRPr lang="en-US">
              <a:solidFill>
                <a:srgbClr val="0000FF"/>
              </a:solidFill>
            </a:endParaRPr>
          </a:p>
        </p:txBody>
      </p:sp>
      <p:sp>
        <p:nvSpPr>
          <p:cNvPr id="106" name="Line 100"/>
          <p:cNvSpPr>
            <a:spLocks noChangeShapeType="1"/>
          </p:cNvSpPr>
          <p:nvPr/>
        </p:nvSpPr>
        <p:spPr bwMode="auto">
          <a:xfrm>
            <a:off x="4722824" y="3052763"/>
            <a:ext cx="1587" cy="3810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0431" tIns="44423" rIns="90431" bIns="44423"/>
          <a:lstStyle/>
          <a:p>
            <a:endParaRPr lang="en-US"/>
          </a:p>
        </p:txBody>
      </p:sp>
      <p:sp>
        <p:nvSpPr>
          <p:cNvPr id="107" name="Text Box 101"/>
          <p:cNvSpPr txBox="1">
            <a:spLocks noChangeArrowheads="1"/>
          </p:cNvSpPr>
          <p:nvPr/>
        </p:nvSpPr>
        <p:spPr bwMode="auto">
          <a:xfrm>
            <a:off x="1981200" y="3481399"/>
            <a:ext cx="1681142" cy="338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31" tIns="44423" rIns="90431" bIns="44423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600" b="0">
                <a:solidFill>
                  <a:srgbClr val="0000FF"/>
                </a:solidFill>
                <a:latin typeface="Arial" charset="0"/>
              </a:rPr>
              <a:t>Reverse proxies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9AB70-D6FE-DE43-9249-3D4CC9E34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409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Caching with Forward Proxies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Cache documents close to clients </a:t>
            </a:r>
          </a:p>
          <a:p>
            <a:pPr lvl="1"/>
            <a:r>
              <a:rPr lang="en-US" dirty="0">
                <a:sym typeface="Wingdings" charset="0"/>
              </a:rPr>
              <a:t>Reduce network traffic and decrease latency</a:t>
            </a:r>
          </a:p>
          <a:p>
            <a:pPr lvl="1"/>
            <a:r>
              <a:rPr lang="en-US" dirty="0">
                <a:sym typeface="Wingdings" charset="0"/>
              </a:rPr>
              <a:t>By ISPs or enterprises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3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 bwMode="auto">
          <a:xfrm>
            <a:off x="80010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75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9" name="Group 4"/>
          <p:cNvGrpSpPr>
            <a:grpSpLocks/>
          </p:cNvGrpSpPr>
          <p:nvPr/>
        </p:nvGrpSpPr>
        <p:grpSpPr bwMode="auto">
          <a:xfrm>
            <a:off x="6019800" y="6096001"/>
            <a:ext cx="371475" cy="381000"/>
            <a:chOff x="1014" y="912"/>
            <a:chExt cx="574" cy="596"/>
          </a:xfrm>
        </p:grpSpPr>
        <p:sp>
          <p:nvSpPr>
            <p:cNvPr id="10" name="Freeform 5"/>
            <p:cNvSpPr>
              <a:spLocks/>
            </p:cNvSpPr>
            <p:nvPr/>
          </p:nvSpPr>
          <p:spPr bwMode="auto">
            <a:xfrm>
              <a:off x="1014" y="912"/>
              <a:ext cx="574" cy="596"/>
            </a:xfrm>
            <a:custGeom>
              <a:avLst/>
              <a:gdLst>
                <a:gd name="T0" fmla="*/ 124 w 574"/>
                <a:gd name="T1" fmla="*/ 391 h 596"/>
                <a:gd name="T2" fmla="*/ 0 w 574"/>
                <a:gd name="T3" fmla="*/ 391 h 596"/>
                <a:gd name="T4" fmla="*/ 0 w 574"/>
                <a:gd name="T5" fmla="*/ 596 h 596"/>
                <a:gd name="T6" fmla="*/ 574 w 574"/>
                <a:gd name="T7" fmla="*/ 596 h 596"/>
                <a:gd name="T8" fmla="*/ 574 w 574"/>
                <a:gd name="T9" fmla="*/ 391 h 596"/>
                <a:gd name="T10" fmla="*/ 446 w 574"/>
                <a:gd name="T11" fmla="*/ 391 h 596"/>
                <a:gd name="T12" fmla="*/ 446 w 574"/>
                <a:gd name="T13" fmla="*/ 364 h 596"/>
                <a:gd name="T14" fmla="*/ 500 w 574"/>
                <a:gd name="T15" fmla="*/ 364 h 596"/>
                <a:gd name="T16" fmla="*/ 500 w 574"/>
                <a:gd name="T17" fmla="*/ 0 h 596"/>
                <a:gd name="T18" fmla="*/ 70 w 574"/>
                <a:gd name="T19" fmla="*/ 0 h 596"/>
                <a:gd name="T20" fmla="*/ 70 w 574"/>
                <a:gd name="T21" fmla="*/ 364 h 596"/>
                <a:gd name="T22" fmla="*/ 124 w 574"/>
                <a:gd name="T23" fmla="*/ 364 h 596"/>
                <a:gd name="T24" fmla="*/ 124 w 574"/>
                <a:gd name="T25" fmla="*/ 39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4" h="596">
                  <a:moveTo>
                    <a:pt x="124" y="391"/>
                  </a:moveTo>
                  <a:lnTo>
                    <a:pt x="0" y="391"/>
                  </a:lnTo>
                  <a:lnTo>
                    <a:pt x="0" y="596"/>
                  </a:lnTo>
                  <a:lnTo>
                    <a:pt x="574" y="596"/>
                  </a:lnTo>
                  <a:lnTo>
                    <a:pt x="574" y="391"/>
                  </a:lnTo>
                  <a:lnTo>
                    <a:pt x="446" y="391"/>
                  </a:lnTo>
                  <a:lnTo>
                    <a:pt x="446" y="364"/>
                  </a:lnTo>
                  <a:lnTo>
                    <a:pt x="500" y="364"/>
                  </a:lnTo>
                  <a:lnTo>
                    <a:pt x="500" y="0"/>
                  </a:lnTo>
                  <a:lnTo>
                    <a:pt x="70" y="0"/>
                  </a:lnTo>
                  <a:lnTo>
                    <a:pt x="70" y="364"/>
                  </a:lnTo>
                  <a:lnTo>
                    <a:pt x="124" y="364"/>
                  </a:lnTo>
                  <a:lnTo>
                    <a:pt x="124" y="39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1138" y="1303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1138" y="1276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3" name="Freeform 8"/>
            <p:cNvSpPr>
              <a:spLocks noEditPoints="1"/>
            </p:cNvSpPr>
            <p:nvPr/>
          </p:nvSpPr>
          <p:spPr bwMode="auto">
            <a:xfrm>
              <a:off x="1310" y="1323"/>
              <a:ext cx="233" cy="168"/>
            </a:xfrm>
            <a:custGeom>
              <a:avLst/>
              <a:gdLst>
                <a:gd name="T0" fmla="*/ 0 w 233"/>
                <a:gd name="T1" fmla="*/ 168 h 168"/>
                <a:gd name="T2" fmla="*/ 188 w 233"/>
                <a:gd name="T3" fmla="*/ 168 h 168"/>
                <a:gd name="T4" fmla="*/ 188 w 233"/>
                <a:gd name="T5" fmla="*/ 0 h 168"/>
                <a:gd name="T6" fmla="*/ 0 w 233"/>
                <a:gd name="T7" fmla="*/ 0 h 168"/>
                <a:gd name="T8" fmla="*/ 0 w 233"/>
                <a:gd name="T9" fmla="*/ 168 h 168"/>
                <a:gd name="T10" fmla="*/ 204 w 233"/>
                <a:gd name="T11" fmla="*/ 26 h 168"/>
                <a:gd name="T12" fmla="*/ 233 w 233"/>
                <a:gd name="T13" fmla="*/ 26 h 168"/>
                <a:gd name="T14" fmla="*/ 233 w 233"/>
                <a:gd name="T15" fmla="*/ 0 h 168"/>
                <a:gd name="T16" fmla="*/ 204 w 233"/>
                <a:gd name="T17" fmla="*/ 0 h 168"/>
                <a:gd name="T18" fmla="*/ 204 w 233"/>
                <a:gd name="T19" fmla="*/ 2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3" h="168">
                  <a:moveTo>
                    <a:pt x="0" y="168"/>
                  </a:moveTo>
                  <a:lnTo>
                    <a:pt x="188" y="168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0" y="168"/>
                  </a:lnTo>
                  <a:close/>
                  <a:moveTo>
                    <a:pt x="204" y="26"/>
                  </a:moveTo>
                  <a:lnTo>
                    <a:pt x="233" y="26"/>
                  </a:lnTo>
                  <a:lnTo>
                    <a:pt x="233" y="0"/>
                  </a:lnTo>
                  <a:lnTo>
                    <a:pt x="204" y="0"/>
                  </a:lnTo>
                  <a:lnTo>
                    <a:pt x="204" y="26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>
              <a:off x="1310" y="1379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>
              <a:off x="1310" y="1435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1317" y="1405"/>
              <a:ext cx="17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7" name="Rectangle 12"/>
            <p:cNvSpPr>
              <a:spLocks noChangeArrowheads="1"/>
            </p:cNvSpPr>
            <p:nvPr/>
          </p:nvSpPr>
          <p:spPr bwMode="auto">
            <a:xfrm>
              <a:off x="1416" y="1389"/>
              <a:ext cx="54" cy="36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8" name="Freeform 13"/>
            <p:cNvSpPr>
              <a:spLocks noEditPoints="1"/>
            </p:cNvSpPr>
            <p:nvPr/>
          </p:nvSpPr>
          <p:spPr bwMode="auto">
            <a:xfrm>
              <a:off x="1030" y="955"/>
              <a:ext cx="538" cy="401"/>
            </a:xfrm>
            <a:custGeom>
              <a:avLst/>
              <a:gdLst>
                <a:gd name="T0" fmla="*/ 452 w 538"/>
                <a:gd name="T1" fmla="*/ 285 h 401"/>
                <a:gd name="T2" fmla="*/ 472 w 538"/>
                <a:gd name="T3" fmla="*/ 285 h 401"/>
                <a:gd name="T4" fmla="*/ 472 w 538"/>
                <a:gd name="T5" fmla="*/ 278 h 401"/>
                <a:gd name="T6" fmla="*/ 452 w 538"/>
                <a:gd name="T7" fmla="*/ 278 h 401"/>
                <a:gd name="T8" fmla="*/ 452 w 538"/>
                <a:gd name="T9" fmla="*/ 285 h 401"/>
                <a:gd name="T10" fmla="*/ 121 w 538"/>
                <a:gd name="T11" fmla="*/ 239 h 401"/>
                <a:gd name="T12" fmla="*/ 121 w 538"/>
                <a:gd name="T13" fmla="*/ 27 h 401"/>
                <a:gd name="T14" fmla="*/ 417 w 538"/>
                <a:gd name="T15" fmla="*/ 27 h 401"/>
                <a:gd name="T16" fmla="*/ 417 w 538"/>
                <a:gd name="T17" fmla="*/ 239 h 401"/>
                <a:gd name="T18" fmla="*/ 121 w 538"/>
                <a:gd name="T19" fmla="*/ 239 h 401"/>
                <a:gd name="T20" fmla="*/ 108 w 538"/>
                <a:gd name="T21" fmla="*/ 252 h 401"/>
                <a:gd name="T22" fmla="*/ 430 w 538"/>
                <a:gd name="T23" fmla="*/ 252 h 401"/>
                <a:gd name="T24" fmla="*/ 430 w 538"/>
                <a:gd name="T25" fmla="*/ 14 h 401"/>
                <a:gd name="T26" fmla="*/ 446 w 538"/>
                <a:gd name="T27" fmla="*/ 14 h 401"/>
                <a:gd name="T28" fmla="*/ 446 w 538"/>
                <a:gd name="T29" fmla="*/ 0 h 401"/>
                <a:gd name="T30" fmla="*/ 96 w 538"/>
                <a:gd name="T31" fmla="*/ 0 h 401"/>
                <a:gd name="T32" fmla="*/ 96 w 538"/>
                <a:gd name="T33" fmla="*/ 265 h 401"/>
                <a:gd name="T34" fmla="*/ 108 w 538"/>
                <a:gd name="T35" fmla="*/ 265 h 401"/>
                <a:gd name="T36" fmla="*/ 108 w 538"/>
                <a:gd name="T37" fmla="*/ 252 h 401"/>
                <a:gd name="T38" fmla="*/ 0 w 538"/>
                <a:gd name="T39" fmla="*/ 388 h 401"/>
                <a:gd name="T40" fmla="*/ 54 w 538"/>
                <a:gd name="T41" fmla="*/ 388 h 401"/>
                <a:gd name="T42" fmla="*/ 54 w 538"/>
                <a:gd name="T43" fmla="*/ 368 h 401"/>
                <a:gd name="T44" fmla="*/ 0 w 538"/>
                <a:gd name="T45" fmla="*/ 368 h 401"/>
                <a:gd name="T46" fmla="*/ 0 w 538"/>
                <a:gd name="T47" fmla="*/ 388 h 401"/>
                <a:gd name="T48" fmla="*/ 316 w 538"/>
                <a:gd name="T49" fmla="*/ 401 h 401"/>
                <a:gd name="T50" fmla="*/ 430 w 538"/>
                <a:gd name="T51" fmla="*/ 401 h 401"/>
                <a:gd name="T52" fmla="*/ 430 w 538"/>
                <a:gd name="T53" fmla="*/ 391 h 401"/>
                <a:gd name="T54" fmla="*/ 316 w 538"/>
                <a:gd name="T55" fmla="*/ 391 h 401"/>
                <a:gd name="T56" fmla="*/ 316 w 538"/>
                <a:gd name="T57" fmla="*/ 401 h 401"/>
                <a:gd name="T58" fmla="*/ 523 w 538"/>
                <a:gd name="T59" fmla="*/ 378 h 401"/>
                <a:gd name="T60" fmla="*/ 538 w 538"/>
                <a:gd name="T61" fmla="*/ 378 h 401"/>
                <a:gd name="T62" fmla="*/ 538 w 538"/>
                <a:gd name="T63" fmla="*/ 368 h 401"/>
                <a:gd name="T64" fmla="*/ 523 w 538"/>
                <a:gd name="T65" fmla="*/ 368 h 401"/>
                <a:gd name="T66" fmla="*/ 523 w 538"/>
                <a:gd name="T67" fmla="*/ 378 h 401"/>
                <a:gd name="T68" fmla="*/ 523 w 538"/>
                <a:gd name="T69" fmla="*/ 394 h 401"/>
                <a:gd name="T70" fmla="*/ 538 w 538"/>
                <a:gd name="T71" fmla="*/ 394 h 401"/>
                <a:gd name="T72" fmla="*/ 538 w 538"/>
                <a:gd name="T73" fmla="*/ 388 h 401"/>
                <a:gd name="T74" fmla="*/ 523 w 538"/>
                <a:gd name="T75" fmla="*/ 388 h 401"/>
                <a:gd name="T76" fmla="*/ 523 w 538"/>
                <a:gd name="T77" fmla="*/ 39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8" h="401">
                  <a:moveTo>
                    <a:pt x="452" y="285"/>
                  </a:moveTo>
                  <a:lnTo>
                    <a:pt x="472" y="285"/>
                  </a:lnTo>
                  <a:lnTo>
                    <a:pt x="472" y="278"/>
                  </a:lnTo>
                  <a:lnTo>
                    <a:pt x="452" y="278"/>
                  </a:lnTo>
                  <a:lnTo>
                    <a:pt x="452" y="285"/>
                  </a:lnTo>
                  <a:close/>
                  <a:moveTo>
                    <a:pt x="121" y="239"/>
                  </a:moveTo>
                  <a:lnTo>
                    <a:pt x="121" y="27"/>
                  </a:lnTo>
                  <a:lnTo>
                    <a:pt x="417" y="27"/>
                  </a:lnTo>
                  <a:lnTo>
                    <a:pt x="417" y="239"/>
                  </a:lnTo>
                  <a:lnTo>
                    <a:pt x="121" y="239"/>
                  </a:lnTo>
                  <a:close/>
                  <a:moveTo>
                    <a:pt x="108" y="252"/>
                  </a:moveTo>
                  <a:lnTo>
                    <a:pt x="430" y="252"/>
                  </a:lnTo>
                  <a:lnTo>
                    <a:pt x="430" y="14"/>
                  </a:lnTo>
                  <a:lnTo>
                    <a:pt x="446" y="14"/>
                  </a:lnTo>
                  <a:lnTo>
                    <a:pt x="446" y="0"/>
                  </a:lnTo>
                  <a:lnTo>
                    <a:pt x="96" y="0"/>
                  </a:lnTo>
                  <a:lnTo>
                    <a:pt x="96" y="265"/>
                  </a:lnTo>
                  <a:lnTo>
                    <a:pt x="108" y="265"/>
                  </a:lnTo>
                  <a:lnTo>
                    <a:pt x="108" y="252"/>
                  </a:lnTo>
                  <a:close/>
                  <a:moveTo>
                    <a:pt x="0" y="388"/>
                  </a:moveTo>
                  <a:lnTo>
                    <a:pt x="54" y="388"/>
                  </a:lnTo>
                  <a:lnTo>
                    <a:pt x="54" y="368"/>
                  </a:lnTo>
                  <a:lnTo>
                    <a:pt x="0" y="368"/>
                  </a:lnTo>
                  <a:lnTo>
                    <a:pt x="0" y="388"/>
                  </a:lnTo>
                  <a:close/>
                  <a:moveTo>
                    <a:pt x="316" y="401"/>
                  </a:moveTo>
                  <a:lnTo>
                    <a:pt x="430" y="401"/>
                  </a:lnTo>
                  <a:lnTo>
                    <a:pt x="430" y="391"/>
                  </a:lnTo>
                  <a:lnTo>
                    <a:pt x="316" y="391"/>
                  </a:lnTo>
                  <a:lnTo>
                    <a:pt x="316" y="401"/>
                  </a:lnTo>
                  <a:close/>
                  <a:moveTo>
                    <a:pt x="523" y="378"/>
                  </a:moveTo>
                  <a:lnTo>
                    <a:pt x="538" y="378"/>
                  </a:lnTo>
                  <a:lnTo>
                    <a:pt x="538" y="368"/>
                  </a:lnTo>
                  <a:lnTo>
                    <a:pt x="523" y="368"/>
                  </a:lnTo>
                  <a:lnTo>
                    <a:pt x="523" y="378"/>
                  </a:lnTo>
                  <a:close/>
                  <a:moveTo>
                    <a:pt x="523" y="394"/>
                  </a:moveTo>
                  <a:lnTo>
                    <a:pt x="538" y="394"/>
                  </a:lnTo>
                  <a:lnTo>
                    <a:pt x="538" y="388"/>
                  </a:lnTo>
                  <a:lnTo>
                    <a:pt x="523" y="388"/>
                  </a:lnTo>
                  <a:lnTo>
                    <a:pt x="523" y="394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1084" y="1257"/>
              <a:ext cx="43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 flipV="1">
              <a:off x="1193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 flipV="1">
              <a:off x="1301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22" name="Group 17"/>
          <p:cNvGrpSpPr>
            <a:grpSpLocks/>
          </p:cNvGrpSpPr>
          <p:nvPr/>
        </p:nvGrpSpPr>
        <p:grpSpPr bwMode="auto">
          <a:xfrm>
            <a:off x="7477125" y="6096001"/>
            <a:ext cx="371475" cy="381000"/>
            <a:chOff x="1014" y="912"/>
            <a:chExt cx="574" cy="596"/>
          </a:xfrm>
        </p:grpSpPr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1014" y="912"/>
              <a:ext cx="574" cy="596"/>
            </a:xfrm>
            <a:custGeom>
              <a:avLst/>
              <a:gdLst>
                <a:gd name="T0" fmla="*/ 124 w 574"/>
                <a:gd name="T1" fmla="*/ 391 h 596"/>
                <a:gd name="T2" fmla="*/ 0 w 574"/>
                <a:gd name="T3" fmla="*/ 391 h 596"/>
                <a:gd name="T4" fmla="*/ 0 w 574"/>
                <a:gd name="T5" fmla="*/ 596 h 596"/>
                <a:gd name="T6" fmla="*/ 574 w 574"/>
                <a:gd name="T7" fmla="*/ 596 h 596"/>
                <a:gd name="T8" fmla="*/ 574 w 574"/>
                <a:gd name="T9" fmla="*/ 391 h 596"/>
                <a:gd name="T10" fmla="*/ 446 w 574"/>
                <a:gd name="T11" fmla="*/ 391 h 596"/>
                <a:gd name="T12" fmla="*/ 446 w 574"/>
                <a:gd name="T13" fmla="*/ 364 h 596"/>
                <a:gd name="T14" fmla="*/ 500 w 574"/>
                <a:gd name="T15" fmla="*/ 364 h 596"/>
                <a:gd name="T16" fmla="*/ 500 w 574"/>
                <a:gd name="T17" fmla="*/ 0 h 596"/>
                <a:gd name="T18" fmla="*/ 70 w 574"/>
                <a:gd name="T19" fmla="*/ 0 h 596"/>
                <a:gd name="T20" fmla="*/ 70 w 574"/>
                <a:gd name="T21" fmla="*/ 364 h 596"/>
                <a:gd name="T22" fmla="*/ 124 w 574"/>
                <a:gd name="T23" fmla="*/ 364 h 596"/>
                <a:gd name="T24" fmla="*/ 124 w 574"/>
                <a:gd name="T25" fmla="*/ 39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4" h="596">
                  <a:moveTo>
                    <a:pt x="124" y="391"/>
                  </a:moveTo>
                  <a:lnTo>
                    <a:pt x="0" y="391"/>
                  </a:lnTo>
                  <a:lnTo>
                    <a:pt x="0" y="596"/>
                  </a:lnTo>
                  <a:lnTo>
                    <a:pt x="574" y="596"/>
                  </a:lnTo>
                  <a:lnTo>
                    <a:pt x="574" y="391"/>
                  </a:lnTo>
                  <a:lnTo>
                    <a:pt x="446" y="391"/>
                  </a:lnTo>
                  <a:lnTo>
                    <a:pt x="446" y="364"/>
                  </a:lnTo>
                  <a:lnTo>
                    <a:pt x="500" y="364"/>
                  </a:lnTo>
                  <a:lnTo>
                    <a:pt x="500" y="0"/>
                  </a:lnTo>
                  <a:lnTo>
                    <a:pt x="70" y="0"/>
                  </a:lnTo>
                  <a:lnTo>
                    <a:pt x="70" y="364"/>
                  </a:lnTo>
                  <a:lnTo>
                    <a:pt x="124" y="364"/>
                  </a:lnTo>
                  <a:lnTo>
                    <a:pt x="124" y="39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4" name="Line 19"/>
            <p:cNvSpPr>
              <a:spLocks noChangeShapeType="1"/>
            </p:cNvSpPr>
            <p:nvPr/>
          </p:nvSpPr>
          <p:spPr bwMode="auto">
            <a:xfrm>
              <a:off x="1138" y="1303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5" name="Line 20"/>
            <p:cNvSpPr>
              <a:spLocks noChangeShapeType="1"/>
            </p:cNvSpPr>
            <p:nvPr/>
          </p:nvSpPr>
          <p:spPr bwMode="auto">
            <a:xfrm>
              <a:off x="1138" y="1276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6" name="Freeform 21"/>
            <p:cNvSpPr>
              <a:spLocks noEditPoints="1"/>
            </p:cNvSpPr>
            <p:nvPr/>
          </p:nvSpPr>
          <p:spPr bwMode="auto">
            <a:xfrm>
              <a:off x="1310" y="1323"/>
              <a:ext cx="233" cy="168"/>
            </a:xfrm>
            <a:custGeom>
              <a:avLst/>
              <a:gdLst>
                <a:gd name="T0" fmla="*/ 0 w 233"/>
                <a:gd name="T1" fmla="*/ 168 h 168"/>
                <a:gd name="T2" fmla="*/ 188 w 233"/>
                <a:gd name="T3" fmla="*/ 168 h 168"/>
                <a:gd name="T4" fmla="*/ 188 w 233"/>
                <a:gd name="T5" fmla="*/ 0 h 168"/>
                <a:gd name="T6" fmla="*/ 0 w 233"/>
                <a:gd name="T7" fmla="*/ 0 h 168"/>
                <a:gd name="T8" fmla="*/ 0 w 233"/>
                <a:gd name="T9" fmla="*/ 168 h 168"/>
                <a:gd name="T10" fmla="*/ 204 w 233"/>
                <a:gd name="T11" fmla="*/ 26 h 168"/>
                <a:gd name="T12" fmla="*/ 233 w 233"/>
                <a:gd name="T13" fmla="*/ 26 h 168"/>
                <a:gd name="T14" fmla="*/ 233 w 233"/>
                <a:gd name="T15" fmla="*/ 0 h 168"/>
                <a:gd name="T16" fmla="*/ 204 w 233"/>
                <a:gd name="T17" fmla="*/ 0 h 168"/>
                <a:gd name="T18" fmla="*/ 204 w 233"/>
                <a:gd name="T19" fmla="*/ 2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3" h="168">
                  <a:moveTo>
                    <a:pt x="0" y="168"/>
                  </a:moveTo>
                  <a:lnTo>
                    <a:pt x="188" y="168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0" y="168"/>
                  </a:lnTo>
                  <a:close/>
                  <a:moveTo>
                    <a:pt x="204" y="26"/>
                  </a:moveTo>
                  <a:lnTo>
                    <a:pt x="233" y="26"/>
                  </a:lnTo>
                  <a:lnTo>
                    <a:pt x="233" y="0"/>
                  </a:lnTo>
                  <a:lnTo>
                    <a:pt x="204" y="0"/>
                  </a:lnTo>
                  <a:lnTo>
                    <a:pt x="204" y="26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1310" y="1379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1310" y="1435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>
              <a:off x="1317" y="1405"/>
              <a:ext cx="17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0" name="Rectangle 25"/>
            <p:cNvSpPr>
              <a:spLocks noChangeArrowheads="1"/>
            </p:cNvSpPr>
            <p:nvPr/>
          </p:nvSpPr>
          <p:spPr bwMode="auto">
            <a:xfrm>
              <a:off x="1416" y="1389"/>
              <a:ext cx="54" cy="36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1" name="Freeform 26"/>
            <p:cNvSpPr>
              <a:spLocks noEditPoints="1"/>
            </p:cNvSpPr>
            <p:nvPr/>
          </p:nvSpPr>
          <p:spPr bwMode="auto">
            <a:xfrm>
              <a:off x="1030" y="955"/>
              <a:ext cx="538" cy="401"/>
            </a:xfrm>
            <a:custGeom>
              <a:avLst/>
              <a:gdLst>
                <a:gd name="T0" fmla="*/ 452 w 538"/>
                <a:gd name="T1" fmla="*/ 285 h 401"/>
                <a:gd name="T2" fmla="*/ 472 w 538"/>
                <a:gd name="T3" fmla="*/ 285 h 401"/>
                <a:gd name="T4" fmla="*/ 472 w 538"/>
                <a:gd name="T5" fmla="*/ 278 h 401"/>
                <a:gd name="T6" fmla="*/ 452 w 538"/>
                <a:gd name="T7" fmla="*/ 278 h 401"/>
                <a:gd name="T8" fmla="*/ 452 w 538"/>
                <a:gd name="T9" fmla="*/ 285 h 401"/>
                <a:gd name="T10" fmla="*/ 121 w 538"/>
                <a:gd name="T11" fmla="*/ 239 h 401"/>
                <a:gd name="T12" fmla="*/ 121 w 538"/>
                <a:gd name="T13" fmla="*/ 27 h 401"/>
                <a:gd name="T14" fmla="*/ 417 w 538"/>
                <a:gd name="T15" fmla="*/ 27 h 401"/>
                <a:gd name="T16" fmla="*/ 417 w 538"/>
                <a:gd name="T17" fmla="*/ 239 h 401"/>
                <a:gd name="T18" fmla="*/ 121 w 538"/>
                <a:gd name="T19" fmla="*/ 239 h 401"/>
                <a:gd name="T20" fmla="*/ 108 w 538"/>
                <a:gd name="T21" fmla="*/ 252 h 401"/>
                <a:gd name="T22" fmla="*/ 430 w 538"/>
                <a:gd name="T23" fmla="*/ 252 h 401"/>
                <a:gd name="T24" fmla="*/ 430 w 538"/>
                <a:gd name="T25" fmla="*/ 14 h 401"/>
                <a:gd name="T26" fmla="*/ 446 w 538"/>
                <a:gd name="T27" fmla="*/ 14 h 401"/>
                <a:gd name="T28" fmla="*/ 446 w 538"/>
                <a:gd name="T29" fmla="*/ 0 h 401"/>
                <a:gd name="T30" fmla="*/ 96 w 538"/>
                <a:gd name="T31" fmla="*/ 0 h 401"/>
                <a:gd name="T32" fmla="*/ 96 w 538"/>
                <a:gd name="T33" fmla="*/ 265 h 401"/>
                <a:gd name="T34" fmla="*/ 108 w 538"/>
                <a:gd name="T35" fmla="*/ 265 h 401"/>
                <a:gd name="T36" fmla="*/ 108 w 538"/>
                <a:gd name="T37" fmla="*/ 252 h 401"/>
                <a:gd name="T38" fmla="*/ 0 w 538"/>
                <a:gd name="T39" fmla="*/ 388 h 401"/>
                <a:gd name="T40" fmla="*/ 54 w 538"/>
                <a:gd name="T41" fmla="*/ 388 h 401"/>
                <a:gd name="T42" fmla="*/ 54 w 538"/>
                <a:gd name="T43" fmla="*/ 368 h 401"/>
                <a:gd name="T44" fmla="*/ 0 w 538"/>
                <a:gd name="T45" fmla="*/ 368 h 401"/>
                <a:gd name="T46" fmla="*/ 0 w 538"/>
                <a:gd name="T47" fmla="*/ 388 h 401"/>
                <a:gd name="T48" fmla="*/ 316 w 538"/>
                <a:gd name="T49" fmla="*/ 401 h 401"/>
                <a:gd name="T50" fmla="*/ 430 w 538"/>
                <a:gd name="T51" fmla="*/ 401 h 401"/>
                <a:gd name="T52" fmla="*/ 430 w 538"/>
                <a:gd name="T53" fmla="*/ 391 h 401"/>
                <a:gd name="T54" fmla="*/ 316 w 538"/>
                <a:gd name="T55" fmla="*/ 391 h 401"/>
                <a:gd name="T56" fmla="*/ 316 w 538"/>
                <a:gd name="T57" fmla="*/ 401 h 401"/>
                <a:gd name="T58" fmla="*/ 523 w 538"/>
                <a:gd name="T59" fmla="*/ 378 h 401"/>
                <a:gd name="T60" fmla="*/ 538 w 538"/>
                <a:gd name="T61" fmla="*/ 378 h 401"/>
                <a:gd name="T62" fmla="*/ 538 w 538"/>
                <a:gd name="T63" fmla="*/ 368 h 401"/>
                <a:gd name="T64" fmla="*/ 523 w 538"/>
                <a:gd name="T65" fmla="*/ 368 h 401"/>
                <a:gd name="T66" fmla="*/ 523 w 538"/>
                <a:gd name="T67" fmla="*/ 378 h 401"/>
                <a:gd name="T68" fmla="*/ 523 w 538"/>
                <a:gd name="T69" fmla="*/ 394 h 401"/>
                <a:gd name="T70" fmla="*/ 538 w 538"/>
                <a:gd name="T71" fmla="*/ 394 h 401"/>
                <a:gd name="T72" fmla="*/ 538 w 538"/>
                <a:gd name="T73" fmla="*/ 388 h 401"/>
                <a:gd name="T74" fmla="*/ 523 w 538"/>
                <a:gd name="T75" fmla="*/ 388 h 401"/>
                <a:gd name="T76" fmla="*/ 523 w 538"/>
                <a:gd name="T77" fmla="*/ 39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8" h="401">
                  <a:moveTo>
                    <a:pt x="452" y="285"/>
                  </a:moveTo>
                  <a:lnTo>
                    <a:pt x="472" y="285"/>
                  </a:lnTo>
                  <a:lnTo>
                    <a:pt x="472" y="278"/>
                  </a:lnTo>
                  <a:lnTo>
                    <a:pt x="452" y="278"/>
                  </a:lnTo>
                  <a:lnTo>
                    <a:pt x="452" y="285"/>
                  </a:lnTo>
                  <a:close/>
                  <a:moveTo>
                    <a:pt x="121" y="239"/>
                  </a:moveTo>
                  <a:lnTo>
                    <a:pt x="121" y="27"/>
                  </a:lnTo>
                  <a:lnTo>
                    <a:pt x="417" y="27"/>
                  </a:lnTo>
                  <a:lnTo>
                    <a:pt x="417" y="239"/>
                  </a:lnTo>
                  <a:lnTo>
                    <a:pt x="121" y="239"/>
                  </a:lnTo>
                  <a:close/>
                  <a:moveTo>
                    <a:pt x="108" y="252"/>
                  </a:moveTo>
                  <a:lnTo>
                    <a:pt x="430" y="252"/>
                  </a:lnTo>
                  <a:lnTo>
                    <a:pt x="430" y="14"/>
                  </a:lnTo>
                  <a:lnTo>
                    <a:pt x="446" y="14"/>
                  </a:lnTo>
                  <a:lnTo>
                    <a:pt x="446" y="0"/>
                  </a:lnTo>
                  <a:lnTo>
                    <a:pt x="96" y="0"/>
                  </a:lnTo>
                  <a:lnTo>
                    <a:pt x="96" y="265"/>
                  </a:lnTo>
                  <a:lnTo>
                    <a:pt x="108" y="265"/>
                  </a:lnTo>
                  <a:lnTo>
                    <a:pt x="108" y="252"/>
                  </a:lnTo>
                  <a:close/>
                  <a:moveTo>
                    <a:pt x="0" y="388"/>
                  </a:moveTo>
                  <a:lnTo>
                    <a:pt x="54" y="388"/>
                  </a:lnTo>
                  <a:lnTo>
                    <a:pt x="54" y="368"/>
                  </a:lnTo>
                  <a:lnTo>
                    <a:pt x="0" y="368"/>
                  </a:lnTo>
                  <a:lnTo>
                    <a:pt x="0" y="388"/>
                  </a:lnTo>
                  <a:close/>
                  <a:moveTo>
                    <a:pt x="316" y="401"/>
                  </a:moveTo>
                  <a:lnTo>
                    <a:pt x="430" y="401"/>
                  </a:lnTo>
                  <a:lnTo>
                    <a:pt x="430" y="391"/>
                  </a:lnTo>
                  <a:lnTo>
                    <a:pt x="316" y="391"/>
                  </a:lnTo>
                  <a:lnTo>
                    <a:pt x="316" y="401"/>
                  </a:lnTo>
                  <a:close/>
                  <a:moveTo>
                    <a:pt x="523" y="378"/>
                  </a:moveTo>
                  <a:lnTo>
                    <a:pt x="538" y="378"/>
                  </a:lnTo>
                  <a:lnTo>
                    <a:pt x="538" y="368"/>
                  </a:lnTo>
                  <a:lnTo>
                    <a:pt x="523" y="368"/>
                  </a:lnTo>
                  <a:lnTo>
                    <a:pt x="523" y="378"/>
                  </a:lnTo>
                  <a:close/>
                  <a:moveTo>
                    <a:pt x="523" y="394"/>
                  </a:moveTo>
                  <a:lnTo>
                    <a:pt x="538" y="394"/>
                  </a:lnTo>
                  <a:lnTo>
                    <a:pt x="538" y="388"/>
                  </a:lnTo>
                  <a:lnTo>
                    <a:pt x="523" y="388"/>
                  </a:lnTo>
                  <a:lnTo>
                    <a:pt x="523" y="394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2" name="Line 27"/>
            <p:cNvSpPr>
              <a:spLocks noChangeShapeType="1"/>
            </p:cNvSpPr>
            <p:nvPr/>
          </p:nvSpPr>
          <p:spPr bwMode="auto">
            <a:xfrm>
              <a:off x="1084" y="1257"/>
              <a:ext cx="43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3" name="Line 28"/>
            <p:cNvSpPr>
              <a:spLocks noChangeShapeType="1"/>
            </p:cNvSpPr>
            <p:nvPr/>
          </p:nvSpPr>
          <p:spPr bwMode="auto">
            <a:xfrm flipV="1">
              <a:off x="1193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4" name="Line 29"/>
            <p:cNvSpPr>
              <a:spLocks noChangeShapeType="1"/>
            </p:cNvSpPr>
            <p:nvPr/>
          </p:nvSpPr>
          <p:spPr bwMode="auto">
            <a:xfrm flipV="1">
              <a:off x="1301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35" name="Group 30"/>
          <p:cNvGrpSpPr>
            <a:grpSpLocks/>
          </p:cNvGrpSpPr>
          <p:nvPr/>
        </p:nvGrpSpPr>
        <p:grpSpPr bwMode="auto">
          <a:xfrm>
            <a:off x="1219200" y="6096001"/>
            <a:ext cx="371475" cy="381000"/>
            <a:chOff x="1014" y="912"/>
            <a:chExt cx="574" cy="596"/>
          </a:xfrm>
        </p:grpSpPr>
        <p:sp>
          <p:nvSpPr>
            <p:cNvPr id="36" name="Freeform 31"/>
            <p:cNvSpPr>
              <a:spLocks/>
            </p:cNvSpPr>
            <p:nvPr/>
          </p:nvSpPr>
          <p:spPr bwMode="auto">
            <a:xfrm>
              <a:off x="1014" y="912"/>
              <a:ext cx="574" cy="596"/>
            </a:xfrm>
            <a:custGeom>
              <a:avLst/>
              <a:gdLst>
                <a:gd name="T0" fmla="*/ 124 w 574"/>
                <a:gd name="T1" fmla="*/ 391 h 596"/>
                <a:gd name="T2" fmla="*/ 0 w 574"/>
                <a:gd name="T3" fmla="*/ 391 h 596"/>
                <a:gd name="T4" fmla="*/ 0 w 574"/>
                <a:gd name="T5" fmla="*/ 596 h 596"/>
                <a:gd name="T6" fmla="*/ 574 w 574"/>
                <a:gd name="T7" fmla="*/ 596 h 596"/>
                <a:gd name="T8" fmla="*/ 574 w 574"/>
                <a:gd name="T9" fmla="*/ 391 h 596"/>
                <a:gd name="T10" fmla="*/ 446 w 574"/>
                <a:gd name="T11" fmla="*/ 391 h 596"/>
                <a:gd name="T12" fmla="*/ 446 w 574"/>
                <a:gd name="T13" fmla="*/ 364 h 596"/>
                <a:gd name="T14" fmla="*/ 500 w 574"/>
                <a:gd name="T15" fmla="*/ 364 h 596"/>
                <a:gd name="T16" fmla="*/ 500 w 574"/>
                <a:gd name="T17" fmla="*/ 0 h 596"/>
                <a:gd name="T18" fmla="*/ 70 w 574"/>
                <a:gd name="T19" fmla="*/ 0 h 596"/>
                <a:gd name="T20" fmla="*/ 70 w 574"/>
                <a:gd name="T21" fmla="*/ 364 h 596"/>
                <a:gd name="T22" fmla="*/ 124 w 574"/>
                <a:gd name="T23" fmla="*/ 364 h 596"/>
                <a:gd name="T24" fmla="*/ 124 w 574"/>
                <a:gd name="T25" fmla="*/ 39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4" h="596">
                  <a:moveTo>
                    <a:pt x="124" y="391"/>
                  </a:moveTo>
                  <a:lnTo>
                    <a:pt x="0" y="391"/>
                  </a:lnTo>
                  <a:lnTo>
                    <a:pt x="0" y="596"/>
                  </a:lnTo>
                  <a:lnTo>
                    <a:pt x="574" y="596"/>
                  </a:lnTo>
                  <a:lnTo>
                    <a:pt x="574" y="391"/>
                  </a:lnTo>
                  <a:lnTo>
                    <a:pt x="446" y="391"/>
                  </a:lnTo>
                  <a:lnTo>
                    <a:pt x="446" y="364"/>
                  </a:lnTo>
                  <a:lnTo>
                    <a:pt x="500" y="364"/>
                  </a:lnTo>
                  <a:lnTo>
                    <a:pt x="500" y="0"/>
                  </a:lnTo>
                  <a:lnTo>
                    <a:pt x="70" y="0"/>
                  </a:lnTo>
                  <a:lnTo>
                    <a:pt x="70" y="364"/>
                  </a:lnTo>
                  <a:lnTo>
                    <a:pt x="124" y="364"/>
                  </a:lnTo>
                  <a:lnTo>
                    <a:pt x="124" y="39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7" name="Line 32"/>
            <p:cNvSpPr>
              <a:spLocks noChangeShapeType="1"/>
            </p:cNvSpPr>
            <p:nvPr/>
          </p:nvSpPr>
          <p:spPr bwMode="auto">
            <a:xfrm>
              <a:off x="1138" y="1303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8" name="Line 33"/>
            <p:cNvSpPr>
              <a:spLocks noChangeShapeType="1"/>
            </p:cNvSpPr>
            <p:nvPr/>
          </p:nvSpPr>
          <p:spPr bwMode="auto">
            <a:xfrm>
              <a:off x="1138" y="1276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39" name="Freeform 34"/>
            <p:cNvSpPr>
              <a:spLocks noEditPoints="1"/>
            </p:cNvSpPr>
            <p:nvPr/>
          </p:nvSpPr>
          <p:spPr bwMode="auto">
            <a:xfrm>
              <a:off x="1310" y="1323"/>
              <a:ext cx="233" cy="168"/>
            </a:xfrm>
            <a:custGeom>
              <a:avLst/>
              <a:gdLst>
                <a:gd name="T0" fmla="*/ 0 w 233"/>
                <a:gd name="T1" fmla="*/ 168 h 168"/>
                <a:gd name="T2" fmla="*/ 188 w 233"/>
                <a:gd name="T3" fmla="*/ 168 h 168"/>
                <a:gd name="T4" fmla="*/ 188 w 233"/>
                <a:gd name="T5" fmla="*/ 0 h 168"/>
                <a:gd name="T6" fmla="*/ 0 w 233"/>
                <a:gd name="T7" fmla="*/ 0 h 168"/>
                <a:gd name="T8" fmla="*/ 0 w 233"/>
                <a:gd name="T9" fmla="*/ 168 h 168"/>
                <a:gd name="T10" fmla="*/ 204 w 233"/>
                <a:gd name="T11" fmla="*/ 26 h 168"/>
                <a:gd name="T12" fmla="*/ 233 w 233"/>
                <a:gd name="T13" fmla="*/ 26 h 168"/>
                <a:gd name="T14" fmla="*/ 233 w 233"/>
                <a:gd name="T15" fmla="*/ 0 h 168"/>
                <a:gd name="T16" fmla="*/ 204 w 233"/>
                <a:gd name="T17" fmla="*/ 0 h 168"/>
                <a:gd name="T18" fmla="*/ 204 w 233"/>
                <a:gd name="T19" fmla="*/ 2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3" h="168">
                  <a:moveTo>
                    <a:pt x="0" y="168"/>
                  </a:moveTo>
                  <a:lnTo>
                    <a:pt x="188" y="168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0" y="168"/>
                  </a:lnTo>
                  <a:close/>
                  <a:moveTo>
                    <a:pt x="204" y="26"/>
                  </a:moveTo>
                  <a:lnTo>
                    <a:pt x="233" y="26"/>
                  </a:lnTo>
                  <a:lnTo>
                    <a:pt x="233" y="0"/>
                  </a:lnTo>
                  <a:lnTo>
                    <a:pt x="204" y="0"/>
                  </a:lnTo>
                  <a:lnTo>
                    <a:pt x="204" y="26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0" name="Line 35"/>
            <p:cNvSpPr>
              <a:spLocks noChangeShapeType="1"/>
            </p:cNvSpPr>
            <p:nvPr/>
          </p:nvSpPr>
          <p:spPr bwMode="auto">
            <a:xfrm>
              <a:off x="1310" y="1379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1" name="Line 36"/>
            <p:cNvSpPr>
              <a:spLocks noChangeShapeType="1"/>
            </p:cNvSpPr>
            <p:nvPr/>
          </p:nvSpPr>
          <p:spPr bwMode="auto">
            <a:xfrm>
              <a:off x="1310" y="1435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2" name="Line 37"/>
            <p:cNvSpPr>
              <a:spLocks noChangeShapeType="1"/>
            </p:cNvSpPr>
            <p:nvPr/>
          </p:nvSpPr>
          <p:spPr bwMode="auto">
            <a:xfrm>
              <a:off x="1317" y="1405"/>
              <a:ext cx="17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3" name="Rectangle 38"/>
            <p:cNvSpPr>
              <a:spLocks noChangeArrowheads="1"/>
            </p:cNvSpPr>
            <p:nvPr/>
          </p:nvSpPr>
          <p:spPr bwMode="auto">
            <a:xfrm>
              <a:off x="1416" y="1389"/>
              <a:ext cx="54" cy="36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4" name="Freeform 39"/>
            <p:cNvSpPr>
              <a:spLocks noEditPoints="1"/>
            </p:cNvSpPr>
            <p:nvPr/>
          </p:nvSpPr>
          <p:spPr bwMode="auto">
            <a:xfrm>
              <a:off x="1030" y="955"/>
              <a:ext cx="538" cy="401"/>
            </a:xfrm>
            <a:custGeom>
              <a:avLst/>
              <a:gdLst>
                <a:gd name="T0" fmla="*/ 452 w 538"/>
                <a:gd name="T1" fmla="*/ 285 h 401"/>
                <a:gd name="T2" fmla="*/ 472 w 538"/>
                <a:gd name="T3" fmla="*/ 285 h 401"/>
                <a:gd name="T4" fmla="*/ 472 w 538"/>
                <a:gd name="T5" fmla="*/ 278 h 401"/>
                <a:gd name="T6" fmla="*/ 452 w 538"/>
                <a:gd name="T7" fmla="*/ 278 h 401"/>
                <a:gd name="T8" fmla="*/ 452 w 538"/>
                <a:gd name="T9" fmla="*/ 285 h 401"/>
                <a:gd name="T10" fmla="*/ 121 w 538"/>
                <a:gd name="T11" fmla="*/ 239 h 401"/>
                <a:gd name="T12" fmla="*/ 121 w 538"/>
                <a:gd name="T13" fmla="*/ 27 h 401"/>
                <a:gd name="T14" fmla="*/ 417 w 538"/>
                <a:gd name="T15" fmla="*/ 27 h 401"/>
                <a:gd name="T16" fmla="*/ 417 w 538"/>
                <a:gd name="T17" fmla="*/ 239 h 401"/>
                <a:gd name="T18" fmla="*/ 121 w 538"/>
                <a:gd name="T19" fmla="*/ 239 h 401"/>
                <a:gd name="T20" fmla="*/ 108 w 538"/>
                <a:gd name="T21" fmla="*/ 252 h 401"/>
                <a:gd name="T22" fmla="*/ 430 w 538"/>
                <a:gd name="T23" fmla="*/ 252 h 401"/>
                <a:gd name="T24" fmla="*/ 430 w 538"/>
                <a:gd name="T25" fmla="*/ 14 h 401"/>
                <a:gd name="T26" fmla="*/ 446 w 538"/>
                <a:gd name="T27" fmla="*/ 14 h 401"/>
                <a:gd name="T28" fmla="*/ 446 w 538"/>
                <a:gd name="T29" fmla="*/ 0 h 401"/>
                <a:gd name="T30" fmla="*/ 96 w 538"/>
                <a:gd name="T31" fmla="*/ 0 h 401"/>
                <a:gd name="T32" fmla="*/ 96 w 538"/>
                <a:gd name="T33" fmla="*/ 265 h 401"/>
                <a:gd name="T34" fmla="*/ 108 w 538"/>
                <a:gd name="T35" fmla="*/ 265 h 401"/>
                <a:gd name="T36" fmla="*/ 108 w 538"/>
                <a:gd name="T37" fmla="*/ 252 h 401"/>
                <a:gd name="T38" fmla="*/ 0 w 538"/>
                <a:gd name="T39" fmla="*/ 388 h 401"/>
                <a:gd name="T40" fmla="*/ 54 w 538"/>
                <a:gd name="T41" fmla="*/ 388 h 401"/>
                <a:gd name="T42" fmla="*/ 54 w 538"/>
                <a:gd name="T43" fmla="*/ 368 h 401"/>
                <a:gd name="T44" fmla="*/ 0 w 538"/>
                <a:gd name="T45" fmla="*/ 368 h 401"/>
                <a:gd name="T46" fmla="*/ 0 w 538"/>
                <a:gd name="T47" fmla="*/ 388 h 401"/>
                <a:gd name="T48" fmla="*/ 316 w 538"/>
                <a:gd name="T49" fmla="*/ 401 h 401"/>
                <a:gd name="T50" fmla="*/ 430 w 538"/>
                <a:gd name="T51" fmla="*/ 401 h 401"/>
                <a:gd name="T52" fmla="*/ 430 w 538"/>
                <a:gd name="T53" fmla="*/ 391 h 401"/>
                <a:gd name="T54" fmla="*/ 316 w 538"/>
                <a:gd name="T55" fmla="*/ 391 h 401"/>
                <a:gd name="T56" fmla="*/ 316 w 538"/>
                <a:gd name="T57" fmla="*/ 401 h 401"/>
                <a:gd name="T58" fmla="*/ 523 w 538"/>
                <a:gd name="T59" fmla="*/ 378 h 401"/>
                <a:gd name="T60" fmla="*/ 538 w 538"/>
                <a:gd name="T61" fmla="*/ 378 h 401"/>
                <a:gd name="T62" fmla="*/ 538 w 538"/>
                <a:gd name="T63" fmla="*/ 368 h 401"/>
                <a:gd name="T64" fmla="*/ 523 w 538"/>
                <a:gd name="T65" fmla="*/ 368 h 401"/>
                <a:gd name="T66" fmla="*/ 523 w 538"/>
                <a:gd name="T67" fmla="*/ 378 h 401"/>
                <a:gd name="T68" fmla="*/ 523 w 538"/>
                <a:gd name="T69" fmla="*/ 394 h 401"/>
                <a:gd name="T70" fmla="*/ 538 w 538"/>
                <a:gd name="T71" fmla="*/ 394 h 401"/>
                <a:gd name="T72" fmla="*/ 538 w 538"/>
                <a:gd name="T73" fmla="*/ 388 h 401"/>
                <a:gd name="T74" fmla="*/ 523 w 538"/>
                <a:gd name="T75" fmla="*/ 388 h 401"/>
                <a:gd name="T76" fmla="*/ 523 w 538"/>
                <a:gd name="T77" fmla="*/ 39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8" h="401">
                  <a:moveTo>
                    <a:pt x="452" y="285"/>
                  </a:moveTo>
                  <a:lnTo>
                    <a:pt x="472" y="285"/>
                  </a:lnTo>
                  <a:lnTo>
                    <a:pt x="472" y="278"/>
                  </a:lnTo>
                  <a:lnTo>
                    <a:pt x="452" y="278"/>
                  </a:lnTo>
                  <a:lnTo>
                    <a:pt x="452" y="285"/>
                  </a:lnTo>
                  <a:close/>
                  <a:moveTo>
                    <a:pt x="121" y="239"/>
                  </a:moveTo>
                  <a:lnTo>
                    <a:pt x="121" y="27"/>
                  </a:lnTo>
                  <a:lnTo>
                    <a:pt x="417" y="27"/>
                  </a:lnTo>
                  <a:lnTo>
                    <a:pt x="417" y="239"/>
                  </a:lnTo>
                  <a:lnTo>
                    <a:pt x="121" y="239"/>
                  </a:lnTo>
                  <a:close/>
                  <a:moveTo>
                    <a:pt x="108" y="252"/>
                  </a:moveTo>
                  <a:lnTo>
                    <a:pt x="430" y="252"/>
                  </a:lnTo>
                  <a:lnTo>
                    <a:pt x="430" y="14"/>
                  </a:lnTo>
                  <a:lnTo>
                    <a:pt x="446" y="14"/>
                  </a:lnTo>
                  <a:lnTo>
                    <a:pt x="446" y="0"/>
                  </a:lnTo>
                  <a:lnTo>
                    <a:pt x="96" y="0"/>
                  </a:lnTo>
                  <a:lnTo>
                    <a:pt x="96" y="265"/>
                  </a:lnTo>
                  <a:lnTo>
                    <a:pt x="108" y="265"/>
                  </a:lnTo>
                  <a:lnTo>
                    <a:pt x="108" y="252"/>
                  </a:lnTo>
                  <a:close/>
                  <a:moveTo>
                    <a:pt x="0" y="388"/>
                  </a:moveTo>
                  <a:lnTo>
                    <a:pt x="54" y="388"/>
                  </a:lnTo>
                  <a:lnTo>
                    <a:pt x="54" y="368"/>
                  </a:lnTo>
                  <a:lnTo>
                    <a:pt x="0" y="368"/>
                  </a:lnTo>
                  <a:lnTo>
                    <a:pt x="0" y="388"/>
                  </a:lnTo>
                  <a:close/>
                  <a:moveTo>
                    <a:pt x="316" y="401"/>
                  </a:moveTo>
                  <a:lnTo>
                    <a:pt x="430" y="401"/>
                  </a:lnTo>
                  <a:lnTo>
                    <a:pt x="430" y="391"/>
                  </a:lnTo>
                  <a:lnTo>
                    <a:pt x="316" y="391"/>
                  </a:lnTo>
                  <a:lnTo>
                    <a:pt x="316" y="401"/>
                  </a:lnTo>
                  <a:close/>
                  <a:moveTo>
                    <a:pt x="523" y="378"/>
                  </a:moveTo>
                  <a:lnTo>
                    <a:pt x="538" y="378"/>
                  </a:lnTo>
                  <a:lnTo>
                    <a:pt x="538" y="368"/>
                  </a:lnTo>
                  <a:lnTo>
                    <a:pt x="523" y="368"/>
                  </a:lnTo>
                  <a:lnTo>
                    <a:pt x="523" y="378"/>
                  </a:lnTo>
                  <a:close/>
                  <a:moveTo>
                    <a:pt x="523" y="394"/>
                  </a:moveTo>
                  <a:lnTo>
                    <a:pt x="538" y="394"/>
                  </a:lnTo>
                  <a:lnTo>
                    <a:pt x="538" y="388"/>
                  </a:lnTo>
                  <a:lnTo>
                    <a:pt x="523" y="388"/>
                  </a:lnTo>
                  <a:lnTo>
                    <a:pt x="523" y="394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5" name="Line 40"/>
            <p:cNvSpPr>
              <a:spLocks noChangeShapeType="1"/>
            </p:cNvSpPr>
            <p:nvPr/>
          </p:nvSpPr>
          <p:spPr bwMode="auto">
            <a:xfrm>
              <a:off x="1084" y="1257"/>
              <a:ext cx="43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6" name="Line 41"/>
            <p:cNvSpPr>
              <a:spLocks noChangeShapeType="1"/>
            </p:cNvSpPr>
            <p:nvPr/>
          </p:nvSpPr>
          <p:spPr bwMode="auto">
            <a:xfrm flipV="1">
              <a:off x="1193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47" name="Line 42"/>
            <p:cNvSpPr>
              <a:spLocks noChangeShapeType="1"/>
            </p:cNvSpPr>
            <p:nvPr/>
          </p:nvSpPr>
          <p:spPr bwMode="auto">
            <a:xfrm flipV="1">
              <a:off x="1301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48" name="Group 43"/>
          <p:cNvGrpSpPr>
            <a:grpSpLocks/>
          </p:cNvGrpSpPr>
          <p:nvPr/>
        </p:nvGrpSpPr>
        <p:grpSpPr bwMode="auto">
          <a:xfrm>
            <a:off x="2895600" y="6096001"/>
            <a:ext cx="371475" cy="381000"/>
            <a:chOff x="1014" y="912"/>
            <a:chExt cx="574" cy="596"/>
          </a:xfrm>
        </p:grpSpPr>
        <p:sp>
          <p:nvSpPr>
            <p:cNvPr id="49" name="Freeform 44"/>
            <p:cNvSpPr>
              <a:spLocks/>
            </p:cNvSpPr>
            <p:nvPr/>
          </p:nvSpPr>
          <p:spPr bwMode="auto">
            <a:xfrm>
              <a:off x="1014" y="912"/>
              <a:ext cx="574" cy="596"/>
            </a:xfrm>
            <a:custGeom>
              <a:avLst/>
              <a:gdLst>
                <a:gd name="T0" fmla="*/ 124 w 574"/>
                <a:gd name="T1" fmla="*/ 391 h 596"/>
                <a:gd name="T2" fmla="*/ 0 w 574"/>
                <a:gd name="T3" fmla="*/ 391 h 596"/>
                <a:gd name="T4" fmla="*/ 0 w 574"/>
                <a:gd name="T5" fmla="*/ 596 h 596"/>
                <a:gd name="T6" fmla="*/ 574 w 574"/>
                <a:gd name="T7" fmla="*/ 596 h 596"/>
                <a:gd name="T8" fmla="*/ 574 w 574"/>
                <a:gd name="T9" fmla="*/ 391 h 596"/>
                <a:gd name="T10" fmla="*/ 446 w 574"/>
                <a:gd name="T11" fmla="*/ 391 h 596"/>
                <a:gd name="T12" fmla="*/ 446 w 574"/>
                <a:gd name="T13" fmla="*/ 364 h 596"/>
                <a:gd name="T14" fmla="*/ 500 w 574"/>
                <a:gd name="T15" fmla="*/ 364 h 596"/>
                <a:gd name="T16" fmla="*/ 500 w 574"/>
                <a:gd name="T17" fmla="*/ 0 h 596"/>
                <a:gd name="T18" fmla="*/ 70 w 574"/>
                <a:gd name="T19" fmla="*/ 0 h 596"/>
                <a:gd name="T20" fmla="*/ 70 w 574"/>
                <a:gd name="T21" fmla="*/ 364 h 596"/>
                <a:gd name="T22" fmla="*/ 124 w 574"/>
                <a:gd name="T23" fmla="*/ 364 h 596"/>
                <a:gd name="T24" fmla="*/ 124 w 574"/>
                <a:gd name="T25" fmla="*/ 391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4" h="596">
                  <a:moveTo>
                    <a:pt x="124" y="391"/>
                  </a:moveTo>
                  <a:lnTo>
                    <a:pt x="0" y="391"/>
                  </a:lnTo>
                  <a:lnTo>
                    <a:pt x="0" y="596"/>
                  </a:lnTo>
                  <a:lnTo>
                    <a:pt x="574" y="596"/>
                  </a:lnTo>
                  <a:lnTo>
                    <a:pt x="574" y="391"/>
                  </a:lnTo>
                  <a:lnTo>
                    <a:pt x="446" y="391"/>
                  </a:lnTo>
                  <a:lnTo>
                    <a:pt x="446" y="364"/>
                  </a:lnTo>
                  <a:lnTo>
                    <a:pt x="500" y="364"/>
                  </a:lnTo>
                  <a:lnTo>
                    <a:pt x="500" y="0"/>
                  </a:lnTo>
                  <a:lnTo>
                    <a:pt x="70" y="0"/>
                  </a:lnTo>
                  <a:lnTo>
                    <a:pt x="70" y="364"/>
                  </a:lnTo>
                  <a:lnTo>
                    <a:pt x="124" y="364"/>
                  </a:lnTo>
                  <a:lnTo>
                    <a:pt x="124" y="39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0" name="Line 45"/>
            <p:cNvSpPr>
              <a:spLocks noChangeShapeType="1"/>
            </p:cNvSpPr>
            <p:nvPr/>
          </p:nvSpPr>
          <p:spPr bwMode="auto">
            <a:xfrm>
              <a:off x="1138" y="1303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1" name="Line 46"/>
            <p:cNvSpPr>
              <a:spLocks noChangeShapeType="1"/>
            </p:cNvSpPr>
            <p:nvPr/>
          </p:nvSpPr>
          <p:spPr bwMode="auto">
            <a:xfrm>
              <a:off x="1138" y="1276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2" name="Freeform 47"/>
            <p:cNvSpPr>
              <a:spLocks noEditPoints="1"/>
            </p:cNvSpPr>
            <p:nvPr/>
          </p:nvSpPr>
          <p:spPr bwMode="auto">
            <a:xfrm>
              <a:off x="1310" y="1323"/>
              <a:ext cx="233" cy="168"/>
            </a:xfrm>
            <a:custGeom>
              <a:avLst/>
              <a:gdLst>
                <a:gd name="T0" fmla="*/ 0 w 233"/>
                <a:gd name="T1" fmla="*/ 168 h 168"/>
                <a:gd name="T2" fmla="*/ 188 w 233"/>
                <a:gd name="T3" fmla="*/ 168 h 168"/>
                <a:gd name="T4" fmla="*/ 188 w 233"/>
                <a:gd name="T5" fmla="*/ 0 h 168"/>
                <a:gd name="T6" fmla="*/ 0 w 233"/>
                <a:gd name="T7" fmla="*/ 0 h 168"/>
                <a:gd name="T8" fmla="*/ 0 w 233"/>
                <a:gd name="T9" fmla="*/ 168 h 168"/>
                <a:gd name="T10" fmla="*/ 204 w 233"/>
                <a:gd name="T11" fmla="*/ 26 h 168"/>
                <a:gd name="T12" fmla="*/ 233 w 233"/>
                <a:gd name="T13" fmla="*/ 26 h 168"/>
                <a:gd name="T14" fmla="*/ 233 w 233"/>
                <a:gd name="T15" fmla="*/ 0 h 168"/>
                <a:gd name="T16" fmla="*/ 204 w 233"/>
                <a:gd name="T17" fmla="*/ 0 h 168"/>
                <a:gd name="T18" fmla="*/ 204 w 233"/>
                <a:gd name="T19" fmla="*/ 2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3" h="168">
                  <a:moveTo>
                    <a:pt x="0" y="168"/>
                  </a:moveTo>
                  <a:lnTo>
                    <a:pt x="188" y="168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0" y="168"/>
                  </a:lnTo>
                  <a:close/>
                  <a:moveTo>
                    <a:pt x="204" y="26"/>
                  </a:moveTo>
                  <a:lnTo>
                    <a:pt x="233" y="26"/>
                  </a:lnTo>
                  <a:lnTo>
                    <a:pt x="233" y="0"/>
                  </a:lnTo>
                  <a:lnTo>
                    <a:pt x="204" y="0"/>
                  </a:lnTo>
                  <a:lnTo>
                    <a:pt x="204" y="26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3" name="Line 48"/>
            <p:cNvSpPr>
              <a:spLocks noChangeShapeType="1"/>
            </p:cNvSpPr>
            <p:nvPr/>
          </p:nvSpPr>
          <p:spPr bwMode="auto">
            <a:xfrm>
              <a:off x="1310" y="1379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4" name="Line 49"/>
            <p:cNvSpPr>
              <a:spLocks noChangeShapeType="1"/>
            </p:cNvSpPr>
            <p:nvPr/>
          </p:nvSpPr>
          <p:spPr bwMode="auto">
            <a:xfrm>
              <a:off x="1310" y="1435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5" name="Line 50"/>
            <p:cNvSpPr>
              <a:spLocks noChangeShapeType="1"/>
            </p:cNvSpPr>
            <p:nvPr/>
          </p:nvSpPr>
          <p:spPr bwMode="auto">
            <a:xfrm>
              <a:off x="1317" y="1405"/>
              <a:ext cx="17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6" name="Rectangle 51"/>
            <p:cNvSpPr>
              <a:spLocks noChangeArrowheads="1"/>
            </p:cNvSpPr>
            <p:nvPr/>
          </p:nvSpPr>
          <p:spPr bwMode="auto">
            <a:xfrm>
              <a:off x="1416" y="1389"/>
              <a:ext cx="54" cy="36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7" name="Freeform 52"/>
            <p:cNvSpPr>
              <a:spLocks noEditPoints="1"/>
            </p:cNvSpPr>
            <p:nvPr/>
          </p:nvSpPr>
          <p:spPr bwMode="auto">
            <a:xfrm>
              <a:off x="1030" y="955"/>
              <a:ext cx="538" cy="401"/>
            </a:xfrm>
            <a:custGeom>
              <a:avLst/>
              <a:gdLst>
                <a:gd name="T0" fmla="*/ 452 w 538"/>
                <a:gd name="T1" fmla="*/ 285 h 401"/>
                <a:gd name="T2" fmla="*/ 472 w 538"/>
                <a:gd name="T3" fmla="*/ 285 h 401"/>
                <a:gd name="T4" fmla="*/ 472 w 538"/>
                <a:gd name="T5" fmla="*/ 278 h 401"/>
                <a:gd name="T6" fmla="*/ 452 w 538"/>
                <a:gd name="T7" fmla="*/ 278 h 401"/>
                <a:gd name="T8" fmla="*/ 452 w 538"/>
                <a:gd name="T9" fmla="*/ 285 h 401"/>
                <a:gd name="T10" fmla="*/ 121 w 538"/>
                <a:gd name="T11" fmla="*/ 239 h 401"/>
                <a:gd name="T12" fmla="*/ 121 w 538"/>
                <a:gd name="T13" fmla="*/ 27 h 401"/>
                <a:gd name="T14" fmla="*/ 417 w 538"/>
                <a:gd name="T15" fmla="*/ 27 h 401"/>
                <a:gd name="T16" fmla="*/ 417 w 538"/>
                <a:gd name="T17" fmla="*/ 239 h 401"/>
                <a:gd name="T18" fmla="*/ 121 w 538"/>
                <a:gd name="T19" fmla="*/ 239 h 401"/>
                <a:gd name="T20" fmla="*/ 108 w 538"/>
                <a:gd name="T21" fmla="*/ 252 h 401"/>
                <a:gd name="T22" fmla="*/ 430 w 538"/>
                <a:gd name="T23" fmla="*/ 252 h 401"/>
                <a:gd name="T24" fmla="*/ 430 w 538"/>
                <a:gd name="T25" fmla="*/ 14 h 401"/>
                <a:gd name="T26" fmla="*/ 446 w 538"/>
                <a:gd name="T27" fmla="*/ 14 h 401"/>
                <a:gd name="T28" fmla="*/ 446 w 538"/>
                <a:gd name="T29" fmla="*/ 0 h 401"/>
                <a:gd name="T30" fmla="*/ 96 w 538"/>
                <a:gd name="T31" fmla="*/ 0 h 401"/>
                <a:gd name="T32" fmla="*/ 96 w 538"/>
                <a:gd name="T33" fmla="*/ 265 h 401"/>
                <a:gd name="T34" fmla="*/ 108 w 538"/>
                <a:gd name="T35" fmla="*/ 265 h 401"/>
                <a:gd name="T36" fmla="*/ 108 w 538"/>
                <a:gd name="T37" fmla="*/ 252 h 401"/>
                <a:gd name="T38" fmla="*/ 0 w 538"/>
                <a:gd name="T39" fmla="*/ 388 h 401"/>
                <a:gd name="T40" fmla="*/ 54 w 538"/>
                <a:gd name="T41" fmla="*/ 388 h 401"/>
                <a:gd name="T42" fmla="*/ 54 w 538"/>
                <a:gd name="T43" fmla="*/ 368 h 401"/>
                <a:gd name="T44" fmla="*/ 0 w 538"/>
                <a:gd name="T45" fmla="*/ 368 h 401"/>
                <a:gd name="T46" fmla="*/ 0 w 538"/>
                <a:gd name="T47" fmla="*/ 388 h 401"/>
                <a:gd name="T48" fmla="*/ 316 w 538"/>
                <a:gd name="T49" fmla="*/ 401 h 401"/>
                <a:gd name="T50" fmla="*/ 430 w 538"/>
                <a:gd name="T51" fmla="*/ 401 h 401"/>
                <a:gd name="T52" fmla="*/ 430 w 538"/>
                <a:gd name="T53" fmla="*/ 391 h 401"/>
                <a:gd name="T54" fmla="*/ 316 w 538"/>
                <a:gd name="T55" fmla="*/ 391 h 401"/>
                <a:gd name="T56" fmla="*/ 316 w 538"/>
                <a:gd name="T57" fmla="*/ 401 h 401"/>
                <a:gd name="T58" fmla="*/ 523 w 538"/>
                <a:gd name="T59" fmla="*/ 378 h 401"/>
                <a:gd name="T60" fmla="*/ 538 w 538"/>
                <a:gd name="T61" fmla="*/ 378 h 401"/>
                <a:gd name="T62" fmla="*/ 538 w 538"/>
                <a:gd name="T63" fmla="*/ 368 h 401"/>
                <a:gd name="T64" fmla="*/ 523 w 538"/>
                <a:gd name="T65" fmla="*/ 368 h 401"/>
                <a:gd name="T66" fmla="*/ 523 w 538"/>
                <a:gd name="T67" fmla="*/ 378 h 401"/>
                <a:gd name="T68" fmla="*/ 523 w 538"/>
                <a:gd name="T69" fmla="*/ 394 h 401"/>
                <a:gd name="T70" fmla="*/ 538 w 538"/>
                <a:gd name="T71" fmla="*/ 394 h 401"/>
                <a:gd name="T72" fmla="*/ 538 w 538"/>
                <a:gd name="T73" fmla="*/ 388 h 401"/>
                <a:gd name="T74" fmla="*/ 523 w 538"/>
                <a:gd name="T75" fmla="*/ 388 h 401"/>
                <a:gd name="T76" fmla="*/ 523 w 538"/>
                <a:gd name="T77" fmla="*/ 39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8" h="401">
                  <a:moveTo>
                    <a:pt x="452" y="285"/>
                  </a:moveTo>
                  <a:lnTo>
                    <a:pt x="472" y="285"/>
                  </a:lnTo>
                  <a:lnTo>
                    <a:pt x="472" y="278"/>
                  </a:lnTo>
                  <a:lnTo>
                    <a:pt x="452" y="278"/>
                  </a:lnTo>
                  <a:lnTo>
                    <a:pt x="452" y="285"/>
                  </a:lnTo>
                  <a:close/>
                  <a:moveTo>
                    <a:pt x="121" y="239"/>
                  </a:moveTo>
                  <a:lnTo>
                    <a:pt x="121" y="27"/>
                  </a:lnTo>
                  <a:lnTo>
                    <a:pt x="417" y="27"/>
                  </a:lnTo>
                  <a:lnTo>
                    <a:pt x="417" y="239"/>
                  </a:lnTo>
                  <a:lnTo>
                    <a:pt x="121" y="239"/>
                  </a:lnTo>
                  <a:close/>
                  <a:moveTo>
                    <a:pt x="108" y="252"/>
                  </a:moveTo>
                  <a:lnTo>
                    <a:pt x="430" y="252"/>
                  </a:lnTo>
                  <a:lnTo>
                    <a:pt x="430" y="14"/>
                  </a:lnTo>
                  <a:lnTo>
                    <a:pt x="446" y="14"/>
                  </a:lnTo>
                  <a:lnTo>
                    <a:pt x="446" y="0"/>
                  </a:lnTo>
                  <a:lnTo>
                    <a:pt x="96" y="0"/>
                  </a:lnTo>
                  <a:lnTo>
                    <a:pt x="96" y="265"/>
                  </a:lnTo>
                  <a:lnTo>
                    <a:pt x="108" y="265"/>
                  </a:lnTo>
                  <a:lnTo>
                    <a:pt x="108" y="252"/>
                  </a:lnTo>
                  <a:close/>
                  <a:moveTo>
                    <a:pt x="0" y="388"/>
                  </a:moveTo>
                  <a:lnTo>
                    <a:pt x="54" y="388"/>
                  </a:lnTo>
                  <a:lnTo>
                    <a:pt x="54" y="368"/>
                  </a:lnTo>
                  <a:lnTo>
                    <a:pt x="0" y="368"/>
                  </a:lnTo>
                  <a:lnTo>
                    <a:pt x="0" y="388"/>
                  </a:lnTo>
                  <a:close/>
                  <a:moveTo>
                    <a:pt x="316" y="401"/>
                  </a:moveTo>
                  <a:lnTo>
                    <a:pt x="430" y="401"/>
                  </a:lnTo>
                  <a:lnTo>
                    <a:pt x="430" y="391"/>
                  </a:lnTo>
                  <a:lnTo>
                    <a:pt x="316" y="391"/>
                  </a:lnTo>
                  <a:lnTo>
                    <a:pt x="316" y="401"/>
                  </a:lnTo>
                  <a:close/>
                  <a:moveTo>
                    <a:pt x="523" y="378"/>
                  </a:moveTo>
                  <a:lnTo>
                    <a:pt x="538" y="378"/>
                  </a:lnTo>
                  <a:lnTo>
                    <a:pt x="538" y="368"/>
                  </a:lnTo>
                  <a:lnTo>
                    <a:pt x="523" y="368"/>
                  </a:lnTo>
                  <a:lnTo>
                    <a:pt x="523" y="378"/>
                  </a:lnTo>
                  <a:close/>
                  <a:moveTo>
                    <a:pt x="523" y="394"/>
                  </a:moveTo>
                  <a:lnTo>
                    <a:pt x="538" y="394"/>
                  </a:lnTo>
                  <a:lnTo>
                    <a:pt x="538" y="388"/>
                  </a:lnTo>
                  <a:lnTo>
                    <a:pt x="523" y="388"/>
                  </a:lnTo>
                  <a:lnTo>
                    <a:pt x="523" y="394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8" name="Line 53"/>
            <p:cNvSpPr>
              <a:spLocks noChangeShapeType="1"/>
            </p:cNvSpPr>
            <p:nvPr/>
          </p:nvSpPr>
          <p:spPr bwMode="auto">
            <a:xfrm>
              <a:off x="1084" y="1257"/>
              <a:ext cx="43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59" name="Line 54"/>
            <p:cNvSpPr>
              <a:spLocks noChangeShapeType="1"/>
            </p:cNvSpPr>
            <p:nvPr/>
          </p:nvSpPr>
          <p:spPr bwMode="auto">
            <a:xfrm flipV="1">
              <a:off x="1193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60" name="Line 55"/>
            <p:cNvSpPr>
              <a:spLocks noChangeShapeType="1"/>
            </p:cNvSpPr>
            <p:nvPr/>
          </p:nvSpPr>
          <p:spPr bwMode="auto">
            <a:xfrm flipV="1">
              <a:off x="1301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61" name="Group 56"/>
          <p:cNvGrpSpPr>
            <a:grpSpLocks/>
          </p:cNvGrpSpPr>
          <p:nvPr/>
        </p:nvGrpSpPr>
        <p:grpSpPr bwMode="auto">
          <a:xfrm>
            <a:off x="1371600" y="4572000"/>
            <a:ext cx="2179638" cy="1447800"/>
            <a:chOff x="832" y="1344"/>
            <a:chExt cx="1136" cy="1024"/>
          </a:xfrm>
        </p:grpSpPr>
        <p:sp>
          <p:nvSpPr>
            <p:cNvPr id="62" name="Oval 57"/>
            <p:cNvSpPr>
              <a:spLocks noChangeArrowheads="1"/>
            </p:cNvSpPr>
            <p:nvPr/>
          </p:nvSpPr>
          <p:spPr bwMode="auto">
            <a:xfrm>
              <a:off x="1220" y="1344"/>
              <a:ext cx="495" cy="424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solidFill>
                  <a:srgbClr val="0000FF"/>
                </a:solidFill>
                <a:latin typeface="+mn-lt"/>
              </a:endParaRPr>
            </a:p>
          </p:txBody>
        </p:sp>
        <p:sp>
          <p:nvSpPr>
            <p:cNvPr id="63" name="Oval 58"/>
            <p:cNvSpPr>
              <a:spLocks noChangeArrowheads="1"/>
            </p:cNvSpPr>
            <p:nvPr/>
          </p:nvSpPr>
          <p:spPr bwMode="auto">
            <a:xfrm>
              <a:off x="948" y="1455"/>
              <a:ext cx="379" cy="424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solidFill>
                  <a:srgbClr val="0000FF"/>
                </a:solidFill>
                <a:latin typeface="+mn-lt"/>
              </a:endParaRPr>
            </a:p>
          </p:txBody>
        </p:sp>
        <p:sp>
          <p:nvSpPr>
            <p:cNvPr id="64" name="Oval 59"/>
            <p:cNvSpPr>
              <a:spLocks noChangeArrowheads="1"/>
            </p:cNvSpPr>
            <p:nvPr/>
          </p:nvSpPr>
          <p:spPr bwMode="auto">
            <a:xfrm>
              <a:off x="832" y="1710"/>
              <a:ext cx="256" cy="306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solidFill>
                  <a:srgbClr val="0000FF"/>
                </a:solidFill>
                <a:latin typeface="+mn-lt"/>
              </a:endParaRPr>
            </a:p>
          </p:txBody>
        </p:sp>
        <p:sp>
          <p:nvSpPr>
            <p:cNvPr id="65" name="Oval 60"/>
            <p:cNvSpPr>
              <a:spLocks noChangeArrowheads="1"/>
            </p:cNvSpPr>
            <p:nvPr/>
          </p:nvSpPr>
          <p:spPr bwMode="auto">
            <a:xfrm>
              <a:off x="909" y="1862"/>
              <a:ext cx="435" cy="442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solidFill>
                  <a:srgbClr val="0000FF"/>
                </a:solidFill>
                <a:latin typeface="+mn-lt"/>
              </a:endParaRPr>
            </a:p>
          </p:txBody>
        </p:sp>
        <p:sp>
          <p:nvSpPr>
            <p:cNvPr id="66" name="Oval 61"/>
            <p:cNvSpPr>
              <a:spLocks noChangeArrowheads="1"/>
            </p:cNvSpPr>
            <p:nvPr/>
          </p:nvSpPr>
          <p:spPr bwMode="auto">
            <a:xfrm>
              <a:off x="1086" y="1924"/>
              <a:ext cx="671" cy="444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solidFill>
                  <a:srgbClr val="0000FF"/>
                </a:solidFill>
                <a:latin typeface="+mn-lt"/>
              </a:endParaRPr>
            </a:p>
          </p:txBody>
        </p:sp>
        <p:sp>
          <p:nvSpPr>
            <p:cNvPr id="67" name="Oval 62"/>
            <p:cNvSpPr>
              <a:spLocks noChangeArrowheads="1"/>
            </p:cNvSpPr>
            <p:nvPr/>
          </p:nvSpPr>
          <p:spPr bwMode="auto">
            <a:xfrm>
              <a:off x="1605" y="1488"/>
              <a:ext cx="311" cy="312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solidFill>
                  <a:srgbClr val="0000FF"/>
                </a:solidFill>
                <a:latin typeface="+mn-lt"/>
              </a:endParaRPr>
            </a:p>
          </p:txBody>
        </p:sp>
        <p:sp>
          <p:nvSpPr>
            <p:cNvPr id="68" name="Oval 63"/>
            <p:cNvSpPr>
              <a:spLocks noChangeArrowheads="1"/>
            </p:cNvSpPr>
            <p:nvPr/>
          </p:nvSpPr>
          <p:spPr bwMode="auto">
            <a:xfrm>
              <a:off x="1602" y="1681"/>
              <a:ext cx="366" cy="333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solidFill>
                  <a:srgbClr val="0000FF"/>
                </a:solidFill>
                <a:latin typeface="+mn-lt"/>
              </a:endParaRPr>
            </a:p>
          </p:txBody>
        </p:sp>
        <p:sp>
          <p:nvSpPr>
            <p:cNvPr id="69" name="Oval 64"/>
            <p:cNvSpPr>
              <a:spLocks noChangeArrowheads="1"/>
            </p:cNvSpPr>
            <p:nvPr/>
          </p:nvSpPr>
          <p:spPr bwMode="auto">
            <a:xfrm>
              <a:off x="1569" y="1751"/>
              <a:ext cx="364" cy="547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solidFill>
                  <a:srgbClr val="0000FF"/>
                </a:solidFill>
                <a:latin typeface="+mn-lt"/>
              </a:endParaRPr>
            </a:p>
          </p:txBody>
        </p:sp>
        <p:sp>
          <p:nvSpPr>
            <p:cNvPr id="70" name="Oval 65"/>
            <p:cNvSpPr>
              <a:spLocks noChangeArrowheads="1"/>
            </p:cNvSpPr>
            <p:nvPr/>
          </p:nvSpPr>
          <p:spPr bwMode="auto">
            <a:xfrm>
              <a:off x="912" y="1434"/>
              <a:ext cx="1008" cy="918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solidFill>
                  <a:srgbClr val="0000FF"/>
                </a:solidFill>
                <a:latin typeface="+mn-lt"/>
              </a:endParaRPr>
            </a:p>
          </p:txBody>
        </p:sp>
      </p:grpSp>
      <p:grpSp>
        <p:nvGrpSpPr>
          <p:cNvPr id="71" name="Group 66"/>
          <p:cNvGrpSpPr>
            <a:grpSpLocks/>
          </p:cNvGrpSpPr>
          <p:nvPr/>
        </p:nvGrpSpPr>
        <p:grpSpPr bwMode="auto">
          <a:xfrm>
            <a:off x="5440364" y="4572000"/>
            <a:ext cx="2179637" cy="1447800"/>
            <a:chOff x="832" y="1344"/>
            <a:chExt cx="1136" cy="1024"/>
          </a:xfrm>
        </p:grpSpPr>
        <p:sp>
          <p:nvSpPr>
            <p:cNvPr id="72" name="Oval 67"/>
            <p:cNvSpPr>
              <a:spLocks noChangeArrowheads="1"/>
            </p:cNvSpPr>
            <p:nvPr/>
          </p:nvSpPr>
          <p:spPr bwMode="auto">
            <a:xfrm>
              <a:off x="1220" y="1344"/>
              <a:ext cx="495" cy="424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3" name="Oval 68"/>
            <p:cNvSpPr>
              <a:spLocks noChangeArrowheads="1"/>
            </p:cNvSpPr>
            <p:nvPr/>
          </p:nvSpPr>
          <p:spPr bwMode="auto">
            <a:xfrm>
              <a:off x="948" y="1455"/>
              <a:ext cx="379" cy="424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4" name="Oval 69"/>
            <p:cNvSpPr>
              <a:spLocks noChangeArrowheads="1"/>
            </p:cNvSpPr>
            <p:nvPr/>
          </p:nvSpPr>
          <p:spPr bwMode="auto">
            <a:xfrm>
              <a:off x="832" y="1710"/>
              <a:ext cx="256" cy="306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5" name="Oval 70"/>
            <p:cNvSpPr>
              <a:spLocks noChangeArrowheads="1"/>
            </p:cNvSpPr>
            <p:nvPr/>
          </p:nvSpPr>
          <p:spPr bwMode="auto">
            <a:xfrm>
              <a:off x="909" y="1862"/>
              <a:ext cx="435" cy="442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6" name="Oval 71"/>
            <p:cNvSpPr>
              <a:spLocks noChangeArrowheads="1"/>
            </p:cNvSpPr>
            <p:nvPr/>
          </p:nvSpPr>
          <p:spPr bwMode="auto">
            <a:xfrm>
              <a:off x="1086" y="1924"/>
              <a:ext cx="671" cy="444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7" name="Oval 72"/>
            <p:cNvSpPr>
              <a:spLocks noChangeArrowheads="1"/>
            </p:cNvSpPr>
            <p:nvPr/>
          </p:nvSpPr>
          <p:spPr bwMode="auto">
            <a:xfrm>
              <a:off x="1605" y="1488"/>
              <a:ext cx="311" cy="312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8" name="Oval 73"/>
            <p:cNvSpPr>
              <a:spLocks noChangeArrowheads="1"/>
            </p:cNvSpPr>
            <p:nvPr/>
          </p:nvSpPr>
          <p:spPr bwMode="auto">
            <a:xfrm>
              <a:off x="1602" y="1681"/>
              <a:ext cx="366" cy="333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79" name="Oval 74"/>
            <p:cNvSpPr>
              <a:spLocks noChangeArrowheads="1"/>
            </p:cNvSpPr>
            <p:nvPr/>
          </p:nvSpPr>
          <p:spPr bwMode="auto">
            <a:xfrm>
              <a:off x="1569" y="1751"/>
              <a:ext cx="364" cy="547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0" name="Oval 75"/>
            <p:cNvSpPr>
              <a:spLocks noChangeArrowheads="1"/>
            </p:cNvSpPr>
            <p:nvPr/>
          </p:nvSpPr>
          <p:spPr bwMode="auto">
            <a:xfrm>
              <a:off x="912" y="1434"/>
              <a:ext cx="1008" cy="918"/>
            </a:xfrm>
            <a:prstGeom prst="ellipse">
              <a:avLst/>
            </a:prstGeom>
            <a:solidFill>
              <a:srgbClr val="99FF66"/>
            </a:solidFill>
            <a:ln w="9525">
              <a:solidFill>
                <a:srgbClr val="99FF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81" name="Group 76"/>
          <p:cNvGrpSpPr>
            <a:grpSpLocks/>
          </p:cNvGrpSpPr>
          <p:nvPr/>
        </p:nvGrpSpPr>
        <p:grpSpPr bwMode="auto">
          <a:xfrm>
            <a:off x="3276600" y="3962401"/>
            <a:ext cx="2438400" cy="1447800"/>
            <a:chOff x="832" y="1344"/>
            <a:chExt cx="1136" cy="1024"/>
          </a:xfrm>
        </p:grpSpPr>
        <p:sp>
          <p:nvSpPr>
            <p:cNvPr id="82" name="Oval 77"/>
            <p:cNvSpPr>
              <a:spLocks noChangeArrowheads="1"/>
            </p:cNvSpPr>
            <p:nvPr/>
          </p:nvSpPr>
          <p:spPr bwMode="auto">
            <a:xfrm>
              <a:off x="1220" y="1344"/>
              <a:ext cx="495" cy="424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3" name="Oval 78"/>
            <p:cNvSpPr>
              <a:spLocks noChangeArrowheads="1"/>
            </p:cNvSpPr>
            <p:nvPr/>
          </p:nvSpPr>
          <p:spPr bwMode="auto">
            <a:xfrm>
              <a:off x="948" y="1455"/>
              <a:ext cx="379" cy="424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4" name="Oval 79"/>
            <p:cNvSpPr>
              <a:spLocks noChangeArrowheads="1"/>
            </p:cNvSpPr>
            <p:nvPr/>
          </p:nvSpPr>
          <p:spPr bwMode="auto">
            <a:xfrm>
              <a:off x="832" y="1710"/>
              <a:ext cx="256" cy="306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5" name="Oval 80"/>
            <p:cNvSpPr>
              <a:spLocks noChangeArrowheads="1"/>
            </p:cNvSpPr>
            <p:nvPr/>
          </p:nvSpPr>
          <p:spPr bwMode="auto">
            <a:xfrm>
              <a:off x="909" y="1862"/>
              <a:ext cx="435" cy="442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6" name="Oval 81"/>
            <p:cNvSpPr>
              <a:spLocks noChangeArrowheads="1"/>
            </p:cNvSpPr>
            <p:nvPr/>
          </p:nvSpPr>
          <p:spPr bwMode="auto">
            <a:xfrm>
              <a:off x="1086" y="1924"/>
              <a:ext cx="671" cy="444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7" name="Oval 82"/>
            <p:cNvSpPr>
              <a:spLocks noChangeArrowheads="1"/>
            </p:cNvSpPr>
            <p:nvPr/>
          </p:nvSpPr>
          <p:spPr bwMode="auto">
            <a:xfrm>
              <a:off x="1605" y="1488"/>
              <a:ext cx="311" cy="312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8" name="Oval 83"/>
            <p:cNvSpPr>
              <a:spLocks noChangeArrowheads="1"/>
            </p:cNvSpPr>
            <p:nvPr/>
          </p:nvSpPr>
          <p:spPr bwMode="auto">
            <a:xfrm>
              <a:off x="1602" y="1681"/>
              <a:ext cx="366" cy="333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89" name="Oval 84"/>
            <p:cNvSpPr>
              <a:spLocks noChangeArrowheads="1"/>
            </p:cNvSpPr>
            <p:nvPr/>
          </p:nvSpPr>
          <p:spPr bwMode="auto">
            <a:xfrm>
              <a:off x="1569" y="1751"/>
              <a:ext cx="364" cy="547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90" name="Oval 85"/>
            <p:cNvSpPr>
              <a:spLocks noChangeArrowheads="1"/>
            </p:cNvSpPr>
            <p:nvPr/>
          </p:nvSpPr>
          <p:spPr bwMode="auto">
            <a:xfrm>
              <a:off x="912" y="1434"/>
              <a:ext cx="1008" cy="918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b="0">
                <a:latin typeface="+mn-lt"/>
              </a:endParaRPr>
            </a:p>
          </p:txBody>
        </p:sp>
      </p:grpSp>
      <p:sp>
        <p:nvSpPr>
          <p:cNvPr id="92" name="Text Box 87"/>
          <p:cNvSpPr txBox="1">
            <a:spLocks noChangeArrowheads="1"/>
          </p:cNvSpPr>
          <p:nvPr/>
        </p:nvSpPr>
        <p:spPr bwMode="auto">
          <a:xfrm>
            <a:off x="252488" y="6143637"/>
            <a:ext cx="867111" cy="335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31" tIns="44423" rIns="90431" bIns="44423">
            <a:spAutoFit/>
          </a:bodyPr>
          <a:lstStyle/>
          <a:p>
            <a:r>
              <a:rPr lang="en-US">
                <a:latin typeface="+mn-lt"/>
              </a:rPr>
              <a:t>Clients</a:t>
            </a:r>
          </a:p>
        </p:txBody>
      </p:sp>
      <p:sp>
        <p:nvSpPr>
          <p:cNvPr id="93" name="Freeform 88"/>
          <p:cNvSpPr>
            <a:spLocks/>
          </p:cNvSpPr>
          <p:nvPr/>
        </p:nvSpPr>
        <p:spPr bwMode="auto">
          <a:xfrm>
            <a:off x="1525600" y="3881439"/>
            <a:ext cx="3043237" cy="2211387"/>
          </a:xfrm>
          <a:custGeom>
            <a:avLst/>
            <a:gdLst>
              <a:gd name="T0" fmla="*/ 1920 w 1920"/>
              <a:gd name="T1" fmla="*/ 0 h 1392"/>
              <a:gd name="T2" fmla="*/ 1776 w 1920"/>
              <a:gd name="T3" fmla="*/ 192 h 1392"/>
              <a:gd name="T4" fmla="*/ 1488 w 1920"/>
              <a:gd name="T5" fmla="*/ 288 h 1392"/>
              <a:gd name="T6" fmla="*/ 864 w 1920"/>
              <a:gd name="T7" fmla="*/ 672 h 1392"/>
              <a:gd name="T8" fmla="*/ 288 w 1920"/>
              <a:gd name="T9" fmla="*/ 1056 h 1392"/>
              <a:gd name="T10" fmla="*/ 0 w 1920"/>
              <a:gd name="T11" fmla="*/ 1392 h 1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20" h="1392">
                <a:moveTo>
                  <a:pt x="1920" y="0"/>
                </a:moveTo>
                <a:lnTo>
                  <a:pt x="1776" y="192"/>
                </a:lnTo>
                <a:lnTo>
                  <a:pt x="1488" y="288"/>
                </a:lnTo>
                <a:lnTo>
                  <a:pt x="864" y="672"/>
                </a:lnTo>
                <a:lnTo>
                  <a:pt x="288" y="1056"/>
                </a:lnTo>
                <a:lnTo>
                  <a:pt x="0" y="1392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31" tIns="44423" rIns="90431" bIns="44423"/>
          <a:lstStyle/>
          <a:p>
            <a:endParaRPr lang="en-US" b="0">
              <a:latin typeface="+mn-lt"/>
            </a:endParaRPr>
          </a:p>
        </p:txBody>
      </p:sp>
      <p:sp>
        <p:nvSpPr>
          <p:cNvPr id="94" name="Freeform 89"/>
          <p:cNvSpPr>
            <a:spLocks/>
          </p:cNvSpPr>
          <p:nvPr/>
        </p:nvSpPr>
        <p:spPr bwMode="auto">
          <a:xfrm>
            <a:off x="3048000" y="3886200"/>
            <a:ext cx="1600200" cy="2209800"/>
          </a:xfrm>
          <a:custGeom>
            <a:avLst/>
            <a:gdLst>
              <a:gd name="T0" fmla="*/ 1008 w 1008"/>
              <a:gd name="T1" fmla="*/ 0 h 1296"/>
              <a:gd name="T2" fmla="*/ 864 w 1008"/>
              <a:gd name="T3" fmla="*/ 336 h 1296"/>
              <a:gd name="T4" fmla="*/ 0 w 1008"/>
              <a:gd name="T5" fmla="*/ 864 h 1296"/>
              <a:gd name="T6" fmla="*/ 0 w 1008"/>
              <a:gd name="T7" fmla="*/ 1296 h 1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296">
                <a:moveTo>
                  <a:pt x="1008" y="0"/>
                </a:moveTo>
                <a:lnTo>
                  <a:pt x="864" y="336"/>
                </a:lnTo>
                <a:lnTo>
                  <a:pt x="0" y="864"/>
                </a:lnTo>
                <a:lnTo>
                  <a:pt x="0" y="1296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31" tIns="44423" rIns="90431" bIns="44423"/>
          <a:lstStyle/>
          <a:p>
            <a:endParaRPr lang="en-US" b="0">
              <a:latin typeface="+mn-lt"/>
            </a:endParaRPr>
          </a:p>
        </p:txBody>
      </p:sp>
      <p:sp>
        <p:nvSpPr>
          <p:cNvPr id="95" name="Freeform 90"/>
          <p:cNvSpPr>
            <a:spLocks/>
          </p:cNvSpPr>
          <p:nvPr/>
        </p:nvSpPr>
        <p:spPr bwMode="auto">
          <a:xfrm>
            <a:off x="4724401" y="3886200"/>
            <a:ext cx="2895600" cy="2209800"/>
          </a:xfrm>
          <a:custGeom>
            <a:avLst/>
            <a:gdLst>
              <a:gd name="T0" fmla="*/ 0 w 1824"/>
              <a:gd name="T1" fmla="*/ 0 h 1392"/>
              <a:gd name="T2" fmla="*/ 384 w 1824"/>
              <a:gd name="T3" fmla="*/ 288 h 1392"/>
              <a:gd name="T4" fmla="*/ 672 w 1824"/>
              <a:gd name="T5" fmla="*/ 624 h 1392"/>
              <a:gd name="T6" fmla="*/ 1248 w 1824"/>
              <a:gd name="T7" fmla="*/ 672 h 1392"/>
              <a:gd name="T8" fmla="*/ 1824 w 1824"/>
              <a:gd name="T9" fmla="*/ 1392 h 1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24" h="1392">
                <a:moveTo>
                  <a:pt x="0" y="0"/>
                </a:moveTo>
                <a:lnTo>
                  <a:pt x="384" y="288"/>
                </a:lnTo>
                <a:lnTo>
                  <a:pt x="672" y="624"/>
                </a:lnTo>
                <a:lnTo>
                  <a:pt x="1248" y="672"/>
                </a:lnTo>
                <a:lnTo>
                  <a:pt x="1824" y="1392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31" tIns="44423" rIns="90431" bIns="44423"/>
          <a:lstStyle/>
          <a:p>
            <a:endParaRPr lang="en-US" b="0">
              <a:latin typeface="+mn-lt"/>
            </a:endParaRPr>
          </a:p>
        </p:txBody>
      </p:sp>
      <p:sp>
        <p:nvSpPr>
          <p:cNvPr id="96" name="Freeform 91"/>
          <p:cNvSpPr>
            <a:spLocks/>
          </p:cNvSpPr>
          <p:nvPr/>
        </p:nvSpPr>
        <p:spPr bwMode="auto">
          <a:xfrm>
            <a:off x="4648200" y="3886200"/>
            <a:ext cx="1600200" cy="2209800"/>
          </a:xfrm>
          <a:custGeom>
            <a:avLst/>
            <a:gdLst>
              <a:gd name="T0" fmla="*/ 0 w 1008"/>
              <a:gd name="T1" fmla="*/ 0 h 1392"/>
              <a:gd name="T2" fmla="*/ 384 w 1008"/>
              <a:gd name="T3" fmla="*/ 432 h 1392"/>
              <a:gd name="T4" fmla="*/ 672 w 1008"/>
              <a:gd name="T5" fmla="*/ 864 h 1392"/>
              <a:gd name="T6" fmla="*/ 912 w 1008"/>
              <a:gd name="T7" fmla="*/ 1008 h 1392"/>
              <a:gd name="T8" fmla="*/ 1008 w 1008"/>
              <a:gd name="T9" fmla="*/ 1392 h 1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08" h="1392">
                <a:moveTo>
                  <a:pt x="0" y="0"/>
                </a:moveTo>
                <a:lnTo>
                  <a:pt x="384" y="432"/>
                </a:lnTo>
                <a:lnTo>
                  <a:pt x="672" y="864"/>
                </a:lnTo>
                <a:lnTo>
                  <a:pt x="912" y="1008"/>
                </a:lnTo>
                <a:lnTo>
                  <a:pt x="1008" y="1392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31" tIns="44423" rIns="90431" bIns="44423"/>
          <a:lstStyle/>
          <a:p>
            <a:endParaRPr lang="en-US" b="0">
              <a:latin typeface="+mn-lt"/>
            </a:endParaRPr>
          </a:p>
        </p:txBody>
      </p:sp>
      <p:sp>
        <p:nvSpPr>
          <p:cNvPr id="97" name="Text Box 92"/>
          <p:cNvSpPr txBox="1">
            <a:spLocks noChangeArrowheads="1"/>
          </p:cNvSpPr>
          <p:nvPr/>
        </p:nvSpPr>
        <p:spPr bwMode="auto">
          <a:xfrm>
            <a:off x="4087196" y="4860267"/>
            <a:ext cx="1323004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31" tIns="44423" rIns="90431" bIns="44423">
            <a:spAutoFit/>
          </a:bodyPr>
          <a:lstStyle/>
          <a:p>
            <a:r>
              <a:rPr lang="en-US" b="0" dirty="0">
                <a:latin typeface="+mn-lt"/>
              </a:rPr>
              <a:t>Tier-1 ISP</a:t>
            </a:r>
          </a:p>
        </p:txBody>
      </p:sp>
      <p:sp>
        <p:nvSpPr>
          <p:cNvPr id="98" name="Text Box 93"/>
          <p:cNvSpPr txBox="1">
            <a:spLocks noChangeArrowheads="1"/>
          </p:cNvSpPr>
          <p:nvPr/>
        </p:nvSpPr>
        <p:spPr bwMode="auto">
          <a:xfrm>
            <a:off x="2048383" y="5562600"/>
            <a:ext cx="769068" cy="371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31" tIns="44423" rIns="90431" bIns="44423">
            <a:spAutoFit/>
          </a:bodyPr>
          <a:lstStyle/>
          <a:p>
            <a:r>
              <a:rPr lang="en-US" sz="1800" b="0" dirty="0">
                <a:latin typeface="+mn-lt"/>
              </a:rPr>
              <a:t>ISP-1</a:t>
            </a:r>
          </a:p>
        </p:txBody>
      </p:sp>
      <p:sp>
        <p:nvSpPr>
          <p:cNvPr id="99" name="Text Box 94"/>
          <p:cNvSpPr txBox="1">
            <a:spLocks noChangeArrowheads="1"/>
          </p:cNvSpPr>
          <p:nvPr/>
        </p:nvSpPr>
        <p:spPr bwMode="auto">
          <a:xfrm>
            <a:off x="6315583" y="5562600"/>
            <a:ext cx="769068" cy="371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31" tIns="44423" rIns="90431" bIns="44423">
            <a:spAutoFit/>
          </a:bodyPr>
          <a:lstStyle/>
          <a:p>
            <a:r>
              <a:rPr lang="en-US" sz="1800" b="0" dirty="0">
                <a:latin typeface="+mn-lt"/>
              </a:rPr>
              <a:t>ISP-2</a:t>
            </a:r>
          </a:p>
        </p:txBody>
      </p:sp>
      <p:graphicFrame>
        <p:nvGraphicFramePr>
          <p:cNvPr id="101" name="Object 2"/>
          <p:cNvGraphicFramePr>
            <a:graphicFrameLocks noChangeAspect="1"/>
          </p:cNvGraphicFramePr>
          <p:nvPr/>
        </p:nvGraphicFramePr>
        <p:xfrm>
          <a:off x="4562474" y="2566987"/>
          <a:ext cx="31432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2107949" imgH="3470495" progId="MS_ClipArt_Gallery.5">
                  <p:embed/>
                </p:oleObj>
              </mc:Choice>
              <mc:Fallback>
                <p:oleObj name="Clip" r:id="rId2" imgW="2107949" imgH="3470495" progId="MS_ClipArt_Gallery.5">
                  <p:embed/>
                  <p:pic>
                    <p:nvPicPr>
                      <p:cNvPr id="10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2474" y="2566987"/>
                        <a:ext cx="314325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" name="Rectangle 96"/>
          <p:cNvSpPr>
            <a:spLocks noChangeArrowheads="1"/>
          </p:cNvSpPr>
          <p:nvPr/>
        </p:nvSpPr>
        <p:spPr bwMode="auto">
          <a:xfrm>
            <a:off x="4114799" y="3586162"/>
            <a:ext cx="236538" cy="228600"/>
          </a:xfrm>
          <a:prstGeom prst="rect">
            <a:avLst/>
          </a:prstGeom>
          <a:solidFill>
            <a:srgbClr val="EAEAEA"/>
          </a:solidFill>
          <a:ln w="9525">
            <a:miter lim="800000"/>
            <a:headEnd/>
            <a:tailEnd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rgbClr val="EAEAEA"/>
            </a:extrusionClr>
          </a:sp3d>
        </p:spPr>
        <p:txBody>
          <a:bodyPr wrap="none" lIns="90431" tIns="44423" rIns="90431" bIns="44423" anchor="ctr">
            <a:flatTx/>
          </a:bodyPr>
          <a:lstStyle/>
          <a:p>
            <a:endParaRPr lang="en-US"/>
          </a:p>
        </p:txBody>
      </p:sp>
      <p:sp>
        <p:nvSpPr>
          <p:cNvPr id="103" name="Rectangle 97"/>
          <p:cNvSpPr>
            <a:spLocks noChangeArrowheads="1"/>
          </p:cNvSpPr>
          <p:nvPr/>
        </p:nvSpPr>
        <p:spPr bwMode="auto">
          <a:xfrm>
            <a:off x="4648199" y="3586162"/>
            <a:ext cx="236538" cy="228600"/>
          </a:xfrm>
          <a:prstGeom prst="rect">
            <a:avLst/>
          </a:prstGeom>
          <a:solidFill>
            <a:srgbClr val="EAEAEA"/>
          </a:solidFill>
          <a:ln w="9525">
            <a:miter lim="800000"/>
            <a:headEnd/>
            <a:tailEnd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rgbClr val="EAEAEA"/>
            </a:extrusionClr>
          </a:sp3d>
        </p:spPr>
        <p:txBody>
          <a:bodyPr wrap="none" lIns="90431" tIns="44423" rIns="90431" bIns="44423" anchor="ctr">
            <a:flatTx/>
          </a:bodyPr>
          <a:lstStyle/>
          <a:p>
            <a:endParaRPr lang="en-US"/>
          </a:p>
        </p:txBody>
      </p:sp>
      <p:sp>
        <p:nvSpPr>
          <p:cNvPr id="104" name="Rectangle 98"/>
          <p:cNvSpPr>
            <a:spLocks noChangeArrowheads="1"/>
          </p:cNvSpPr>
          <p:nvPr/>
        </p:nvSpPr>
        <p:spPr bwMode="auto">
          <a:xfrm>
            <a:off x="5105399" y="3586162"/>
            <a:ext cx="236538" cy="228600"/>
          </a:xfrm>
          <a:prstGeom prst="rect">
            <a:avLst/>
          </a:prstGeom>
          <a:solidFill>
            <a:srgbClr val="EAEAEA"/>
          </a:solidFill>
          <a:ln w="9525">
            <a:miter lim="800000"/>
            <a:headEnd/>
            <a:tailEnd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rgbClr val="EAEAEA"/>
            </a:extrusionClr>
          </a:sp3d>
        </p:spPr>
        <p:txBody>
          <a:bodyPr wrap="none" lIns="90431" tIns="44423" rIns="90431" bIns="44423" anchor="ctr">
            <a:flatTx/>
          </a:bodyPr>
          <a:lstStyle/>
          <a:p>
            <a:endParaRPr lang="en-US"/>
          </a:p>
        </p:txBody>
      </p:sp>
      <p:sp>
        <p:nvSpPr>
          <p:cNvPr id="105" name="Oval 99"/>
          <p:cNvSpPr>
            <a:spLocks noChangeArrowheads="1"/>
          </p:cNvSpPr>
          <p:nvPr/>
        </p:nvSpPr>
        <p:spPr bwMode="auto">
          <a:xfrm>
            <a:off x="3659187" y="3429000"/>
            <a:ext cx="1979612" cy="457200"/>
          </a:xfrm>
          <a:prstGeom prst="ellips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90431" tIns="44423" rIns="90431" bIns="44423" anchor="ctr"/>
          <a:lstStyle/>
          <a:p>
            <a:endParaRPr lang="en-US"/>
          </a:p>
        </p:txBody>
      </p:sp>
      <p:sp>
        <p:nvSpPr>
          <p:cNvPr id="106" name="Line 100"/>
          <p:cNvSpPr>
            <a:spLocks noChangeShapeType="1"/>
          </p:cNvSpPr>
          <p:nvPr/>
        </p:nvSpPr>
        <p:spPr bwMode="auto">
          <a:xfrm>
            <a:off x="4722824" y="3052763"/>
            <a:ext cx="1587" cy="3810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0431" tIns="44423" rIns="90431" bIns="44423"/>
          <a:lstStyle/>
          <a:p>
            <a:endParaRPr lang="en-US"/>
          </a:p>
        </p:txBody>
      </p:sp>
      <p:sp>
        <p:nvSpPr>
          <p:cNvPr id="107" name="Text Box 101"/>
          <p:cNvSpPr txBox="1">
            <a:spLocks noChangeArrowheads="1"/>
          </p:cNvSpPr>
          <p:nvPr/>
        </p:nvSpPr>
        <p:spPr bwMode="auto">
          <a:xfrm>
            <a:off x="1981200" y="3481399"/>
            <a:ext cx="1681142" cy="338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31" tIns="44423" rIns="90431" bIns="44423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600" b="0">
                <a:solidFill>
                  <a:srgbClr val="0000FF"/>
                </a:solidFill>
                <a:latin typeface="Arial" charset="0"/>
              </a:rPr>
              <a:t>Reverse proxies</a:t>
            </a:r>
          </a:p>
        </p:txBody>
      </p:sp>
      <p:sp>
        <p:nvSpPr>
          <p:cNvPr id="108" name="Rectangle 98"/>
          <p:cNvSpPr>
            <a:spLocks noChangeArrowheads="1"/>
          </p:cNvSpPr>
          <p:nvPr/>
        </p:nvSpPr>
        <p:spPr bwMode="auto">
          <a:xfrm>
            <a:off x="2303463" y="5262563"/>
            <a:ext cx="236537" cy="228600"/>
          </a:xfrm>
          <a:prstGeom prst="rect">
            <a:avLst/>
          </a:prstGeom>
          <a:solidFill>
            <a:srgbClr val="EAEAEA"/>
          </a:solidFill>
          <a:ln w="9525">
            <a:miter lim="800000"/>
            <a:headEnd/>
            <a:tailEnd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rgbClr val="EAEAEA"/>
            </a:extrusionClr>
          </a:sp3d>
        </p:spPr>
        <p:txBody>
          <a:bodyPr wrap="none" lIns="90431" tIns="44423" rIns="90431" bIns="44423" anchor="ctr">
            <a:flatTx/>
          </a:bodyPr>
          <a:lstStyle/>
          <a:p>
            <a:endParaRPr lang="en-US"/>
          </a:p>
        </p:txBody>
      </p:sp>
      <p:sp>
        <p:nvSpPr>
          <p:cNvPr id="109" name="Rectangle 99"/>
          <p:cNvSpPr>
            <a:spLocks noChangeArrowheads="1"/>
          </p:cNvSpPr>
          <p:nvPr/>
        </p:nvSpPr>
        <p:spPr bwMode="auto">
          <a:xfrm>
            <a:off x="2963863" y="5262563"/>
            <a:ext cx="236537" cy="228600"/>
          </a:xfrm>
          <a:prstGeom prst="rect">
            <a:avLst/>
          </a:prstGeom>
          <a:solidFill>
            <a:srgbClr val="EAEAEA"/>
          </a:solidFill>
          <a:ln w="9525">
            <a:miter lim="800000"/>
            <a:headEnd/>
            <a:tailEnd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rgbClr val="EAEAEA"/>
            </a:extrusionClr>
          </a:sp3d>
        </p:spPr>
        <p:txBody>
          <a:bodyPr wrap="none" lIns="90431" tIns="44423" rIns="90431" bIns="44423" anchor="ctr">
            <a:flatTx/>
          </a:bodyPr>
          <a:lstStyle/>
          <a:p>
            <a:endParaRPr lang="en-US"/>
          </a:p>
        </p:txBody>
      </p:sp>
      <p:sp>
        <p:nvSpPr>
          <p:cNvPr id="110" name="Oval 100"/>
          <p:cNvSpPr>
            <a:spLocks noChangeArrowheads="1"/>
          </p:cNvSpPr>
          <p:nvPr/>
        </p:nvSpPr>
        <p:spPr bwMode="auto">
          <a:xfrm>
            <a:off x="2074862" y="5105400"/>
            <a:ext cx="1260966" cy="457200"/>
          </a:xfrm>
          <a:prstGeom prst="ellipse">
            <a:avLst/>
          </a:prstGeom>
          <a:noFill/>
          <a:ln w="19050" cmpd="sng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90431" tIns="44423" rIns="90431" bIns="44423" anchor="ctr"/>
          <a:lstStyle/>
          <a:p>
            <a:endParaRPr lang="en-US">
              <a:solidFill>
                <a:srgbClr val="0000FF"/>
              </a:solidFill>
            </a:endParaRPr>
          </a:p>
        </p:txBody>
      </p:sp>
      <p:sp>
        <p:nvSpPr>
          <p:cNvPr id="111" name="Text Box 110"/>
          <p:cNvSpPr txBox="1">
            <a:spLocks noChangeArrowheads="1"/>
          </p:cNvSpPr>
          <p:nvPr/>
        </p:nvSpPr>
        <p:spPr bwMode="auto">
          <a:xfrm>
            <a:off x="398465" y="5076837"/>
            <a:ext cx="1669497" cy="338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31" tIns="44423" rIns="90431" bIns="44423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600" b="0" dirty="0">
                <a:solidFill>
                  <a:srgbClr val="0000FF"/>
                </a:solidFill>
                <a:latin typeface="Arial" charset="0"/>
              </a:rPr>
              <a:t>Forward proxies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0EDF8-B488-C741-B059-D0C0D4D51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769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Replicate popular Websites across many machines</a:t>
            </a:r>
          </a:p>
          <a:p>
            <a:pPr lvl="1"/>
            <a:r>
              <a:rPr lang="en-US" dirty="0"/>
              <a:t>Balance load across servers</a:t>
            </a:r>
          </a:p>
          <a:p>
            <a:pPr lvl="1"/>
            <a:r>
              <a:rPr lang="en-US" dirty="0"/>
              <a:t>Pairing clients with nearby servers to decrease latency and overall bandwidth usage</a:t>
            </a:r>
          </a:p>
          <a:p>
            <a:pPr lvl="1"/>
            <a:r>
              <a:rPr lang="en-US" dirty="0"/>
              <a:t>Helps when content isn’t cacheable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769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Distribution Networks (CDN)</a:t>
            </a:r>
          </a:p>
        </p:txBody>
      </p:sp>
      <p:sp>
        <p:nvSpPr>
          <p:cNvPr id="9933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Caching and replication as a service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Pull</a:t>
            </a:r>
            <a:r>
              <a:rPr lang="en-US" dirty="0"/>
              <a:t>: Direct result of clients</a:t>
            </a:r>
            <a:r>
              <a:rPr lang="ja-JP" altLang="en-US"/>
              <a:t>’</a:t>
            </a:r>
            <a:r>
              <a:rPr lang="en-US" dirty="0"/>
              <a:t>requests (caching)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Push</a:t>
            </a:r>
            <a:r>
              <a:rPr lang="en-US" dirty="0"/>
              <a:t>: Expectation of high access rate (replication)</a:t>
            </a:r>
          </a:p>
          <a:p>
            <a:endParaRPr lang="en-US" dirty="0"/>
          </a:p>
          <a:p>
            <a:r>
              <a:rPr lang="en-US" dirty="0"/>
              <a:t>Large-scale distributed storage infrastructure (usually) administered by </a:t>
            </a:r>
            <a:r>
              <a:rPr lang="en-US" dirty="0">
                <a:solidFill>
                  <a:srgbClr val="0000FF"/>
                </a:solidFill>
              </a:rPr>
              <a:t>one entity</a:t>
            </a:r>
          </a:p>
          <a:p>
            <a:pPr lvl="1"/>
            <a:r>
              <a:rPr lang="en-US" dirty="0"/>
              <a:t>e.g., Akamai is in 130 countries and 1200+ networks</a:t>
            </a:r>
          </a:p>
          <a:p>
            <a:endParaRPr lang="en-US" dirty="0"/>
          </a:p>
          <a:p>
            <a:r>
              <a:rPr lang="en-US" dirty="0"/>
              <a:t>Economies of scale → Statistical multiplexing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182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CDN example – Akamai</a:t>
            </a:r>
          </a:p>
        </p:txBody>
      </p:sp>
      <p:sp>
        <p:nvSpPr>
          <p:cNvPr id="1092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Akamai creates new domain names for each client</a:t>
            </a:r>
          </a:p>
          <a:p>
            <a:pPr lvl="1"/>
            <a:r>
              <a:rPr lang="en-US" dirty="0"/>
              <a:t>e.g., </a:t>
            </a:r>
            <a:r>
              <a:rPr lang="en-US" dirty="0">
                <a:solidFill>
                  <a:srgbClr val="0000FF"/>
                </a:solidFill>
              </a:rPr>
              <a:t>a128.g.akamai.net</a:t>
            </a:r>
            <a:r>
              <a:rPr lang="en-US" dirty="0"/>
              <a:t> for </a:t>
            </a:r>
            <a:r>
              <a:rPr lang="en-US" dirty="0" err="1">
                <a:solidFill>
                  <a:srgbClr val="0000FF"/>
                </a:solidFill>
              </a:rPr>
              <a:t>cnn.com</a:t>
            </a:r>
            <a:endParaRPr lang="en-US" dirty="0"/>
          </a:p>
          <a:p>
            <a:r>
              <a:rPr lang="en-US" dirty="0"/>
              <a:t>The client content provider modifies content so that embedded URLs reference new domains</a:t>
            </a:r>
          </a:p>
          <a:p>
            <a:pPr lvl="1"/>
            <a:r>
              <a:rPr lang="ja-JP" altLang="en-US" dirty="0"/>
              <a:t>“</a:t>
            </a:r>
            <a:r>
              <a:rPr lang="en-US" dirty="0" err="1"/>
              <a:t>Akamaize</a:t>
            </a:r>
            <a:r>
              <a:rPr lang="ja-JP" altLang="en-US" dirty="0"/>
              <a:t>”</a:t>
            </a:r>
            <a:r>
              <a:rPr lang="en-US" dirty="0"/>
              <a:t> content</a:t>
            </a:r>
          </a:p>
          <a:p>
            <a:pPr lvl="1"/>
            <a:r>
              <a:rPr lang="en-US" dirty="0"/>
              <a:t>e.g., </a:t>
            </a:r>
            <a:r>
              <a:rPr lang="en-US" dirty="0">
                <a:solidFill>
                  <a:srgbClr val="0000FF"/>
                </a:solidFill>
              </a:rPr>
              <a:t>http://</a:t>
            </a:r>
            <a:r>
              <a:rPr lang="en-US" dirty="0" err="1">
                <a:solidFill>
                  <a:srgbClr val="0000FF"/>
                </a:solidFill>
              </a:rPr>
              <a:t>www.cnn.com</a:t>
            </a:r>
            <a:r>
              <a:rPr lang="en-US" dirty="0">
                <a:solidFill>
                  <a:srgbClr val="0000FF"/>
                </a:solidFill>
              </a:rPr>
              <a:t>/image-of-the-</a:t>
            </a:r>
            <a:r>
              <a:rPr lang="en-US" dirty="0" err="1">
                <a:solidFill>
                  <a:srgbClr val="0000FF"/>
                </a:solidFill>
              </a:rPr>
              <a:t>day.gif</a:t>
            </a:r>
            <a:r>
              <a:rPr lang="en-US" dirty="0"/>
              <a:t> becomes </a:t>
            </a:r>
            <a:r>
              <a:rPr lang="en-US" dirty="0">
                <a:solidFill>
                  <a:srgbClr val="0000FF"/>
                </a:solidFill>
              </a:rPr>
              <a:t>http://a128.g.akamai.net/image-of-the-</a:t>
            </a:r>
            <a:r>
              <a:rPr lang="en-US" dirty="0" err="1">
                <a:solidFill>
                  <a:srgbClr val="0000FF"/>
                </a:solidFill>
              </a:rPr>
              <a:t>day.gif</a:t>
            </a:r>
            <a:endParaRPr lang="en-US" dirty="0"/>
          </a:p>
          <a:p>
            <a:r>
              <a:rPr lang="en-US" dirty="0"/>
              <a:t>Requests now sent to CDN’s infrastructure</a:t>
            </a:r>
          </a:p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82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261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3170C-8243-5647-85C8-529F02D36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CDN example – Akamai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B079B-3AAB-0E4C-B66E-EF6EFB5E1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 dirty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30DDA-266C-3C4D-9077-346D08D63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FF7C9-FA5B-1B49-B814-78AC0A3FE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28EF8-508C-A84D-8346-1C063C5B1ECB}"/>
              </a:ext>
            </a:extLst>
          </p:cNvPr>
          <p:cNvSpPr txBox="1"/>
          <p:nvPr/>
        </p:nvSpPr>
        <p:spPr>
          <a:xfrm>
            <a:off x="2425419" y="6096000"/>
            <a:ext cx="42931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0" dirty="0"/>
              <a:t>Retrieved on Jan 18, 2025 from https://</a:t>
            </a:r>
            <a:r>
              <a:rPr lang="en-US" sz="800" b="0" dirty="0" err="1"/>
              <a:t>www.akamai.com</a:t>
            </a:r>
            <a:r>
              <a:rPr lang="en-US" sz="800" b="0" dirty="0"/>
              <a:t>/why-akamai/global-infrastructure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911020F-C872-6684-010C-B4149AE5D5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1671" y="1600200"/>
            <a:ext cx="7213057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352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DNS: Domain name system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91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names &amp; addresses</a:t>
            </a:r>
          </a:p>
        </p:txBody>
      </p:sp>
      <p:sp>
        <p:nvSpPr>
          <p:cNvPr id="16220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addresses: e.g., 141.212.113.143</a:t>
            </a:r>
          </a:p>
          <a:p>
            <a:pPr lvl="1"/>
            <a:r>
              <a:rPr lang="en-US" dirty="0"/>
              <a:t>Router-usable labels for machines</a:t>
            </a:r>
          </a:p>
          <a:p>
            <a:pPr lvl="1"/>
            <a:r>
              <a:rPr lang="en-US" dirty="0"/>
              <a:t>Conforms to network structure (the “</a:t>
            </a:r>
            <a:r>
              <a:rPr lang="en-US" dirty="0">
                <a:solidFill>
                  <a:srgbClr val="0000FF"/>
                </a:solidFill>
              </a:rPr>
              <a:t>where</a:t>
            </a:r>
            <a:r>
              <a:rPr lang="en-US" dirty="0"/>
              <a:t>”)</a:t>
            </a:r>
          </a:p>
          <a:p>
            <a:r>
              <a:rPr lang="en-US" dirty="0"/>
              <a:t>Machine names: e.g., </a:t>
            </a:r>
            <a:r>
              <a:rPr lang="en-US" dirty="0" err="1"/>
              <a:t>cse.umich.edu</a:t>
            </a:r>
            <a:endParaRPr lang="en-US" dirty="0"/>
          </a:p>
          <a:p>
            <a:pPr lvl="1"/>
            <a:r>
              <a:rPr lang="en-US" dirty="0"/>
              <a:t>Human-usable labels for machines</a:t>
            </a:r>
          </a:p>
          <a:p>
            <a:pPr lvl="1"/>
            <a:r>
              <a:rPr lang="en-US" dirty="0"/>
              <a:t>Conforms to organizational structure (the “</a:t>
            </a:r>
            <a:r>
              <a:rPr lang="en-US" dirty="0">
                <a:solidFill>
                  <a:srgbClr val="0000FF"/>
                </a:solidFill>
              </a:rPr>
              <a:t>who</a:t>
            </a:r>
            <a:r>
              <a:rPr lang="en-US" dirty="0"/>
              <a:t>”)</a:t>
            </a:r>
          </a:p>
          <a:p>
            <a:r>
              <a:rPr lang="en-US" dirty="0"/>
              <a:t>The Domain Name System (DNS) is how we map from one to the other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0000FF"/>
                </a:solidFill>
              </a:rPr>
              <a:t>directory</a:t>
            </a:r>
            <a:r>
              <a:rPr lang="en-US" dirty="0"/>
              <a:t> service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47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2019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Convenience </a:t>
            </a:r>
          </a:p>
          <a:p>
            <a:pPr lvl="1"/>
            <a:r>
              <a:rPr lang="en-US" dirty="0"/>
              <a:t>Easier to remember</a:t>
            </a:r>
          </a:p>
          <a:p>
            <a:pPr lvl="1"/>
            <a:endParaRPr lang="en-US" dirty="0"/>
          </a:p>
          <a:p>
            <a:r>
              <a:rPr lang="en-US" dirty="0"/>
              <a:t>Provides a </a:t>
            </a:r>
            <a:r>
              <a:rPr lang="en-US" dirty="0">
                <a:solidFill>
                  <a:srgbClr val="0000FF"/>
                </a:solidFill>
              </a:rPr>
              <a:t>level of indirection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Decoupled names from addresses</a:t>
            </a:r>
          </a:p>
          <a:p>
            <a:pPr lvl="1"/>
            <a:r>
              <a:rPr lang="en-US" dirty="0"/>
              <a:t>Many uses beyond just naming a specific host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780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DNS: History</a:t>
            </a:r>
          </a:p>
        </p:txBody>
      </p:sp>
      <p:sp>
        <p:nvSpPr>
          <p:cNvPr id="16230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Initially all host-address mappings were in a </a:t>
            </a:r>
            <a:r>
              <a:rPr lang="en-US" dirty="0" err="1">
                <a:latin typeface="Lucida Console" charset="0"/>
                <a:ea typeface="Lucida Console" charset="0"/>
                <a:cs typeface="Lucida Console" charset="0"/>
              </a:rPr>
              <a:t>hosts.txt</a:t>
            </a:r>
            <a:r>
              <a:rPr lang="en-US" dirty="0"/>
              <a:t> file (in </a:t>
            </a:r>
            <a:r>
              <a:rPr lang="en-US" dirty="0">
                <a:latin typeface="Lucida Console" charset="0"/>
                <a:ea typeface="Lucida Console" charset="0"/>
                <a:cs typeface="Lucida Console" charset="0"/>
              </a:rPr>
              <a:t>/</a:t>
            </a:r>
            <a:r>
              <a:rPr lang="en-US" dirty="0" err="1">
                <a:latin typeface="Lucida Console" charset="0"/>
                <a:ea typeface="Lucida Console" charset="0"/>
                <a:cs typeface="Lucida Console" charset="0"/>
              </a:rPr>
              <a:t>etc</a:t>
            </a:r>
            <a:r>
              <a:rPr lang="en-US" dirty="0">
                <a:latin typeface="Lucida Console" charset="0"/>
                <a:ea typeface="Lucida Console" charset="0"/>
                <a:cs typeface="Lucida Console" charset="0"/>
              </a:rPr>
              <a:t>/hosts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Maintained by the Stanford Research Institute (SRI)</a:t>
            </a:r>
          </a:p>
          <a:p>
            <a:pPr lvl="1"/>
            <a:r>
              <a:rPr lang="en-US" dirty="0"/>
              <a:t>Changes were submitted by email and updates downloaded periodically from SRI</a:t>
            </a:r>
          </a:p>
          <a:p>
            <a:r>
              <a:rPr lang="en-US" dirty="0"/>
              <a:t>As the Internet grew SRI could not handle load</a:t>
            </a:r>
          </a:p>
          <a:p>
            <a:pPr lvl="1"/>
            <a:r>
              <a:rPr lang="en-US" dirty="0"/>
              <a:t>Names were not unique anymore</a:t>
            </a:r>
          </a:p>
          <a:p>
            <a:pPr lvl="1"/>
            <a:r>
              <a:rPr lang="en-US" dirty="0"/>
              <a:t>Hosts had inaccurate copies of </a:t>
            </a:r>
            <a:r>
              <a:rPr lang="en-US" dirty="0" err="1">
                <a:latin typeface="Lucida Console" charset="0"/>
                <a:ea typeface="Lucida Console" charset="0"/>
                <a:cs typeface="Lucida Console" charset="0"/>
              </a:rPr>
              <a:t>hosts.txt</a:t>
            </a:r>
            <a:endParaRPr lang="en-US" dirty="0"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38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DC2011A-1D2C-944C-B415-90D071E1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DNS: History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98B2FD5-9D95-214B-AFD8-DCD0069363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1983, the first stable operational DNS implementation included</a:t>
            </a:r>
          </a:p>
          <a:p>
            <a:pPr lvl="1"/>
            <a:r>
              <a:rPr lang="en-US" dirty="0"/>
              <a:t>The associated query protocol; </a:t>
            </a:r>
          </a:p>
          <a:p>
            <a:pPr lvl="1"/>
            <a:r>
              <a:rPr lang="en-US" dirty="0"/>
              <a:t>A server implementation; and </a:t>
            </a:r>
          </a:p>
          <a:p>
            <a:pPr lvl="1"/>
            <a:r>
              <a:rPr lang="en-US" dirty="0"/>
              <a:t>Initial root servers. </a:t>
            </a:r>
          </a:p>
          <a:p>
            <a:endParaRPr lang="en-US" dirty="0"/>
          </a:p>
          <a:p>
            <a:r>
              <a:rPr lang="en-US" dirty="0"/>
              <a:t>Since inception, DNS scaled from 1000s of queries/day to 10s of billions queries/day</a:t>
            </a:r>
          </a:p>
        </p:txBody>
      </p:sp>
      <p:pic>
        <p:nvPicPr>
          <p:cNvPr id="11" name="Content Placeholder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EB8B2ECE-9FAF-994E-B15E-38B1917632F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2756" y="1600200"/>
            <a:ext cx="2549488" cy="441960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F739E-A87A-F84D-A5BF-F2518A361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2D7E3-B844-6340-B16A-4A9BA041B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D62AB-84F1-B441-AF1D-9AB9D5511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58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Uniqueness: no naming conflicts</a:t>
            </a:r>
          </a:p>
          <a:p>
            <a:r>
              <a:rPr lang="en-US" dirty="0"/>
              <a:t>Scalable</a:t>
            </a:r>
          </a:p>
          <a:p>
            <a:pPr lvl="1"/>
            <a:r>
              <a:rPr lang="en-US" dirty="0"/>
              <a:t>Many names and frequent updates (secondary)</a:t>
            </a:r>
          </a:p>
          <a:p>
            <a:r>
              <a:rPr lang="en-US" dirty="0"/>
              <a:t>Distributed, autonomous administration</a:t>
            </a:r>
          </a:p>
          <a:p>
            <a:pPr lvl="1"/>
            <a:r>
              <a:rPr lang="en-US" dirty="0"/>
              <a:t>Ability to update my own (machines’) names </a:t>
            </a:r>
          </a:p>
          <a:p>
            <a:pPr lvl="1"/>
            <a:r>
              <a:rPr lang="en-US" dirty="0"/>
              <a:t>Don’t have to track everybody’s updates </a:t>
            </a:r>
          </a:p>
          <a:p>
            <a:r>
              <a:rPr lang="en-US" dirty="0"/>
              <a:t>Highly available</a:t>
            </a:r>
          </a:p>
          <a:p>
            <a:r>
              <a:rPr lang="en-US" dirty="0"/>
              <a:t>Lookups are fast</a:t>
            </a:r>
          </a:p>
          <a:p>
            <a:r>
              <a:rPr lang="en-US" dirty="0"/>
              <a:t>Perfect consistency is a </a:t>
            </a:r>
            <a:r>
              <a:rPr lang="en-US" dirty="0">
                <a:solidFill>
                  <a:srgbClr val="0000FF"/>
                </a:solidFill>
              </a:rPr>
              <a:t>non-goal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697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Partition the namespace </a:t>
            </a:r>
          </a:p>
          <a:p>
            <a:r>
              <a:rPr lang="en-US" dirty="0"/>
              <a:t>Distribute administration of each partition</a:t>
            </a:r>
          </a:p>
          <a:p>
            <a:pPr lvl="1"/>
            <a:r>
              <a:rPr lang="en-US" dirty="0"/>
              <a:t>Autonomy to update my own (machines’) names </a:t>
            </a:r>
          </a:p>
          <a:p>
            <a:pPr lvl="1"/>
            <a:r>
              <a:rPr lang="en-US" dirty="0"/>
              <a:t>Don’t have to track everybody’s updates  </a:t>
            </a:r>
          </a:p>
          <a:p>
            <a:r>
              <a:rPr lang="en-US" dirty="0"/>
              <a:t>Distribute name resolution for each partition</a:t>
            </a:r>
          </a:p>
          <a:p>
            <a:r>
              <a:rPr lang="en-US" dirty="0"/>
              <a:t>How should we partition things?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071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idea: Hierarchy</a:t>
            </a:r>
            <a:endParaRPr lang="en-US" dirty="0"/>
          </a:p>
        </p:txBody>
      </p:sp>
      <p:sp>
        <p:nvSpPr>
          <p:cNvPr id="1468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Three intertwined hierarchies </a:t>
            </a:r>
          </a:p>
          <a:p>
            <a:pPr lvl="1"/>
            <a:r>
              <a:rPr lang="en-US" dirty="0"/>
              <a:t>Hierarchical namespace</a:t>
            </a:r>
          </a:p>
          <a:p>
            <a:pPr lvl="2"/>
            <a:r>
              <a:rPr lang="en-US" dirty="0"/>
              <a:t>As opposed to original flat namespace</a:t>
            </a:r>
          </a:p>
          <a:p>
            <a:pPr lvl="1"/>
            <a:r>
              <a:rPr lang="en-US" dirty="0"/>
              <a:t>Hierarchically administered</a:t>
            </a:r>
          </a:p>
          <a:p>
            <a:pPr lvl="2"/>
            <a:r>
              <a:rPr lang="en-US" dirty="0"/>
              <a:t>As opposed to centralized </a:t>
            </a:r>
          </a:p>
          <a:p>
            <a:pPr lvl="1"/>
            <a:r>
              <a:rPr lang="en-US" dirty="0"/>
              <a:t>(Distributed) hierarchy of servers</a:t>
            </a:r>
          </a:p>
          <a:p>
            <a:pPr lvl="2"/>
            <a:r>
              <a:rPr lang="en-US" dirty="0"/>
              <a:t>As opposed to centralized storage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263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8419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namespace</a:t>
            </a:r>
          </a:p>
        </p:txBody>
      </p:sp>
      <p:sp>
        <p:nvSpPr>
          <p:cNvPr id="14694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189288" y="3200400"/>
            <a:ext cx="5954712" cy="2971800"/>
          </a:xfrm>
        </p:spPr>
        <p:txBody>
          <a:bodyPr/>
          <a:lstStyle/>
          <a:p>
            <a:pPr marL="342900" indent="-342900"/>
            <a:r>
              <a:rPr lang="ja-JP" altLang="en-US" sz="2400" dirty="0">
                <a:latin typeface="Arial"/>
              </a:rPr>
              <a:t>“</a:t>
            </a:r>
            <a:r>
              <a:rPr lang="en-US" sz="2400" dirty="0"/>
              <a:t>Top Level Domains</a:t>
            </a:r>
            <a:r>
              <a:rPr lang="ja-JP" altLang="en-US" sz="2400" dirty="0">
                <a:latin typeface="Arial"/>
              </a:rPr>
              <a:t>”</a:t>
            </a:r>
            <a:r>
              <a:rPr lang="en-US" sz="2400" dirty="0"/>
              <a:t> are at the top</a:t>
            </a:r>
          </a:p>
          <a:p>
            <a:r>
              <a:rPr lang="en-US" sz="2400" dirty="0"/>
              <a:t>Domains are subtrees</a:t>
            </a:r>
          </a:p>
          <a:p>
            <a:pPr marL="669925" lvl="1" indent="-325438"/>
            <a:r>
              <a:rPr lang="en-US" sz="2000" dirty="0"/>
              <a:t>e.g., .</a:t>
            </a:r>
            <a:r>
              <a:rPr lang="en-US" sz="2000" dirty="0" err="1"/>
              <a:t>edu</a:t>
            </a:r>
            <a:r>
              <a:rPr lang="en-US" sz="2000" dirty="0"/>
              <a:t>, </a:t>
            </a:r>
            <a:r>
              <a:rPr lang="en-US" sz="2000" dirty="0" err="1"/>
              <a:t>umich.edu</a:t>
            </a:r>
            <a:r>
              <a:rPr lang="en-US" sz="2000" dirty="0"/>
              <a:t>, </a:t>
            </a:r>
            <a:r>
              <a:rPr lang="en-US" sz="2000" dirty="0" err="1"/>
              <a:t>eecs.umich.edu</a:t>
            </a:r>
            <a:endParaRPr lang="en-US" sz="2400" dirty="0"/>
          </a:p>
          <a:p>
            <a:pPr marL="342900" indent="-342900"/>
            <a:r>
              <a:rPr lang="en-US" sz="2400" dirty="0"/>
              <a:t>Name is leaf-to-root path</a:t>
            </a:r>
          </a:p>
          <a:p>
            <a:pPr lvl="1" indent="-342900"/>
            <a:r>
              <a:rPr lang="en-US" sz="2000" dirty="0" err="1"/>
              <a:t>cse.eecs.umich.edu</a:t>
            </a:r>
            <a:endParaRPr lang="en-US" sz="2000" dirty="0"/>
          </a:p>
          <a:p>
            <a:pPr marL="342900" indent="-342900"/>
            <a:r>
              <a:rPr lang="en-US" sz="2400" dirty="0"/>
              <a:t>Depth of tree is arbitrary (limit 128)</a:t>
            </a:r>
          </a:p>
          <a:p>
            <a:pPr marL="342900" indent="-342900"/>
            <a:r>
              <a:rPr lang="en-US" sz="2400" dirty="0"/>
              <a:t>Name collisions trivially avoided</a:t>
            </a:r>
          </a:p>
          <a:p>
            <a:pPr marL="669925" lvl="1" indent="-325438"/>
            <a:r>
              <a:rPr lang="en-US" sz="2000" dirty="0"/>
              <a:t>Each domain is responsible</a:t>
            </a:r>
          </a:p>
        </p:txBody>
      </p:sp>
      <p:sp>
        <p:nvSpPr>
          <p:cNvPr id="1469444" name="Text Box 4"/>
          <p:cNvSpPr txBox="1">
            <a:spLocks noChangeArrowheads="1"/>
          </p:cNvSpPr>
          <p:nvPr/>
        </p:nvSpPr>
        <p:spPr bwMode="auto">
          <a:xfrm>
            <a:off x="4304416" y="1462033"/>
            <a:ext cx="5746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root</a:t>
            </a:r>
          </a:p>
        </p:txBody>
      </p:sp>
      <p:sp>
        <p:nvSpPr>
          <p:cNvPr id="1469445" name="Text Box 5"/>
          <p:cNvSpPr txBox="1">
            <a:spLocks noChangeArrowheads="1"/>
          </p:cNvSpPr>
          <p:nvPr/>
        </p:nvSpPr>
        <p:spPr bwMode="auto">
          <a:xfrm>
            <a:off x="1216729" y="2528833"/>
            <a:ext cx="561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edu</a:t>
            </a:r>
          </a:p>
        </p:txBody>
      </p:sp>
      <p:sp>
        <p:nvSpPr>
          <p:cNvPr id="1469446" name="Text Box 6"/>
          <p:cNvSpPr txBox="1">
            <a:spLocks noChangeArrowheads="1"/>
          </p:cNvSpPr>
          <p:nvPr/>
        </p:nvSpPr>
        <p:spPr bwMode="auto">
          <a:xfrm>
            <a:off x="2370841" y="2546296"/>
            <a:ext cx="612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com</a:t>
            </a:r>
          </a:p>
        </p:txBody>
      </p:sp>
      <p:sp>
        <p:nvSpPr>
          <p:cNvPr id="1469447" name="Text Box 7"/>
          <p:cNvSpPr txBox="1">
            <a:spLocks noChangeArrowheads="1"/>
          </p:cNvSpPr>
          <p:nvPr/>
        </p:nvSpPr>
        <p:spPr bwMode="auto">
          <a:xfrm>
            <a:off x="3596391" y="2528833"/>
            <a:ext cx="549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gov</a:t>
            </a:r>
          </a:p>
        </p:txBody>
      </p:sp>
      <p:sp>
        <p:nvSpPr>
          <p:cNvPr id="1469448" name="Text Box 8"/>
          <p:cNvSpPr txBox="1">
            <a:spLocks noChangeArrowheads="1"/>
          </p:cNvSpPr>
          <p:nvPr/>
        </p:nvSpPr>
        <p:spPr bwMode="auto">
          <a:xfrm>
            <a:off x="4802891" y="2528833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mil</a:t>
            </a:r>
          </a:p>
        </p:txBody>
      </p:sp>
      <p:sp>
        <p:nvSpPr>
          <p:cNvPr id="1469449" name="Text Box 9"/>
          <p:cNvSpPr txBox="1">
            <a:spLocks noChangeArrowheads="1"/>
          </p:cNvSpPr>
          <p:nvPr/>
        </p:nvSpPr>
        <p:spPr bwMode="auto">
          <a:xfrm>
            <a:off x="5666491" y="2546296"/>
            <a:ext cx="511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 dirty="0">
                <a:cs typeface="Arial" charset="0"/>
              </a:rPr>
              <a:t>org</a:t>
            </a:r>
          </a:p>
        </p:txBody>
      </p:sp>
      <p:sp>
        <p:nvSpPr>
          <p:cNvPr id="1469450" name="Text Box 10"/>
          <p:cNvSpPr txBox="1">
            <a:spLocks noChangeArrowheads="1"/>
          </p:cNvSpPr>
          <p:nvPr/>
        </p:nvSpPr>
        <p:spPr bwMode="auto">
          <a:xfrm>
            <a:off x="6511041" y="2528833"/>
            <a:ext cx="498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net</a:t>
            </a:r>
          </a:p>
        </p:txBody>
      </p:sp>
      <p:sp>
        <p:nvSpPr>
          <p:cNvPr id="1469451" name="Text Box 11"/>
          <p:cNvSpPr txBox="1">
            <a:spLocks noChangeArrowheads="1"/>
          </p:cNvSpPr>
          <p:nvPr/>
        </p:nvSpPr>
        <p:spPr bwMode="auto">
          <a:xfrm>
            <a:off x="7374641" y="2528833"/>
            <a:ext cx="422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uk</a:t>
            </a:r>
          </a:p>
        </p:txBody>
      </p:sp>
      <p:sp>
        <p:nvSpPr>
          <p:cNvPr id="1469452" name="Text Box 12"/>
          <p:cNvSpPr txBox="1">
            <a:spLocks noChangeArrowheads="1"/>
          </p:cNvSpPr>
          <p:nvPr/>
        </p:nvSpPr>
        <p:spPr bwMode="auto">
          <a:xfrm>
            <a:off x="8089016" y="2528833"/>
            <a:ext cx="3206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fr</a:t>
            </a:r>
          </a:p>
        </p:txBody>
      </p:sp>
      <p:sp>
        <p:nvSpPr>
          <p:cNvPr id="1469453" name="Text Box 13"/>
          <p:cNvSpPr txBox="1">
            <a:spLocks noChangeArrowheads="1"/>
          </p:cNvSpPr>
          <p:nvPr/>
        </p:nvSpPr>
        <p:spPr bwMode="auto">
          <a:xfrm>
            <a:off x="391821" y="3536896"/>
            <a:ext cx="862417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 dirty="0" err="1">
                <a:cs typeface="Arial" charset="0"/>
              </a:rPr>
              <a:t>umich</a:t>
            </a:r>
            <a:endParaRPr lang="en-US" sz="1800" dirty="0">
              <a:cs typeface="Arial" charset="0"/>
            </a:endParaRPr>
          </a:p>
        </p:txBody>
      </p:sp>
      <p:sp>
        <p:nvSpPr>
          <p:cNvPr id="1469454" name="Text Box 14"/>
          <p:cNvSpPr txBox="1">
            <a:spLocks noChangeArrowheads="1"/>
          </p:cNvSpPr>
          <p:nvPr/>
        </p:nvSpPr>
        <p:spPr bwMode="auto">
          <a:xfrm>
            <a:off x="1558981" y="3519433"/>
            <a:ext cx="111889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 dirty="0" err="1">
                <a:cs typeface="Arial" charset="0"/>
              </a:rPr>
              <a:t>berkeley</a:t>
            </a:r>
            <a:endParaRPr lang="en-US" sz="1800" dirty="0">
              <a:cs typeface="Arial" charset="0"/>
            </a:endParaRPr>
          </a:p>
        </p:txBody>
      </p:sp>
      <p:sp>
        <p:nvSpPr>
          <p:cNvPr id="1469455" name="Line 15"/>
          <p:cNvSpPr>
            <a:spLocks noChangeShapeType="1"/>
          </p:cNvSpPr>
          <p:nvPr/>
        </p:nvSpPr>
        <p:spPr bwMode="auto">
          <a:xfrm flipH="1">
            <a:off x="507116" y="3824233"/>
            <a:ext cx="3048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56" name="Text Box 16"/>
          <p:cNvSpPr txBox="1">
            <a:spLocks noChangeArrowheads="1"/>
          </p:cNvSpPr>
          <p:nvPr/>
        </p:nvSpPr>
        <p:spPr bwMode="auto">
          <a:xfrm>
            <a:off x="161041" y="4281433"/>
            <a:ext cx="663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 dirty="0" err="1">
                <a:cs typeface="Arial" charset="0"/>
              </a:rPr>
              <a:t>eecs</a:t>
            </a:r>
            <a:endParaRPr lang="en-US" sz="1800" dirty="0">
              <a:cs typeface="Arial" charset="0"/>
            </a:endParaRPr>
          </a:p>
        </p:txBody>
      </p:sp>
      <p:sp>
        <p:nvSpPr>
          <p:cNvPr id="1469457" name="Line 17"/>
          <p:cNvSpPr>
            <a:spLocks noChangeShapeType="1"/>
          </p:cNvSpPr>
          <p:nvPr/>
        </p:nvSpPr>
        <p:spPr bwMode="auto">
          <a:xfrm>
            <a:off x="964316" y="3824233"/>
            <a:ext cx="2286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58" name="Text Box 18"/>
          <p:cNvSpPr txBox="1">
            <a:spLocks noChangeArrowheads="1"/>
          </p:cNvSpPr>
          <p:nvPr/>
        </p:nvSpPr>
        <p:spPr bwMode="auto">
          <a:xfrm>
            <a:off x="964808" y="4298896"/>
            <a:ext cx="554641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 dirty="0">
                <a:cs typeface="Arial" charset="0"/>
              </a:rPr>
              <a:t>law</a:t>
            </a:r>
          </a:p>
        </p:txBody>
      </p:sp>
      <p:sp>
        <p:nvSpPr>
          <p:cNvPr id="1469459" name="Line 19"/>
          <p:cNvSpPr>
            <a:spLocks noChangeShapeType="1"/>
          </p:cNvSpPr>
          <p:nvPr/>
        </p:nvSpPr>
        <p:spPr bwMode="auto">
          <a:xfrm>
            <a:off x="443616" y="466243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0" name="Text Box 20"/>
          <p:cNvSpPr txBox="1">
            <a:spLocks noChangeArrowheads="1"/>
          </p:cNvSpPr>
          <p:nvPr/>
        </p:nvSpPr>
        <p:spPr bwMode="auto">
          <a:xfrm>
            <a:off x="167822" y="5195833"/>
            <a:ext cx="567465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 dirty="0" err="1">
                <a:cs typeface="Arial" charset="0"/>
              </a:rPr>
              <a:t>cse</a:t>
            </a:r>
            <a:endParaRPr lang="en-US" sz="1800" dirty="0">
              <a:cs typeface="Arial" charset="0"/>
            </a:endParaRPr>
          </a:p>
        </p:txBody>
      </p:sp>
      <p:sp>
        <p:nvSpPr>
          <p:cNvPr id="1469461" name="Line 21"/>
          <p:cNvSpPr>
            <a:spLocks noChangeShapeType="1"/>
          </p:cNvSpPr>
          <p:nvPr/>
        </p:nvSpPr>
        <p:spPr bwMode="auto">
          <a:xfrm flipH="1">
            <a:off x="900816" y="2833633"/>
            <a:ext cx="5334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2" name="Line 22"/>
          <p:cNvSpPr>
            <a:spLocks noChangeShapeType="1"/>
          </p:cNvSpPr>
          <p:nvPr/>
        </p:nvSpPr>
        <p:spPr bwMode="auto">
          <a:xfrm>
            <a:off x="1510416" y="2833633"/>
            <a:ext cx="6096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3" name="Line 23"/>
          <p:cNvSpPr>
            <a:spLocks noChangeShapeType="1"/>
          </p:cNvSpPr>
          <p:nvPr/>
        </p:nvSpPr>
        <p:spPr bwMode="auto">
          <a:xfrm flipV="1">
            <a:off x="1586616" y="1766833"/>
            <a:ext cx="2971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4" name="Line 24"/>
          <p:cNvSpPr>
            <a:spLocks noChangeShapeType="1"/>
          </p:cNvSpPr>
          <p:nvPr/>
        </p:nvSpPr>
        <p:spPr bwMode="auto">
          <a:xfrm flipH="1">
            <a:off x="2653416" y="1766833"/>
            <a:ext cx="19050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5" name="Line 25"/>
          <p:cNvSpPr>
            <a:spLocks noChangeShapeType="1"/>
          </p:cNvSpPr>
          <p:nvPr/>
        </p:nvSpPr>
        <p:spPr bwMode="auto">
          <a:xfrm flipH="1">
            <a:off x="3872616" y="1766833"/>
            <a:ext cx="685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6" name="Line 26"/>
          <p:cNvSpPr>
            <a:spLocks noChangeShapeType="1"/>
          </p:cNvSpPr>
          <p:nvPr/>
        </p:nvSpPr>
        <p:spPr bwMode="auto">
          <a:xfrm>
            <a:off x="4558416" y="1766833"/>
            <a:ext cx="533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7" name="Line 27"/>
          <p:cNvSpPr>
            <a:spLocks noChangeShapeType="1"/>
          </p:cNvSpPr>
          <p:nvPr/>
        </p:nvSpPr>
        <p:spPr bwMode="auto">
          <a:xfrm>
            <a:off x="4558416" y="1766833"/>
            <a:ext cx="13716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8" name="Line 28"/>
          <p:cNvSpPr>
            <a:spLocks noChangeShapeType="1"/>
          </p:cNvSpPr>
          <p:nvPr/>
        </p:nvSpPr>
        <p:spPr bwMode="auto">
          <a:xfrm>
            <a:off x="4558416" y="1766833"/>
            <a:ext cx="2209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9" name="Line 29"/>
          <p:cNvSpPr>
            <a:spLocks noChangeShapeType="1"/>
          </p:cNvSpPr>
          <p:nvPr/>
        </p:nvSpPr>
        <p:spPr bwMode="auto">
          <a:xfrm>
            <a:off x="4558416" y="1766833"/>
            <a:ext cx="30480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70" name="Line 30"/>
          <p:cNvSpPr>
            <a:spLocks noChangeShapeType="1"/>
          </p:cNvSpPr>
          <p:nvPr/>
        </p:nvSpPr>
        <p:spPr bwMode="auto">
          <a:xfrm>
            <a:off x="4558416" y="1766833"/>
            <a:ext cx="3594984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71" name="Text Box 31"/>
          <p:cNvSpPr txBox="1">
            <a:spLocks noChangeArrowheads="1"/>
          </p:cNvSpPr>
          <p:nvPr/>
        </p:nvSpPr>
        <p:spPr bwMode="auto">
          <a:xfrm>
            <a:off x="8763000" y="2452633"/>
            <a:ext cx="336657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3" name="Line 30"/>
          <p:cNvSpPr>
            <a:spLocks noChangeShapeType="1"/>
          </p:cNvSpPr>
          <p:nvPr/>
        </p:nvSpPr>
        <p:spPr bwMode="auto">
          <a:xfrm>
            <a:off x="4648200" y="1766833"/>
            <a:ext cx="42672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 bwMode="auto">
          <a:xfrm>
            <a:off x="990600" y="2452633"/>
            <a:ext cx="6019800" cy="4572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7292975" y="2452633"/>
            <a:ext cx="1143000" cy="4572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8" name="Freeform 37"/>
          <p:cNvSpPr/>
          <p:nvPr/>
        </p:nvSpPr>
        <p:spPr>
          <a:xfrm>
            <a:off x="47981" y="2729015"/>
            <a:ext cx="1095019" cy="2891134"/>
          </a:xfrm>
          <a:custGeom>
            <a:avLst/>
            <a:gdLst>
              <a:gd name="connsiteX0" fmla="*/ 27600 w 1095019"/>
              <a:gd name="connsiteY0" fmla="*/ 2891134 h 2891134"/>
              <a:gd name="connsiteX1" fmla="*/ 41111 w 1095019"/>
              <a:gd name="connsiteY1" fmla="*/ 1877886 h 2891134"/>
              <a:gd name="connsiteX2" fmla="*/ 419437 w 1095019"/>
              <a:gd name="connsiteY2" fmla="*/ 959208 h 2891134"/>
              <a:gd name="connsiteX3" fmla="*/ 1095019 w 1095019"/>
              <a:gd name="connsiteY3" fmla="*/ 0 h 2891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5019" h="2891134">
                <a:moveTo>
                  <a:pt x="27600" y="2891134"/>
                </a:moveTo>
                <a:cubicBezTo>
                  <a:pt x="1702" y="2545504"/>
                  <a:pt x="-24195" y="2199874"/>
                  <a:pt x="41111" y="1877886"/>
                </a:cubicBezTo>
                <a:cubicBezTo>
                  <a:pt x="106417" y="1555898"/>
                  <a:pt x="243786" y="1272189"/>
                  <a:pt x="419437" y="959208"/>
                </a:cubicBezTo>
                <a:cubicBezTo>
                  <a:pt x="595088" y="646227"/>
                  <a:pt x="1095019" y="0"/>
                  <a:pt x="1095019" y="0"/>
                </a:cubicBezTo>
              </a:path>
            </a:pathLst>
          </a:custGeom>
          <a:ln w="28575">
            <a:solidFill>
              <a:srgbClr val="D3A600"/>
            </a:solidFill>
            <a:headEnd type="non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C8EE48-BCAA-D348-AF49-967DAFF8C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87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9443" grpId="0" uiExpand="1" build="p"/>
      <p:bldP spid="2" grpId="0" animBg="1"/>
      <p:bldP spid="37" grpId="0" animBg="1"/>
      <p:bldP spid="3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administration</a:t>
            </a:r>
          </a:p>
        </p:txBody>
      </p:sp>
      <p:sp>
        <p:nvSpPr>
          <p:cNvPr id="1469444" name="Text Box 4"/>
          <p:cNvSpPr txBox="1">
            <a:spLocks noChangeArrowheads="1"/>
          </p:cNvSpPr>
          <p:nvPr/>
        </p:nvSpPr>
        <p:spPr bwMode="auto">
          <a:xfrm>
            <a:off x="4304416" y="1462033"/>
            <a:ext cx="5746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root</a:t>
            </a:r>
          </a:p>
        </p:txBody>
      </p:sp>
      <p:sp>
        <p:nvSpPr>
          <p:cNvPr id="1469445" name="Text Box 5"/>
          <p:cNvSpPr txBox="1">
            <a:spLocks noChangeArrowheads="1"/>
          </p:cNvSpPr>
          <p:nvPr/>
        </p:nvSpPr>
        <p:spPr bwMode="auto">
          <a:xfrm>
            <a:off x="1216729" y="2528833"/>
            <a:ext cx="561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edu</a:t>
            </a:r>
          </a:p>
        </p:txBody>
      </p:sp>
      <p:sp>
        <p:nvSpPr>
          <p:cNvPr id="1469446" name="Text Box 6"/>
          <p:cNvSpPr txBox="1">
            <a:spLocks noChangeArrowheads="1"/>
          </p:cNvSpPr>
          <p:nvPr/>
        </p:nvSpPr>
        <p:spPr bwMode="auto">
          <a:xfrm>
            <a:off x="2370841" y="2546296"/>
            <a:ext cx="612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com</a:t>
            </a:r>
          </a:p>
        </p:txBody>
      </p:sp>
      <p:sp>
        <p:nvSpPr>
          <p:cNvPr id="1469447" name="Text Box 7"/>
          <p:cNvSpPr txBox="1">
            <a:spLocks noChangeArrowheads="1"/>
          </p:cNvSpPr>
          <p:nvPr/>
        </p:nvSpPr>
        <p:spPr bwMode="auto">
          <a:xfrm>
            <a:off x="3596391" y="2528833"/>
            <a:ext cx="549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gov</a:t>
            </a:r>
          </a:p>
        </p:txBody>
      </p:sp>
      <p:sp>
        <p:nvSpPr>
          <p:cNvPr id="1469448" name="Text Box 8"/>
          <p:cNvSpPr txBox="1">
            <a:spLocks noChangeArrowheads="1"/>
          </p:cNvSpPr>
          <p:nvPr/>
        </p:nvSpPr>
        <p:spPr bwMode="auto">
          <a:xfrm>
            <a:off x="4802891" y="2528833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mil</a:t>
            </a:r>
          </a:p>
        </p:txBody>
      </p:sp>
      <p:sp>
        <p:nvSpPr>
          <p:cNvPr id="1469449" name="Text Box 9"/>
          <p:cNvSpPr txBox="1">
            <a:spLocks noChangeArrowheads="1"/>
          </p:cNvSpPr>
          <p:nvPr/>
        </p:nvSpPr>
        <p:spPr bwMode="auto">
          <a:xfrm>
            <a:off x="5666491" y="2546296"/>
            <a:ext cx="511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 dirty="0">
                <a:cs typeface="Arial" charset="0"/>
              </a:rPr>
              <a:t>org</a:t>
            </a:r>
          </a:p>
        </p:txBody>
      </p:sp>
      <p:sp>
        <p:nvSpPr>
          <p:cNvPr id="1469450" name="Text Box 10"/>
          <p:cNvSpPr txBox="1">
            <a:spLocks noChangeArrowheads="1"/>
          </p:cNvSpPr>
          <p:nvPr/>
        </p:nvSpPr>
        <p:spPr bwMode="auto">
          <a:xfrm>
            <a:off x="6511041" y="2528833"/>
            <a:ext cx="498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net</a:t>
            </a:r>
          </a:p>
        </p:txBody>
      </p:sp>
      <p:sp>
        <p:nvSpPr>
          <p:cNvPr id="1469451" name="Text Box 11"/>
          <p:cNvSpPr txBox="1">
            <a:spLocks noChangeArrowheads="1"/>
          </p:cNvSpPr>
          <p:nvPr/>
        </p:nvSpPr>
        <p:spPr bwMode="auto">
          <a:xfrm>
            <a:off x="7374641" y="2528833"/>
            <a:ext cx="422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uk</a:t>
            </a:r>
          </a:p>
        </p:txBody>
      </p:sp>
      <p:sp>
        <p:nvSpPr>
          <p:cNvPr id="1469452" name="Text Box 12"/>
          <p:cNvSpPr txBox="1">
            <a:spLocks noChangeArrowheads="1"/>
          </p:cNvSpPr>
          <p:nvPr/>
        </p:nvSpPr>
        <p:spPr bwMode="auto">
          <a:xfrm>
            <a:off x="8089016" y="2528833"/>
            <a:ext cx="3206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>
                <a:cs typeface="Arial" charset="0"/>
              </a:rPr>
              <a:t>fr</a:t>
            </a:r>
          </a:p>
        </p:txBody>
      </p:sp>
      <p:sp>
        <p:nvSpPr>
          <p:cNvPr id="1469453" name="Text Box 13"/>
          <p:cNvSpPr txBox="1">
            <a:spLocks noChangeArrowheads="1"/>
          </p:cNvSpPr>
          <p:nvPr/>
        </p:nvSpPr>
        <p:spPr bwMode="auto">
          <a:xfrm>
            <a:off x="391821" y="3536896"/>
            <a:ext cx="862417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 dirty="0" err="1">
                <a:cs typeface="Arial" charset="0"/>
              </a:rPr>
              <a:t>umich</a:t>
            </a:r>
            <a:endParaRPr lang="en-US" sz="1800" dirty="0">
              <a:cs typeface="Arial" charset="0"/>
            </a:endParaRPr>
          </a:p>
        </p:txBody>
      </p:sp>
      <p:sp>
        <p:nvSpPr>
          <p:cNvPr id="1469454" name="Text Box 14"/>
          <p:cNvSpPr txBox="1">
            <a:spLocks noChangeArrowheads="1"/>
          </p:cNvSpPr>
          <p:nvPr/>
        </p:nvSpPr>
        <p:spPr bwMode="auto">
          <a:xfrm>
            <a:off x="1558981" y="3519433"/>
            <a:ext cx="111889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 dirty="0" err="1">
                <a:cs typeface="Arial" charset="0"/>
              </a:rPr>
              <a:t>berkeley</a:t>
            </a:r>
            <a:endParaRPr lang="en-US" sz="1800" dirty="0">
              <a:cs typeface="Arial" charset="0"/>
            </a:endParaRPr>
          </a:p>
        </p:txBody>
      </p:sp>
      <p:sp>
        <p:nvSpPr>
          <p:cNvPr id="1469455" name="Line 15"/>
          <p:cNvSpPr>
            <a:spLocks noChangeShapeType="1"/>
          </p:cNvSpPr>
          <p:nvPr/>
        </p:nvSpPr>
        <p:spPr bwMode="auto">
          <a:xfrm flipH="1">
            <a:off x="507116" y="3824233"/>
            <a:ext cx="3048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56" name="Text Box 16"/>
          <p:cNvSpPr txBox="1">
            <a:spLocks noChangeArrowheads="1"/>
          </p:cNvSpPr>
          <p:nvPr/>
        </p:nvSpPr>
        <p:spPr bwMode="auto">
          <a:xfrm>
            <a:off x="161041" y="4281433"/>
            <a:ext cx="663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 dirty="0" err="1">
                <a:cs typeface="Arial" charset="0"/>
              </a:rPr>
              <a:t>eecs</a:t>
            </a:r>
            <a:endParaRPr lang="en-US" sz="1800" dirty="0">
              <a:cs typeface="Arial" charset="0"/>
            </a:endParaRPr>
          </a:p>
        </p:txBody>
      </p:sp>
      <p:sp>
        <p:nvSpPr>
          <p:cNvPr id="1469457" name="Line 17"/>
          <p:cNvSpPr>
            <a:spLocks noChangeShapeType="1"/>
          </p:cNvSpPr>
          <p:nvPr/>
        </p:nvSpPr>
        <p:spPr bwMode="auto">
          <a:xfrm>
            <a:off x="964316" y="3824233"/>
            <a:ext cx="2286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58" name="Text Box 18"/>
          <p:cNvSpPr txBox="1">
            <a:spLocks noChangeArrowheads="1"/>
          </p:cNvSpPr>
          <p:nvPr/>
        </p:nvSpPr>
        <p:spPr bwMode="auto">
          <a:xfrm>
            <a:off x="964808" y="4298896"/>
            <a:ext cx="554641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 dirty="0">
                <a:cs typeface="Arial" charset="0"/>
              </a:rPr>
              <a:t>law</a:t>
            </a:r>
          </a:p>
        </p:txBody>
      </p:sp>
      <p:sp>
        <p:nvSpPr>
          <p:cNvPr id="1469459" name="Line 19"/>
          <p:cNvSpPr>
            <a:spLocks noChangeShapeType="1"/>
          </p:cNvSpPr>
          <p:nvPr/>
        </p:nvSpPr>
        <p:spPr bwMode="auto">
          <a:xfrm>
            <a:off x="443616" y="466243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0" name="Text Box 20"/>
          <p:cNvSpPr txBox="1">
            <a:spLocks noChangeArrowheads="1"/>
          </p:cNvSpPr>
          <p:nvPr/>
        </p:nvSpPr>
        <p:spPr bwMode="auto">
          <a:xfrm>
            <a:off x="167822" y="5195833"/>
            <a:ext cx="567465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 dirty="0" err="1">
                <a:cs typeface="Arial" charset="0"/>
              </a:rPr>
              <a:t>cse</a:t>
            </a:r>
            <a:endParaRPr lang="en-US" sz="1800" dirty="0">
              <a:cs typeface="Arial" charset="0"/>
            </a:endParaRPr>
          </a:p>
        </p:txBody>
      </p:sp>
      <p:sp>
        <p:nvSpPr>
          <p:cNvPr id="1469461" name="Line 21"/>
          <p:cNvSpPr>
            <a:spLocks noChangeShapeType="1"/>
          </p:cNvSpPr>
          <p:nvPr/>
        </p:nvSpPr>
        <p:spPr bwMode="auto">
          <a:xfrm flipH="1">
            <a:off x="900816" y="2833633"/>
            <a:ext cx="5334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2" name="Line 22"/>
          <p:cNvSpPr>
            <a:spLocks noChangeShapeType="1"/>
          </p:cNvSpPr>
          <p:nvPr/>
        </p:nvSpPr>
        <p:spPr bwMode="auto">
          <a:xfrm>
            <a:off x="1510416" y="2833633"/>
            <a:ext cx="6096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3" name="Line 23"/>
          <p:cNvSpPr>
            <a:spLocks noChangeShapeType="1"/>
          </p:cNvSpPr>
          <p:nvPr/>
        </p:nvSpPr>
        <p:spPr bwMode="auto">
          <a:xfrm flipV="1">
            <a:off x="1586616" y="1766833"/>
            <a:ext cx="2971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4" name="Line 24"/>
          <p:cNvSpPr>
            <a:spLocks noChangeShapeType="1"/>
          </p:cNvSpPr>
          <p:nvPr/>
        </p:nvSpPr>
        <p:spPr bwMode="auto">
          <a:xfrm flipH="1">
            <a:off x="2653416" y="1766833"/>
            <a:ext cx="19050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5" name="Line 25"/>
          <p:cNvSpPr>
            <a:spLocks noChangeShapeType="1"/>
          </p:cNvSpPr>
          <p:nvPr/>
        </p:nvSpPr>
        <p:spPr bwMode="auto">
          <a:xfrm flipH="1">
            <a:off x="3872616" y="1766833"/>
            <a:ext cx="685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6" name="Line 26"/>
          <p:cNvSpPr>
            <a:spLocks noChangeShapeType="1"/>
          </p:cNvSpPr>
          <p:nvPr/>
        </p:nvSpPr>
        <p:spPr bwMode="auto">
          <a:xfrm>
            <a:off x="4558416" y="1766833"/>
            <a:ext cx="5334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7" name="Line 27"/>
          <p:cNvSpPr>
            <a:spLocks noChangeShapeType="1"/>
          </p:cNvSpPr>
          <p:nvPr/>
        </p:nvSpPr>
        <p:spPr bwMode="auto">
          <a:xfrm>
            <a:off x="4558416" y="1766833"/>
            <a:ext cx="13716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8" name="Line 28"/>
          <p:cNvSpPr>
            <a:spLocks noChangeShapeType="1"/>
          </p:cNvSpPr>
          <p:nvPr/>
        </p:nvSpPr>
        <p:spPr bwMode="auto">
          <a:xfrm>
            <a:off x="4558416" y="1766833"/>
            <a:ext cx="2209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69" name="Line 29"/>
          <p:cNvSpPr>
            <a:spLocks noChangeShapeType="1"/>
          </p:cNvSpPr>
          <p:nvPr/>
        </p:nvSpPr>
        <p:spPr bwMode="auto">
          <a:xfrm>
            <a:off x="4558416" y="1766833"/>
            <a:ext cx="30480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70" name="Line 30"/>
          <p:cNvSpPr>
            <a:spLocks noChangeShapeType="1"/>
          </p:cNvSpPr>
          <p:nvPr/>
        </p:nvSpPr>
        <p:spPr bwMode="auto">
          <a:xfrm>
            <a:off x="4558416" y="1766833"/>
            <a:ext cx="3594984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69471" name="Text Box 31"/>
          <p:cNvSpPr txBox="1">
            <a:spLocks noChangeArrowheads="1"/>
          </p:cNvSpPr>
          <p:nvPr/>
        </p:nvSpPr>
        <p:spPr bwMode="auto">
          <a:xfrm>
            <a:off x="8763000" y="2452633"/>
            <a:ext cx="336657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3" name="Line 30"/>
          <p:cNvSpPr>
            <a:spLocks noChangeShapeType="1"/>
          </p:cNvSpPr>
          <p:nvPr/>
        </p:nvSpPr>
        <p:spPr bwMode="auto">
          <a:xfrm>
            <a:off x="4648200" y="1766833"/>
            <a:ext cx="42672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 bwMode="auto">
          <a:xfrm>
            <a:off x="767318" y="1515295"/>
            <a:ext cx="8021041" cy="1447800"/>
          </a:xfrm>
          <a:prstGeom prst="rect">
            <a:avLst/>
          </a:prstGeom>
          <a:noFill/>
          <a:ln w="19050" cap="flat" cmpd="sng" algn="ctr">
            <a:solidFill>
              <a:srgbClr val="D3A600"/>
            </a:solidFill>
            <a:prstDash val="dash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1510416" y="3429000"/>
            <a:ext cx="1167463" cy="511834"/>
          </a:xfrm>
          <a:prstGeom prst="rect">
            <a:avLst/>
          </a:prstGeom>
          <a:noFill/>
          <a:ln w="19050" cap="flat" cmpd="sng" algn="ctr">
            <a:solidFill>
              <a:srgbClr val="D3A600"/>
            </a:solidFill>
            <a:prstDash val="dash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183586" y="3402832"/>
            <a:ext cx="1167463" cy="511834"/>
          </a:xfrm>
          <a:prstGeom prst="rect">
            <a:avLst/>
          </a:prstGeom>
          <a:noFill/>
          <a:ln w="19050" cap="flat" cmpd="sng" algn="ctr">
            <a:solidFill>
              <a:srgbClr val="D3A600"/>
            </a:solidFill>
            <a:prstDash val="dash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111147" y="4207284"/>
            <a:ext cx="789669" cy="1355315"/>
          </a:xfrm>
          <a:prstGeom prst="rect">
            <a:avLst/>
          </a:prstGeom>
          <a:noFill/>
          <a:ln w="19050" cap="flat" cmpd="sng" algn="ctr">
            <a:solidFill>
              <a:srgbClr val="D3A600"/>
            </a:solidFill>
            <a:prstDash val="dash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1" name="Rectangle 59"/>
          <p:cNvSpPr txBox="1">
            <a:spLocks noChangeArrowheads="1"/>
          </p:cNvSpPr>
          <p:nvPr/>
        </p:nvSpPr>
        <p:spPr>
          <a:xfrm>
            <a:off x="1752600" y="4343400"/>
            <a:ext cx="7347057" cy="2133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2800">
                <a:solidFill>
                  <a:schemeClr val="accent2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ZapfDingbats" charset="0"/>
              <a:buChar char="u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n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5pPr>
            <a:lvl6pPr marL="18859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6pPr>
            <a:lvl7pPr marL="2228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7pPr>
            <a:lvl8pPr marL="25717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8pPr>
            <a:lvl9pPr marL="29146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sz="2400" b="0" dirty="0"/>
              <a:t>A </a:t>
            </a:r>
            <a:r>
              <a:rPr lang="en-US" sz="2400" dirty="0">
                <a:solidFill>
                  <a:srgbClr val="0000FF"/>
                </a:solidFill>
              </a:rPr>
              <a:t>zone</a:t>
            </a:r>
            <a:r>
              <a:rPr lang="en-US" sz="2400" b="0" dirty="0"/>
              <a:t> corresponds to an administrative authority that is responsible for that portion of the hierarchy</a:t>
            </a:r>
          </a:p>
          <a:p>
            <a:pPr lvl="1"/>
            <a:r>
              <a:rPr lang="en-US" sz="2000" b="0" dirty="0"/>
              <a:t>e.g., UMich controls names: *.</a:t>
            </a:r>
            <a:r>
              <a:rPr lang="en-US" sz="2000" b="0" dirty="0" err="1"/>
              <a:t>umich.edu</a:t>
            </a:r>
            <a:endParaRPr lang="en-US" sz="2000" b="0" dirty="0"/>
          </a:p>
          <a:p>
            <a:pPr lvl="1"/>
            <a:r>
              <a:rPr lang="en-US" sz="2000" b="0" dirty="0"/>
              <a:t>e.g., EECS controls names: *.</a:t>
            </a:r>
            <a:r>
              <a:rPr lang="en-US" sz="2000" b="0" dirty="0" err="1"/>
              <a:t>eecs.umich.edu</a:t>
            </a:r>
            <a:endParaRPr lang="en-US" sz="2400" b="0" dirty="0"/>
          </a:p>
          <a:p>
            <a:endParaRPr lang="en-US" sz="2400" b="0" dirty="0"/>
          </a:p>
          <a:p>
            <a:endParaRPr lang="en-US" sz="2400" b="0" dirty="0"/>
          </a:p>
          <a:p>
            <a:pPr marL="1022350" marR="0" lvl="2" indent="-350838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kern="0" dirty="0"/>
          </a:p>
        </p:txBody>
      </p:sp>
      <p:sp>
        <p:nvSpPr>
          <p:cNvPr id="4" name="TextBox 3"/>
          <p:cNvSpPr txBox="1"/>
          <p:nvPr/>
        </p:nvSpPr>
        <p:spPr>
          <a:xfrm>
            <a:off x="831798" y="1588018"/>
            <a:ext cx="1390124" cy="338554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ICANN/IANA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136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 hierarchy</a:t>
            </a:r>
          </a:p>
        </p:txBody>
      </p:sp>
      <p:sp>
        <p:nvSpPr>
          <p:cNvPr id="928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Top of hierarchy: </a:t>
            </a:r>
            <a:r>
              <a:rPr lang="en-US" dirty="0">
                <a:solidFill>
                  <a:srgbClr val="0000FF"/>
                </a:solidFill>
              </a:rPr>
              <a:t>Root servers</a:t>
            </a:r>
          </a:p>
          <a:p>
            <a:pPr lvl="1"/>
            <a:r>
              <a:rPr lang="en-US" dirty="0"/>
              <a:t>Location hardwired into other servers</a:t>
            </a:r>
          </a:p>
          <a:p>
            <a:r>
              <a:rPr lang="en-US" dirty="0"/>
              <a:t>Next Level: </a:t>
            </a:r>
            <a:r>
              <a:rPr lang="en-US" dirty="0">
                <a:solidFill>
                  <a:srgbClr val="0000FF"/>
                </a:solidFill>
              </a:rPr>
              <a:t>Top-level domain (TLD) servers</a:t>
            </a:r>
          </a:p>
          <a:p>
            <a:pPr lvl="1"/>
            <a:r>
              <a:rPr lang="en-US" dirty="0"/>
              <a:t>.com, .</a:t>
            </a:r>
            <a:r>
              <a:rPr lang="en-US" dirty="0" err="1"/>
              <a:t>edu</a:t>
            </a:r>
            <a:r>
              <a:rPr lang="en-US" dirty="0"/>
              <a:t>, etc.</a:t>
            </a:r>
          </a:p>
          <a:p>
            <a:pPr lvl="1"/>
            <a:r>
              <a:rPr lang="en-US" dirty="0"/>
              <a:t>Managed professionally</a:t>
            </a:r>
          </a:p>
          <a:p>
            <a:r>
              <a:rPr lang="en-US" dirty="0"/>
              <a:t>Bottom Level: </a:t>
            </a:r>
            <a:r>
              <a:rPr lang="en-US" dirty="0">
                <a:solidFill>
                  <a:srgbClr val="0000FF"/>
                </a:solidFill>
              </a:rPr>
              <a:t>Authoritative DNS servers</a:t>
            </a:r>
          </a:p>
          <a:p>
            <a:pPr lvl="1"/>
            <a:r>
              <a:rPr lang="en-US" dirty="0"/>
              <a:t>Actually store the name-to-address mapping</a:t>
            </a:r>
          </a:p>
          <a:p>
            <a:pPr lvl="1"/>
            <a:r>
              <a:rPr lang="en-US" dirty="0"/>
              <a:t>Maintained by the corresponding administrative authority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082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877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 hierarchy</a:t>
            </a:r>
          </a:p>
        </p:txBody>
      </p:sp>
      <p:sp>
        <p:nvSpPr>
          <p:cNvPr id="1471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server stores a (small!) subset of the total DNS database </a:t>
            </a:r>
          </a:p>
          <a:p>
            <a:r>
              <a:rPr lang="en-US" dirty="0"/>
              <a:t>An authoritative  DNS server stores “</a:t>
            </a:r>
            <a:r>
              <a:rPr lang="en-US" dirty="0">
                <a:solidFill>
                  <a:srgbClr val="0000FF"/>
                </a:solidFill>
              </a:rPr>
              <a:t>resource records</a:t>
            </a:r>
            <a:r>
              <a:rPr lang="en-US" dirty="0"/>
              <a:t>” for all DNS names in the domain that it has authority for </a:t>
            </a:r>
          </a:p>
          <a:p>
            <a:r>
              <a:rPr lang="en-US" dirty="0"/>
              <a:t>Each server needs to know other servers responsible for other portions of the hierarchy</a:t>
            </a:r>
          </a:p>
          <a:p>
            <a:pPr lvl="1"/>
            <a:r>
              <a:rPr lang="en-US" dirty="0"/>
              <a:t>Every server knows the root</a:t>
            </a:r>
          </a:p>
          <a:p>
            <a:pPr lvl="1"/>
            <a:r>
              <a:rPr lang="en-US" dirty="0"/>
              <a:t>Root server knows about all top-level domains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591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1491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root</a:t>
            </a:r>
          </a:p>
        </p:txBody>
      </p:sp>
      <p:sp>
        <p:nvSpPr>
          <p:cNvPr id="7168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Located in Virginia, USA</a:t>
            </a:r>
          </a:p>
          <a:p>
            <a:r>
              <a:rPr lang="en-US" dirty="0"/>
              <a:t>How do we make the root scale?</a:t>
            </a:r>
          </a:p>
          <a:p>
            <a:pPr lvl="1"/>
            <a:r>
              <a:rPr lang="en-US" dirty="0"/>
              <a:t>Replicate (</a:t>
            </a:r>
            <a:r>
              <a:rPr lang="en-US" dirty="0">
                <a:solidFill>
                  <a:srgbClr val="0000FF"/>
                </a:solidFill>
              </a:rPr>
              <a:t>https://</a:t>
            </a:r>
            <a:r>
              <a:rPr lang="en-US" dirty="0" err="1">
                <a:solidFill>
                  <a:srgbClr val="0000FF"/>
                </a:solidFill>
              </a:rPr>
              <a:t>www.iana.org</a:t>
            </a:r>
            <a:r>
              <a:rPr lang="en-US" dirty="0">
                <a:solidFill>
                  <a:srgbClr val="0000FF"/>
                </a:solidFill>
              </a:rPr>
              <a:t>/domains/root/servers</a:t>
            </a:r>
            <a:r>
              <a:rPr lang="en-US" dirty="0"/>
              <a:t>)</a:t>
            </a:r>
          </a:p>
        </p:txBody>
      </p:sp>
      <p:sp>
        <p:nvSpPr>
          <p:cNvPr id="71685" name="AutoShape 4"/>
          <p:cNvSpPr>
            <a:spLocks noChangeAspect="1" noChangeArrowheads="1"/>
          </p:cNvSpPr>
          <p:nvPr/>
        </p:nvSpPr>
        <p:spPr bwMode="auto">
          <a:xfrm>
            <a:off x="457200" y="3048000"/>
            <a:ext cx="7234238" cy="364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56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D9338-D9AE-E830-7485-2BD753065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13 DNS root servers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71271-4429-0807-D9A2-1700B372A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7B4D9-8FF1-2DD4-10E2-BFE4EE52B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48774-5470-7160-5FD8-8DB26A647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635099-EF5F-7CDB-651B-3172DD35647C}"/>
              </a:ext>
            </a:extLst>
          </p:cNvPr>
          <p:cNvSpPr txBox="1"/>
          <p:nvPr/>
        </p:nvSpPr>
        <p:spPr>
          <a:xfrm>
            <a:off x="3946669" y="5811489"/>
            <a:ext cx="12506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0" dirty="0"/>
              <a:t>https://root-</a:t>
            </a:r>
            <a:r>
              <a:rPr lang="en-US" sz="800" b="0" dirty="0" err="1"/>
              <a:t>servers.org</a:t>
            </a:r>
            <a:r>
              <a:rPr lang="en-US" sz="800" b="0" dirty="0"/>
              <a:t>/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AF08542-32A5-6F34-B567-254F1E0B05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828800"/>
            <a:ext cx="79248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5589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49489-3F8F-DFE5-9891-7109461ED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01F45-40F4-B94A-8C62-7ECD0C717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13 DNS root servers (in 2024)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0C89A61-7700-2755-D14C-6C5A7B1C2F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793981"/>
            <a:ext cx="7924800" cy="403203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B84D1-4881-D8F6-6319-4B9100C0D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F3818-A834-3802-1503-4C6AF517A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4420-09A8-A50A-48D4-0370C1F02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A9042B-785B-4EEA-E1A0-F82F86A674C2}"/>
              </a:ext>
            </a:extLst>
          </p:cNvPr>
          <p:cNvSpPr txBox="1"/>
          <p:nvPr/>
        </p:nvSpPr>
        <p:spPr>
          <a:xfrm>
            <a:off x="3946669" y="5811489"/>
            <a:ext cx="12506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0" dirty="0"/>
              <a:t>https://root-</a:t>
            </a:r>
            <a:r>
              <a:rPr lang="en-US" sz="800" b="0" dirty="0" err="1"/>
              <a:t>servers.org</a:t>
            </a:r>
            <a:r>
              <a:rPr lang="en-US" sz="800" b="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2442396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5-minute break!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577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FF6F796-0A40-9FA9-B43B-B13D32BC1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7F91B4-6BED-45E7-E94A-39B11EF46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Midterm: </a:t>
            </a:r>
            <a:r>
              <a:rPr lang="en-US" b="1" dirty="0">
                <a:solidFill>
                  <a:srgbClr val="0000FF"/>
                </a:solidFill>
              </a:rPr>
              <a:t>Feb 21 7-9PM in </a:t>
            </a:r>
            <a:r>
              <a:rPr lang="en-US" b="1" dirty="0" err="1">
                <a:solidFill>
                  <a:srgbClr val="0000FF"/>
                </a:solidFill>
              </a:rPr>
              <a:t>Chrys</a:t>
            </a:r>
            <a:endParaRPr lang="en-US" b="1" dirty="0">
              <a:solidFill>
                <a:srgbClr val="0000FF"/>
              </a:solidFill>
            </a:endParaRPr>
          </a:p>
          <a:p>
            <a:endParaRPr lang="en-US" b="1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chemeClr val="accent6"/>
                </a:solidFill>
              </a:rPr>
              <a:t>Sign up for midterm accommodations here: </a:t>
            </a:r>
            <a:r>
              <a:rPr lang="en-US" b="1" dirty="0">
                <a:solidFill>
                  <a:srgbClr val="0000FF"/>
                </a:solidFill>
              </a:rPr>
              <a:t>https://</a:t>
            </a:r>
            <a:r>
              <a:rPr lang="en-US" b="1" dirty="0" err="1">
                <a:solidFill>
                  <a:srgbClr val="0000FF"/>
                </a:solidFill>
              </a:rPr>
              <a:t>forms.gle</a:t>
            </a:r>
            <a:r>
              <a:rPr lang="en-US" b="1" dirty="0">
                <a:solidFill>
                  <a:srgbClr val="0000FF"/>
                </a:solidFill>
              </a:rPr>
              <a:t>/htu8cw5g6nYenkCa7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B2EC8-C49B-F593-196F-D80D7E9A4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05642-27CA-157C-7455-2B3EF428E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99642-2665-C958-3E2B-CAC18609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EB77-FB6C-2244-A076-ADF097535D48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3555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DNS records</a:t>
            </a:r>
            <a:endParaRPr lang="en-US" dirty="0"/>
          </a:p>
        </p:txBody>
      </p:sp>
      <p:sp>
        <p:nvSpPr>
          <p:cNvPr id="16343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DNS servers store </a:t>
            </a:r>
            <a:r>
              <a:rPr lang="en-US" dirty="0">
                <a:solidFill>
                  <a:srgbClr val="0000FF"/>
                </a:solidFill>
              </a:rPr>
              <a:t>resource records (RRs)</a:t>
            </a:r>
          </a:p>
          <a:p>
            <a:pPr lvl="1"/>
            <a:r>
              <a:rPr lang="en-US" dirty="0"/>
              <a:t>RR is (name, value, type, TTL)</a:t>
            </a:r>
          </a:p>
          <a:p>
            <a:r>
              <a:rPr lang="en-US" dirty="0"/>
              <a:t>Type = A: (</a:t>
            </a:r>
            <a:r>
              <a:rPr lang="en-US" dirty="0">
                <a:sym typeface="Wingdings"/>
              </a:rPr>
              <a:t> </a:t>
            </a:r>
            <a:r>
              <a:rPr lang="en-US" dirty="0">
                <a:solidFill>
                  <a:srgbClr val="0000FF"/>
                </a:solidFill>
                <a:sym typeface="Wingdings"/>
              </a:rPr>
              <a:t>A</a:t>
            </a:r>
            <a:r>
              <a:rPr lang="en-US" dirty="0">
                <a:sym typeface="Wingdings"/>
              </a:rPr>
              <a:t>ddress)</a:t>
            </a:r>
            <a:endParaRPr lang="en-US" dirty="0"/>
          </a:p>
          <a:p>
            <a:pPr lvl="1"/>
            <a:r>
              <a:rPr lang="en-US" dirty="0"/>
              <a:t>name = hostname</a:t>
            </a:r>
          </a:p>
          <a:p>
            <a:pPr lvl="1"/>
            <a:r>
              <a:rPr lang="en-US" dirty="0"/>
              <a:t>value = IP address</a:t>
            </a:r>
          </a:p>
          <a:p>
            <a:r>
              <a:rPr lang="en-US" dirty="0"/>
              <a:t>Type = NS: (</a:t>
            </a:r>
            <a:r>
              <a:rPr lang="en-US" dirty="0">
                <a:sym typeface="Wingdings"/>
              </a:rPr>
              <a:t> </a:t>
            </a:r>
            <a:r>
              <a:rPr lang="en-US" dirty="0">
                <a:solidFill>
                  <a:srgbClr val="0000FF"/>
                </a:solidFill>
                <a:sym typeface="Wingdings"/>
              </a:rPr>
              <a:t>N</a:t>
            </a:r>
            <a:r>
              <a:rPr lang="en-US" dirty="0">
                <a:sym typeface="Wingdings"/>
              </a:rPr>
              <a:t>ame </a:t>
            </a:r>
            <a:r>
              <a:rPr lang="en-US" dirty="0">
                <a:solidFill>
                  <a:srgbClr val="0000FF"/>
                </a:solidFill>
                <a:sym typeface="Wingdings"/>
              </a:rPr>
              <a:t>S</a:t>
            </a:r>
            <a:r>
              <a:rPr lang="en-US" dirty="0">
                <a:sym typeface="Wingdings"/>
              </a:rPr>
              <a:t>erver)</a:t>
            </a:r>
            <a:endParaRPr lang="en-US" dirty="0"/>
          </a:p>
          <a:p>
            <a:pPr lvl="1"/>
            <a:r>
              <a:rPr lang="en-US" dirty="0"/>
              <a:t>name = domain</a:t>
            </a:r>
          </a:p>
          <a:p>
            <a:pPr lvl="1"/>
            <a:r>
              <a:rPr lang="en-US" dirty="0"/>
              <a:t>value = name of DNS server for domain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records (cont’d)</a:t>
            </a:r>
          </a:p>
        </p:txBody>
      </p:sp>
      <p:sp>
        <p:nvSpPr>
          <p:cNvPr id="16363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 = CNAME: (</a:t>
            </a:r>
            <a:r>
              <a:rPr lang="en-US" dirty="0">
                <a:sym typeface="Wingdings"/>
              </a:rPr>
              <a:t> </a:t>
            </a:r>
            <a:r>
              <a:rPr lang="en-US" dirty="0">
                <a:solidFill>
                  <a:srgbClr val="0000FF"/>
                </a:solidFill>
                <a:sym typeface="Wingdings"/>
              </a:rPr>
              <a:t>C</a:t>
            </a:r>
            <a:r>
              <a:rPr lang="en-US" dirty="0">
                <a:sym typeface="Wingdings"/>
              </a:rPr>
              <a:t>anonical</a:t>
            </a:r>
            <a:r>
              <a:rPr lang="en-US" dirty="0">
                <a:solidFill>
                  <a:srgbClr val="0000FF"/>
                </a:solidFill>
                <a:sym typeface="Wingdings"/>
              </a:rPr>
              <a:t> Name</a:t>
            </a:r>
            <a:r>
              <a:rPr lang="en-US" dirty="0">
                <a:sym typeface="Wingdings"/>
              </a:rPr>
              <a:t>)</a:t>
            </a:r>
          </a:p>
          <a:p>
            <a:pPr lvl="1"/>
            <a:r>
              <a:rPr lang="en-US" dirty="0"/>
              <a:t>name = alias name for some “canonical” (real) name</a:t>
            </a:r>
          </a:p>
          <a:p>
            <a:pPr lvl="2"/>
            <a:r>
              <a:rPr lang="en-US" dirty="0"/>
              <a:t>e.g., </a:t>
            </a:r>
            <a:r>
              <a:rPr lang="en-US" dirty="0" err="1"/>
              <a:t>cse.umich.edu</a:t>
            </a:r>
            <a:r>
              <a:rPr lang="en-US" dirty="0"/>
              <a:t> is really </a:t>
            </a:r>
            <a:r>
              <a:rPr lang="en-US" dirty="0" err="1"/>
              <a:t>cse.eecs.umich.edu</a:t>
            </a:r>
            <a:endParaRPr lang="en-US" dirty="0"/>
          </a:p>
          <a:p>
            <a:pPr lvl="1"/>
            <a:r>
              <a:rPr lang="en-US" dirty="0"/>
              <a:t>value = canonical name</a:t>
            </a:r>
          </a:p>
          <a:p>
            <a:r>
              <a:rPr lang="en-US" dirty="0"/>
              <a:t>Type = MX: (</a:t>
            </a:r>
            <a:r>
              <a:rPr lang="en-US" dirty="0">
                <a:sym typeface="Wingdings"/>
              </a:rPr>
              <a:t> </a:t>
            </a:r>
            <a:r>
              <a:rPr lang="en-US" dirty="0">
                <a:solidFill>
                  <a:srgbClr val="0000FF"/>
                </a:solidFill>
                <a:sym typeface="Wingdings"/>
              </a:rPr>
              <a:t>M</a:t>
            </a:r>
            <a:r>
              <a:rPr lang="en-US" dirty="0">
                <a:sym typeface="Wingdings"/>
              </a:rPr>
              <a:t>ail </a:t>
            </a:r>
            <a:r>
              <a:rPr lang="en-US" dirty="0" err="1">
                <a:sym typeface="Wingdings"/>
              </a:rPr>
              <a:t>e</a:t>
            </a:r>
            <a:r>
              <a:rPr lang="en-US" dirty="0" err="1">
                <a:solidFill>
                  <a:srgbClr val="0000FF"/>
                </a:solidFill>
                <a:sym typeface="Wingdings"/>
              </a:rPr>
              <a:t>X</a:t>
            </a:r>
            <a:r>
              <a:rPr lang="en-US" dirty="0" err="1">
                <a:sym typeface="Wingdings"/>
              </a:rPr>
              <a:t>changer</a:t>
            </a:r>
            <a:r>
              <a:rPr lang="en-US" dirty="0">
                <a:sym typeface="Wingdings"/>
              </a:rPr>
              <a:t>)</a:t>
            </a:r>
            <a:endParaRPr lang="en-US" dirty="0"/>
          </a:p>
          <a:p>
            <a:pPr lvl="1"/>
            <a:r>
              <a:rPr lang="en-US" dirty="0"/>
              <a:t>name = domain in email address</a:t>
            </a:r>
          </a:p>
          <a:p>
            <a:pPr lvl="1"/>
            <a:r>
              <a:rPr lang="en-US" dirty="0"/>
              <a:t>value = name(s) of mail server(s)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211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Inserting Resource Records into DNS</a:t>
            </a:r>
            <a:endParaRPr lang="en-US" dirty="0"/>
          </a:p>
        </p:txBody>
      </p:sp>
      <p:sp>
        <p:nvSpPr>
          <p:cNvPr id="9717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Register </a:t>
            </a:r>
            <a:r>
              <a:rPr lang="en-US" dirty="0" err="1"/>
              <a:t>foobar.com</a:t>
            </a:r>
            <a:r>
              <a:rPr lang="en-US" dirty="0"/>
              <a:t> at registrar </a:t>
            </a:r>
          </a:p>
          <a:p>
            <a:pPr lvl="1"/>
            <a:r>
              <a:rPr lang="en-US" dirty="0"/>
              <a:t>Provide registrar with names and IP addresses of your authoritative name server(s)</a:t>
            </a:r>
          </a:p>
          <a:p>
            <a:pPr lvl="1"/>
            <a:r>
              <a:rPr lang="en-US" dirty="0"/>
              <a:t>Registrar inserts RR pairs into the .com TLD server:</a:t>
            </a:r>
          </a:p>
          <a:p>
            <a:pPr lvl="2"/>
            <a:r>
              <a:rPr lang="en-US" dirty="0"/>
              <a:t>(</a:t>
            </a:r>
            <a:r>
              <a:rPr lang="en-US" dirty="0" err="1"/>
              <a:t>foobar.com</a:t>
            </a:r>
            <a:r>
              <a:rPr lang="en-US" dirty="0"/>
              <a:t>, dns1.foobar.com, NS)</a:t>
            </a:r>
          </a:p>
          <a:p>
            <a:pPr lvl="2"/>
            <a:r>
              <a:rPr lang="en-US" dirty="0"/>
              <a:t>(dns1.foobar.com, 212.44.9.129, A)</a:t>
            </a:r>
          </a:p>
          <a:p>
            <a:r>
              <a:rPr lang="en-US" dirty="0"/>
              <a:t>Store resource records in your server dns1.foobar.com</a:t>
            </a:r>
          </a:p>
          <a:p>
            <a:pPr lvl="1"/>
            <a:r>
              <a:rPr lang="en-US" dirty="0"/>
              <a:t>e.g., type A record for </a:t>
            </a:r>
            <a:r>
              <a:rPr lang="en-US" dirty="0" err="1"/>
              <a:t>www.foobar.com</a:t>
            </a:r>
            <a:endParaRPr lang="en-US" dirty="0"/>
          </a:p>
          <a:p>
            <a:pPr lvl="1"/>
            <a:r>
              <a:rPr lang="en-US" dirty="0"/>
              <a:t>e.g., type MX record for </a:t>
            </a:r>
            <a:r>
              <a:rPr lang="en-US" dirty="0" err="1"/>
              <a:t>foobar.com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96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1779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DNS (Client/App View)</a:t>
            </a:r>
            <a:endParaRPr lang="en-US" dirty="0"/>
          </a:p>
        </p:txBody>
      </p:sp>
      <p:sp>
        <p:nvSpPr>
          <p:cNvPr id="941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components</a:t>
            </a:r>
          </a:p>
          <a:p>
            <a:pPr lvl="1"/>
            <a:r>
              <a:rPr lang="en-US" dirty="0"/>
              <a:t>Local DNS servers</a:t>
            </a:r>
          </a:p>
          <a:p>
            <a:pPr lvl="1"/>
            <a:r>
              <a:rPr lang="en-US" dirty="0"/>
              <a:t>Resolver software on hosts</a:t>
            </a:r>
          </a:p>
          <a:p>
            <a:r>
              <a:rPr lang="en-US" dirty="0"/>
              <a:t>Local DNS server (“default name server”)</a:t>
            </a:r>
          </a:p>
          <a:p>
            <a:pPr lvl="1"/>
            <a:r>
              <a:rPr lang="en-US" dirty="0"/>
              <a:t>Clients configured with default server’s address OR learn it via a host configuration protocol (e.g., DHCP)</a:t>
            </a:r>
          </a:p>
          <a:p>
            <a:r>
              <a:rPr lang="en-US" dirty="0"/>
              <a:t>Client application </a:t>
            </a:r>
          </a:p>
          <a:p>
            <a:pPr lvl="1"/>
            <a:r>
              <a:rPr lang="en-US" dirty="0"/>
              <a:t>Obtain DNS name (e.g., from URL)</a:t>
            </a:r>
          </a:p>
          <a:p>
            <a:pPr lvl="1"/>
            <a:r>
              <a:rPr lang="en-US" dirty="0"/>
              <a:t>Do </a:t>
            </a:r>
            <a:r>
              <a:rPr lang="en-US" dirty="0" err="1">
                <a:solidFill>
                  <a:srgbClr val="0000FF"/>
                </a:solidFill>
                <a:latin typeface="Lucida Console" charset="0"/>
                <a:ea typeface="Lucida Console" charset="0"/>
                <a:cs typeface="Lucida Console" charset="0"/>
              </a:rPr>
              <a:t>getnameinfo</a:t>
            </a:r>
            <a:r>
              <a:rPr lang="en-US" dirty="0">
                <a:solidFill>
                  <a:srgbClr val="0000FF"/>
                </a:solidFill>
                <a:latin typeface="Lucida Console" charset="0"/>
                <a:ea typeface="Lucida Console" charset="0"/>
                <a:cs typeface="Lucida Console" charset="0"/>
              </a:rPr>
              <a:t>()</a:t>
            </a:r>
            <a:r>
              <a:rPr lang="en-US" dirty="0"/>
              <a:t> to trigger DNS request to its local DNS server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050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1059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E93CB-1E59-1446-B9CC-A58DE97DC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BD2CD-0932-224B-B940-4980B9701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dig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nyu.edu</a:t>
            </a:r>
            <a:endParaRPr lang="en-US" sz="1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&lt;&lt;&gt;&gt;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DiG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9.10.6 &lt;&lt;&gt;&gt;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nyu.edu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global options: +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cmd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Got answer: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-&gt;&gt;HEADER&lt;&lt;- opcode: QUERY, status: NOERROR, id: 64269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flags: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qr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rd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QUERY: 1, ANSWER: 1, AUTHORITY: 0, ADDITIONAL: 1</a:t>
            </a: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OPT PSEUDOSECTION: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EDNS: version: 0, flags:;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udp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512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;; QUESTION SECTION: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nyu.edu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.			IN	A</a:t>
            </a: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;; ANSWER SECTION:</a:t>
            </a:r>
          </a:p>
          <a:p>
            <a:pPr marL="0" indent="0">
              <a:buNone/>
            </a:pP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nyu.edu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.		60	IN	A	216.165.61.24</a:t>
            </a: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Query time: 79 msec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SERVER: 8.8.8.8#53(8.8.8.8)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WHEN: Fri Jan 18 11:07:26 EST 2025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MSG SIZE 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rcvd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52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52F04-60AD-794D-84CF-768EEF39E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3B634-C135-B140-B8A1-2BCD1BEC7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CE0C0-F32C-4C47-9EEB-08A5BBC56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4429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4BDD0-C288-215E-11A2-817D6E526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6D7CD-5BF8-8CB3-7E08-8E2F157F2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 (in 2021)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C190-3633-295A-D3E3-CB389DD9A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dig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nyu.edu</a:t>
            </a:r>
            <a:endParaRPr lang="en-US" sz="1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&lt;&lt;&gt;&gt;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DiG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9.10.6 &lt;&lt;&gt;&gt;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nyu.edu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global options: +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cmd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Got answer: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-&gt;&gt;HEADER&lt;&lt;- opcode: QUERY, status: NOERROR, id: 47443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flags: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qr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rd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ra; QUERY: 1, ANSWER: 1, AUTHORITY: 0, ADDITIONAL: 1</a:t>
            </a: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OPT PSEUDOSECTION: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EDNS: version: 0, flags:;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udp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512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;; QUESTION SECTION: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nyu.edu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.			IN	A</a:t>
            </a: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;; ANSWER SECTION:</a:t>
            </a:r>
          </a:p>
          <a:p>
            <a:pPr marL="0" indent="0">
              <a:buNone/>
            </a:pP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nyu.edu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.		60	IN	A	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216.165.47.10</a:t>
            </a: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Query time: 39 msec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SERVER: 192.168.1.1#53(192.168.1.1)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WHEN: Fri Sep 10 08:21:43 EDT 2021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MSG SIZE 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rcvd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52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5139E-6973-A718-D960-E729496BB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DB75E-A3C6-187B-FA1C-5E8FBE128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D6EB7-F7A9-2DAB-974C-AAF71411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1719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1" name="Shape 1151"/>
          <p:cNvSpPr/>
          <p:nvPr/>
        </p:nvSpPr>
        <p:spPr>
          <a:xfrm>
            <a:off x="5096311" y="2667698"/>
            <a:ext cx="1988191" cy="843095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2" name="Shape 1152"/>
          <p:cNvSpPr/>
          <p:nvPr/>
        </p:nvSpPr>
        <p:spPr>
          <a:xfrm>
            <a:off x="7358063" y="3973711"/>
            <a:ext cx="466424" cy="795431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965755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5" grpId="0" animBg="1"/>
      <p:bldP spid="1146" grpId="0" animBg="1"/>
      <p:bldP spid="115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1" name="Shape 1151"/>
          <p:cNvSpPr/>
          <p:nvPr/>
        </p:nvSpPr>
        <p:spPr>
          <a:xfrm>
            <a:off x="5096311" y="2667698"/>
            <a:ext cx="1988191" cy="843095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2" name="Shape 1152"/>
          <p:cNvSpPr/>
          <p:nvPr/>
        </p:nvSpPr>
        <p:spPr>
          <a:xfrm>
            <a:off x="7358063" y="3973711"/>
            <a:ext cx="466424" cy="795431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  <p:sp>
        <p:nvSpPr>
          <p:cNvPr id="24" name="Shape 1147"/>
          <p:cNvSpPr/>
          <p:nvPr/>
        </p:nvSpPr>
        <p:spPr>
          <a:xfrm>
            <a:off x="1259086" y="4277320"/>
            <a:ext cx="838980" cy="1071073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ea typeface="Arial" charset="0"/>
              <a:cs typeface="Arial" charset="0"/>
            </a:endParaRPr>
          </a:p>
        </p:txBody>
      </p:sp>
      <p:sp>
        <p:nvSpPr>
          <p:cNvPr id="25" name="Shape 1154"/>
          <p:cNvSpPr/>
          <p:nvPr/>
        </p:nvSpPr>
        <p:spPr>
          <a:xfrm rot="3178774">
            <a:off x="357889" y="4930296"/>
            <a:ext cx="2206437" cy="39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lnSpc>
                <a:spcPct val="80000"/>
              </a:lnSpc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b="0" dirty="0">
                <a:latin typeface="Arial" charset="0"/>
                <a:ea typeface="Arial" charset="0"/>
                <a:cs typeface="Arial" charset="0"/>
              </a:rPr>
              <a:t>www.</a:t>
            </a:r>
            <a:r>
              <a:rPr lang="en-US" sz="2500" b="0" dirty="0">
                <a:latin typeface="Arial" charset="0"/>
                <a:ea typeface="Arial" charset="0"/>
                <a:cs typeface="Arial" charset="0"/>
              </a:rPr>
              <a:t>nyu.edu?</a:t>
            </a:r>
            <a:endParaRPr sz="2500" b="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6" name="Shape 1146"/>
          <p:cNvSpPr/>
          <p:nvPr/>
        </p:nvSpPr>
        <p:spPr>
          <a:xfrm>
            <a:off x="152400" y="3322370"/>
            <a:ext cx="3505200" cy="441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(</a:t>
            </a:r>
            <a:r>
              <a:rPr lang="en-US" sz="2400" dirty="0" err="1">
                <a:latin typeface="Arial" charset="0"/>
                <a:ea typeface="Arial" charset="0"/>
                <a:cs typeface="Arial" charset="0"/>
              </a:rPr>
              <a:t>mydns.umich.edu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)</a:t>
            </a:r>
            <a:endParaRPr sz="24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91789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 advAuto="0"/>
      <p:bldP spid="25" grpId="0" animBg="1" advAuto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1" name="Shape 1151"/>
          <p:cNvSpPr/>
          <p:nvPr/>
        </p:nvSpPr>
        <p:spPr>
          <a:xfrm>
            <a:off x="5096311" y="2667698"/>
            <a:ext cx="1988191" cy="843095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2" name="Shape 1152"/>
          <p:cNvSpPr/>
          <p:nvPr/>
        </p:nvSpPr>
        <p:spPr>
          <a:xfrm>
            <a:off x="7358063" y="3973711"/>
            <a:ext cx="466424" cy="795431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  <p:sp>
        <p:nvSpPr>
          <p:cNvPr id="24" name="Shape 1147"/>
          <p:cNvSpPr/>
          <p:nvPr/>
        </p:nvSpPr>
        <p:spPr>
          <a:xfrm>
            <a:off x="1259086" y="4277320"/>
            <a:ext cx="838980" cy="1071073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ea typeface="Arial" charset="0"/>
              <a:cs typeface="Arial" charset="0"/>
            </a:endParaRPr>
          </a:p>
        </p:txBody>
      </p:sp>
      <p:sp>
        <p:nvSpPr>
          <p:cNvPr id="25" name="Shape 1154"/>
          <p:cNvSpPr/>
          <p:nvPr/>
        </p:nvSpPr>
        <p:spPr>
          <a:xfrm rot="3178774">
            <a:off x="357889" y="4930296"/>
            <a:ext cx="2206437" cy="39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lnSpc>
                <a:spcPct val="80000"/>
              </a:lnSpc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b="0" dirty="0">
                <a:latin typeface="Arial" charset="0"/>
                <a:ea typeface="Arial" charset="0"/>
                <a:cs typeface="Arial" charset="0"/>
              </a:rPr>
              <a:t>www.</a:t>
            </a:r>
            <a:r>
              <a:rPr lang="en-US" sz="2500" b="0" dirty="0">
                <a:latin typeface="Arial" charset="0"/>
                <a:ea typeface="Arial" charset="0"/>
                <a:cs typeface="Arial" charset="0"/>
              </a:rPr>
              <a:t>nyu.edu?</a:t>
            </a:r>
            <a:endParaRPr sz="2500" b="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6" name="Shape 1146"/>
          <p:cNvSpPr/>
          <p:nvPr/>
        </p:nvSpPr>
        <p:spPr>
          <a:xfrm>
            <a:off x="152400" y="3322370"/>
            <a:ext cx="3505200" cy="441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(</a:t>
            </a:r>
            <a:r>
              <a:rPr lang="en-US" sz="2400" dirty="0" err="1">
                <a:latin typeface="Arial" charset="0"/>
                <a:ea typeface="Arial" charset="0"/>
                <a:cs typeface="Arial" charset="0"/>
              </a:rPr>
              <a:t>mydns.umich.edu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)</a:t>
            </a:r>
            <a:endParaRPr sz="24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7" name="Shape 1167"/>
          <p:cNvSpPr/>
          <p:nvPr/>
        </p:nvSpPr>
        <p:spPr>
          <a:xfrm flipH="1">
            <a:off x="1447100" y="2626294"/>
            <a:ext cx="2843869" cy="124576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498273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2" name="Shape 1152"/>
          <p:cNvSpPr/>
          <p:nvPr/>
        </p:nvSpPr>
        <p:spPr>
          <a:xfrm>
            <a:off x="7358063" y="3973711"/>
            <a:ext cx="466424" cy="795431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  <p:sp>
        <p:nvSpPr>
          <p:cNvPr id="24" name="Shape 1147"/>
          <p:cNvSpPr/>
          <p:nvPr/>
        </p:nvSpPr>
        <p:spPr>
          <a:xfrm>
            <a:off x="1259086" y="4277320"/>
            <a:ext cx="838980" cy="1071073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ea typeface="Arial" charset="0"/>
              <a:cs typeface="Arial" charset="0"/>
            </a:endParaRPr>
          </a:p>
        </p:txBody>
      </p:sp>
      <p:sp>
        <p:nvSpPr>
          <p:cNvPr id="25" name="Shape 1154"/>
          <p:cNvSpPr/>
          <p:nvPr/>
        </p:nvSpPr>
        <p:spPr>
          <a:xfrm rot="3178774">
            <a:off x="357889" y="4930296"/>
            <a:ext cx="2206437" cy="39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lnSpc>
                <a:spcPct val="80000"/>
              </a:lnSpc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b="0" dirty="0">
                <a:latin typeface="Arial" charset="0"/>
                <a:ea typeface="Arial" charset="0"/>
                <a:cs typeface="Arial" charset="0"/>
              </a:rPr>
              <a:t>www.</a:t>
            </a:r>
            <a:r>
              <a:rPr lang="en-US" sz="2500" b="0" dirty="0">
                <a:latin typeface="Arial" charset="0"/>
                <a:ea typeface="Arial" charset="0"/>
                <a:cs typeface="Arial" charset="0"/>
              </a:rPr>
              <a:t>nyu.edu?</a:t>
            </a:r>
            <a:endParaRPr sz="2500" b="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6" name="Shape 1146"/>
          <p:cNvSpPr/>
          <p:nvPr/>
        </p:nvSpPr>
        <p:spPr>
          <a:xfrm>
            <a:off x="152400" y="3322370"/>
            <a:ext cx="3505200" cy="441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(</a:t>
            </a:r>
            <a:r>
              <a:rPr lang="en-US" sz="2400" dirty="0" err="1">
                <a:latin typeface="Arial" charset="0"/>
                <a:ea typeface="Arial" charset="0"/>
                <a:cs typeface="Arial" charset="0"/>
              </a:rPr>
              <a:t>mydns.umich.edu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)</a:t>
            </a:r>
            <a:endParaRPr sz="24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7" name="Shape 1167"/>
          <p:cNvSpPr/>
          <p:nvPr/>
        </p:nvSpPr>
        <p:spPr>
          <a:xfrm flipH="1">
            <a:off x="1447100" y="2626294"/>
            <a:ext cx="2843869" cy="124576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29" name="Shape 1189"/>
          <p:cNvSpPr/>
          <p:nvPr/>
        </p:nvSpPr>
        <p:spPr>
          <a:xfrm flipH="1" flipV="1">
            <a:off x="4937670" y="2616217"/>
            <a:ext cx="2146832" cy="89457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309418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resolution: Recursive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  <p:sp>
        <p:nvSpPr>
          <p:cNvPr id="24" name="Shape 1147"/>
          <p:cNvSpPr/>
          <p:nvPr/>
        </p:nvSpPr>
        <p:spPr>
          <a:xfrm>
            <a:off x="1259086" y="4277320"/>
            <a:ext cx="838980" cy="1071073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ea typeface="Arial" charset="0"/>
              <a:cs typeface="Arial" charset="0"/>
            </a:endParaRPr>
          </a:p>
        </p:txBody>
      </p:sp>
      <p:sp>
        <p:nvSpPr>
          <p:cNvPr id="25" name="Shape 1154"/>
          <p:cNvSpPr/>
          <p:nvPr/>
        </p:nvSpPr>
        <p:spPr>
          <a:xfrm rot="3178774">
            <a:off x="357889" y="4930296"/>
            <a:ext cx="2206437" cy="39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lnSpc>
                <a:spcPct val="80000"/>
              </a:lnSpc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b="0" dirty="0">
                <a:latin typeface="Arial" charset="0"/>
                <a:ea typeface="Arial" charset="0"/>
                <a:cs typeface="Arial" charset="0"/>
              </a:rPr>
              <a:t>www.</a:t>
            </a:r>
            <a:r>
              <a:rPr lang="en-US" sz="2500" b="0" dirty="0">
                <a:latin typeface="Arial" charset="0"/>
                <a:ea typeface="Arial" charset="0"/>
                <a:cs typeface="Arial" charset="0"/>
              </a:rPr>
              <a:t>nyu.edu?</a:t>
            </a:r>
            <a:endParaRPr sz="2500" b="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6" name="Shape 1146"/>
          <p:cNvSpPr/>
          <p:nvPr/>
        </p:nvSpPr>
        <p:spPr>
          <a:xfrm>
            <a:off x="152400" y="3322370"/>
            <a:ext cx="3505200" cy="441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(</a:t>
            </a:r>
            <a:r>
              <a:rPr lang="en-US" sz="2400" dirty="0" err="1">
                <a:latin typeface="Arial" charset="0"/>
                <a:ea typeface="Arial" charset="0"/>
                <a:cs typeface="Arial" charset="0"/>
              </a:rPr>
              <a:t>mydns.umich.edu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)</a:t>
            </a:r>
            <a:endParaRPr sz="24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7" name="Shape 1167"/>
          <p:cNvSpPr/>
          <p:nvPr/>
        </p:nvSpPr>
        <p:spPr>
          <a:xfrm flipH="1">
            <a:off x="1447100" y="2626294"/>
            <a:ext cx="2843869" cy="124576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29" name="Shape 1189"/>
          <p:cNvSpPr/>
          <p:nvPr/>
        </p:nvSpPr>
        <p:spPr>
          <a:xfrm flipH="1" flipV="1">
            <a:off x="4937670" y="2616217"/>
            <a:ext cx="2146832" cy="89457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0" name="Shape 1212"/>
          <p:cNvSpPr/>
          <p:nvPr/>
        </p:nvSpPr>
        <p:spPr>
          <a:xfrm flipH="1" flipV="1">
            <a:off x="7335095" y="3925317"/>
            <a:ext cx="487020" cy="852248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1" name="Shape 1221"/>
          <p:cNvSpPr/>
          <p:nvPr/>
        </p:nvSpPr>
        <p:spPr>
          <a:xfrm>
            <a:off x="7084502" y="3938631"/>
            <a:ext cx="518773" cy="892980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2" name="Shape 1222"/>
          <p:cNvSpPr/>
          <p:nvPr/>
        </p:nvSpPr>
        <p:spPr>
          <a:xfrm>
            <a:off x="4723804" y="2687836"/>
            <a:ext cx="2134195" cy="908942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3" name="Shape 1223"/>
          <p:cNvSpPr/>
          <p:nvPr/>
        </p:nvSpPr>
        <p:spPr>
          <a:xfrm flipV="1">
            <a:off x="1518047" y="2780949"/>
            <a:ext cx="2772922" cy="1192762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4" name="Shape 1224"/>
          <p:cNvSpPr/>
          <p:nvPr/>
        </p:nvSpPr>
        <p:spPr>
          <a:xfrm flipH="1" flipV="1">
            <a:off x="1421933" y="4240635"/>
            <a:ext cx="843095" cy="1082180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429599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 advAuto="0"/>
      <p:bldP spid="31" grpId="0" animBg="1" advAuto="0"/>
      <p:bldP spid="32" grpId="0" animBg="1" advAuto="0"/>
      <p:bldP spid="33" grpId="0" animBg="1" advAuto="0"/>
      <p:bldP spid="34" grpId="0" animBg="1" advAuto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resolution: Iterative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1" name="Shape 1151"/>
          <p:cNvSpPr/>
          <p:nvPr/>
        </p:nvSpPr>
        <p:spPr>
          <a:xfrm>
            <a:off x="5096311" y="2667698"/>
            <a:ext cx="1988191" cy="843095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2" name="Shape 1152"/>
          <p:cNvSpPr/>
          <p:nvPr/>
        </p:nvSpPr>
        <p:spPr>
          <a:xfrm>
            <a:off x="7358063" y="3973711"/>
            <a:ext cx="466424" cy="795431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  <p:sp>
        <p:nvSpPr>
          <p:cNvPr id="21" name="Shape 1147"/>
          <p:cNvSpPr/>
          <p:nvPr/>
        </p:nvSpPr>
        <p:spPr>
          <a:xfrm>
            <a:off x="1259086" y="4277320"/>
            <a:ext cx="838980" cy="1071073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ea typeface="Arial" charset="0"/>
              <a:cs typeface="Arial" charset="0"/>
            </a:endParaRPr>
          </a:p>
        </p:txBody>
      </p:sp>
      <p:sp>
        <p:nvSpPr>
          <p:cNvPr id="24" name="Shape 1154"/>
          <p:cNvSpPr/>
          <p:nvPr/>
        </p:nvSpPr>
        <p:spPr>
          <a:xfrm rot="3178774">
            <a:off x="357889" y="4930296"/>
            <a:ext cx="2206437" cy="39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lnSpc>
                <a:spcPct val="80000"/>
              </a:lnSpc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b="0" dirty="0">
                <a:latin typeface="Arial" charset="0"/>
                <a:ea typeface="Arial" charset="0"/>
                <a:cs typeface="Arial" charset="0"/>
              </a:rPr>
              <a:t>www.</a:t>
            </a:r>
            <a:r>
              <a:rPr lang="en-US" sz="2500" b="0" dirty="0">
                <a:latin typeface="Arial" charset="0"/>
                <a:ea typeface="Arial" charset="0"/>
                <a:cs typeface="Arial" charset="0"/>
              </a:rPr>
              <a:t>nyu.edu?</a:t>
            </a:r>
            <a:endParaRPr sz="2500" b="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6" name="Shape 1261"/>
          <p:cNvSpPr/>
          <p:nvPr/>
        </p:nvSpPr>
        <p:spPr>
          <a:xfrm flipH="1">
            <a:off x="1447100" y="2626294"/>
            <a:ext cx="2843869" cy="124576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27" name="Shape 1269"/>
          <p:cNvSpPr/>
          <p:nvPr/>
        </p:nvSpPr>
        <p:spPr>
          <a:xfrm flipH="1">
            <a:off x="1572936" y="3692702"/>
            <a:ext cx="4856439" cy="346598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28" name="Shape 1270"/>
          <p:cNvSpPr/>
          <p:nvPr/>
        </p:nvSpPr>
        <p:spPr>
          <a:xfrm flipV="1">
            <a:off x="1518047" y="2780949"/>
            <a:ext cx="2772922" cy="1192762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29" name="Shape 1271"/>
          <p:cNvSpPr/>
          <p:nvPr/>
        </p:nvSpPr>
        <p:spPr>
          <a:xfrm flipV="1">
            <a:off x="1547768" y="3842232"/>
            <a:ext cx="4881607" cy="335485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0" name="Shape 1272"/>
          <p:cNvSpPr/>
          <p:nvPr/>
        </p:nvSpPr>
        <p:spPr>
          <a:xfrm flipH="1" flipV="1">
            <a:off x="1547768" y="4278385"/>
            <a:ext cx="5787327" cy="720100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1" name="Shape 1273"/>
          <p:cNvSpPr/>
          <p:nvPr/>
        </p:nvSpPr>
        <p:spPr>
          <a:xfrm>
            <a:off x="1472269" y="4404220"/>
            <a:ext cx="5690532" cy="738474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2" name="Shape 1274"/>
          <p:cNvSpPr/>
          <p:nvPr/>
        </p:nvSpPr>
        <p:spPr>
          <a:xfrm flipH="1" flipV="1">
            <a:off x="1157681" y="4404219"/>
            <a:ext cx="868261" cy="1119932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68245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 advAuto="0"/>
      <p:bldP spid="24" grpId="0" animBg="1" advAuto="0"/>
      <p:bldP spid="26" grpId="0" animBg="1" advAuto="0"/>
      <p:bldP spid="27" grpId="0" animBg="1" advAuto="0"/>
      <p:bldP spid="28" grpId="0" animBg="1" advAuto="0"/>
      <p:bldP spid="29" grpId="0" animBg="1" advAuto="0"/>
      <p:bldP spid="30" grpId="0" animBg="1" advAuto="0"/>
      <p:bldP spid="31" grpId="0" animBg="1" advAuto="0"/>
      <p:bldP spid="32" grpId="0" animBg="1" advAuto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ways to resolve a name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Recursive name resolution</a:t>
            </a:r>
          </a:p>
          <a:p>
            <a:pPr lvl="1"/>
            <a:r>
              <a:rPr lang="en-US" dirty="0"/>
              <a:t>Ask server to do it for you</a:t>
            </a:r>
          </a:p>
          <a:p>
            <a:r>
              <a:rPr lang="en-US" dirty="0"/>
              <a:t>Iterative name resolution</a:t>
            </a:r>
          </a:p>
          <a:p>
            <a:pPr lvl="1"/>
            <a:r>
              <a:rPr lang="en-US" dirty="0"/>
              <a:t>Ask server who to ask next</a:t>
            </a:r>
          </a:p>
          <a:p>
            <a:r>
              <a:rPr lang="en-US" dirty="0"/>
              <a:t>The iterative example we saw is a mix of both!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05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protocol</a:t>
            </a:r>
          </a:p>
        </p:txBody>
      </p:sp>
      <p:sp>
        <p:nvSpPr>
          <p:cNvPr id="16363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Query</a:t>
            </a:r>
            <a:r>
              <a:rPr lang="en-US" dirty="0"/>
              <a:t> and </a:t>
            </a:r>
            <a:r>
              <a:rPr lang="en-US" dirty="0">
                <a:solidFill>
                  <a:srgbClr val="0000FF"/>
                </a:solidFill>
              </a:rPr>
              <a:t>Reply</a:t>
            </a:r>
            <a:r>
              <a:rPr lang="en-US" dirty="0"/>
              <a:t> messages; both with the same message format 	</a:t>
            </a:r>
          </a:p>
          <a:p>
            <a:pPr lvl="1"/>
            <a:r>
              <a:rPr lang="en-US" dirty="0"/>
              <a:t>Header: identifier, flags, etc.</a:t>
            </a:r>
          </a:p>
          <a:p>
            <a:pPr lvl="1"/>
            <a:r>
              <a:rPr lang="en-US" dirty="0"/>
              <a:t>Plus, resource records</a:t>
            </a:r>
          </a:p>
          <a:p>
            <a:r>
              <a:rPr lang="en-US" dirty="0"/>
              <a:t>Client–server interaction on UDP Port 53</a:t>
            </a:r>
          </a:p>
          <a:p>
            <a:pPr lvl="1"/>
            <a:r>
              <a:rPr lang="en-US" dirty="0">
                <a:sym typeface="Wingdings" charset="0"/>
              </a:rPr>
              <a:t>Spec supports TCP too, but not always implemented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092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6355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Goals: Are we there yet?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Uniqueness: No naming conflicts</a:t>
            </a:r>
          </a:p>
          <a:p>
            <a:r>
              <a:rPr lang="en-US" dirty="0"/>
              <a:t>Scalable</a:t>
            </a:r>
          </a:p>
          <a:p>
            <a:r>
              <a:rPr lang="en-US" dirty="0"/>
              <a:t>Distributed, autonomous administration</a:t>
            </a:r>
          </a:p>
          <a:p>
            <a:r>
              <a:rPr lang="en-US" dirty="0">
                <a:solidFill>
                  <a:srgbClr val="0000FF"/>
                </a:solidFill>
              </a:rPr>
              <a:t>Highly available?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80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Reliability</a:t>
            </a:r>
          </a:p>
        </p:txBody>
      </p:sp>
      <p:sp>
        <p:nvSpPr>
          <p:cNvPr id="969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Replicated</a:t>
            </a:r>
            <a:r>
              <a:rPr lang="en-US" dirty="0"/>
              <a:t> DNS servers (primary/secondary)</a:t>
            </a:r>
          </a:p>
          <a:p>
            <a:pPr lvl="1"/>
            <a:r>
              <a:rPr lang="en-US" dirty="0"/>
              <a:t>Name service available if </a:t>
            </a:r>
            <a:r>
              <a:rPr lang="en-US" dirty="0">
                <a:sym typeface="Math B" charset="0"/>
              </a:rPr>
              <a:t>at least one</a:t>
            </a:r>
            <a:r>
              <a:rPr lang="en-US" dirty="0"/>
              <a:t> replica is up</a:t>
            </a:r>
          </a:p>
          <a:p>
            <a:pPr lvl="1"/>
            <a:r>
              <a:rPr lang="en-US" dirty="0"/>
              <a:t>Queries can be load-balanced between replicas</a:t>
            </a:r>
          </a:p>
          <a:p>
            <a:r>
              <a:rPr lang="en-US" dirty="0"/>
              <a:t>Usually, UDP used for queries</a:t>
            </a:r>
          </a:p>
          <a:p>
            <a:pPr lvl="1"/>
            <a:r>
              <a:rPr lang="en-US" dirty="0"/>
              <a:t>Reliability, if needed, </a:t>
            </a:r>
            <a:r>
              <a:rPr lang="en-US" dirty="0">
                <a:sym typeface="Wingdings" charset="0"/>
              </a:rPr>
              <a:t>must be implemented on UDP</a:t>
            </a:r>
          </a:p>
          <a:p>
            <a:r>
              <a:rPr lang="en-US" dirty="0"/>
              <a:t>Try alternate servers on timeout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Exponential </a:t>
            </a:r>
            <a:r>
              <a:rPr lang="en-US" dirty="0" err="1">
                <a:solidFill>
                  <a:srgbClr val="0000FF"/>
                </a:solidFill>
              </a:rPr>
              <a:t>backoff</a:t>
            </a:r>
            <a:r>
              <a:rPr lang="en-US" dirty="0"/>
              <a:t> when retrying same server</a:t>
            </a:r>
          </a:p>
          <a:p>
            <a:r>
              <a:rPr lang="en-US" dirty="0"/>
              <a:t>Same identifier for all queries</a:t>
            </a:r>
          </a:p>
          <a:p>
            <a:pPr lvl="1"/>
            <a:r>
              <a:rPr lang="en-US" dirty="0"/>
              <a:t>Don’t care which server responds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66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9731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Goals: Are we there yet?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Uniqueness: No naming conflicts</a:t>
            </a:r>
          </a:p>
          <a:p>
            <a:r>
              <a:rPr lang="en-US" dirty="0"/>
              <a:t>Scalable</a:t>
            </a:r>
          </a:p>
          <a:p>
            <a:r>
              <a:rPr lang="en-US" dirty="0"/>
              <a:t>Distributed, autonomous administration</a:t>
            </a:r>
          </a:p>
          <a:p>
            <a:r>
              <a:rPr lang="en-US" dirty="0"/>
              <a:t>Highly available</a:t>
            </a:r>
          </a:p>
          <a:p>
            <a:r>
              <a:rPr lang="en-US" dirty="0">
                <a:solidFill>
                  <a:srgbClr val="0000FF"/>
                </a:solidFill>
              </a:rPr>
              <a:t>Fast lookups?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7025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caching</a:t>
            </a:r>
          </a:p>
        </p:txBody>
      </p:sp>
      <p:sp>
        <p:nvSpPr>
          <p:cNvPr id="951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Performing all these queries takes time</a:t>
            </a:r>
          </a:p>
          <a:p>
            <a:pPr lvl="1"/>
            <a:r>
              <a:rPr lang="en-US" dirty="0"/>
              <a:t>Up to 1-second latency before starting download</a:t>
            </a:r>
          </a:p>
          <a:p>
            <a:r>
              <a:rPr lang="en-US" dirty="0"/>
              <a:t>Caching can greatly reduce overhead</a:t>
            </a:r>
          </a:p>
          <a:p>
            <a:pPr lvl="1"/>
            <a:r>
              <a:rPr lang="en-US" dirty="0"/>
              <a:t>The top-level servers very rarely change</a:t>
            </a:r>
          </a:p>
          <a:p>
            <a:pPr lvl="1"/>
            <a:r>
              <a:rPr lang="en-US" dirty="0"/>
              <a:t>Popular sites (e.g., </a:t>
            </a:r>
            <a:r>
              <a:rPr lang="en-US" dirty="0" err="1"/>
              <a:t>www.google.com</a:t>
            </a:r>
            <a:r>
              <a:rPr lang="en-US" dirty="0"/>
              <a:t>) visited often</a:t>
            </a:r>
          </a:p>
          <a:p>
            <a:pPr lvl="1"/>
            <a:r>
              <a:rPr lang="en-US" dirty="0"/>
              <a:t>Local DNS server often has the information cached</a:t>
            </a:r>
          </a:p>
          <a:p>
            <a:r>
              <a:rPr lang="en-US" dirty="0"/>
              <a:t>How DNS caching works</a:t>
            </a:r>
          </a:p>
          <a:p>
            <a:pPr lvl="1"/>
            <a:r>
              <a:rPr lang="en-US" dirty="0"/>
              <a:t>DNS servers cache responses to queries</a:t>
            </a:r>
          </a:p>
          <a:p>
            <a:pPr lvl="1"/>
            <a:r>
              <a:rPr lang="en-US" dirty="0"/>
              <a:t>Responses include a </a:t>
            </a:r>
            <a:r>
              <a:rPr lang="ja-JP" altLang="en-US" dirty="0">
                <a:solidFill>
                  <a:srgbClr val="0000FF"/>
                </a:solidFill>
              </a:rPr>
              <a:t>“</a:t>
            </a:r>
            <a:r>
              <a:rPr lang="en-US" dirty="0">
                <a:solidFill>
                  <a:srgbClr val="0000FF"/>
                </a:solidFill>
              </a:rPr>
              <a:t>time to live</a:t>
            </a:r>
            <a:r>
              <a:rPr lang="ja-JP" altLang="en-US" dirty="0">
                <a:solidFill>
                  <a:srgbClr val="0000FF"/>
                </a:solidFill>
              </a:rPr>
              <a:t>”</a:t>
            </a:r>
            <a:r>
              <a:rPr lang="en-US" dirty="0">
                <a:solidFill>
                  <a:srgbClr val="0000FF"/>
                </a:solidFill>
              </a:rPr>
              <a:t> (TTL)</a:t>
            </a:r>
            <a:r>
              <a:rPr lang="en-US" dirty="0"/>
              <a:t> field</a:t>
            </a:r>
          </a:p>
          <a:p>
            <a:pPr lvl="1"/>
            <a:r>
              <a:rPr lang="en-US" dirty="0"/>
              <a:t>Server deletes cached entry after TTL expires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423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299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E93CB-1E59-1446-B9CC-A58DE97DC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TTL in dig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BD2CD-0932-224B-B940-4980B9701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dig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nyu.edu</a:t>
            </a:r>
            <a:endParaRPr lang="en-US" sz="1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&lt;&lt;&gt;&gt;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DiG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9.10.6 &lt;&lt;&gt;&gt;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nyu.edu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global options: +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cmd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Got answer: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-&gt;&gt;HEADER&lt;&lt;- opcode: QUERY, status: NOERROR, id: 64269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flags: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qr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rd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QUERY: 1, ANSWER: 1, AUTHORITY: 0, ADDITIONAL: 1</a:t>
            </a: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OPT PSEUDOSECTION: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EDNS: version: 0, flags:;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udp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512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;; QUESTION SECTION: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nyu.edu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.			IN	A</a:t>
            </a: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;; ANSWER SECTION:</a:t>
            </a:r>
          </a:p>
          <a:p>
            <a:pPr marL="0" indent="0">
              <a:buNone/>
            </a:pP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nyu.edu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.		60	IN	A	216.165.61.24</a:t>
            </a: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Query time: 79 msec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SERVER: 8.8.8.8#53(8.8.8.8)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WHEN: Fri Jan 18 11:07:26 EST 2025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;; MSG SIZE 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rcvd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52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52F04-60AD-794D-84CF-768EEF39E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3B634-C135-B140-B8A1-2BCD1BEC7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CE0C0-F32C-4C47-9EEB-08A5BBC56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127926-3251-0B4A-96A1-F7475AED26FF}"/>
              </a:ext>
            </a:extLst>
          </p:cNvPr>
          <p:cNvSpPr/>
          <p:nvPr/>
        </p:nvSpPr>
        <p:spPr bwMode="auto">
          <a:xfrm>
            <a:off x="2362200" y="4495800"/>
            <a:ext cx="609600" cy="533400"/>
          </a:xfrm>
          <a:prstGeom prst="ellipse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C8B8A1-256C-A742-BA5D-40B6DAE50534}"/>
              </a:ext>
            </a:extLst>
          </p:cNvPr>
          <p:cNvSpPr txBox="1"/>
          <p:nvPr/>
        </p:nvSpPr>
        <p:spPr>
          <a:xfrm>
            <a:off x="2667000" y="4235669"/>
            <a:ext cx="15819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TTL (seconds)</a:t>
            </a:r>
          </a:p>
        </p:txBody>
      </p:sp>
    </p:spTree>
    <p:extLst>
      <p:ext uri="{BB962C8B-B14F-4D97-AF65-F5344CB8AC3E}">
        <p14:creationId xmlns:p14="http://schemas.microsoft.com/office/powerpoint/2010/main" val="2041953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properties of DNS</a:t>
            </a:r>
          </a:p>
        </p:txBody>
      </p:sp>
      <p:sp>
        <p:nvSpPr>
          <p:cNvPr id="16281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Administrative delegation and hierarchy enables: </a:t>
            </a:r>
          </a:p>
          <a:p>
            <a:pPr lvl="1"/>
            <a:r>
              <a:rPr lang="en-US" dirty="0"/>
              <a:t>Easy unique naming</a:t>
            </a:r>
          </a:p>
          <a:p>
            <a:pPr lvl="1"/>
            <a:r>
              <a:rPr lang="en-US" dirty="0"/>
              <a:t>“Fate sharing” for network failures</a:t>
            </a:r>
          </a:p>
          <a:p>
            <a:pPr lvl="1"/>
            <a:r>
              <a:rPr lang="en-US" dirty="0"/>
              <a:t>Reasonable trust model</a:t>
            </a:r>
          </a:p>
          <a:p>
            <a:pPr lvl="1"/>
            <a:r>
              <a:rPr lang="en-US" dirty="0"/>
              <a:t>Caching increases scalability and performance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6300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provides indirection</a:t>
            </a:r>
          </a:p>
        </p:txBody>
      </p:sp>
      <p:sp>
        <p:nvSpPr>
          <p:cNvPr id="924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Addresses can change underneath</a:t>
            </a:r>
          </a:p>
          <a:p>
            <a:pPr lvl="1"/>
            <a:r>
              <a:rPr lang="en-US" dirty="0"/>
              <a:t>Move </a:t>
            </a:r>
            <a:r>
              <a:rPr lang="en-US" dirty="0" err="1"/>
              <a:t>www.cnn.com</a:t>
            </a:r>
            <a:r>
              <a:rPr lang="en-US" dirty="0"/>
              <a:t> to 4.125.91.21</a:t>
            </a:r>
          </a:p>
          <a:p>
            <a:r>
              <a:rPr lang="en-US" dirty="0"/>
              <a:t>Name could map to multiple IP addresses</a:t>
            </a:r>
          </a:p>
          <a:p>
            <a:pPr lvl="1"/>
            <a:r>
              <a:rPr lang="en-US" dirty="0"/>
              <a:t>Load-balancing (</a:t>
            </a:r>
            <a:r>
              <a:rPr lang="en-US" dirty="0">
                <a:solidFill>
                  <a:srgbClr val="0000FF"/>
                </a:solidFill>
              </a:rPr>
              <a:t>CDN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Reducing latency by picking nearby servers (</a:t>
            </a:r>
            <a:r>
              <a:rPr lang="en-US" dirty="0">
                <a:solidFill>
                  <a:srgbClr val="0000FF"/>
                </a:solidFill>
              </a:rPr>
              <a:t>CDN</a:t>
            </a:r>
            <a:r>
              <a:rPr lang="en-US" dirty="0"/>
              <a:t>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Try out</a:t>
            </a:r>
            <a:r>
              <a:rPr lang="en-US" dirty="0"/>
              <a:t>: </a:t>
            </a:r>
            <a:r>
              <a:rPr lang="en-US" dirty="0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dig </a:t>
            </a:r>
            <a:r>
              <a:rPr lang="en-US" dirty="0" err="1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google.com</a:t>
            </a:r>
            <a:r>
              <a:rPr lang="en-US" dirty="0"/>
              <a:t> a few times</a:t>
            </a:r>
          </a:p>
          <a:p>
            <a:r>
              <a:rPr lang="en-US" dirty="0"/>
              <a:t>Multiple names for the same address</a:t>
            </a:r>
          </a:p>
          <a:p>
            <a:pPr lvl="1"/>
            <a:r>
              <a:rPr lang="en-US" dirty="0"/>
              <a:t>E.g., many services (mail, www) on same machine </a:t>
            </a:r>
          </a:p>
          <a:p>
            <a:pPr lvl="1"/>
            <a:r>
              <a:rPr lang="en-US" dirty="0"/>
              <a:t>E.g., aliases like </a:t>
            </a:r>
            <a:r>
              <a:rPr lang="en-US" dirty="0" err="1"/>
              <a:t>www.cnn.com</a:t>
            </a:r>
            <a:r>
              <a:rPr lang="en-US" dirty="0"/>
              <a:t> and </a:t>
            </a:r>
            <a:r>
              <a:rPr lang="en-US" dirty="0" err="1"/>
              <a:t>cnn.com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832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675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CDNs improve web performance</a:t>
            </a:r>
          </a:p>
          <a:p>
            <a:pPr lvl="1"/>
            <a:r>
              <a:rPr lang="en-US" dirty="0"/>
              <a:t>Via replication and caching</a:t>
            </a:r>
          </a:p>
          <a:p>
            <a:pPr lvl="1"/>
            <a:r>
              <a:rPr lang="en-US" dirty="0"/>
              <a:t>Good server selection</a:t>
            </a:r>
          </a:p>
          <a:p>
            <a:r>
              <a:rPr lang="en-US" dirty="0"/>
              <a:t>DNS allows us to go to webpages without having to memorize IP addresses</a:t>
            </a:r>
          </a:p>
          <a:p>
            <a:pPr lvl="1"/>
            <a:r>
              <a:rPr lang="en-US" dirty="0"/>
              <a:t>Allows a level of indirection that enables many functionalities including CDN server selection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938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7660B-0DDD-4650-839B-6E5B9CF3E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1F8F5-5700-2414-8E8F-84EB37B5F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A61B9-BA8C-84F0-ECB5-9AC2D4818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090E2-895F-B4F0-A55B-F4B44EEB6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6CDCC-D531-6A42-8763-09560A420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401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caching</a:t>
            </a:r>
          </a:p>
        </p:txBody>
      </p:sp>
      <p:sp>
        <p:nvSpPr>
          <p:cNvPr id="9318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 things that do not work</a:t>
            </a:r>
          </a:p>
          <a:p>
            <a:pPr lvl="1"/>
            <a:r>
              <a:rPr lang="en-US" dirty="0"/>
              <a:t>Misspellings like </a:t>
            </a:r>
            <a:r>
              <a:rPr lang="en-US" dirty="0" err="1"/>
              <a:t>www.google.comm</a:t>
            </a:r>
            <a:endParaRPr lang="en-US" dirty="0"/>
          </a:p>
          <a:p>
            <a:pPr lvl="1"/>
            <a:r>
              <a:rPr lang="en-US" dirty="0"/>
              <a:t>These can take a long time to fail the first time</a:t>
            </a:r>
          </a:p>
          <a:p>
            <a:pPr lvl="1"/>
            <a:r>
              <a:rPr lang="en-US" dirty="0"/>
              <a:t>Good to remember that they do not work so the failure takes less time the next time around</a:t>
            </a:r>
          </a:p>
          <a:p>
            <a:r>
              <a:rPr lang="en-US" dirty="0"/>
              <a:t>Negative caching is </a:t>
            </a:r>
            <a:r>
              <a:rPr lang="en-US" dirty="0">
                <a:solidFill>
                  <a:srgbClr val="0000FF"/>
                </a:solidFill>
              </a:rPr>
              <a:t>optional</a:t>
            </a:r>
          </a:p>
          <a:p>
            <a:pPr lvl="1"/>
            <a:r>
              <a:rPr lang="en-US" dirty="0"/>
              <a:t>Not widely implemented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516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bllineb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c:\msoffice\powerpnt\template\bwovrhd\dbllineb.ppt</Template>
  <TotalTime>1490453989</TotalTime>
  <Pages>7</Pages>
  <Words>3053</Words>
  <Application>Microsoft Macintosh PowerPoint</Application>
  <PresentationFormat>On-screen Show (4:3)</PresentationFormat>
  <Paragraphs>613</Paragraphs>
  <Slides>54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7" baseType="lpstr">
      <vt:lpstr>ＭＳ Ｐゴシック</vt:lpstr>
      <vt:lpstr>Arial</vt:lpstr>
      <vt:lpstr>Arial Black</vt:lpstr>
      <vt:lpstr>Calibri</vt:lpstr>
      <vt:lpstr>Consolas</vt:lpstr>
      <vt:lpstr>Courier New</vt:lpstr>
      <vt:lpstr>Lucida Console</vt:lpstr>
      <vt:lpstr>Math B</vt:lpstr>
      <vt:lpstr>Monotype Sorts</vt:lpstr>
      <vt:lpstr>Times New Roman</vt:lpstr>
      <vt:lpstr>Wingdings</vt:lpstr>
      <vt:lpstr>dbllineb</vt:lpstr>
      <vt:lpstr>Clip</vt:lpstr>
      <vt:lpstr>EECS 489 Computer Networks  Winter 2025</vt:lpstr>
      <vt:lpstr>Agenda</vt:lpstr>
      <vt:lpstr>Caching</vt:lpstr>
      <vt:lpstr>Caching: How</vt:lpstr>
      <vt:lpstr>Caching: How</vt:lpstr>
      <vt:lpstr>Caching: Where?</vt:lpstr>
      <vt:lpstr>Caching: Where?</vt:lpstr>
      <vt:lpstr>Caching with Reverse Proxies</vt:lpstr>
      <vt:lpstr>Caching with Forward Proxies</vt:lpstr>
      <vt:lpstr>Replication</vt:lpstr>
      <vt:lpstr>Content Distribution Networks (CDN)</vt:lpstr>
      <vt:lpstr>CDN example – Akamai</vt:lpstr>
      <vt:lpstr>CDN example – Akamai</vt:lpstr>
      <vt:lpstr>DNS: Domain name system</vt:lpstr>
      <vt:lpstr>Internet names &amp; addresses</vt:lpstr>
      <vt:lpstr>Why?</vt:lpstr>
      <vt:lpstr>DNS: History</vt:lpstr>
      <vt:lpstr>DNS: History</vt:lpstr>
      <vt:lpstr>Goals</vt:lpstr>
      <vt:lpstr>How?</vt:lpstr>
      <vt:lpstr>Key idea: Hierarchy</vt:lpstr>
      <vt:lpstr>Hierarchical namespace</vt:lpstr>
      <vt:lpstr>Hierarchical administration</vt:lpstr>
      <vt:lpstr>Server hierarchy</vt:lpstr>
      <vt:lpstr>Server hierarchy</vt:lpstr>
      <vt:lpstr>DNS root</vt:lpstr>
      <vt:lpstr>13 DNS root servers</vt:lpstr>
      <vt:lpstr>13 DNS root servers (in 2024)</vt:lpstr>
      <vt:lpstr>5-minute break!</vt:lpstr>
      <vt:lpstr>Announcements</vt:lpstr>
      <vt:lpstr>DNS records</vt:lpstr>
      <vt:lpstr>DNS records (cont’d)</vt:lpstr>
      <vt:lpstr>Inserting Resource Records into DNS</vt:lpstr>
      <vt:lpstr>Using DNS (Client/App View)</vt:lpstr>
      <vt:lpstr>dig</vt:lpstr>
      <vt:lpstr>dig (in 2021)</vt:lpstr>
      <vt:lpstr>Name resolution</vt:lpstr>
      <vt:lpstr>Name resolution</vt:lpstr>
      <vt:lpstr>Name resolution</vt:lpstr>
      <vt:lpstr>Name resolution</vt:lpstr>
      <vt:lpstr>Name resolution: Recursive</vt:lpstr>
      <vt:lpstr>Name resolution: Iterative</vt:lpstr>
      <vt:lpstr>Two ways to resolve a name</vt:lpstr>
      <vt:lpstr>DNS protocol</vt:lpstr>
      <vt:lpstr>Goals: Are we there yet?</vt:lpstr>
      <vt:lpstr>Reliability</vt:lpstr>
      <vt:lpstr>Goals: Are we there yet?</vt:lpstr>
      <vt:lpstr>DNS caching</vt:lpstr>
      <vt:lpstr>TTL in dig output</vt:lpstr>
      <vt:lpstr>Important properties of DNS</vt:lpstr>
      <vt:lpstr>DNS provides indirection</vt:lpstr>
      <vt:lpstr>Summary</vt:lpstr>
      <vt:lpstr>PowerPoint Presentation</vt:lpstr>
      <vt:lpstr>Negative caching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Chowdhury, Mosharaf</cp:lastModifiedBy>
  <cp:revision>1394</cp:revision>
  <cp:lastPrinted>1999-09-08T17:25:07Z</cp:lastPrinted>
  <dcterms:created xsi:type="dcterms:W3CDTF">2014-01-14T18:15:50Z</dcterms:created>
  <dcterms:modified xsi:type="dcterms:W3CDTF">2025-01-22T15:22:35Z</dcterms:modified>
  <cp:category/>
</cp:coreProperties>
</file>