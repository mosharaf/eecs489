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8" r:id="rId2"/>
    <p:sldId id="596" r:id="rId3"/>
    <p:sldId id="487" r:id="rId4"/>
    <p:sldId id="513" r:id="rId5"/>
    <p:sldId id="527" r:id="rId6"/>
    <p:sldId id="528" r:id="rId7"/>
    <p:sldId id="515" r:id="rId8"/>
    <p:sldId id="529" r:id="rId9"/>
    <p:sldId id="526" r:id="rId10"/>
    <p:sldId id="531" r:id="rId11"/>
    <p:sldId id="595" r:id="rId12"/>
    <p:sldId id="530" r:id="rId13"/>
    <p:sldId id="532" r:id="rId14"/>
    <p:sldId id="533" r:id="rId15"/>
    <p:sldId id="534" r:id="rId16"/>
    <p:sldId id="593" r:id="rId17"/>
    <p:sldId id="536" r:id="rId18"/>
    <p:sldId id="537" r:id="rId19"/>
    <p:sldId id="552" r:id="rId20"/>
    <p:sldId id="514" r:id="rId21"/>
    <p:sldId id="553" r:id="rId22"/>
    <p:sldId id="517" r:id="rId23"/>
    <p:sldId id="571" r:id="rId24"/>
    <p:sldId id="572" r:id="rId25"/>
    <p:sldId id="573" r:id="rId26"/>
    <p:sldId id="524" r:id="rId27"/>
    <p:sldId id="525" r:id="rId28"/>
    <p:sldId id="545" r:id="rId29"/>
    <p:sldId id="502" r:id="rId30"/>
    <p:sldId id="594" r:id="rId31"/>
    <p:sldId id="574" r:id="rId32"/>
    <p:sldId id="575" r:id="rId33"/>
    <p:sldId id="576" r:id="rId34"/>
    <p:sldId id="577" r:id="rId35"/>
    <p:sldId id="578" r:id="rId36"/>
    <p:sldId id="579" r:id="rId37"/>
    <p:sldId id="580" r:id="rId38"/>
    <p:sldId id="581" r:id="rId39"/>
    <p:sldId id="582" r:id="rId40"/>
    <p:sldId id="583" r:id="rId41"/>
    <p:sldId id="584" r:id="rId42"/>
    <p:sldId id="585" r:id="rId43"/>
    <p:sldId id="586" r:id="rId44"/>
    <p:sldId id="587" r:id="rId45"/>
    <p:sldId id="588" r:id="rId46"/>
    <p:sldId id="589" r:id="rId47"/>
    <p:sldId id="590" r:id="rId48"/>
    <p:sldId id="591" r:id="rId49"/>
    <p:sldId id="592" r:id="rId50"/>
    <p:sldId id="512" r:id="rId5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57"/>
    <p:restoredTop sz="94648"/>
  </p:normalViewPr>
  <p:slideViewPr>
    <p:cSldViewPr>
      <p:cViewPr varScale="1">
        <p:scale>
          <a:sx n="112" d="100"/>
          <a:sy n="112" d="100"/>
        </p:scale>
        <p:origin x="13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4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1F4B70-DBE3-3741-B576-87AFDE574221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6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207908-A65C-F64C-A60A-480C7E37656F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0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17254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866296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5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9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3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F53F2-D707-B442-9ED8-EC380A4FAAA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January 27,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5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7.jpe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.pn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9A7B-6C38-6955-7539-9270D231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Inserting RR into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679C7-2539-6771-8B47-14DFF74FC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Registrar inserts RR pairs into the .com TLD server:</a:t>
            </a:r>
          </a:p>
          <a:p>
            <a:pPr lvl="1"/>
            <a:r>
              <a:rPr lang="en-US" sz="2000" dirty="0"/>
              <a:t>(</a:t>
            </a:r>
            <a:r>
              <a:rPr lang="en-US" sz="2000" dirty="0" err="1"/>
              <a:t>foobar.com</a:t>
            </a:r>
            <a:r>
              <a:rPr lang="en-US" sz="2000" dirty="0"/>
              <a:t>, dns1.foobar.com, NS)</a:t>
            </a:r>
          </a:p>
          <a:p>
            <a:pPr lvl="1"/>
            <a:r>
              <a:rPr lang="en-US" sz="2000" dirty="0"/>
              <a:t>(dns1.foobar.com, 212.44.9.129, A)</a:t>
            </a:r>
          </a:p>
          <a:p>
            <a:endParaRPr lang="en-US" sz="2400" dirty="0"/>
          </a:p>
          <a:p>
            <a:r>
              <a:rPr lang="en-US" sz="2400" dirty="0"/>
              <a:t>Human readability</a:t>
            </a:r>
          </a:p>
          <a:p>
            <a:pPr lvl="1"/>
            <a:r>
              <a:rPr lang="en-US" sz="1800" dirty="0"/>
              <a:t>Name of the nameserver doesn’t change when it’s IP changes</a:t>
            </a:r>
          </a:p>
          <a:p>
            <a:r>
              <a:rPr lang="en-US" sz="2400" dirty="0"/>
              <a:t>Load balancing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</a:rPr>
              <a:t>+ (dns1.foobar.com, 212.44.9.128, A)</a:t>
            </a:r>
          </a:p>
          <a:p>
            <a:pPr lvl="1"/>
            <a:r>
              <a:rPr lang="en-US" sz="2000" dirty="0"/>
              <a:t>Pick one at random for load balancing</a:t>
            </a:r>
          </a:p>
          <a:p>
            <a:r>
              <a:rPr lang="en-US" sz="2400" dirty="0"/>
              <a:t>Support for IPv6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</a:rPr>
              <a:t>+ (dns1.foobar.com, 2001:db8::1, AAAA)</a:t>
            </a:r>
          </a:p>
          <a:p>
            <a:pPr lvl="1"/>
            <a:r>
              <a:rPr lang="en-US" sz="2000" dirty="0">
                <a:solidFill>
                  <a:schemeClr val="accent6"/>
                </a:solidFill>
              </a:rPr>
              <a:t>Pick between IPv4 </a:t>
            </a:r>
            <a:r>
              <a:rPr lang="en-US" sz="2000">
                <a:solidFill>
                  <a:schemeClr val="accent6"/>
                </a:solidFill>
              </a:rPr>
              <a:t>and IPv6</a:t>
            </a:r>
            <a:endParaRPr lang="en-US" sz="2000" dirty="0">
              <a:solidFill>
                <a:schemeClr val="accent6"/>
              </a:solidFill>
            </a:endParaRP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090A-B66E-53CB-5285-6EB7EF9D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5B9B4-80F0-7AA6-7E77-AD63B008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C566E-81D8-2304-56FE-3889E96C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0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streaming</a:t>
            </a:r>
          </a:p>
          <a:p>
            <a:r>
              <a:rPr lang="en-US" dirty="0"/>
              <a:t>Datacenter applications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3B42B-8594-3AAF-CC2F-2633977E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video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Dominates the global Internet traffic landscape</a:t>
            </a:r>
          </a:p>
          <a:p>
            <a:pPr lvl="1"/>
            <a:r>
              <a:rPr lang="en-US" dirty="0"/>
              <a:t>About 65%, i.e., every 2 of 3 bytes in 2022!</a:t>
            </a:r>
          </a:p>
          <a:p>
            <a:pPr lvl="1"/>
            <a:endParaRPr lang="en-US" dirty="0"/>
          </a:p>
          <a:p>
            <a:r>
              <a:rPr lang="en-US" dirty="0"/>
              <a:t>Major sources</a:t>
            </a:r>
          </a:p>
          <a:p>
            <a:pPr lvl="1"/>
            <a:r>
              <a:rPr lang="en-US" dirty="0"/>
              <a:t>Netflix</a:t>
            </a:r>
          </a:p>
          <a:p>
            <a:pPr lvl="1"/>
            <a:r>
              <a:rPr lang="en-US" dirty="0"/>
              <a:t>YouTube</a:t>
            </a:r>
          </a:p>
          <a:p>
            <a:pPr lvl="1"/>
            <a:r>
              <a:rPr lang="en-US" dirty="0"/>
              <a:t>TikTok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F6534-5B46-FD27-79AA-32A04AEC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9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video medium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a sequence of images/frames displayed at a constant rate (moving pictures)</a:t>
            </a:r>
          </a:p>
          <a:p>
            <a:r>
              <a:rPr lang="en-US" dirty="0"/>
              <a:t>Digital image is an array of pixels, each pixel represented by bits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Single frame image encoding: 1024x1024 pixels, 24 bits/pixel ⇒ 3 MB/image</a:t>
            </a:r>
          </a:p>
          <a:p>
            <a:pPr lvl="1"/>
            <a:r>
              <a:rPr lang="en-US" dirty="0"/>
              <a:t>Movies: 24 frames/sec ⇒ 72 MB/sec</a:t>
            </a:r>
          </a:p>
          <a:p>
            <a:pPr lvl="1"/>
            <a:r>
              <a:rPr lang="en-US" dirty="0"/>
              <a:t>TV: 30 frames/sec ⇒ 90 MB/sec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7A156-181C-8721-4BE6-E4BD2E00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2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video medium (cont’d)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Compression is key</a:t>
            </a:r>
          </a:p>
          <a:p>
            <a:pPr lvl="1"/>
            <a:r>
              <a:rPr lang="en-US" dirty="0"/>
              <a:t>Lots of algorithms to compress</a:t>
            </a:r>
          </a:p>
          <a:p>
            <a:r>
              <a:rPr lang="en-US" dirty="0"/>
              <a:t>The same video can be (and typically is) compressed to multiple quality levels</a:t>
            </a:r>
          </a:p>
          <a:p>
            <a:pPr lvl="1"/>
            <a:r>
              <a:rPr lang="en-US" dirty="0"/>
              <a:t>E.g., 480p, 720p, 1080p, 4K</a:t>
            </a:r>
          </a:p>
          <a:p>
            <a:r>
              <a:rPr lang="en-US" dirty="0">
                <a:solidFill>
                  <a:srgbClr val="0000FF"/>
                </a:solidFill>
              </a:rPr>
              <a:t>Why multiple resolutions?</a:t>
            </a:r>
          </a:p>
          <a:p>
            <a:pPr lvl="1"/>
            <a:r>
              <a:rPr lang="en-US" dirty="0"/>
              <a:t>Adapt to user network conditions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7B3503-60C5-DCB3-66DB-A71EC5D5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9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watch a video?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Download and watch</a:t>
            </a:r>
          </a:p>
          <a:p>
            <a:pPr lvl="1"/>
            <a:r>
              <a:rPr lang="en-US" dirty="0"/>
              <a:t>Often </a:t>
            </a:r>
            <a:r>
              <a:rPr lang="en-US" dirty="0">
                <a:solidFill>
                  <a:srgbClr val="0000FF"/>
                </a:solidFill>
              </a:rPr>
              <a:t>too large</a:t>
            </a:r>
            <a:r>
              <a:rPr lang="en-US" dirty="0"/>
              <a:t> to send in one GET</a:t>
            </a:r>
          </a:p>
          <a:p>
            <a:pPr lvl="1"/>
            <a:r>
              <a:rPr lang="en-US" dirty="0"/>
              <a:t>Doesn’t even make sense even if its possible</a:t>
            </a:r>
          </a:p>
          <a:p>
            <a:pPr lvl="2"/>
            <a:r>
              <a:rPr lang="en-US" dirty="0"/>
              <a:t>Users must </a:t>
            </a:r>
            <a:r>
              <a:rPr lang="en-US" dirty="0">
                <a:solidFill>
                  <a:srgbClr val="0000FF"/>
                </a:solidFill>
              </a:rPr>
              <a:t>wait too long</a:t>
            </a:r>
          </a:p>
          <a:p>
            <a:pPr lvl="2"/>
            <a:r>
              <a:rPr lang="en-US" dirty="0"/>
              <a:t>Users </a:t>
            </a:r>
            <a:r>
              <a:rPr lang="en-US" dirty="0">
                <a:solidFill>
                  <a:srgbClr val="0000FF"/>
                </a:solidFill>
              </a:rPr>
              <a:t>may skip forward</a:t>
            </a:r>
            <a:r>
              <a:rPr lang="en-US" dirty="0"/>
              <a:t>! ⇒ bandwidth waste</a:t>
            </a:r>
          </a:p>
          <a:p>
            <a:pPr lvl="2"/>
            <a:r>
              <a:rPr lang="en-US" dirty="0"/>
              <a:t>User’s </a:t>
            </a:r>
            <a:r>
              <a:rPr lang="en-US" dirty="0">
                <a:solidFill>
                  <a:srgbClr val="0000FF"/>
                </a:solidFill>
              </a:rPr>
              <a:t>connection quality may change</a:t>
            </a:r>
            <a:r>
              <a:rPr lang="en-US" dirty="0"/>
              <a:t> (e.g., switching from WiFi to LTE) ⇒ lower resolution to match bandwidth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Our focus is </a:t>
            </a:r>
            <a:r>
              <a:rPr lang="en-US" i="1" dirty="0">
                <a:solidFill>
                  <a:srgbClr val="0000FF"/>
                </a:solidFill>
              </a:rPr>
              <a:t>not</a:t>
            </a:r>
            <a:r>
              <a:rPr lang="en-US" dirty="0">
                <a:solidFill>
                  <a:srgbClr val="0000FF"/>
                </a:solidFill>
              </a:rPr>
              <a:t> live video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7F44A-C6BB-BC70-CAEC-4BC2A2F1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watch a video?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113" lvl="1" indent="0">
              <a:buNone/>
            </a:pPr>
            <a:r>
              <a:rPr lang="en-US" sz="2800" b="1" dirty="0"/>
              <a:t>2. Video </a:t>
            </a:r>
            <a:r>
              <a:rPr lang="en-US" sz="2800" b="1" dirty="0">
                <a:solidFill>
                  <a:schemeClr val="accent6"/>
                </a:solidFill>
              </a:rPr>
              <a:t>streaming over HTTP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30F49-7854-B9C9-D146-5AFE9D61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6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stored at an HTTP server with a URL</a:t>
            </a:r>
          </a:p>
          <a:p>
            <a:r>
              <a:rPr lang="en-US" dirty="0"/>
              <a:t>Clients send a GET request for the URL</a:t>
            </a:r>
          </a:p>
          <a:p>
            <a:r>
              <a:rPr lang="en-US" dirty="0"/>
              <a:t>Server sends the video file as a stream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076C5-CE07-1320-F2B8-29433B1F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9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69" name="Group 249"/>
          <p:cNvGrpSpPr>
            <a:grpSpLocks/>
          </p:cNvGrpSpPr>
          <p:nvPr/>
        </p:nvGrpSpPr>
        <p:grpSpPr bwMode="auto">
          <a:xfrm>
            <a:off x="3230563" y="4929188"/>
            <a:ext cx="427037" cy="785812"/>
            <a:chOff x="4140" y="429"/>
            <a:chExt cx="1425" cy="2396"/>
          </a:xfrm>
        </p:grpSpPr>
        <p:sp>
          <p:nvSpPr>
            <p:cNvPr id="32928" name="Freeform 25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Rectangle 251"/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30" name="Freeform 25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31" name="Freeform 25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Rectangle 254"/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3" name="Group 25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1" name="AutoShape 256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92" name="AutoShape 257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67" name="Rectangle 258"/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5" name="Group 25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9" name="AutoShape 260"/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90" name="AutoShape 26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69" name="Rectangle 262"/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70" name="Rectangle 263"/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grpSp>
          <p:nvGrpSpPr>
            <p:cNvPr id="32938" name="Group 26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" name="AutoShape 265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88" name="AutoShape 266"/>
              <p:cNvSpPr>
                <a:spLocks noChangeArrowheads="1"/>
              </p:cNvSpPr>
              <p:nvPr/>
            </p:nvSpPr>
            <p:spPr bwMode="auto">
              <a:xfrm>
                <a:off x="625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32939" name="Freeform 26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2940" name="Group 26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5" name="AutoShape 269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  <p:sp>
            <p:nvSpPr>
              <p:cNvPr id="186" name="AutoShape 270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Arial" charset="0"/>
                </a:endParaRPr>
              </a:p>
            </p:txBody>
          </p:sp>
        </p:grpSp>
        <p:sp>
          <p:nvSpPr>
            <p:cNvPr id="174" name="Rectangle 271"/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42" name="Freeform 27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43" name="Freeform 27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Oval 274"/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32945" name="Freeform 27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AutoShape 276"/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0" name="AutoShape 277"/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1" name="Oval 278"/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2" name="Oval 279"/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83" name="Oval 280"/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  <p:sp>
          <p:nvSpPr>
            <p:cNvPr id="184" name="Rectangle 281"/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charset="0"/>
              </a:endParaRPr>
            </a:p>
          </p:txBody>
        </p:sp>
      </p:grp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grpSp>
        <p:nvGrpSpPr>
          <p:cNvPr id="32771" name="Group 134"/>
          <p:cNvGrpSpPr>
            <a:grpSpLocks/>
          </p:cNvGrpSpPr>
          <p:nvPr/>
        </p:nvGrpSpPr>
        <p:grpSpPr bwMode="auto">
          <a:xfrm>
            <a:off x="2803525" y="4560888"/>
            <a:ext cx="1281113" cy="363537"/>
            <a:chOff x="3621" y="3265"/>
            <a:chExt cx="1776" cy="744"/>
          </a:xfrm>
        </p:grpSpPr>
        <p:pic>
          <p:nvPicPr>
            <p:cNvPr id="32924" name="Picture 135" descr="reellogo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344" name="Freeform 136"/>
            <p:cNvSpPr>
              <a:spLocks/>
            </p:cNvSpPr>
            <p:nvPr/>
          </p:nvSpPr>
          <p:spPr bwMode="auto">
            <a:xfrm>
              <a:off x="3971" y="3288"/>
              <a:ext cx="1402" cy="439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84 h 438"/>
                <a:gd name="T4" fmla="*/ 114 w 1401"/>
                <a:gd name="T5" fmla="*/ 381 h 438"/>
                <a:gd name="T6" fmla="*/ 132 w 1401"/>
                <a:gd name="T7" fmla="*/ 357 h 438"/>
                <a:gd name="T8" fmla="*/ 210 w 1401"/>
                <a:gd name="T9" fmla="*/ 402 h 438"/>
                <a:gd name="T10" fmla="*/ 450 w 1401"/>
                <a:gd name="T11" fmla="*/ 384 h 438"/>
                <a:gd name="T12" fmla="*/ 486 w 1401"/>
                <a:gd name="T13" fmla="*/ 393 h 438"/>
                <a:gd name="T14" fmla="*/ 690 w 1401"/>
                <a:gd name="T15" fmla="*/ 417 h 438"/>
                <a:gd name="T16" fmla="*/ 1074 w 1401"/>
                <a:gd name="T17" fmla="*/ 438 h 438"/>
                <a:gd name="T18" fmla="*/ 1401 w 1401"/>
                <a:gd name="T19" fmla="*/ 420 h 438"/>
                <a:gd name="T20" fmla="*/ 1392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345" name="Freeform 137"/>
            <p:cNvSpPr>
              <a:spLocks/>
            </p:cNvSpPr>
            <p:nvPr/>
          </p:nvSpPr>
          <p:spPr bwMode="auto">
            <a:xfrm>
              <a:off x="4242" y="3860"/>
              <a:ext cx="999" cy="120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36 h 123"/>
                <a:gd name="T6" fmla="*/ 801 w 999"/>
                <a:gd name="T7" fmla="*/ 42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51 h 123"/>
                <a:gd name="T16" fmla="*/ 987 w 999"/>
                <a:gd name="T17" fmla="*/ 123 h 123"/>
                <a:gd name="T18" fmla="*/ 18 w 999"/>
                <a:gd name="T19" fmla="*/ 120 h 123"/>
                <a:gd name="T20" fmla="*/ 0 w 999"/>
                <a:gd name="T21" fmla="*/ 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pic>
          <p:nvPicPr>
            <p:cNvPr id="32927" name="Picture 138" descr="video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2376" name="Line 168"/>
          <p:cNvSpPr>
            <a:spLocks noChangeShapeType="1"/>
          </p:cNvSpPr>
          <p:nvPr/>
        </p:nvSpPr>
        <p:spPr bwMode="auto">
          <a:xfrm>
            <a:off x="838200" y="1490663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  <p:grpSp>
        <p:nvGrpSpPr>
          <p:cNvPr id="222565" name="Group 357"/>
          <p:cNvGrpSpPr>
            <a:grpSpLocks/>
          </p:cNvGrpSpPr>
          <p:nvPr/>
        </p:nvGrpSpPr>
        <p:grpSpPr bwMode="auto">
          <a:xfrm>
            <a:off x="1447799" y="3547884"/>
            <a:ext cx="1668463" cy="1071563"/>
            <a:chOff x="887" y="2184"/>
            <a:chExt cx="1051" cy="675"/>
          </a:xfrm>
        </p:grpSpPr>
        <p:sp>
          <p:nvSpPr>
            <p:cNvPr id="222415" name="Freeform 207"/>
            <p:cNvSpPr>
              <a:spLocks/>
            </p:cNvSpPr>
            <p:nvPr/>
          </p:nvSpPr>
          <p:spPr bwMode="auto">
            <a:xfrm>
              <a:off x="1278" y="2184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416" name="Text Box 208"/>
            <p:cNvSpPr txBox="1">
              <a:spLocks noChangeArrowheads="1"/>
            </p:cNvSpPr>
            <p:nvPr/>
          </p:nvSpPr>
          <p:spPr bwMode="auto">
            <a:xfrm>
              <a:off x="887" y="2336"/>
              <a:ext cx="104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indent="-342900">
                <a:buFontTx/>
                <a:buAutoNum type="arabicPeriod"/>
                <a:defRPr/>
              </a:pPr>
              <a:r>
                <a:rPr lang="en-US" b="0" dirty="0">
                  <a:latin typeface="Arial"/>
                  <a:cs typeface="Arial"/>
                </a:rPr>
                <a:t>video</a:t>
              </a:r>
            </a:p>
            <a:p>
              <a:pPr>
                <a:defRPr/>
              </a:pPr>
              <a:r>
                <a:rPr lang="en-US" b="0" dirty="0">
                  <a:latin typeface="Arial"/>
                  <a:cs typeface="Arial"/>
                </a:rPr>
                <a:t>recorded (e.g., 30 frames/sec)</a:t>
              </a:r>
            </a:p>
          </p:txBody>
        </p:sp>
      </p:grpSp>
      <p:grpSp>
        <p:nvGrpSpPr>
          <p:cNvPr id="222470" name="Group 262"/>
          <p:cNvGrpSpPr>
            <a:grpSpLocks/>
          </p:cNvGrpSpPr>
          <p:nvPr/>
        </p:nvGrpSpPr>
        <p:grpSpPr bwMode="auto">
          <a:xfrm>
            <a:off x="1028700" y="1811338"/>
            <a:ext cx="2552700" cy="2525712"/>
            <a:chOff x="648" y="1147"/>
            <a:chExt cx="1608" cy="1591"/>
          </a:xfrm>
        </p:grpSpPr>
        <p:grpSp>
          <p:nvGrpSpPr>
            <p:cNvPr id="32881" name="Group 206"/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2897" name="Group 189"/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2908" name="Group 181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916" name="Group 177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81" name="Line 1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84" name="Line 17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917" name="Group 178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87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88" name="Line 180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909" name="Group 182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910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92" name="Line 1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93" name="Line 185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911" name="Group 186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395" name="Line 1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396" name="Line 18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2898" name="Group 191"/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2902" name="Group 192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01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02" name="Line 19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903" name="Group 195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04" name="Line 196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05" name="Line 197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99" name="Group 199"/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22408" name="Line 200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2409" name="Line 201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32882" name="Group 237"/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2883" name="Group 238"/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2891" name="Group 239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48" name="Line 24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49" name="Line 24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892" name="Group 242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51" name="Line 24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2" name="Line 24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84" name="Group 245"/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2885" name="Group 246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2455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6" name="Line 24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2886" name="Group 249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458" name="Line 25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59" name="Line 25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222566" name="Group 358"/>
          <p:cNvGrpSpPr>
            <a:grpSpLocks/>
          </p:cNvGrpSpPr>
          <p:nvPr/>
        </p:nvGrpSpPr>
        <p:grpSpPr bwMode="auto">
          <a:xfrm>
            <a:off x="3165475" y="3241675"/>
            <a:ext cx="1373188" cy="1296988"/>
            <a:chOff x="1994" y="2042"/>
            <a:chExt cx="865" cy="817"/>
          </a:xfrm>
        </p:grpSpPr>
        <p:sp>
          <p:nvSpPr>
            <p:cNvPr id="222417" name="Freeform 209"/>
            <p:cNvSpPr>
              <a:spLocks/>
            </p:cNvSpPr>
            <p:nvPr/>
          </p:nvSpPr>
          <p:spPr bwMode="auto">
            <a:xfrm rot="-5400000">
              <a:off x="2196" y="2196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rgbClr val="D3A6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dirty="0">
                <a:latin typeface="Arial"/>
                <a:cs typeface="Arial"/>
              </a:endParaRPr>
            </a:p>
          </p:txBody>
        </p:sp>
        <p:sp>
          <p:nvSpPr>
            <p:cNvPr id="222513" name="Text Box 305"/>
            <p:cNvSpPr txBox="1">
              <a:spLocks noChangeArrowheads="1"/>
            </p:cNvSpPr>
            <p:nvPr/>
          </p:nvSpPr>
          <p:spPr bwMode="auto">
            <a:xfrm>
              <a:off x="1994" y="2042"/>
              <a:ext cx="56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2. video</a:t>
              </a:r>
            </a:p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sent</a:t>
              </a:r>
            </a:p>
          </p:txBody>
        </p:sp>
      </p:grpSp>
      <p:sp>
        <p:nvSpPr>
          <p:cNvPr id="222562" name="Text Box 354"/>
          <p:cNvSpPr txBox="1">
            <a:spLocks noChangeArrowheads="1"/>
          </p:cNvSpPr>
          <p:nvPr/>
        </p:nvSpPr>
        <p:spPr bwMode="auto">
          <a:xfrm rot="-5433387">
            <a:off x="-412750" y="2638426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Cumulative data</a:t>
            </a:r>
          </a:p>
        </p:txBody>
      </p:sp>
      <p:grpSp>
        <p:nvGrpSpPr>
          <p:cNvPr id="222573" name="Group 365"/>
          <p:cNvGrpSpPr>
            <a:grpSpLocks/>
          </p:cNvGrpSpPr>
          <p:nvPr/>
        </p:nvGrpSpPr>
        <p:grpSpPr bwMode="auto">
          <a:xfrm>
            <a:off x="4451351" y="1851025"/>
            <a:ext cx="2979738" cy="4214813"/>
            <a:chOff x="2804" y="1044"/>
            <a:chExt cx="1877" cy="2655"/>
          </a:xfrm>
        </p:grpSpPr>
        <p:sp>
          <p:nvSpPr>
            <p:cNvPr id="222568" name="Line 360"/>
            <p:cNvSpPr>
              <a:spLocks noChangeShapeType="1"/>
            </p:cNvSpPr>
            <p:nvPr/>
          </p:nvSpPr>
          <p:spPr bwMode="auto">
            <a:xfrm>
              <a:off x="3852" y="1044"/>
              <a:ext cx="0" cy="1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222569" name="Text Box 361"/>
            <p:cNvSpPr txBox="1">
              <a:spLocks noChangeArrowheads="1"/>
            </p:cNvSpPr>
            <p:nvPr/>
          </p:nvSpPr>
          <p:spPr bwMode="auto">
            <a:xfrm>
              <a:off x="2804" y="3020"/>
              <a:ext cx="1877" cy="679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D3A600"/>
                  </a:solidFill>
                  <a:latin typeface="Arial"/>
                  <a:cs typeface="Arial"/>
                </a:rPr>
                <a:t>streaming</a:t>
              </a:r>
              <a:r>
                <a:rPr lang="en-US" b="0" dirty="0">
                  <a:latin typeface="Arial"/>
                  <a:cs typeface="Arial"/>
                </a:rPr>
                <a:t>: </a:t>
              </a:r>
              <a:r>
                <a:rPr lang="en-US" b="0" i="0" dirty="0">
                  <a:latin typeface="Arial"/>
                  <a:cs typeface="Arial"/>
                </a:rPr>
                <a:t>at this time, client 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playing out early part of video, 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while server still sending later</a:t>
              </a:r>
            </a:p>
            <a:p>
              <a:pPr>
                <a:defRPr/>
              </a:pPr>
              <a:r>
                <a:rPr lang="en-US" b="0" i="0" dirty="0">
                  <a:latin typeface="Arial"/>
                  <a:cs typeface="Arial"/>
                </a:rPr>
                <a:t>part of video</a:t>
              </a:r>
            </a:p>
          </p:txBody>
        </p:sp>
      </p:grpSp>
      <p:grpSp>
        <p:nvGrpSpPr>
          <p:cNvPr id="222572" name="Group 364"/>
          <p:cNvGrpSpPr>
            <a:grpSpLocks/>
          </p:cNvGrpSpPr>
          <p:nvPr/>
        </p:nvGrpSpPr>
        <p:grpSpPr bwMode="auto">
          <a:xfrm>
            <a:off x="3981449" y="4005265"/>
            <a:ext cx="1768475" cy="830263"/>
            <a:chOff x="2508" y="2480"/>
            <a:chExt cx="1114" cy="523"/>
          </a:xfrm>
        </p:grpSpPr>
        <p:sp>
          <p:nvSpPr>
            <p:cNvPr id="222570" name="Text Box 362"/>
            <p:cNvSpPr txBox="1">
              <a:spLocks noChangeArrowheads="1"/>
            </p:cNvSpPr>
            <p:nvPr/>
          </p:nvSpPr>
          <p:spPr bwMode="auto">
            <a:xfrm>
              <a:off x="2579" y="2480"/>
              <a:ext cx="1043" cy="5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0" dirty="0">
                  <a:latin typeface="Arial"/>
                  <a:cs typeface="Arial"/>
                </a:rPr>
                <a:t>network delay</a:t>
              </a:r>
            </a:p>
            <a:p>
              <a:pPr algn="ctr">
                <a:defRPr/>
              </a:pPr>
              <a:r>
                <a:rPr lang="en-US" b="0" dirty="0">
                  <a:latin typeface="Arial"/>
                  <a:cs typeface="Arial"/>
                </a:rPr>
                <a:t>(fixed in this example)</a:t>
              </a:r>
            </a:p>
          </p:txBody>
        </p:sp>
        <p:sp>
          <p:nvSpPr>
            <p:cNvPr id="222571" name="Line 363"/>
            <p:cNvSpPr>
              <a:spLocks noChangeShapeType="1"/>
            </p:cNvSpPr>
            <p:nvPr/>
          </p:nvSpPr>
          <p:spPr bwMode="auto">
            <a:xfrm>
              <a:off x="2508" y="265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22574" name="Text Box 366"/>
          <p:cNvSpPr txBox="1">
            <a:spLocks noChangeArrowheads="1"/>
          </p:cNvSpPr>
          <p:nvPr/>
        </p:nvSpPr>
        <p:spPr bwMode="auto">
          <a:xfrm>
            <a:off x="8099425" y="4356100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222567" name="Group 359"/>
          <p:cNvGrpSpPr>
            <a:grpSpLocks/>
          </p:cNvGrpSpPr>
          <p:nvPr/>
        </p:nvGrpSpPr>
        <p:grpSpPr bwMode="auto">
          <a:xfrm>
            <a:off x="3914775" y="1830388"/>
            <a:ext cx="4903788" cy="2800350"/>
            <a:chOff x="2466" y="1153"/>
            <a:chExt cx="3089" cy="1764"/>
          </a:xfrm>
        </p:grpSpPr>
        <p:grpSp>
          <p:nvGrpSpPr>
            <p:cNvPr id="32785" name="Group 263"/>
            <p:cNvGrpSpPr>
              <a:grpSpLocks/>
            </p:cNvGrpSpPr>
            <p:nvPr/>
          </p:nvGrpSpPr>
          <p:grpSpPr bwMode="auto">
            <a:xfrm>
              <a:off x="2466" y="1153"/>
              <a:ext cx="1608" cy="1591"/>
              <a:chOff x="648" y="1147"/>
              <a:chExt cx="1608" cy="1591"/>
            </a:xfrm>
          </p:grpSpPr>
          <p:grpSp>
            <p:nvGrpSpPr>
              <p:cNvPr id="32834" name="Group 264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2850" name="Group 265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2861" name="Group 266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69" name="Group 2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76" name="Line 2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77" name="Line 26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70" name="Group 2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79" name="Line 2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0" name="Line 27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2862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63" name="Group 27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83" name="Line 2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4" name="Line 276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64" name="Group 27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486" name="Line 2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487" name="Line 27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D3A6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851" name="Group 280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55" name="Group 28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490" name="Line 2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491" name="Line 28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56" name="Group 28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493" name="Line 2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494" name="Line 28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52" name="Group 287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2496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497" name="Line 28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835" name="Group 290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2836" name="Group 291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44" name="Group 292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1" name="Line 2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2" name="Line 29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45" name="Group 295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4" name="Line 2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5" name="Line 29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37" name="Group 298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38" name="Group 299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08" name="Line 3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09" name="Line 301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39" name="Group 302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11" name="Line 3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12" name="Line 30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32786" name="Group 306"/>
            <p:cNvGrpSpPr>
              <a:grpSpLocks/>
            </p:cNvGrpSpPr>
            <p:nvPr/>
          </p:nvGrpSpPr>
          <p:grpSpPr bwMode="auto">
            <a:xfrm>
              <a:off x="3636" y="1159"/>
              <a:ext cx="1608" cy="1591"/>
              <a:chOff x="648" y="1147"/>
              <a:chExt cx="1608" cy="1591"/>
            </a:xfrm>
          </p:grpSpPr>
          <p:grpSp>
            <p:nvGrpSpPr>
              <p:cNvPr id="32793" name="Group 307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2809" name="Group 308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2820" name="Group 309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28" name="Group 3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19" name="Line 3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0" name="Line 31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29" name="Group 3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2" name="Line 3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3" name="Line 315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2821" name="Group 316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2822" name="Group 3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6" name="Line 3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27" name="Line 319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2823" name="Group 3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2529" name="Line 32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2530" name="Line 322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2810" name="Group 323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14" name="Group 32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33" name="Line 3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34" name="Line 32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15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36" name="Line 3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37" name="Line 32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811" name="Group 330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2539" name="Line 33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2540" name="Line 33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794" name="Group 333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2795" name="Group 334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803" name="Group 335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44" name="Line 3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45" name="Line 33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804" name="Group 338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47" name="Line 3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48" name="Line 340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2796" name="Group 341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2797" name="Group 342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51" name="Line 3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52" name="Line 344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2798" name="Group 345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2554" name="Line 3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2555" name="Line 347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222556" name="Text Box 348"/>
            <p:cNvSpPr txBox="1">
              <a:spLocks noChangeArrowheads="1"/>
            </p:cNvSpPr>
            <p:nvPr/>
          </p:nvSpPr>
          <p:spPr bwMode="auto">
            <a:xfrm>
              <a:off x="3932" y="2394"/>
              <a:ext cx="162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3. video received,</a:t>
              </a:r>
            </a:p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played out at client</a:t>
              </a:r>
            </a:p>
            <a:p>
              <a:pPr>
                <a:defRPr/>
              </a:pPr>
              <a:r>
                <a:rPr lang="en-US" b="0" dirty="0">
                  <a:solidFill>
                    <a:srgbClr val="000099"/>
                  </a:solidFill>
                  <a:latin typeface="Arial"/>
                  <a:cs typeface="Arial"/>
                </a:rPr>
                <a:t>(30 frames/sec)</a:t>
              </a:r>
            </a:p>
          </p:txBody>
        </p:sp>
        <p:grpSp>
          <p:nvGrpSpPr>
            <p:cNvPr id="32788" name="Group 349"/>
            <p:cNvGrpSpPr>
              <a:grpSpLocks/>
            </p:cNvGrpSpPr>
            <p:nvPr/>
          </p:nvGrpSpPr>
          <p:grpSpPr bwMode="auto">
            <a:xfrm>
              <a:off x="4679" y="1872"/>
              <a:ext cx="427" cy="418"/>
              <a:chOff x="4437" y="1472"/>
              <a:chExt cx="427" cy="418"/>
            </a:xfrm>
          </p:grpSpPr>
          <p:sp>
            <p:nvSpPr>
              <p:cNvPr id="222558" name="Rectangle 350"/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59" name="Rectangle 351"/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60" name="Rectangle 352"/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  <p:sp>
            <p:nvSpPr>
              <p:cNvPr id="222561" name="Rectangle 353"/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sp>
        <p:nvSpPr>
          <p:cNvPr id="222377" name="Line 169"/>
          <p:cNvSpPr>
            <a:spLocks noChangeShapeType="1"/>
          </p:cNvSpPr>
          <p:nvPr/>
        </p:nvSpPr>
        <p:spPr bwMode="auto">
          <a:xfrm flipH="1">
            <a:off x="828675" y="4333875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40F532-E10D-32D8-88F2-531CEFB3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7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2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EAAD98-5654-5FC7-5446-D80BA3F2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latency is high?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4C2B03-97E0-48ED-524B-A95BD24BF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 first buffers for a while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To minimize interruptions later</a:t>
            </a:r>
          </a:p>
          <a:p>
            <a:r>
              <a:rPr lang="en-US" dirty="0"/>
              <a:t>Once the buffer reaches a threshold</a:t>
            </a:r>
          </a:p>
          <a:p>
            <a:pPr lvl="1"/>
            <a:r>
              <a:rPr lang="en-US" dirty="0"/>
              <a:t>The video plays in the </a:t>
            </a:r>
            <a:r>
              <a:rPr lang="en-US" dirty="0">
                <a:solidFill>
                  <a:srgbClr val="0000FF"/>
                </a:solidFill>
              </a:rPr>
              <a:t>foreground</a:t>
            </a:r>
          </a:p>
          <a:p>
            <a:pPr lvl="1"/>
            <a:r>
              <a:rPr lang="en-US" dirty="0"/>
              <a:t>More frames are downloaded in the </a:t>
            </a:r>
            <a:r>
              <a:rPr lang="en-US" dirty="0">
                <a:solidFill>
                  <a:srgbClr val="0000FF"/>
                </a:solidFill>
              </a:rPr>
              <a:t>background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0430D-F92E-21C8-8F58-C32FDAE9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8CD90-A005-AD18-A8AE-3EF8DD73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6AD77-6610-DAAA-174B-AA819F7F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network delay is not fixed? </a:t>
            </a:r>
          </a:p>
          <a:p>
            <a:pPr lvl="1"/>
            <a:r>
              <a:rPr lang="en-US" dirty="0"/>
              <a:t>i.e., How to absorb delay variations?</a:t>
            </a:r>
          </a:p>
          <a:p>
            <a:r>
              <a:rPr lang="en-US" dirty="0"/>
              <a:t>What if users jump forward, fast-forward, rewind, pause?</a:t>
            </a:r>
          </a:p>
          <a:p>
            <a:pPr lvl="1"/>
            <a:r>
              <a:rPr lang="en-US" dirty="0"/>
              <a:t>i.e., How to handle user interactions?</a:t>
            </a:r>
          </a:p>
          <a:p>
            <a:r>
              <a:rPr lang="en-US" dirty="0"/>
              <a:t>Handle packet loss, retransmission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0BF67-339D-EE3B-09C3-F6B8A734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5" name="Line 9"/>
          <p:cNvSpPr>
            <a:spLocks noChangeShapeType="1"/>
          </p:cNvSpPr>
          <p:nvPr/>
        </p:nvSpPr>
        <p:spPr bwMode="auto">
          <a:xfrm>
            <a:off x="838200" y="1490663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i="0" dirty="0">
              <a:latin typeface="Arial"/>
              <a:cs typeface="Arial"/>
            </a:endParaRPr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 flipH="1">
            <a:off x="828675" y="4333875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b="0" i="0" dirty="0">
              <a:latin typeface="Arial"/>
              <a:cs typeface="Arial"/>
            </a:endParaRPr>
          </a:p>
        </p:txBody>
      </p:sp>
      <p:sp>
        <p:nvSpPr>
          <p:cNvPr id="224314" name="Text Box 58"/>
          <p:cNvSpPr txBox="1">
            <a:spLocks noChangeArrowheads="1"/>
          </p:cNvSpPr>
          <p:nvPr/>
        </p:nvSpPr>
        <p:spPr bwMode="auto">
          <a:xfrm>
            <a:off x="1470025" y="1593850"/>
            <a:ext cx="18101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       </a:t>
            </a:r>
            <a:r>
              <a:rPr lang="en-US" i="0" dirty="0">
                <a:solidFill>
                  <a:srgbClr val="0000FF"/>
                </a:solidFill>
                <a:latin typeface="Arial"/>
                <a:cs typeface="Arial"/>
              </a:rPr>
              <a:t>constant bit </a:t>
            </a:r>
          </a:p>
          <a:p>
            <a:pPr>
              <a:defRPr/>
            </a:pPr>
            <a:r>
              <a:rPr lang="en-US" i="0" dirty="0">
                <a:solidFill>
                  <a:srgbClr val="0000FF"/>
                </a:solidFill>
                <a:latin typeface="Arial"/>
                <a:cs typeface="Arial"/>
              </a:rPr>
              <a:t>      rate </a:t>
            </a: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video</a:t>
            </a:r>
          </a:p>
          <a:p>
            <a:pPr>
              <a:defRPr/>
            </a:pPr>
            <a:r>
              <a:rPr lang="en-US" b="0" i="0" dirty="0">
                <a:solidFill>
                  <a:srgbClr val="D3A600"/>
                </a:solidFill>
                <a:latin typeface="Arial"/>
                <a:cs typeface="Arial"/>
              </a:rPr>
              <a:t>transmission</a:t>
            </a:r>
          </a:p>
        </p:txBody>
      </p:sp>
      <p:grpSp>
        <p:nvGrpSpPr>
          <p:cNvPr id="36868" name="Group 60"/>
          <p:cNvGrpSpPr>
            <a:grpSpLocks/>
          </p:cNvGrpSpPr>
          <p:nvPr/>
        </p:nvGrpSpPr>
        <p:grpSpPr bwMode="auto">
          <a:xfrm>
            <a:off x="1219200" y="1820863"/>
            <a:ext cx="2552700" cy="2525712"/>
            <a:chOff x="648" y="1147"/>
            <a:chExt cx="1608" cy="1591"/>
          </a:xfrm>
        </p:grpSpPr>
        <p:grpSp>
          <p:nvGrpSpPr>
            <p:cNvPr id="36967" name="Group 61"/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6983" name="Group 62"/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6994" name="Group 63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7002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1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2" name="Line 6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7003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4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5" name="Line 6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995" name="Group 70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996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28" name="Line 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29" name="Line 7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997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331" name="Line 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332" name="Line 7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D3A6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b="0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6984" name="Group 77"/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6988" name="Group 78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35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36" name="Line 8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89" name="Group 81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38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39" name="Line 8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85" name="Group 84"/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24341" name="Line 85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D3A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42" name="Line 86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D3A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</p:grpSp>
        <p:grpSp>
          <p:nvGrpSpPr>
            <p:cNvPr id="36968" name="Group 87"/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6969" name="Group 88"/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6977" name="Group 89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46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47" name="Line 9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78" name="Group 92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49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0" name="Line 9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70" name="Group 95"/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6971" name="Group 96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53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4" name="Line 9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72" name="Group 99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56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57" name="Line 10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D3A6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</p:grpSp>
      <p:sp>
        <p:nvSpPr>
          <p:cNvPr id="224406" name="Text Box 150"/>
          <p:cNvSpPr txBox="1">
            <a:spLocks noChangeArrowheads="1"/>
          </p:cNvSpPr>
          <p:nvPr/>
        </p:nvSpPr>
        <p:spPr bwMode="auto">
          <a:xfrm rot="-5433387">
            <a:off x="-412750" y="2638426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Cumulative data</a:t>
            </a:r>
          </a:p>
        </p:txBody>
      </p:sp>
      <p:sp>
        <p:nvSpPr>
          <p:cNvPr id="224410" name="Text Box 154"/>
          <p:cNvSpPr txBox="1">
            <a:spLocks noChangeArrowheads="1"/>
          </p:cNvSpPr>
          <p:nvPr/>
        </p:nvSpPr>
        <p:spPr bwMode="auto">
          <a:xfrm>
            <a:off x="8099425" y="4356100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224457" name="Group 201"/>
          <p:cNvGrpSpPr>
            <a:grpSpLocks/>
          </p:cNvGrpSpPr>
          <p:nvPr/>
        </p:nvGrpSpPr>
        <p:grpSpPr bwMode="auto">
          <a:xfrm>
            <a:off x="2495550" y="1835150"/>
            <a:ext cx="3500438" cy="2520950"/>
            <a:chOff x="1572" y="1156"/>
            <a:chExt cx="2205" cy="1588"/>
          </a:xfrm>
        </p:grpSpPr>
        <p:grpSp>
          <p:nvGrpSpPr>
            <p:cNvPr id="36927" name="Group 198"/>
            <p:cNvGrpSpPr>
              <a:grpSpLocks/>
            </p:cNvGrpSpPr>
            <p:nvPr/>
          </p:nvGrpSpPr>
          <p:grpSpPr bwMode="auto"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36931" name="Group 106"/>
              <p:cNvGrpSpPr>
                <a:grpSpLocks/>
              </p:cNvGrpSpPr>
              <p:nvPr/>
            </p:nvGrpSpPr>
            <p:grpSpPr bwMode="auto">
              <a:xfrm>
                <a:off x="1938" y="2600"/>
                <a:ext cx="319" cy="144"/>
                <a:chOff x="672" y="1920"/>
                <a:chExt cx="145" cy="144"/>
              </a:xfrm>
            </p:grpSpPr>
            <p:sp>
              <p:nvSpPr>
                <p:cNvPr id="224363" name="Line 107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64" name="Line 108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2" name="Group 109"/>
              <p:cNvGrpSpPr>
                <a:grpSpLocks/>
              </p:cNvGrpSpPr>
              <p:nvPr/>
            </p:nvGrpSpPr>
            <p:grpSpPr bwMode="auto">
              <a:xfrm>
                <a:off x="2252" y="2456"/>
                <a:ext cx="73" cy="144"/>
                <a:chOff x="672" y="1920"/>
                <a:chExt cx="145" cy="144"/>
              </a:xfrm>
            </p:grpSpPr>
            <p:sp>
              <p:nvSpPr>
                <p:cNvPr id="224366" name="Line 110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67" name="Line 111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3" name="Group 112"/>
              <p:cNvGrpSpPr>
                <a:grpSpLocks/>
              </p:cNvGrpSpPr>
              <p:nvPr/>
            </p:nvGrpSpPr>
            <p:grpSpPr bwMode="auto"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36957" name="Group 113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70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1" name="Line 11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7"/>
                    <a:ext cx="0" cy="1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58" name="Group 116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73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671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4" name="Line 118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7"/>
                    <a:ext cx="0" cy="14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34" name="Group 119"/>
              <p:cNvGrpSpPr>
                <a:grpSpLocks/>
              </p:cNvGrpSpPr>
              <p:nvPr/>
            </p:nvGrpSpPr>
            <p:grpSpPr bwMode="auto"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36951" name="Group 120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77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78" name="Line 12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52" name="Group 123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80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81" name="Line 125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935" name="Group 126"/>
              <p:cNvGrpSpPr>
                <a:grpSpLocks/>
              </p:cNvGrpSpPr>
              <p:nvPr/>
            </p:nvGrpSpPr>
            <p:grpSpPr bwMode="auto">
              <a:xfrm>
                <a:off x="3045" y="1740"/>
                <a:ext cx="52" cy="144"/>
                <a:chOff x="672" y="1920"/>
                <a:chExt cx="145" cy="144"/>
              </a:xfrm>
            </p:grpSpPr>
            <p:sp>
              <p:nvSpPr>
                <p:cNvPr id="224383" name="Line 127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84" name="Line 128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6" name="Group 131"/>
              <p:cNvGrpSpPr>
                <a:grpSpLocks/>
              </p:cNvGrpSpPr>
              <p:nvPr/>
            </p:nvGrpSpPr>
            <p:grpSpPr bwMode="auto">
              <a:xfrm>
                <a:off x="3092" y="1590"/>
                <a:ext cx="469" cy="144"/>
                <a:chOff x="672" y="1920"/>
                <a:chExt cx="145" cy="144"/>
              </a:xfrm>
            </p:grpSpPr>
            <p:sp>
              <p:nvSpPr>
                <p:cNvPr id="224388" name="Line 132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89" name="Line 133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7" name="Group 134"/>
              <p:cNvGrpSpPr>
                <a:grpSpLocks/>
              </p:cNvGrpSpPr>
              <p:nvPr/>
            </p:nvGrpSpPr>
            <p:grpSpPr bwMode="auto">
              <a:xfrm>
                <a:off x="3550" y="1446"/>
                <a:ext cx="145" cy="144"/>
                <a:chOff x="672" y="1920"/>
                <a:chExt cx="145" cy="144"/>
              </a:xfrm>
            </p:grpSpPr>
            <p:sp>
              <p:nvSpPr>
                <p:cNvPr id="224391" name="Line 135"/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224392" name="Line 136"/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b="0" i="0" dirty="0">
                    <a:latin typeface="Arial"/>
                    <a:cs typeface="Arial"/>
                  </a:endParaRPr>
                </a:p>
              </p:txBody>
            </p:sp>
          </p:grpSp>
          <p:grpSp>
            <p:nvGrpSpPr>
              <p:cNvPr id="36938" name="Group 137"/>
              <p:cNvGrpSpPr>
                <a:grpSpLocks/>
              </p:cNvGrpSpPr>
              <p:nvPr/>
            </p:nvGrpSpPr>
            <p:grpSpPr bwMode="auto"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36939" name="Group 138"/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395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96" name="Line 140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  <p:grpSp>
              <p:nvGrpSpPr>
                <p:cNvPr id="36940" name="Group 141"/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4398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673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399" name="Line 14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b="0" i="0" dirty="0">
                      <a:latin typeface="Arial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224408" name="Text Box 152"/>
            <p:cNvSpPr txBox="1">
              <a:spLocks noChangeArrowheads="1"/>
            </p:cNvSpPr>
            <p:nvPr/>
          </p:nvSpPr>
          <p:spPr bwMode="auto">
            <a:xfrm>
              <a:off x="1786" y="1724"/>
              <a:ext cx="569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variable</a:t>
              </a:r>
            </a:p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network</a:t>
              </a:r>
            </a:p>
            <a:p>
              <a:pPr algn="ctr">
                <a:defRPr/>
              </a:pPr>
              <a:r>
                <a:rPr lang="en-US" b="0" i="0" dirty="0">
                  <a:latin typeface="Arial"/>
                  <a:cs typeface="Arial"/>
                </a:rPr>
                <a:t>delay</a:t>
              </a:r>
            </a:p>
          </p:txBody>
        </p:sp>
        <p:sp>
          <p:nvSpPr>
            <p:cNvPr id="224409" name="Line 153"/>
            <p:cNvSpPr>
              <a:spLocks noChangeShapeType="1"/>
            </p:cNvSpPr>
            <p:nvPr/>
          </p:nvSpPr>
          <p:spPr bwMode="auto">
            <a:xfrm>
              <a:off x="1572" y="193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i="0" dirty="0">
                <a:latin typeface="Arial"/>
                <a:cs typeface="Arial"/>
              </a:endParaRPr>
            </a:p>
          </p:txBody>
        </p:sp>
        <p:sp>
          <p:nvSpPr>
            <p:cNvPr id="224453" name="Text Box 197"/>
            <p:cNvSpPr txBox="1">
              <a:spLocks noChangeArrowheads="1"/>
            </p:cNvSpPr>
            <p:nvPr/>
          </p:nvSpPr>
          <p:spPr bwMode="auto">
            <a:xfrm>
              <a:off x="2764" y="1196"/>
              <a:ext cx="76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b="0" i="0" dirty="0">
                  <a:latin typeface="Arial"/>
                  <a:cs typeface="Arial"/>
                </a:rPr>
                <a:t>client video</a:t>
              </a:r>
            </a:p>
            <a:p>
              <a:pPr algn="r">
                <a:defRPr/>
              </a:pPr>
              <a:r>
                <a:rPr lang="en-US" b="0" i="0" dirty="0">
                  <a:latin typeface="Arial"/>
                  <a:cs typeface="Arial"/>
                </a:rPr>
                <a:t>reception</a:t>
              </a:r>
            </a:p>
          </p:txBody>
        </p:sp>
      </p:grpSp>
      <p:grpSp>
        <p:nvGrpSpPr>
          <p:cNvPr id="224459" name="Group 203"/>
          <p:cNvGrpSpPr>
            <a:grpSpLocks/>
          </p:cNvGrpSpPr>
          <p:nvPr/>
        </p:nvGrpSpPr>
        <p:grpSpPr bwMode="auto">
          <a:xfrm>
            <a:off x="2974975" y="1806575"/>
            <a:ext cx="4929189" cy="3241675"/>
            <a:chOff x="1874" y="1138"/>
            <a:chExt cx="3105" cy="2042"/>
          </a:xfrm>
        </p:grpSpPr>
        <p:grpSp>
          <p:nvGrpSpPr>
            <p:cNvPr id="36881" name="Group 155"/>
            <p:cNvGrpSpPr>
              <a:grpSpLocks/>
            </p:cNvGrpSpPr>
            <p:nvPr/>
          </p:nvGrpSpPr>
          <p:grpSpPr bwMode="auto"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36886" name="Group 156"/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6902" name="Group 157"/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6913" name="Group 158"/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6921" name="Group 15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16" name="Line 16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17" name="Line 161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6922" name="Group 16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19" name="Line 16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0" name="Line 164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6914" name="Group 165"/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6915" name="Group 1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23" name="Line 16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4" name="Line 168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36916" name="Group 1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224426" name="Line 1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  <p:sp>
                    <p:nvSpPr>
                      <p:cNvPr id="224427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i="0" dirty="0">
                          <a:latin typeface="Arial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6903" name="Group 172"/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907" name="Group 173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30" name="Line 1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31" name="Line 175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908" name="Group 176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33" name="Line 1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34" name="Line 17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904" name="Group 179"/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224436" name="Line 180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i="0" dirty="0">
                      <a:latin typeface="Arial"/>
                      <a:cs typeface="Arial"/>
                    </a:endParaRPr>
                  </a:p>
                </p:txBody>
              </p:sp>
              <p:sp>
                <p:nvSpPr>
                  <p:cNvPr id="224437" name="Line 18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i="0" dirty="0">
                      <a:latin typeface="Arial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6887" name="Group 182"/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6888" name="Group 183"/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896" name="Group 184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1" name="Line 1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2" name="Line 18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897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4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5" name="Line 189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6889" name="Group 190"/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6890" name="Group 191"/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48" name="Line 19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49" name="Line 193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6891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24451" name="Line 1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  <p:sp>
                  <p:nvSpPr>
                    <p:cNvPr id="224452" name="Line 196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i="0" dirty="0">
                        <a:latin typeface="Arial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224455" name="Text Box 199"/>
            <p:cNvSpPr txBox="1">
              <a:spLocks noChangeArrowheads="1"/>
            </p:cNvSpPr>
            <p:nvPr/>
          </p:nvSpPr>
          <p:spPr bwMode="auto">
            <a:xfrm>
              <a:off x="3839" y="1248"/>
              <a:ext cx="11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      </a:t>
              </a:r>
              <a:r>
                <a:rPr lang="en-US" i="0" dirty="0">
                  <a:solidFill>
                    <a:srgbClr val="0000FF"/>
                  </a:solidFill>
                  <a:latin typeface="Arial"/>
                  <a:cs typeface="Arial"/>
                </a:rPr>
                <a:t>constant bit </a:t>
              </a:r>
            </a:p>
            <a:p>
              <a:pPr>
                <a:defRPr/>
              </a:pPr>
              <a:r>
                <a:rPr lang="en-US" i="0" dirty="0">
                  <a:solidFill>
                    <a:srgbClr val="0000FF"/>
                  </a:solidFill>
                  <a:latin typeface="Arial"/>
                  <a:cs typeface="Arial"/>
                </a:rPr>
                <a:t>     rate </a:t>
              </a: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video</a:t>
              </a:r>
            </a:p>
            <a:p>
              <a:pPr>
                <a:defRPr/>
              </a:pPr>
              <a:r>
                <a:rPr lang="en-US" b="0" i="0" dirty="0">
                  <a:solidFill>
                    <a:srgbClr val="000099"/>
                  </a:solidFill>
                  <a:latin typeface="Arial"/>
                  <a:cs typeface="Arial"/>
                </a:rPr>
                <a:t> playout at client</a:t>
              </a:r>
            </a:p>
          </p:txBody>
        </p:sp>
        <p:grpSp>
          <p:nvGrpSpPr>
            <p:cNvPr id="36883" name="Group 202"/>
            <p:cNvGrpSpPr>
              <a:grpSpLocks/>
            </p:cNvGrpSpPr>
            <p:nvPr/>
          </p:nvGrpSpPr>
          <p:grpSpPr bwMode="auto">
            <a:xfrm>
              <a:off x="1874" y="2812"/>
              <a:ext cx="1059" cy="368"/>
              <a:chOff x="1874" y="2812"/>
              <a:chExt cx="1059" cy="368"/>
            </a:xfrm>
          </p:grpSpPr>
          <p:sp>
            <p:nvSpPr>
              <p:cNvPr id="224400" name="Text Box 144"/>
              <p:cNvSpPr txBox="1">
                <a:spLocks noChangeArrowheads="1"/>
              </p:cNvSpPr>
              <p:nvPr/>
            </p:nvSpPr>
            <p:spPr bwMode="auto">
              <a:xfrm>
                <a:off x="1874" y="2812"/>
                <a:ext cx="1059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b="0" i="0" dirty="0">
                    <a:solidFill>
                      <a:srgbClr val="000099"/>
                    </a:solidFill>
                    <a:latin typeface="Arial"/>
                    <a:cs typeface="Arial"/>
                  </a:rPr>
                  <a:t>client playout</a:t>
                </a:r>
              </a:p>
              <a:p>
                <a:pPr algn="ctr">
                  <a:defRPr/>
                </a:pPr>
                <a:r>
                  <a:rPr lang="en-US" b="0" i="0" dirty="0">
                    <a:solidFill>
                      <a:srgbClr val="000099"/>
                    </a:solidFill>
                    <a:latin typeface="Arial"/>
                    <a:cs typeface="Arial"/>
                  </a:rPr>
                  <a:t>delay</a:t>
                </a:r>
              </a:p>
            </p:txBody>
          </p:sp>
          <p:sp>
            <p:nvSpPr>
              <p:cNvPr id="224456" name="Line 200"/>
              <p:cNvSpPr>
                <a:spLocks noChangeShapeType="1"/>
              </p:cNvSpPr>
              <p:nvPr/>
            </p:nvSpPr>
            <p:spPr bwMode="auto">
              <a:xfrm flipV="1">
                <a:off x="1962" y="2988"/>
                <a:ext cx="816" cy="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i="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224462" name="Group 206"/>
          <p:cNvGrpSpPr>
            <a:grpSpLocks/>
          </p:cNvGrpSpPr>
          <p:nvPr/>
        </p:nvGrpSpPr>
        <p:grpSpPr bwMode="auto">
          <a:xfrm>
            <a:off x="4459288" y="2971800"/>
            <a:ext cx="523875" cy="903288"/>
            <a:chOff x="2809" y="1872"/>
            <a:chExt cx="330" cy="569"/>
          </a:xfrm>
        </p:grpSpPr>
        <p:sp>
          <p:nvSpPr>
            <p:cNvPr id="224460" name="Line 204"/>
            <p:cNvSpPr>
              <a:spLocks noChangeShapeType="1"/>
            </p:cNvSpPr>
            <p:nvPr/>
          </p:nvSpPr>
          <p:spPr bwMode="auto">
            <a:xfrm flipV="1">
              <a:off x="2988" y="1872"/>
              <a:ext cx="0" cy="564"/>
            </a:xfrm>
            <a:prstGeom prst="line">
              <a:avLst/>
            </a:prstGeom>
            <a:noFill/>
            <a:ln w="19050">
              <a:solidFill>
                <a:srgbClr val="D3A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b="0" i="0" dirty="0">
                <a:latin typeface="Arial"/>
                <a:cs typeface="Arial"/>
              </a:endParaRPr>
            </a:p>
          </p:txBody>
        </p:sp>
        <p:sp>
          <p:nvSpPr>
            <p:cNvPr id="224461" name="Text Box 205"/>
            <p:cNvSpPr txBox="1">
              <a:spLocks noChangeArrowheads="1"/>
            </p:cNvSpPr>
            <p:nvPr/>
          </p:nvSpPr>
          <p:spPr bwMode="auto">
            <a:xfrm rot="16200000">
              <a:off x="2710" y="2011"/>
              <a:ext cx="5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0" i="0" dirty="0">
                  <a:solidFill>
                    <a:srgbClr val="D3A600"/>
                  </a:solidFill>
                  <a:latin typeface="Arial"/>
                  <a:cs typeface="Arial"/>
                </a:rPr>
                <a:t>buffered</a:t>
              </a:r>
            </a:p>
            <a:p>
              <a:pPr algn="ctr">
                <a:defRPr/>
              </a:pPr>
              <a:r>
                <a:rPr lang="en-US" sz="1400" b="0" i="0" dirty="0">
                  <a:solidFill>
                    <a:srgbClr val="D3A600"/>
                  </a:solidFill>
                  <a:latin typeface="Arial"/>
                  <a:cs typeface="Arial"/>
                </a:rPr>
                <a:t>video</a:t>
              </a:r>
              <a:endParaRPr lang="en-US" b="0" i="0" dirty="0">
                <a:solidFill>
                  <a:srgbClr val="D3A6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streaming: Revisited</a:t>
            </a:r>
          </a:p>
        </p:txBody>
      </p:sp>
      <p:sp>
        <p:nvSpPr>
          <p:cNvPr id="224464" name="Rectangle 208"/>
          <p:cNvSpPr>
            <a:spLocks noGrp="1" noChangeArrowheads="1"/>
          </p:cNvSpPr>
          <p:nvPr>
            <p:ph type="body" idx="4294967295"/>
          </p:nvPr>
        </p:nvSpPr>
        <p:spPr>
          <a:xfrm>
            <a:off x="373091" y="5207000"/>
            <a:ext cx="8770909" cy="889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Client-side buffering and playout delay:</a:t>
            </a:r>
            <a:r>
              <a:rPr lang="en-US" i="1" dirty="0">
                <a:solidFill>
                  <a:srgbClr val="CC0000"/>
                </a:solidFill>
              </a:rPr>
              <a:t> </a:t>
            </a:r>
            <a:r>
              <a:rPr lang="en-US" dirty="0"/>
              <a:t>compensate for network-added delay, delay jitter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76901-1CCF-D7E6-9170-1E20A41A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7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4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464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HTTP streaming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bitrate for all clients</a:t>
            </a:r>
          </a:p>
          <a:p>
            <a:pPr lvl="1"/>
            <a:r>
              <a:rPr lang="en-US" dirty="0"/>
              <a:t>Clients can have very different network conditions</a:t>
            </a:r>
          </a:p>
          <a:p>
            <a:pPr lvl="1"/>
            <a:r>
              <a:rPr lang="en-US" dirty="0"/>
              <a:t>Clients network conditions can change over time</a:t>
            </a:r>
          </a:p>
          <a:p>
            <a:r>
              <a:rPr lang="en-US" dirty="0">
                <a:solidFill>
                  <a:srgbClr val="0000FF"/>
                </a:solidFill>
              </a:rPr>
              <a:t>Cannot dynamically adapt to conditions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A7FAC-23A2-FD36-753D-A2458542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: Dynamic Adaptive Streaming over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</a:t>
            </a:r>
            <a:r>
              <a:rPr lang="en-US" dirty="0">
                <a:solidFill>
                  <a:srgbClr val="0000FF"/>
                </a:solidFill>
              </a:rPr>
              <a:t>multiple resolutions </a:t>
            </a:r>
            <a:r>
              <a:rPr lang="en-US" dirty="0"/>
              <a:t>of the same video</a:t>
            </a:r>
          </a:p>
          <a:p>
            <a:pPr lvl="1"/>
            <a:r>
              <a:rPr lang="en-US" dirty="0"/>
              <a:t>Stored in a manifest file in the HTTP server</a:t>
            </a:r>
          </a:p>
          <a:p>
            <a:r>
              <a:rPr lang="en-US" dirty="0"/>
              <a:t>Client asks for the manifest file first to learn about the options</a:t>
            </a:r>
          </a:p>
          <a:p>
            <a:r>
              <a:rPr lang="en-US" dirty="0"/>
              <a:t>Asks for chunks at a time and measures available bandwidth while they are downloaded</a:t>
            </a:r>
          </a:p>
          <a:p>
            <a:pPr lvl="1"/>
            <a:r>
              <a:rPr lang="en-US" dirty="0"/>
              <a:t>Low bandwidth ⇒ switch to lower bitrate</a:t>
            </a:r>
          </a:p>
          <a:p>
            <a:pPr lvl="1"/>
            <a:r>
              <a:rPr lang="en-US" dirty="0"/>
              <a:t>High bandwidth ⇒ switch to higher bitrate</a:t>
            </a:r>
          </a:p>
          <a:p>
            <a:r>
              <a:rPr lang="en-US" dirty="0">
                <a:solidFill>
                  <a:srgbClr val="0000FF"/>
                </a:solidFill>
              </a:rPr>
              <a:t>Adaptive bit rate (ABR)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190D3-D755-8130-82B4-8A2455F5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1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Systems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5B20E-DD1B-B5E9-CC9C-748D531D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9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serving Web services?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061" y="3878918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chemeClr val="accent2"/>
                </a:solidFill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981980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D3A600"/>
                </a:solidFill>
              </a:rPr>
              <a:t>Server</a:t>
            </a:r>
          </a:p>
        </p:txBody>
      </p:sp>
      <p:sp>
        <p:nvSpPr>
          <p:cNvPr id="4" name="Freeform 3"/>
          <p:cNvSpPr/>
          <p:nvPr/>
        </p:nvSpPr>
        <p:spPr bwMode="auto">
          <a:xfrm>
            <a:off x="1358537" y="3487783"/>
            <a:ext cx="6413863" cy="1086453"/>
          </a:xfrm>
          <a:custGeom>
            <a:avLst/>
            <a:gdLst>
              <a:gd name="connsiteX0" fmla="*/ 0 w 6413863"/>
              <a:gd name="connsiteY0" fmla="*/ 679268 h 1086453"/>
              <a:gd name="connsiteX1" fmla="*/ 1776549 w 6413863"/>
              <a:gd name="connsiteY1" fmla="*/ 1058091 h 1086453"/>
              <a:gd name="connsiteX2" fmla="*/ 6413863 w 6413863"/>
              <a:gd name="connsiteY2" fmla="*/ 0 h 10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3863" h="1086453">
                <a:moveTo>
                  <a:pt x="0" y="679268"/>
                </a:moveTo>
                <a:cubicBezTo>
                  <a:pt x="353786" y="925285"/>
                  <a:pt x="707572" y="1171302"/>
                  <a:pt x="1776549" y="1058091"/>
                </a:cubicBezTo>
                <a:cubicBezTo>
                  <a:pt x="2845526" y="944880"/>
                  <a:pt x="6413863" y="0"/>
                  <a:pt x="6413863" y="0"/>
                </a:cubicBezTo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20868623">
            <a:off x="3824166" y="3914944"/>
            <a:ext cx="1194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GET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1BF45-74D6-0AB3-4E3D-7097F192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5060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serving Web services?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061" y="3878918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chemeClr val="accent2"/>
                </a:solidFill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6200" y="2981980"/>
            <a:ext cx="1244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>
                <a:solidFill>
                  <a:srgbClr val="D3A600"/>
                </a:solidFill>
              </a:rPr>
              <a:t>Server</a:t>
            </a:r>
          </a:p>
        </p:txBody>
      </p:sp>
      <p:sp>
        <p:nvSpPr>
          <p:cNvPr id="4" name="Freeform 3"/>
          <p:cNvSpPr/>
          <p:nvPr/>
        </p:nvSpPr>
        <p:spPr bwMode="auto">
          <a:xfrm>
            <a:off x="1358537" y="3487783"/>
            <a:ext cx="6413863" cy="1086453"/>
          </a:xfrm>
          <a:custGeom>
            <a:avLst/>
            <a:gdLst>
              <a:gd name="connsiteX0" fmla="*/ 0 w 6413863"/>
              <a:gd name="connsiteY0" fmla="*/ 679268 h 1086453"/>
              <a:gd name="connsiteX1" fmla="*/ 1776549 w 6413863"/>
              <a:gd name="connsiteY1" fmla="*/ 1058091 h 1086453"/>
              <a:gd name="connsiteX2" fmla="*/ 6413863 w 6413863"/>
              <a:gd name="connsiteY2" fmla="*/ 0 h 108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3863" h="1086453">
                <a:moveTo>
                  <a:pt x="0" y="679268"/>
                </a:moveTo>
                <a:cubicBezTo>
                  <a:pt x="353786" y="925285"/>
                  <a:pt x="707572" y="1171302"/>
                  <a:pt x="1776549" y="1058091"/>
                </a:cubicBezTo>
                <a:cubicBezTo>
                  <a:pt x="2845526" y="944880"/>
                  <a:pt x="6413863" y="0"/>
                  <a:pt x="6413863" y="0"/>
                </a:cubicBezTo>
              </a:path>
            </a:pathLst>
          </a:custGeom>
          <a:noFill/>
          <a:ln w="28575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 rot="20868623">
            <a:off x="3546046" y="3914944"/>
            <a:ext cx="1750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Response</a:t>
            </a:r>
          </a:p>
        </p:txBody>
      </p:sp>
      <p:sp>
        <p:nvSpPr>
          <p:cNvPr id="5" name="Folded Corner 4"/>
          <p:cNvSpPr/>
          <p:nvPr/>
        </p:nvSpPr>
        <p:spPr bwMode="auto">
          <a:xfrm>
            <a:off x="154061" y="2490788"/>
            <a:ext cx="1104827" cy="1206500"/>
          </a:xfrm>
          <a:prstGeom prst="foldedCorner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en-US" sz="1000" b="0" dirty="0"/>
              <a:t>&lt;html&gt;</a:t>
            </a:r>
          </a:p>
          <a:p>
            <a:pPr eaLnBrk="0" hangingPunct="0"/>
            <a:r>
              <a:rPr lang="en-US" sz="1000" b="0" dirty="0"/>
              <a:t>&lt;body&gt;</a:t>
            </a:r>
          </a:p>
          <a:p>
            <a:pPr eaLnBrk="0" hangingPunct="0"/>
            <a:r>
              <a:rPr lang="en-US" sz="1000" b="0" dirty="0"/>
              <a:t>... …</a:t>
            </a:r>
          </a:p>
          <a:p>
            <a:pPr eaLnBrk="0" hangingPunct="0"/>
            <a:r>
              <a:rPr lang="en-US" sz="1000" b="0" dirty="0"/>
              <a:t>&lt;/body&gt;</a:t>
            </a:r>
          </a:p>
          <a:p>
            <a:pPr eaLnBrk="0" hangingPunct="0"/>
            <a:r>
              <a:rPr lang="en-US" sz="1000" b="0" dirty="0"/>
              <a:t>&lt;/html&gt;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7FBD9-60F5-387F-1397-067368A9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1425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2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pic>
        <p:nvPicPr>
          <p:cNvPr id="8" name="Content Placeholder 7" descr="DLS_008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2671" y="1600200"/>
            <a:ext cx="6631057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26878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Google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9F822-0F90-395F-F80E-6A5407E7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65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 dirty="0">
              <a:latin typeface="Times New Roman" charset="0"/>
            </a:endParaRPr>
          </a:p>
        </p:txBody>
      </p:sp>
      <p:pic>
        <p:nvPicPr>
          <p:cNvPr id="12" name="Content Placeholder 11" descr="CBF_009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2671" y="1600200"/>
            <a:ext cx="6631057" cy="441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26878" y="5773579"/>
            <a:ext cx="1136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Source: Google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644B5-B492-640A-5D10-7B2EC006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9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datacenters run the world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pic>
        <p:nvPicPr>
          <p:cNvPr id="7" name="Content Placeholder 6" descr="PRY_20.jpe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2671" y="1600200"/>
            <a:ext cx="6631057" cy="441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4659" y="5773579"/>
            <a:ext cx="1292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D3A600"/>
                </a:solidFill>
              </a:rPr>
              <a:t>Source</a:t>
            </a:r>
            <a:r>
              <a:rPr lang="en-US" sz="1000">
                <a:solidFill>
                  <a:srgbClr val="D3A600"/>
                </a:solidFill>
              </a:rPr>
              <a:t>: Facebook</a:t>
            </a:r>
            <a:endParaRPr lang="en-US" sz="1000" dirty="0">
              <a:solidFill>
                <a:srgbClr val="D3A6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A24B7-7083-268D-D26F-6453D090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00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a datacenter (DC)?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1M servers/site [Microsoft/Amazon/Google] </a:t>
            </a:r>
          </a:p>
          <a:p>
            <a:r>
              <a:rPr lang="en-US" dirty="0"/>
              <a:t>&gt;$1B to build one site [</a:t>
            </a:r>
            <a:r>
              <a:rPr lang="en-US" dirty="0">
                <a:solidFill>
                  <a:srgbClr val="0000FF"/>
                </a:solidFill>
              </a:rPr>
              <a:t>UMich Datacenter!</a:t>
            </a:r>
            <a:r>
              <a:rPr lang="en-US" dirty="0"/>
              <a:t>]</a:t>
            </a:r>
          </a:p>
          <a:p>
            <a:r>
              <a:rPr lang="en-US" dirty="0"/>
              <a:t>&gt;$20M/month/site operational costs [MS</a:t>
            </a:r>
            <a:r>
              <a:rPr lang="fr-FR" dirty="0"/>
              <a:t>’</a:t>
            </a:r>
            <a:r>
              <a:rPr lang="en-US" dirty="0"/>
              <a:t>09]</a:t>
            </a:r>
          </a:p>
          <a:p>
            <a:r>
              <a:rPr lang="en-US" dirty="0"/>
              <a:t>Data center hardware spending grew to a record </a:t>
            </a:r>
            <a:r>
              <a:rPr lang="en-US" dirty="0">
                <a:solidFill>
                  <a:srgbClr val="0000FF"/>
                </a:solidFill>
              </a:rPr>
              <a:t>$282 billion</a:t>
            </a:r>
            <a:r>
              <a:rPr lang="en-US" dirty="0"/>
              <a:t> in 2024. [Synergy Research Group report]</a:t>
            </a:r>
          </a:p>
          <a:p>
            <a:endParaRPr lang="en-US" dirty="0"/>
          </a:p>
          <a:p>
            <a:r>
              <a:rPr lang="en-US" dirty="0"/>
              <a:t>But only O(100) sites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8FDA3-5975-5C61-A35C-3EE78BDE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6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  <a:p>
            <a:pPr lvl="1"/>
            <a:r>
              <a:rPr lang="en-US" dirty="0"/>
              <a:t>Need scalable designs</a:t>
            </a:r>
          </a:p>
          <a:p>
            <a:pPr lvl="1"/>
            <a:r>
              <a:rPr lang="en-US" dirty="0"/>
              <a:t>Low-cost designs: e.g., use commodity technology</a:t>
            </a:r>
          </a:p>
          <a:p>
            <a:pPr lvl="1"/>
            <a:r>
              <a:rPr lang="en-US" dirty="0"/>
              <a:t>High utilization (efficiency): e.g., &gt;60% avg. utilization</a:t>
            </a:r>
          </a:p>
          <a:p>
            <a:pPr lvl="2"/>
            <a:r>
              <a:rPr lang="en-US" dirty="0">
                <a:solidFill>
                  <a:srgbClr val="0000FF"/>
                </a:solidFill>
              </a:rPr>
              <a:t>Contrast</a:t>
            </a:r>
            <a:r>
              <a:rPr lang="en-US" dirty="0"/>
              <a:t>: avg. utilization on Internet links often ~30%</a:t>
            </a:r>
          </a:p>
          <a:p>
            <a:pPr lvl="1"/>
            <a:r>
              <a:rPr lang="en-US" dirty="0"/>
              <a:t> Tolerate frequent failure</a:t>
            </a:r>
          </a:p>
          <a:p>
            <a:pPr lvl="2"/>
            <a:r>
              <a:rPr lang="en-US" dirty="0"/>
              <a:t>Large number of (low cost) components </a:t>
            </a:r>
          </a:p>
          <a:p>
            <a:pPr lvl="1"/>
            <a:r>
              <a:rPr lang="en-US" dirty="0"/>
              <a:t> Automate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C906D-DE76-D3AB-47A6-D4431C0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7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model: clouds / </a:t>
            </a:r>
            <a:r>
              <a:rPr lang="en-US" dirty="0">
                <a:solidFill>
                  <a:srgbClr val="0000FF"/>
                </a:solidFill>
              </a:rPr>
              <a:t>multi-tenancy</a:t>
            </a:r>
          </a:p>
          <a:p>
            <a:pPr lvl="1"/>
            <a:r>
              <a:rPr lang="en-US" dirty="0"/>
              <a:t>Performance guarantees</a:t>
            </a:r>
          </a:p>
          <a:p>
            <a:pPr lvl="1"/>
            <a:r>
              <a:rPr lang="en-US" dirty="0"/>
              <a:t>Isolation guarantees</a:t>
            </a:r>
          </a:p>
          <a:p>
            <a:pPr lvl="1"/>
            <a:r>
              <a:rPr lang="en-US" dirty="0"/>
              <a:t>Portability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33057-A8C1-FDFD-281E-0F10FC03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4E92B-F350-37DE-8181-6D590B68F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6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2-10-20 at 7.03.56 PM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0" y="1623987"/>
            <a:ext cx="641985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414994" y="170498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ea typeface="Arial" charset="0"/>
                <a:cs typeface="Arial" charset="0"/>
              </a:rPr>
              <a:t>e</a:t>
            </a:r>
            <a:r>
              <a:rPr lang="en-US" sz="1600" dirty="0" err="1">
                <a:solidFill>
                  <a:prstClr val="black"/>
                </a:solidFill>
                <a:ea typeface="Arial" charset="0"/>
                <a:cs typeface="Arial" charset="0"/>
              </a:rPr>
              <a:t>ecs</a:t>
            </a:r>
            <a:r>
              <a:rPr lang="en-US" sz="1600" dirty="0">
                <a:solidFill>
                  <a:prstClr val="black"/>
                </a:solidFill>
                <a:ea typeface="Arial" charset="0"/>
                <a:cs typeface="Arial" charset="0"/>
              </a:rPr>
              <a:t> 489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Partition-Aggregate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8883" y="1665109"/>
            <a:ext cx="609600" cy="3911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976" y="2487827"/>
            <a:ext cx="702212" cy="894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9452" y="3717140"/>
            <a:ext cx="468142" cy="5961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6405" y="3717140"/>
            <a:ext cx="468142" cy="5961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472" y="3717140"/>
            <a:ext cx="468142" cy="5961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516" y="3717140"/>
            <a:ext cx="468142" cy="59614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0" idx="1"/>
            <a:endCxn id="11" idx="0"/>
          </p:cNvCxnSpPr>
          <p:nvPr/>
        </p:nvCxnSpPr>
        <p:spPr>
          <a:xfrm flipH="1">
            <a:off x="3153523" y="2934939"/>
            <a:ext cx="1431453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12" idx="0"/>
          </p:cNvCxnSpPr>
          <p:nvPr/>
        </p:nvCxnSpPr>
        <p:spPr>
          <a:xfrm flipH="1">
            <a:off x="4010476" y="2934939"/>
            <a:ext cx="574500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3" idx="0"/>
          </p:cNvCxnSpPr>
          <p:nvPr/>
        </p:nvCxnSpPr>
        <p:spPr>
          <a:xfrm flipH="1">
            <a:off x="4806543" y="3382051"/>
            <a:ext cx="129539" cy="3350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4" idx="0"/>
          </p:cNvCxnSpPr>
          <p:nvPr/>
        </p:nvCxnSpPr>
        <p:spPr>
          <a:xfrm>
            <a:off x="5287188" y="2934939"/>
            <a:ext cx="1411399" cy="78220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4690" y="5200473"/>
            <a:ext cx="312094" cy="3974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942" y="5196292"/>
            <a:ext cx="312094" cy="3974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94" y="5209511"/>
            <a:ext cx="312094" cy="3974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8222" y="5214029"/>
            <a:ext cx="312094" cy="3974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6792" y="5204992"/>
            <a:ext cx="312094" cy="3974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4044" y="5200811"/>
            <a:ext cx="312094" cy="3974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1296" y="5214030"/>
            <a:ext cx="312094" cy="3974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2453" y="5209849"/>
            <a:ext cx="312094" cy="3974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510" y="5200811"/>
            <a:ext cx="312094" cy="39743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0319" y="5209509"/>
            <a:ext cx="312094" cy="39743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044" y="5222728"/>
            <a:ext cx="312094" cy="3974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201" y="5218547"/>
            <a:ext cx="312094" cy="397433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stCxn id="11" idx="2"/>
            <a:endCxn id="23" idx="0"/>
          </p:cNvCxnSpPr>
          <p:nvPr/>
        </p:nvCxnSpPr>
        <p:spPr>
          <a:xfrm flipH="1">
            <a:off x="2540737" y="4313289"/>
            <a:ext cx="612786" cy="8871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24" idx="0"/>
          </p:cNvCxnSpPr>
          <p:nvPr/>
        </p:nvCxnSpPr>
        <p:spPr>
          <a:xfrm flipH="1">
            <a:off x="2927989" y="4313289"/>
            <a:ext cx="225534" cy="8830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25" idx="0"/>
          </p:cNvCxnSpPr>
          <p:nvPr/>
        </p:nvCxnSpPr>
        <p:spPr>
          <a:xfrm>
            <a:off x="3153523" y="4313289"/>
            <a:ext cx="161718" cy="896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26" idx="0"/>
          </p:cNvCxnSpPr>
          <p:nvPr/>
        </p:nvCxnSpPr>
        <p:spPr>
          <a:xfrm flipH="1">
            <a:off x="3824269" y="4313289"/>
            <a:ext cx="186207" cy="9007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32" idx="0"/>
          </p:cNvCxnSpPr>
          <p:nvPr/>
        </p:nvCxnSpPr>
        <p:spPr>
          <a:xfrm>
            <a:off x="4010476" y="4313289"/>
            <a:ext cx="165890" cy="8962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3" idx="2"/>
            <a:endCxn id="33" idx="0"/>
          </p:cNvCxnSpPr>
          <p:nvPr/>
        </p:nvCxnSpPr>
        <p:spPr>
          <a:xfrm flipH="1">
            <a:off x="4694091" y="4313289"/>
            <a:ext cx="112452" cy="9094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2"/>
            <a:endCxn id="34" idx="0"/>
          </p:cNvCxnSpPr>
          <p:nvPr/>
        </p:nvCxnSpPr>
        <p:spPr>
          <a:xfrm>
            <a:off x="4806543" y="4313289"/>
            <a:ext cx="248705" cy="9052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  <a:endCxn id="27" idx="0"/>
          </p:cNvCxnSpPr>
          <p:nvPr/>
        </p:nvCxnSpPr>
        <p:spPr>
          <a:xfrm flipH="1">
            <a:off x="6102839" y="4313289"/>
            <a:ext cx="595748" cy="8917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28" idx="0"/>
          </p:cNvCxnSpPr>
          <p:nvPr/>
        </p:nvCxnSpPr>
        <p:spPr>
          <a:xfrm flipH="1">
            <a:off x="6490091" y="4313289"/>
            <a:ext cx="208496" cy="8875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4" idx="2"/>
            <a:endCxn id="29" idx="0"/>
          </p:cNvCxnSpPr>
          <p:nvPr/>
        </p:nvCxnSpPr>
        <p:spPr>
          <a:xfrm>
            <a:off x="6698587" y="4313289"/>
            <a:ext cx="178756" cy="9007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2"/>
            <a:endCxn id="30" idx="0"/>
          </p:cNvCxnSpPr>
          <p:nvPr/>
        </p:nvCxnSpPr>
        <p:spPr>
          <a:xfrm>
            <a:off x="6698587" y="4313289"/>
            <a:ext cx="539913" cy="89656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4" idx="2"/>
            <a:endCxn id="31" idx="0"/>
          </p:cNvCxnSpPr>
          <p:nvPr/>
        </p:nvCxnSpPr>
        <p:spPr>
          <a:xfrm>
            <a:off x="6698587" y="4313289"/>
            <a:ext cx="930970" cy="8875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80506" y="2670900"/>
            <a:ext cx="141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Top-level Aggregator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620" y="3745384"/>
            <a:ext cx="139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Mid-level Aggregators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0042" y="5215498"/>
            <a:ext cx="1174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Workers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533D2-C07F-FEE2-C32C-5585D53C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1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7037E-6 C 0.02188 0.06921 0.04462 0.13865 -0.00052 0.16365 C -0.04548 0.18865 -0.15833 0.16898 -0.271 0.14953 " pathEditMode="relative" rAng="0" ptsTypes="A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40" y="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Partition-Aggregate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0769" y="2487827"/>
            <a:ext cx="702212" cy="8942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5245" y="3717140"/>
            <a:ext cx="468142" cy="5961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198" y="3717140"/>
            <a:ext cx="468142" cy="5961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8265" y="3717140"/>
            <a:ext cx="468142" cy="5961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0309" y="3717140"/>
            <a:ext cx="468142" cy="596149"/>
          </a:xfrm>
          <a:prstGeom prst="rect">
            <a:avLst/>
          </a:prstGeom>
        </p:spPr>
      </p:pic>
      <p:cxnSp>
        <p:nvCxnSpPr>
          <p:cNvPr id="16" name="Straight Arrow Connector 15"/>
          <p:cNvCxnSpPr>
            <a:stCxn id="10" idx="1"/>
            <a:endCxn id="11" idx="0"/>
          </p:cNvCxnSpPr>
          <p:nvPr/>
        </p:nvCxnSpPr>
        <p:spPr>
          <a:xfrm flipH="1">
            <a:off x="3169316" y="2934939"/>
            <a:ext cx="1431453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12" idx="0"/>
          </p:cNvCxnSpPr>
          <p:nvPr/>
        </p:nvCxnSpPr>
        <p:spPr>
          <a:xfrm flipH="1">
            <a:off x="4026269" y="2934939"/>
            <a:ext cx="574500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3" idx="0"/>
          </p:cNvCxnSpPr>
          <p:nvPr/>
        </p:nvCxnSpPr>
        <p:spPr>
          <a:xfrm flipH="1">
            <a:off x="4822336" y="3382051"/>
            <a:ext cx="129539" cy="335089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4" idx="0"/>
          </p:cNvCxnSpPr>
          <p:nvPr/>
        </p:nvCxnSpPr>
        <p:spPr>
          <a:xfrm>
            <a:off x="5302981" y="2934939"/>
            <a:ext cx="1411399" cy="782201"/>
          </a:xfrm>
          <a:prstGeom prst="straightConnector1">
            <a:avLst/>
          </a:prstGeom>
          <a:ln>
            <a:solidFill>
              <a:srgbClr val="008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0483" y="5200473"/>
            <a:ext cx="312094" cy="3974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7735" y="5196292"/>
            <a:ext cx="312094" cy="3974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4987" y="5209511"/>
            <a:ext cx="312094" cy="39743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4015" y="5214029"/>
            <a:ext cx="312094" cy="39743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2585" y="5204992"/>
            <a:ext cx="312094" cy="3974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9837" y="5200811"/>
            <a:ext cx="312094" cy="39743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7089" y="5214030"/>
            <a:ext cx="312094" cy="3974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8246" y="5209849"/>
            <a:ext cx="312094" cy="3974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9303" y="5200811"/>
            <a:ext cx="312094" cy="39743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112" y="5209509"/>
            <a:ext cx="312094" cy="39743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3837" y="5222728"/>
            <a:ext cx="312094" cy="3974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994" y="5218547"/>
            <a:ext cx="312094" cy="397433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stCxn id="11" idx="2"/>
            <a:endCxn id="23" idx="0"/>
          </p:cNvCxnSpPr>
          <p:nvPr/>
        </p:nvCxnSpPr>
        <p:spPr>
          <a:xfrm flipH="1">
            <a:off x="2556530" y="4313289"/>
            <a:ext cx="612786" cy="887184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</p:cNvCxnSpPr>
          <p:nvPr/>
        </p:nvCxnSpPr>
        <p:spPr>
          <a:xfrm flipH="1">
            <a:off x="2857296" y="4313289"/>
            <a:ext cx="312020" cy="958249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" idx="2"/>
            <a:endCxn id="25" idx="0"/>
          </p:cNvCxnSpPr>
          <p:nvPr/>
        </p:nvCxnSpPr>
        <p:spPr>
          <a:xfrm>
            <a:off x="3169316" y="4313289"/>
            <a:ext cx="161718" cy="896222"/>
          </a:xfrm>
          <a:prstGeom prst="straightConnector1">
            <a:avLst/>
          </a:prstGeom>
          <a:ln>
            <a:solidFill>
              <a:srgbClr val="3366FF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2" idx="2"/>
            <a:endCxn id="26" idx="0"/>
          </p:cNvCxnSpPr>
          <p:nvPr/>
        </p:nvCxnSpPr>
        <p:spPr>
          <a:xfrm flipH="1">
            <a:off x="3840062" y="4313289"/>
            <a:ext cx="186207" cy="90074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32" idx="0"/>
          </p:cNvCxnSpPr>
          <p:nvPr/>
        </p:nvCxnSpPr>
        <p:spPr>
          <a:xfrm>
            <a:off x="4026269" y="4313289"/>
            <a:ext cx="165890" cy="89622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3" idx="2"/>
            <a:endCxn id="33" idx="0"/>
          </p:cNvCxnSpPr>
          <p:nvPr/>
        </p:nvCxnSpPr>
        <p:spPr>
          <a:xfrm flipH="1">
            <a:off x="4709884" y="4313289"/>
            <a:ext cx="112452" cy="909439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2"/>
            <a:endCxn id="34" idx="0"/>
          </p:cNvCxnSpPr>
          <p:nvPr/>
        </p:nvCxnSpPr>
        <p:spPr>
          <a:xfrm>
            <a:off x="4822336" y="4313289"/>
            <a:ext cx="248705" cy="905258"/>
          </a:xfrm>
          <a:prstGeom prst="straightConnector1">
            <a:avLst/>
          </a:prstGeom>
          <a:ln>
            <a:solidFill>
              <a:schemeClr val="tx1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4" idx="2"/>
            <a:endCxn id="27" idx="0"/>
          </p:cNvCxnSpPr>
          <p:nvPr/>
        </p:nvCxnSpPr>
        <p:spPr>
          <a:xfrm flipH="1">
            <a:off x="6118632" y="4313289"/>
            <a:ext cx="595748" cy="891703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28" idx="0"/>
          </p:cNvCxnSpPr>
          <p:nvPr/>
        </p:nvCxnSpPr>
        <p:spPr>
          <a:xfrm flipH="1">
            <a:off x="6505884" y="4313289"/>
            <a:ext cx="208496" cy="887522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5" cstate="screen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987" y="2752472"/>
            <a:ext cx="609600" cy="391160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pic>
        <p:nvPicPr>
          <p:cNvPr id="63" name="Picture 62" descr="Screen Shot 2012-10-20 at 7.03.56 PM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0" y="1623987"/>
            <a:ext cx="6419850" cy="466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4" name="TextBox 63"/>
          <p:cNvSpPr txBox="1"/>
          <p:nvPr/>
        </p:nvSpPr>
        <p:spPr>
          <a:xfrm>
            <a:off x="1414994" y="1704985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en-US" sz="1600" dirty="0" err="1">
                <a:solidFill>
                  <a:prstClr val="black"/>
                </a:solidFill>
                <a:latin typeface="Arial"/>
                <a:cs typeface="Arial"/>
              </a:rPr>
              <a:t>ecs</a:t>
            </a:r>
            <a:r>
              <a:rPr lang="en-US" sz="1600" dirty="0">
                <a:solidFill>
                  <a:prstClr val="black"/>
                </a:solidFill>
                <a:latin typeface="Arial"/>
                <a:cs typeface="Arial"/>
              </a:rPr>
              <a:t> 489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0506" y="2670900"/>
            <a:ext cx="1413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Top-level Aggregator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620" y="3745384"/>
            <a:ext cx="1397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Mid-level Aggregators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00042" y="5215498"/>
            <a:ext cx="1174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prstClr val="black"/>
                </a:solidFill>
                <a:ea typeface="Arial" charset="0"/>
                <a:cs typeface="Arial" charset="0"/>
              </a:rPr>
              <a:t>Workers</a:t>
            </a:r>
          </a:p>
        </p:txBody>
      </p:sp>
      <p:cxnSp>
        <p:nvCxnSpPr>
          <p:cNvPr id="57" name="Straight Arrow Connector 56"/>
          <p:cNvCxnSpPr>
            <a:stCxn id="14" idx="2"/>
            <a:endCxn id="29" idx="0"/>
          </p:cNvCxnSpPr>
          <p:nvPr/>
        </p:nvCxnSpPr>
        <p:spPr>
          <a:xfrm>
            <a:off x="6714380" y="4313289"/>
            <a:ext cx="178756" cy="900741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4" idx="2"/>
            <a:endCxn id="30" idx="0"/>
          </p:cNvCxnSpPr>
          <p:nvPr/>
        </p:nvCxnSpPr>
        <p:spPr>
          <a:xfrm>
            <a:off x="6714380" y="4313289"/>
            <a:ext cx="539913" cy="896560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4" idx="2"/>
            <a:endCxn id="31" idx="0"/>
          </p:cNvCxnSpPr>
          <p:nvPr/>
        </p:nvCxnSpPr>
        <p:spPr>
          <a:xfrm>
            <a:off x="6714380" y="4313289"/>
            <a:ext cx="930970" cy="887522"/>
          </a:xfrm>
          <a:prstGeom prst="straightConnector1">
            <a:avLst/>
          </a:prstGeom>
          <a:ln>
            <a:solidFill>
              <a:srgbClr val="FF0000"/>
            </a:solidFill>
            <a:headEnd type="stealth" w="lg" len="lg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03EA4F7-7A84-2A4A-AD6C-DCB7FC7F1C3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7987" y="2096883"/>
            <a:ext cx="6858000" cy="50292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ED60B-97DE-0E86-62B4-1843B94D9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9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1.11111E-6 L 0.00087 -0.1581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response time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Less than 200 milliseconds</a:t>
            </a:r>
            <a:r>
              <a:rPr lang="en-US" dirty="0"/>
              <a:t> between receiving user query in the browser and displaying the results</a:t>
            </a:r>
          </a:p>
          <a:p>
            <a:pPr lvl="1"/>
            <a:r>
              <a:rPr lang="en-US" dirty="0"/>
              <a:t>RTT = O(10) to 100 milliseconds</a:t>
            </a:r>
          </a:p>
          <a:p>
            <a:pPr lvl="1"/>
            <a:r>
              <a:rPr lang="en-US" dirty="0"/>
              <a:t>What remains?</a:t>
            </a:r>
          </a:p>
          <a:p>
            <a:pPr lvl="1"/>
            <a:endParaRPr lang="en-US" dirty="0"/>
          </a:p>
          <a:p>
            <a:r>
              <a:rPr lang="en-US" dirty="0"/>
              <a:t>Next time, when the page is not loading fast enough, think about the poor servers working for you </a:t>
            </a:r>
            <a:r>
              <a:rPr lang="en-US" dirty="0">
                <a:sym typeface="Wingdings"/>
              </a:rPr>
              <a:t>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73B86-8AEB-AD14-62C7-CA8C917E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34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3DAD60-7F96-FF45-A602-76795A4D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66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Map-Reduce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7E7B6-8498-3D4E-6C6B-D3364E99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66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Oval 6"/>
          <p:cNvSpPr/>
          <p:nvPr/>
        </p:nvSpPr>
        <p:spPr>
          <a:xfrm rot="5400000">
            <a:off x="4281164" y="2543824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5400000">
            <a:off x="4281164" y="3827923"/>
            <a:ext cx="370442" cy="370471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8" name="Straight Arrow Connector 57"/>
            <p:cNvCxnSpPr/>
            <p:nvPr/>
          </p:nvCxnSpPr>
          <p:spPr>
            <a:xfrm flipV="1">
              <a:off x="8426111" y="4014729"/>
              <a:ext cx="136430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V="1">
              <a:off x="8930959" y="4114376"/>
              <a:ext cx="900732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flipV="1">
              <a:off x="9435808" y="4155651"/>
              <a:ext cx="495522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10072241" y="4014729"/>
              <a:ext cx="367068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9942533" y="4114376"/>
              <a:ext cx="88436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 rot="5400000">
            <a:off x="2282389" y="2496878"/>
            <a:ext cx="2646259" cy="1721735"/>
            <a:chOff x="8426111" y="4014729"/>
            <a:chExt cx="2013198" cy="1309847"/>
          </a:xfrm>
        </p:grpSpPr>
        <p:cxnSp>
          <p:nvCxnSpPr>
            <p:cNvPr id="53" name="Straight Arrow Connector 52"/>
            <p:cNvCxnSpPr>
              <a:endCxn id="33" idx="2"/>
            </p:cNvCxnSpPr>
            <p:nvPr/>
          </p:nvCxnSpPr>
          <p:spPr>
            <a:xfrm flipV="1">
              <a:off x="8426111" y="4014729"/>
              <a:ext cx="387402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33" idx="3"/>
            </p:cNvCxnSpPr>
            <p:nvPr/>
          </p:nvCxnSpPr>
          <p:spPr>
            <a:xfrm flipH="1" flipV="1">
              <a:off x="8854785" y="4114376"/>
              <a:ext cx="76174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33" idx="4"/>
            </p:cNvCxnSpPr>
            <p:nvPr/>
          </p:nvCxnSpPr>
          <p:spPr>
            <a:xfrm flipH="1" flipV="1">
              <a:off x="8954424" y="4155651"/>
              <a:ext cx="481384" cy="1168925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endCxn id="33" idx="5"/>
            </p:cNvCxnSpPr>
            <p:nvPr/>
          </p:nvCxnSpPr>
          <p:spPr>
            <a:xfrm flipH="1" flipV="1">
              <a:off x="9054063" y="4114376"/>
              <a:ext cx="888470" cy="1210200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endCxn id="33" idx="6"/>
            </p:cNvCxnSpPr>
            <p:nvPr/>
          </p:nvCxnSpPr>
          <p:spPr>
            <a:xfrm flipH="1" flipV="1">
              <a:off x="9095335" y="4014729"/>
              <a:ext cx="1343974" cy="1309847"/>
            </a:xfrm>
            <a:prstGeom prst="straightConnector1">
              <a:avLst/>
            </a:prstGeom>
            <a:ln w="19050" cmpd="sng">
              <a:solidFill>
                <a:srgbClr val="0000FF"/>
              </a:solidFill>
              <a:headEnd type="none" w="med" len="med"/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374179" y="1849397"/>
            <a:ext cx="370471" cy="3016700"/>
            <a:chOff x="2374179" y="2077997"/>
            <a:chExt cx="370471" cy="3016700"/>
          </a:xfrm>
        </p:grpSpPr>
        <p:sp>
          <p:nvSpPr>
            <p:cNvPr id="43" name="Oval 42"/>
            <p:cNvSpPr/>
            <p:nvPr/>
          </p:nvSpPr>
          <p:spPr>
            <a:xfrm rot="5400000">
              <a:off x="2374194" y="20779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 rot="5400000">
              <a:off x="2374194" y="2741582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 rot="5400000">
              <a:off x="2374194" y="3405183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 rot="5400000">
              <a:off x="2374194" y="407125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 rot="5400000">
              <a:off x="2374194" y="4724240"/>
              <a:ext cx="370442" cy="370471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89803" y="2049718"/>
            <a:ext cx="484377" cy="2631159"/>
            <a:chOff x="1889803" y="2278318"/>
            <a:chExt cx="484377" cy="2631159"/>
          </a:xfrm>
        </p:grpSpPr>
        <p:cxnSp>
          <p:nvCxnSpPr>
            <p:cNvPr id="48" name="Straight Arrow Connector 47"/>
            <p:cNvCxnSpPr/>
            <p:nvPr/>
          </p:nvCxnSpPr>
          <p:spPr>
            <a:xfrm rot="5400000" flipV="1">
              <a:off x="2126497" y="2041624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rot="5400000" flipV="1">
              <a:off x="2134056" y="2686694"/>
              <a:ext cx="0" cy="48024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rot="5400000" flipV="1">
              <a:off x="2135020" y="4017326"/>
              <a:ext cx="4933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rot="5400000" flipV="1">
              <a:off x="2131912" y="4667209"/>
              <a:ext cx="11148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rot="5400000" flipV="1">
              <a:off x="2137486" y="3353725"/>
              <a:ext cx="0" cy="473387"/>
            </a:xfrm>
            <a:prstGeom prst="straightConnector1">
              <a:avLst/>
            </a:prstGeom>
            <a:ln w="19050" cmpd="sng">
              <a:solidFill>
                <a:schemeClr val="accent2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1509754" y="1828800"/>
            <a:ext cx="370442" cy="3046746"/>
            <a:chOff x="1509754" y="2057400"/>
            <a:chExt cx="370442" cy="3046746"/>
          </a:xfrm>
        </p:grpSpPr>
        <p:sp>
          <p:nvSpPr>
            <p:cNvPr id="38" name="Can 37"/>
            <p:cNvSpPr/>
            <p:nvPr/>
          </p:nvSpPr>
          <p:spPr>
            <a:xfrm>
              <a:off x="1509754" y="20574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an 38"/>
            <p:cNvSpPr/>
            <p:nvPr/>
          </p:nvSpPr>
          <p:spPr>
            <a:xfrm>
              <a:off x="1509754" y="2721000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an 39"/>
            <p:cNvSpPr/>
            <p:nvPr/>
          </p:nvSpPr>
          <p:spPr>
            <a:xfrm>
              <a:off x="1509754" y="338460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an 40"/>
            <p:cNvSpPr/>
            <p:nvPr/>
          </p:nvSpPr>
          <p:spPr>
            <a:xfrm>
              <a:off x="1509754" y="4692511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an 41"/>
            <p:cNvSpPr/>
            <p:nvPr/>
          </p:nvSpPr>
          <p:spPr>
            <a:xfrm>
              <a:off x="1509754" y="4045736"/>
              <a:ext cx="370442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3690487" y="4969738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"/>
                <a:cs typeface="Gill Sans"/>
              </a:rPr>
              <a:t>Reduce Stage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3956" y="4969738"/>
            <a:ext cx="1272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"/>
                <a:cs typeface="Gill Sans"/>
              </a:rPr>
              <a:t>Map Stage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646842" y="2534506"/>
            <a:ext cx="907900" cy="1687129"/>
            <a:chOff x="4646842" y="2763106"/>
            <a:chExt cx="907900" cy="1687129"/>
          </a:xfrm>
        </p:grpSpPr>
        <p:cxnSp>
          <p:nvCxnSpPr>
            <p:cNvPr id="35" name="Straight Arrow Connector 34"/>
            <p:cNvCxnSpPr/>
            <p:nvPr/>
          </p:nvCxnSpPr>
          <p:spPr>
            <a:xfrm rot="5400000" flipV="1">
              <a:off x="4902993" y="3991623"/>
              <a:ext cx="6071" cy="51837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n 35"/>
            <p:cNvSpPr/>
            <p:nvPr/>
          </p:nvSpPr>
          <p:spPr>
            <a:xfrm>
              <a:off x="5187323" y="2763106"/>
              <a:ext cx="367419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4900594" y="2692888"/>
              <a:ext cx="10870" cy="51837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Can 64"/>
            <p:cNvSpPr/>
            <p:nvPr/>
          </p:nvSpPr>
          <p:spPr>
            <a:xfrm>
              <a:off x="5181600" y="4038600"/>
              <a:ext cx="367419" cy="411635"/>
            </a:xfrm>
            <a:prstGeom prst="can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651621" y="1898798"/>
            <a:ext cx="3120780" cy="3090174"/>
            <a:chOff x="4651621" y="2127398"/>
            <a:chExt cx="3120780" cy="3090174"/>
          </a:xfrm>
        </p:grpSpPr>
        <p:sp>
          <p:nvSpPr>
            <p:cNvPr id="67" name="Rectangle 66"/>
            <p:cNvSpPr/>
            <p:nvPr/>
          </p:nvSpPr>
          <p:spPr>
            <a:xfrm rot="5400000">
              <a:off x="4673467" y="2118638"/>
              <a:ext cx="3090174" cy="3107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 rot="5400000">
              <a:off x="4496545" y="3112735"/>
              <a:ext cx="1284099" cy="973948"/>
              <a:chOff x="8954424" y="3132855"/>
              <a:chExt cx="976906" cy="740952"/>
            </a:xfrm>
            <a:noFill/>
          </p:grpSpPr>
          <p:sp>
            <p:nvSpPr>
              <p:cNvPr id="83" name="Oval 82"/>
              <p:cNvSpPr/>
              <p:nvPr/>
            </p:nvSpPr>
            <p:spPr>
              <a:xfrm>
                <a:off x="9372156" y="313285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/>
              <p:cNvCxnSpPr/>
              <p:nvPr/>
            </p:nvCxnSpPr>
            <p:spPr>
              <a:xfrm flipV="1">
                <a:off x="8954424" y="3373424"/>
                <a:ext cx="45900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H="1" flipV="1">
                <a:off x="9612706" y="3373424"/>
                <a:ext cx="318624" cy="500383"/>
              </a:xfrm>
              <a:prstGeom prst="straightConnector1">
                <a:avLst/>
              </a:prstGeom>
              <a:grpFill/>
              <a:ln w="19050" cmpd="sng">
                <a:solidFill>
                  <a:srgbClr val="09245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 rot="5400000">
              <a:off x="4900269" y="3197094"/>
              <a:ext cx="2304975" cy="962884"/>
              <a:chOff x="8626067" y="2441595"/>
              <a:chExt cx="1753559" cy="732535"/>
            </a:xfrm>
            <a:noFill/>
          </p:grpSpPr>
          <p:sp>
            <p:nvSpPr>
              <p:cNvPr id="77" name="Oval 76"/>
              <p:cNvSpPr/>
              <p:nvPr/>
            </p:nvSpPr>
            <p:spPr>
              <a:xfrm>
                <a:off x="8626067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0097804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9383029" y="2441595"/>
                <a:ext cx="281822" cy="28184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/>
              <p:cNvCxnSpPr/>
              <p:nvPr/>
            </p:nvCxnSpPr>
            <p:spPr>
              <a:xfrm flipH="1" flipV="1">
                <a:off x="8766978" y="2723439"/>
                <a:ext cx="646450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/>
              <p:nvPr/>
            </p:nvCxnSpPr>
            <p:spPr>
              <a:xfrm flipV="1">
                <a:off x="9513067" y="2723439"/>
                <a:ext cx="10873" cy="409416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/>
              <p:nvPr/>
            </p:nvCxnSpPr>
            <p:spPr>
              <a:xfrm flipV="1">
                <a:off x="9612706" y="2723439"/>
                <a:ext cx="626009" cy="450691"/>
              </a:xfrm>
              <a:prstGeom prst="straightConnector1">
                <a:avLst/>
              </a:prstGeom>
              <a:grpFill/>
              <a:ln w="19050" cmpd="sng">
                <a:solidFill>
                  <a:srgbClr val="D9001F"/>
                </a:solidFill>
                <a:headEnd type="none" w="med" len="med"/>
                <a:tailEnd type="stealth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/>
            <p:cNvGrpSpPr/>
            <p:nvPr/>
          </p:nvGrpSpPr>
          <p:grpSpPr>
            <a:xfrm rot="5400000">
              <a:off x="5812246" y="3218965"/>
              <a:ext cx="2353315" cy="909411"/>
              <a:chOff x="8603979" y="1749741"/>
              <a:chExt cx="1790335" cy="691854"/>
            </a:xfrm>
            <a:noFill/>
          </p:grpSpPr>
          <p:sp>
            <p:nvSpPr>
              <p:cNvPr id="71" name="Can 70"/>
              <p:cNvSpPr/>
              <p:nvPr/>
            </p:nvSpPr>
            <p:spPr>
              <a:xfrm rot="16200000">
                <a:off x="9386615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Arrow Connector 71"/>
              <p:cNvCxnSpPr/>
              <p:nvPr/>
            </p:nvCxnSpPr>
            <p:spPr>
              <a:xfrm flipV="1">
                <a:off x="9523940" y="2047232"/>
                <a:ext cx="3585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Can 72"/>
              <p:cNvSpPr/>
              <p:nvPr/>
            </p:nvSpPr>
            <p:spPr>
              <a:xfrm rot="16200000">
                <a:off x="8619648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Arrow Connector 73"/>
              <p:cNvCxnSpPr/>
              <p:nvPr/>
            </p:nvCxnSpPr>
            <p:spPr>
              <a:xfrm flipH="1" flipV="1">
                <a:off x="8760559" y="2047232"/>
                <a:ext cx="6419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Can 74"/>
              <p:cNvSpPr/>
              <p:nvPr/>
            </p:nvSpPr>
            <p:spPr>
              <a:xfrm rot="16200000">
                <a:off x="10096823" y="1734072"/>
                <a:ext cx="281822" cy="313160"/>
              </a:xfrm>
              <a:prstGeom prst="can">
                <a:avLst/>
              </a:prstGeom>
              <a:grpFill/>
              <a:ln>
                <a:solidFill>
                  <a:schemeClr val="tx1"/>
                </a:solidFill>
                <a:headEnd type="none" w="med" len="med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 flipH="1" flipV="1">
                <a:off x="10237734" y="2047232"/>
                <a:ext cx="981" cy="394363"/>
              </a:xfrm>
              <a:prstGeom prst="straightConnector1">
                <a:avLst/>
              </a:prstGeom>
              <a:grpFill/>
              <a:ln w="19050" cmpd="sng"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617488" y="5486400"/>
            <a:ext cx="790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most popular software that follows this paradigm is </a:t>
            </a:r>
            <a:r>
              <a:rPr lang="en-US" sz="1800" dirty="0">
                <a:solidFill>
                  <a:srgbClr val="0000FF"/>
                </a:solidFill>
              </a:rPr>
              <a:t>Apache Spark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2F46569-72BE-C8C9-5A74-307C28FE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8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3" grpId="0"/>
      <p:bldP spid="63" grpId="1"/>
      <p:bldP spid="64" grpId="0"/>
      <p:bldP spid="64" grpId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4537" y="5714559"/>
            <a:ext cx="1101477" cy="18088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Server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905000" y="2854045"/>
            <a:ext cx="1227999" cy="3141759"/>
            <a:chOff x="1905000" y="2854045"/>
            <a:chExt cx="1227999" cy="3141759"/>
          </a:xfrm>
        </p:grpSpPr>
        <p:sp>
          <p:nvSpPr>
            <p:cNvPr id="11" name="Rectangle 10"/>
            <p:cNvSpPr/>
            <p:nvPr/>
          </p:nvSpPr>
          <p:spPr>
            <a:xfrm>
              <a:off x="1964537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64537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64537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64537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64537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64537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64537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64537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964537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64537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ToR Switch</a:t>
              </a:r>
              <a:endPara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251887" y="2854045"/>
            <a:ext cx="1227999" cy="3141759"/>
            <a:chOff x="3251887" y="2854045"/>
            <a:chExt cx="1227999" cy="3141759"/>
          </a:xfrm>
        </p:grpSpPr>
        <p:sp>
          <p:nvSpPr>
            <p:cNvPr id="23" name="Rectangle 22"/>
            <p:cNvSpPr/>
            <p:nvPr/>
          </p:nvSpPr>
          <p:spPr>
            <a:xfrm>
              <a:off x="3311424" y="571455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11424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11424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11424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311424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11424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11424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311424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311424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311424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311424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51887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598774" y="2854045"/>
            <a:ext cx="1227999" cy="3141759"/>
            <a:chOff x="4598774" y="2854045"/>
            <a:chExt cx="1227999" cy="3141759"/>
          </a:xfrm>
        </p:grpSpPr>
        <p:sp>
          <p:nvSpPr>
            <p:cNvPr id="36" name="Rectangle 35"/>
            <p:cNvSpPr/>
            <p:nvPr/>
          </p:nvSpPr>
          <p:spPr>
            <a:xfrm>
              <a:off x="4658311" y="571455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58311" y="544956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58311" y="5178231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58311" y="4906902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58311" y="463310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658311" y="435534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658311" y="409034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58311" y="381901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58311" y="354768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58311" y="327389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58311" y="2989518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98774" y="2854045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945661" y="2843613"/>
            <a:ext cx="1227999" cy="3141759"/>
            <a:chOff x="5945661" y="2843613"/>
            <a:chExt cx="1227999" cy="3141759"/>
          </a:xfrm>
        </p:grpSpPr>
        <p:sp>
          <p:nvSpPr>
            <p:cNvPr id="49" name="Rectangle 48"/>
            <p:cNvSpPr/>
            <p:nvPr/>
          </p:nvSpPr>
          <p:spPr>
            <a:xfrm>
              <a:off x="6005198" y="570412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005198" y="5439128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005198" y="5167799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05198" y="4896470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05198" y="462267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005198" y="4344914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05198" y="4079915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005198" y="3808586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005198" y="3537257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05198" y="3263463"/>
              <a:ext cx="1101477" cy="18088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005198" y="2979086"/>
              <a:ext cx="1101477" cy="18088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945661" y="2843613"/>
              <a:ext cx="1227999" cy="31417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2812778" y="1853666"/>
            <a:ext cx="3334215" cy="66798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Aggregation</a:t>
            </a:r>
          </a:p>
        </p:txBody>
      </p:sp>
      <p:cxnSp>
        <p:nvCxnSpPr>
          <p:cNvPr id="62" name="Elbow Connector 61"/>
          <p:cNvCxnSpPr>
            <a:stCxn id="53" idx="0"/>
          </p:cNvCxnSpPr>
          <p:nvPr/>
        </p:nvCxnSpPr>
        <p:spPr>
          <a:xfrm rot="5400000" flipH="1" flipV="1">
            <a:off x="3263649" y="1773281"/>
            <a:ext cx="467865" cy="1964610"/>
          </a:xfrm>
          <a:prstGeom prst="bentConnector3">
            <a:avLst>
              <a:gd name="adj1" fmla="val 6668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5400000" flipH="1" flipV="1">
            <a:off x="3937092" y="2446725"/>
            <a:ext cx="467865" cy="61772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/>
          <p:nvPr/>
        </p:nvCxnSpPr>
        <p:spPr>
          <a:xfrm rot="16200000" flipV="1">
            <a:off x="4610536" y="2391004"/>
            <a:ext cx="467865" cy="72916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6200000" flipV="1">
            <a:off x="5289196" y="1712344"/>
            <a:ext cx="457433" cy="2076051"/>
          </a:xfrm>
          <a:prstGeom prst="bentConnector3">
            <a:avLst>
              <a:gd name="adj1" fmla="val 6706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/>
          <p:nvPr/>
        </p:nvCxnSpPr>
        <p:spPr>
          <a:xfrm flipV="1">
            <a:off x="4479885" y="1568956"/>
            <a:ext cx="1057510" cy="284711"/>
          </a:xfrm>
          <a:prstGeom prst="bentConnector3">
            <a:avLst>
              <a:gd name="adj1" fmla="val 113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24EE7E-2C6C-F065-521D-12964136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4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304" name="Cloud 303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Datacenter networks (Cont.)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/>
          <p:cNvGrpSpPr/>
          <p:nvPr/>
        </p:nvGrpSpPr>
        <p:grpSpPr>
          <a:xfrm>
            <a:off x="3282290" y="3554165"/>
            <a:ext cx="989308" cy="1504939"/>
            <a:chOff x="3282290" y="3554165"/>
            <a:chExt cx="989308" cy="1504939"/>
          </a:xfrm>
        </p:grpSpPr>
        <p:sp>
          <p:nvSpPr>
            <p:cNvPr id="30" name="Rectangle 29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41" idx="0"/>
              <a:endCxn id="103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53" idx="0"/>
              <a:endCxn id="103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6171287" y="3555980"/>
            <a:ext cx="989308" cy="1503124"/>
            <a:chOff x="6171287" y="3555980"/>
            <a:chExt cx="989308" cy="1503124"/>
          </a:xfrm>
        </p:grpSpPr>
        <p:sp>
          <p:nvSpPr>
            <p:cNvPr id="78" name="Rectangle 77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8" name="Straight Connector 117"/>
            <p:cNvCxnSpPr>
              <a:stCxn id="89" idx="0"/>
              <a:endCxn id="105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1" idx="0"/>
              <a:endCxn id="105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35780" y="3556630"/>
            <a:ext cx="989308" cy="1502474"/>
            <a:chOff x="4735780" y="3556630"/>
            <a:chExt cx="989308" cy="1502474"/>
          </a:xfrm>
        </p:grpSpPr>
        <p:sp>
          <p:nvSpPr>
            <p:cNvPr id="54" name="Rectangle 53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6" name="Straight Connector 115"/>
            <p:cNvCxnSpPr>
              <a:stCxn id="65" idx="0"/>
              <a:endCxn id="104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>
              <a:stCxn id="77" idx="0"/>
              <a:endCxn id="104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106" name="Slide Number Placeholder 105">
            <a:extLst>
              <a:ext uri="{FF2B5EF4-FFF2-40B4-BE49-F238E27FC236}">
                <a16:creationId xmlns:a16="http://schemas.microsoft.com/office/drawing/2014/main" id="{24426070-F290-D4CE-A0A4-CA5174D8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0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107" grpId="0" animBg="1"/>
      <p:bldP spid="137" grpId="0" animBg="1"/>
      <p:bldP spid="29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166" name="Cloud 165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Datacenter traffic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2" name="Up-Down Arrow 1"/>
          <p:cNvSpPr/>
          <p:nvPr/>
        </p:nvSpPr>
        <p:spPr bwMode="auto">
          <a:xfrm>
            <a:off x="762000" y="2286000"/>
            <a:ext cx="484632" cy="213055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16200000">
            <a:off x="-476143" y="3149505"/>
            <a:ext cx="2055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North-South Traffic</a:t>
            </a:r>
          </a:p>
        </p:txBody>
      </p:sp>
      <p:sp>
        <p:nvSpPr>
          <p:cNvPr id="160" name="Up-Down Arrow 159"/>
          <p:cNvSpPr/>
          <p:nvPr/>
        </p:nvSpPr>
        <p:spPr bwMode="auto">
          <a:xfrm rot="5400000">
            <a:off x="4273531" y="4733691"/>
            <a:ext cx="484632" cy="213055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581400" y="5249823"/>
            <a:ext cx="1848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East-West Traffic</a:t>
            </a:r>
            <a:endParaRPr lang="en-US" dirty="0"/>
          </a:p>
        </p:txBody>
      </p:sp>
      <p:sp>
        <p:nvSpPr>
          <p:cNvPr id="167" name="Rectangle 166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82" idx="0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3429000" y="3554165"/>
            <a:ext cx="72719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1" name="Straight Connector 170"/>
          <p:cNvCxnSpPr/>
          <p:nvPr/>
        </p:nvCxnSpPr>
        <p:spPr>
          <a:xfrm flipV="1">
            <a:off x="3460993" y="3827934"/>
            <a:ext cx="331605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H="1" flipV="1">
            <a:off x="3792598" y="3827934"/>
            <a:ext cx="300297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6324600" y="3555980"/>
            <a:ext cx="721669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4" name="Straight Connector 173"/>
          <p:cNvCxnSpPr/>
          <p:nvPr/>
        </p:nvCxnSpPr>
        <p:spPr>
          <a:xfrm flipV="1">
            <a:off x="6349990" y="3829749"/>
            <a:ext cx="335445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flipH="1" flipV="1">
            <a:off x="6685435" y="3829749"/>
            <a:ext cx="296457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4876800" y="3556630"/>
            <a:ext cx="72752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77" name="Straight Connector 176"/>
          <p:cNvCxnSpPr/>
          <p:nvPr/>
        </p:nvCxnSpPr>
        <p:spPr>
          <a:xfrm flipV="1">
            <a:off x="4914483" y="3830399"/>
            <a:ext cx="326080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flipH="1" flipV="1">
            <a:off x="5240563" y="3830399"/>
            <a:ext cx="305822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80" name="Straight Connector 179"/>
          <p:cNvCxnSpPr/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84" name="Straight Connector 183"/>
          <p:cNvCxnSpPr/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7EB1-69C1-B6F3-81D5-B9F4F666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7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60" grpId="0" animBg="1"/>
      <p:bldP spid="16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East-West traffic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</a:t>
            </a:r>
            <a:r>
              <a:rPr lang="en-US" dirty="0">
                <a:solidFill>
                  <a:srgbClr val="0000FF"/>
                </a:solidFill>
              </a:rPr>
              <a:t>between servers</a:t>
            </a:r>
            <a:r>
              <a:rPr lang="en-US" dirty="0"/>
              <a:t> in the datacenter</a:t>
            </a:r>
          </a:p>
          <a:p>
            <a:r>
              <a:rPr lang="en-US" dirty="0"/>
              <a:t>Communication within “big data” computations </a:t>
            </a:r>
          </a:p>
          <a:p>
            <a:r>
              <a:rPr lang="en-US" dirty="0"/>
              <a:t>Traffic may shift on small timescales (&lt; minutes)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0AE38-5050-33A7-8533-8D498E2E6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426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traffic characteristics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characteristics</a:t>
            </a:r>
          </a:p>
          <a:p>
            <a:pPr lvl="1"/>
            <a:r>
              <a:rPr lang="en-US" dirty="0"/>
              <a:t>Most flows are small</a:t>
            </a:r>
          </a:p>
          <a:p>
            <a:pPr lvl="1"/>
            <a:r>
              <a:rPr lang="en-US" dirty="0"/>
              <a:t>Most bytes come from large flows</a:t>
            </a:r>
          </a:p>
          <a:p>
            <a:endParaRPr lang="en-US" dirty="0"/>
          </a:p>
          <a:p>
            <a:r>
              <a:rPr lang="en-US" dirty="0"/>
              <a:t>Applications want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High bandwidth</a:t>
            </a:r>
            <a:r>
              <a:rPr lang="en-US" dirty="0"/>
              <a:t> (large flows)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Low latency</a:t>
            </a:r>
            <a:r>
              <a:rPr lang="en-US" dirty="0"/>
              <a:t> (small flows)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AEA4F-B1A8-4D74-9BD4-28091520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8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Ideal: Each server can talk to any other server at its full access link rate</a:t>
            </a:r>
          </a:p>
          <a:p>
            <a:r>
              <a:rPr lang="en-US" dirty="0"/>
              <a:t>Conceptually: Datacenter network as one giant switch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ACECA-D158-D5F8-B671-6D0A38F1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 as one giant switch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130" name="Group 129"/>
          <p:cNvGrpSpPr>
            <a:grpSpLocks noChangeAspect="1"/>
          </p:cNvGrpSpPr>
          <p:nvPr/>
        </p:nvGrpSpPr>
        <p:grpSpPr>
          <a:xfrm>
            <a:off x="1676400" y="3048000"/>
            <a:ext cx="4114800" cy="2002623"/>
            <a:chOff x="1828800" y="2464184"/>
            <a:chExt cx="5331795" cy="2594920"/>
          </a:xfrm>
        </p:grpSpPr>
        <p:sp>
          <p:nvSpPr>
            <p:cNvPr id="8" name="Rectangle 7"/>
            <p:cNvSpPr/>
            <p:nvPr/>
          </p:nvSpPr>
          <p:spPr>
            <a:xfrm>
              <a:off x="184612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4612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4612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4612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4612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4612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4612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4612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4612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4612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4612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2880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47803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7803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7803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803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7803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7803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47803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7803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7803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47803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7803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46070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81200" y="3555980"/>
              <a:ext cx="722194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3" name="Straight Connector 32"/>
            <p:cNvCxnSpPr>
              <a:endCxn id="108" idx="2"/>
            </p:cNvCxnSpPr>
            <p:nvPr/>
          </p:nvCxnSpPr>
          <p:spPr>
            <a:xfrm flipH="1" flipV="1">
              <a:off x="2342297" y="3829749"/>
              <a:ext cx="297108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3" idx="0"/>
              <a:endCxn id="108" idx="2"/>
            </p:cNvCxnSpPr>
            <p:nvPr/>
          </p:nvCxnSpPr>
          <p:spPr>
            <a:xfrm flipV="1">
              <a:off x="2007503" y="3829749"/>
              <a:ext cx="334794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61" name="Straight Connector 60"/>
            <p:cNvCxnSpPr>
              <a:stCxn id="47" idx="0"/>
              <a:endCxn id="109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9" idx="0"/>
              <a:endCxn id="109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89" name="Straight Connector 88"/>
            <p:cNvCxnSpPr>
              <a:stCxn id="95" idx="0"/>
              <a:endCxn id="111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07" idx="0"/>
              <a:endCxn id="111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7" name="Straight Connector 116"/>
            <p:cNvCxnSpPr>
              <a:stCxn id="71" idx="0"/>
              <a:endCxn id="110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83" idx="0"/>
              <a:endCxn id="110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ectangle 118"/>
            <p:cNvSpPr/>
            <p:nvPr/>
          </p:nvSpPr>
          <p:spPr>
            <a:xfrm>
              <a:off x="3282290" y="2465776"/>
              <a:ext cx="989308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108" idx="0"/>
              <a:endCxn id="113" idx="2"/>
            </p:cNvCxnSpPr>
            <p:nvPr/>
          </p:nvCxnSpPr>
          <p:spPr>
            <a:xfrm flipV="1">
              <a:off x="2342297" y="2901133"/>
              <a:ext cx="1434647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10" idx="0"/>
              <a:endCxn id="113" idx="2"/>
            </p:cNvCxnSpPr>
            <p:nvPr/>
          </p:nvCxnSpPr>
          <p:spPr>
            <a:xfrm flipH="1" flipV="1">
              <a:off x="3776944" y="2901133"/>
              <a:ext cx="1463619" cy="65549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11" idx="0"/>
              <a:endCxn id="113" idx="2"/>
            </p:cNvCxnSpPr>
            <p:nvPr/>
          </p:nvCxnSpPr>
          <p:spPr>
            <a:xfrm flipH="1" flipV="1">
              <a:off x="3776944" y="2901133"/>
              <a:ext cx="2908491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ctangle 122"/>
            <p:cNvSpPr/>
            <p:nvPr/>
          </p:nvSpPr>
          <p:spPr>
            <a:xfrm>
              <a:off x="4753107" y="2464184"/>
              <a:ext cx="971981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4" name="Straight Connector 123"/>
            <p:cNvCxnSpPr>
              <a:stCxn id="108" idx="0"/>
            </p:cNvCxnSpPr>
            <p:nvPr/>
          </p:nvCxnSpPr>
          <p:spPr>
            <a:xfrm flipV="1">
              <a:off x="2342297" y="2899541"/>
              <a:ext cx="2896801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10" idx="0"/>
            </p:cNvCxnSpPr>
            <p:nvPr/>
          </p:nvCxnSpPr>
          <p:spPr>
            <a:xfrm flipH="1" flipV="1">
              <a:off x="5239098" y="2899541"/>
              <a:ext cx="1465" cy="65708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11" idx="0"/>
            </p:cNvCxnSpPr>
            <p:nvPr/>
          </p:nvCxnSpPr>
          <p:spPr>
            <a:xfrm flipH="1" flipV="1">
              <a:off x="5239098" y="2899541"/>
              <a:ext cx="1446337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09" idx="0"/>
              <a:endCxn id="113" idx="2"/>
            </p:cNvCxnSpPr>
            <p:nvPr/>
          </p:nvCxnSpPr>
          <p:spPr>
            <a:xfrm flipH="1" flipV="1">
              <a:off x="3776944" y="2901133"/>
              <a:ext cx="15654" cy="6530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09" idx="0"/>
            </p:cNvCxnSpPr>
            <p:nvPr/>
          </p:nvCxnSpPr>
          <p:spPr>
            <a:xfrm flipV="1">
              <a:off x="3792598" y="2899541"/>
              <a:ext cx="1446500" cy="65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D8BED4-BFDB-F76A-E8DD-4AC6EC3C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66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 as one giant switch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130" name="Group 129"/>
          <p:cNvGrpSpPr>
            <a:grpSpLocks noChangeAspect="1"/>
          </p:cNvGrpSpPr>
          <p:nvPr/>
        </p:nvGrpSpPr>
        <p:grpSpPr>
          <a:xfrm>
            <a:off x="1676400" y="3048000"/>
            <a:ext cx="4114800" cy="2002623"/>
            <a:chOff x="1828800" y="2464184"/>
            <a:chExt cx="5331795" cy="2594920"/>
          </a:xfrm>
        </p:grpSpPr>
        <p:sp>
          <p:nvSpPr>
            <p:cNvPr id="8" name="Rectangle 7"/>
            <p:cNvSpPr/>
            <p:nvPr/>
          </p:nvSpPr>
          <p:spPr>
            <a:xfrm>
              <a:off x="184612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4612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4612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4612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4612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4612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4612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4612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4612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4612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4612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2880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47803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7803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7803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803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7803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7803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47803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7803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7803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47803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7803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46070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81200" y="3555980"/>
              <a:ext cx="722194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3" name="Straight Connector 32"/>
            <p:cNvCxnSpPr>
              <a:endCxn id="108" idx="2"/>
            </p:cNvCxnSpPr>
            <p:nvPr/>
          </p:nvCxnSpPr>
          <p:spPr>
            <a:xfrm flipH="1" flipV="1">
              <a:off x="2342297" y="3829749"/>
              <a:ext cx="297108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3" idx="0"/>
              <a:endCxn id="108" idx="2"/>
            </p:cNvCxnSpPr>
            <p:nvPr/>
          </p:nvCxnSpPr>
          <p:spPr>
            <a:xfrm flipV="1">
              <a:off x="2007503" y="3829749"/>
              <a:ext cx="334794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61" name="Straight Connector 60"/>
            <p:cNvCxnSpPr>
              <a:stCxn id="47" idx="0"/>
              <a:endCxn id="109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9" idx="0"/>
              <a:endCxn id="109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89" name="Straight Connector 88"/>
            <p:cNvCxnSpPr>
              <a:stCxn id="95" idx="0"/>
              <a:endCxn id="111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07" idx="0"/>
              <a:endCxn id="111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7" name="Straight Connector 116"/>
            <p:cNvCxnSpPr>
              <a:stCxn id="71" idx="0"/>
              <a:endCxn id="110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83" idx="0"/>
              <a:endCxn id="110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ectangle 118"/>
            <p:cNvSpPr/>
            <p:nvPr/>
          </p:nvSpPr>
          <p:spPr>
            <a:xfrm>
              <a:off x="3282290" y="2465776"/>
              <a:ext cx="989308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108" idx="0"/>
              <a:endCxn id="113" idx="2"/>
            </p:cNvCxnSpPr>
            <p:nvPr/>
          </p:nvCxnSpPr>
          <p:spPr>
            <a:xfrm flipV="1">
              <a:off x="2342297" y="2901133"/>
              <a:ext cx="1434647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10" idx="0"/>
              <a:endCxn id="113" idx="2"/>
            </p:cNvCxnSpPr>
            <p:nvPr/>
          </p:nvCxnSpPr>
          <p:spPr>
            <a:xfrm flipH="1" flipV="1">
              <a:off x="3776944" y="2901133"/>
              <a:ext cx="1463619" cy="65549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11" idx="0"/>
              <a:endCxn id="113" idx="2"/>
            </p:cNvCxnSpPr>
            <p:nvPr/>
          </p:nvCxnSpPr>
          <p:spPr>
            <a:xfrm flipH="1" flipV="1">
              <a:off x="3776944" y="2901133"/>
              <a:ext cx="2908491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ctangle 122"/>
            <p:cNvSpPr/>
            <p:nvPr/>
          </p:nvSpPr>
          <p:spPr>
            <a:xfrm>
              <a:off x="4753107" y="2464184"/>
              <a:ext cx="971981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4" name="Straight Connector 123"/>
            <p:cNvCxnSpPr>
              <a:stCxn id="108" idx="0"/>
            </p:cNvCxnSpPr>
            <p:nvPr/>
          </p:nvCxnSpPr>
          <p:spPr>
            <a:xfrm flipV="1">
              <a:off x="2342297" y="2899541"/>
              <a:ext cx="2896801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10" idx="0"/>
            </p:cNvCxnSpPr>
            <p:nvPr/>
          </p:nvCxnSpPr>
          <p:spPr>
            <a:xfrm flipH="1" flipV="1">
              <a:off x="5239098" y="2899541"/>
              <a:ext cx="1465" cy="65708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11" idx="0"/>
            </p:cNvCxnSpPr>
            <p:nvPr/>
          </p:nvCxnSpPr>
          <p:spPr>
            <a:xfrm flipH="1" flipV="1">
              <a:off x="5239098" y="2899541"/>
              <a:ext cx="1446337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09" idx="0"/>
              <a:endCxn id="113" idx="2"/>
            </p:cNvCxnSpPr>
            <p:nvPr/>
          </p:nvCxnSpPr>
          <p:spPr>
            <a:xfrm flipH="1" flipV="1">
              <a:off x="3776944" y="2901133"/>
              <a:ext cx="15654" cy="6530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09" idx="0"/>
            </p:cNvCxnSpPr>
            <p:nvPr/>
          </p:nvCxnSpPr>
          <p:spPr>
            <a:xfrm flipV="1">
              <a:off x="3792598" y="2899541"/>
              <a:ext cx="1446500" cy="65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D8FA0-98F4-2155-ADF7-5EDFE8D8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Datacenter network as one giant switch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130" name="Group 129"/>
          <p:cNvGrpSpPr>
            <a:grpSpLocks noChangeAspect="1"/>
          </p:cNvGrpSpPr>
          <p:nvPr/>
        </p:nvGrpSpPr>
        <p:grpSpPr>
          <a:xfrm rot="5400000">
            <a:off x="1665688" y="3048000"/>
            <a:ext cx="4114800" cy="2002623"/>
            <a:chOff x="1828800" y="2464184"/>
            <a:chExt cx="5331795" cy="2594920"/>
          </a:xfrm>
        </p:grpSpPr>
        <p:sp>
          <p:nvSpPr>
            <p:cNvPr id="8" name="Rectangle 7"/>
            <p:cNvSpPr/>
            <p:nvPr/>
          </p:nvSpPr>
          <p:spPr>
            <a:xfrm>
              <a:off x="184612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4612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4612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4612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4612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4612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4612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4612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4612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4612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84612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82880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47803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7803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7803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7803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7803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47803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47803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7803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7803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47803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7803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46070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81200" y="3555980"/>
              <a:ext cx="722194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3" name="Straight Connector 32"/>
            <p:cNvCxnSpPr>
              <a:endCxn id="108" idx="2"/>
            </p:cNvCxnSpPr>
            <p:nvPr/>
          </p:nvCxnSpPr>
          <p:spPr>
            <a:xfrm flipH="1" flipV="1">
              <a:off x="2342297" y="3829749"/>
              <a:ext cx="297108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3" idx="0"/>
              <a:endCxn id="108" idx="2"/>
            </p:cNvCxnSpPr>
            <p:nvPr/>
          </p:nvCxnSpPr>
          <p:spPr>
            <a:xfrm flipV="1">
              <a:off x="2007503" y="3829749"/>
              <a:ext cx="334794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61" name="Straight Connector 60"/>
            <p:cNvCxnSpPr>
              <a:stCxn id="47" idx="0"/>
              <a:endCxn id="109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59" idx="0"/>
              <a:endCxn id="109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89" name="Straight Connector 88"/>
            <p:cNvCxnSpPr>
              <a:stCxn id="95" idx="0"/>
              <a:endCxn id="111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07" idx="0"/>
              <a:endCxn id="111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7" name="Straight Connector 116"/>
            <p:cNvCxnSpPr>
              <a:stCxn id="71" idx="0"/>
              <a:endCxn id="110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>
              <a:stCxn id="83" idx="0"/>
              <a:endCxn id="110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ectangle 118"/>
            <p:cNvSpPr/>
            <p:nvPr/>
          </p:nvSpPr>
          <p:spPr>
            <a:xfrm>
              <a:off x="3282290" y="2465776"/>
              <a:ext cx="989308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108" idx="0"/>
              <a:endCxn id="113" idx="2"/>
            </p:cNvCxnSpPr>
            <p:nvPr/>
          </p:nvCxnSpPr>
          <p:spPr>
            <a:xfrm flipV="1">
              <a:off x="2342297" y="2901133"/>
              <a:ext cx="1434647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110" idx="0"/>
              <a:endCxn id="113" idx="2"/>
            </p:cNvCxnSpPr>
            <p:nvPr/>
          </p:nvCxnSpPr>
          <p:spPr>
            <a:xfrm flipH="1" flipV="1">
              <a:off x="3776944" y="2901133"/>
              <a:ext cx="1463619" cy="65549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>
              <a:stCxn id="111" idx="0"/>
              <a:endCxn id="113" idx="2"/>
            </p:cNvCxnSpPr>
            <p:nvPr/>
          </p:nvCxnSpPr>
          <p:spPr>
            <a:xfrm flipH="1" flipV="1">
              <a:off x="3776944" y="2901133"/>
              <a:ext cx="2908491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ctangle 122"/>
            <p:cNvSpPr/>
            <p:nvPr/>
          </p:nvSpPr>
          <p:spPr>
            <a:xfrm>
              <a:off x="4753107" y="2464184"/>
              <a:ext cx="971981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4" name="Straight Connector 123"/>
            <p:cNvCxnSpPr>
              <a:stCxn id="108" idx="0"/>
            </p:cNvCxnSpPr>
            <p:nvPr/>
          </p:nvCxnSpPr>
          <p:spPr>
            <a:xfrm flipV="1">
              <a:off x="2342297" y="2899541"/>
              <a:ext cx="2896801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10" idx="0"/>
            </p:cNvCxnSpPr>
            <p:nvPr/>
          </p:nvCxnSpPr>
          <p:spPr>
            <a:xfrm flipH="1" flipV="1">
              <a:off x="5239098" y="2899541"/>
              <a:ext cx="1465" cy="65708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111" idx="0"/>
            </p:cNvCxnSpPr>
            <p:nvPr/>
          </p:nvCxnSpPr>
          <p:spPr>
            <a:xfrm flipH="1" flipV="1">
              <a:off x="5239098" y="2899541"/>
              <a:ext cx="1446337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09" idx="0"/>
              <a:endCxn id="113" idx="2"/>
            </p:cNvCxnSpPr>
            <p:nvPr/>
          </p:nvCxnSpPr>
          <p:spPr>
            <a:xfrm flipH="1" flipV="1">
              <a:off x="3776944" y="2901133"/>
              <a:ext cx="15654" cy="6530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>
              <a:stCxn id="109" idx="0"/>
            </p:cNvCxnSpPr>
            <p:nvPr/>
          </p:nvCxnSpPr>
          <p:spPr>
            <a:xfrm flipV="1">
              <a:off x="3792598" y="2899541"/>
              <a:ext cx="1446500" cy="65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/>
          <p:cNvGrpSpPr>
            <a:grpSpLocks noChangeAspect="1"/>
          </p:cNvGrpSpPr>
          <p:nvPr/>
        </p:nvGrpSpPr>
        <p:grpSpPr>
          <a:xfrm rot="16200000">
            <a:off x="3334811" y="3078294"/>
            <a:ext cx="4114800" cy="2002623"/>
            <a:chOff x="1828800" y="2464184"/>
            <a:chExt cx="5331795" cy="2594920"/>
          </a:xfrm>
        </p:grpSpPr>
        <p:sp>
          <p:nvSpPr>
            <p:cNvPr id="131" name="Rectangle 130"/>
            <p:cNvSpPr/>
            <p:nvPr/>
          </p:nvSpPr>
          <p:spPr>
            <a:xfrm>
              <a:off x="184612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84612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184612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84612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184612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84612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184612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184612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84612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84612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84612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82880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247803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47803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247803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247803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247803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247803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247803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247803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247803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247803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47803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246070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981200" y="3555980"/>
              <a:ext cx="722194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56" name="Straight Connector 155"/>
            <p:cNvCxnSpPr>
              <a:endCxn id="236" idx="2"/>
            </p:cNvCxnSpPr>
            <p:nvPr/>
          </p:nvCxnSpPr>
          <p:spPr>
            <a:xfrm flipH="1" flipV="1">
              <a:off x="2342297" y="3829749"/>
              <a:ext cx="297108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151" idx="0"/>
              <a:endCxn id="236" idx="2"/>
            </p:cNvCxnSpPr>
            <p:nvPr/>
          </p:nvCxnSpPr>
          <p:spPr>
            <a:xfrm flipV="1">
              <a:off x="2007503" y="3829749"/>
              <a:ext cx="334794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83" name="Straight Connector 182"/>
            <p:cNvCxnSpPr>
              <a:stCxn id="175" idx="0"/>
              <a:endCxn id="237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>
              <a:stCxn id="187" idx="0"/>
              <a:endCxn id="237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ectangle 184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10" name="Straight Connector 209"/>
            <p:cNvCxnSpPr>
              <a:stCxn id="223" idx="0"/>
              <a:endCxn id="239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>
              <a:stCxn id="235" idx="0"/>
              <a:endCxn id="239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Rectangle 211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37" name="Straight Connector 236"/>
            <p:cNvCxnSpPr>
              <a:stCxn id="199" idx="0"/>
              <a:endCxn id="238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>
              <a:stCxn id="211" idx="0"/>
              <a:endCxn id="238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ectangle 238"/>
            <p:cNvSpPr/>
            <p:nvPr/>
          </p:nvSpPr>
          <p:spPr>
            <a:xfrm>
              <a:off x="3282290" y="2465776"/>
              <a:ext cx="989308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40" name="Straight Connector 239"/>
            <p:cNvCxnSpPr>
              <a:stCxn id="236" idx="0"/>
              <a:endCxn id="241" idx="2"/>
            </p:cNvCxnSpPr>
            <p:nvPr/>
          </p:nvCxnSpPr>
          <p:spPr>
            <a:xfrm flipV="1">
              <a:off x="2342297" y="2901133"/>
              <a:ext cx="1434647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>
              <a:stCxn id="238" idx="0"/>
              <a:endCxn id="241" idx="2"/>
            </p:cNvCxnSpPr>
            <p:nvPr/>
          </p:nvCxnSpPr>
          <p:spPr>
            <a:xfrm flipH="1" flipV="1">
              <a:off x="3776944" y="2901133"/>
              <a:ext cx="1463619" cy="65549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>
              <a:stCxn id="239" idx="0"/>
              <a:endCxn id="241" idx="2"/>
            </p:cNvCxnSpPr>
            <p:nvPr/>
          </p:nvCxnSpPr>
          <p:spPr>
            <a:xfrm flipH="1" flipV="1">
              <a:off x="3776944" y="2901133"/>
              <a:ext cx="2908491" cy="65484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Rectangle 242"/>
            <p:cNvSpPr/>
            <p:nvPr/>
          </p:nvSpPr>
          <p:spPr>
            <a:xfrm>
              <a:off x="4753107" y="2464184"/>
              <a:ext cx="971981" cy="435357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44" name="Straight Connector 243"/>
            <p:cNvCxnSpPr>
              <a:stCxn id="236" idx="0"/>
            </p:cNvCxnSpPr>
            <p:nvPr/>
          </p:nvCxnSpPr>
          <p:spPr>
            <a:xfrm flipV="1">
              <a:off x="2342297" y="2899541"/>
              <a:ext cx="2896801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>
              <a:stCxn id="238" idx="0"/>
            </p:cNvCxnSpPr>
            <p:nvPr/>
          </p:nvCxnSpPr>
          <p:spPr>
            <a:xfrm flipH="1" flipV="1">
              <a:off x="5239098" y="2899541"/>
              <a:ext cx="1465" cy="65708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>
              <a:stCxn id="239" idx="0"/>
            </p:cNvCxnSpPr>
            <p:nvPr/>
          </p:nvCxnSpPr>
          <p:spPr>
            <a:xfrm flipH="1" flipV="1">
              <a:off x="5239098" y="2899541"/>
              <a:ext cx="1446337" cy="656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>
              <a:stCxn id="237" idx="0"/>
              <a:endCxn id="241" idx="2"/>
            </p:cNvCxnSpPr>
            <p:nvPr/>
          </p:nvCxnSpPr>
          <p:spPr>
            <a:xfrm flipH="1" flipV="1">
              <a:off x="3776944" y="2901133"/>
              <a:ext cx="15654" cy="65303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>
              <a:stCxn id="237" idx="0"/>
            </p:cNvCxnSpPr>
            <p:nvPr/>
          </p:nvCxnSpPr>
          <p:spPr>
            <a:xfrm flipV="1">
              <a:off x="3792598" y="2899541"/>
              <a:ext cx="1446500" cy="65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 bwMode="auto">
          <a:xfrm>
            <a:off x="3601844" y="2018371"/>
            <a:ext cx="1918010" cy="4070195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One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GIANT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Switch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CB807D-B0E9-840B-5059-98170D78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7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bandwidth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Ideal: Each server can talk to any other server at its full access link rate </a:t>
            </a:r>
          </a:p>
          <a:p>
            <a:r>
              <a:rPr lang="en-US" dirty="0"/>
              <a:t>Conceptually: Datacenter network as one giant switch</a:t>
            </a:r>
          </a:p>
          <a:p>
            <a:pPr lvl="1"/>
            <a:r>
              <a:rPr lang="en-US" dirty="0"/>
              <a:t>Would require a 10 </a:t>
            </a:r>
            <a:r>
              <a:rPr lang="en-US" dirty="0" err="1"/>
              <a:t>Pbits</a:t>
            </a:r>
            <a:r>
              <a:rPr lang="en-US" dirty="0"/>
              <a:t>/sec switch!</a:t>
            </a:r>
          </a:p>
          <a:p>
            <a:pPr lvl="2"/>
            <a:r>
              <a:rPr lang="en-US" dirty="0"/>
              <a:t>1M ports (one port/server)</a:t>
            </a:r>
          </a:p>
          <a:p>
            <a:pPr lvl="2"/>
            <a:r>
              <a:rPr lang="en-US" dirty="0"/>
              <a:t>10Gbps per port </a:t>
            </a:r>
          </a:p>
          <a:p>
            <a:r>
              <a:rPr lang="en-US" dirty="0">
                <a:solidFill>
                  <a:srgbClr val="0000FF"/>
                </a:solidFill>
              </a:rPr>
              <a:t>Practical approach:</a:t>
            </a:r>
            <a:r>
              <a:rPr lang="en-US" dirty="0"/>
              <a:t> build a network of switches (“fabric”) with high “bisection bandwidth”</a:t>
            </a:r>
          </a:p>
          <a:p>
            <a:pPr lvl="1"/>
            <a:r>
              <a:rPr lang="en-US" dirty="0"/>
              <a:t>Each switch has practical #ports and link speeds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6C212F-7195-C753-210C-90034EC5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a network into two equal parts</a:t>
            </a:r>
          </a:p>
          <a:p>
            <a:r>
              <a:rPr lang="en-US" dirty="0"/>
              <a:t>Minimum bandwidth between the partitions is the bisection bandwidth</a:t>
            </a:r>
          </a:p>
          <a:p>
            <a:r>
              <a:rPr lang="en-US" dirty="0">
                <a:solidFill>
                  <a:srgbClr val="0000FF"/>
                </a:solidFill>
              </a:rPr>
              <a:t>Full bisection bandwidth</a:t>
            </a:r>
            <a:r>
              <a:rPr lang="en-US" dirty="0"/>
              <a:t>: bisection bandwidth in an N node network is N/2 times the bandwidth of a single link </a:t>
            </a:r>
          </a:p>
          <a:p>
            <a:pPr lvl="1"/>
            <a:r>
              <a:rPr lang="en-US" dirty="0"/>
              <a:t>Nodes of any two halves can communicate at full speed with each other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10EA8-CDA1-B366-95FC-587069AD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7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Achieving full bisection bandwidth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Scale up</a:t>
            </a:r>
          </a:p>
          <a:p>
            <a:pPr lvl="1"/>
            <a:r>
              <a:rPr lang="en-US" dirty="0"/>
              <a:t>Make links fatter toward the core of the network</a:t>
            </a:r>
          </a:p>
          <a:p>
            <a:r>
              <a:rPr lang="en-US" dirty="0"/>
              <a:t>Problem: Scaling up a traditional tree topology is expensive!</a:t>
            </a:r>
          </a:p>
          <a:p>
            <a:pPr lvl="1"/>
            <a:r>
              <a:rPr lang="en-US" dirty="0"/>
              <a:t>Requires non-commodity / impractical / link and switch components </a:t>
            </a:r>
          </a:p>
          <a:p>
            <a:r>
              <a:rPr lang="en-US" dirty="0"/>
              <a:t>Solutions?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Over-subscribe</a:t>
            </a:r>
            <a:r>
              <a:rPr lang="en-US" dirty="0"/>
              <a:t> (i.e., provision less than full BBW)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Better topologies</a:t>
            </a:r>
          </a:p>
          <a:p>
            <a:endParaRPr lang="en-US" dirty="0"/>
          </a:p>
        </p:txBody>
      </p:sp>
      <p:pic>
        <p:nvPicPr>
          <p:cNvPr id="11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24400" y="2725073"/>
            <a:ext cx="3886200" cy="216985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8E56FC-71C8-D384-7E42-BCF9CF03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4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Oversubscription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59607" y="5365750"/>
            <a:ext cx="7824787" cy="81202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Need techniques to </a:t>
            </a:r>
            <a:r>
              <a:rPr lang="en-US" dirty="0">
                <a:solidFill>
                  <a:srgbClr val="0000FF"/>
                </a:solidFill>
              </a:rPr>
              <a:t>avoid congesting oversubscribed links</a:t>
            </a:r>
            <a:r>
              <a:rPr lang="en-US" dirty="0"/>
              <a:t>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37439" y="1679073"/>
            <a:ext cx="6170119" cy="34449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>
            <a:off x="488031" y="1864074"/>
            <a:ext cx="2505397" cy="2477615"/>
            <a:chOff x="-1015559" y="1163801"/>
            <a:chExt cx="2505397" cy="247761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Oval Callout 9"/>
            <p:cNvSpPr/>
            <p:nvPr/>
          </p:nvSpPr>
          <p:spPr>
            <a:xfrm>
              <a:off x="-1015559" y="2987829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11" name="Oval Callout 10"/>
            <p:cNvSpPr/>
            <p:nvPr/>
          </p:nvSpPr>
          <p:spPr>
            <a:xfrm>
              <a:off x="-423040" y="2075815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20G</a:t>
              </a:r>
            </a:p>
          </p:txBody>
        </p:sp>
        <p:sp>
          <p:nvSpPr>
            <p:cNvPr id="12" name="Oval Callout 11"/>
            <p:cNvSpPr/>
            <p:nvPr/>
          </p:nvSpPr>
          <p:spPr>
            <a:xfrm>
              <a:off x="609599" y="1163801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40G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5360" y="1867084"/>
            <a:ext cx="2505397" cy="2477615"/>
            <a:chOff x="457199" y="1817388"/>
            <a:chExt cx="2505397" cy="2477615"/>
          </a:xfrm>
        </p:grpSpPr>
        <p:sp>
          <p:nvSpPr>
            <p:cNvPr id="7" name="Oval Callout 6"/>
            <p:cNvSpPr/>
            <p:nvPr/>
          </p:nvSpPr>
          <p:spPr>
            <a:xfrm>
              <a:off x="457199" y="3641416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8" name="Oval Callout 7"/>
            <p:cNvSpPr/>
            <p:nvPr/>
          </p:nvSpPr>
          <p:spPr>
            <a:xfrm>
              <a:off x="1049718" y="2729402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10G</a:t>
              </a:r>
            </a:p>
          </p:txBody>
        </p:sp>
        <p:sp>
          <p:nvSpPr>
            <p:cNvPr id="9" name="Oval Callout 8"/>
            <p:cNvSpPr/>
            <p:nvPr/>
          </p:nvSpPr>
          <p:spPr>
            <a:xfrm>
              <a:off x="2082357" y="1817388"/>
              <a:ext cx="880239" cy="653587"/>
            </a:xfrm>
            <a:prstGeom prst="wedgeEllipseCallout">
              <a:avLst>
                <a:gd name="adj1" fmla="val 108973"/>
                <a:gd name="adj2" fmla="val 36764"/>
              </a:avLst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0090"/>
                  </a:solidFill>
                </a:rPr>
                <a:t>20G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33BD18-0EAC-4D6A-F758-7A15027F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Oversubscription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enough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</a:t>
            </a:r>
            <a:r>
              <a:rPr lang="en-US" dirty="0"/>
              <a:t>: Less bandwidth in the ToR-Agg links than all the servers’ bandwidth in the rack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 ratio</a:t>
            </a:r>
            <a:r>
              <a:rPr lang="en-US" dirty="0"/>
              <a:t>: Ratio between bandwidth underneath and bandwidth above</a:t>
            </a:r>
          </a:p>
          <a:p>
            <a:r>
              <a:rPr lang="en-US" dirty="0"/>
              <a:t>Not enough paths between server pairs</a:t>
            </a:r>
          </a:p>
          <a:p>
            <a:pPr lvl="1"/>
            <a:r>
              <a:rPr lang="en-US" dirty="0"/>
              <a:t>Load balancing issues</a:t>
            </a:r>
          </a:p>
          <a:p>
            <a:pPr lvl="1"/>
            <a:r>
              <a:rPr lang="en-US" dirty="0"/>
              <a:t>Failure recovery issues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0BAEC9-152B-D87D-BB5B-F35EDD9B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8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304" name="Cloud 303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Better topologies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3429000" y="3554165"/>
            <a:ext cx="72719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0" name="Straight Connector 119"/>
          <p:cNvCxnSpPr>
            <a:stCxn id="41" idx="0"/>
            <a:endCxn id="103" idx="2"/>
          </p:cNvCxnSpPr>
          <p:nvPr/>
        </p:nvCxnSpPr>
        <p:spPr>
          <a:xfrm flipV="1">
            <a:off x="3460993" y="3827934"/>
            <a:ext cx="331605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53" idx="0"/>
            <a:endCxn id="103" idx="2"/>
          </p:cNvCxnSpPr>
          <p:nvPr/>
        </p:nvCxnSpPr>
        <p:spPr>
          <a:xfrm flipH="1" flipV="1">
            <a:off x="3792598" y="3827934"/>
            <a:ext cx="300297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324600" y="3555980"/>
            <a:ext cx="721669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8" name="Straight Connector 117"/>
          <p:cNvCxnSpPr>
            <a:stCxn id="89" idx="0"/>
            <a:endCxn id="105" idx="2"/>
          </p:cNvCxnSpPr>
          <p:nvPr/>
        </p:nvCxnSpPr>
        <p:spPr>
          <a:xfrm flipV="1">
            <a:off x="6349990" y="3829749"/>
            <a:ext cx="335445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01" idx="0"/>
            <a:endCxn id="105" idx="2"/>
          </p:cNvCxnSpPr>
          <p:nvPr/>
        </p:nvCxnSpPr>
        <p:spPr>
          <a:xfrm flipH="1" flipV="1">
            <a:off x="6685435" y="3829749"/>
            <a:ext cx="296457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876800" y="3556630"/>
            <a:ext cx="727526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6" name="Straight Connector 115"/>
          <p:cNvCxnSpPr>
            <a:stCxn id="65" idx="0"/>
            <a:endCxn id="104" idx="2"/>
          </p:cNvCxnSpPr>
          <p:nvPr/>
        </p:nvCxnSpPr>
        <p:spPr>
          <a:xfrm flipV="1">
            <a:off x="4914483" y="3830399"/>
            <a:ext cx="326080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/>
          <p:cNvCxnSpPr>
            <a:stCxn id="77" idx="0"/>
            <a:endCxn id="104" idx="2"/>
          </p:cNvCxnSpPr>
          <p:nvPr/>
        </p:nvCxnSpPr>
        <p:spPr>
          <a:xfrm flipH="1" flipV="1">
            <a:off x="5240563" y="3830399"/>
            <a:ext cx="305822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106" name="Slide Number Placeholder 105">
            <a:extLst>
              <a:ext uri="{FF2B5EF4-FFF2-40B4-BE49-F238E27FC236}">
                <a16:creationId xmlns:a16="http://schemas.microsoft.com/office/drawing/2014/main" id="{5EDFD8D9-8D7A-0087-43D9-8944FC26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78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Straight Connector 166"/>
          <p:cNvCxnSpPr>
            <a:stCxn id="22" idx="0"/>
          </p:cNvCxnSpPr>
          <p:nvPr/>
        </p:nvCxnSpPr>
        <p:spPr bwMode="auto">
          <a:xfrm flipV="1">
            <a:off x="2859331" y="1676400"/>
            <a:ext cx="1712669" cy="791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70" name="Straight Connector 169"/>
          <p:cNvCxnSpPr>
            <a:stCxn id="54" idx="0"/>
          </p:cNvCxnSpPr>
          <p:nvPr/>
        </p:nvCxnSpPr>
        <p:spPr bwMode="auto">
          <a:xfrm flipH="1" flipV="1">
            <a:off x="4800600" y="1676400"/>
            <a:ext cx="1548854" cy="7859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166" name="Cloud 165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Better topologies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17211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5699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28209" y="355663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0223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2131" y="246756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3758" y="246577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4" name="Straight Connector 23"/>
          <p:cNvCxnSpPr>
            <a:stCxn id="142" idx="0"/>
            <a:endCxn id="146" idx="2"/>
          </p:cNvCxnSpPr>
          <p:nvPr/>
        </p:nvCxnSpPr>
        <p:spPr>
          <a:xfrm flipV="1">
            <a:off x="2100091" y="2902923"/>
            <a:ext cx="759240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3" idx="0"/>
            <a:endCxn id="146" idx="2"/>
          </p:cNvCxnSpPr>
          <p:nvPr/>
        </p:nvCxnSpPr>
        <p:spPr>
          <a:xfrm flipH="1" flipV="1">
            <a:off x="2859331" y="2902923"/>
            <a:ext cx="689248" cy="6512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2" idx="0"/>
            <a:endCxn id="148" idx="2"/>
          </p:cNvCxnSpPr>
          <p:nvPr/>
        </p:nvCxnSpPr>
        <p:spPr>
          <a:xfrm flipV="1">
            <a:off x="2100091" y="2901133"/>
            <a:ext cx="192086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44" idx="0"/>
            <a:endCxn id="146" idx="2"/>
          </p:cNvCxnSpPr>
          <p:nvPr/>
        </p:nvCxnSpPr>
        <p:spPr>
          <a:xfrm flipH="1" flipV="1">
            <a:off x="2859331" y="2902923"/>
            <a:ext cx="2151758" cy="6537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3" idx="0"/>
            <a:endCxn id="148" idx="2"/>
          </p:cNvCxnSpPr>
          <p:nvPr/>
        </p:nvCxnSpPr>
        <p:spPr>
          <a:xfrm flipV="1">
            <a:off x="3548579" y="2901133"/>
            <a:ext cx="472379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5" idx="0"/>
            <a:endCxn id="146" idx="2"/>
          </p:cNvCxnSpPr>
          <p:nvPr/>
        </p:nvCxnSpPr>
        <p:spPr>
          <a:xfrm flipH="1" flipV="1">
            <a:off x="2859331" y="2902923"/>
            <a:ext cx="3583772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4" idx="0"/>
            <a:endCxn id="148" idx="2"/>
          </p:cNvCxnSpPr>
          <p:nvPr/>
        </p:nvCxnSpPr>
        <p:spPr>
          <a:xfrm flipH="1" flipV="1">
            <a:off x="4020958" y="2901133"/>
            <a:ext cx="990131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5" idx="0"/>
            <a:endCxn id="148" idx="2"/>
          </p:cNvCxnSpPr>
          <p:nvPr/>
        </p:nvCxnSpPr>
        <p:spPr>
          <a:xfrm flipH="1" flipV="1">
            <a:off x="4020958" y="2901133"/>
            <a:ext cx="2422145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2" idx="0"/>
            <a:endCxn id="144" idx="2"/>
          </p:cNvCxnSpPr>
          <p:nvPr/>
        </p:nvCxnSpPr>
        <p:spPr>
          <a:xfrm flipV="1">
            <a:off x="4914483" y="3830399"/>
            <a:ext cx="96606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1" idx="0"/>
            <a:endCxn id="145" idx="2"/>
          </p:cNvCxnSpPr>
          <p:nvPr/>
        </p:nvCxnSpPr>
        <p:spPr>
          <a:xfrm flipH="1" flipV="1">
            <a:off x="6443103" y="3829749"/>
            <a:ext cx="538789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8" idx="0"/>
            <a:endCxn id="145" idx="2"/>
          </p:cNvCxnSpPr>
          <p:nvPr/>
        </p:nvCxnSpPr>
        <p:spPr>
          <a:xfrm flipV="1">
            <a:off x="6349990" y="3829749"/>
            <a:ext cx="93113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5" idx="0"/>
            <a:endCxn id="144" idx="2"/>
          </p:cNvCxnSpPr>
          <p:nvPr/>
        </p:nvCxnSpPr>
        <p:spPr>
          <a:xfrm flipH="1" flipV="1">
            <a:off x="5011089" y="3830399"/>
            <a:ext cx="535296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9" idx="0"/>
            <a:endCxn id="143" idx="2"/>
          </p:cNvCxnSpPr>
          <p:nvPr/>
        </p:nvCxnSpPr>
        <p:spPr>
          <a:xfrm flipH="1" flipV="1">
            <a:off x="3548579" y="3827934"/>
            <a:ext cx="544316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76" idx="0"/>
            <a:endCxn id="143" idx="2"/>
          </p:cNvCxnSpPr>
          <p:nvPr/>
        </p:nvCxnSpPr>
        <p:spPr>
          <a:xfrm flipV="1">
            <a:off x="3460993" y="3827934"/>
            <a:ext cx="87586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0" idx="0"/>
            <a:endCxn id="142" idx="2"/>
          </p:cNvCxnSpPr>
          <p:nvPr/>
        </p:nvCxnSpPr>
        <p:spPr>
          <a:xfrm flipV="1">
            <a:off x="2007503" y="3829749"/>
            <a:ext cx="92588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3" idx="0"/>
            <a:endCxn id="142" idx="2"/>
          </p:cNvCxnSpPr>
          <p:nvPr/>
        </p:nvCxnSpPr>
        <p:spPr>
          <a:xfrm flipH="1" flipV="1">
            <a:off x="2100091" y="3829749"/>
            <a:ext cx="539314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1589" y="3551017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1" name="Straight Connector 40"/>
          <p:cNvCxnSpPr>
            <a:stCxn id="50" idx="0"/>
          </p:cNvCxnSpPr>
          <p:nvPr/>
        </p:nvCxnSpPr>
        <p:spPr>
          <a:xfrm flipV="1">
            <a:off x="2007503" y="3824787"/>
            <a:ext cx="566966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0" idx="0"/>
          </p:cNvCxnSpPr>
          <p:nvPr/>
        </p:nvCxnSpPr>
        <p:spPr>
          <a:xfrm flipV="1">
            <a:off x="2007503" y="3824787"/>
            <a:ext cx="566967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63" idx="0"/>
            <a:endCxn id="153" idx="2"/>
          </p:cNvCxnSpPr>
          <p:nvPr/>
        </p:nvCxnSpPr>
        <p:spPr>
          <a:xfrm flipH="1" flipV="1">
            <a:off x="2574469" y="3824786"/>
            <a:ext cx="64936" cy="319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36827" y="3547081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5" name="Straight Connector 44"/>
          <p:cNvCxnSpPr>
            <a:stCxn id="76" idx="0"/>
          </p:cNvCxnSpPr>
          <p:nvPr/>
        </p:nvCxnSpPr>
        <p:spPr>
          <a:xfrm flipV="1">
            <a:off x="3460993" y="3820850"/>
            <a:ext cx="558714" cy="32385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89" idx="0"/>
          </p:cNvCxnSpPr>
          <p:nvPr/>
        </p:nvCxnSpPr>
        <p:spPr>
          <a:xfrm flipH="1" flipV="1">
            <a:off x="4019707" y="3820850"/>
            <a:ext cx="73188" cy="3237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282102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8" name="Straight Connector 47"/>
          <p:cNvCxnSpPr>
            <a:stCxn id="115" idx="0"/>
          </p:cNvCxnSpPr>
          <p:nvPr/>
        </p:nvCxnSpPr>
        <p:spPr>
          <a:xfrm flipH="1" flipV="1">
            <a:off x="5464982" y="3827934"/>
            <a:ext cx="81403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0"/>
          </p:cNvCxnSpPr>
          <p:nvPr/>
        </p:nvCxnSpPr>
        <p:spPr>
          <a:xfrm flipV="1">
            <a:off x="4914483" y="3827934"/>
            <a:ext cx="550499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3721" y="3551016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1" name="Straight Connector 50"/>
          <p:cNvCxnSpPr>
            <a:stCxn id="128" idx="0"/>
          </p:cNvCxnSpPr>
          <p:nvPr/>
        </p:nvCxnSpPr>
        <p:spPr>
          <a:xfrm flipV="1">
            <a:off x="6349990" y="3824785"/>
            <a:ext cx="546611" cy="3199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1" idx="0"/>
          </p:cNvCxnSpPr>
          <p:nvPr/>
        </p:nvCxnSpPr>
        <p:spPr>
          <a:xfrm flipH="1" flipV="1">
            <a:off x="6896601" y="3824785"/>
            <a:ext cx="85291" cy="3197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730627" y="246418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2254" y="246239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5" name="Straight Connector 54"/>
          <p:cNvCxnSpPr>
            <a:stCxn id="153" idx="0"/>
          </p:cNvCxnSpPr>
          <p:nvPr/>
        </p:nvCxnSpPr>
        <p:spPr>
          <a:xfrm flipV="1">
            <a:off x="2574469" y="2899541"/>
            <a:ext cx="2613358" cy="6514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19707" y="2899541"/>
            <a:ext cx="1168120" cy="6475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3" idx="0"/>
          </p:cNvCxnSpPr>
          <p:nvPr/>
        </p:nvCxnSpPr>
        <p:spPr>
          <a:xfrm flipV="1">
            <a:off x="2574469" y="2897751"/>
            <a:ext cx="3774985" cy="6532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187827" y="2899541"/>
            <a:ext cx="277155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019707" y="2897751"/>
            <a:ext cx="2329747" cy="649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187827" y="2899541"/>
            <a:ext cx="1708774" cy="6514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5464982" y="2897751"/>
            <a:ext cx="884472" cy="65641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349454" y="2897751"/>
            <a:ext cx="547147" cy="6532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D97DD-C35C-F968-45CD-435F01FB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163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Multi-stage network</a:t>
            </a:r>
          </a:p>
          <a:p>
            <a:r>
              <a:rPr lang="en-US" dirty="0"/>
              <a:t>k pods, where each pod has two layers of k/2 switches</a:t>
            </a:r>
          </a:p>
          <a:p>
            <a:pPr lvl="1"/>
            <a:r>
              <a:rPr lang="en-US" dirty="0"/>
              <a:t>k/2 ports up and k/2 down</a:t>
            </a:r>
          </a:p>
          <a:p>
            <a:r>
              <a:rPr lang="en-US" dirty="0"/>
              <a:t>All links have the same b/w</a:t>
            </a:r>
          </a:p>
          <a:p>
            <a:r>
              <a:rPr lang="en-US" dirty="0">
                <a:solidFill>
                  <a:srgbClr val="0000FF"/>
                </a:solidFill>
              </a:rPr>
              <a:t>At most k</a:t>
            </a:r>
            <a:r>
              <a:rPr lang="en-US" baseline="30000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/4 machines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k = 4</a:t>
            </a:r>
          </a:p>
          <a:p>
            <a:pPr lvl="1"/>
            <a:r>
              <a:rPr lang="en-US" dirty="0"/>
              <a:t>16 machines</a:t>
            </a:r>
          </a:p>
          <a:p>
            <a:r>
              <a:rPr lang="en-US" dirty="0"/>
              <a:t>For k=48, 27648 machines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D55E4-4CBE-A5B7-6AC1-8073B669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469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in scale-out designs?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Topology offers high bisection bandwidth</a:t>
            </a:r>
          </a:p>
          <a:p>
            <a:r>
              <a:rPr lang="en-US" dirty="0"/>
              <a:t>All other system components must be able to exploit this available capacity</a:t>
            </a:r>
          </a:p>
          <a:p>
            <a:pPr lvl="1"/>
            <a:r>
              <a:rPr lang="en-US" dirty="0"/>
              <a:t>Routing must use all paths</a:t>
            </a:r>
          </a:p>
          <a:p>
            <a:pPr lvl="1"/>
            <a:r>
              <a:rPr lang="en-US" dirty="0"/>
              <a:t>Transport protocol must </a:t>
            </a:r>
            <a:br>
              <a:rPr lang="en-US" dirty="0"/>
            </a:br>
            <a:r>
              <a:rPr lang="en-US" dirty="0"/>
              <a:t>fill all pipes (fast)</a:t>
            </a:r>
          </a:p>
          <a:p>
            <a:pPr lvl="1"/>
            <a:endParaRPr lang="en-US" dirty="0"/>
          </a:p>
        </p:txBody>
      </p:sp>
      <p:grpSp>
        <p:nvGrpSpPr>
          <p:cNvPr id="133" name="Group 132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34" name="Rectangle 133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71" name="Straight Connector 170"/>
            <p:cNvCxnSpPr/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88" name="Straight Connector 187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190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2" name="Straight Connector 191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5" name="Straight Connector 194"/>
            <p:cNvCxnSpPr/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98" name="Straight Connector 197"/>
            <p:cNvCxnSpPr/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Rectangle 199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02" name="Straight Connector 201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750D6A-C3CB-EFF1-DD3B-A0E7900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2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streaming</a:t>
            </a:r>
          </a:p>
          <a:p>
            <a:pPr lvl="1"/>
            <a:r>
              <a:rPr lang="en-US" dirty="0"/>
              <a:t>Too large to send, so stream it</a:t>
            </a:r>
          </a:p>
          <a:p>
            <a:pPr lvl="1"/>
            <a:r>
              <a:rPr lang="en-US" dirty="0"/>
              <a:t>Dynamically adapt to the network and users </a:t>
            </a:r>
          </a:p>
          <a:p>
            <a:r>
              <a:rPr lang="en-US" dirty="0"/>
              <a:t>Cloud systems</a:t>
            </a:r>
          </a:p>
          <a:p>
            <a:pPr lvl="1"/>
            <a:r>
              <a:rPr lang="en-US" dirty="0"/>
              <a:t>Forms the backend of modern web services</a:t>
            </a:r>
          </a:p>
          <a:p>
            <a:pPr lvl="1"/>
            <a:r>
              <a:rPr lang="en-US" dirty="0"/>
              <a:t>Runs in datacenters where all the processing happens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January 27,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64DF3-5F03-5DAF-67EE-F7E5C7A8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1490454048</TotalTime>
  <Pages>7</Pages>
  <Words>2025</Words>
  <Application>Microsoft Macintosh PowerPoint</Application>
  <PresentationFormat>On-screen Show (4:3)</PresentationFormat>
  <Paragraphs>460</Paragraphs>
  <Slides>50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ＭＳ Ｐゴシック</vt:lpstr>
      <vt:lpstr>Arial</vt:lpstr>
      <vt:lpstr>Arial Black</vt:lpstr>
      <vt:lpstr>Gill Sans</vt:lpstr>
      <vt:lpstr>Monotype Sorts</vt:lpstr>
      <vt:lpstr>Times New Roman</vt:lpstr>
      <vt:lpstr>Wingdings</vt:lpstr>
      <vt:lpstr>dbllineb</vt:lpstr>
      <vt:lpstr>EECS 489 Computer Networks  Winter 2025</vt:lpstr>
      <vt:lpstr>Recap: Inserting RR into DNS</vt:lpstr>
      <vt:lpstr>Agenda</vt:lpstr>
      <vt:lpstr>Why is video important?</vt:lpstr>
      <vt:lpstr>The video medium</vt:lpstr>
      <vt:lpstr>The video medium (cont’d)</vt:lpstr>
      <vt:lpstr>How to watch a video?</vt:lpstr>
      <vt:lpstr>How to watch a video?</vt:lpstr>
      <vt:lpstr>HTTP streaming</vt:lpstr>
      <vt:lpstr>HTTP streaming</vt:lpstr>
      <vt:lpstr>What if the latency is high?</vt:lpstr>
      <vt:lpstr>Challenges</vt:lpstr>
      <vt:lpstr>HTTP streaming: Revisited</vt:lpstr>
      <vt:lpstr>Issues with HTTP streaming</vt:lpstr>
      <vt:lpstr>DASH : Dynamic Adaptive Streaming over HTTP</vt:lpstr>
      <vt:lpstr>Cloud Systems</vt:lpstr>
      <vt:lpstr>Who’s serving Web services?</vt:lpstr>
      <vt:lpstr>Who’s serving Web services?</vt:lpstr>
      <vt:lpstr>Cloud datacenters run the world</vt:lpstr>
      <vt:lpstr>Cloud datacenters run the world</vt:lpstr>
      <vt:lpstr>Cloud datacenters run the world</vt:lpstr>
      <vt:lpstr>How big is a datacenter (DC)?</vt:lpstr>
      <vt:lpstr>Implications (1)</vt:lpstr>
      <vt:lpstr>Implications (2)</vt:lpstr>
      <vt:lpstr>Applications</vt:lpstr>
      <vt:lpstr>Partition-Aggregate</vt:lpstr>
      <vt:lpstr>Partition-Aggregate</vt:lpstr>
      <vt:lpstr>End-to-end response time</vt:lpstr>
      <vt:lpstr>5-minute break!</vt:lpstr>
      <vt:lpstr>Applications</vt:lpstr>
      <vt:lpstr>Map-Reduce</vt:lpstr>
      <vt:lpstr>Datacenter networks</vt:lpstr>
      <vt:lpstr>Datacenter networks (Cont.)</vt:lpstr>
      <vt:lpstr>Datacenter traffic</vt:lpstr>
      <vt:lpstr>East-West traffic</vt:lpstr>
      <vt:lpstr>Datacenter traffic characteristics</vt:lpstr>
      <vt:lpstr>High bandwidth</vt:lpstr>
      <vt:lpstr>Datacenter network as one giant switch</vt:lpstr>
      <vt:lpstr>Datacenter network as one giant switch</vt:lpstr>
      <vt:lpstr>Datacenter network as one giant switch</vt:lpstr>
      <vt:lpstr>High bandwidth </vt:lpstr>
      <vt:lpstr>Bisection bandwidth</vt:lpstr>
      <vt:lpstr>Achieving full bisection bandwidth</vt:lpstr>
      <vt:lpstr>Oversubscription</vt:lpstr>
      <vt:lpstr>Oversubscription</vt:lpstr>
      <vt:lpstr>Better topologies</vt:lpstr>
      <vt:lpstr>Better topologies</vt:lpstr>
      <vt:lpstr>Clos topology</vt:lpstr>
      <vt:lpstr>Challenges in scale-out designs?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1340</cp:revision>
  <cp:lastPrinted>1999-09-08T17:25:07Z</cp:lastPrinted>
  <dcterms:created xsi:type="dcterms:W3CDTF">2014-01-14T18:15:50Z</dcterms:created>
  <dcterms:modified xsi:type="dcterms:W3CDTF">2025-01-26T01:02:16Z</dcterms:modified>
  <cp:category/>
</cp:coreProperties>
</file>