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8" r:id="rId2"/>
    <p:sldId id="487" r:id="rId3"/>
    <p:sldId id="514" r:id="rId4"/>
    <p:sldId id="515" r:id="rId5"/>
    <p:sldId id="516" r:id="rId6"/>
    <p:sldId id="517" r:id="rId7"/>
    <p:sldId id="519" r:id="rId8"/>
    <p:sldId id="520" r:id="rId9"/>
    <p:sldId id="521" r:id="rId10"/>
    <p:sldId id="518" r:id="rId11"/>
    <p:sldId id="523" r:id="rId12"/>
    <p:sldId id="524" r:id="rId13"/>
    <p:sldId id="522" r:id="rId14"/>
    <p:sldId id="526" r:id="rId15"/>
    <p:sldId id="531" r:id="rId16"/>
    <p:sldId id="530" r:id="rId17"/>
    <p:sldId id="533" r:id="rId18"/>
    <p:sldId id="534" r:id="rId19"/>
    <p:sldId id="535" r:id="rId20"/>
    <p:sldId id="536" r:id="rId21"/>
    <p:sldId id="502" r:id="rId22"/>
    <p:sldId id="560" r:id="rId23"/>
    <p:sldId id="539" r:id="rId24"/>
    <p:sldId id="540" r:id="rId25"/>
    <p:sldId id="541" r:id="rId26"/>
    <p:sldId id="542" r:id="rId27"/>
    <p:sldId id="543" r:id="rId28"/>
    <p:sldId id="544" r:id="rId29"/>
    <p:sldId id="545" r:id="rId30"/>
    <p:sldId id="554" r:id="rId31"/>
    <p:sldId id="555" r:id="rId32"/>
    <p:sldId id="556" r:id="rId33"/>
    <p:sldId id="557" r:id="rId34"/>
    <p:sldId id="558" r:id="rId35"/>
    <p:sldId id="537" r:id="rId36"/>
    <p:sldId id="546" r:id="rId37"/>
    <p:sldId id="547" r:id="rId38"/>
    <p:sldId id="548" r:id="rId39"/>
    <p:sldId id="549" r:id="rId40"/>
    <p:sldId id="550" r:id="rId41"/>
    <p:sldId id="551" r:id="rId42"/>
    <p:sldId id="552" r:id="rId43"/>
    <p:sldId id="553" r:id="rId44"/>
    <p:sldId id="538" r:id="rId45"/>
    <p:sldId id="527" r:id="rId46"/>
    <p:sldId id="528" r:id="rId47"/>
    <p:sldId id="512" r:id="rId4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900"/>
    <a:srgbClr val="009900"/>
    <a:srgbClr val="D60093"/>
    <a:srgbClr val="333399"/>
    <a:srgbClr val="D3A600"/>
    <a:srgbClr val="FFCB05"/>
    <a:srgbClr val="00274C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26"/>
    <p:restoredTop sz="94648"/>
  </p:normalViewPr>
  <p:slideViewPr>
    <p:cSldViewPr>
      <p:cViewPr varScale="1">
        <p:scale>
          <a:sx n="112" d="100"/>
          <a:sy n="112" d="100"/>
        </p:scale>
        <p:origin x="163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06" name="Shape 40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663981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97" name="Shape 1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43407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97" name="Shape 1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092382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378560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811026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243491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675957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eaLnBrk="1" hangingPunct="1"/>
            <a:fld id="{32F0FA2B-D0B2-2D43-954F-401FB3378438}" type="slidenum">
              <a:rPr lang="en-US" sz="1200" b="0">
                <a:latin typeface="Times New Roman" charset="0"/>
              </a:rPr>
              <a:pPr eaLnBrk="1" hangingPunct="1"/>
              <a:t>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274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378560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811026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243491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675957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eaLnBrk="1" hangingPunct="1"/>
            <a:fld id="{32F0FA2B-D0B2-2D43-954F-401FB3378438}" type="slidenum">
              <a:rPr lang="en-US" sz="1200" b="0">
                <a:latin typeface="Times New Roman" charset="0"/>
              </a:rPr>
              <a:pPr eaLnBrk="1" hangingPunct="1"/>
              <a:t>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6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7F9C297-3580-704A-834B-CEB0E741916A}" type="slidenum">
              <a:rPr lang="en-US" sz="1200" b="0">
                <a:latin typeface="Times New Roman" charset="0"/>
              </a:rPr>
              <a:pPr eaLnBrk="1" hangingPunct="1"/>
              <a:t>9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6493" tIns="43247" rIns="86493" bIns="43247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581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15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97" name="Shape 1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92486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Shape 24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497" name="Shape 24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767417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Shape 254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542" name="Shape 25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27108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Shape 258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587" name="Shape 25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966447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Shape 263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32" name="Shape 26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292889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Shape 267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77" name="Shape 26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7306189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Shape 27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722" name="Shape 27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812232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" name="Shape 276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767" name="Shape 27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078934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Shape 281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812" name="Shape 28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7567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Shape 285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857" name="Shape 28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51382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Shape 29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902" name="Shape 29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410993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Shape 29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947" name="Shape 29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3097934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Shape 299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993" name="Shape 29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876205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Shape 30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045" name="Shape 30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278590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Shape 308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087" name="Shape 30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454255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Shape 312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128" name="Shape 31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8588526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Shape 316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170" name="Shape 31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430808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Shape 321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211" name="Shape 321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5462919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Shape 325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254" name="Shape 3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177602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97" name="Shape 1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535320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5010" y="8684684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42B0DAA6-02FB-6E4A-B752-815ED524F531}" type="slidenum">
              <a:rPr lang="en-US">
                <a:latin typeface="Times New Roman" charset="0"/>
              </a:rPr>
              <a:pPr/>
              <a:t>45</a:t>
            </a:fld>
            <a:endParaRPr lang="en-US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17786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5010" y="8684684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DF86D6B3-6172-344F-AF2E-101ACF88B5E5}" type="slidenum">
              <a:rPr lang="en-US">
                <a:latin typeface="Times New Roman" charset="0"/>
              </a:rPr>
              <a:pPr/>
              <a:t>46</a:t>
            </a:fld>
            <a:endParaRPr lang="en-US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3250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March 17,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13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Link-state routing</a:t>
            </a:r>
          </a:p>
          <a:p>
            <a:r>
              <a:rPr lang="en-US" dirty="0"/>
              <a:t>Distance-vector routing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D8AAE-983E-5745-BE34-B97F76AE4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Recap: Least-cost path routing</a:t>
            </a:r>
          </a:p>
        </p:txBody>
      </p:sp>
      <p:sp>
        <p:nvSpPr>
          <p:cNvPr id="403" name="Shape 40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Given:</a:t>
            </a:r>
            <a:r>
              <a:rPr lang="en-US" dirty="0"/>
              <a:t> router graph &amp; link costs</a:t>
            </a:r>
          </a:p>
          <a:p>
            <a:r>
              <a:rPr lang="en-US" dirty="0">
                <a:solidFill>
                  <a:srgbClr val="0000FF"/>
                </a:solidFill>
              </a:rPr>
              <a:t>Goal:</a:t>
            </a:r>
            <a:r>
              <a:rPr lang="en-US" dirty="0"/>
              <a:t> find least-cost path                                            </a:t>
            </a:r>
          </a:p>
          <a:p>
            <a:pPr lvl="1"/>
            <a:r>
              <a:rPr lang="en-US" dirty="0"/>
              <a:t>From each source router to each destination router</a:t>
            </a:r>
          </a:p>
          <a:p>
            <a:endParaRPr lang="en-US" dirty="0"/>
          </a:p>
          <a:p>
            <a:r>
              <a:rPr lang="en-US" dirty="0"/>
              <a:t>Easy way to avoid loops</a:t>
            </a:r>
          </a:p>
          <a:p>
            <a:pPr lvl="1"/>
            <a:r>
              <a:rPr lang="en-US" dirty="0"/>
              <a:t>No reasonable cost metric is minimized by traversing a loop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24FB3A-0F8F-5948-AAC7-A9BCD37BF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5658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</a:t>
            </a:r>
            <a:br>
              <a:rPr lang="en-US"/>
            </a:br>
            <a:r>
              <a:rPr lang="en-US"/>
              <a:t>Dijkstra’s algorithm</a:t>
            </a:r>
            <a:endParaRPr lang="en-US" dirty="0"/>
          </a:p>
        </p:txBody>
      </p:sp>
      <p:sp>
        <p:nvSpPr>
          <p:cNvPr id="12493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topology, link costs known to all nodes</a:t>
            </a:r>
          </a:p>
          <a:p>
            <a:pPr lvl="1"/>
            <a:r>
              <a:rPr lang="en-US" dirty="0"/>
              <a:t>All nodes have same info</a:t>
            </a:r>
          </a:p>
          <a:p>
            <a:r>
              <a:rPr lang="en-US" dirty="0"/>
              <a:t>Each node (“</a:t>
            </a:r>
            <a:r>
              <a:rPr lang="en-US" altLang="ja-JP" dirty="0"/>
              <a:t>src”) </a:t>
            </a:r>
            <a:r>
              <a:rPr lang="en-US" dirty="0"/>
              <a:t>computes least-cost paths </a:t>
            </a:r>
            <a:r>
              <a:rPr lang="en-US" altLang="ja-JP" dirty="0"/>
              <a:t>to all other nodes</a:t>
            </a:r>
          </a:p>
          <a:p>
            <a:pPr lvl="1"/>
            <a:r>
              <a:rPr lang="en-US" dirty="0"/>
              <a:t>After k iterations, know least-cost path to k destination</a:t>
            </a:r>
            <a:r>
              <a:rPr lang="en-US" altLang="ja-JP" dirty="0"/>
              <a:t>s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47186D-609B-A04F-88EA-B473555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72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From routing algorithm to protocol</a:t>
            </a:r>
            <a:endParaRPr lang="en-US" dirty="0"/>
          </a:p>
        </p:txBody>
      </p:sp>
      <p:sp>
        <p:nvSpPr>
          <p:cNvPr id="1194" name="Shape 11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Dijkstra’s is a local computation! </a:t>
            </a:r>
          </a:p>
          <a:p>
            <a:pPr lvl="1"/>
            <a:r>
              <a:rPr lang="en-US" dirty="0"/>
              <a:t>Computed by a node given complete network graph</a:t>
            </a:r>
          </a:p>
          <a:p>
            <a:r>
              <a:rPr lang="en-US" dirty="0"/>
              <a:t>Possibilities: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Option#1</a:t>
            </a:r>
            <a:r>
              <a:rPr lang="en-US" dirty="0"/>
              <a:t>: a separate machine runs the algorithm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Option#2</a:t>
            </a:r>
            <a:r>
              <a:rPr lang="en-US" dirty="0"/>
              <a:t>: every router runs the algorithm</a:t>
            </a:r>
          </a:p>
          <a:p>
            <a:r>
              <a:rPr lang="en-US" dirty="0"/>
              <a:t>The Internet currently uses Option#2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99AF61-EDCD-1741-BABA-BF91951C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4922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4" grpId="0" uiExpand="1" build="p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Link-state routing</a:t>
            </a:r>
          </a:p>
        </p:txBody>
      </p:sp>
      <p:sp>
        <p:nvSpPr>
          <p:cNvPr id="1194" name="Shape 11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router knows its local “link state” </a:t>
            </a:r>
          </a:p>
          <a:p>
            <a:pPr lvl="1"/>
            <a:r>
              <a:rPr lang="en-US" dirty="0"/>
              <a:t>Router u: “(</a:t>
            </a:r>
            <a:r>
              <a:rPr lang="en-US" dirty="0" err="1"/>
              <a:t>u,v</a:t>
            </a:r>
            <a:r>
              <a:rPr lang="en-US" dirty="0"/>
              <a:t>) with cost=2; (</a:t>
            </a:r>
            <a:r>
              <a:rPr lang="en-US" dirty="0" err="1"/>
              <a:t>u,x</a:t>
            </a:r>
            <a:r>
              <a:rPr lang="en-US" dirty="0"/>
              <a:t>) with cost=1”</a:t>
            </a:r>
          </a:p>
          <a:p>
            <a:r>
              <a:rPr lang="en-US" dirty="0"/>
              <a:t>Each router floods its </a:t>
            </a:r>
            <a:r>
              <a:rPr lang="en-US" dirty="0">
                <a:solidFill>
                  <a:srgbClr val="0000FF"/>
                </a:solidFill>
              </a:rPr>
              <a:t>local link state to all other routers </a:t>
            </a:r>
            <a:r>
              <a:rPr lang="en-US" dirty="0"/>
              <a:t>in the network</a:t>
            </a:r>
          </a:p>
          <a:p>
            <a:pPr lvl="1"/>
            <a:r>
              <a:rPr lang="en-US" dirty="0"/>
              <a:t>Does so periodically or when its link state changes</a:t>
            </a:r>
          </a:p>
          <a:p>
            <a:r>
              <a:rPr lang="en-US" dirty="0"/>
              <a:t>Every router learns the entire network graph</a:t>
            </a:r>
          </a:p>
          <a:p>
            <a:pPr lvl="1"/>
            <a:r>
              <a:rPr lang="en-US" dirty="0"/>
              <a:t>Each runs Dijkstra’s Shortest-Path First (SPF) algorithm locally to compute forwarding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05399E-5EB2-9141-8616-FDF36CC7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5272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4" grpId="0" uiExpand="1" build="p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 link state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Flooding</a:t>
            </a:r>
          </a:p>
          <a:p>
            <a:pPr lvl="1"/>
            <a:r>
              <a:rPr lang="en-US" dirty="0"/>
              <a:t>A node sends its link-state info out all of its links</a:t>
            </a:r>
          </a:p>
          <a:p>
            <a:pPr lvl="1"/>
            <a:r>
              <a:rPr lang="en-US" dirty="0"/>
              <a:t>The next node forwards the info on all of its links except the one the information arrived at</a:t>
            </a:r>
          </a:p>
          <a:p>
            <a:r>
              <a:rPr lang="en-US" dirty="0"/>
              <a:t>When to initiate flooding?</a:t>
            </a:r>
          </a:p>
          <a:p>
            <a:pPr lvl="1"/>
            <a:r>
              <a:rPr lang="en-US" dirty="0"/>
              <a:t>Topology change (e.g., link/node failure/recovery)</a:t>
            </a:r>
          </a:p>
          <a:p>
            <a:pPr lvl="1"/>
            <a:r>
              <a:rPr lang="en-US" dirty="0"/>
              <a:t>Configuration change (e.g., link cost change)</a:t>
            </a:r>
          </a:p>
          <a:p>
            <a:pPr lvl="1"/>
            <a:r>
              <a:rPr lang="en-US" dirty="0"/>
              <a:t>Periodically</a:t>
            </a:r>
          </a:p>
          <a:p>
            <a:pPr lvl="2"/>
            <a:r>
              <a:rPr lang="en-US" dirty="0"/>
              <a:t>To refresh link-state information (soft states)</a:t>
            </a:r>
          </a:p>
          <a:p>
            <a:pPr lvl="2"/>
            <a:r>
              <a:rPr lang="en-US" dirty="0"/>
              <a:t>Typically (say) every 30 minutes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0D8413-AC62-1A4B-A8DC-D659D3E6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7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flood? </a:t>
            </a:r>
          </a:p>
          <a:p>
            <a:pPr lvl="1"/>
            <a:r>
              <a:rPr lang="en-US" dirty="0"/>
              <a:t>To get all the nodes in the network to </a:t>
            </a:r>
            <a:r>
              <a:rPr lang="en-US" dirty="0">
                <a:solidFill>
                  <a:srgbClr val="0000FF"/>
                </a:solidFill>
              </a:rPr>
              <a:t>converge </a:t>
            </a:r>
            <a:r>
              <a:rPr lang="en-US" dirty="0"/>
              <a:t>to the new topology</a:t>
            </a:r>
          </a:p>
          <a:p>
            <a:r>
              <a:rPr lang="en-US" dirty="0"/>
              <a:t>Upon convergence, all nodes will have </a:t>
            </a:r>
            <a:r>
              <a:rPr lang="en-US" dirty="0">
                <a:solidFill>
                  <a:srgbClr val="0000FF"/>
                </a:solidFill>
              </a:rPr>
              <a:t>consistent routing information</a:t>
            </a:r>
            <a:r>
              <a:rPr lang="en-US" dirty="0"/>
              <a:t> and can </a:t>
            </a:r>
            <a:r>
              <a:rPr lang="en-US" dirty="0">
                <a:solidFill>
                  <a:srgbClr val="0000FF"/>
                </a:solidFill>
              </a:rPr>
              <a:t>compute consistent forwarding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All nodes have the same link-state database</a:t>
            </a:r>
          </a:p>
          <a:p>
            <a:pPr lvl="1"/>
            <a:r>
              <a:rPr lang="en-US" dirty="0"/>
              <a:t>All nodes forward packets on shortest paths</a:t>
            </a:r>
          </a:p>
          <a:p>
            <a:pPr lvl="1"/>
            <a:r>
              <a:rPr lang="en-US" dirty="0"/>
              <a:t>The next router on the path forwards to the expected next hop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92A2A9-18CB-204E-8984-09FA0E4FF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delay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to achieve convergence</a:t>
            </a:r>
          </a:p>
          <a:p>
            <a:r>
              <a:rPr lang="en-US" dirty="0"/>
              <a:t>Sources of convergence delay</a:t>
            </a:r>
          </a:p>
          <a:p>
            <a:pPr lvl="1"/>
            <a:r>
              <a:rPr lang="en-US" dirty="0"/>
              <a:t>Time to detect failure</a:t>
            </a:r>
          </a:p>
          <a:p>
            <a:pPr lvl="1"/>
            <a:r>
              <a:rPr lang="en-US" dirty="0"/>
              <a:t>Time to flood link-state information</a:t>
            </a:r>
          </a:p>
          <a:p>
            <a:pPr lvl="1"/>
            <a:r>
              <a:rPr lang="en-US" dirty="0"/>
              <a:t>Time to re-compute forwarding tables</a:t>
            </a:r>
          </a:p>
          <a:p>
            <a:r>
              <a:rPr lang="en-US" dirty="0">
                <a:solidFill>
                  <a:srgbClr val="0000FF"/>
                </a:solidFill>
              </a:rPr>
              <a:t>What happens if it takes too long to converge?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563179-FBC2-6C42-B583-56275729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0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4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from convergence delay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grpSp>
        <p:nvGrpSpPr>
          <p:cNvPr id="45" name="Group 44"/>
          <p:cNvGrpSpPr>
            <a:grpSpLocks noChangeAspect="1"/>
          </p:cNvGrpSpPr>
          <p:nvPr/>
        </p:nvGrpSpPr>
        <p:grpSpPr>
          <a:xfrm>
            <a:off x="736641" y="1905000"/>
            <a:ext cx="3225759" cy="2743200"/>
            <a:chOff x="381000" y="1981200"/>
            <a:chExt cx="4029109" cy="3426372"/>
          </a:xfrm>
        </p:grpSpPr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1025587" y="3504032"/>
              <a:ext cx="311639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1757574" y="2934332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>
              <a:off x="1566243" y="2186366"/>
              <a:ext cx="0" cy="744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1" name="Line 37"/>
            <p:cNvSpPr>
              <a:spLocks noChangeShapeType="1"/>
            </p:cNvSpPr>
            <p:nvPr/>
          </p:nvSpPr>
          <p:spPr bwMode="auto">
            <a:xfrm>
              <a:off x="754534" y="3944533"/>
              <a:ext cx="9160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2" name="Line 38"/>
            <p:cNvSpPr>
              <a:spLocks noChangeShapeType="1"/>
            </p:cNvSpPr>
            <p:nvPr/>
          </p:nvSpPr>
          <p:spPr bwMode="auto">
            <a:xfrm>
              <a:off x="1772069" y="2344303"/>
              <a:ext cx="0" cy="14333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3" name="Line 39"/>
            <p:cNvSpPr>
              <a:spLocks noChangeShapeType="1"/>
            </p:cNvSpPr>
            <p:nvPr/>
          </p:nvSpPr>
          <p:spPr bwMode="auto">
            <a:xfrm flipH="1">
              <a:off x="574799" y="2253414"/>
              <a:ext cx="976950" cy="1609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" name="Text Box 40"/>
            <p:cNvSpPr txBox="1">
              <a:spLocks noChangeArrowheads="1"/>
            </p:cNvSpPr>
            <p:nvPr/>
          </p:nvSpPr>
          <p:spPr bwMode="auto">
            <a:xfrm>
              <a:off x="803816" y="2770435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5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" name="Line 41"/>
            <p:cNvSpPr>
              <a:spLocks noChangeShapeType="1"/>
            </p:cNvSpPr>
            <p:nvPr/>
          </p:nvSpPr>
          <p:spPr bwMode="auto">
            <a:xfrm>
              <a:off x="1782215" y="4019031"/>
              <a:ext cx="13045" cy="1057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6" name="Text Box 42"/>
            <p:cNvSpPr txBox="1">
              <a:spLocks noChangeArrowheads="1"/>
            </p:cNvSpPr>
            <p:nvPr/>
          </p:nvSpPr>
          <p:spPr bwMode="auto">
            <a:xfrm>
              <a:off x="1792362" y="4318516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7" name="Freeform 43"/>
            <p:cNvSpPr>
              <a:spLocks/>
            </p:cNvSpPr>
            <p:nvPr/>
          </p:nvSpPr>
          <p:spPr bwMode="auto">
            <a:xfrm>
              <a:off x="555955" y="4050321"/>
              <a:ext cx="1246553" cy="1190488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798018" y="4579261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0" name="Text Box 46"/>
            <p:cNvSpPr txBox="1">
              <a:spLocks noChangeArrowheads="1"/>
            </p:cNvSpPr>
            <p:nvPr/>
          </p:nvSpPr>
          <p:spPr bwMode="auto">
            <a:xfrm>
              <a:off x="2433032" y="4559891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1" name="Text Box 56"/>
            <p:cNvSpPr txBox="1">
              <a:spLocks noChangeArrowheads="1"/>
            </p:cNvSpPr>
            <p:nvPr/>
          </p:nvSpPr>
          <p:spPr bwMode="auto">
            <a:xfrm>
              <a:off x="2314175" y="3576145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8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2" name="Line 65"/>
            <p:cNvSpPr>
              <a:spLocks noChangeShapeType="1"/>
            </p:cNvSpPr>
            <p:nvPr/>
          </p:nvSpPr>
          <p:spPr bwMode="auto">
            <a:xfrm>
              <a:off x="3511445" y="3934103"/>
              <a:ext cx="510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3" name="Text Box 66"/>
            <p:cNvSpPr txBox="1">
              <a:spLocks noChangeArrowheads="1"/>
            </p:cNvSpPr>
            <p:nvPr/>
          </p:nvSpPr>
          <p:spPr bwMode="auto">
            <a:xfrm>
              <a:off x="3607111" y="3934103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2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4" name="Line 67"/>
            <p:cNvSpPr>
              <a:spLocks noChangeShapeType="1"/>
            </p:cNvSpPr>
            <p:nvPr/>
          </p:nvSpPr>
          <p:spPr bwMode="auto">
            <a:xfrm>
              <a:off x="1863386" y="2207225"/>
              <a:ext cx="1398748" cy="1695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5" name="Text Box 68"/>
            <p:cNvSpPr txBox="1">
              <a:spLocks noChangeArrowheads="1"/>
            </p:cNvSpPr>
            <p:nvPr/>
          </p:nvSpPr>
          <p:spPr bwMode="auto">
            <a:xfrm>
              <a:off x="2542515" y="2733184"/>
              <a:ext cx="313087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6" name="Freeform 69"/>
            <p:cNvSpPr>
              <a:spLocks/>
            </p:cNvSpPr>
            <p:nvPr/>
          </p:nvSpPr>
          <p:spPr bwMode="auto">
            <a:xfrm>
              <a:off x="1843094" y="2186366"/>
              <a:ext cx="40585" cy="20860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7" name="Freeform 70"/>
            <p:cNvSpPr>
              <a:spLocks/>
            </p:cNvSpPr>
            <p:nvPr/>
          </p:nvSpPr>
          <p:spPr bwMode="auto">
            <a:xfrm>
              <a:off x="1863386" y="2220635"/>
              <a:ext cx="2362653" cy="1567451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" name="Text Box 71"/>
            <p:cNvSpPr txBox="1">
              <a:spLocks noChangeArrowheads="1"/>
            </p:cNvSpPr>
            <p:nvPr/>
          </p:nvSpPr>
          <p:spPr bwMode="auto">
            <a:xfrm>
              <a:off x="3569424" y="2171554"/>
              <a:ext cx="311639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9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" name="Oval 28"/>
            <p:cNvSpPr>
              <a:spLocks noChangeAspect="1"/>
            </p:cNvSpPr>
            <p:nvPr/>
          </p:nvSpPr>
          <p:spPr bwMode="auto">
            <a:xfrm>
              <a:off x="1552903" y="1981200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x</a:t>
              </a: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 bwMode="auto">
            <a:xfrm>
              <a:off x="381000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u</a:t>
              </a: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 bwMode="auto">
            <a:xfrm>
              <a:off x="3952909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z</a:t>
              </a:r>
            </a:p>
          </p:txBody>
        </p:sp>
        <p:sp>
          <p:nvSpPr>
            <p:cNvPr id="32" name="Oval 31"/>
            <p:cNvSpPr>
              <a:spLocks noChangeAspect="1"/>
            </p:cNvSpPr>
            <p:nvPr/>
          </p:nvSpPr>
          <p:spPr bwMode="auto">
            <a:xfrm>
              <a:off x="1568668" y="495037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v</a:t>
              </a:r>
            </a:p>
          </p:txBody>
        </p:sp>
        <p:sp>
          <p:nvSpPr>
            <p:cNvPr id="33" name="Oval 32"/>
            <p:cNvSpPr>
              <a:spLocks noChangeAspect="1"/>
            </p:cNvSpPr>
            <p:nvPr/>
          </p:nvSpPr>
          <p:spPr bwMode="auto">
            <a:xfrm>
              <a:off x="3086428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y</a:t>
              </a:r>
            </a:p>
          </p:txBody>
        </p:sp>
        <p:sp>
          <p:nvSpPr>
            <p:cNvPr id="34" name="Oval 33"/>
            <p:cNvSpPr>
              <a:spLocks noChangeAspect="1"/>
            </p:cNvSpPr>
            <p:nvPr/>
          </p:nvSpPr>
          <p:spPr bwMode="auto">
            <a:xfrm>
              <a:off x="1568668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w</a:t>
              </a: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>
              <a:off x="2010102" y="3944533"/>
              <a:ext cx="10972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38" name="Line 126"/>
          <p:cNvSpPr>
            <a:spLocks noChangeShapeType="1"/>
          </p:cNvSpPr>
          <p:nvPr/>
        </p:nvSpPr>
        <p:spPr bwMode="auto">
          <a:xfrm flipV="1">
            <a:off x="3246510" y="3468939"/>
            <a:ext cx="386781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0" name="Line 128"/>
          <p:cNvSpPr>
            <a:spLocks noChangeShapeType="1"/>
          </p:cNvSpPr>
          <p:nvPr/>
        </p:nvSpPr>
        <p:spPr bwMode="auto">
          <a:xfrm>
            <a:off x="1856655" y="3640351"/>
            <a:ext cx="7620" cy="65836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1" name="Line 129"/>
          <p:cNvSpPr>
            <a:spLocks noChangeShapeType="1"/>
          </p:cNvSpPr>
          <p:nvPr/>
        </p:nvSpPr>
        <p:spPr bwMode="auto">
          <a:xfrm flipV="1">
            <a:off x="955563" y="2110866"/>
            <a:ext cx="728980" cy="119365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2" name="Line 130"/>
          <p:cNvSpPr>
            <a:spLocks noChangeShapeType="1"/>
          </p:cNvSpPr>
          <p:nvPr/>
        </p:nvSpPr>
        <p:spPr bwMode="auto">
          <a:xfrm flipV="1">
            <a:off x="1106184" y="3474182"/>
            <a:ext cx="585216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0830" y="4958029"/>
            <a:ext cx="3121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u</a:t>
            </a:r>
            <a:r>
              <a:rPr lang="en-US" sz="2000" b="0" dirty="0">
                <a:solidFill>
                  <a:schemeClr val="accent2"/>
                </a:solidFill>
              </a:rPr>
              <a:t> and </a:t>
            </a:r>
            <a:r>
              <a:rPr lang="en-US" sz="2000" dirty="0">
                <a:solidFill>
                  <a:schemeClr val="accent2"/>
                </a:solidFill>
              </a:rPr>
              <a:t>w</a:t>
            </a:r>
            <a:r>
              <a:rPr lang="en-US" sz="2000" b="0" dirty="0">
                <a:solidFill>
                  <a:schemeClr val="accent2"/>
                </a:solidFill>
              </a:rPr>
              <a:t> think that the path to </a:t>
            </a:r>
            <a:r>
              <a:rPr lang="en-US" sz="2000" dirty="0">
                <a:solidFill>
                  <a:schemeClr val="accent2"/>
                </a:solidFill>
              </a:rPr>
              <a:t>y</a:t>
            </a:r>
            <a:r>
              <a:rPr lang="en-US" sz="2000" b="0" dirty="0">
                <a:solidFill>
                  <a:schemeClr val="accent2"/>
                </a:solidFill>
              </a:rPr>
              <a:t> goes through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</a:p>
        </p:txBody>
      </p:sp>
      <p:grpSp>
        <p:nvGrpSpPr>
          <p:cNvPr id="48" name="Group 47"/>
          <p:cNvGrpSpPr>
            <a:grpSpLocks noChangeAspect="1"/>
          </p:cNvGrpSpPr>
          <p:nvPr/>
        </p:nvGrpSpPr>
        <p:grpSpPr>
          <a:xfrm>
            <a:off x="5080041" y="1905000"/>
            <a:ext cx="3225759" cy="2743200"/>
            <a:chOff x="381000" y="1981200"/>
            <a:chExt cx="4032199" cy="3429000"/>
          </a:xfrm>
        </p:grpSpPr>
        <p:grpSp>
          <p:nvGrpSpPr>
            <p:cNvPr id="49" name="Group 48"/>
            <p:cNvGrpSpPr>
              <a:grpSpLocks noChangeAspect="1"/>
            </p:cNvGrpSpPr>
            <p:nvPr/>
          </p:nvGrpSpPr>
          <p:grpSpPr>
            <a:xfrm>
              <a:off x="381000" y="1981200"/>
              <a:ext cx="4032199" cy="3429000"/>
              <a:chOff x="381000" y="1981200"/>
              <a:chExt cx="4029109" cy="3426372"/>
            </a:xfrm>
          </p:grpSpPr>
          <p:sp>
            <p:nvSpPr>
              <p:cNvPr id="55" name="Text Box 11"/>
              <p:cNvSpPr txBox="1">
                <a:spLocks noChangeArrowheads="1"/>
              </p:cNvSpPr>
              <p:nvPr/>
            </p:nvSpPr>
            <p:spPr bwMode="auto">
              <a:xfrm>
                <a:off x="1025587" y="3504032"/>
                <a:ext cx="311639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3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56" name="Text Box 12"/>
              <p:cNvSpPr txBox="1">
                <a:spLocks noChangeArrowheads="1"/>
              </p:cNvSpPr>
              <p:nvPr/>
            </p:nvSpPr>
            <p:spPr bwMode="auto">
              <a:xfrm>
                <a:off x="1757574" y="2934332"/>
                <a:ext cx="311638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4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57" name="Line 23"/>
              <p:cNvSpPr>
                <a:spLocks noChangeShapeType="1"/>
              </p:cNvSpPr>
              <p:nvPr/>
            </p:nvSpPr>
            <p:spPr bwMode="auto">
              <a:xfrm>
                <a:off x="1566243" y="2186366"/>
                <a:ext cx="0" cy="744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58" name="Line 37"/>
              <p:cNvSpPr>
                <a:spLocks noChangeShapeType="1"/>
              </p:cNvSpPr>
              <p:nvPr/>
            </p:nvSpPr>
            <p:spPr bwMode="auto">
              <a:xfrm>
                <a:off x="754534" y="3944533"/>
                <a:ext cx="9160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59" name="Line 38"/>
              <p:cNvSpPr>
                <a:spLocks noChangeShapeType="1"/>
              </p:cNvSpPr>
              <p:nvPr/>
            </p:nvSpPr>
            <p:spPr bwMode="auto">
              <a:xfrm>
                <a:off x="1772069" y="2344303"/>
                <a:ext cx="0" cy="14333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60" name="Line 39"/>
              <p:cNvSpPr>
                <a:spLocks noChangeShapeType="1"/>
              </p:cNvSpPr>
              <p:nvPr/>
            </p:nvSpPr>
            <p:spPr bwMode="auto">
              <a:xfrm flipH="1">
                <a:off x="574799" y="2253414"/>
                <a:ext cx="976950" cy="16091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61" name="Text Box 40"/>
              <p:cNvSpPr txBox="1">
                <a:spLocks noChangeArrowheads="1"/>
              </p:cNvSpPr>
              <p:nvPr/>
            </p:nvSpPr>
            <p:spPr bwMode="auto">
              <a:xfrm>
                <a:off x="803816" y="2770435"/>
                <a:ext cx="313088" cy="3695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5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62" name="Line 41"/>
              <p:cNvSpPr>
                <a:spLocks noChangeShapeType="1"/>
              </p:cNvSpPr>
              <p:nvPr/>
            </p:nvSpPr>
            <p:spPr bwMode="auto">
              <a:xfrm>
                <a:off x="1782215" y="4019031"/>
                <a:ext cx="13045" cy="1057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63" name="Text Box 42"/>
              <p:cNvSpPr txBox="1">
                <a:spLocks noChangeArrowheads="1"/>
              </p:cNvSpPr>
              <p:nvPr/>
            </p:nvSpPr>
            <p:spPr bwMode="auto">
              <a:xfrm>
                <a:off x="1792362" y="4318516"/>
                <a:ext cx="311638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3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64" name="Freeform 43"/>
              <p:cNvSpPr>
                <a:spLocks/>
              </p:cNvSpPr>
              <p:nvPr/>
            </p:nvSpPr>
            <p:spPr bwMode="auto">
              <a:xfrm>
                <a:off x="555955" y="4050321"/>
                <a:ext cx="1246553" cy="1190488"/>
              </a:xfrm>
              <a:custGeom>
                <a:avLst/>
                <a:gdLst>
                  <a:gd name="T0" fmla="*/ 0 w 857"/>
                  <a:gd name="T1" fmla="*/ 0 h 1152"/>
                  <a:gd name="T2" fmla="*/ 562 w 857"/>
                  <a:gd name="T3" fmla="*/ 1152 h 1152"/>
                  <a:gd name="T4" fmla="*/ 857 w 857"/>
                  <a:gd name="T5" fmla="*/ 772 h 1152"/>
                  <a:gd name="T6" fmla="*/ 0 60000 65536"/>
                  <a:gd name="T7" fmla="*/ 0 60000 65536"/>
                  <a:gd name="T8" fmla="*/ 0 60000 65536"/>
                  <a:gd name="T9" fmla="*/ 0 w 857"/>
                  <a:gd name="T10" fmla="*/ 0 h 1152"/>
                  <a:gd name="T11" fmla="*/ 857 w 857"/>
                  <a:gd name="T12" fmla="*/ 1152 h 1152"/>
                  <a:gd name="connsiteX0" fmla="*/ 0 w 10000"/>
                  <a:gd name="connsiteY0" fmla="*/ 0 h 6928"/>
                  <a:gd name="connsiteX1" fmla="*/ 3770 w 10000"/>
                  <a:gd name="connsiteY1" fmla="*/ 6300 h 6928"/>
                  <a:gd name="connsiteX2" fmla="*/ 10000 w 10000"/>
                  <a:gd name="connsiteY2" fmla="*/ 6701 h 6928"/>
                  <a:gd name="connsiteX0" fmla="*/ 0 w 10000"/>
                  <a:gd name="connsiteY0" fmla="*/ 0 h 9871"/>
                  <a:gd name="connsiteX1" fmla="*/ 1802 w 10000"/>
                  <a:gd name="connsiteY1" fmla="*/ 7634 h 9871"/>
                  <a:gd name="connsiteX2" fmla="*/ 10000 w 10000"/>
                  <a:gd name="connsiteY2" fmla="*/ 9672 h 9871"/>
                  <a:gd name="connsiteX0" fmla="*/ 0 w 10000"/>
                  <a:gd name="connsiteY0" fmla="*/ 0 h 10136"/>
                  <a:gd name="connsiteX1" fmla="*/ 1802 w 10000"/>
                  <a:gd name="connsiteY1" fmla="*/ 7734 h 10136"/>
                  <a:gd name="connsiteX2" fmla="*/ 10000 w 10000"/>
                  <a:gd name="connsiteY2" fmla="*/ 9798 h 10136"/>
                  <a:gd name="connsiteX0" fmla="*/ 0 w 10000"/>
                  <a:gd name="connsiteY0" fmla="*/ 0 h 10136"/>
                  <a:gd name="connsiteX1" fmla="*/ 1802 w 10000"/>
                  <a:gd name="connsiteY1" fmla="*/ 7734 h 10136"/>
                  <a:gd name="connsiteX2" fmla="*/ 10000 w 10000"/>
                  <a:gd name="connsiteY2" fmla="*/ 9798 h 10136"/>
                  <a:gd name="connsiteX0" fmla="*/ 32 w 10032"/>
                  <a:gd name="connsiteY0" fmla="*/ 0 h 10136"/>
                  <a:gd name="connsiteX1" fmla="*/ 1834 w 10032"/>
                  <a:gd name="connsiteY1" fmla="*/ 7734 h 10136"/>
                  <a:gd name="connsiteX2" fmla="*/ 10032 w 10032"/>
                  <a:gd name="connsiteY2" fmla="*/ 9798 h 10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32" h="10136">
                    <a:moveTo>
                      <a:pt x="32" y="0"/>
                    </a:moveTo>
                    <a:cubicBezTo>
                      <a:pt x="62" y="4573"/>
                      <a:pt x="-465" y="5047"/>
                      <a:pt x="1834" y="7734"/>
                    </a:cubicBezTo>
                    <a:cubicBezTo>
                      <a:pt x="4132" y="9414"/>
                      <a:pt x="9320" y="10802"/>
                      <a:pt x="10032" y="979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65" name="Text Box 44"/>
              <p:cNvSpPr txBox="1">
                <a:spLocks noChangeArrowheads="1"/>
              </p:cNvSpPr>
              <p:nvPr/>
            </p:nvSpPr>
            <p:spPr bwMode="auto">
              <a:xfrm>
                <a:off x="798018" y="4579261"/>
                <a:ext cx="313088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7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2433032" y="4559891"/>
                <a:ext cx="313088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4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68" name="Text Box 56"/>
              <p:cNvSpPr txBox="1">
                <a:spLocks noChangeArrowheads="1"/>
              </p:cNvSpPr>
              <p:nvPr/>
            </p:nvSpPr>
            <p:spPr bwMode="auto">
              <a:xfrm>
                <a:off x="2314175" y="3576145"/>
                <a:ext cx="313088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8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69" name="Line 65"/>
              <p:cNvSpPr>
                <a:spLocks noChangeShapeType="1"/>
              </p:cNvSpPr>
              <p:nvPr/>
            </p:nvSpPr>
            <p:spPr bwMode="auto">
              <a:xfrm>
                <a:off x="3511445" y="3934103"/>
                <a:ext cx="5102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70" name="Text Box 66"/>
              <p:cNvSpPr txBox="1">
                <a:spLocks noChangeArrowheads="1"/>
              </p:cNvSpPr>
              <p:nvPr/>
            </p:nvSpPr>
            <p:spPr bwMode="auto">
              <a:xfrm>
                <a:off x="3607111" y="3934103"/>
                <a:ext cx="313088" cy="3695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2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71" name="Line 67"/>
              <p:cNvSpPr>
                <a:spLocks noChangeShapeType="1"/>
              </p:cNvSpPr>
              <p:nvPr/>
            </p:nvSpPr>
            <p:spPr bwMode="auto">
              <a:xfrm>
                <a:off x="1863386" y="2207225"/>
                <a:ext cx="1398748" cy="16955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72" name="Text Box 68"/>
              <p:cNvSpPr txBox="1">
                <a:spLocks noChangeArrowheads="1"/>
              </p:cNvSpPr>
              <p:nvPr/>
            </p:nvSpPr>
            <p:spPr bwMode="auto">
              <a:xfrm>
                <a:off x="2542515" y="2733184"/>
                <a:ext cx="313087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7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73" name="Freeform 69"/>
              <p:cNvSpPr>
                <a:spLocks/>
              </p:cNvSpPr>
              <p:nvPr/>
            </p:nvSpPr>
            <p:spPr bwMode="auto">
              <a:xfrm>
                <a:off x="1843094" y="2186366"/>
                <a:ext cx="40585" cy="20860"/>
              </a:xfrm>
              <a:custGeom>
                <a:avLst/>
                <a:gdLst>
                  <a:gd name="T0" fmla="*/ 0 w 28"/>
                  <a:gd name="T1" fmla="*/ 14 h 14"/>
                  <a:gd name="T2" fmla="*/ 28 w 28"/>
                  <a:gd name="T3" fmla="*/ 0 h 14"/>
                  <a:gd name="T4" fmla="*/ 0 w 28"/>
                  <a:gd name="T5" fmla="*/ 14 h 14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14"/>
                  <a:gd name="T11" fmla="*/ 28 w 28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14">
                    <a:moveTo>
                      <a:pt x="0" y="14"/>
                    </a:moveTo>
                    <a:cubicBezTo>
                      <a:pt x="9" y="9"/>
                      <a:pt x="28" y="0"/>
                      <a:pt x="28" y="0"/>
                    </a:cubicBezTo>
                    <a:cubicBezTo>
                      <a:pt x="28" y="0"/>
                      <a:pt x="9" y="9"/>
                      <a:pt x="0" y="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74" name="Freeform 70"/>
              <p:cNvSpPr>
                <a:spLocks/>
              </p:cNvSpPr>
              <p:nvPr/>
            </p:nvSpPr>
            <p:spPr bwMode="auto">
              <a:xfrm>
                <a:off x="1863386" y="2220635"/>
                <a:ext cx="2362653" cy="1567451"/>
              </a:xfrm>
              <a:custGeom>
                <a:avLst/>
                <a:gdLst>
                  <a:gd name="T0" fmla="*/ 0 w 1510"/>
                  <a:gd name="T1" fmla="*/ 5 h 1052"/>
                  <a:gd name="T2" fmla="*/ 1102 w 1510"/>
                  <a:gd name="T3" fmla="*/ 174 h 1052"/>
                  <a:gd name="T4" fmla="*/ 1510 w 1510"/>
                  <a:gd name="T5" fmla="*/ 1052 h 1052"/>
                  <a:gd name="T6" fmla="*/ 0 60000 65536"/>
                  <a:gd name="T7" fmla="*/ 0 60000 65536"/>
                  <a:gd name="T8" fmla="*/ 0 60000 65536"/>
                  <a:gd name="T9" fmla="*/ 0 w 1510"/>
                  <a:gd name="T10" fmla="*/ 0 h 1052"/>
                  <a:gd name="T11" fmla="*/ 1510 w 1510"/>
                  <a:gd name="T12" fmla="*/ 1052 h 10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10" h="1052">
                    <a:moveTo>
                      <a:pt x="0" y="5"/>
                    </a:moveTo>
                    <a:cubicBezTo>
                      <a:pt x="184" y="33"/>
                      <a:pt x="851" y="0"/>
                      <a:pt x="1102" y="174"/>
                    </a:cubicBezTo>
                    <a:cubicBezTo>
                      <a:pt x="1353" y="348"/>
                      <a:pt x="1425" y="869"/>
                      <a:pt x="1510" y="105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75" name="Text Box 71"/>
              <p:cNvSpPr txBox="1">
                <a:spLocks noChangeArrowheads="1"/>
              </p:cNvSpPr>
              <p:nvPr/>
            </p:nvSpPr>
            <p:spPr bwMode="auto">
              <a:xfrm>
                <a:off x="3569424" y="2171554"/>
                <a:ext cx="311639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9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76" name="Oval 75"/>
              <p:cNvSpPr>
                <a:spLocks noChangeAspect="1"/>
              </p:cNvSpPr>
              <p:nvPr/>
            </p:nvSpPr>
            <p:spPr bwMode="auto">
              <a:xfrm>
                <a:off x="1552903" y="1981200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charset="0"/>
                  </a:rPr>
                  <a:t>x</a:t>
                </a:r>
              </a:p>
            </p:txBody>
          </p:sp>
          <p:sp>
            <p:nvSpPr>
              <p:cNvPr id="77" name="Oval 76"/>
              <p:cNvSpPr>
                <a:spLocks noChangeAspect="1"/>
              </p:cNvSpPr>
              <p:nvPr/>
            </p:nvSpPr>
            <p:spPr bwMode="auto">
              <a:xfrm>
                <a:off x="381000" y="3720662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Arial" charset="0"/>
                  </a:rPr>
                  <a:t>u</a:t>
                </a:r>
              </a:p>
            </p:txBody>
          </p:sp>
          <p:sp>
            <p:nvSpPr>
              <p:cNvPr id="78" name="Oval 77"/>
              <p:cNvSpPr>
                <a:spLocks noChangeAspect="1"/>
              </p:cNvSpPr>
              <p:nvPr/>
            </p:nvSpPr>
            <p:spPr bwMode="auto">
              <a:xfrm>
                <a:off x="3952909" y="3720662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charset="0"/>
                  </a:rPr>
                  <a:t>z</a:t>
                </a:r>
              </a:p>
            </p:txBody>
          </p:sp>
          <p:sp>
            <p:nvSpPr>
              <p:cNvPr id="79" name="Oval 78"/>
              <p:cNvSpPr>
                <a:spLocks noChangeAspect="1"/>
              </p:cNvSpPr>
              <p:nvPr/>
            </p:nvSpPr>
            <p:spPr bwMode="auto">
              <a:xfrm>
                <a:off x="1568668" y="4950372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charset="0"/>
                  </a:rPr>
                  <a:t>v</a:t>
                </a:r>
              </a:p>
            </p:txBody>
          </p:sp>
          <p:sp>
            <p:nvSpPr>
              <p:cNvPr id="80" name="Oval 79"/>
              <p:cNvSpPr>
                <a:spLocks noChangeAspect="1"/>
              </p:cNvSpPr>
              <p:nvPr/>
            </p:nvSpPr>
            <p:spPr bwMode="auto">
              <a:xfrm>
                <a:off x="3086428" y="3720662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charset="0"/>
                  </a:rPr>
                  <a:t>y</a:t>
                </a:r>
              </a:p>
            </p:txBody>
          </p:sp>
          <p:sp>
            <p:nvSpPr>
              <p:cNvPr id="81" name="Oval 80"/>
              <p:cNvSpPr>
                <a:spLocks noChangeAspect="1"/>
              </p:cNvSpPr>
              <p:nvPr/>
            </p:nvSpPr>
            <p:spPr bwMode="auto">
              <a:xfrm>
                <a:off x="1568668" y="3720662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charset="0"/>
                  </a:rPr>
                  <a:t>w</a:t>
                </a:r>
              </a:p>
            </p:txBody>
          </p:sp>
          <p:sp>
            <p:nvSpPr>
              <p:cNvPr id="82" name="Line 37"/>
              <p:cNvSpPr>
                <a:spLocks noChangeShapeType="1"/>
              </p:cNvSpPr>
              <p:nvPr/>
            </p:nvSpPr>
            <p:spPr bwMode="auto">
              <a:xfrm>
                <a:off x="2010102" y="3944533"/>
                <a:ext cx="10972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50" name="Line 126"/>
            <p:cNvSpPr>
              <a:spLocks noChangeShapeType="1"/>
            </p:cNvSpPr>
            <p:nvPr/>
          </p:nvSpPr>
          <p:spPr bwMode="auto">
            <a:xfrm flipV="1">
              <a:off x="2011351" y="3944183"/>
              <a:ext cx="1098121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52" name="Line 128"/>
            <p:cNvSpPr>
              <a:spLocks noChangeShapeType="1"/>
            </p:cNvSpPr>
            <p:nvPr/>
          </p:nvSpPr>
          <p:spPr bwMode="auto">
            <a:xfrm>
              <a:off x="1781018" y="4150389"/>
              <a:ext cx="9525" cy="822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stealth" w="lg" len="lg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83" name="Line 127"/>
          <p:cNvSpPr>
            <a:spLocks noChangeShapeType="1"/>
          </p:cNvSpPr>
          <p:nvPr/>
        </p:nvSpPr>
        <p:spPr bwMode="auto">
          <a:xfrm flipV="1">
            <a:off x="2002086" y="3553022"/>
            <a:ext cx="933319" cy="798786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080041" y="4958029"/>
            <a:ext cx="3121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</a:rPr>
              <a:t>v</a:t>
            </a:r>
            <a:r>
              <a:rPr lang="en-US" sz="2000" b="0">
                <a:solidFill>
                  <a:schemeClr val="accent2"/>
                </a:solidFill>
              </a:rPr>
              <a:t> thinks </a:t>
            </a:r>
            <a:r>
              <a:rPr lang="en-US" sz="2000" b="0" dirty="0">
                <a:solidFill>
                  <a:schemeClr val="accent2"/>
                </a:solidFill>
              </a:rPr>
              <a:t>that the path to </a:t>
            </a:r>
            <a:r>
              <a:rPr lang="en-US" sz="2000" dirty="0">
                <a:solidFill>
                  <a:schemeClr val="accent2"/>
                </a:solidFill>
              </a:rPr>
              <a:t>y</a:t>
            </a:r>
            <a:r>
              <a:rPr lang="en-US" sz="2000" b="0" dirty="0">
                <a:solidFill>
                  <a:schemeClr val="accent2"/>
                </a:solidFill>
              </a:rPr>
              <a:t> goes </a:t>
            </a:r>
            <a:r>
              <a:rPr lang="en-US" sz="2000" b="0">
                <a:solidFill>
                  <a:schemeClr val="accent2"/>
                </a:solidFill>
              </a:rPr>
              <a:t>through </a:t>
            </a:r>
            <a:r>
              <a:rPr lang="en-US" sz="2000">
                <a:solidFill>
                  <a:schemeClr val="accent2"/>
                </a:solidFill>
              </a:rPr>
              <a:t>w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4E49B-B5A4-5649-A95C-C631C52DD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5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83" grpId="0" animBg="1"/>
      <p:bldP spid="8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during convergence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Looping packets</a:t>
            </a:r>
          </a:p>
          <a:p>
            <a:r>
              <a:rPr lang="en-US" dirty="0">
                <a:solidFill>
                  <a:srgbClr val="0000FF"/>
                </a:solidFill>
              </a:rPr>
              <a:t>Lost packets</a:t>
            </a:r>
            <a:r>
              <a:rPr lang="en-US" dirty="0"/>
              <a:t> due to black holes</a:t>
            </a:r>
          </a:p>
          <a:p>
            <a:r>
              <a:rPr lang="en-US" dirty="0">
                <a:solidFill>
                  <a:srgbClr val="0000FF"/>
                </a:solidFill>
              </a:rPr>
              <a:t>Out-of-order packets</a:t>
            </a:r>
            <a:r>
              <a:rPr lang="en-US" dirty="0"/>
              <a:t> reaching the destination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6BEC3-D712-B347-B472-4E53A4291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4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Link-state routing</a:t>
            </a:r>
          </a:p>
        </p:txBody>
      </p:sp>
      <p:sp>
        <p:nvSpPr>
          <p:cNvPr id="1194" name="Shape 11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Scalability?</a:t>
            </a:r>
          </a:p>
          <a:p>
            <a:pPr lvl="1"/>
            <a:r>
              <a:rPr lang="en-US" dirty="0"/>
              <a:t>O(NE) messages </a:t>
            </a:r>
          </a:p>
          <a:p>
            <a:pPr lvl="1"/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 computation time </a:t>
            </a:r>
          </a:p>
          <a:p>
            <a:pPr lvl="1"/>
            <a:r>
              <a:rPr lang="en-US" dirty="0"/>
              <a:t>O(Network diameter) convergence delay</a:t>
            </a:r>
          </a:p>
          <a:p>
            <a:pPr lvl="1"/>
            <a:r>
              <a:rPr lang="en-US" dirty="0"/>
              <a:t>O(N) entries in forwarding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E1662-F4D3-7246-B69B-3593ED22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54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Link-state routing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OSPF</a:t>
            </a:r>
            <a:r>
              <a:rPr lang="en-US" dirty="0"/>
              <a:t>: Open Shortest Path First</a:t>
            </a:r>
          </a:p>
          <a:p>
            <a:r>
              <a:rPr lang="en-US" dirty="0">
                <a:solidFill>
                  <a:srgbClr val="0000FF"/>
                </a:solidFill>
              </a:rPr>
              <a:t>IS-IS</a:t>
            </a:r>
            <a:r>
              <a:rPr lang="en-US" dirty="0"/>
              <a:t>: Intermediate System to Intermediate System</a:t>
            </a:r>
          </a:p>
          <a:p>
            <a:pPr lvl="1"/>
            <a:r>
              <a:rPr lang="en-US" dirty="0"/>
              <a:t>Similar to OSPF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ECAAD-AD35-2F4B-B3A0-FE59780E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56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OSPF: </a:t>
            </a:r>
            <a:br>
              <a:rPr lang="en-US" dirty="0"/>
            </a:br>
            <a:r>
              <a:rPr lang="en-US" dirty="0"/>
              <a:t>Open Shortest-Path First</a:t>
            </a:r>
          </a:p>
        </p:txBody>
      </p:sp>
      <p:sp>
        <p:nvSpPr>
          <p:cNvPr id="15770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>
                <a:solidFill>
                  <a:srgbClr val="0000FF"/>
                </a:solidFill>
              </a:rPr>
              <a:t>Open</a:t>
            </a:r>
            <a:r>
              <a:rPr lang="en-US" altLang="ja-JP" dirty="0"/>
              <a:t>: publicly available</a:t>
            </a:r>
          </a:p>
          <a:p>
            <a:r>
              <a:rPr lang="en-US" dirty="0"/>
              <a:t>Uses link-state algorithm </a:t>
            </a:r>
          </a:p>
          <a:p>
            <a:pPr lvl="1"/>
            <a:r>
              <a:rPr lang="en-US" dirty="0"/>
              <a:t>Link-state packet dissemination</a:t>
            </a:r>
          </a:p>
          <a:p>
            <a:pPr lvl="1"/>
            <a:r>
              <a:rPr lang="en-US" dirty="0"/>
              <a:t>Topology map at each node</a:t>
            </a:r>
          </a:p>
          <a:p>
            <a:pPr lvl="1"/>
            <a:r>
              <a:rPr lang="en-US" dirty="0"/>
              <a:t>Route computation using Dijkstra’</a:t>
            </a:r>
            <a:r>
              <a:rPr lang="en-US" altLang="ja-JP" dirty="0"/>
              <a:t>s algorithm</a:t>
            </a:r>
          </a:p>
          <a:p>
            <a:r>
              <a:rPr lang="en-US" dirty="0"/>
              <a:t>Router floods OSPF link-state advertisements to all other routers in entire AS</a:t>
            </a:r>
          </a:p>
          <a:p>
            <a:pPr lvl="1"/>
            <a:r>
              <a:rPr lang="en-US" dirty="0"/>
              <a:t>Carried in OSPF messages </a:t>
            </a:r>
            <a:r>
              <a:rPr lang="en-US" dirty="0">
                <a:solidFill>
                  <a:srgbClr val="0000FF"/>
                </a:solidFill>
              </a:rPr>
              <a:t>directly over IP</a:t>
            </a:r>
            <a:r>
              <a:rPr lang="en-US" dirty="0"/>
              <a:t> (rather than TCP or UDP)</a:t>
            </a:r>
          </a:p>
          <a:p>
            <a:pPr lvl="2"/>
            <a:r>
              <a:rPr lang="en-US" dirty="0"/>
              <a:t>Requires reliable transmission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186CF5-551F-E14F-90E5-03A22064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Distance-vector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Link-state routing protocol</a:t>
            </a:r>
          </a:p>
          <a:p>
            <a:pPr lvl="1"/>
            <a:r>
              <a:rPr lang="en-US" dirty="0"/>
              <a:t>Each node </a:t>
            </a:r>
            <a:r>
              <a:rPr lang="en-US" dirty="0">
                <a:solidFill>
                  <a:srgbClr val="0000FF"/>
                </a:solidFill>
              </a:rPr>
              <a:t>broadcasts</a:t>
            </a:r>
            <a:r>
              <a:rPr lang="en-US" dirty="0"/>
              <a:t> its </a:t>
            </a:r>
            <a:r>
              <a:rPr lang="en-US" dirty="0">
                <a:solidFill>
                  <a:srgbClr val="0000FF"/>
                </a:solidFill>
              </a:rPr>
              <a:t>local</a:t>
            </a:r>
            <a:r>
              <a:rPr lang="en-US" dirty="0"/>
              <a:t> information</a:t>
            </a:r>
          </a:p>
          <a:p>
            <a:endParaRPr lang="en-US" dirty="0"/>
          </a:p>
          <a:p>
            <a:r>
              <a:rPr lang="en-US" dirty="0"/>
              <a:t>Distance-vector routing protocol</a:t>
            </a:r>
          </a:p>
          <a:p>
            <a:pPr lvl="1"/>
            <a:r>
              <a:rPr lang="en-US" dirty="0"/>
              <a:t>The opposite (sort of)</a:t>
            </a:r>
          </a:p>
          <a:p>
            <a:pPr lvl="1"/>
            <a:r>
              <a:rPr lang="en-US" dirty="0"/>
              <a:t>Each node </a:t>
            </a:r>
            <a:r>
              <a:rPr lang="en-US" dirty="0">
                <a:solidFill>
                  <a:srgbClr val="0000FF"/>
                </a:solidFill>
              </a:rPr>
              <a:t>tells its neighbors</a:t>
            </a:r>
            <a:r>
              <a:rPr lang="en-US" dirty="0"/>
              <a:t> about its </a:t>
            </a:r>
            <a:r>
              <a:rPr lang="en-US" dirty="0">
                <a:solidFill>
                  <a:srgbClr val="0000FF"/>
                </a:solidFill>
              </a:rPr>
              <a:t>global</a:t>
            </a:r>
            <a:r>
              <a:rPr lang="en-US" dirty="0"/>
              <a:t> view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BBA3A-9F6E-1248-8489-0F2E995F2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3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x</a:t>
            </a:r>
            <a:r>
              <a:rPr lang="en-US" dirty="0"/>
              <a:t>(y) := cost of least-cost path from x to y</a:t>
            </a:r>
          </a:p>
          <a:p>
            <a:r>
              <a:rPr lang="en-US" dirty="0"/>
              <a:t>Then</a:t>
            </a:r>
          </a:p>
          <a:p>
            <a:pPr lvl="1"/>
            <a:r>
              <a:rPr lang="hr-HR" dirty="0"/>
              <a:t>d</a:t>
            </a:r>
            <a:r>
              <a:rPr lang="hr-HR" baseline="-25000" dirty="0"/>
              <a:t>x</a:t>
            </a:r>
            <a:r>
              <a:rPr lang="hr-HR" dirty="0"/>
              <a:t>(y) = min</a:t>
            </a:r>
            <a:r>
              <a:rPr lang="hr-HR" baseline="-25000" dirty="0"/>
              <a:t>v</a:t>
            </a:r>
            <a:r>
              <a:rPr lang="hr-HR" dirty="0"/>
              <a:t> {c(x, v) + d</a:t>
            </a:r>
            <a:r>
              <a:rPr lang="hr-HR" baseline="-25000" dirty="0"/>
              <a:t>v</a:t>
            </a:r>
            <a:r>
              <a:rPr lang="hr-HR" dirty="0"/>
              <a:t>(y) }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017838" y="4364335"/>
            <a:ext cx="26148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0" dirty="0">
                <a:solidFill>
                  <a:schemeClr val="accent2"/>
                </a:solidFill>
                <a:ea typeface="Arial" charset="0"/>
                <a:cs typeface="Arial" charset="0"/>
              </a:rPr>
              <a:t>cost to neighbor v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116138" y="4826000"/>
            <a:ext cx="48574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min</a:t>
            </a:r>
            <a:r>
              <a:rPr lang="en-US" b="0" dirty="0">
                <a:solidFill>
                  <a:schemeClr val="accent2"/>
                </a:solidFill>
                <a:ea typeface="Arial" charset="0"/>
                <a:cs typeface="Arial" charset="0"/>
              </a:rPr>
              <a:t> taken over all neighbors v of x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974062" y="3925307"/>
            <a:ext cx="51299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0">
                <a:solidFill>
                  <a:schemeClr val="accent2"/>
                </a:solidFill>
                <a:ea typeface="Arial" charset="0"/>
                <a:cs typeface="Arial" charset="0"/>
              </a:rPr>
              <a:t>cost from neighbor v to destination y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2568227" y="3505200"/>
            <a:ext cx="0" cy="12827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ea typeface="Arial" charset="0"/>
              <a:cs typeface="Arial" charset="0"/>
            </a:endParaRPr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3352800" y="3505200"/>
            <a:ext cx="0" cy="8921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4572000" y="3505200"/>
            <a:ext cx="0" cy="4349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40F295-7334-A340-A35A-78911904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1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Bellman-Ford example </a:t>
            </a:r>
          </a:p>
        </p:txBody>
      </p:sp>
      <p:sp>
        <p:nvSpPr>
          <p:cNvPr id="133126" name="Text Box 73"/>
          <p:cNvSpPr txBox="1">
            <a:spLocks noChangeArrowheads="1"/>
          </p:cNvSpPr>
          <p:nvPr/>
        </p:nvSpPr>
        <p:spPr bwMode="auto">
          <a:xfrm>
            <a:off x="3765550" y="1770063"/>
            <a:ext cx="40318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</a:rPr>
              <a:t>d</a:t>
            </a:r>
            <a:r>
              <a:rPr lang="en-US" b="0" baseline="-25000" dirty="0">
                <a:solidFill>
                  <a:srgbClr val="0000FF"/>
                </a:solidFill>
              </a:rPr>
              <a:t>x</a:t>
            </a:r>
            <a:r>
              <a:rPr lang="en-US" b="0" dirty="0">
                <a:solidFill>
                  <a:srgbClr val="0000FF"/>
                </a:solidFill>
              </a:rPr>
              <a:t>(z) = 9, </a:t>
            </a:r>
            <a:r>
              <a:rPr lang="en-US" b="0" dirty="0" err="1">
                <a:solidFill>
                  <a:srgbClr val="0000FF"/>
                </a:solidFill>
              </a:rPr>
              <a:t>d</a:t>
            </a:r>
            <a:r>
              <a:rPr lang="en-US" b="0" baseline="-25000" dirty="0" err="1">
                <a:solidFill>
                  <a:srgbClr val="0000FF"/>
                </a:solidFill>
              </a:rPr>
              <a:t>w</a:t>
            </a:r>
            <a:r>
              <a:rPr lang="en-US" b="0" dirty="0">
                <a:solidFill>
                  <a:srgbClr val="0000FF"/>
                </a:solidFill>
              </a:rPr>
              <a:t>(z) = 9, d</a:t>
            </a:r>
            <a:r>
              <a:rPr lang="en-US" b="0" baseline="-25000" dirty="0">
                <a:solidFill>
                  <a:srgbClr val="0000FF"/>
                </a:solidFill>
              </a:rPr>
              <a:t>v</a:t>
            </a:r>
            <a:r>
              <a:rPr lang="en-US" b="0" dirty="0">
                <a:solidFill>
                  <a:srgbClr val="0000FF"/>
                </a:solidFill>
              </a:rPr>
              <a:t>(z) = 6</a:t>
            </a:r>
          </a:p>
        </p:txBody>
      </p:sp>
      <p:sp>
        <p:nvSpPr>
          <p:cNvPr id="133127" name="Text Box 74"/>
          <p:cNvSpPr txBox="1">
            <a:spLocks noChangeArrowheads="1"/>
          </p:cNvSpPr>
          <p:nvPr/>
        </p:nvSpPr>
        <p:spPr bwMode="auto">
          <a:xfrm>
            <a:off x="4275138" y="2928938"/>
            <a:ext cx="328519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1379538" indent="-1379538"/>
            <a:r>
              <a:rPr lang="en-US" sz="2000" b="0" dirty="0">
                <a:solidFill>
                  <a:schemeClr val="accent2"/>
                </a:solidFill>
              </a:rPr>
              <a:t>d</a:t>
            </a:r>
            <a:r>
              <a:rPr lang="en-US" sz="2000" b="0" baseline="-25000" dirty="0">
                <a:solidFill>
                  <a:schemeClr val="accent2"/>
                </a:solidFill>
              </a:rPr>
              <a:t>u</a:t>
            </a:r>
            <a:r>
              <a:rPr lang="en-US" sz="2000" b="0" dirty="0">
                <a:solidFill>
                  <a:schemeClr val="accent2"/>
                </a:solidFill>
              </a:rPr>
              <a:t>(z) = min {c(</a:t>
            </a:r>
            <a:r>
              <a:rPr lang="en-US" sz="2000" b="0" dirty="0" err="1">
                <a:solidFill>
                  <a:schemeClr val="accent2"/>
                </a:solidFill>
              </a:rPr>
              <a:t>u,x</a:t>
            </a:r>
            <a:r>
              <a:rPr lang="en-US" sz="2000" b="0" dirty="0">
                <a:solidFill>
                  <a:schemeClr val="accent2"/>
                </a:solidFill>
              </a:rPr>
              <a:t>) + d</a:t>
            </a:r>
            <a:r>
              <a:rPr lang="en-US" sz="2000" b="0" baseline="-25000" dirty="0">
                <a:solidFill>
                  <a:schemeClr val="accent2"/>
                </a:solidFill>
              </a:rPr>
              <a:t>x</a:t>
            </a:r>
            <a:r>
              <a:rPr lang="en-US" sz="2000" b="0" dirty="0">
                <a:solidFill>
                  <a:schemeClr val="accent2"/>
                </a:solidFill>
              </a:rPr>
              <a:t>(z),</a:t>
            </a:r>
          </a:p>
          <a:p>
            <a:pPr marL="1435100" indent="-55563"/>
            <a:r>
              <a:rPr lang="en-US" sz="2000" b="0" dirty="0">
                <a:solidFill>
                  <a:schemeClr val="accent2"/>
                </a:solidFill>
              </a:rPr>
              <a:t>c(</a:t>
            </a:r>
            <a:r>
              <a:rPr lang="en-US" sz="2000" b="0" dirty="0" err="1">
                <a:solidFill>
                  <a:schemeClr val="accent2"/>
                </a:solidFill>
              </a:rPr>
              <a:t>u,w</a:t>
            </a:r>
            <a:r>
              <a:rPr lang="en-US" sz="2000" b="0" dirty="0">
                <a:solidFill>
                  <a:schemeClr val="accent2"/>
                </a:solidFill>
              </a:rPr>
              <a:t>) + </a:t>
            </a:r>
            <a:r>
              <a:rPr lang="en-US" sz="2000" b="0" dirty="0" err="1">
                <a:solidFill>
                  <a:schemeClr val="accent2"/>
                </a:solidFill>
              </a:rPr>
              <a:t>d</a:t>
            </a:r>
            <a:r>
              <a:rPr lang="en-US" sz="2000" b="0" baseline="-25000" dirty="0" err="1">
                <a:solidFill>
                  <a:schemeClr val="accent2"/>
                </a:solidFill>
              </a:rPr>
              <a:t>w</a:t>
            </a:r>
            <a:r>
              <a:rPr lang="en-US" sz="2000" b="0" dirty="0">
                <a:solidFill>
                  <a:schemeClr val="accent2"/>
                </a:solidFill>
              </a:rPr>
              <a:t>(z),</a:t>
            </a:r>
          </a:p>
          <a:p>
            <a:pPr indent="1379538"/>
            <a:r>
              <a:rPr lang="en-US" sz="2000" b="0" dirty="0">
                <a:solidFill>
                  <a:schemeClr val="accent2"/>
                </a:solidFill>
              </a:rPr>
              <a:t>c(</a:t>
            </a:r>
            <a:r>
              <a:rPr lang="en-US" sz="2000" b="0" dirty="0" err="1">
                <a:solidFill>
                  <a:schemeClr val="accent2"/>
                </a:solidFill>
              </a:rPr>
              <a:t>u,v</a:t>
            </a:r>
            <a:r>
              <a:rPr lang="en-US" sz="2000" b="0" dirty="0">
                <a:solidFill>
                  <a:schemeClr val="accent2"/>
                </a:solidFill>
              </a:rPr>
              <a:t>) + d</a:t>
            </a:r>
            <a:r>
              <a:rPr lang="en-US" sz="2000" b="0" baseline="-25000" dirty="0">
                <a:solidFill>
                  <a:schemeClr val="accent2"/>
                </a:solidFill>
              </a:rPr>
              <a:t>v</a:t>
            </a:r>
            <a:r>
              <a:rPr lang="en-US" sz="2000" b="0" dirty="0">
                <a:solidFill>
                  <a:schemeClr val="accent2"/>
                </a:solidFill>
              </a:rPr>
              <a:t>(z) }</a:t>
            </a:r>
          </a:p>
          <a:p>
            <a:r>
              <a:rPr lang="en-US" sz="2000" b="0" dirty="0">
                <a:solidFill>
                  <a:schemeClr val="accent2"/>
                </a:solidFill>
              </a:rPr>
              <a:t>         = min {5 + 9,</a:t>
            </a:r>
          </a:p>
          <a:p>
            <a:r>
              <a:rPr lang="en-US" sz="2000" b="0" dirty="0">
                <a:solidFill>
                  <a:schemeClr val="accent2"/>
                </a:solidFill>
              </a:rPr>
              <a:t>                    </a:t>
            </a:r>
            <a:r>
              <a:rPr lang="en-US" sz="2000" b="0" dirty="0">
                <a:solidFill>
                  <a:srgbClr val="0000FF"/>
                </a:solidFill>
              </a:rPr>
              <a:t>3 + 9,</a:t>
            </a:r>
          </a:p>
          <a:p>
            <a:r>
              <a:rPr lang="en-US" sz="2000" b="0" dirty="0">
                <a:solidFill>
                  <a:schemeClr val="accent2"/>
                </a:solidFill>
              </a:rPr>
              <a:t>                    7 + 6}  = </a:t>
            </a:r>
            <a:r>
              <a:rPr lang="en-US" sz="2000" b="0" dirty="0">
                <a:solidFill>
                  <a:srgbClr val="0000FF"/>
                </a:solidFill>
              </a:rPr>
              <a:t>12</a:t>
            </a:r>
          </a:p>
        </p:txBody>
      </p:sp>
      <p:sp>
        <p:nvSpPr>
          <p:cNvPr id="133128" name="Text Box 75"/>
          <p:cNvSpPr txBox="1">
            <a:spLocks noChangeArrowheads="1"/>
          </p:cNvSpPr>
          <p:nvPr/>
        </p:nvSpPr>
        <p:spPr bwMode="auto">
          <a:xfrm>
            <a:off x="596643" y="5061409"/>
            <a:ext cx="7785357" cy="72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b="0" dirty="0">
                <a:solidFill>
                  <a:srgbClr val="0000FF"/>
                </a:solidFill>
                <a:ea typeface="Arial" charset="0"/>
                <a:cs typeface="Arial" charset="0"/>
              </a:rPr>
              <a:t>Neighbor achieving the minimum (w) is next hop in shortest path, used in forwarding table</a:t>
            </a:r>
          </a:p>
        </p:txBody>
      </p:sp>
      <p:sp>
        <p:nvSpPr>
          <p:cNvPr id="133129" name="Text Box 76"/>
          <p:cNvSpPr txBox="1">
            <a:spLocks noChangeArrowheads="1"/>
          </p:cNvSpPr>
          <p:nvPr/>
        </p:nvSpPr>
        <p:spPr bwMode="auto">
          <a:xfrm>
            <a:off x="3765550" y="2466975"/>
            <a:ext cx="2725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0">
                <a:solidFill>
                  <a:schemeClr val="accent2"/>
                </a:solidFill>
              </a:rPr>
              <a:t>B-F equation says:</a:t>
            </a:r>
          </a:p>
        </p:txBody>
      </p: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736641" y="1905000"/>
            <a:ext cx="3225759" cy="2743200"/>
            <a:chOff x="381000" y="1981200"/>
            <a:chExt cx="4029109" cy="3426372"/>
          </a:xfrm>
        </p:grpSpPr>
        <p:sp>
          <p:nvSpPr>
            <p:cNvPr id="84" name="Text Box 11"/>
            <p:cNvSpPr txBox="1">
              <a:spLocks noChangeArrowheads="1"/>
            </p:cNvSpPr>
            <p:nvPr/>
          </p:nvSpPr>
          <p:spPr bwMode="auto">
            <a:xfrm>
              <a:off x="1025587" y="3504032"/>
              <a:ext cx="311639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85" name="Text Box 12"/>
            <p:cNvSpPr txBox="1">
              <a:spLocks noChangeArrowheads="1"/>
            </p:cNvSpPr>
            <p:nvPr/>
          </p:nvSpPr>
          <p:spPr bwMode="auto">
            <a:xfrm>
              <a:off x="1757574" y="2934332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86" name="Line 23"/>
            <p:cNvSpPr>
              <a:spLocks noChangeShapeType="1"/>
            </p:cNvSpPr>
            <p:nvPr/>
          </p:nvSpPr>
          <p:spPr bwMode="auto">
            <a:xfrm>
              <a:off x="1566243" y="2186366"/>
              <a:ext cx="0" cy="744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7" name="Line 37"/>
            <p:cNvSpPr>
              <a:spLocks noChangeShapeType="1"/>
            </p:cNvSpPr>
            <p:nvPr/>
          </p:nvSpPr>
          <p:spPr bwMode="auto">
            <a:xfrm>
              <a:off x="754534" y="3944533"/>
              <a:ext cx="9160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8" name="Line 38"/>
            <p:cNvSpPr>
              <a:spLocks noChangeShapeType="1"/>
            </p:cNvSpPr>
            <p:nvPr/>
          </p:nvSpPr>
          <p:spPr bwMode="auto">
            <a:xfrm>
              <a:off x="1772069" y="2344303"/>
              <a:ext cx="0" cy="14333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9" name="Line 39"/>
            <p:cNvSpPr>
              <a:spLocks noChangeShapeType="1"/>
            </p:cNvSpPr>
            <p:nvPr/>
          </p:nvSpPr>
          <p:spPr bwMode="auto">
            <a:xfrm flipH="1">
              <a:off x="574799" y="2253414"/>
              <a:ext cx="976950" cy="1609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90" name="Text Box 40"/>
            <p:cNvSpPr txBox="1">
              <a:spLocks noChangeArrowheads="1"/>
            </p:cNvSpPr>
            <p:nvPr/>
          </p:nvSpPr>
          <p:spPr bwMode="auto">
            <a:xfrm>
              <a:off x="803816" y="2770435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5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1" name="Line 41"/>
            <p:cNvSpPr>
              <a:spLocks noChangeShapeType="1"/>
            </p:cNvSpPr>
            <p:nvPr/>
          </p:nvSpPr>
          <p:spPr bwMode="auto">
            <a:xfrm>
              <a:off x="1782215" y="4019031"/>
              <a:ext cx="13045" cy="1057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92" name="Text Box 42"/>
            <p:cNvSpPr txBox="1">
              <a:spLocks noChangeArrowheads="1"/>
            </p:cNvSpPr>
            <p:nvPr/>
          </p:nvSpPr>
          <p:spPr bwMode="auto">
            <a:xfrm>
              <a:off x="1792362" y="4318516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3" name="Freeform 43"/>
            <p:cNvSpPr>
              <a:spLocks/>
            </p:cNvSpPr>
            <p:nvPr/>
          </p:nvSpPr>
          <p:spPr bwMode="auto">
            <a:xfrm>
              <a:off x="555955" y="4050321"/>
              <a:ext cx="1246553" cy="1190488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94" name="Text Box 44"/>
            <p:cNvSpPr txBox="1">
              <a:spLocks noChangeArrowheads="1"/>
            </p:cNvSpPr>
            <p:nvPr/>
          </p:nvSpPr>
          <p:spPr bwMode="auto">
            <a:xfrm>
              <a:off x="798018" y="4579261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5" name="Text Box 46"/>
            <p:cNvSpPr txBox="1">
              <a:spLocks noChangeArrowheads="1"/>
            </p:cNvSpPr>
            <p:nvPr/>
          </p:nvSpPr>
          <p:spPr bwMode="auto">
            <a:xfrm>
              <a:off x="2433032" y="4559891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6" name="Text Box 56"/>
            <p:cNvSpPr txBox="1">
              <a:spLocks noChangeArrowheads="1"/>
            </p:cNvSpPr>
            <p:nvPr/>
          </p:nvSpPr>
          <p:spPr bwMode="auto">
            <a:xfrm>
              <a:off x="2314175" y="3576145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8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7" name="Line 65"/>
            <p:cNvSpPr>
              <a:spLocks noChangeShapeType="1"/>
            </p:cNvSpPr>
            <p:nvPr/>
          </p:nvSpPr>
          <p:spPr bwMode="auto">
            <a:xfrm>
              <a:off x="3511445" y="3934103"/>
              <a:ext cx="510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98" name="Text Box 66"/>
            <p:cNvSpPr txBox="1">
              <a:spLocks noChangeArrowheads="1"/>
            </p:cNvSpPr>
            <p:nvPr/>
          </p:nvSpPr>
          <p:spPr bwMode="auto">
            <a:xfrm>
              <a:off x="3607111" y="3934103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2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9" name="Line 67"/>
            <p:cNvSpPr>
              <a:spLocks noChangeShapeType="1"/>
            </p:cNvSpPr>
            <p:nvPr/>
          </p:nvSpPr>
          <p:spPr bwMode="auto">
            <a:xfrm>
              <a:off x="1863386" y="2207225"/>
              <a:ext cx="1398748" cy="1695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0" name="Text Box 68"/>
            <p:cNvSpPr txBox="1">
              <a:spLocks noChangeArrowheads="1"/>
            </p:cNvSpPr>
            <p:nvPr/>
          </p:nvSpPr>
          <p:spPr bwMode="auto">
            <a:xfrm>
              <a:off x="2542515" y="2733184"/>
              <a:ext cx="313087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01" name="Freeform 69"/>
            <p:cNvSpPr>
              <a:spLocks/>
            </p:cNvSpPr>
            <p:nvPr/>
          </p:nvSpPr>
          <p:spPr bwMode="auto">
            <a:xfrm>
              <a:off x="1843094" y="2186366"/>
              <a:ext cx="40585" cy="20860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2" name="Freeform 70"/>
            <p:cNvSpPr>
              <a:spLocks/>
            </p:cNvSpPr>
            <p:nvPr/>
          </p:nvSpPr>
          <p:spPr bwMode="auto">
            <a:xfrm>
              <a:off x="1863386" y="2220635"/>
              <a:ext cx="2362653" cy="1567451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3" name="Text Box 71"/>
            <p:cNvSpPr txBox="1">
              <a:spLocks noChangeArrowheads="1"/>
            </p:cNvSpPr>
            <p:nvPr/>
          </p:nvSpPr>
          <p:spPr bwMode="auto">
            <a:xfrm>
              <a:off x="3569424" y="2171554"/>
              <a:ext cx="311639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9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04" name="Oval 103"/>
            <p:cNvSpPr>
              <a:spLocks noChangeAspect="1"/>
            </p:cNvSpPr>
            <p:nvPr/>
          </p:nvSpPr>
          <p:spPr bwMode="auto">
            <a:xfrm>
              <a:off x="1552903" y="1981200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x</a:t>
              </a:r>
            </a:p>
          </p:txBody>
        </p:sp>
        <p:sp>
          <p:nvSpPr>
            <p:cNvPr id="105" name="Oval 104"/>
            <p:cNvSpPr>
              <a:spLocks noChangeAspect="1"/>
            </p:cNvSpPr>
            <p:nvPr/>
          </p:nvSpPr>
          <p:spPr bwMode="auto">
            <a:xfrm>
              <a:off x="381000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u</a:t>
              </a:r>
            </a:p>
          </p:txBody>
        </p:sp>
        <p:sp>
          <p:nvSpPr>
            <p:cNvPr id="106" name="Oval 105"/>
            <p:cNvSpPr>
              <a:spLocks noChangeAspect="1"/>
            </p:cNvSpPr>
            <p:nvPr/>
          </p:nvSpPr>
          <p:spPr bwMode="auto">
            <a:xfrm>
              <a:off x="3952909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z</a:t>
              </a:r>
            </a:p>
          </p:txBody>
        </p:sp>
        <p:sp>
          <p:nvSpPr>
            <p:cNvPr id="107" name="Oval 106"/>
            <p:cNvSpPr>
              <a:spLocks noChangeAspect="1"/>
            </p:cNvSpPr>
            <p:nvPr/>
          </p:nvSpPr>
          <p:spPr bwMode="auto">
            <a:xfrm>
              <a:off x="1568668" y="495037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v</a:t>
              </a:r>
            </a:p>
          </p:txBody>
        </p:sp>
        <p:sp>
          <p:nvSpPr>
            <p:cNvPr id="108" name="Oval 107"/>
            <p:cNvSpPr>
              <a:spLocks noChangeAspect="1"/>
            </p:cNvSpPr>
            <p:nvPr/>
          </p:nvSpPr>
          <p:spPr bwMode="auto">
            <a:xfrm>
              <a:off x="3086428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y</a:t>
              </a:r>
            </a:p>
          </p:txBody>
        </p:sp>
        <p:sp>
          <p:nvSpPr>
            <p:cNvPr id="109" name="Oval 108"/>
            <p:cNvSpPr>
              <a:spLocks noChangeAspect="1"/>
            </p:cNvSpPr>
            <p:nvPr/>
          </p:nvSpPr>
          <p:spPr bwMode="auto">
            <a:xfrm>
              <a:off x="1568668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w</a:t>
              </a:r>
            </a:p>
          </p:txBody>
        </p:sp>
        <p:sp>
          <p:nvSpPr>
            <p:cNvPr id="110" name="Line 37"/>
            <p:cNvSpPr>
              <a:spLocks noChangeShapeType="1"/>
            </p:cNvSpPr>
            <p:nvPr/>
          </p:nvSpPr>
          <p:spPr bwMode="auto">
            <a:xfrm>
              <a:off x="2010102" y="3944533"/>
              <a:ext cx="10972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15" name="Line 127"/>
          <p:cNvSpPr>
            <a:spLocks noChangeShapeType="1"/>
          </p:cNvSpPr>
          <p:nvPr/>
        </p:nvSpPr>
        <p:spPr bwMode="auto">
          <a:xfrm flipV="1">
            <a:off x="2002086" y="3553022"/>
            <a:ext cx="933319" cy="798786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12FDA0-539B-A84C-90DA-2184C228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1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6" grpId="0"/>
      <p:bldP spid="133127" grpId="0"/>
      <p:bldP spid="133128" grpId="0"/>
      <p:bldP spid="1331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13414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001000" cy="4419600"/>
          </a:xfrm>
        </p:spPr>
        <p:txBody>
          <a:bodyPr/>
          <a:lstStyle/>
          <a:p>
            <a:r>
              <a:rPr lang="en-US" dirty="0" err="1">
                <a:solidFill>
                  <a:srgbClr val="0000FF"/>
                </a:solidFill>
              </a:rPr>
              <a:t>D</a:t>
            </a:r>
            <a:r>
              <a:rPr lang="en-US" baseline="-25000" dirty="0" err="1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(y)</a:t>
            </a:r>
            <a:r>
              <a:rPr lang="en-US" dirty="0"/>
              <a:t> is the estimate of least cost from x to y</a:t>
            </a:r>
          </a:p>
          <a:p>
            <a:pPr lvl="1"/>
            <a:r>
              <a:rPr lang="en-US" dirty="0"/>
              <a:t>x maintains its own distance vector </a:t>
            </a:r>
            <a:r>
              <a:rPr lang="en-US" b="1" dirty="0" err="1">
                <a:solidFill>
                  <a:srgbClr val="0000FF"/>
                </a:solidFill>
              </a:rPr>
              <a:t>D</a:t>
            </a:r>
            <a:r>
              <a:rPr lang="en-US" b="1" baseline="-25000" dirty="0" err="1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 = [</a:t>
            </a:r>
            <a:r>
              <a:rPr lang="en-US" dirty="0" err="1">
                <a:solidFill>
                  <a:srgbClr val="0000FF"/>
                </a:solidFill>
              </a:rPr>
              <a:t>D</a:t>
            </a:r>
            <a:r>
              <a:rPr lang="en-US" baseline="-25000" dirty="0" err="1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(y): y </a:t>
            </a:r>
            <a:r>
              <a:rPr lang="en-US" dirty="0">
                <a:solidFill>
                  <a:srgbClr val="0000FF"/>
                </a:solidFill>
                <a:ea typeface="MS Mincho" charset="0"/>
                <a:cs typeface="MS Mincho" charset="0"/>
              </a:rPr>
              <a:t>∊</a:t>
            </a:r>
            <a:r>
              <a:rPr lang="en-US" dirty="0">
                <a:solidFill>
                  <a:srgbClr val="0000FF"/>
                </a:solidFill>
              </a:rPr>
              <a:t> N]</a:t>
            </a:r>
          </a:p>
          <a:p>
            <a:r>
              <a:rPr lang="en-US" dirty="0"/>
              <a:t>Node x:</a:t>
            </a:r>
          </a:p>
          <a:p>
            <a:pPr lvl="1"/>
            <a:r>
              <a:rPr lang="en-US" dirty="0"/>
              <a:t>Knows cost to each neighbor v: </a:t>
            </a:r>
            <a:r>
              <a:rPr lang="en-US" dirty="0">
                <a:solidFill>
                  <a:srgbClr val="0000FF"/>
                </a:solidFill>
              </a:rPr>
              <a:t>c(</a:t>
            </a:r>
            <a:r>
              <a:rPr lang="en-US" dirty="0" err="1">
                <a:solidFill>
                  <a:srgbClr val="0000FF"/>
                </a:solidFill>
              </a:rPr>
              <a:t>x,v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lvl="1"/>
            <a:r>
              <a:rPr lang="en-US" dirty="0"/>
              <a:t>Maintains its neighbors’</a:t>
            </a:r>
            <a:r>
              <a:rPr lang="en-US" altLang="ja-JP" dirty="0"/>
              <a:t> distance vectors</a:t>
            </a:r>
          </a:p>
          <a:p>
            <a:pPr lvl="2"/>
            <a:r>
              <a:rPr lang="en-US" altLang="ja-JP" dirty="0"/>
              <a:t>For each neighbor v, x has </a:t>
            </a:r>
            <a:r>
              <a:rPr lang="en-US" altLang="ja-JP" b="1" dirty="0" err="1">
                <a:solidFill>
                  <a:srgbClr val="0000FF"/>
                </a:solidFill>
              </a:rPr>
              <a:t>D</a:t>
            </a:r>
            <a:r>
              <a:rPr lang="en-US" altLang="ja-JP" b="1" baseline="-25000" dirty="0" err="1">
                <a:solidFill>
                  <a:srgbClr val="0000FF"/>
                </a:solidFill>
              </a:rPr>
              <a:t>v</a:t>
            </a:r>
            <a:r>
              <a:rPr lang="en-US" altLang="ja-JP" dirty="0">
                <a:solidFill>
                  <a:srgbClr val="0000FF"/>
                </a:solidFill>
              </a:rPr>
              <a:t> = [</a:t>
            </a:r>
            <a:r>
              <a:rPr lang="en-US" altLang="ja-JP" dirty="0" err="1">
                <a:solidFill>
                  <a:srgbClr val="0000FF"/>
                </a:solidFill>
              </a:rPr>
              <a:t>D</a:t>
            </a:r>
            <a:r>
              <a:rPr lang="en-US" altLang="ja-JP" baseline="-25000" dirty="0" err="1">
                <a:solidFill>
                  <a:srgbClr val="0000FF"/>
                </a:solidFill>
              </a:rPr>
              <a:t>v</a:t>
            </a:r>
            <a:r>
              <a:rPr lang="en-US" altLang="ja-JP" dirty="0">
                <a:solidFill>
                  <a:srgbClr val="0000FF"/>
                </a:solidFill>
              </a:rPr>
              <a:t>(y): y </a:t>
            </a:r>
            <a:r>
              <a:rPr lang="en-US" dirty="0">
                <a:solidFill>
                  <a:srgbClr val="0000FF"/>
                </a:solidFill>
                <a:ea typeface="MS Mincho" charset="0"/>
                <a:cs typeface="MS Mincho" charset="0"/>
              </a:rPr>
              <a:t>∊</a:t>
            </a:r>
            <a:r>
              <a:rPr lang="en-US" altLang="ja-JP" dirty="0">
                <a:solidFill>
                  <a:srgbClr val="0000FF"/>
                </a:solidFill>
              </a:rPr>
              <a:t> N]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358FC8-99E2-CD4B-9E8D-B193B943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8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2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Distance vector algorithm </a:t>
            </a:r>
          </a:p>
        </p:txBody>
      </p:sp>
      <p:sp>
        <p:nvSpPr>
          <p:cNvPr id="901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time-to-time, each node sends its own distance vector estimate to neighbors</a:t>
            </a:r>
          </a:p>
          <a:p>
            <a:r>
              <a:rPr lang="en-US" dirty="0"/>
              <a:t>When x receives new DV estimate from neighbor, it updates its own DV using B-F equation</a:t>
            </a:r>
          </a:p>
          <a:p>
            <a:pPr lvl="1"/>
            <a:r>
              <a:rPr lang="en-US" dirty="0" err="1">
                <a:solidFill>
                  <a:srgbClr val="0000FF"/>
                </a:solidFill>
                <a:cs typeface="Times New Roman" charset="0"/>
              </a:rPr>
              <a:t>D</a:t>
            </a:r>
            <a:r>
              <a:rPr lang="en-US" baseline="-30000" dirty="0" err="1">
                <a:solidFill>
                  <a:srgbClr val="0000FF"/>
                </a:solidFill>
                <a:cs typeface="Times New Roman" charset="0"/>
              </a:rPr>
              <a:t>x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(y) ← </a:t>
            </a:r>
            <a:r>
              <a:rPr lang="en-US" dirty="0" err="1">
                <a:solidFill>
                  <a:srgbClr val="0000FF"/>
                </a:solidFill>
                <a:cs typeface="Times New Roman" charset="0"/>
              </a:rPr>
              <a:t>min</a:t>
            </a:r>
            <a:r>
              <a:rPr lang="en-US" baseline="-30000" dirty="0" err="1">
                <a:solidFill>
                  <a:srgbClr val="0000FF"/>
                </a:solidFill>
                <a:cs typeface="Times New Roman" charset="0"/>
              </a:rPr>
              <a:t>v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{c(</a:t>
            </a:r>
            <a:r>
              <a:rPr lang="en-US" dirty="0" err="1">
                <a:solidFill>
                  <a:srgbClr val="0000FF"/>
                </a:solidFill>
                <a:cs typeface="Times New Roman" charset="0"/>
              </a:rPr>
              <a:t>x,v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) + </a:t>
            </a:r>
            <a:r>
              <a:rPr lang="en-US" dirty="0" err="1">
                <a:solidFill>
                  <a:srgbClr val="0000FF"/>
                </a:solidFill>
                <a:cs typeface="Times New Roman" charset="0"/>
              </a:rPr>
              <a:t>D</a:t>
            </a:r>
            <a:r>
              <a:rPr lang="en-US" baseline="-30000" dirty="0" err="1">
                <a:solidFill>
                  <a:srgbClr val="0000FF"/>
                </a:solidFill>
                <a:cs typeface="Times New Roman" charset="0"/>
              </a:rPr>
              <a:t>v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(y)}  for each node y </a:t>
            </a:r>
            <a:r>
              <a:rPr lang="en-US" dirty="0">
                <a:solidFill>
                  <a:srgbClr val="0000FF"/>
                </a:solidFill>
                <a:ea typeface="MS Mincho" charset="0"/>
                <a:cs typeface="MS Mincho" charset="0"/>
              </a:rPr>
              <a:t>∊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 N</a:t>
            </a:r>
          </a:p>
          <a:p>
            <a:r>
              <a:rPr lang="en-US" dirty="0">
                <a:cs typeface="Times New Roman" charset="0"/>
              </a:rPr>
              <a:t>Eventually, the estimate </a:t>
            </a:r>
            <a:r>
              <a:rPr lang="en-US" dirty="0" err="1">
                <a:cs typeface="Times New Roman" charset="0"/>
              </a:rPr>
              <a:t>D</a:t>
            </a:r>
            <a:r>
              <a:rPr lang="en-US" baseline="-25000" dirty="0" err="1">
                <a:cs typeface="Times New Roman" charset="0"/>
              </a:rPr>
              <a:t>x</a:t>
            </a:r>
            <a:r>
              <a:rPr lang="en-US" dirty="0">
                <a:cs typeface="Times New Roman" charset="0"/>
              </a:rPr>
              <a:t>(y) 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may</a:t>
            </a:r>
            <a:r>
              <a:rPr lang="en-US" dirty="0">
                <a:cs typeface="Times New Roman" charset="0"/>
              </a:rPr>
              <a:t> converge to the actual least cost d</a:t>
            </a:r>
            <a:r>
              <a:rPr lang="en-US" baseline="-25000" dirty="0">
                <a:cs typeface="Times New Roman" charset="0"/>
              </a:rPr>
              <a:t>x</a:t>
            </a:r>
            <a:r>
              <a:rPr lang="en-US" dirty="0">
                <a:cs typeface="Times New Roman" charset="0"/>
              </a:rPr>
              <a:t>(y)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248F6B-A645-854C-BBE1-30590169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7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Distance vector algorithm 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Iterative, asynchronous</a:t>
            </a:r>
          </a:p>
          <a:p>
            <a:pPr lvl="1"/>
            <a:r>
              <a:rPr lang="en-US" sz="2000" dirty="0"/>
              <a:t>Local iterations caused by</a:t>
            </a:r>
          </a:p>
          <a:p>
            <a:pPr lvl="2"/>
            <a:r>
              <a:rPr lang="en-US" sz="1600" dirty="0"/>
              <a:t>Local link cost change</a:t>
            </a:r>
          </a:p>
          <a:p>
            <a:pPr lvl="2"/>
            <a:r>
              <a:rPr lang="en-US" sz="1600" dirty="0"/>
              <a:t>DV update message from neighbor</a:t>
            </a:r>
          </a:p>
          <a:p>
            <a:r>
              <a:rPr lang="en-US" sz="2400" dirty="0">
                <a:solidFill>
                  <a:srgbClr val="0000FF"/>
                </a:solidFill>
              </a:rPr>
              <a:t>Distributed</a:t>
            </a:r>
          </a:p>
          <a:p>
            <a:pPr lvl="1"/>
            <a:r>
              <a:rPr lang="en-US" sz="2000" dirty="0"/>
              <a:t>Each node notifies neighbors only when its DV changes</a:t>
            </a:r>
          </a:p>
          <a:p>
            <a:pPr lvl="2"/>
            <a:r>
              <a:rPr lang="en-US" sz="1600" dirty="0"/>
              <a:t>Neighbors then notify their neighbors if necessary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737791" y="1600200"/>
            <a:ext cx="4080268" cy="4141788"/>
            <a:chOff x="4737791" y="1600200"/>
            <a:chExt cx="4080268" cy="4141788"/>
          </a:xfrm>
        </p:grpSpPr>
        <p:sp>
          <p:nvSpPr>
            <p:cNvPr id="136196" name="Text Box 4"/>
            <p:cNvSpPr txBox="1">
              <a:spLocks noChangeArrowheads="1"/>
            </p:cNvSpPr>
            <p:nvPr/>
          </p:nvSpPr>
          <p:spPr bwMode="auto">
            <a:xfrm>
              <a:off x="5293809" y="1956336"/>
              <a:ext cx="3524250" cy="332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en-US" sz="2000" b="0" dirty="0">
                <a:solidFill>
                  <a:schemeClr val="accent2"/>
                </a:solidFill>
                <a:ea typeface="Arial" charset="0"/>
                <a:cs typeface="Arial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sz="2000" b="0" i="1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Wait</a:t>
              </a:r>
              <a:r>
                <a:rPr lang="en-US" sz="2000" b="0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 </a:t>
              </a:r>
              <a:r>
                <a:rPr lang="en-US" sz="20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for (change in local link cost OR </a:t>
              </a:r>
              <a:r>
                <a:rPr lang="en-US" sz="2000" b="0" dirty="0" err="1">
                  <a:solidFill>
                    <a:schemeClr val="accent2"/>
                  </a:solidFill>
                  <a:ea typeface="Arial" charset="0"/>
                  <a:cs typeface="Arial" charset="0"/>
                </a:rPr>
                <a:t>msg</a:t>
              </a:r>
              <a:r>
                <a:rPr lang="en-US" sz="20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from neighbor)</a:t>
              </a:r>
            </a:p>
            <a:p>
              <a:pPr>
                <a:spcBef>
                  <a:spcPct val="50000"/>
                </a:spcBef>
              </a:pPr>
              <a:endParaRPr lang="en-US" sz="2000" b="0" dirty="0">
                <a:solidFill>
                  <a:schemeClr val="accent2"/>
                </a:solidFill>
                <a:ea typeface="Arial" charset="0"/>
                <a:cs typeface="Arial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sz="2000" b="0" i="1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Recompute</a:t>
              </a:r>
              <a:r>
                <a:rPr lang="en-US" sz="2000" b="0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 </a:t>
              </a:r>
              <a:r>
                <a:rPr lang="en-US" sz="20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estimates</a:t>
              </a:r>
            </a:p>
            <a:p>
              <a:pPr>
                <a:spcBef>
                  <a:spcPct val="50000"/>
                </a:spcBef>
              </a:pPr>
              <a:endParaRPr lang="en-US" sz="2000" b="0" dirty="0">
                <a:solidFill>
                  <a:schemeClr val="accent2"/>
                </a:solidFill>
                <a:ea typeface="Arial" charset="0"/>
                <a:cs typeface="Arial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sz="2000" b="0" i="1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Notify</a:t>
              </a:r>
              <a:r>
                <a:rPr lang="en-US" sz="2000" b="0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 </a:t>
              </a:r>
              <a:r>
                <a:rPr lang="en-US" sz="20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neighbors if DV to any </a:t>
              </a:r>
              <a:r>
                <a:rPr lang="en-US" sz="2000" b="0" dirty="0" err="1">
                  <a:solidFill>
                    <a:schemeClr val="accent2"/>
                  </a:solidFill>
                  <a:ea typeface="Arial" charset="0"/>
                  <a:cs typeface="Arial" charset="0"/>
                </a:rPr>
                <a:t>dest</a:t>
              </a:r>
              <a:r>
                <a:rPr lang="en-US" sz="20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has changed</a:t>
              </a:r>
            </a:p>
          </p:txBody>
        </p:sp>
        <p:sp>
          <p:nvSpPr>
            <p:cNvPr id="136197" name="Line 5"/>
            <p:cNvSpPr>
              <a:spLocks noChangeShapeType="1"/>
            </p:cNvSpPr>
            <p:nvPr/>
          </p:nvSpPr>
          <p:spPr bwMode="auto">
            <a:xfrm>
              <a:off x="6781800" y="3143250"/>
              <a:ext cx="0" cy="59055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36198" name="Line 6"/>
            <p:cNvSpPr>
              <a:spLocks noChangeShapeType="1"/>
            </p:cNvSpPr>
            <p:nvPr/>
          </p:nvSpPr>
          <p:spPr bwMode="auto">
            <a:xfrm>
              <a:off x="6791325" y="4038600"/>
              <a:ext cx="0" cy="59055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36199" name="Freeform 7"/>
            <p:cNvSpPr>
              <a:spLocks/>
            </p:cNvSpPr>
            <p:nvPr/>
          </p:nvSpPr>
          <p:spPr bwMode="auto">
            <a:xfrm>
              <a:off x="5229225" y="2160588"/>
              <a:ext cx="1562100" cy="3581400"/>
            </a:xfrm>
            <a:custGeom>
              <a:avLst/>
              <a:gdLst>
                <a:gd name="T0" fmla="*/ 2147483647 w 978"/>
                <a:gd name="T1" fmla="*/ 2147483647 h 2256"/>
                <a:gd name="T2" fmla="*/ 2147483647 w 978"/>
                <a:gd name="T3" fmla="*/ 2147483647 h 2256"/>
                <a:gd name="T4" fmla="*/ 0 w 978"/>
                <a:gd name="T5" fmla="*/ 2147483647 h 2256"/>
                <a:gd name="T6" fmla="*/ 0 w 978"/>
                <a:gd name="T7" fmla="*/ 0 h 2256"/>
                <a:gd name="T8" fmla="*/ 2147483647 w 978"/>
                <a:gd name="T9" fmla="*/ 0 h 2256"/>
                <a:gd name="T10" fmla="*/ 2147483647 w 978"/>
                <a:gd name="T11" fmla="*/ 2147483647 h 22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78"/>
                <a:gd name="T19" fmla="*/ 0 h 2256"/>
                <a:gd name="T20" fmla="*/ 978 w 978"/>
                <a:gd name="T21" fmla="*/ 2256 h 225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78" h="2256">
                  <a:moveTo>
                    <a:pt x="960" y="2010"/>
                  </a:moveTo>
                  <a:lnTo>
                    <a:pt x="961" y="2256"/>
                  </a:lnTo>
                  <a:lnTo>
                    <a:pt x="0" y="2256"/>
                  </a:lnTo>
                  <a:lnTo>
                    <a:pt x="0" y="0"/>
                  </a:lnTo>
                  <a:lnTo>
                    <a:pt x="978" y="0"/>
                  </a:lnTo>
                  <a:lnTo>
                    <a:pt x="978" y="155"/>
                  </a:lnTo>
                </a:path>
              </a:pathLst>
            </a:custGeom>
            <a:noFill/>
            <a:ln w="1905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36200" name="Text Box 8"/>
            <p:cNvSpPr txBox="1">
              <a:spLocks noChangeArrowheads="1"/>
            </p:cNvSpPr>
            <p:nvPr/>
          </p:nvSpPr>
          <p:spPr bwMode="auto">
            <a:xfrm>
              <a:off x="4737791" y="1600200"/>
              <a:ext cx="20217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@each node:</a:t>
              </a: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71D164-16D9-0744-9995-5060E6F5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0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DDEBEC-A340-A544-BF7C-08F8BBB5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14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630225-FCCB-9847-B50B-51CA0A03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the midterm eval!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049841-2FCD-A54B-9486-4E4DF1975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/>
            <a:r>
              <a:rPr lang="en-US" dirty="0">
                <a:solidFill>
                  <a:srgbClr val="0000FF"/>
                </a:solidFill>
              </a:rPr>
              <a:t>Projects:</a:t>
            </a:r>
            <a:r>
              <a:rPr lang="en-US" dirty="0"/>
              <a:t> Better organization and completion of project materials before their release, including resolving issues with project specifications and the </a:t>
            </a:r>
            <a:r>
              <a:rPr lang="en-US" dirty="0" err="1"/>
              <a:t>autograder</a:t>
            </a:r>
            <a:r>
              <a:rPr lang="en-US" dirty="0"/>
              <a:t>.</a:t>
            </a:r>
          </a:p>
          <a:p>
            <a:pPr fontAlgn="auto"/>
            <a:r>
              <a:rPr lang="en-US" dirty="0">
                <a:solidFill>
                  <a:srgbClr val="0000FF"/>
                </a:solidFill>
              </a:rPr>
              <a:t>Pace and Clarity of Lectures:</a:t>
            </a:r>
            <a:r>
              <a:rPr lang="en-US" dirty="0"/>
              <a:t> Need for a slower, clearer delivery of lecture material.</a:t>
            </a:r>
          </a:p>
          <a:p>
            <a:pPr fontAlgn="auto"/>
            <a:r>
              <a:rPr lang="en-US" dirty="0">
                <a:solidFill>
                  <a:srgbClr val="0000FF"/>
                </a:solidFill>
              </a:rPr>
              <a:t>Resources and Practice Materials</a:t>
            </a:r>
            <a:r>
              <a:rPr lang="en-US">
                <a:solidFill>
                  <a:srgbClr val="0000FF"/>
                </a:solidFill>
              </a:rPr>
              <a:t>:</a:t>
            </a:r>
            <a:r>
              <a:rPr lang="en-US"/>
              <a:t> More </a:t>
            </a:r>
            <a:r>
              <a:rPr lang="en-US" dirty="0"/>
              <a:t>resources such as practice exams were noted to aid in studying.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C8F2C-DC17-5745-8D78-81EABF1E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8C3C8-FE66-0441-8220-22FA6A3B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86088-F8A7-2D47-B7BC-862F1D0C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68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Shape 2453"/>
          <p:cNvSpPr/>
          <p:nvPr/>
        </p:nvSpPr>
        <p:spPr>
          <a:xfrm flipH="1">
            <a:off x="2040086" y="2812097"/>
            <a:ext cx="2308421" cy="76870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54" name="Shape 2454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55" name="Shape 2455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57" name="Shape 2457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458" name="Shape 2458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459" name="Shape 2459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460" name="Shape 2460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 dirty="0"/>
              <a:t>7</a:t>
            </a:r>
          </a:p>
        </p:txBody>
      </p:sp>
      <p:sp>
        <p:nvSpPr>
          <p:cNvPr id="2461" name="Shape 2461"/>
          <p:cNvSpPr/>
          <p:nvPr/>
        </p:nvSpPr>
        <p:spPr>
          <a:xfrm>
            <a:off x="2911078" y="258975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2</a:t>
            </a:r>
          </a:p>
        </p:txBody>
      </p:sp>
      <p:sp>
        <p:nvSpPr>
          <p:cNvPr id="2462" name="Shape 2462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grpSp>
        <p:nvGrpSpPr>
          <p:cNvPr id="2478" name="Group 2478"/>
          <p:cNvGrpSpPr/>
          <p:nvPr/>
        </p:nvGrpSpPr>
        <p:grpSpPr>
          <a:xfrm>
            <a:off x="3455789" y="535781"/>
            <a:ext cx="2107406" cy="1634133"/>
            <a:chOff x="0" y="0"/>
            <a:chExt cx="2997200" cy="2324100"/>
          </a:xfrm>
        </p:grpSpPr>
        <p:sp>
          <p:nvSpPr>
            <p:cNvPr id="2467" name="Shape 2467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solidFill>
              <a:schemeClr val="bg1"/>
            </a:solidFill>
            <a:ln w="63500" cap="flat">
              <a:solidFill>
                <a:srgbClr val="FF93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93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FF9900"/>
                </a:solidFill>
              </a:endParaRPr>
            </a:p>
          </p:txBody>
        </p:sp>
        <p:grpSp>
          <p:nvGrpSpPr>
            <p:cNvPr id="2466" name="Group 2466"/>
            <p:cNvGrpSpPr/>
            <p:nvPr/>
          </p:nvGrpSpPr>
          <p:grpSpPr>
            <a:xfrm>
              <a:off x="1231900" y="1181100"/>
              <a:ext cx="1295400" cy="660400"/>
              <a:chOff x="0" y="0"/>
              <a:chExt cx="1295400" cy="660400"/>
            </a:xfrm>
          </p:grpSpPr>
          <p:sp>
            <p:nvSpPr>
              <p:cNvPr id="2463" name="Shape 2463"/>
              <p:cNvSpPr/>
              <p:nvPr/>
            </p:nvSpPr>
            <p:spPr>
              <a:xfrm>
                <a:off x="0" y="0"/>
                <a:ext cx="241300" cy="660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 algn="l">
                  <a:defRPr sz="3600">
                    <a:solidFill>
                      <a:srgbClr val="FF93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sz="2531">
                    <a:solidFill>
                      <a:srgbClr val="FF9900"/>
                    </a:solidFill>
                  </a:rPr>
                  <a:t>2</a:t>
                </a:r>
              </a:p>
            </p:txBody>
          </p:sp>
          <p:sp>
            <p:nvSpPr>
              <p:cNvPr id="2464" name="Shape 2464"/>
              <p:cNvSpPr/>
              <p:nvPr/>
            </p:nvSpPr>
            <p:spPr>
              <a:xfrm>
                <a:off x="546100" y="0"/>
                <a:ext cx="241300" cy="660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 algn="l">
                  <a:defRPr sz="3600">
                    <a:solidFill>
                      <a:srgbClr val="FF93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sz="2531">
                    <a:solidFill>
                      <a:srgbClr val="FF9900"/>
                    </a:solidFill>
                  </a:rPr>
                  <a:t>0</a:t>
                </a:r>
              </a:p>
            </p:txBody>
          </p:sp>
          <p:sp>
            <p:nvSpPr>
              <p:cNvPr id="2465" name="Shape 2465"/>
              <p:cNvSpPr/>
              <p:nvPr/>
            </p:nvSpPr>
            <p:spPr>
              <a:xfrm>
                <a:off x="1104900" y="0"/>
                <a:ext cx="190500" cy="660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 algn="l">
                  <a:defRPr sz="3600">
                    <a:solidFill>
                      <a:srgbClr val="FF93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sz="2531">
                    <a:solidFill>
                      <a:srgbClr val="FF9900"/>
                    </a:solidFill>
                  </a:rPr>
                  <a:t>1</a:t>
                </a:r>
              </a:p>
            </p:txBody>
          </p:sp>
        </p:grpSp>
        <p:sp>
          <p:nvSpPr>
            <p:cNvPr id="2468" name="Shape 2468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x</a:t>
              </a:r>
            </a:p>
          </p:txBody>
        </p:sp>
        <p:sp>
          <p:nvSpPr>
            <p:cNvPr id="2469" name="Shape 2469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FF93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FF9900"/>
                </a:solidFill>
              </a:endParaRPr>
            </a:p>
          </p:txBody>
        </p:sp>
        <p:sp>
          <p:nvSpPr>
            <p:cNvPr id="2470" name="Shape 2470"/>
            <p:cNvSpPr/>
            <p:nvPr/>
          </p:nvSpPr>
          <p:spPr>
            <a:xfrm flipV="1">
              <a:off x="904605" y="139584"/>
              <a:ext cx="983" cy="2046721"/>
            </a:xfrm>
            <a:prstGeom prst="line">
              <a:avLst/>
            </a:prstGeom>
            <a:noFill/>
            <a:ln w="38100" cap="flat">
              <a:solidFill>
                <a:srgbClr val="FF93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FF9900"/>
                </a:solidFill>
              </a:endParaRPr>
            </a:p>
          </p:txBody>
        </p:sp>
        <p:sp>
          <p:nvSpPr>
            <p:cNvPr id="2471" name="Shape 2471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y</a:t>
              </a:r>
            </a:p>
          </p:txBody>
        </p:sp>
        <p:sp>
          <p:nvSpPr>
            <p:cNvPr id="2472" name="Shape 2472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y</a:t>
              </a:r>
            </a:p>
          </p:txBody>
        </p:sp>
        <p:sp>
          <p:nvSpPr>
            <p:cNvPr id="2473" name="Shape 2473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z</a:t>
              </a:r>
            </a:p>
          </p:txBody>
        </p:sp>
        <p:sp>
          <p:nvSpPr>
            <p:cNvPr id="2474" name="Shape 2474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z</a:t>
              </a:r>
            </a:p>
          </p:txBody>
        </p:sp>
        <p:sp>
          <p:nvSpPr>
            <p:cNvPr id="2475" name="Shape 2475"/>
            <p:cNvSpPr/>
            <p:nvPr/>
          </p:nvSpPr>
          <p:spPr>
            <a:xfrm>
              <a:off x="1206500" y="1663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2476" name="Shape 2476"/>
            <p:cNvSpPr/>
            <p:nvPr/>
          </p:nvSpPr>
          <p:spPr>
            <a:xfrm>
              <a:off x="1765300" y="1663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2477" name="Shape 2477"/>
            <p:cNvSpPr/>
            <p:nvPr/>
          </p:nvSpPr>
          <p:spPr>
            <a:xfrm>
              <a:off x="2298700" y="1663700"/>
              <a:ext cx="3048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00B050"/>
                  </a:solidFill>
                </a:rPr>
                <a:t>0</a:t>
              </a:r>
            </a:p>
          </p:txBody>
        </p:sp>
      </p:grpSp>
      <p:grpSp>
        <p:nvGrpSpPr>
          <p:cNvPr id="2493" name="Group 2493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2479" name="Shape 2479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B050"/>
                </a:solidFill>
              </a:endParaRPr>
            </a:p>
          </p:txBody>
        </p:sp>
        <p:sp>
          <p:nvSpPr>
            <p:cNvPr id="2480" name="Shape 2480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2481" name="Shape 2481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2482" name="Shape 2482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2483" name="Shape 2483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2484" name="Shape 2484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2485" name="Shape 2485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2486" name="Shape 2486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2487" name="Shape 2487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2488" name="Shape 2488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2489" name="Shape 2489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2490" name="Shape 2490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2</a:t>
              </a:r>
            </a:p>
          </p:txBody>
        </p:sp>
        <p:sp>
          <p:nvSpPr>
            <p:cNvPr id="2491" name="Shape 2491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492" name="Shape 2492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494" name="Shape 2494"/>
          <p:cNvSpPr/>
          <p:nvPr/>
        </p:nvSpPr>
        <p:spPr>
          <a:xfrm flipV="1">
            <a:off x="2195539" y="2708237"/>
            <a:ext cx="1992807" cy="673431"/>
          </a:xfrm>
          <a:prstGeom prst="line">
            <a:avLst/>
          </a:prstGeom>
          <a:ln w="762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95" name="Shape 2495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B19EBB-9192-DF42-9657-83B4CBD3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8426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4" dur="1000" fill="hold"/>
                                        <p:tgtEl>
                                          <p:spTgt spid="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3" grpId="0" animBg="1" advAuto="0"/>
      <p:bldP spid="2461" grpId="0" animBg="1" advAuto="0"/>
      <p:bldP spid="2478" grpId="0" advAuto="0"/>
      <p:bldP spid="2493" grpId="0" advAuto="0"/>
      <p:bldP spid="2494" grpId="0" animBg="1" advAuto="0"/>
      <p:bldP spid="2495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Shape 250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499" name="Shape 249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500" name="Shape 250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501" name="Shape 250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02" name="Shape 250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504" name="Shape 250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505" name="Shape 250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506" name="Shape 250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507" name="Shape 250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508" name="Shape 250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510" name="Shape 251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511" name="Shape 251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512" name="Shape 251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513" name="Shape 251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514" name="Shape 251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515" name="Shape 251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516" name="Shape 251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517" name="Shape 251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2518" name="Shape 251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519" name="Shape 251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536" name="Shape 2536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537" name="Shape 2537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538" name="Shape 2538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539" name="Shape 253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540" name="Shape 254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grpSp>
        <p:nvGrpSpPr>
          <p:cNvPr id="45" name="Group 2493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46" name="Shape 2479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B050"/>
                </a:solidFill>
              </a:endParaRPr>
            </a:p>
          </p:txBody>
        </p:sp>
        <p:sp>
          <p:nvSpPr>
            <p:cNvPr id="47" name="Shape 2480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48" name="Shape 2481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49" name="Shape 2482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50" name="Shape 2483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51" name="Shape 2484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52" name="Shape 2485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53" name="Shape 2486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54" name="Shape 2487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55" name="Shape 2488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56" name="Shape 2489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57" name="Shape 2490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2</a:t>
              </a:r>
            </a:p>
          </p:txBody>
        </p:sp>
        <p:sp>
          <p:nvSpPr>
            <p:cNvPr id="58" name="Shape 2491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59" name="Shape 2492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BB4BE-684D-C448-A098-81ED3BA6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3827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6" grpId="0" animBg="1" advAuto="0"/>
      <p:bldP spid="2536" grpId="1" animBg="1" advAuto="0"/>
      <p:bldP spid="2537" grpId="0" animBg="1" advAuto="0"/>
      <p:bldP spid="2538" grpId="0" animBg="1" advAuto="0"/>
      <p:bldP spid="2540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493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46" name="Shape 2479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B050"/>
                </a:solidFill>
              </a:endParaRPr>
            </a:p>
          </p:txBody>
        </p:sp>
        <p:sp>
          <p:nvSpPr>
            <p:cNvPr id="47" name="Shape 2480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48" name="Shape 2481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49" name="Shape 2482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50" name="Shape 2483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51" name="Shape 2484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52" name="Shape 2485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53" name="Shape 2486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54" name="Shape 2487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55" name="Shape 2488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56" name="Shape 2489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57" name="Shape 2490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en-US" sz="2531" dirty="0">
                  <a:solidFill>
                    <a:srgbClr val="00B050"/>
                  </a:solidFill>
                </a:rPr>
                <a:t>4</a:t>
              </a:r>
              <a:endParaRPr sz="2531" dirty="0">
                <a:solidFill>
                  <a:srgbClr val="00B050"/>
                </a:solidFill>
              </a:endParaRPr>
            </a:p>
          </p:txBody>
        </p:sp>
        <p:sp>
          <p:nvSpPr>
            <p:cNvPr id="58" name="Shape 2491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59" name="Shape 2492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546" name="Shape 2546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47" name="Shape 2547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549" name="Shape 2549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550" name="Shape 2550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551" name="Shape 2551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552" name="Shape 2552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553" name="Shape 2553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582" name="Shape 2582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583" name="Shape 2583"/>
          <p:cNvSpPr/>
          <p:nvPr/>
        </p:nvSpPr>
        <p:spPr>
          <a:xfrm>
            <a:off x="6830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84" name="Shape 2584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585" name="Shape 2585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60" name="Shape 250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61" name="Shape 249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62" name="Shape 250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63" name="Shape 251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64" name="Shape 251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65" name="Shape 251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66" name="Shape 251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67" name="Shape 251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68" name="Shape 251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69" name="Shape 251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70" name="Shape 251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71" name="Shape 251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72" name="Shape 251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74" name="Shape 2537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050DB-D6EF-EB48-97D8-599518B1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0515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1000"/>
                                        <p:tgtEl>
                                          <p:spTgt spid="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3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493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60" name="Shape 2479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B050"/>
                </a:solidFill>
              </a:endParaRPr>
            </a:p>
          </p:txBody>
        </p:sp>
        <p:sp>
          <p:nvSpPr>
            <p:cNvPr id="61" name="Shape 2480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62" name="Shape 2481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63" name="Shape 2482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64" name="Shape 2483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65" name="Shape 2484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66" name="Shape 2485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67" name="Shape 2486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68" name="Shape 2487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en-US" sz="2531" dirty="0">
                  <a:solidFill>
                    <a:srgbClr val="FF9900"/>
                  </a:solidFill>
                </a:rPr>
                <a:t>5</a:t>
              </a:r>
              <a:endParaRPr sz="2531" dirty="0">
                <a:solidFill>
                  <a:srgbClr val="FF9900"/>
                </a:solidFill>
              </a:endParaRPr>
            </a:p>
          </p:txBody>
        </p:sp>
        <p:sp>
          <p:nvSpPr>
            <p:cNvPr id="69" name="Shape 2488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70" name="Shape 2489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71" name="Shape 2490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en-US" sz="2531" dirty="0">
                  <a:solidFill>
                    <a:srgbClr val="00B050"/>
                  </a:solidFill>
                </a:rPr>
                <a:t>4</a:t>
              </a:r>
              <a:endParaRPr sz="2531" dirty="0">
                <a:solidFill>
                  <a:srgbClr val="00B050"/>
                </a:solidFill>
              </a:endParaRPr>
            </a:p>
          </p:txBody>
        </p:sp>
        <p:sp>
          <p:nvSpPr>
            <p:cNvPr id="72" name="Shape 2491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73" name="Shape 2492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591" name="Shape 259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92" name="Shape 259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594" name="Shape 259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595" name="Shape 259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596" name="Shape 259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597" name="Shape 259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598" name="Shape 259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627" name="Shape 2627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628" name="Shape 2628"/>
          <p:cNvSpPr/>
          <p:nvPr/>
        </p:nvSpPr>
        <p:spPr>
          <a:xfrm>
            <a:off x="6830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29" name="Shape 262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630" name="Shape 263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45" name="Shape 250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46" name="Shape 249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47" name="Shape 250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48" name="Shape 251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49" name="Shape 251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50" name="Shape 251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51" name="Shape 251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52" name="Shape 251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53" name="Shape 251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54" name="Shape 251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55" name="Shape 251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56" name="Shape 251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57" name="Shape 251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58" name="Shape 2537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48C6D-1147-8C48-9A8B-36B60525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471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000" fill="hold"/>
                                        <p:tgtEl>
                                          <p:spTgt spid="2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8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Shape 2644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634" name="Shape 2634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635" name="Shape 2635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636" name="Shape 2636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37" name="Shape 2637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639" name="Shape 2639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640" name="Shape 2640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641" name="Shape 2641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642" name="Shape 2642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643" name="Shape 2643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645" name="Shape 2645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646" name="Shape 2646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647" name="Shape 2647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648" name="Shape 2648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649" name="Shape 2649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650" name="Shape 2650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651" name="Shape 2651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652" name="Shape 2652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5</a:t>
            </a:r>
          </a:p>
        </p:txBody>
      </p:sp>
      <p:sp>
        <p:nvSpPr>
          <p:cNvPr id="2653" name="Shape 2653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654" name="Shape 2654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655" name="Shape 2655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B050"/>
              </a:solidFill>
            </a:endParaRPr>
          </a:p>
        </p:txBody>
      </p:sp>
      <p:sp>
        <p:nvSpPr>
          <p:cNvPr id="2656" name="Shape 2656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x</a:t>
            </a:r>
          </a:p>
        </p:txBody>
      </p:sp>
      <p:sp>
        <p:nvSpPr>
          <p:cNvPr id="2657" name="Shape 2657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B050"/>
              </a:solidFill>
            </a:endParaRPr>
          </a:p>
        </p:txBody>
      </p:sp>
      <p:sp>
        <p:nvSpPr>
          <p:cNvPr id="2658" name="Shape 2658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B050"/>
              </a:solidFill>
            </a:endParaRPr>
          </a:p>
        </p:txBody>
      </p:sp>
      <p:sp>
        <p:nvSpPr>
          <p:cNvPr id="2659" name="Shape 2659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y</a:t>
            </a:r>
          </a:p>
        </p:txBody>
      </p:sp>
      <p:sp>
        <p:nvSpPr>
          <p:cNvPr id="2660" name="Shape 2660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y</a:t>
            </a:r>
          </a:p>
        </p:txBody>
      </p:sp>
      <p:sp>
        <p:nvSpPr>
          <p:cNvPr id="2661" name="Shape 2661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z</a:t>
            </a:r>
          </a:p>
        </p:txBody>
      </p:sp>
      <p:sp>
        <p:nvSpPr>
          <p:cNvPr id="2662" name="Shape 2662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z</a:t>
            </a:r>
          </a:p>
        </p:txBody>
      </p:sp>
      <p:grpSp>
        <p:nvGrpSpPr>
          <p:cNvPr id="2666" name="Group 2666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663" name="Shape 2663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5</a:t>
              </a:r>
            </a:p>
          </p:txBody>
        </p:sp>
        <p:sp>
          <p:nvSpPr>
            <p:cNvPr id="2664" name="Shape 2664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2665" name="Shape 2665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0</a:t>
              </a:r>
            </a:p>
          </p:txBody>
        </p:sp>
      </p:grpSp>
      <p:grpSp>
        <p:nvGrpSpPr>
          <p:cNvPr id="2670" name="Group 2670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667" name="Shape 266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4</a:t>
              </a:r>
            </a:p>
          </p:txBody>
        </p:sp>
        <p:sp>
          <p:nvSpPr>
            <p:cNvPr id="2668" name="Shape 2668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669" name="Shape 2669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671" name="Shape 2671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672" name="Shape 2672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673" name="Shape 2673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674" name="Shape 2674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675" name="Shape 2675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6F775-A8B3-7D4D-8217-5D8D06B5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3330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3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Shape 268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679" name="Shape 267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680" name="Shape 268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681" name="Shape 268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82" name="Shape 268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684" name="Shape 268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685" name="Shape 268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686" name="Shape 268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687" name="Shape 268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688" name="Shape 268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690" name="Shape 269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691" name="Shape 269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692" name="Shape 269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693" name="Shape 269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694" name="Shape 269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695" name="Shape 269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696" name="Shape 269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697" name="Shape 269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5</a:t>
            </a:r>
          </a:p>
        </p:txBody>
      </p:sp>
      <p:sp>
        <p:nvSpPr>
          <p:cNvPr id="2698" name="Shape 269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699" name="Shape 269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700" name="Shape 2700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701" name="Shape 2701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702" name="Shape 2702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03" name="Shape 2703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04" name="Shape 2704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05" name="Shape 2705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06" name="Shape 2706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707" name="Shape 2707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711" name="Group 2711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708" name="Shape 2708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5</a:t>
              </a:r>
            </a:p>
          </p:txBody>
        </p:sp>
        <p:sp>
          <p:nvSpPr>
            <p:cNvPr id="2709" name="Shape 2709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710" name="Shape 271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715" name="Group 2715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712" name="Shape 2712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4</a:t>
              </a:r>
            </a:p>
          </p:txBody>
        </p:sp>
        <p:sp>
          <p:nvSpPr>
            <p:cNvPr id="2713" name="Shape 2713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714" name="Shape 2714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716" name="Shape 2716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6</a:t>
            </a:r>
          </a:p>
        </p:txBody>
      </p:sp>
      <p:sp>
        <p:nvSpPr>
          <p:cNvPr id="2717" name="Shape 2717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718" name="Shape 2718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719" name="Shape 271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720" name="Shape 272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39CBD-35CB-0145-91F6-A23356E1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170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000" fill="hold"/>
                                        <p:tgtEl>
                                          <p:spTgt spid="2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8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Shape 2734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724" name="Shape 2724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725" name="Shape 2725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726" name="Shape 2726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27" name="Shape 2727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729" name="Shape 2729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730" name="Shape 2730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731" name="Shape 2731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732" name="Shape 2732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 dirty="0"/>
              <a:t>7</a:t>
            </a:r>
          </a:p>
        </p:txBody>
      </p:sp>
      <p:sp>
        <p:nvSpPr>
          <p:cNvPr id="2733" name="Shape 2733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735" name="Shape 2735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736" name="Shape 2736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737" name="Shape 2737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738" name="Shape 2738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739" name="Shape 2739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740" name="Shape 2740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741" name="Shape 2741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742" name="Shape 2742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5</a:t>
            </a:r>
          </a:p>
        </p:txBody>
      </p:sp>
      <p:sp>
        <p:nvSpPr>
          <p:cNvPr id="2743" name="Shape 2743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744" name="Shape 2744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745" name="Shape 2745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746" name="Shape 2746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747" name="Shape 2747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48" name="Shape 2748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49" name="Shape 2749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50" name="Shape 2750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51" name="Shape 2751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752" name="Shape 2752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756" name="Group 2756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753" name="Shape 2753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5</a:t>
              </a:r>
            </a:p>
          </p:txBody>
        </p:sp>
        <p:sp>
          <p:nvSpPr>
            <p:cNvPr id="2754" name="Shape 2754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755" name="Shape 2755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760" name="Group 2760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757" name="Shape 275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6</a:t>
              </a:r>
            </a:p>
          </p:txBody>
        </p:sp>
        <p:sp>
          <p:nvSpPr>
            <p:cNvPr id="2758" name="Shape 2758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759" name="Shape 2759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761" name="Shape 2761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6</a:t>
            </a:r>
          </a:p>
        </p:txBody>
      </p:sp>
      <p:sp>
        <p:nvSpPr>
          <p:cNvPr id="2762" name="Shape 2762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764" name="Shape 2764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765" name="Shape 2765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51" name="Shape 2808"/>
          <p:cNvSpPr/>
          <p:nvPr/>
        </p:nvSpPr>
        <p:spPr>
          <a:xfrm>
            <a:off x="6830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2AE9C-F375-2D4C-BEEF-E0C8B5C7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7061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Shape 277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769" name="Shape 276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770" name="Shape 277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771" name="Shape 277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72" name="Shape 277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774" name="Shape 277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775" name="Shape 277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776" name="Shape 277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777" name="Shape 277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778" name="Shape 277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780" name="Shape 278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781" name="Shape 278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782" name="Shape 278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783" name="Shape 278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784" name="Shape 278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785" name="Shape 278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786" name="Shape 278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787" name="Shape 278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5</a:t>
            </a:r>
          </a:p>
        </p:txBody>
      </p:sp>
      <p:sp>
        <p:nvSpPr>
          <p:cNvPr id="2788" name="Shape 278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789" name="Shape 278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790" name="Shape 2790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791" name="Shape 2791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792" name="Shape 2792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93" name="Shape 2793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94" name="Shape 2794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95" name="Shape 2795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96" name="Shape 2796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797" name="Shape 2797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801" name="Group 2801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798" name="Shape 2798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7</a:t>
              </a:r>
            </a:p>
          </p:txBody>
        </p:sp>
        <p:sp>
          <p:nvSpPr>
            <p:cNvPr id="2799" name="Shape 2799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800" name="Shape 280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805" name="Group 2805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802" name="Shape 2802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6</a:t>
              </a:r>
            </a:p>
          </p:txBody>
        </p:sp>
        <p:sp>
          <p:nvSpPr>
            <p:cNvPr id="2803" name="Shape 2803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804" name="Shape 2804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806" name="Shape 2806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6</a:t>
            </a:r>
          </a:p>
        </p:txBody>
      </p:sp>
      <p:sp>
        <p:nvSpPr>
          <p:cNvPr id="2807" name="Shape 2807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808" name="Shape 2808"/>
          <p:cNvSpPr/>
          <p:nvPr/>
        </p:nvSpPr>
        <p:spPr>
          <a:xfrm>
            <a:off x="6830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809" name="Shape 280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810" name="Shape 281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BF545-6AEF-E64E-8A85-ACEDD789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7783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000" fill="hold"/>
                                        <p:tgtEl>
                                          <p:spTgt spid="28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8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4" name="Shape 2824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814" name="Shape 2814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815" name="Shape 2815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816" name="Shape 2816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17" name="Shape 2817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819" name="Shape 2819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820" name="Shape 2820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821" name="Shape 2821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822" name="Shape 2822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823" name="Shape 2823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825" name="Shape 2825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826" name="Shape 2826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27" name="Shape 2827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28" name="Shape 2828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829" name="Shape 2829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830" name="Shape 2830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831" name="Shape 2831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832" name="Shape 2832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7</a:t>
            </a:r>
          </a:p>
        </p:txBody>
      </p:sp>
      <p:sp>
        <p:nvSpPr>
          <p:cNvPr id="2833" name="Shape 2833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834" name="Shape 2834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835" name="Shape 2835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836" name="Shape 2836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837" name="Shape 2837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838" name="Shape 2838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839" name="Shape 2839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840" name="Shape 2840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841" name="Shape 2841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842" name="Shape 2842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846" name="Group 2846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843" name="Shape 2843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7</a:t>
              </a:r>
            </a:p>
          </p:txBody>
        </p:sp>
        <p:sp>
          <p:nvSpPr>
            <p:cNvPr id="2844" name="Shape 2844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845" name="Shape 2845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850" name="Group 2850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847" name="Shape 284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6</a:t>
              </a:r>
            </a:p>
          </p:txBody>
        </p:sp>
        <p:sp>
          <p:nvSpPr>
            <p:cNvPr id="2848" name="Shape 2848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849" name="Shape 2849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851" name="Shape 2851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6</a:t>
            </a:r>
          </a:p>
        </p:txBody>
      </p:sp>
      <p:sp>
        <p:nvSpPr>
          <p:cNvPr id="2852" name="Shape 2852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853" name="Shape 2853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54" name="Shape 2854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855" name="Shape 2855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70F95-D8AE-9A43-9A2D-BE5701BF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2106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3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Shape 286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859" name="Shape 285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860" name="Shape 286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861" name="Shape 286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62" name="Shape 286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864" name="Shape 286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865" name="Shape 286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866" name="Shape 286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867" name="Shape 286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868" name="Shape 286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870" name="Shape 287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871" name="Shape 287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72" name="Shape 287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73" name="Shape 287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874" name="Shape 287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875" name="Shape 287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876" name="Shape 287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877" name="Shape 287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7</a:t>
            </a:r>
          </a:p>
        </p:txBody>
      </p:sp>
      <p:sp>
        <p:nvSpPr>
          <p:cNvPr id="2878" name="Shape 287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879" name="Shape 287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880" name="Shape 2880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881" name="Shape 2881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882" name="Shape 2882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883" name="Shape 2883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884" name="Shape 2884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885" name="Shape 2885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886" name="Shape 2886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887" name="Shape 2887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891" name="Group 2891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888" name="Shape 2888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7</a:t>
              </a:r>
            </a:p>
          </p:txBody>
        </p:sp>
        <p:sp>
          <p:nvSpPr>
            <p:cNvPr id="2889" name="Shape 2889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890" name="Shape 289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895" name="Group 2895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892" name="Shape 2892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6</a:t>
              </a:r>
            </a:p>
          </p:txBody>
        </p:sp>
        <p:sp>
          <p:nvSpPr>
            <p:cNvPr id="2893" name="Shape 2893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894" name="Shape 2894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896" name="Shape 2896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8</a:t>
            </a:r>
          </a:p>
        </p:txBody>
      </p:sp>
      <p:sp>
        <p:nvSpPr>
          <p:cNvPr id="2897" name="Shape 2897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898" name="Shape 2898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99" name="Shape 289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900" name="Shape 290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AC4253-97B3-BD48-B118-71912766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5512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000" fill="hold"/>
                                        <p:tgtEl>
                                          <p:spTgt spid="28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Shape 2914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904" name="Shape 2904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905" name="Shape 2905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906" name="Shape 2906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07" name="Shape 2907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909" name="Shape 2909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910" name="Shape 2910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911" name="Shape 2911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912" name="Shape 2912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913" name="Shape 2913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915" name="Shape 2915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916" name="Shape 2916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917" name="Shape 2917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918" name="Shape 2918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919" name="Shape 2919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920" name="Shape 2920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921" name="Shape 2921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922" name="Shape 2922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7</a:t>
            </a:r>
          </a:p>
        </p:txBody>
      </p:sp>
      <p:sp>
        <p:nvSpPr>
          <p:cNvPr id="2923" name="Shape 2923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924" name="Shape 2924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925" name="Shape 2925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926" name="Shape 2926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927" name="Shape 2927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928" name="Shape 2928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929" name="Shape 2929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930" name="Shape 2930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931" name="Shape 2931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932" name="Shape 2932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936" name="Group 2936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933" name="Shape 2933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7</a:t>
              </a:r>
            </a:p>
          </p:txBody>
        </p:sp>
        <p:sp>
          <p:nvSpPr>
            <p:cNvPr id="2934" name="Shape 2934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935" name="Shape 2935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940" name="Group 2940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937" name="Shape 293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8</a:t>
              </a:r>
            </a:p>
          </p:txBody>
        </p:sp>
        <p:sp>
          <p:nvSpPr>
            <p:cNvPr id="2938" name="Shape 2938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939" name="Shape 2939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941" name="Shape 2941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8</a:t>
            </a:r>
          </a:p>
        </p:txBody>
      </p:sp>
      <p:sp>
        <p:nvSpPr>
          <p:cNvPr id="2942" name="Shape 2942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943" name="Shape 2943"/>
          <p:cNvSpPr/>
          <p:nvPr/>
        </p:nvSpPr>
        <p:spPr>
          <a:xfrm>
            <a:off x="6830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944" name="Shape 2944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945" name="Shape 2945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998C1-A07B-4D45-B4E5-C290A44D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5955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1000"/>
                                        <p:tgtEl>
                                          <p:spTgt spid="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3" grpId="0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Shape 295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949" name="Shape 294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950" name="Shape 295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951" name="Shape 295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52" name="Shape 295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954" name="Shape 295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955" name="Shape 295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956" name="Shape 295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957" name="Shape 295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958" name="Shape 295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960" name="Shape 296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961" name="Shape 296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962" name="Shape 296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963" name="Shape 296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964" name="Shape 296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965" name="Shape 296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966" name="Shape 296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967" name="Shape 296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7</a:t>
            </a:r>
          </a:p>
        </p:txBody>
      </p:sp>
      <p:sp>
        <p:nvSpPr>
          <p:cNvPr id="2968" name="Shape 296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969" name="Shape 296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970" name="Shape 2970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971" name="Shape 2971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972" name="Shape 2972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973" name="Shape 2973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974" name="Shape 2974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975" name="Shape 2975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976" name="Shape 2976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977" name="Shape 2977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981" name="Group 2981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978" name="Shape 2978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7</a:t>
              </a:r>
            </a:p>
          </p:txBody>
        </p:sp>
        <p:sp>
          <p:nvSpPr>
            <p:cNvPr id="2979" name="Shape 2979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980" name="Shape 298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985" name="Group 2985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982" name="Shape 2982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8</a:t>
              </a:r>
            </a:p>
          </p:txBody>
        </p:sp>
        <p:sp>
          <p:nvSpPr>
            <p:cNvPr id="2983" name="Shape 2983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984" name="Shape 2984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986" name="Shape 2986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8</a:t>
            </a:r>
          </a:p>
        </p:txBody>
      </p:sp>
      <p:sp>
        <p:nvSpPr>
          <p:cNvPr id="2987" name="Shape 2987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988" name="Shape 2988"/>
          <p:cNvSpPr/>
          <p:nvPr/>
        </p:nvSpPr>
        <p:spPr>
          <a:xfrm flipH="1" flipV="1">
            <a:off x="2259208" y="3711014"/>
            <a:ext cx="4470989" cy="2"/>
          </a:xfrm>
          <a:prstGeom prst="line">
            <a:avLst/>
          </a:pr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89" name="Shape 298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990" name="Shape 299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991" name="Shape 2991"/>
          <p:cNvSpPr/>
          <p:nvPr/>
        </p:nvSpPr>
        <p:spPr>
          <a:xfrm>
            <a:off x="839391" y="4619740"/>
            <a:ext cx="3473648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rgbClr val="0000FF"/>
                </a:solidFill>
              </a:rPr>
              <a:t>C</a:t>
            </a:r>
            <a:r>
              <a:rPr sz="2531" dirty="0">
                <a:solidFill>
                  <a:srgbClr val="0000FF"/>
                </a:solidFill>
              </a:rPr>
              <a:t>ount-to-infinity scenario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0FD90-8C9E-4E41-B36A-9783E822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2903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000" fill="hold"/>
                                        <p:tgtEl>
                                          <p:spTgt spid="29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7" grpId="0" animBg="1" advAuto="0"/>
      <p:bldP spid="2988" grpId="0" animBg="1" advAuto="0"/>
      <p:bldP spid="2989" grpId="0" animBg="1" advAuto="0"/>
      <p:bldP spid="2991" grpId="0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Bellman-Ford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Routing loops</a:t>
            </a:r>
          </a:p>
          <a:p>
            <a:pPr lvl="1"/>
            <a:r>
              <a:rPr lang="en-US" dirty="0"/>
              <a:t>z routes through y, y routes through x</a:t>
            </a:r>
          </a:p>
          <a:p>
            <a:pPr lvl="1"/>
            <a:r>
              <a:rPr lang="en-US" dirty="0"/>
              <a:t>y loses connectivity to x</a:t>
            </a:r>
          </a:p>
          <a:p>
            <a:pPr lvl="1"/>
            <a:r>
              <a:rPr lang="en-US" dirty="0"/>
              <a:t>y decides to route through z</a:t>
            </a:r>
          </a:p>
          <a:p>
            <a:r>
              <a:rPr lang="en-US" dirty="0"/>
              <a:t>Can take a very long time to resolve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Count-to-infinity scenario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136601-E35D-0340-B635-DE03CC84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94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Poisoned reverse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>
                <a:solidFill>
                  <a:srgbClr val="0000FF"/>
                </a:solidFill>
              </a:rPr>
              <a:t>heuristic</a:t>
            </a:r>
            <a:r>
              <a:rPr lang="en-US" dirty="0"/>
              <a:t> to avoid count-to-infinity</a:t>
            </a:r>
          </a:p>
          <a:p>
            <a:pPr lvl="1"/>
            <a:r>
              <a:rPr lang="en-US" dirty="0"/>
              <a:t>If z routes to x through y, </a:t>
            </a:r>
          </a:p>
          <a:p>
            <a:pPr lvl="2"/>
            <a:r>
              <a:rPr lang="en-US" dirty="0"/>
              <a:t>z advertises to y that its cost to x is infinite</a:t>
            </a:r>
          </a:p>
          <a:p>
            <a:pPr lvl="1"/>
            <a:r>
              <a:rPr lang="en-US" dirty="0"/>
              <a:t>y never decides to route to x through z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2AD50C-F49B-5A49-9A5E-17EA3361B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3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Shape 3015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001" name="Shape 3001"/>
          <p:cNvSpPr/>
          <p:nvPr/>
        </p:nvSpPr>
        <p:spPr>
          <a:xfrm flipH="1">
            <a:off x="2040086" y="2812097"/>
            <a:ext cx="2308421" cy="76870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02" name="Shape 3002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03" name="Shape 3003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05" name="Shape 3005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006" name="Shape 3006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007" name="Shape 3007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008" name="Shape 3008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009" name="Shape 3009"/>
          <p:cNvSpPr/>
          <p:nvPr/>
        </p:nvSpPr>
        <p:spPr>
          <a:xfrm>
            <a:off x="2911078" y="258975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2</a:t>
            </a:r>
          </a:p>
        </p:txBody>
      </p:sp>
      <p:sp>
        <p:nvSpPr>
          <p:cNvPr id="3010" name="Shape 3010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grpSp>
        <p:nvGrpSpPr>
          <p:cNvPr id="3014" name="Group 3014"/>
          <p:cNvGrpSpPr/>
          <p:nvPr/>
        </p:nvGrpSpPr>
        <p:grpSpPr>
          <a:xfrm>
            <a:off x="4321969" y="1366242"/>
            <a:ext cx="910828" cy="464344"/>
            <a:chOff x="0" y="0"/>
            <a:chExt cx="1295400" cy="660400"/>
          </a:xfrm>
        </p:grpSpPr>
        <p:sp>
          <p:nvSpPr>
            <p:cNvPr id="3011" name="Shape 3011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2</a:t>
              </a:r>
            </a:p>
          </p:txBody>
        </p:sp>
        <p:sp>
          <p:nvSpPr>
            <p:cNvPr id="3012" name="Shape 3012"/>
            <p:cNvSpPr/>
            <p:nvPr/>
          </p:nvSpPr>
          <p:spPr>
            <a:xfrm>
              <a:off x="5461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3013" name="Shape 3013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3016" name="Shape 3016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017" name="Shape 3017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018" name="Shape 3018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019" name="Shape 3019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020" name="Shape 3020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021" name="Shape 3021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022" name="Shape 3022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023" name="Shape 3023"/>
          <p:cNvSpPr/>
          <p:nvPr/>
        </p:nvSpPr>
        <p:spPr>
          <a:xfrm>
            <a:off x="4179094" y="1634133"/>
            <a:ext cx="437555" cy="535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8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375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024" name="Shape 3024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025" name="Shape 3025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grpSp>
        <p:nvGrpSpPr>
          <p:cNvPr id="3040" name="Group 3040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3026" name="Shape 3026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9900"/>
                </a:solidFill>
              </a:endParaRPr>
            </a:p>
          </p:txBody>
        </p:sp>
        <p:sp>
          <p:nvSpPr>
            <p:cNvPr id="3027" name="Shape 3027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x</a:t>
              </a:r>
            </a:p>
          </p:txBody>
        </p:sp>
        <p:sp>
          <p:nvSpPr>
            <p:cNvPr id="3028" name="Shape 3028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9900"/>
                </a:solidFill>
              </a:endParaRPr>
            </a:p>
          </p:txBody>
        </p:sp>
        <p:sp>
          <p:nvSpPr>
            <p:cNvPr id="3029" name="Shape 3029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9900"/>
                </a:solidFill>
              </a:endParaRPr>
            </a:p>
          </p:txBody>
        </p:sp>
        <p:sp>
          <p:nvSpPr>
            <p:cNvPr id="3030" name="Shape 3030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y</a:t>
              </a:r>
            </a:p>
          </p:txBody>
        </p:sp>
        <p:sp>
          <p:nvSpPr>
            <p:cNvPr id="3031" name="Shape 3031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y</a:t>
              </a:r>
            </a:p>
          </p:txBody>
        </p:sp>
        <p:sp>
          <p:nvSpPr>
            <p:cNvPr id="3032" name="Shape 3032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z</a:t>
              </a:r>
            </a:p>
          </p:txBody>
        </p:sp>
        <p:sp>
          <p:nvSpPr>
            <p:cNvPr id="3033" name="Shape 3033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z</a:t>
              </a:r>
            </a:p>
          </p:txBody>
        </p:sp>
        <p:sp>
          <p:nvSpPr>
            <p:cNvPr id="3034" name="Shape 3034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3035" name="Shape 3035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3036" name="Shape 3036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  <p:sp>
          <p:nvSpPr>
            <p:cNvPr id="3037" name="Shape 3037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2</a:t>
              </a:r>
            </a:p>
          </p:txBody>
        </p:sp>
        <p:sp>
          <p:nvSpPr>
            <p:cNvPr id="3038" name="Shape 3038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3039" name="Shape 3039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3041" name="Shape 3041"/>
          <p:cNvSpPr/>
          <p:nvPr/>
        </p:nvSpPr>
        <p:spPr>
          <a:xfrm flipV="1">
            <a:off x="2195539" y="2708237"/>
            <a:ext cx="1992807" cy="673431"/>
          </a:xfrm>
          <a:prstGeom prst="line">
            <a:avLst/>
          </a:prstGeom>
          <a:ln w="762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42" name="Shape 3042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4E3AEE-E091-8541-AEFB-5E01C34357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93C13-EE0C-EE4E-AB27-289AE4B3B289}" type="slidenum">
              <a:rPr lang="en-US" altLang="x-none" smtClean="0"/>
              <a:pPr/>
              <a:t>37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78352457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1000" fill="hold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1" grpId="0" animBg="1" advAuto="0"/>
      <p:bldP spid="3009" grpId="0" animBg="1" advAuto="0"/>
      <p:bldP spid="3023" grpId="0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Shape 3057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047" name="Shape 3047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48" name="Shape 3048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50" name="Shape 3050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051" name="Shape 3051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052" name="Shape 3052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053" name="Shape 3053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054" name="Shape 3054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3055" name="Shape 3055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056" name="Shape 3056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058" name="Shape 3058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059" name="Shape 3059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060" name="Shape 3060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061" name="Shape 3061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062" name="Shape 3062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063" name="Shape 3063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064" name="Shape 3064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065" name="Shape 3065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066" name="Shape 3066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grpSp>
        <p:nvGrpSpPr>
          <p:cNvPr id="3081" name="Group 3081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3067" name="Shape 3067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9900"/>
                </a:solidFill>
              </a:endParaRPr>
            </a:p>
          </p:txBody>
        </p:sp>
        <p:sp>
          <p:nvSpPr>
            <p:cNvPr id="3068" name="Shape 3068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x</a:t>
              </a:r>
            </a:p>
          </p:txBody>
        </p:sp>
        <p:sp>
          <p:nvSpPr>
            <p:cNvPr id="3069" name="Shape 3069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9900"/>
                </a:solidFill>
              </a:endParaRPr>
            </a:p>
          </p:txBody>
        </p:sp>
        <p:sp>
          <p:nvSpPr>
            <p:cNvPr id="3070" name="Shape 3070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9900"/>
                </a:solidFill>
              </a:endParaRPr>
            </a:p>
          </p:txBody>
        </p:sp>
        <p:sp>
          <p:nvSpPr>
            <p:cNvPr id="3071" name="Shape 3071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y</a:t>
              </a:r>
            </a:p>
          </p:txBody>
        </p:sp>
        <p:sp>
          <p:nvSpPr>
            <p:cNvPr id="3072" name="Shape 3072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y</a:t>
              </a:r>
            </a:p>
          </p:txBody>
        </p:sp>
        <p:sp>
          <p:nvSpPr>
            <p:cNvPr id="3073" name="Shape 3073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z</a:t>
              </a:r>
            </a:p>
          </p:txBody>
        </p:sp>
        <p:sp>
          <p:nvSpPr>
            <p:cNvPr id="3074" name="Shape 3074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z</a:t>
              </a:r>
            </a:p>
          </p:txBody>
        </p:sp>
        <p:sp>
          <p:nvSpPr>
            <p:cNvPr id="3075" name="Shape 3075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3076" name="Shape 3076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3077" name="Shape 3077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  <p:sp>
          <p:nvSpPr>
            <p:cNvPr id="3078" name="Shape 3078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2</a:t>
              </a:r>
            </a:p>
          </p:txBody>
        </p:sp>
        <p:sp>
          <p:nvSpPr>
            <p:cNvPr id="3079" name="Shape 3079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3080" name="Shape 3080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3082" name="Shape 3082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083" name="Shape 3083"/>
          <p:cNvSpPr/>
          <p:nvPr/>
        </p:nvSpPr>
        <p:spPr>
          <a:xfrm>
            <a:off x="4179094" y="165199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085" name="Shape 3085"/>
          <p:cNvSpPr/>
          <p:nvPr/>
        </p:nvSpPr>
        <p:spPr>
          <a:xfrm>
            <a:off x="4170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78EA1B-BF89-4F4F-AC09-AE144FD74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93C13-EE0C-EE4E-AB27-289AE4B3B289}" type="slidenum">
              <a:rPr lang="en-US" altLang="x-none" smtClean="0"/>
              <a:pPr/>
              <a:t>38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3136433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5" grpId="0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Shape 309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089" name="Shape 3089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90" name="Shape 3090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92" name="Shape 3092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093" name="Shape 3093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094" name="Shape 3094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095" name="Shape 3095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096" name="Shape 3096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3097" name="Shape 3097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098" name="Shape 3098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00" name="Shape 310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101" name="Shape 310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02" name="Shape 310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03" name="Shape 310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04" name="Shape 310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05" name="Shape 310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06" name="Shape 310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07" name="Shape 3107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108" name="Shape 3108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109" name="Shape 3109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3110" name="Shape 3110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3111" name="Shape 3111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12" name="Shape 3112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13" name="Shape 3113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14" name="Shape 3114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15" name="Shape 3115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116" name="Shape 3116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117" name="Shape 3117"/>
          <p:cNvSpPr/>
          <p:nvPr/>
        </p:nvSpPr>
        <p:spPr>
          <a:xfrm>
            <a:off x="6893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3118" name="Shape 3118"/>
          <p:cNvSpPr/>
          <p:nvPr/>
        </p:nvSpPr>
        <p:spPr>
          <a:xfrm>
            <a:off x="7286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119" name="Shape 3119"/>
          <p:cNvSpPr/>
          <p:nvPr/>
        </p:nvSpPr>
        <p:spPr>
          <a:xfrm>
            <a:off x="7661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120" name="Shape 3120"/>
          <p:cNvSpPr/>
          <p:nvPr/>
        </p:nvSpPr>
        <p:spPr>
          <a:xfrm>
            <a:off x="7259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121" name="Shape 3121"/>
          <p:cNvSpPr/>
          <p:nvPr/>
        </p:nvSpPr>
        <p:spPr>
          <a:xfrm>
            <a:off x="7652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22" name="Shape 3122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123" name="Shape 3123"/>
          <p:cNvSpPr/>
          <p:nvPr/>
        </p:nvSpPr>
        <p:spPr>
          <a:xfrm>
            <a:off x="4179094" y="165199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125" name="Shape 3125"/>
          <p:cNvSpPr/>
          <p:nvPr/>
        </p:nvSpPr>
        <p:spPr>
          <a:xfrm>
            <a:off x="4170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126" name="Shape 3126"/>
          <p:cNvSpPr/>
          <p:nvPr/>
        </p:nvSpPr>
        <p:spPr>
          <a:xfrm>
            <a:off x="6768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EBAF45-151E-C349-9C4F-29D7A2E0E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93C13-EE0C-EE4E-AB27-289AE4B3B289}" type="slidenum">
              <a:rPr lang="en-US" altLang="x-none" smtClean="0"/>
              <a:pPr/>
              <a:t>39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9511127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Shape 3140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130" name="Shape 3130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131" name="Shape 3131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133" name="Shape 3133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134" name="Shape 3134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135" name="Shape 3135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136" name="Shape 3136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137" name="Shape 3137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3138" name="Shape 3138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139" name="Shape 3139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41" name="Shape 3141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142" name="Shape 3142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43" name="Shape 3143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44" name="Shape 3144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45" name="Shape 3145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46" name="Shape 3146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47" name="Shape 3147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48" name="Shape 314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149" name="Shape 314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150" name="Shape 3150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3151" name="Shape 3151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3152" name="Shape 3152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53" name="Shape 3153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54" name="Shape 3154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55" name="Shape 3155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56" name="Shape 3156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157" name="Shape 3157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158" name="Shape 3158"/>
          <p:cNvSpPr/>
          <p:nvPr/>
        </p:nvSpPr>
        <p:spPr>
          <a:xfrm>
            <a:off x="6893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7</a:t>
            </a:r>
          </a:p>
        </p:txBody>
      </p:sp>
      <p:sp>
        <p:nvSpPr>
          <p:cNvPr id="3159" name="Shape 3159"/>
          <p:cNvSpPr/>
          <p:nvPr/>
        </p:nvSpPr>
        <p:spPr>
          <a:xfrm>
            <a:off x="7286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160" name="Shape 3160"/>
          <p:cNvSpPr/>
          <p:nvPr/>
        </p:nvSpPr>
        <p:spPr>
          <a:xfrm>
            <a:off x="7661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161" name="Shape 3161"/>
          <p:cNvSpPr/>
          <p:nvPr/>
        </p:nvSpPr>
        <p:spPr>
          <a:xfrm>
            <a:off x="7259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162" name="Shape 3162"/>
          <p:cNvSpPr/>
          <p:nvPr/>
        </p:nvSpPr>
        <p:spPr>
          <a:xfrm>
            <a:off x="7652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63" name="Shape 3163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164" name="Shape 3164"/>
          <p:cNvSpPr/>
          <p:nvPr/>
        </p:nvSpPr>
        <p:spPr>
          <a:xfrm>
            <a:off x="4179094" y="165199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166" name="Shape 3166"/>
          <p:cNvSpPr/>
          <p:nvPr/>
        </p:nvSpPr>
        <p:spPr>
          <a:xfrm>
            <a:off x="4170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167" name="Shape 3167"/>
          <p:cNvSpPr/>
          <p:nvPr/>
        </p:nvSpPr>
        <p:spPr>
          <a:xfrm>
            <a:off x="6768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168" name="Shape 3168"/>
          <p:cNvSpPr/>
          <p:nvPr/>
        </p:nvSpPr>
        <p:spPr>
          <a:xfrm flipH="1" flipV="1">
            <a:off x="2259208" y="3711014"/>
            <a:ext cx="4470989" cy="2"/>
          </a:xfrm>
          <a:prstGeom prst="line">
            <a:avLst/>
          </a:pr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80FC42-A1FB-C743-9003-7CA162E0C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93C13-EE0C-EE4E-AB27-289AE4B3B289}" type="slidenum">
              <a:rPr lang="en-US" altLang="x-none" smtClean="0"/>
              <a:pPr/>
              <a:t>40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375332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" dur="1000" fill="hold"/>
                                        <p:tgtEl>
                                          <p:spTgt spid="3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8" grpId="0" animBg="1" advAuto="0"/>
      <p:bldP spid="3163" grpId="0" animBg="1" advAuto="0"/>
      <p:bldP spid="3168" grpId="0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Shape 3182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172" name="Shape 3172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173" name="Shape 3173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175" name="Shape 3175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176" name="Shape 3176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177" name="Shape 3177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178" name="Shape 3178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179" name="Shape 3179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3180" name="Shape 3180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181" name="Shape 3181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83" name="Shape 3183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184" name="Shape 3184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85" name="Shape 3185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86" name="Shape 3186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87" name="Shape 3187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88" name="Shape 3188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89" name="Shape 3189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90" name="Shape 3190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191" name="Shape 3191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192" name="Shape 3192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3193" name="Shape 3193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3194" name="Shape 3194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95" name="Shape 3195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96" name="Shape 3196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97" name="Shape 3197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98" name="Shape 3198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199" name="Shape 3199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200" name="Shape 3200"/>
          <p:cNvSpPr/>
          <p:nvPr/>
        </p:nvSpPr>
        <p:spPr>
          <a:xfrm>
            <a:off x="6893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7</a:t>
            </a:r>
          </a:p>
        </p:txBody>
      </p:sp>
      <p:sp>
        <p:nvSpPr>
          <p:cNvPr id="3201" name="Shape 3201"/>
          <p:cNvSpPr/>
          <p:nvPr/>
        </p:nvSpPr>
        <p:spPr>
          <a:xfrm>
            <a:off x="7286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202" name="Shape 3202"/>
          <p:cNvSpPr/>
          <p:nvPr/>
        </p:nvSpPr>
        <p:spPr>
          <a:xfrm>
            <a:off x="7661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203" name="Shape 3203"/>
          <p:cNvSpPr/>
          <p:nvPr/>
        </p:nvSpPr>
        <p:spPr>
          <a:xfrm>
            <a:off x="7259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204" name="Shape 3204"/>
          <p:cNvSpPr/>
          <p:nvPr/>
        </p:nvSpPr>
        <p:spPr>
          <a:xfrm>
            <a:off x="7652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206" name="Shape 3206"/>
          <p:cNvSpPr/>
          <p:nvPr/>
        </p:nvSpPr>
        <p:spPr>
          <a:xfrm>
            <a:off x="4170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207" name="Shape 3207"/>
          <p:cNvSpPr/>
          <p:nvPr/>
        </p:nvSpPr>
        <p:spPr>
          <a:xfrm>
            <a:off x="6768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208" name="Shape 3208"/>
          <p:cNvSpPr/>
          <p:nvPr/>
        </p:nvSpPr>
        <p:spPr>
          <a:xfrm flipH="1" flipV="1">
            <a:off x="2259208" y="3711014"/>
            <a:ext cx="4470989" cy="2"/>
          </a:xfrm>
          <a:prstGeom prst="line">
            <a:avLst/>
          </a:pr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209" name="Shape 3209"/>
          <p:cNvSpPr/>
          <p:nvPr/>
        </p:nvSpPr>
        <p:spPr>
          <a:xfrm>
            <a:off x="4286250" y="169664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828BDB-ACA3-B643-A1DA-7D80C7D862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93C13-EE0C-EE4E-AB27-289AE4B3B289}" type="slidenum">
              <a:rPr lang="en-US" altLang="x-none" smtClean="0"/>
              <a:pPr/>
              <a:t>41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25157554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3" name="Shape 3223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213" name="Shape 3213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214" name="Shape 3214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216" name="Shape 3216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217" name="Shape 3217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218" name="Shape 3218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219" name="Shape 3219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220" name="Shape 3220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3221" name="Shape 3221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222" name="Shape 3222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224" name="Shape 3224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225" name="Shape 3225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226" name="Shape 3226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227" name="Shape 3227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228" name="Shape 3228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229" name="Shape 3229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230" name="Shape 3230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231" name="Shape 3231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232" name="Shape 3232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233" name="Shape 3233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3234" name="Shape 3234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3235" name="Shape 3235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236" name="Shape 3236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237" name="Shape 3237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238" name="Shape 3238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239" name="Shape 3239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240" name="Shape 3240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241" name="Shape 3241"/>
          <p:cNvSpPr/>
          <p:nvPr/>
        </p:nvSpPr>
        <p:spPr>
          <a:xfrm>
            <a:off x="6893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7</a:t>
            </a:r>
          </a:p>
        </p:txBody>
      </p:sp>
      <p:sp>
        <p:nvSpPr>
          <p:cNvPr id="3242" name="Shape 3242"/>
          <p:cNvSpPr/>
          <p:nvPr/>
        </p:nvSpPr>
        <p:spPr>
          <a:xfrm>
            <a:off x="7286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243" name="Shape 3243"/>
          <p:cNvSpPr/>
          <p:nvPr/>
        </p:nvSpPr>
        <p:spPr>
          <a:xfrm>
            <a:off x="7661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244" name="Shape 3244"/>
          <p:cNvSpPr/>
          <p:nvPr/>
        </p:nvSpPr>
        <p:spPr>
          <a:xfrm>
            <a:off x="7259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245" name="Shape 3245"/>
          <p:cNvSpPr/>
          <p:nvPr/>
        </p:nvSpPr>
        <p:spPr>
          <a:xfrm>
            <a:off x="7652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247" name="Shape 3247"/>
          <p:cNvSpPr/>
          <p:nvPr/>
        </p:nvSpPr>
        <p:spPr>
          <a:xfrm>
            <a:off x="6768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248" name="Shape 3248"/>
          <p:cNvSpPr/>
          <p:nvPr/>
        </p:nvSpPr>
        <p:spPr>
          <a:xfrm flipH="1" flipV="1">
            <a:off x="2259208" y="3711014"/>
            <a:ext cx="4470989" cy="2"/>
          </a:xfrm>
          <a:prstGeom prst="line">
            <a:avLst/>
          </a:pr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249" name="Shape 3249"/>
          <p:cNvSpPr/>
          <p:nvPr/>
        </p:nvSpPr>
        <p:spPr>
          <a:xfrm>
            <a:off x="4286250" y="169664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7</a:t>
            </a:r>
          </a:p>
        </p:txBody>
      </p:sp>
      <p:sp>
        <p:nvSpPr>
          <p:cNvPr id="3250" name="Shape 3250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251" name="Shape 3251"/>
          <p:cNvSpPr/>
          <p:nvPr/>
        </p:nvSpPr>
        <p:spPr>
          <a:xfrm>
            <a:off x="4295180" y="13841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8</a:t>
            </a:r>
          </a:p>
        </p:txBody>
      </p:sp>
      <p:sp>
        <p:nvSpPr>
          <p:cNvPr id="3252" name="Shape 3252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AB19C2-2D75-A943-8088-1923089A6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93C13-EE0C-EE4E-AB27-289AE4B3B289}" type="slidenum">
              <a:rPr lang="en-US" altLang="x-none" smtClean="0"/>
              <a:pPr/>
              <a:t>42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2887197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" dur="1000" fill="hold"/>
                                        <p:tgtEl>
                                          <p:spTgt spid="3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0" grpId="0" animBg="1" advAuto="0"/>
      <p:bldP spid="3250" grpId="1" animBg="1" advAuto="0"/>
      <p:bldP spid="3251" grpId="0" animBg="1" advAuto="0"/>
      <p:bldP spid="3252" grpId="0" animBg="1" advAuto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Poisoned reverse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>
                <a:solidFill>
                  <a:srgbClr val="0000FF"/>
                </a:solidFill>
              </a:rPr>
              <a:t>heuristic</a:t>
            </a:r>
            <a:r>
              <a:rPr lang="en-US" dirty="0"/>
              <a:t> to avoid count-to-infinity</a:t>
            </a:r>
          </a:p>
          <a:p>
            <a:pPr lvl="1"/>
            <a:r>
              <a:rPr lang="en-US" dirty="0"/>
              <a:t>If z routes to x through y, </a:t>
            </a:r>
          </a:p>
          <a:p>
            <a:pPr lvl="2"/>
            <a:r>
              <a:rPr lang="en-US" dirty="0"/>
              <a:t>z advertises to y that its cost to x is infinite</a:t>
            </a:r>
          </a:p>
          <a:p>
            <a:pPr lvl="1"/>
            <a:r>
              <a:rPr lang="en-US" dirty="0"/>
              <a:t>y never decides to route to x through z</a:t>
            </a:r>
          </a:p>
          <a:p>
            <a:r>
              <a:rPr lang="en-US" dirty="0">
                <a:solidFill>
                  <a:srgbClr val="0000FF"/>
                </a:solidFill>
              </a:rPr>
              <a:t>Not guaranteed</a:t>
            </a:r>
          </a:p>
          <a:p>
            <a:r>
              <a:rPr lang="en-US" dirty="0">
                <a:solidFill>
                  <a:srgbClr val="0000FF"/>
                </a:solidFill>
              </a:rPr>
              <a:t>Loop-free routing </a:t>
            </a:r>
            <a:r>
              <a:rPr lang="en-US" dirty="0"/>
              <a:t>examples include</a:t>
            </a:r>
          </a:p>
          <a:p>
            <a:pPr lvl="1"/>
            <a:r>
              <a:rPr lang="en-US" dirty="0"/>
              <a:t>Path vector</a:t>
            </a:r>
          </a:p>
          <a:p>
            <a:pPr lvl="1"/>
            <a:r>
              <a:rPr lang="en-US" dirty="0"/>
              <a:t>Source tracing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52C11-D41E-3F42-AA35-4614C29D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0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Distance-vector routing</a:t>
            </a:r>
          </a:p>
        </p:txBody>
      </p:sp>
      <p:sp>
        <p:nvSpPr>
          <p:cNvPr id="1194" name="Shape 11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Scalability?</a:t>
            </a:r>
          </a:p>
          <a:p>
            <a:pPr lvl="1"/>
            <a:r>
              <a:rPr lang="en-US" dirty="0"/>
              <a:t>Requires fewer messages than Link-State</a:t>
            </a:r>
          </a:p>
          <a:p>
            <a:pPr lvl="1"/>
            <a:r>
              <a:rPr lang="en-US" dirty="0"/>
              <a:t>O(N) update time on arrival of a new DV from neighbor</a:t>
            </a:r>
          </a:p>
          <a:p>
            <a:pPr lvl="1"/>
            <a:r>
              <a:rPr lang="en-US" dirty="0"/>
              <a:t>O(network diameter) convergence time </a:t>
            </a:r>
          </a:p>
          <a:p>
            <a:pPr lvl="1"/>
            <a:r>
              <a:rPr lang="en-US" dirty="0"/>
              <a:t>O(N) entries in forwarding table</a:t>
            </a:r>
          </a:p>
          <a:p>
            <a:endParaRPr lang="en-US" dirty="0"/>
          </a:p>
          <a:p>
            <a:r>
              <a:rPr lang="en-US" dirty="0"/>
              <a:t>RIP is a protocol that implements DV (IETF RFC 2080)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FFA2A3-0B5D-7040-8864-AF6E4FB8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870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of LS and DV routing</a:t>
            </a: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Messaging complexity</a:t>
            </a:r>
          </a:p>
          <a:p>
            <a:r>
              <a:rPr lang="en-US" dirty="0"/>
              <a:t>LS: with N nodes, E links,         O(NE) messages sent  </a:t>
            </a:r>
          </a:p>
          <a:p>
            <a:r>
              <a:rPr lang="en-US" dirty="0"/>
              <a:t>DV: exchange between neighbors only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Speed of convergence</a:t>
            </a:r>
          </a:p>
          <a:p>
            <a:r>
              <a:rPr lang="en-US" dirty="0"/>
              <a:t>LS: relatively fast</a:t>
            </a:r>
          </a:p>
          <a:p>
            <a:r>
              <a:rPr lang="en-US" dirty="0"/>
              <a:t>DV: convergence time varies</a:t>
            </a:r>
          </a:p>
          <a:p>
            <a:pPr lvl="1"/>
            <a:r>
              <a:rPr lang="en-US" dirty="0"/>
              <a:t>Count-to-infinity problem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Robustness: what happens if router malfunctions?</a:t>
            </a:r>
          </a:p>
          <a:p>
            <a:r>
              <a:rPr lang="en-US" dirty="0"/>
              <a:t>LS: </a:t>
            </a:r>
          </a:p>
          <a:p>
            <a:pPr lvl="1"/>
            <a:r>
              <a:rPr lang="en-US" dirty="0"/>
              <a:t>Node can advertise incorrect </a:t>
            </a:r>
            <a:r>
              <a:rPr lang="en-US" dirty="0">
                <a:solidFill>
                  <a:srgbClr val="0000FF"/>
                </a:solidFill>
              </a:rPr>
              <a:t>link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Each node computes its </a:t>
            </a:r>
            <a:r>
              <a:rPr lang="en-US" i="1" dirty="0"/>
              <a:t>own</a:t>
            </a:r>
            <a:r>
              <a:rPr lang="en-US" dirty="0"/>
              <a:t> table</a:t>
            </a:r>
          </a:p>
          <a:p>
            <a:r>
              <a:rPr lang="en-US" dirty="0"/>
              <a:t>DV:</a:t>
            </a:r>
          </a:p>
          <a:p>
            <a:pPr lvl="1"/>
            <a:r>
              <a:rPr lang="en-US" dirty="0"/>
              <a:t>Node can advertise incorrect </a:t>
            </a:r>
            <a:r>
              <a:rPr lang="en-US" dirty="0">
                <a:solidFill>
                  <a:srgbClr val="0000FF"/>
                </a:solidFill>
              </a:rPr>
              <a:t>path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Each node’s table used by others (error propagates)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C9A172-AE33-3E40-B2DB-DD782C76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2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Similarities between LS and DV routing</a:t>
            </a:r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are shortest-path based routing</a:t>
            </a:r>
          </a:p>
          <a:p>
            <a:pPr lvl="1"/>
            <a:r>
              <a:rPr lang="en-US" dirty="0"/>
              <a:t>Minimizing cost metric (link weights) a common optimization goal</a:t>
            </a:r>
          </a:p>
          <a:p>
            <a:pPr lvl="2"/>
            <a:r>
              <a:rPr lang="en-US" dirty="0"/>
              <a:t>Routers share a common view as to what makes a path “good” and how to measure the “goodness” of a path</a:t>
            </a:r>
          </a:p>
          <a:p>
            <a:r>
              <a:rPr lang="en-US" dirty="0"/>
              <a:t>Due to shared goal, commonly used inside an organization</a:t>
            </a:r>
          </a:p>
          <a:p>
            <a:pPr lvl="1"/>
            <a:r>
              <a:rPr lang="en-US" dirty="0"/>
              <a:t>RIP and OSPF are mostly used for </a:t>
            </a:r>
            <a:r>
              <a:rPr lang="en-US" dirty="0">
                <a:solidFill>
                  <a:srgbClr val="0000FF"/>
                </a:solidFill>
              </a:rPr>
              <a:t>intra</a:t>
            </a:r>
            <a:r>
              <a:rPr lang="en-US" dirty="0"/>
              <a:t>-domain routing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D1E3E9-8974-854A-9851-1FD0D568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0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Intra-AS routing</a:t>
            </a:r>
          </a:p>
          <a:p>
            <a:pPr lvl="1"/>
            <a:r>
              <a:rPr lang="en-US" dirty="0"/>
              <a:t>Link-state routing </a:t>
            </a:r>
          </a:p>
          <a:p>
            <a:pPr lvl="1"/>
            <a:r>
              <a:rPr lang="en-US" dirty="0"/>
              <a:t>Distance-vector routing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E4524-8537-E142-B6CC-E0AC2919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1490454382</TotalTime>
  <Pages>7</Pages>
  <Words>2356</Words>
  <Application>Microsoft Macintosh PowerPoint</Application>
  <PresentationFormat>On-screen Show (4:3)</PresentationFormat>
  <Paragraphs>894</Paragraphs>
  <Slides>47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MS Mincho</vt:lpstr>
      <vt:lpstr>ＭＳ Ｐゴシック</vt:lpstr>
      <vt:lpstr>Arial</vt:lpstr>
      <vt:lpstr>Arial Black</vt:lpstr>
      <vt:lpstr>Gill Sans</vt:lpstr>
      <vt:lpstr>Monotype Sorts</vt:lpstr>
      <vt:lpstr>Times New Roman</vt:lpstr>
      <vt:lpstr>Wingdings</vt:lpstr>
      <vt:lpstr>dbllineb</vt:lpstr>
      <vt:lpstr>EECS 489 Computer Networks  Winter 2025</vt:lpstr>
      <vt:lpstr>Agenda</vt:lpstr>
      <vt:lpstr>Recap: Least-cost path routing</vt:lpstr>
      <vt:lpstr>Recap:  Dijkstra’s algorithm</vt:lpstr>
      <vt:lpstr>From routing algorithm to protocol</vt:lpstr>
      <vt:lpstr>Link-state routing</vt:lpstr>
      <vt:lpstr>Flooding link state</vt:lpstr>
      <vt:lpstr>Convergence</vt:lpstr>
      <vt:lpstr>Convergence delay</vt:lpstr>
      <vt:lpstr>Loop from convergence delay</vt:lpstr>
      <vt:lpstr>Performance during convergence period</vt:lpstr>
      <vt:lpstr>Link-state routing</vt:lpstr>
      <vt:lpstr>Link-state routing protocols</vt:lpstr>
      <vt:lpstr>OSPF:  Open Shortest-Path First</vt:lpstr>
      <vt:lpstr>Distance-vector protocol</vt:lpstr>
      <vt:lpstr>Bellman-Ford equation</vt:lpstr>
      <vt:lpstr>Bellman-Ford example </vt:lpstr>
      <vt:lpstr>Distance vector algorithm </vt:lpstr>
      <vt:lpstr>Distance vector algorithm </vt:lpstr>
      <vt:lpstr>Distance vector algorithm </vt:lpstr>
      <vt:lpstr>5-minute break!</vt:lpstr>
      <vt:lpstr>Thanks for the midterm eval!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Problems with Bellman-Ford</vt:lpstr>
      <vt:lpstr>Poisoned reverse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Poisoned reverse</vt:lpstr>
      <vt:lpstr>Distance-vector routing</vt:lpstr>
      <vt:lpstr>Comparison of LS and DV routing</vt:lpstr>
      <vt:lpstr>Similarities between LS and DV routing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1289</cp:revision>
  <cp:lastPrinted>1999-09-08T17:25:07Z</cp:lastPrinted>
  <dcterms:created xsi:type="dcterms:W3CDTF">2014-01-14T18:15:50Z</dcterms:created>
  <dcterms:modified xsi:type="dcterms:W3CDTF">2025-03-14T19:15:07Z</dcterms:modified>
  <cp:category/>
</cp:coreProperties>
</file>