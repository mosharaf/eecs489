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>
  <p:sldMasterIdLst>
    <p:sldMasterId id="2147483648" r:id="rId1"/>
  </p:sldMasterIdLst>
  <p:notesMasterIdLst>
    <p:notesMasterId r:id="rId57"/>
  </p:notesMasterIdLst>
  <p:handoutMasterIdLst>
    <p:handoutMasterId r:id="rId58"/>
  </p:handoutMasterIdLst>
  <p:sldIdLst>
    <p:sldId id="258" r:id="rId2"/>
    <p:sldId id="487" r:id="rId3"/>
    <p:sldId id="531" r:id="rId4"/>
    <p:sldId id="533" r:id="rId5"/>
    <p:sldId id="532" r:id="rId6"/>
    <p:sldId id="514" r:id="rId7"/>
    <p:sldId id="515" r:id="rId8"/>
    <p:sldId id="516" r:id="rId9"/>
    <p:sldId id="520" r:id="rId10"/>
    <p:sldId id="521" r:id="rId11"/>
    <p:sldId id="534" r:id="rId12"/>
    <p:sldId id="523" r:id="rId13"/>
    <p:sldId id="535" r:id="rId14"/>
    <p:sldId id="525" r:id="rId15"/>
    <p:sldId id="526" r:id="rId16"/>
    <p:sldId id="527" r:id="rId17"/>
    <p:sldId id="536" r:id="rId18"/>
    <p:sldId id="528" r:id="rId19"/>
    <p:sldId id="529" r:id="rId20"/>
    <p:sldId id="537" r:id="rId21"/>
    <p:sldId id="539" r:id="rId22"/>
    <p:sldId id="502" r:id="rId23"/>
    <p:sldId id="572" r:id="rId24"/>
    <p:sldId id="540" r:id="rId25"/>
    <p:sldId id="542" r:id="rId26"/>
    <p:sldId id="543" r:id="rId27"/>
    <p:sldId id="544" r:id="rId28"/>
    <p:sldId id="545" r:id="rId29"/>
    <p:sldId id="546" r:id="rId30"/>
    <p:sldId id="547" r:id="rId31"/>
    <p:sldId id="548" r:id="rId32"/>
    <p:sldId id="549" r:id="rId33"/>
    <p:sldId id="550" r:id="rId34"/>
    <p:sldId id="551" r:id="rId35"/>
    <p:sldId id="552" r:id="rId36"/>
    <p:sldId id="553" r:id="rId37"/>
    <p:sldId id="554" r:id="rId38"/>
    <p:sldId id="555" r:id="rId39"/>
    <p:sldId id="556" r:id="rId40"/>
    <p:sldId id="557" r:id="rId41"/>
    <p:sldId id="558" r:id="rId42"/>
    <p:sldId id="559" r:id="rId43"/>
    <p:sldId id="560" r:id="rId44"/>
    <p:sldId id="561" r:id="rId45"/>
    <p:sldId id="562" r:id="rId46"/>
    <p:sldId id="563" r:id="rId47"/>
    <p:sldId id="564" r:id="rId48"/>
    <p:sldId id="565" r:id="rId49"/>
    <p:sldId id="566" r:id="rId50"/>
    <p:sldId id="567" r:id="rId51"/>
    <p:sldId id="568" r:id="rId52"/>
    <p:sldId id="569" r:id="rId53"/>
    <p:sldId id="570" r:id="rId54"/>
    <p:sldId id="571" r:id="rId55"/>
    <p:sldId id="512" r:id="rId56"/>
  </p:sldIdLst>
  <p:sldSz cx="9144000" cy="6858000" type="screen4x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D3A600"/>
    <a:srgbClr val="333399"/>
    <a:srgbClr val="FFCB05"/>
    <a:srgbClr val="FF9900"/>
    <a:srgbClr val="00274C"/>
    <a:srgbClr val="009900"/>
    <a:srgbClr val="D60093"/>
    <a:srgbClr val="FF3300"/>
    <a:srgbClr val="FF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025"/>
    <p:restoredTop sz="94648"/>
  </p:normalViewPr>
  <p:slideViewPr>
    <p:cSldViewPr snapToGrid="0">
      <p:cViewPr varScale="1">
        <p:scale>
          <a:sx n="112" d="100"/>
          <a:sy n="112" d="100"/>
        </p:scale>
        <p:origin x="1704" y="19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 varScale="1">
        <p:scale>
          <a:sx n="82" d="100"/>
          <a:sy n="82" d="100"/>
        </p:scale>
        <p:origin x="-1914" y="-90"/>
      </p:cViewPr>
      <p:guideLst>
        <p:guide orient="horz" pos="3024"/>
        <p:guide pos="2304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43375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3375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/>
            </a:lvl1pPr>
          </a:lstStyle>
          <a:p>
            <a:fld id="{B29687F7-08B4-A54B-BC56-F290ADA497A1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8747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3375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3" name="Rectangle 5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3375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>
                <a:latin typeface="Times New Roman" charset="0"/>
              </a:defRPr>
            </a:lvl1pPr>
          </a:lstStyle>
          <a:p>
            <a:fld id="{C7E9A20B-E167-2E4E-BE18-AA9F5BF5FBB1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74725" y="4560888"/>
            <a:ext cx="5365750" cy="4319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7154" tIns="48580" rIns="97154" bIns="4858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notes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343" name="Rectangle 7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68413" y="727075"/>
            <a:ext cx="4781550" cy="3586163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sp>
    </p:spTree>
    <p:extLst>
      <p:ext uri="{BB962C8B-B14F-4D97-AF65-F5344CB8AC3E}">
        <p14:creationId xmlns:p14="http://schemas.microsoft.com/office/powerpoint/2010/main" val="215147315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defTabSz="965200"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914EF427-E3A8-D542-91D3-317F25033480}" type="slidenum">
              <a:rPr lang="en-US" sz="1100" b="0">
                <a:latin typeface="Times New Roman" charset="0"/>
              </a:rPr>
              <a:pPr/>
              <a:t>1</a:t>
            </a:fld>
            <a:endParaRPr lang="en-US" sz="1100" b="0">
              <a:latin typeface="Times New Roman" charset="0"/>
            </a:endParaRPr>
          </a:p>
        </p:txBody>
      </p:sp>
      <p:sp>
        <p:nvSpPr>
          <p:cNvPr id="163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68413" y="727075"/>
            <a:ext cx="4781550" cy="3586163"/>
          </a:xfrm>
          <a:ln/>
        </p:spPr>
      </p:sp>
      <p:sp>
        <p:nvSpPr>
          <p:cNvPr id="163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13302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7206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80184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17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28345" indent="-37471185" defTabSz="957178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159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319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477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637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B8E2CB00-C86A-A747-9BDC-DD3376311CB6}" type="slidenum">
              <a:rPr lang="en-US" sz="1300" b="0">
                <a:latin typeface="Times New Roman" charset="0"/>
              </a:rPr>
              <a:pPr eaLnBrk="1" hangingPunct="1"/>
              <a:t>6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57347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57348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25207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17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28345" indent="-37471185" defTabSz="957178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159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319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477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637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8F470949-01C9-4545-AAB5-077D8C322328}" type="slidenum">
              <a:rPr lang="en-US" sz="1300" b="0">
                <a:latin typeface="Times New Roman" charset="0"/>
              </a:rPr>
              <a:pPr eaLnBrk="1" hangingPunct="1"/>
              <a:t>7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59395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59396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81311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17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28345" indent="-37471185" defTabSz="957178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159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319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477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637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114CD15E-08C5-BE42-912D-322759A8C347}" type="slidenum">
              <a:rPr lang="en-US" sz="1300" b="0">
                <a:latin typeface="Times New Roman" charset="0"/>
              </a:rPr>
              <a:pPr eaLnBrk="1" hangingPunct="1"/>
              <a:t>8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72707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72708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84150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17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28345" indent="-37471185" defTabSz="957178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159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319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477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637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281ECA61-3AE7-2C4E-AD4F-E208908BE981}" type="slidenum">
              <a:rPr lang="en-US" sz="1300" b="0">
                <a:latin typeface="Times New Roman" charset="0"/>
              </a:rPr>
              <a:pPr eaLnBrk="1" hangingPunct="1"/>
              <a:t>10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89091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8909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219252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54" name="Rectangle 7"/>
          <p:cNvSpPr>
            <a:spLocks noGrp="1" noChangeArrowheads="1"/>
          </p:cNvSpPr>
          <p:nvPr>
            <p:ph type="sldNum" sz="quarter" idx="5"/>
          </p:nvPr>
        </p:nvSpPr>
        <p:spPr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defTabSz="966788">
              <a:defRPr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1pPr>
            <a:lvl2pPr marL="742950" indent="-285750" defTabSz="966788">
              <a:defRPr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 defTabSz="966788">
              <a:defRPr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 defTabSz="966788">
              <a:defRPr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 defTabSz="966788">
              <a:defRPr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>
              <a:defRPr/>
            </a:pPr>
            <a:fld id="{5195A4D9-D9A3-9D42-8C21-61B5EC1E1BB0}" type="slidenum">
              <a:rPr lang="en-US" i="0" smtClean="0">
                <a:latin typeface="Times New Roman" charset="0"/>
              </a:rPr>
              <a:pPr>
                <a:defRPr/>
              </a:pPr>
              <a:t>11</a:t>
            </a:fld>
            <a:endParaRPr lang="en-US" i="0" dirty="0">
              <a:latin typeface="Times New Roman" charset="0"/>
            </a:endParaRPr>
          </a:p>
        </p:txBody>
      </p:sp>
      <p:sp>
        <p:nvSpPr>
          <p:cNvPr id="1259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5956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FAA26D3D-D897-4be2-8F04-BA451C77F1D7}">
              <ma14:placeholderFlag xmlns="" xmlns:ma14="http://schemas.microsoft.com/office/mac/drawingml/2011/main" val="1"/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 dirty="0">
              <a:latin typeface="Times New Roman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8315775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17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28345" indent="-37471185" defTabSz="957178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159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319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477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637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EA2B8162-AD91-4E41-87FA-46E55C0794C5}" type="slidenum">
              <a:rPr lang="en-US" sz="1300" b="0">
                <a:latin typeface="Times New Roman" charset="0"/>
              </a:rPr>
              <a:pPr eaLnBrk="1" hangingPunct="1"/>
              <a:t>12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93187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93188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wireless: because reception while</a:t>
            </a:r>
            <a:r>
              <a:rPr lang="en-US" baseline="0" dirty="0">
                <a:ea typeface="ＭＳ Ｐゴシック" charset="0"/>
                <a:cs typeface="ＭＳ Ｐゴシック" charset="0"/>
              </a:rPr>
              <a:t> </a:t>
            </a:r>
            <a:r>
              <a:rPr lang="en-US" baseline="0" dirty="0" err="1">
                <a:ea typeface="ＭＳ Ｐゴシック" charset="0"/>
                <a:cs typeface="ＭＳ Ｐゴシック" charset="0"/>
              </a:rPr>
              <a:t>tx</a:t>
            </a:r>
            <a:r>
              <a:rPr lang="en-US" baseline="0" dirty="0">
                <a:ea typeface="ＭＳ Ｐゴシック" charset="0"/>
                <a:cs typeface="ＭＳ Ｐゴシック" charset="0"/>
              </a:rPr>
              <a:t> is difficult . broadcast isn’t perfect so collisions local</a:t>
            </a:r>
            <a:endParaRPr lang="en-US" dirty="0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920046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002" name="Rectangle 7"/>
          <p:cNvSpPr>
            <a:spLocks noGrp="1" noChangeArrowheads="1"/>
          </p:cNvSpPr>
          <p:nvPr>
            <p:ph type="sldNum" sz="quarter" idx="5"/>
          </p:nvPr>
        </p:nvSpPr>
        <p:spPr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defTabSz="966788">
              <a:defRPr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1pPr>
            <a:lvl2pPr marL="742950" indent="-285750" defTabSz="966788">
              <a:defRPr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 defTabSz="966788">
              <a:defRPr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 defTabSz="966788">
              <a:defRPr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 defTabSz="966788">
              <a:defRPr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>
              <a:defRPr/>
            </a:pPr>
            <a:fld id="{2D67B076-01A6-BF41-ABA5-655018180054}" type="slidenum">
              <a:rPr lang="en-US" i="0" smtClean="0">
                <a:latin typeface="Times New Roman" charset="0"/>
              </a:rPr>
              <a:pPr>
                <a:defRPr/>
              </a:pPr>
              <a:t>13</a:t>
            </a:fld>
            <a:endParaRPr lang="en-US" i="0" dirty="0">
              <a:latin typeface="Times New Roman" charset="0"/>
            </a:endParaRPr>
          </a:p>
        </p:txBody>
      </p:sp>
      <p:sp>
        <p:nvSpPr>
          <p:cNvPr id="1280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8004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FAA26D3D-D897-4be2-8F04-BA451C77F1D7}">
              <ma14:placeholderFlag xmlns="" xmlns:ma14="http://schemas.microsoft.com/office/mac/drawingml/2011/main" val="1"/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 dirty="0">
              <a:latin typeface="Times New Roman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3281120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17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28345" indent="-37471185" defTabSz="957178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159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319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477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637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EC130659-87AF-CE4D-B5EA-54D55326E82A}" type="slidenum">
              <a:rPr lang="en-US" sz="1300" b="0">
                <a:latin typeface="Times New Roman" charset="0"/>
              </a:rPr>
              <a:pPr eaLnBrk="1" hangingPunct="1"/>
              <a:t>14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97283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97284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921510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17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28345" indent="-37471185" defTabSz="957178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159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319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477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637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A10B4C87-43F1-8447-99DD-FB94C86AE74F}" type="slidenum">
              <a:rPr lang="en-US" sz="1300" b="0">
                <a:latin typeface="Times New Roman" charset="0"/>
              </a:rPr>
              <a:pPr eaLnBrk="1" hangingPunct="1"/>
              <a:t>15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99331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9933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 sz="2100" b="1" dirty="0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4380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17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28345" indent="-37471185" defTabSz="957178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159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319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477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637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08173F60-04DA-AF4F-972C-DA3BA148616A}" type="slidenum">
              <a:rPr lang="en-US" sz="1300" b="0">
                <a:latin typeface="Times New Roman" charset="0"/>
              </a:rPr>
              <a:pPr eaLnBrk="1" hangingPunct="1"/>
              <a:t>16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74755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74756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581813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17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28345" indent="-37471185" defTabSz="957178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159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319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477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637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08173F60-04DA-AF4F-972C-DA3BA148616A}" type="slidenum">
              <a:rPr lang="en-US" sz="1300" b="0">
                <a:latin typeface="Times New Roman" charset="0"/>
              </a:rPr>
              <a:pPr eaLnBrk="1" hangingPunct="1"/>
              <a:t>17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74755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74756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9236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17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28345" indent="-37471185" defTabSz="957178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159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319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477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637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8D5449E5-25AA-1A47-9C3B-1506A307C190}" type="slidenum">
              <a:rPr lang="en-US" sz="1300" b="0">
                <a:latin typeface="Times New Roman" charset="0"/>
              </a:rPr>
              <a:pPr eaLnBrk="1" hangingPunct="1"/>
              <a:t>19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25603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 dirty="0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686319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5879619" indent="-3544715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3246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864931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297396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729862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BB73EF23-A48E-FF4B-A9BC-8B81AB75B1F3}" type="slidenum">
              <a:rPr lang="en-US" sz="1200" b="0">
                <a:latin typeface="Times New Roman" charset="0"/>
              </a:rPr>
              <a:pPr eaLnBrk="1" hangingPunct="1"/>
              <a:t>26</a:t>
            </a:fld>
            <a:endParaRPr lang="en-US" sz="1200" b="0">
              <a:latin typeface="Times New Roman" charset="0"/>
            </a:endParaRPr>
          </a:p>
        </p:txBody>
      </p:sp>
      <p:sp>
        <p:nvSpPr>
          <p:cNvPr id="59395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59396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079950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663B9F7-1F50-1844-866B-6E9D4F9BB811}" type="slidenum">
              <a:rPr lang="en-US"/>
              <a:pPr/>
              <a:t>29</a:t>
            </a:fld>
            <a:endParaRPr lang="en-US"/>
          </a:p>
        </p:txBody>
      </p:sp>
      <p:sp>
        <p:nvSpPr>
          <p:cNvPr id="19445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19445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44966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976575D-CA49-4549-97D1-CD89AD108F8C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862185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5879619" indent="-3544715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3246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864931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297396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729862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B55DADC6-5201-E64C-A1E5-863C733C1EED}" type="slidenum">
              <a:rPr lang="en-US" sz="1200" b="0">
                <a:latin typeface="Calibri"/>
                <a:cs typeface="Calibri"/>
              </a:rPr>
              <a:pPr eaLnBrk="1" hangingPunct="1"/>
              <a:t>33</a:t>
            </a:fld>
            <a:endParaRPr lang="en-US" sz="1200" b="0" dirty="0">
              <a:latin typeface="Calibri"/>
              <a:cs typeface="Calibri"/>
            </a:endParaRPr>
          </a:p>
        </p:txBody>
      </p:sp>
      <p:sp>
        <p:nvSpPr>
          <p:cNvPr id="38915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8916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6 one’s </a:t>
            </a:r>
            <a:r>
              <a:rPr lang="en-US" dirty="0">
                <a:ea typeface="ＭＳ Ｐゴシック" charset="0"/>
                <a:cs typeface="ＭＳ Ｐゴシック" charset="0"/>
                <a:sym typeface="Wingdings"/>
              </a:rPr>
              <a:t> start</a:t>
            </a:r>
          </a:p>
          <a:p>
            <a:r>
              <a:rPr lang="en-US" dirty="0">
                <a:ea typeface="ＭＳ Ｐゴシック" charset="0"/>
                <a:cs typeface="ＭＳ Ｐゴシック" charset="0"/>
                <a:sym typeface="Wingdings"/>
              </a:rPr>
              <a:t>7 one’s  end</a:t>
            </a:r>
            <a:endParaRPr lang="en-US" dirty="0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3765656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5879619" indent="-3544715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3246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864931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297396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729862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04F0C603-5E41-FC4A-B51E-1199FDCB3081}" type="slidenum">
              <a:rPr lang="en-US" sz="1200" b="0">
                <a:latin typeface="Calibri"/>
                <a:cs typeface="Calibri"/>
              </a:rPr>
              <a:pPr eaLnBrk="1" hangingPunct="1"/>
              <a:t>34</a:t>
            </a:fld>
            <a:endParaRPr lang="en-US" sz="1200" b="0" dirty="0">
              <a:latin typeface="Calibri"/>
              <a:cs typeface="Calibri"/>
            </a:endParaRPr>
          </a:p>
        </p:txBody>
      </p:sp>
      <p:sp>
        <p:nvSpPr>
          <p:cNvPr id="40963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40964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043448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539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5876422" indent="-35443994" defTabSz="905395"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32427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864854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297280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729708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8F1C8DD0-A2A5-9A44-B66D-68E982D18E04}" type="slidenum">
              <a:rPr lang="en-US" sz="1200" b="0">
                <a:latin typeface="Times New Roman" charset="0"/>
              </a:rPr>
              <a:pPr eaLnBrk="1" hangingPunct="1"/>
              <a:t>38</a:t>
            </a:fld>
            <a:endParaRPr lang="en-US" sz="1200" b="0">
              <a:latin typeface="Times New Roman" charset="0"/>
            </a:endParaRPr>
          </a:p>
        </p:txBody>
      </p:sp>
      <p:sp>
        <p:nvSpPr>
          <p:cNvPr id="44035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44036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39004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5879619" indent="-3544715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3246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864931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297396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729862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BB73EF23-A48E-FF4B-A9BC-8B81AB75B1F3}" type="slidenum">
              <a:rPr lang="en-US" sz="1200" b="0">
                <a:latin typeface="Times New Roman" charset="0"/>
              </a:rPr>
              <a:pPr eaLnBrk="1" hangingPunct="1"/>
              <a:t>40</a:t>
            </a:fld>
            <a:endParaRPr lang="en-US" sz="1200" b="0">
              <a:latin typeface="Times New Roman" charset="0"/>
            </a:endParaRPr>
          </a:p>
        </p:txBody>
      </p:sp>
      <p:sp>
        <p:nvSpPr>
          <p:cNvPr id="59395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59396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841132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5879619" indent="-3544715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3246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864931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297396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729862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BB73EF23-A48E-FF4B-A9BC-8B81AB75B1F3}" type="slidenum">
              <a:rPr lang="en-US" sz="1200" b="0">
                <a:latin typeface="Times New Roman" charset="0"/>
              </a:rPr>
              <a:pPr eaLnBrk="1" hangingPunct="1"/>
              <a:t>42</a:t>
            </a:fld>
            <a:endParaRPr lang="en-US" sz="1200" b="0">
              <a:latin typeface="Times New Roman" charset="0"/>
            </a:endParaRPr>
          </a:p>
        </p:txBody>
      </p:sp>
      <p:sp>
        <p:nvSpPr>
          <p:cNvPr id="59395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59396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336964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5879619" indent="-3544715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3246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864931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297396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729862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BB73EF23-A48E-FF4B-A9BC-8B81AB75B1F3}" type="slidenum">
              <a:rPr lang="en-US" sz="1200" b="0">
                <a:latin typeface="Times New Roman" charset="0"/>
              </a:rPr>
              <a:pPr eaLnBrk="1" hangingPunct="1"/>
              <a:t>43</a:t>
            </a:fld>
            <a:endParaRPr lang="en-US" sz="1200" b="0">
              <a:latin typeface="Times New Roman" charset="0"/>
            </a:endParaRPr>
          </a:p>
        </p:txBody>
      </p:sp>
      <p:sp>
        <p:nvSpPr>
          <p:cNvPr id="59395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59396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76604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5879619" indent="-3544715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3246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864931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297396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729862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BB73EF23-A48E-FF4B-A9BC-8B81AB75B1F3}" type="slidenum">
              <a:rPr lang="en-US" sz="1200" b="0">
                <a:latin typeface="Times New Roman" charset="0"/>
              </a:rPr>
              <a:pPr eaLnBrk="1" hangingPunct="1"/>
              <a:t>45</a:t>
            </a:fld>
            <a:endParaRPr lang="en-US" sz="1200" b="0">
              <a:latin typeface="Times New Roman" charset="0"/>
            </a:endParaRPr>
          </a:p>
        </p:txBody>
      </p:sp>
      <p:sp>
        <p:nvSpPr>
          <p:cNvPr id="59395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59396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49946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5879619" indent="-3544715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3246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864931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297396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729862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BB73EF23-A48E-FF4B-A9BC-8B81AB75B1F3}" type="slidenum">
              <a:rPr lang="en-US" sz="1200" b="0">
                <a:latin typeface="Times New Roman" charset="0"/>
              </a:rPr>
              <a:pPr eaLnBrk="1" hangingPunct="1"/>
              <a:t>46</a:t>
            </a:fld>
            <a:endParaRPr lang="en-US" sz="1200" b="0">
              <a:latin typeface="Times New Roman" charset="0"/>
            </a:endParaRPr>
          </a:p>
        </p:txBody>
      </p:sp>
      <p:sp>
        <p:nvSpPr>
          <p:cNvPr id="59395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59396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360582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5879619" indent="-3544715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3246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864931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297396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729862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BB73EF23-A48E-FF4B-A9BC-8B81AB75B1F3}" type="slidenum">
              <a:rPr lang="en-US" sz="1200" b="0">
                <a:latin typeface="Times New Roman" charset="0"/>
              </a:rPr>
              <a:pPr eaLnBrk="1" hangingPunct="1"/>
              <a:t>53</a:t>
            </a:fld>
            <a:endParaRPr lang="en-US" sz="1200" b="0">
              <a:latin typeface="Times New Roman" charset="0"/>
            </a:endParaRPr>
          </a:p>
        </p:txBody>
      </p:sp>
      <p:sp>
        <p:nvSpPr>
          <p:cNvPr id="59395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59396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620451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5879619" indent="-3544715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3246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864931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297396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729862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BB73EF23-A48E-FF4B-A9BC-8B81AB75B1F3}" type="slidenum">
              <a:rPr lang="en-US" sz="1200" b="0">
                <a:latin typeface="Times New Roman" charset="0"/>
              </a:rPr>
              <a:pPr eaLnBrk="1" hangingPunct="1"/>
              <a:t>54</a:t>
            </a:fld>
            <a:endParaRPr lang="en-US" sz="1200" b="0">
              <a:latin typeface="Times New Roman" charset="0"/>
            </a:endParaRPr>
          </a:p>
        </p:txBody>
      </p:sp>
      <p:sp>
        <p:nvSpPr>
          <p:cNvPr id="59395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59396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15837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40" name="Rectangle 8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Monotype Sorts" pitchFamily="96" charset="2"/>
              <a:buNone/>
              <a:defRPr/>
            </a:lvl1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8441" name="Rectangle 9"/>
          <p:cNvSpPr>
            <a:spLocks noGrp="1" noChangeArrowheads="1"/>
          </p:cNvSpPr>
          <p:nvPr>
            <p:ph type="ctrTitle"/>
          </p:nvPr>
        </p:nvSpPr>
        <p:spPr>
          <a:xfrm>
            <a:off x="685800" y="1143000"/>
            <a:ext cx="7772400" cy="20574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sz="1050" b="0">
                <a:latin typeface="Times New Roman" charset="0"/>
              </a:defRPr>
            </a:lvl1pPr>
          </a:lstStyle>
          <a:p>
            <a:r>
              <a:rPr lang="en-US"/>
              <a:t>April 2, 2025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sz="1050" b="0">
                <a:latin typeface="Times New Roman" charset="0"/>
              </a:defRPr>
            </a:lvl1pPr>
          </a:lstStyle>
          <a:p>
            <a:r>
              <a:rPr lang="en-US"/>
              <a:t>EECS 489 – Lecture 17</a:t>
            </a:r>
          </a:p>
        </p:txBody>
      </p:sp>
    </p:spTree>
    <p:extLst>
      <p:ext uri="{BB962C8B-B14F-4D97-AF65-F5344CB8AC3E}">
        <p14:creationId xmlns:p14="http://schemas.microsoft.com/office/powerpoint/2010/main" val="35119642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190D881-957A-7944-A8D0-1584E528B88F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44048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2"/>
            <a:ext cx="7772400" cy="1362075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1500"/>
            </a:lvl1pPr>
            <a:lvl2pPr marL="342900" indent="0">
              <a:buNone/>
              <a:defRPr sz="1350"/>
            </a:lvl2pPr>
            <a:lvl3pPr marL="685800" indent="0">
              <a:buNone/>
              <a:defRPr sz="1200"/>
            </a:lvl3pPr>
            <a:lvl4pPr marL="1028700" indent="0">
              <a:buNone/>
              <a:defRPr sz="1050"/>
            </a:lvl4pPr>
            <a:lvl5pPr marL="1371600" indent="0">
              <a:buNone/>
              <a:defRPr sz="1050"/>
            </a:lvl5pPr>
            <a:lvl6pPr marL="1714500" indent="0">
              <a:buNone/>
              <a:defRPr sz="1050"/>
            </a:lvl6pPr>
            <a:lvl7pPr marL="2057400" indent="0">
              <a:buNone/>
              <a:defRPr sz="1050"/>
            </a:lvl7pPr>
            <a:lvl8pPr marL="2400300" indent="0">
              <a:buNone/>
              <a:defRPr sz="1050"/>
            </a:lvl8pPr>
            <a:lvl9pPr marL="2743200" indent="0">
              <a:buNone/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1F2EB77-FB6C-2244-A076-ADF097535D4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00208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600200"/>
            <a:ext cx="3886200" cy="44196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4400" y="1600200"/>
            <a:ext cx="3886200" cy="44196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36FED86-94EF-254D-90EE-B810FE8299EE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682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9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11CF967-1287-0948-92AE-55309D196149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25453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507A418-0CEB-9E4A-BA45-3B7D3D133EB9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12183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3D7AD44-FDD5-3640-B5FD-B68DA213B14F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8545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73050"/>
            <a:ext cx="3008313" cy="1162050"/>
          </a:xfrm>
        </p:spPr>
        <p:txBody>
          <a:bodyPr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435102"/>
            <a:ext cx="3008313" cy="4691063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C1E35D2-F4F4-2848-A65C-22D2D75C674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52277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7309860-561E-FA4E-8AD9-21F393B80F8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8224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500292D-9130-BA41-A2F4-8C3DF7A50D3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0804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05600" y="152400"/>
            <a:ext cx="2133600" cy="5867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52400"/>
            <a:ext cx="6248400" cy="58674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E995D8D-2725-7449-9768-A6F305723FFE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6466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t>Title Text</a:t>
            </a:r>
          </a:p>
        </p:txBody>
      </p:sp>
      <p:sp>
        <p:nvSpPr>
          <p:cNvPr id="11" name="Shape 11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>
            <a:lvl2pPr marL="937584" indent="-401822">
              <a:spcBef>
                <a:spcPts val="1687"/>
              </a:spcBef>
              <a:buChar char="-"/>
              <a:defRPr sz="2500" i="1"/>
            </a:lvl2pPr>
            <a:lvl3pPr marL="1250112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3pPr>
            <a:lvl4pPr marL="1562640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4pPr>
            <a:lvl5pPr marL="1875168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5pPr>
          </a:lstStyle>
          <a:p>
            <a:pPr lvl="0"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hape 1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E2893C13-EE0C-EE4E-AB27-289AE4B3B289}" type="slidenum">
              <a:rPr lang="en-US" altLang="x-none"/>
              <a:pPr/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6635229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2075" tIns="46038" rIns="92075" bIns="46038" numCol="1" anchor="ctr" anchorCtr="0" compatLnSpc="1">
            <a:prstTxWarp prst="textNoShape">
              <a:avLst/>
            </a:prstTxWarp>
          </a:bodyPr>
          <a:lstStyle>
            <a:lvl1pPr eaLnBrk="0" hangingPunct="0">
              <a:defRPr sz="750"/>
            </a:lvl1pPr>
          </a:lstStyle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2075" tIns="46038" rIns="92075" bIns="46038" numCol="1" anchor="ctr" anchorCtr="0" compatLnSpc="1">
            <a:prstTxWarp prst="textNoShape">
              <a:avLst/>
            </a:prstTxWarp>
          </a:bodyPr>
          <a:lstStyle>
            <a:lvl1pPr algn="ctr" eaLnBrk="0" hangingPunct="0">
              <a:defRPr sz="750"/>
            </a:lvl1pPr>
          </a:lstStyle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028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600200"/>
            <a:ext cx="7924800" cy="4419600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33" name="Rectangle 9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152400"/>
            <a:ext cx="85344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036" name="Rectangle 12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001000" y="6248400"/>
            <a:ext cx="609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2075" tIns="46038" rIns="92075" bIns="46038" numCol="1" anchor="ctr" anchorCtr="0" compatLnSpc="1">
            <a:prstTxWarp prst="textNoShape">
              <a:avLst/>
            </a:prstTxWarp>
          </a:bodyPr>
          <a:lstStyle>
            <a:lvl1pPr algn="r" eaLnBrk="0" hangingPunct="0">
              <a:defRPr sz="750"/>
            </a:lvl1pPr>
          </a:lstStyle>
          <a:p>
            <a:fld id="{6CABC02E-5657-E248-B9C6-199B1358382F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1037" name="Line 13"/>
          <p:cNvSpPr>
            <a:spLocks noChangeShapeType="1"/>
          </p:cNvSpPr>
          <p:nvPr/>
        </p:nvSpPr>
        <p:spPr bwMode="auto">
          <a:xfrm>
            <a:off x="0" y="1371600"/>
            <a:ext cx="8305800" cy="0"/>
          </a:xfrm>
          <a:prstGeom prst="line">
            <a:avLst/>
          </a:prstGeom>
          <a:noFill/>
          <a:ln w="44450">
            <a:solidFill>
              <a:srgbClr val="FFCB05"/>
            </a:solidFill>
            <a:round/>
            <a:headEnd/>
            <a:tailEnd/>
          </a:ln>
          <a:effectLst>
            <a:outerShdw dist="53882" dir="2700000" algn="ctr" rotWithShape="0">
              <a:srgbClr val="D3A600"/>
            </a:outerShdw>
          </a:effectLst>
        </p:spPr>
        <p:txBody>
          <a:bodyPr wrap="none" anchor="ctr"/>
          <a:lstStyle/>
          <a:p>
            <a:pPr eaLnBrk="0" hangingPunct="0">
              <a:defRPr/>
            </a:pPr>
            <a:endParaRPr lang="en-US" sz="1200">
              <a:ea typeface="+mn-ea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  <p:sldLayoutId id="2147483708" r:id="rId12"/>
  </p:sldLayoutIdLst>
  <p:hf hd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1"/>
          </a:solidFill>
          <a:effectLst/>
          <a:latin typeface="+mj-lt"/>
          <a:ea typeface="ＭＳ Ｐゴシック" charset="-128"/>
          <a:cs typeface="ＭＳ Ｐゴシック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5pPr>
      <a:lvl6pPr marL="342900"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6pPr>
      <a:lvl7pPr marL="685800"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7pPr>
      <a:lvl8pPr marL="1028700"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8pPr>
      <a:lvl9pPr marL="1371600"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9pPr>
    </p:titleStyle>
    <p:bodyStyle>
      <a:lvl1pPr marL="257175" indent="-257175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charset="0"/>
        <a:buChar char="l"/>
        <a:defRPr sz="2800">
          <a:solidFill>
            <a:schemeClr val="accent2"/>
          </a:solidFill>
          <a:latin typeface="+mn-lt"/>
          <a:ea typeface="ＭＳ Ｐゴシック" charset="-128"/>
          <a:cs typeface="ＭＳ Ｐゴシック" charset="-128"/>
        </a:defRPr>
      </a:lvl1pPr>
      <a:lvl2pPr marL="557213" indent="-214313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50000"/>
        <a:buFont typeface="Wingdings" pitchFamily="2" charset="2"/>
        <a:buChar char="Ø"/>
        <a:defRPr sz="2400">
          <a:solidFill>
            <a:schemeClr val="accent2"/>
          </a:solidFill>
          <a:latin typeface="+mn-lt"/>
          <a:ea typeface="ＭＳ Ｐゴシック" charset="-128"/>
        </a:defRPr>
      </a:lvl2pPr>
      <a:lvl3pPr marL="857250" indent="-1714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Char char="»"/>
        <a:defRPr sz="2400">
          <a:solidFill>
            <a:schemeClr val="accent2"/>
          </a:solidFill>
          <a:latin typeface="+mn-lt"/>
          <a:ea typeface="ＭＳ Ｐゴシック" charset="-128"/>
        </a:defRPr>
      </a:lvl3pPr>
      <a:lvl4pPr marL="1200150" indent="-1714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charset="0"/>
        <a:buChar char="n"/>
        <a:defRPr sz="1200">
          <a:solidFill>
            <a:schemeClr val="accent2"/>
          </a:solidFill>
          <a:latin typeface="+mn-lt"/>
          <a:ea typeface="ＭＳ Ｐゴシック" charset="-128"/>
        </a:defRPr>
      </a:lvl4pPr>
      <a:lvl5pPr marL="1543050" indent="-1714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charset="0"/>
        <a:buChar char="l"/>
        <a:defRPr sz="1200">
          <a:solidFill>
            <a:schemeClr val="accent2"/>
          </a:solidFill>
          <a:latin typeface="+mn-lt"/>
          <a:ea typeface="ＭＳ Ｐゴシック" charset="-128"/>
        </a:defRPr>
      </a:lvl5pPr>
      <a:lvl6pPr marL="1885950" indent="-1714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6pPr>
      <a:lvl7pPr marL="2228850" indent="-1714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7pPr>
      <a:lvl8pPr marL="2571750" indent="-1714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8pPr>
      <a:lvl9pPr marL="2914650" indent="-1714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e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emf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5" Type="http://schemas.openxmlformats.org/officeDocument/2006/relationships/oleObject" Target="../embeddings/oleObject2.bin"/><Relationship Id="rId4" Type="http://schemas.openxmlformats.org/officeDocument/2006/relationships/image" Target="../media/image6.emf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657350" y="1257300"/>
            <a:ext cx="5829300" cy="2286000"/>
          </a:xfrm>
        </p:spPr>
        <p:txBody>
          <a:bodyPr/>
          <a:lstStyle/>
          <a:p>
            <a:pPr algn="ctr"/>
            <a:r>
              <a:rPr lang="en-US" dirty="0">
                <a:effectLst/>
                <a:latin typeface="Arial Black" charset="0"/>
                <a:ea typeface="ＭＳ Ｐゴシック" charset="0"/>
                <a:cs typeface="ＭＳ Ｐゴシック" charset="0"/>
              </a:rPr>
              <a:t>EECS 489</a:t>
            </a:r>
            <a:br>
              <a:rPr lang="en-US" dirty="0">
                <a:effectLst/>
                <a:latin typeface="Arial Black" charset="0"/>
                <a:ea typeface="ＭＳ Ｐゴシック" charset="0"/>
                <a:cs typeface="ＭＳ Ｐゴシック" charset="0"/>
              </a:rPr>
            </a:br>
            <a:r>
              <a:rPr lang="en-US" dirty="0"/>
              <a:t>Computer Networks</a:t>
            </a:r>
            <a:br>
              <a:rPr lang="en-US" dirty="0">
                <a:effectLst/>
                <a:latin typeface="Arial Black" charset="0"/>
                <a:ea typeface="ＭＳ Ｐゴシック" charset="0"/>
                <a:cs typeface="ＭＳ Ｐゴシック" charset="0"/>
              </a:rPr>
            </a:br>
            <a:br>
              <a:rPr lang="en-US" sz="2400" dirty="0">
                <a:latin typeface="Arial Black" charset="0"/>
                <a:ea typeface="ＭＳ Ｐゴシック" charset="0"/>
                <a:cs typeface="ＭＳ Ｐゴシック" charset="0"/>
              </a:rPr>
            </a:br>
            <a:r>
              <a:rPr lang="en-US" sz="2400" dirty="0">
                <a:latin typeface="Arial Black" charset="0"/>
                <a:ea typeface="ＭＳ Ｐゴシック" charset="0"/>
                <a:cs typeface="ＭＳ Ｐゴシック" charset="0"/>
              </a:rPr>
              <a:t>Winter 2025</a:t>
            </a:r>
            <a:endParaRPr lang="en-US" dirty="0">
              <a:effectLst/>
              <a:latin typeface="Arial Black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800100" y="3771900"/>
            <a:ext cx="7543800" cy="1828800"/>
          </a:xfrm>
        </p:spPr>
        <p:txBody>
          <a:bodyPr/>
          <a:lstStyle/>
          <a:p>
            <a:r>
              <a:rPr lang="en-US" dirty="0">
                <a:latin typeface="Arial" charset="0"/>
                <a:ea typeface="ＭＳ Ｐゴシック" charset="0"/>
                <a:cs typeface="ＭＳ Ｐゴシック" charset="0"/>
              </a:rPr>
              <a:t>Mosharaf Chowdhury</a:t>
            </a:r>
          </a:p>
          <a:p>
            <a:pPr>
              <a:buFont typeface="Monotype Sorts" charset="0"/>
              <a:buNone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 algn="l"/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Material with thanks to Aditya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Akella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Sugih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Jamin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Philip Levis, Sylvia Ratnasamy, Peter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Steenkiste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and many other colleagues.</a:t>
            </a:r>
          </a:p>
          <a:p>
            <a:pPr>
              <a:buFont typeface="Monotype Sorts" charset="0"/>
              <a:buNone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endParaRPr lang="en-US" dirty="0">
              <a:effectLst>
                <a:outerShdw blurRad="38100" dist="38100" dir="2700000" algn="tl">
                  <a:srgbClr val="DDDDDD"/>
                </a:outerShdw>
              </a:effectLst>
              <a:latin typeface="Arial" charset="0"/>
              <a:ea typeface="ＭＳ Ｐゴシック" charset="0"/>
              <a:cs typeface="ＭＳ Ｐゴシック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link layer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6490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link layer</a:t>
            </a:r>
          </a:p>
        </p:txBody>
      </p:sp>
      <p:sp>
        <p:nvSpPr>
          <p:cNvPr id="44" name="Content Placeholder 4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Present everywhere</a:t>
            </a:r>
          </a:p>
          <a:p>
            <a:r>
              <a:rPr lang="en-US" dirty="0"/>
              <a:t>Transfers data between </a:t>
            </a:r>
            <a:r>
              <a:rPr lang="en-US" dirty="0">
                <a:solidFill>
                  <a:srgbClr val="0000FF"/>
                </a:solidFill>
              </a:rPr>
              <a:t>adjacent nodes</a:t>
            </a:r>
            <a:r>
              <a:rPr lang="en-US" dirty="0"/>
              <a:t> or between </a:t>
            </a:r>
            <a:r>
              <a:rPr lang="en-US" dirty="0">
                <a:solidFill>
                  <a:srgbClr val="0000FF"/>
                </a:solidFill>
              </a:rPr>
              <a:t>nodes on the same local area network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6" name="Rectangle 4"/>
          <p:cNvSpPr>
            <a:spLocks noChangeArrowheads="1"/>
          </p:cNvSpPr>
          <p:nvPr/>
        </p:nvSpPr>
        <p:spPr bwMode="auto">
          <a:xfrm>
            <a:off x="1066800" y="3822700"/>
            <a:ext cx="1703388" cy="381000"/>
          </a:xfrm>
          <a:prstGeom prst="rect">
            <a:avLst/>
          </a:prstGeom>
          <a:solidFill>
            <a:schemeClr val="bg2">
              <a:lumMod val="9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solidFill>
                <a:schemeClr val="bg1"/>
              </a:solidFill>
              <a:ea typeface="Arial" charset="0"/>
              <a:cs typeface="Arial" charset="0"/>
            </a:endParaRPr>
          </a:p>
        </p:txBody>
      </p:sp>
      <p:sp>
        <p:nvSpPr>
          <p:cNvPr id="7" name="Text Box 5"/>
          <p:cNvSpPr txBox="1">
            <a:spLocks noChangeArrowheads="1"/>
          </p:cNvSpPr>
          <p:nvPr/>
        </p:nvSpPr>
        <p:spPr bwMode="auto">
          <a:xfrm>
            <a:off x="1233488" y="3806825"/>
            <a:ext cx="1367955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dirty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Transport</a:t>
            </a:r>
          </a:p>
        </p:txBody>
      </p:sp>
      <p:sp>
        <p:nvSpPr>
          <p:cNvPr id="8" name="Rectangle 6"/>
          <p:cNvSpPr>
            <a:spLocks noChangeArrowheads="1"/>
          </p:cNvSpPr>
          <p:nvPr/>
        </p:nvSpPr>
        <p:spPr bwMode="auto">
          <a:xfrm>
            <a:off x="1066800" y="4203700"/>
            <a:ext cx="1703388" cy="381000"/>
          </a:xfrm>
          <a:prstGeom prst="rect">
            <a:avLst/>
          </a:prstGeom>
          <a:solidFill>
            <a:schemeClr val="bg2">
              <a:lumMod val="9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solidFill>
                <a:schemeClr val="bg1"/>
              </a:solidFill>
              <a:ea typeface="Arial" charset="0"/>
              <a:cs typeface="Arial" charset="0"/>
            </a:endParaRPr>
          </a:p>
        </p:txBody>
      </p:sp>
      <p:sp>
        <p:nvSpPr>
          <p:cNvPr id="9" name="Text Box 7"/>
          <p:cNvSpPr txBox="1">
            <a:spLocks noChangeArrowheads="1"/>
          </p:cNvSpPr>
          <p:nvPr/>
        </p:nvSpPr>
        <p:spPr bwMode="auto">
          <a:xfrm>
            <a:off x="1325563" y="4187825"/>
            <a:ext cx="1196113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dirty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Network</a:t>
            </a:r>
          </a:p>
        </p:txBody>
      </p:sp>
      <p:sp>
        <p:nvSpPr>
          <p:cNvPr id="10" name="Rectangle 8"/>
          <p:cNvSpPr>
            <a:spLocks noChangeArrowheads="1"/>
          </p:cNvSpPr>
          <p:nvPr/>
        </p:nvSpPr>
        <p:spPr bwMode="auto">
          <a:xfrm>
            <a:off x="1066800" y="4584700"/>
            <a:ext cx="1703388" cy="381000"/>
          </a:xfrm>
          <a:prstGeom prst="rect">
            <a:avLst/>
          </a:prstGeom>
          <a:solidFill>
            <a:srgbClr val="0000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11" name="Text Box 9"/>
          <p:cNvSpPr txBox="1">
            <a:spLocks noChangeArrowheads="1"/>
          </p:cNvSpPr>
          <p:nvPr/>
        </p:nvSpPr>
        <p:spPr bwMode="auto">
          <a:xfrm>
            <a:off x="1331913" y="4568825"/>
            <a:ext cx="1181685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dirty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Datalink</a:t>
            </a:r>
          </a:p>
        </p:txBody>
      </p:sp>
      <p:sp>
        <p:nvSpPr>
          <p:cNvPr id="12" name="Rectangle 10"/>
          <p:cNvSpPr>
            <a:spLocks noChangeArrowheads="1"/>
          </p:cNvSpPr>
          <p:nvPr/>
        </p:nvSpPr>
        <p:spPr bwMode="auto">
          <a:xfrm>
            <a:off x="1066800" y="4965700"/>
            <a:ext cx="1703388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13" name="Text Box 11"/>
          <p:cNvSpPr txBox="1">
            <a:spLocks noChangeArrowheads="1"/>
          </p:cNvSpPr>
          <p:nvPr/>
        </p:nvSpPr>
        <p:spPr bwMode="auto">
          <a:xfrm>
            <a:off x="1311275" y="4949825"/>
            <a:ext cx="1224967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latin typeface="Arial" charset="0"/>
                <a:ea typeface="Arial" charset="0"/>
                <a:cs typeface="Arial" charset="0"/>
              </a:rPr>
              <a:t>Physical</a:t>
            </a:r>
          </a:p>
        </p:txBody>
      </p:sp>
      <p:sp>
        <p:nvSpPr>
          <p:cNvPr id="14" name="Rectangle 12"/>
          <p:cNvSpPr>
            <a:spLocks noChangeArrowheads="1"/>
          </p:cNvSpPr>
          <p:nvPr/>
        </p:nvSpPr>
        <p:spPr bwMode="auto">
          <a:xfrm>
            <a:off x="6477000" y="3822700"/>
            <a:ext cx="1703388" cy="381000"/>
          </a:xfrm>
          <a:prstGeom prst="rect">
            <a:avLst/>
          </a:prstGeom>
          <a:solidFill>
            <a:schemeClr val="bg2">
              <a:lumMod val="9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solidFill>
                <a:schemeClr val="bg1"/>
              </a:solidFill>
              <a:ea typeface="Arial" charset="0"/>
              <a:cs typeface="Arial" charset="0"/>
            </a:endParaRPr>
          </a:p>
        </p:txBody>
      </p:sp>
      <p:sp>
        <p:nvSpPr>
          <p:cNvPr id="15" name="Text Box 13"/>
          <p:cNvSpPr txBox="1">
            <a:spLocks noChangeArrowheads="1"/>
          </p:cNvSpPr>
          <p:nvPr/>
        </p:nvSpPr>
        <p:spPr bwMode="auto">
          <a:xfrm>
            <a:off x="6643688" y="3806825"/>
            <a:ext cx="1367955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Transport</a:t>
            </a:r>
          </a:p>
        </p:txBody>
      </p:sp>
      <p:sp>
        <p:nvSpPr>
          <p:cNvPr id="16" name="Rectangle 14"/>
          <p:cNvSpPr>
            <a:spLocks noChangeArrowheads="1"/>
          </p:cNvSpPr>
          <p:nvPr/>
        </p:nvSpPr>
        <p:spPr bwMode="auto">
          <a:xfrm>
            <a:off x="6477000" y="4203700"/>
            <a:ext cx="1703388" cy="381000"/>
          </a:xfrm>
          <a:prstGeom prst="rect">
            <a:avLst/>
          </a:prstGeom>
          <a:solidFill>
            <a:schemeClr val="bg2">
              <a:lumMod val="9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17" name="Text Box 15"/>
          <p:cNvSpPr txBox="1">
            <a:spLocks noChangeArrowheads="1"/>
          </p:cNvSpPr>
          <p:nvPr/>
        </p:nvSpPr>
        <p:spPr bwMode="auto">
          <a:xfrm>
            <a:off x="6735763" y="4187825"/>
            <a:ext cx="1196113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dirty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Network</a:t>
            </a:r>
          </a:p>
        </p:txBody>
      </p:sp>
      <p:sp>
        <p:nvSpPr>
          <p:cNvPr id="18" name="Rectangle 16"/>
          <p:cNvSpPr>
            <a:spLocks noChangeArrowheads="1"/>
          </p:cNvSpPr>
          <p:nvPr/>
        </p:nvSpPr>
        <p:spPr bwMode="auto">
          <a:xfrm>
            <a:off x="6477000" y="4584700"/>
            <a:ext cx="1703388" cy="381000"/>
          </a:xfrm>
          <a:prstGeom prst="rect">
            <a:avLst/>
          </a:prstGeom>
          <a:solidFill>
            <a:srgbClr val="0000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19" name="Text Box 17"/>
          <p:cNvSpPr txBox="1">
            <a:spLocks noChangeArrowheads="1"/>
          </p:cNvSpPr>
          <p:nvPr/>
        </p:nvSpPr>
        <p:spPr bwMode="auto">
          <a:xfrm>
            <a:off x="6742113" y="4568825"/>
            <a:ext cx="1181685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dirty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Datalink</a:t>
            </a:r>
          </a:p>
        </p:txBody>
      </p:sp>
      <p:sp>
        <p:nvSpPr>
          <p:cNvPr id="20" name="Rectangle 18"/>
          <p:cNvSpPr>
            <a:spLocks noChangeArrowheads="1"/>
          </p:cNvSpPr>
          <p:nvPr/>
        </p:nvSpPr>
        <p:spPr bwMode="auto">
          <a:xfrm>
            <a:off x="6477000" y="4965700"/>
            <a:ext cx="1703388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21" name="Text Box 19"/>
          <p:cNvSpPr txBox="1">
            <a:spLocks noChangeArrowheads="1"/>
          </p:cNvSpPr>
          <p:nvPr/>
        </p:nvSpPr>
        <p:spPr bwMode="auto">
          <a:xfrm>
            <a:off x="6721475" y="4949825"/>
            <a:ext cx="1224967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latin typeface="Arial" charset="0"/>
                <a:ea typeface="Arial" charset="0"/>
                <a:cs typeface="Arial" charset="0"/>
              </a:rPr>
              <a:t>Physical</a:t>
            </a:r>
          </a:p>
        </p:txBody>
      </p:sp>
      <p:sp>
        <p:nvSpPr>
          <p:cNvPr id="22" name="Rectangle 20"/>
          <p:cNvSpPr>
            <a:spLocks noChangeArrowheads="1"/>
          </p:cNvSpPr>
          <p:nvPr/>
        </p:nvSpPr>
        <p:spPr bwMode="auto">
          <a:xfrm>
            <a:off x="3706813" y="4203700"/>
            <a:ext cx="1703387" cy="381000"/>
          </a:xfrm>
          <a:prstGeom prst="rect">
            <a:avLst/>
          </a:prstGeom>
          <a:solidFill>
            <a:schemeClr val="bg2">
              <a:lumMod val="9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23" name="Text Box 21"/>
          <p:cNvSpPr txBox="1">
            <a:spLocks noChangeArrowheads="1"/>
          </p:cNvSpPr>
          <p:nvPr/>
        </p:nvSpPr>
        <p:spPr bwMode="auto">
          <a:xfrm>
            <a:off x="3965575" y="4187825"/>
            <a:ext cx="1196113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dirty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Network</a:t>
            </a:r>
          </a:p>
        </p:txBody>
      </p:sp>
      <p:sp>
        <p:nvSpPr>
          <p:cNvPr id="24" name="Rectangle 22"/>
          <p:cNvSpPr>
            <a:spLocks noChangeArrowheads="1"/>
          </p:cNvSpPr>
          <p:nvPr/>
        </p:nvSpPr>
        <p:spPr bwMode="auto">
          <a:xfrm>
            <a:off x="3706813" y="4584700"/>
            <a:ext cx="1703387" cy="381000"/>
          </a:xfrm>
          <a:prstGeom prst="rect">
            <a:avLst/>
          </a:prstGeom>
          <a:solidFill>
            <a:srgbClr val="0000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25" name="Text Box 23"/>
          <p:cNvSpPr txBox="1">
            <a:spLocks noChangeArrowheads="1"/>
          </p:cNvSpPr>
          <p:nvPr/>
        </p:nvSpPr>
        <p:spPr bwMode="auto">
          <a:xfrm>
            <a:off x="3971925" y="4568825"/>
            <a:ext cx="1181685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dirty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Datalink</a:t>
            </a:r>
          </a:p>
        </p:txBody>
      </p:sp>
      <p:sp>
        <p:nvSpPr>
          <p:cNvPr id="26" name="Rectangle 24"/>
          <p:cNvSpPr>
            <a:spLocks noChangeArrowheads="1"/>
          </p:cNvSpPr>
          <p:nvPr/>
        </p:nvSpPr>
        <p:spPr bwMode="auto">
          <a:xfrm>
            <a:off x="3706813" y="4965700"/>
            <a:ext cx="1703387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27" name="Text Box 25"/>
          <p:cNvSpPr txBox="1">
            <a:spLocks noChangeArrowheads="1"/>
          </p:cNvSpPr>
          <p:nvPr/>
        </p:nvSpPr>
        <p:spPr bwMode="auto">
          <a:xfrm>
            <a:off x="3951288" y="4949825"/>
            <a:ext cx="1224967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latin typeface="Arial" charset="0"/>
                <a:ea typeface="Arial" charset="0"/>
                <a:cs typeface="Arial" charset="0"/>
              </a:rPr>
              <a:t>Physical</a:t>
            </a:r>
          </a:p>
        </p:txBody>
      </p:sp>
      <p:cxnSp>
        <p:nvCxnSpPr>
          <p:cNvPr id="28" name="AutoShape 26"/>
          <p:cNvCxnSpPr>
            <a:cxnSpLocks noChangeShapeType="1"/>
          </p:cNvCxnSpPr>
          <p:nvPr/>
        </p:nvCxnSpPr>
        <p:spPr bwMode="auto">
          <a:xfrm>
            <a:off x="2782888" y="5156200"/>
            <a:ext cx="911225" cy="0"/>
          </a:xfrm>
          <a:prstGeom prst="straightConnector1">
            <a:avLst/>
          </a:prstGeom>
          <a:noFill/>
          <a:ln w="19050">
            <a:solidFill>
              <a:schemeClr val="tx1"/>
            </a:solidFill>
            <a:prstDash val="sysDot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cxnSp>
        <p:nvCxnSpPr>
          <p:cNvPr id="29" name="AutoShape 27"/>
          <p:cNvCxnSpPr>
            <a:cxnSpLocks noChangeShapeType="1"/>
          </p:cNvCxnSpPr>
          <p:nvPr/>
        </p:nvCxnSpPr>
        <p:spPr bwMode="auto">
          <a:xfrm>
            <a:off x="2782888" y="4775200"/>
            <a:ext cx="911225" cy="0"/>
          </a:xfrm>
          <a:prstGeom prst="straightConnector1">
            <a:avLst/>
          </a:prstGeom>
          <a:noFill/>
          <a:ln w="19050">
            <a:solidFill>
              <a:schemeClr val="tx1"/>
            </a:solidFill>
            <a:prstDash val="sysDot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cxnSp>
        <p:nvCxnSpPr>
          <p:cNvPr id="30" name="AutoShape 28"/>
          <p:cNvCxnSpPr>
            <a:cxnSpLocks noChangeShapeType="1"/>
          </p:cNvCxnSpPr>
          <p:nvPr/>
        </p:nvCxnSpPr>
        <p:spPr bwMode="auto">
          <a:xfrm>
            <a:off x="2782888" y="4394200"/>
            <a:ext cx="911225" cy="0"/>
          </a:xfrm>
          <a:prstGeom prst="straightConnector1">
            <a:avLst/>
          </a:prstGeom>
          <a:noFill/>
          <a:ln w="19050">
            <a:solidFill>
              <a:schemeClr val="tx1"/>
            </a:solidFill>
            <a:prstDash val="sysDot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cxnSp>
        <p:nvCxnSpPr>
          <p:cNvPr id="31" name="AutoShape 29"/>
          <p:cNvCxnSpPr>
            <a:cxnSpLocks noChangeShapeType="1"/>
          </p:cNvCxnSpPr>
          <p:nvPr/>
        </p:nvCxnSpPr>
        <p:spPr bwMode="auto">
          <a:xfrm>
            <a:off x="5422900" y="5156200"/>
            <a:ext cx="1041400" cy="0"/>
          </a:xfrm>
          <a:prstGeom prst="straightConnector1">
            <a:avLst/>
          </a:prstGeom>
          <a:noFill/>
          <a:ln w="19050">
            <a:solidFill>
              <a:schemeClr val="tx1"/>
            </a:solidFill>
            <a:prstDash val="sysDot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cxnSp>
        <p:nvCxnSpPr>
          <p:cNvPr id="32" name="AutoShape 30"/>
          <p:cNvCxnSpPr>
            <a:cxnSpLocks noChangeShapeType="1"/>
          </p:cNvCxnSpPr>
          <p:nvPr/>
        </p:nvCxnSpPr>
        <p:spPr bwMode="auto">
          <a:xfrm>
            <a:off x="5422900" y="4775200"/>
            <a:ext cx="1041400" cy="0"/>
          </a:xfrm>
          <a:prstGeom prst="straightConnector1">
            <a:avLst/>
          </a:prstGeom>
          <a:noFill/>
          <a:ln w="19050">
            <a:solidFill>
              <a:schemeClr val="tx1"/>
            </a:solidFill>
            <a:prstDash val="sysDot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cxnSp>
        <p:nvCxnSpPr>
          <p:cNvPr id="33" name="AutoShape 31"/>
          <p:cNvCxnSpPr>
            <a:cxnSpLocks noChangeShapeType="1"/>
          </p:cNvCxnSpPr>
          <p:nvPr/>
        </p:nvCxnSpPr>
        <p:spPr bwMode="auto">
          <a:xfrm>
            <a:off x="5422900" y="4394200"/>
            <a:ext cx="1041400" cy="0"/>
          </a:xfrm>
          <a:prstGeom prst="straightConnector1">
            <a:avLst/>
          </a:prstGeom>
          <a:noFill/>
          <a:ln w="19050">
            <a:solidFill>
              <a:schemeClr val="tx1"/>
            </a:solidFill>
            <a:prstDash val="sysDot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cxnSp>
        <p:nvCxnSpPr>
          <p:cNvPr id="34" name="AutoShape 32"/>
          <p:cNvCxnSpPr>
            <a:cxnSpLocks noChangeShapeType="1"/>
          </p:cNvCxnSpPr>
          <p:nvPr/>
        </p:nvCxnSpPr>
        <p:spPr bwMode="auto">
          <a:xfrm>
            <a:off x="2782888" y="4013200"/>
            <a:ext cx="3681412" cy="0"/>
          </a:xfrm>
          <a:prstGeom prst="straightConnector1">
            <a:avLst/>
          </a:prstGeom>
          <a:noFill/>
          <a:ln w="19050">
            <a:solidFill>
              <a:schemeClr val="tx1"/>
            </a:solidFill>
            <a:prstDash val="sysDot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sp>
        <p:nvSpPr>
          <p:cNvPr id="36" name="Rectangle 34"/>
          <p:cNvSpPr>
            <a:spLocks noChangeArrowheads="1"/>
          </p:cNvSpPr>
          <p:nvPr/>
        </p:nvSpPr>
        <p:spPr bwMode="auto">
          <a:xfrm>
            <a:off x="1066800" y="3441700"/>
            <a:ext cx="1703388" cy="381000"/>
          </a:xfrm>
          <a:prstGeom prst="rect">
            <a:avLst/>
          </a:prstGeom>
          <a:solidFill>
            <a:schemeClr val="bg2">
              <a:lumMod val="9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bg1"/>
              </a:solidFill>
              <a:ea typeface="Arial" charset="0"/>
              <a:cs typeface="Arial" charset="0"/>
            </a:endParaRPr>
          </a:p>
        </p:txBody>
      </p:sp>
      <p:sp>
        <p:nvSpPr>
          <p:cNvPr id="37" name="Text Box 35"/>
          <p:cNvSpPr txBox="1">
            <a:spLocks noChangeArrowheads="1"/>
          </p:cNvSpPr>
          <p:nvPr/>
        </p:nvSpPr>
        <p:spPr bwMode="auto">
          <a:xfrm>
            <a:off x="1143000" y="3441700"/>
            <a:ext cx="158115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0" tIns="45716" rIns="91430" bIns="45716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dirty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Application</a:t>
            </a:r>
          </a:p>
        </p:txBody>
      </p:sp>
      <p:sp>
        <p:nvSpPr>
          <p:cNvPr id="38" name="Rectangle 36"/>
          <p:cNvSpPr>
            <a:spLocks noChangeArrowheads="1"/>
          </p:cNvSpPr>
          <p:nvPr/>
        </p:nvSpPr>
        <p:spPr bwMode="auto">
          <a:xfrm>
            <a:off x="6477000" y="3441700"/>
            <a:ext cx="1703388" cy="381000"/>
          </a:xfrm>
          <a:prstGeom prst="rect">
            <a:avLst/>
          </a:prstGeom>
          <a:solidFill>
            <a:schemeClr val="bg2">
              <a:lumMod val="9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bg1"/>
              </a:solidFill>
              <a:ea typeface="Arial" charset="0"/>
              <a:cs typeface="Arial" charset="0"/>
            </a:endParaRPr>
          </a:p>
        </p:txBody>
      </p:sp>
      <p:sp>
        <p:nvSpPr>
          <p:cNvPr id="39" name="Text Box 37"/>
          <p:cNvSpPr txBox="1">
            <a:spLocks noChangeArrowheads="1"/>
          </p:cNvSpPr>
          <p:nvPr/>
        </p:nvSpPr>
        <p:spPr bwMode="auto">
          <a:xfrm>
            <a:off x="6510338" y="3441700"/>
            <a:ext cx="158115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0" tIns="45716" rIns="91430" bIns="45716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Application</a:t>
            </a:r>
          </a:p>
        </p:txBody>
      </p:sp>
      <p:cxnSp>
        <p:nvCxnSpPr>
          <p:cNvPr id="40" name="AutoShape 38"/>
          <p:cNvCxnSpPr>
            <a:cxnSpLocks noChangeShapeType="1"/>
          </p:cNvCxnSpPr>
          <p:nvPr/>
        </p:nvCxnSpPr>
        <p:spPr bwMode="auto">
          <a:xfrm>
            <a:off x="2770188" y="3632200"/>
            <a:ext cx="3740150" cy="9525"/>
          </a:xfrm>
          <a:prstGeom prst="straightConnector1">
            <a:avLst/>
          </a:prstGeom>
          <a:noFill/>
          <a:ln w="19050">
            <a:solidFill>
              <a:schemeClr val="tx1"/>
            </a:solidFill>
            <a:prstDash val="sysDot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sp>
        <p:nvSpPr>
          <p:cNvPr id="41" name="Text Box 39"/>
          <p:cNvSpPr txBox="1">
            <a:spLocks noChangeArrowheads="1"/>
          </p:cNvSpPr>
          <p:nvPr/>
        </p:nvSpPr>
        <p:spPr bwMode="auto">
          <a:xfrm>
            <a:off x="817399" y="5499100"/>
            <a:ext cx="2200603" cy="520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329" tIns="44373" rIns="90329" bIns="44373">
            <a:spAutoFit/>
          </a:bodyPr>
          <a:lstStyle>
            <a:lvl1pPr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2800" dirty="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End system</a:t>
            </a:r>
          </a:p>
        </p:txBody>
      </p:sp>
      <p:sp>
        <p:nvSpPr>
          <p:cNvPr id="42" name="Text Box 40"/>
          <p:cNvSpPr txBox="1">
            <a:spLocks noChangeArrowheads="1"/>
          </p:cNvSpPr>
          <p:nvPr/>
        </p:nvSpPr>
        <p:spPr bwMode="auto">
          <a:xfrm>
            <a:off x="6229187" y="5499100"/>
            <a:ext cx="2200603" cy="520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329" tIns="44373" rIns="90329" bIns="44373">
            <a:spAutoFit/>
          </a:bodyPr>
          <a:lstStyle>
            <a:lvl1pPr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280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End system</a:t>
            </a:r>
          </a:p>
        </p:txBody>
      </p:sp>
      <p:sp>
        <p:nvSpPr>
          <p:cNvPr id="43" name="Text Box 41"/>
          <p:cNvSpPr txBox="1">
            <a:spLocks noChangeArrowheads="1"/>
          </p:cNvSpPr>
          <p:nvPr/>
        </p:nvSpPr>
        <p:spPr bwMode="auto">
          <a:xfrm>
            <a:off x="3887818" y="5499100"/>
            <a:ext cx="1339790" cy="520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329" tIns="44373" rIns="90329" bIns="44373">
            <a:spAutoFit/>
          </a:bodyPr>
          <a:lstStyle>
            <a:lvl1pPr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280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Switch</a:t>
            </a:r>
          </a:p>
        </p:txBody>
      </p:sp>
      <p:sp>
        <p:nvSpPr>
          <p:cNvPr id="45" name="Freeform 42"/>
          <p:cNvSpPr>
            <a:spLocks/>
          </p:cNvSpPr>
          <p:nvPr/>
        </p:nvSpPr>
        <p:spPr bwMode="auto">
          <a:xfrm>
            <a:off x="2667000" y="3457612"/>
            <a:ext cx="3866424" cy="1723988"/>
          </a:xfrm>
          <a:custGeom>
            <a:avLst/>
            <a:gdLst>
              <a:gd name="T0" fmla="*/ 0 w 2352"/>
              <a:gd name="T1" fmla="*/ 0 h 1968"/>
              <a:gd name="T2" fmla="*/ 0 w 2352"/>
              <a:gd name="T3" fmla="*/ 2147483647 h 1968"/>
              <a:gd name="T4" fmla="*/ 2147483647 w 2352"/>
              <a:gd name="T5" fmla="*/ 2147483647 h 1968"/>
              <a:gd name="T6" fmla="*/ 2147483647 w 2352"/>
              <a:gd name="T7" fmla="*/ 2147483647 h 1968"/>
              <a:gd name="T8" fmla="*/ 2147483647 w 2352"/>
              <a:gd name="T9" fmla="*/ 2147483647 h 1968"/>
              <a:gd name="T10" fmla="*/ 2147483647 w 2352"/>
              <a:gd name="T11" fmla="*/ 2147483647 h 1968"/>
              <a:gd name="T12" fmla="*/ 2147483647 w 2352"/>
              <a:gd name="T13" fmla="*/ 2147483647 h 1968"/>
              <a:gd name="T14" fmla="*/ 2147483647 w 2352"/>
              <a:gd name="T15" fmla="*/ 2147483647 h 1968"/>
              <a:gd name="T16" fmla="*/ 2147483647 w 2352"/>
              <a:gd name="T17" fmla="*/ 2147483647 h 1968"/>
              <a:gd name="T18" fmla="*/ 2147483647 w 2352"/>
              <a:gd name="T19" fmla="*/ 0 h 1968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w 2352"/>
              <a:gd name="T31" fmla="*/ 0 h 1968"/>
              <a:gd name="T32" fmla="*/ 2352 w 2352"/>
              <a:gd name="T33" fmla="*/ 1968 h 1968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T30" t="T31" r="T32" b="T33"/>
            <a:pathLst>
              <a:path w="2352" h="1968">
                <a:moveTo>
                  <a:pt x="0" y="0"/>
                </a:moveTo>
                <a:lnTo>
                  <a:pt x="0" y="1824"/>
                </a:lnTo>
                <a:lnTo>
                  <a:pt x="96" y="1968"/>
                </a:lnTo>
                <a:lnTo>
                  <a:pt x="864" y="1968"/>
                </a:lnTo>
                <a:lnTo>
                  <a:pt x="864" y="1200"/>
                </a:lnTo>
                <a:lnTo>
                  <a:pt x="1488" y="1200"/>
                </a:lnTo>
                <a:lnTo>
                  <a:pt x="1488" y="1968"/>
                </a:lnTo>
                <a:lnTo>
                  <a:pt x="2256" y="1968"/>
                </a:lnTo>
                <a:lnTo>
                  <a:pt x="2352" y="1824"/>
                </a:lnTo>
                <a:lnTo>
                  <a:pt x="2352" y="0"/>
                </a:lnTo>
              </a:path>
            </a:pathLst>
          </a:custGeom>
          <a:noFill/>
          <a:ln w="50800">
            <a:solidFill>
              <a:srgbClr val="D3A6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lIns="90474" tIns="44444" rIns="90474" bIns="44444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6551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link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Provides four primary services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Framing</a:t>
            </a:r>
          </a:p>
          <a:p>
            <a:pPr lvl="2"/>
            <a:r>
              <a:rPr lang="en-US" dirty="0"/>
              <a:t>Encapsulates network layer data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Link access</a:t>
            </a:r>
          </a:p>
          <a:p>
            <a:pPr lvl="2"/>
            <a:r>
              <a:rPr lang="en-US" dirty="0"/>
              <a:t>Medium access control (MAC) protocol defines when to transmit frames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Reliable delivery</a:t>
            </a:r>
          </a:p>
          <a:p>
            <a:pPr lvl="2"/>
            <a:r>
              <a:rPr lang="en-US" dirty="0"/>
              <a:t>Primarily for mediums with high error rates (e.g., wireless)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Error detection and correction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1336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Packets are now “frames”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3847915"/>
            <a:ext cx="7924800" cy="2171885"/>
          </a:xfrm>
        </p:spPr>
        <p:txBody>
          <a:bodyPr/>
          <a:lstStyle/>
          <a:p>
            <a:r>
              <a:rPr lang="en-US" dirty="0"/>
              <a:t>Frames encapsulate network layer packets</a:t>
            </a:r>
          </a:p>
          <a:p>
            <a:r>
              <a:rPr lang="en-US" dirty="0"/>
              <a:t>Link layer protocols are implemented in h/w</a:t>
            </a:r>
          </a:p>
          <a:p>
            <a:r>
              <a:rPr lang="en-US" dirty="0"/>
              <a:t>Frame formats can change based on link layer protocol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8" name="Text Box 5"/>
          <p:cNvSpPr txBox="1">
            <a:spLocks noChangeArrowheads="1"/>
          </p:cNvSpPr>
          <p:nvPr/>
        </p:nvSpPr>
        <p:spPr bwMode="auto">
          <a:xfrm>
            <a:off x="152400" y="1981205"/>
            <a:ext cx="889921" cy="6462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91407" tIns="45704" rIns="91407" bIns="45704">
            <a:prstTxWarp prst="textNoShape">
              <a:avLst/>
            </a:prstTxWarp>
            <a:spAutoFit/>
          </a:bodyPr>
          <a:lstStyle/>
          <a:p>
            <a:pPr algn="l"/>
            <a:r>
              <a:rPr lang="en-US" sz="1800" dirty="0">
                <a:latin typeface="+mn-lt"/>
              </a:rPr>
              <a:t>sending</a:t>
            </a:r>
          </a:p>
          <a:p>
            <a:pPr algn="l"/>
            <a:r>
              <a:rPr lang="en-US" sz="1800" dirty="0">
                <a:latin typeface="+mn-lt"/>
              </a:rPr>
              <a:t>node</a:t>
            </a:r>
          </a:p>
        </p:txBody>
      </p:sp>
      <p:grpSp>
        <p:nvGrpSpPr>
          <p:cNvPr id="9" name="Group 6"/>
          <p:cNvGrpSpPr>
            <a:grpSpLocks/>
          </p:cNvGrpSpPr>
          <p:nvPr/>
        </p:nvGrpSpPr>
        <p:grpSpPr bwMode="auto">
          <a:xfrm>
            <a:off x="2303966" y="2617786"/>
            <a:ext cx="965200" cy="427038"/>
            <a:chOff x="1477" y="1377"/>
            <a:chExt cx="608" cy="269"/>
          </a:xfrm>
        </p:grpSpPr>
        <p:sp>
          <p:nvSpPr>
            <p:cNvPr id="27" name="Rectangle 7"/>
            <p:cNvSpPr>
              <a:spLocks noChangeArrowheads="1"/>
            </p:cNvSpPr>
            <p:nvPr/>
          </p:nvSpPr>
          <p:spPr bwMode="auto">
            <a:xfrm>
              <a:off x="1477" y="1377"/>
              <a:ext cx="608" cy="269"/>
            </a:xfrm>
            <a:prstGeom prst="rect">
              <a:avLst/>
            </a:prstGeom>
            <a:solidFill>
              <a:srgbClr val="CC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n-US">
                <a:solidFill>
                  <a:srgbClr val="0000FF"/>
                </a:solidFill>
                <a:latin typeface="+mn-lt"/>
              </a:endParaRPr>
            </a:p>
          </p:txBody>
        </p:sp>
        <p:sp>
          <p:nvSpPr>
            <p:cNvPr id="28" name="Rectangle 8"/>
            <p:cNvSpPr>
              <a:spLocks noChangeArrowheads="1"/>
            </p:cNvSpPr>
            <p:nvPr/>
          </p:nvSpPr>
          <p:spPr bwMode="auto">
            <a:xfrm>
              <a:off x="1546" y="1415"/>
              <a:ext cx="477" cy="185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r>
                <a:rPr lang="en-US" sz="1800" dirty="0">
                  <a:solidFill>
                    <a:srgbClr val="0000FF"/>
                  </a:solidFill>
                  <a:latin typeface="+mn-lt"/>
                </a:rPr>
                <a:t>frame</a:t>
              </a:r>
            </a:p>
          </p:txBody>
        </p:sp>
      </p:grpSp>
      <p:sp>
        <p:nvSpPr>
          <p:cNvPr id="10" name="Line 9"/>
          <p:cNvSpPr>
            <a:spLocks noChangeShapeType="1"/>
          </p:cNvSpPr>
          <p:nvPr/>
        </p:nvSpPr>
        <p:spPr bwMode="auto">
          <a:xfrm>
            <a:off x="3256466" y="2886074"/>
            <a:ext cx="25273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lIns="91407" tIns="45704" rIns="91407" bIns="45704" anchor="ctr">
            <a:prstTxWarp prst="textNoShape">
              <a:avLst/>
            </a:prstTxWarp>
          </a:bodyPr>
          <a:lstStyle/>
          <a:p>
            <a:endParaRPr lang="en-US">
              <a:latin typeface="+mn-lt"/>
            </a:endParaRPr>
          </a:p>
        </p:txBody>
      </p:sp>
      <p:sp>
        <p:nvSpPr>
          <p:cNvPr id="11" name="Rectangle 10"/>
          <p:cNvSpPr>
            <a:spLocks noChangeArrowheads="1"/>
          </p:cNvSpPr>
          <p:nvPr/>
        </p:nvSpPr>
        <p:spPr bwMode="auto">
          <a:xfrm>
            <a:off x="6742617" y="1824036"/>
            <a:ext cx="1125537" cy="122078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lIns="91407" tIns="45704" rIns="91407" bIns="45704" anchor="ctr">
            <a:prstTxWarp prst="textNoShape">
              <a:avLst/>
            </a:prstTxWarp>
          </a:bodyPr>
          <a:lstStyle/>
          <a:p>
            <a:endParaRPr lang="en-US">
              <a:latin typeface="+mn-lt"/>
            </a:endParaRPr>
          </a:p>
        </p:txBody>
      </p:sp>
      <p:sp>
        <p:nvSpPr>
          <p:cNvPr id="12" name="Rectangle 11"/>
          <p:cNvSpPr>
            <a:spLocks noChangeArrowheads="1"/>
          </p:cNvSpPr>
          <p:nvPr/>
        </p:nvSpPr>
        <p:spPr bwMode="auto">
          <a:xfrm>
            <a:off x="7042653" y="2203449"/>
            <a:ext cx="487363" cy="280987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lIns="91407" tIns="45704" rIns="91407" bIns="45704" anchor="ctr">
            <a:prstTxWarp prst="textNoShape">
              <a:avLst/>
            </a:prstTxWarp>
          </a:bodyPr>
          <a:lstStyle/>
          <a:p>
            <a:endParaRPr lang="en-US">
              <a:latin typeface="+mn-lt"/>
            </a:endParaRPr>
          </a:p>
        </p:txBody>
      </p:sp>
      <p:sp>
        <p:nvSpPr>
          <p:cNvPr id="13" name="Rectangle 12"/>
          <p:cNvSpPr>
            <a:spLocks noChangeArrowheads="1"/>
          </p:cNvSpPr>
          <p:nvPr/>
        </p:nvSpPr>
        <p:spPr bwMode="auto">
          <a:xfrm>
            <a:off x="1178428" y="1824036"/>
            <a:ext cx="1125538" cy="122078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lIns="91407" tIns="45704" rIns="91407" bIns="45704" anchor="ctr">
            <a:prstTxWarp prst="textNoShape">
              <a:avLst/>
            </a:prstTxWarp>
          </a:bodyPr>
          <a:lstStyle/>
          <a:p>
            <a:endParaRPr lang="en-US">
              <a:latin typeface="+mn-lt"/>
            </a:endParaRPr>
          </a:p>
        </p:txBody>
      </p:sp>
      <p:sp>
        <p:nvSpPr>
          <p:cNvPr id="14" name="Rectangle 13"/>
          <p:cNvSpPr>
            <a:spLocks noChangeArrowheads="1"/>
          </p:cNvSpPr>
          <p:nvPr/>
        </p:nvSpPr>
        <p:spPr bwMode="auto">
          <a:xfrm>
            <a:off x="1503867" y="2195512"/>
            <a:ext cx="487362" cy="25717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lIns="91407" tIns="45704" rIns="91407" bIns="45704" anchor="ctr">
            <a:prstTxWarp prst="textNoShape">
              <a:avLst/>
            </a:prstTxWarp>
          </a:bodyPr>
          <a:lstStyle/>
          <a:p>
            <a:endParaRPr lang="en-US">
              <a:latin typeface="+mn-lt"/>
            </a:endParaRPr>
          </a:p>
        </p:txBody>
      </p:sp>
      <p:sp>
        <p:nvSpPr>
          <p:cNvPr id="15" name="Text Box 14"/>
          <p:cNvSpPr txBox="1">
            <a:spLocks noChangeArrowheads="1"/>
          </p:cNvSpPr>
          <p:nvPr/>
        </p:nvSpPr>
        <p:spPr bwMode="auto">
          <a:xfrm>
            <a:off x="7926896" y="1981205"/>
            <a:ext cx="1018161" cy="6462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91407" tIns="45704" rIns="91407" bIns="45704">
            <a:prstTxWarp prst="textNoShape">
              <a:avLst/>
            </a:prstTxWarp>
            <a:spAutoFit/>
          </a:bodyPr>
          <a:lstStyle/>
          <a:p>
            <a:pPr algn="l"/>
            <a:r>
              <a:rPr lang="en-US" sz="1800" dirty="0">
                <a:latin typeface="+mn-lt"/>
              </a:rPr>
              <a:t>receiving</a:t>
            </a:r>
          </a:p>
          <a:p>
            <a:pPr algn="l"/>
            <a:r>
              <a:rPr lang="en-US" sz="1800" dirty="0">
                <a:latin typeface="+mn-lt"/>
              </a:rPr>
              <a:t>node</a:t>
            </a:r>
          </a:p>
        </p:txBody>
      </p:sp>
      <p:sp>
        <p:nvSpPr>
          <p:cNvPr id="16" name="Line 15"/>
          <p:cNvSpPr>
            <a:spLocks noChangeShapeType="1"/>
          </p:cNvSpPr>
          <p:nvPr/>
        </p:nvSpPr>
        <p:spPr bwMode="auto">
          <a:xfrm flipH="1">
            <a:off x="2022978" y="2043112"/>
            <a:ext cx="414338" cy="220663"/>
          </a:xfrm>
          <a:prstGeom prst="line">
            <a:avLst/>
          </a:prstGeom>
          <a:noFill/>
          <a:ln w="9525">
            <a:solidFill>
              <a:srgbClr val="0000FF"/>
            </a:solidFill>
            <a:round/>
            <a:headEnd/>
            <a:tailEnd type="triangle" w="med" len="med"/>
          </a:ln>
          <a:effectLst/>
        </p:spPr>
        <p:txBody>
          <a:bodyPr wrap="none" lIns="91407" tIns="45704" rIns="91407" bIns="45704" anchor="ctr">
            <a:prstTxWarp prst="textNoShape">
              <a:avLst/>
            </a:prstTxWarp>
          </a:bodyPr>
          <a:lstStyle/>
          <a:p>
            <a:endParaRPr lang="en-US">
              <a:latin typeface="+mn-lt"/>
            </a:endParaRPr>
          </a:p>
        </p:txBody>
      </p:sp>
      <p:sp>
        <p:nvSpPr>
          <p:cNvPr id="17" name="Text Box 16"/>
          <p:cNvSpPr txBox="1">
            <a:spLocks noChangeArrowheads="1"/>
          </p:cNvSpPr>
          <p:nvPr/>
        </p:nvSpPr>
        <p:spPr bwMode="auto">
          <a:xfrm>
            <a:off x="2303967" y="1676400"/>
            <a:ext cx="659088" cy="369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91407" tIns="45704" rIns="91407" bIns="45704">
            <a:prstTxWarp prst="textNoShape">
              <a:avLst/>
            </a:prstTxWarp>
            <a:spAutoFit/>
          </a:bodyPr>
          <a:lstStyle/>
          <a:p>
            <a:pPr algn="l"/>
            <a:r>
              <a:rPr lang="en-US" sz="1800" dirty="0">
                <a:solidFill>
                  <a:srgbClr val="0000FF"/>
                </a:solidFill>
                <a:latin typeface="+mn-lt"/>
              </a:rPr>
              <a:t>data</a:t>
            </a:r>
          </a:p>
        </p:txBody>
      </p:sp>
      <p:sp>
        <p:nvSpPr>
          <p:cNvPr id="18" name="Freeform 17"/>
          <p:cNvSpPr>
            <a:spLocks/>
          </p:cNvSpPr>
          <p:nvPr/>
        </p:nvSpPr>
        <p:spPr bwMode="auto">
          <a:xfrm>
            <a:off x="1705485" y="2409824"/>
            <a:ext cx="695325" cy="460375"/>
          </a:xfrm>
          <a:custGeom>
            <a:avLst/>
            <a:gdLst/>
            <a:ahLst/>
            <a:cxnLst>
              <a:cxn ang="0">
                <a:pos x="15" y="0"/>
              </a:cxn>
              <a:cxn ang="0">
                <a:pos x="15" y="162"/>
              </a:cxn>
              <a:cxn ang="0">
                <a:pos x="108" y="269"/>
              </a:cxn>
              <a:cxn ang="0">
                <a:pos x="438" y="285"/>
              </a:cxn>
            </a:cxnLst>
            <a:rect l="0" t="0" r="r" b="b"/>
            <a:pathLst>
              <a:path w="438" h="290">
                <a:moveTo>
                  <a:pt x="15" y="0"/>
                </a:moveTo>
                <a:cubicBezTo>
                  <a:pt x="7" y="58"/>
                  <a:pt x="0" y="117"/>
                  <a:pt x="15" y="162"/>
                </a:cubicBezTo>
                <a:cubicBezTo>
                  <a:pt x="30" y="207"/>
                  <a:pt x="38" y="248"/>
                  <a:pt x="108" y="269"/>
                </a:cubicBezTo>
                <a:cubicBezTo>
                  <a:pt x="178" y="290"/>
                  <a:pt x="383" y="282"/>
                  <a:pt x="438" y="285"/>
                </a:cubicBezTo>
              </a:path>
            </a:pathLst>
          </a:custGeom>
          <a:noFill/>
          <a:ln w="38100" cap="flat" cmpd="sng">
            <a:solidFill>
              <a:srgbClr val="0000FF"/>
            </a:solidFill>
            <a:prstDash val="solid"/>
            <a:round/>
            <a:headEnd/>
            <a:tailEnd type="triangle" w="med" len="med"/>
          </a:ln>
          <a:effectLst/>
        </p:spPr>
        <p:txBody>
          <a:bodyPr wrap="none" lIns="91407" tIns="45704" rIns="91407" bIns="45704" anchor="ctr">
            <a:prstTxWarp prst="textNoShape">
              <a:avLst/>
            </a:prstTxWarp>
          </a:bodyPr>
          <a:lstStyle/>
          <a:p>
            <a:endParaRPr lang="en-US">
              <a:latin typeface="+mn-lt"/>
            </a:endParaRPr>
          </a:p>
        </p:txBody>
      </p:sp>
      <p:grpSp>
        <p:nvGrpSpPr>
          <p:cNvPr id="19" name="Group 18"/>
          <p:cNvGrpSpPr>
            <a:grpSpLocks/>
          </p:cNvGrpSpPr>
          <p:nvPr/>
        </p:nvGrpSpPr>
        <p:grpSpPr bwMode="auto">
          <a:xfrm>
            <a:off x="5779003" y="2611437"/>
            <a:ext cx="965200" cy="427038"/>
            <a:chOff x="1477" y="1377"/>
            <a:chExt cx="608" cy="269"/>
          </a:xfrm>
        </p:grpSpPr>
        <p:sp>
          <p:nvSpPr>
            <p:cNvPr id="25" name="Rectangle 24"/>
            <p:cNvSpPr>
              <a:spLocks noChangeArrowheads="1"/>
            </p:cNvSpPr>
            <p:nvPr/>
          </p:nvSpPr>
          <p:spPr bwMode="auto">
            <a:xfrm>
              <a:off x="1477" y="1377"/>
              <a:ext cx="608" cy="269"/>
            </a:xfrm>
            <a:prstGeom prst="rect">
              <a:avLst/>
            </a:prstGeom>
            <a:solidFill>
              <a:srgbClr val="CC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n-US">
                <a:solidFill>
                  <a:srgbClr val="0000FF"/>
                </a:solidFill>
                <a:latin typeface="+mn-lt"/>
              </a:endParaRPr>
            </a:p>
          </p:txBody>
        </p:sp>
        <p:sp>
          <p:nvSpPr>
            <p:cNvPr id="26" name="Rectangle 25"/>
            <p:cNvSpPr>
              <a:spLocks noChangeArrowheads="1"/>
            </p:cNvSpPr>
            <p:nvPr/>
          </p:nvSpPr>
          <p:spPr bwMode="auto">
            <a:xfrm>
              <a:off x="1546" y="1415"/>
              <a:ext cx="477" cy="185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r>
                <a:rPr lang="en-US" sz="1800" dirty="0">
                  <a:solidFill>
                    <a:srgbClr val="0000FF"/>
                  </a:solidFill>
                  <a:latin typeface="+mn-lt"/>
                </a:rPr>
                <a:t>frame</a:t>
              </a:r>
            </a:p>
          </p:txBody>
        </p:sp>
      </p:grpSp>
      <p:sp>
        <p:nvSpPr>
          <p:cNvPr id="20" name="Text Box 21"/>
          <p:cNvSpPr txBox="1">
            <a:spLocks noChangeArrowheads="1"/>
          </p:cNvSpPr>
          <p:nvPr/>
        </p:nvSpPr>
        <p:spPr bwMode="auto">
          <a:xfrm>
            <a:off x="2295626" y="3049587"/>
            <a:ext cx="1069458" cy="6462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91407" tIns="45704" rIns="91407" bIns="45704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800" dirty="0">
                <a:latin typeface="+mn-lt"/>
              </a:rPr>
              <a:t>network</a:t>
            </a:r>
          </a:p>
          <a:p>
            <a:pPr algn="ctr"/>
            <a:r>
              <a:rPr lang="en-US" sz="1800" dirty="0">
                <a:latin typeface="+mn-lt"/>
              </a:rPr>
              <a:t>adaptor</a:t>
            </a:r>
          </a:p>
        </p:txBody>
      </p:sp>
      <p:sp>
        <p:nvSpPr>
          <p:cNvPr id="21" name="Text Box 22"/>
          <p:cNvSpPr txBox="1">
            <a:spLocks noChangeArrowheads="1"/>
          </p:cNvSpPr>
          <p:nvPr/>
        </p:nvSpPr>
        <p:spPr bwMode="auto">
          <a:xfrm>
            <a:off x="5708751" y="3055937"/>
            <a:ext cx="1069458" cy="6462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91407" tIns="45704" rIns="91407" bIns="45704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800" dirty="0"/>
              <a:t>network</a:t>
            </a:r>
          </a:p>
          <a:p>
            <a:pPr algn="ctr"/>
            <a:r>
              <a:rPr lang="en-US" sz="1800" dirty="0"/>
              <a:t>adaptor</a:t>
            </a:r>
          </a:p>
        </p:txBody>
      </p:sp>
      <p:sp>
        <p:nvSpPr>
          <p:cNvPr id="22" name="AutoShape 23"/>
          <p:cNvSpPr>
            <a:spLocks/>
          </p:cNvSpPr>
          <p:nvPr/>
        </p:nvSpPr>
        <p:spPr bwMode="auto">
          <a:xfrm rot="5399521">
            <a:off x="4493129" y="987425"/>
            <a:ext cx="220663" cy="2865437"/>
          </a:xfrm>
          <a:prstGeom prst="leftBrace">
            <a:avLst>
              <a:gd name="adj1" fmla="val 108213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lIns="91407" tIns="45704" rIns="91407" bIns="45704" anchor="ctr">
            <a:prstTxWarp prst="textNoShape">
              <a:avLst/>
            </a:prstTxWarp>
          </a:bodyPr>
          <a:lstStyle/>
          <a:p>
            <a:endParaRPr lang="en-US">
              <a:latin typeface="+mn-lt"/>
            </a:endParaRPr>
          </a:p>
        </p:txBody>
      </p:sp>
      <p:sp>
        <p:nvSpPr>
          <p:cNvPr id="23" name="Text Box 24"/>
          <p:cNvSpPr txBox="1">
            <a:spLocks noChangeArrowheads="1"/>
          </p:cNvSpPr>
          <p:nvPr/>
        </p:nvSpPr>
        <p:spPr bwMode="auto">
          <a:xfrm>
            <a:off x="3594609" y="1943101"/>
            <a:ext cx="1916819" cy="3736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91407" tIns="45704" rIns="91407" bIns="45704">
            <a:prstTxWarp prst="textNoShape">
              <a:avLst/>
            </a:prstTxWarp>
            <a:spAutoFit/>
          </a:bodyPr>
          <a:lstStyle/>
          <a:p>
            <a:pPr algn="l"/>
            <a:r>
              <a:rPr lang="en-US" sz="1800" dirty="0">
                <a:latin typeface="+mn-lt"/>
              </a:rPr>
              <a:t>link layer protocol</a:t>
            </a:r>
          </a:p>
        </p:txBody>
      </p:sp>
      <p:sp>
        <p:nvSpPr>
          <p:cNvPr id="24" name="Freeform 25"/>
          <p:cNvSpPr>
            <a:spLocks/>
          </p:cNvSpPr>
          <p:nvPr/>
        </p:nvSpPr>
        <p:spPr bwMode="auto">
          <a:xfrm>
            <a:off x="6663241" y="2495549"/>
            <a:ext cx="647700" cy="342900"/>
          </a:xfrm>
          <a:custGeom>
            <a:avLst/>
            <a:gdLst/>
            <a:ahLst/>
            <a:cxnLst>
              <a:cxn ang="0">
                <a:pos x="0" y="208"/>
              </a:cxn>
              <a:cxn ang="0">
                <a:pos x="184" y="208"/>
              </a:cxn>
              <a:cxn ang="0">
                <a:pos x="361" y="161"/>
              </a:cxn>
              <a:cxn ang="0">
                <a:pos x="408" y="0"/>
              </a:cxn>
            </a:cxnLst>
            <a:rect l="0" t="0" r="r" b="b"/>
            <a:pathLst>
              <a:path w="408" h="216">
                <a:moveTo>
                  <a:pt x="0" y="208"/>
                </a:moveTo>
                <a:cubicBezTo>
                  <a:pt x="62" y="212"/>
                  <a:pt x="124" y="216"/>
                  <a:pt x="184" y="208"/>
                </a:cubicBezTo>
                <a:cubicBezTo>
                  <a:pt x="244" y="200"/>
                  <a:pt x="324" y="196"/>
                  <a:pt x="361" y="161"/>
                </a:cubicBezTo>
                <a:cubicBezTo>
                  <a:pt x="398" y="126"/>
                  <a:pt x="400" y="27"/>
                  <a:pt x="408" y="0"/>
                </a:cubicBezTo>
              </a:path>
            </a:pathLst>
          </a:custGeom>
          <a:noFill/>
          <a:ln w="38100" cap="flat" cmpd="sng">
            <a:solidFill>
              <a:srgbClr val="0000FF"/>
            </a:solidFill>
            <a:prstDash val="solid"/>
            <a:round/>
            <a:headEnd/>
            <a:tailEnd type="triangle" w="med" len="med"/>
          </a:ln>
          <a:effectLst/>
        </p:spPr>
        <p:txBody>
          <a:bodyPr wrap="none" lIns="91407" tIns="45704" rIns="91407" bIns="45704" anchor="ctr">
            <a:prstTxWarp prst="textNoShape">
              <a:avLst/>
            </a:prstTxWarp>
          </a:bodyPr>
          <a:lstStyle/>
          <a:p>
            <a:endParaRPr lang="en-US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6897498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Point-to-point vs. broadcast medium</a:t>
            </a:r>
          </a:p>
        </p:txBody>
      </p:sp>
      <p:sp>
        <p:nvSpPr>
          <p:cNvPr id="95744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Point-to-point</a:t>
            </a:r>
            <a:r>
              <a:rPr lang="en-US" dirty="0"/>
              <a:t>: dedicated pairwise communication</a:t>
            </a:r>
          </a:p>
          <a:p>
            <a:pPr lvl="1"/>
            <a:r>
              <a:rPr lang="en-US" dirty="0"/>
              <a:t>E.g., long-distance fiber link</a:t>
            </a:r>
          </a:p>
          <a:p>
            <a:pPr lvl="1"/>
            <a:r>
              <a:rPr lang="en-US" dirty="0"/>
              <a:t>E.g., Point-to-point link b/n Ethernet switch and host</a:t>
            </a:r>
          </a:p>
          <a:p>
            <a:r>
              <a:rPr lang="en-US" dirty="0">
                <a:solidFill>
                  <a:srgbClr val="0000FF"/>
                </a:solidFill>
              </a:rPr>
              <a:t>Broadcast</a:t>
            </a:r>
            <a:r>
              <a:rPr lang="en-US" dirty="0"/>
              <a:t>: shared wire or medium</a:t>
            </a:r>
          </a:p>
          <a:p>
            <a:pPr lvl="1"/>
            <a:r>
              <a:rPr lang="en-US" dirty="0"/>
              <a:t>Traditional Ethernet (pre ~2000)</a:t>
            </a:r>
          </a:p>
          <a:p>
            <a:pPr lvl="1"/>
            <a:r>
              <a:rPr lang="en-US" dirty="0"/>
              <a:t>802.11 wireless LAN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93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74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74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74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74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74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744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744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access algorithm</a:t>
            </a:r>
          </a:p>
        </p:txBody>
      </p:sp>
      <p:sp>
        <p:nvSpPr>
          <p:cNvPr id="95949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Context: a shared broadcast channel</a:t>
            </a:r>
          </a:p>
          <a:p>
            <a:pPr lvl="1"/>
            <a:r>
              <a:rPr lang="en-US" dirty="0"/>
              <a:t>Must avoid having multiple nodes speaking at once</a:t>
            </a:r>
          </a:p>
          <a:p>
            <a:pPr lvl="2"/>
            <a:r>
              <a:rPr lang="en-US" dirty="0"/>
              <a:t>Otherwise, collisions lead to garbled data</a:t>
            </a:r>
          </a:p>
          <a:p>
            <a:pPr lvl="1"/>
            <a:r>
              <a:rPr lang="en-US" dirty="0"/>
              <a:t>Need distributed algorithm to determine which node can transmit</a:t>
            </a:r>
          </a:p>
          <a:p>
            <a:r>
              <a:rPr lang="en-US" dirty="0"/>
              <a:t>Three classes of techniques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Channel partitioning</a:t>
            </a:r>
            <a:r>
              <a:rPr lang="en-US" dirty="0"/>
              <a:t>: divide channel into pieces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Taking turns</a:t>
            </a:r>
            <a:r>
              <a:rPr lang="en-US" dirty="0"/>
              <a:t>: scheme for deciding who transmits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Random access</a:t>
            </a:r>
            <a:r>
              <a:rPr lang="en-US" dirty="0"/>
              <a:t>: allow collisions, and then recover</a:t>
            </a:r>
          </a:p>
          <a:p>
            <a:pPr lvl="2"/>
            <a:r>
              <a:rPr lang="en-US" dirty="0"/>
              <a:t>More in the Internet style!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195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94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94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94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94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94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94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94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94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94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9491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 access MAC protocols</a:t>
            </a:r>
          </a:p>
        </p:txBody>
      </p:sp>
      <p:sp>
        <p:nvSpPr>
          <p:cNvPr id="96563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node has packet to send</a:t>
            </a:r>
          </a:p>
          <a:p>
            <a:pPr lvl="1"/>
            <a:r>
              <a:rPr lang="en-US" dirty="0"/>
              <a:t>Transmit at full channel data rate </a:t>
            </a:r>
            <a:r>
              <a:rPr lang="en-US" b="1" dirty="0"/>
              <a:t>w/o</a:t>
            </a:r>
            <a:r>
              <a:rPr lang="en-US" dirty="0"/>
              <a:t> coordination</a:t>
            </a:r>
          </a:p>
          <a:p>
            <a:r>
              <a:rPr lang="en-US" dirty="0"/>
              <a:t>Two or more transmitting nodes </a:t>
            </a:r>
            <a:r>
              <a:rPr lang="en-US" dirty="0">
                <a:sym typeface="Symbol" charset="0"/>
              </a:rPr>
              <a:t></a:t>
            </a:r>
            <a:r>
              <a:rPr lang="en-US" dirty="0"/>
              <a:t> </a:t>
            </a:r>
            <a:r>
              <a:rPr lang="en-US" dirty="0">
                <a:solidFill>
                  <a:srgbClr val="0000FF"/>
                </a:solidFill>
              </a:rPr>
              <a:t>collision</a:t>
            </a:r>
          </a:p>
          <a:p>
            <a:pPr lvl="1"/>
            <a:r>
              <a:rPr lang="en-US" dirty="0"/>
              <a:t>Data lost</a:t>
            </a:r>
          </a:p>
          <a:p>
            <a:r>
              <a:rPr lang="en-US" dirty="0"/>
              <a:t>Random access MAC protocol specifies</a:t>
            </a:r>
          </a:p>
          <a:p>
            <a:pPr lvl="1"/>
            <a:r>
              <a:rPr lang="en-US" dirty="0"/>
              <a:t>How to </a:t>
            </a:r>
            <a:r>
              <a:rPr lang="en-US" dirty="0">
                <a:solidFill>
                  <a:srgbClr val="0000FF"/>
                </a:solidFill>
              </a:rPr>
              <a:t>detect</a:t>
            </a:r>
            <a:r>
              <a:rPr lang="en-US" dirty="0"/>
              <a:t> and </a:t>
            </a:r>
            <a:r>
              <a:rPr lang="en-US" dirty="0">
                <a:solidFill>
                  <a:srgbClr val="0000FF"/>
                </a:solidFill>
              </a:rPr>
              <a:t>recover</a:t>
            </a:r>
            <a:r>
              <a:rPr lang="en-US" dirty="0"/>
              <a:t> from collisions </a:t>
            </a:r>
          </a:p>
          <a:p>
            <a:r>
              <a:rPr lang="en-US" dirty="0"/>
              <a:t>Examples </a:t>
            </a:r>
          </a:p>
          <a:p>
            <a:pPr lvl="1"/>
            <a:r>
              <a:rPr lang="en-US" dirty="0"/>
              <a:t>ALOHA and Slotted ALOHA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CSMA</a:t>
            </a:r>
            <a:r>
              <a:rPr lang="en-US" dirty="0"/>
              <a:t>, </a:t>
            </a:r>
            <a:r>
              <a:rPr lang="en-US" dirty="0">
                <a:solidFill>
                  <a:srgbClr val="0000FF"/>
                </a:solidFill>
              </a:rPr>
              <a:t>CSMA/CD</a:t>
            </a:r>
            <a:r>
              <a:rPr lang="en-US" dirty="0"/>
              <a:t>, CSMA/CA (wireless)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23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56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56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56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563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563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563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563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563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563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65635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Ethernet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Invented as a broadcast technology</a:t>
            </a:r>
          </a:p>
          <a:p>
            <a:pPr lvl="1"/>
            <a:r>
              <a:rPr lang="en-US" dirty="0"/>
              <a:t>Hosts share channel</a:t>
            </a:r>
          </a:p>
          <a:p>
            <a:pPr lvl="1"/>
            <a:r>
              <a:rPr lang="en-US" dirty="0"/>
              <a:t>Each packet received by all attached hosts</a:t>
            </a:r>
          </a:p>
          <a:p>
            <a:pPr lvl="1"/>
            <a:r>
              <a:rPr lang="en-US" dirty="0"/>
              <a:t>CSMA/CD for media access control</a:t>
            </a:r>
          </a:p>
          <a:p>
            <a:r>
              <a:rPr lang="en-US" dirty="0">
                <a:solidFill>
                  <a:srgbClr val="0000FF"/>
                </a:solidFill>
              </a:rPr>
              <a:t>Modern Ethernets are “switched”</a:t>
            </a:r>
            <a:r>
              <a:rPr lang="en-US" dirty="0"/>
              <a:t> (later)</a:t>
            </a:r>
          </a:p>
          <a:p>
            <a:pPr lvl="1"/>
            <a:r>
              <a:rPr lang="en-US" dirty="0"/>
              <a:t>Point-to-point links between switches and between a host and switch</a:t>
            </a:r>
          </a:p>
          <a:p>
            <a:pPr lvl="1"/>
            <a:r>
              <a:rPr lang="en-US" dirty="0"/>
              <a:t>No sharing </a:t>
            </a:r>
            <a:r>
              <a:rPr lang="en-US" dirty="0">
                <a:sym typeface="Symbol" charset="0"/>
              </a:rPr>
              <a:t></a:t>
            </a:r>
            <a:r>
              <a:rPr lang="en-US" dirty="0"/>
              <a:t> no CSMA/CD</a:t>
            </a:r>
          </a:p>
          <a:p>
            <a:pPr lvl="2"/>
            <a:r>
              <a:rPr lang="en-US" dirty="0"/>
              <a:t>Uses “</a:t>
            </a:r>
            <a:r>
              <a:rPr lang="en-US" dirty="0">
                <a:solidFill>
                  <a:srgbClr val="0000FF"/>
                </a:solidFill>
              </a:rPr>
              <a:t>self learning</a:t>
            </a:r>
            <a:r>
              <a:rPr lang="en-US" dirty="0"/>
              <a:t>” and “</a:t>
            </a:r>
            <a:r>
              <a:rPr lang="en-US" dirty="0">
                <a:solidFill>
                  <a:srgbClr val="0000FF"/>
                </a:solidFill>
              </a:rPr>
              <a:t>spanning tree</a:t>
            </a:r>
            <a:r>
              <a:rPr lang="en-US" dirty="0"/>
              <a:t>” algorithms for routing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408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CSMA (Carrier Sense Multiple Access)</a:t>
            </a:r>
          </a:p>
        </p:txBody>
      </p:sp>
      <p:sp>
        <p:nvSpPr>
          <p:cNvPr id="97382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CSMA: </a:t>
            </a:r>
            <a:r>
              <a:rPr lang="en-US" dirty="0">
                <a:solidFill>
                  <a:srgbClr val="0000FF"/>
                </a:solidFill>
              </a:rPr>
              <a:t>listen before transmit</a:t>
            </a:r>
          </a:p>
          <a:p>
            <a:pPr lvl="1"/>
            <a:r>
              <a:rPr lang="en-US" dirty="0"/>
              <a:t>If channel sensed idle: transmit entire frame</a:t>
            </a:r>
          </a:p>
          <a:p>
            <a:pPr lvl="1"/>
            <a:r>
              <a:rPr lang="en-US" dirty="0"/>
              <a:t>If channel sensed busy, defer transmission </a:t>
            </a:r>
          </a:p>
          <a:p>
            <a:r>
              <a:rPr lang="en-US" dirty="0"/>
              <a:t>Human analogy: don’t interrupt others!</a:t>
            </a:r>
          </a:p>
          <a:p>
            <a:r>
              <a:rPr lang="en-US" dirty="0"/>
              <a:t>Does not eliminate all collisions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Why?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91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38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38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38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38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38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38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73827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CSMA collisions</a:t>
            </a:r>
            <a:endParaRPr lang="en-US" dirty="0"/>
          </a:p>
        </p:txBody>
      </p:sp>
      <p:sp>
        <p:nvSpPr>
          <p:cNvPr id="30725" name="Rectangle 9"/>
          <p:cNvSpPr>
            <a:spLocks noGrp="1" noChangeArrowheads="1"/>
          </p:cNvSpPr>
          <p:nvPr>
            <p:ph sz="half" idx="1"/>
          </p:nvPr>
        </p:nvSpPr>
        <p:spPr>
          <a:xfrm>
            <a:off x="685800" y="1600200"/>
            <a:ext cx="3716383" cy="4419600"/>
          </a:xfrm>
        </p:spPr>
        <p:txBody>
          <a:bodyPr/>
          <a:lstStyle/>
          <a:p>
            <a:r>
              <a:rPr lang="en-US" dirty="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Propagation delay</a:t>
            </a:r>
            <a:r>
              <a:rPr lang="en-US" dirty="0">
                <a:latin typeface="Arial" charset="0"/>
                <a:ea typeface="Arial" charset="0"/>
                <a:cs typeface="Arial" charset="0"/>
              </a:rPr>
              <a:t>: two nodes may not hear each other before sending</a:t>
            </a:r>
          </a:p>
          <a:p>
            <a:endParaRPr lang="en-US" dirty="0">
              <a:latin typeface="Arial" charset="0"/>
              <a:ea typeface="Arial" charset="0"/>
              <a:cs typeface="Arial" charset="0"/>
            </a:endParaRPr>
          </a:p>
          <a:p>
            <a:r>
              <a:rPr lang="en-US" dirty="0">
                <a:latin typeface="Arial" charset="0"/>
                <a:ea typeface="Arial" charset="0"/>
                <a:cs typeface="Arial" charset="0"/>
              </a:rPr>
              <a:t>CSMA reduces but does not eliminate collisions</a:t>
            </a:r>
          </a:p>
          <a:p>
            <a:r>
              <a:rPr lang="en-US" dirty="0">
                <a:latin typeface="Arial" charset="0"/>
                <a:ea typeface="Arial" charset="0"/>
                <a:cs typeface="Arial" charset="0"/>
              </a:rPr>
              <a:t>Collision: entire packet transmission time wasted</a:t>
            </a:r>
          </a:p>
          <a:p>
            <a:pPr lvl="1"/>
            <a:r>
              <a:rPr lang="en-US" dirty="0">
                <a:latin typeface="Arial" charset="0"/>
                <a:ea typeface="Arial" charset="0"/>
                <a:cs typeface="Arial" charset="0"/>
              </a:rPr>
              <a:t>Distance and propagation delay affect collision probability</a:t>
            </a:r>
          </a:p>
          <a:p>
            <a:pPr lvl="1"/>
            <a:endParaRPr lang="en-US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7" name="Content Placeholder 6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9334" name="Picture 3" descr="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3413" y="1600200"/>
            <a:ext cx="4287837" cy="4772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0311" name="Rectangle 87"/>
          <p:cNvSpPr>
            <a:spLocks noChangeArrowheads="1"/>
          </p:cNvSpPr>
          <p:nvPr/>
        </p:nvSpPr>
        <p:spPr bwMode="auto">
          <a:xfrm>
            <a:off x="4827588" y="2666999"/>
            <a:ext cx="3736975" cy="349665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 dirty="0">
              <a:cs typeface="+mn-cs"/>
            </a:endParaRPr>
          </a:p>
        </p:txBody>
      </p:sp>
      <p:sp>
        <p:nvSpPr>
          <p:cNvPr id="180312" name="Rectangle 88"/>
          <p:cNvSpPr>
            <a:spLocks noChangeArrowheads="1"/>
          </p:cNvSpPr>
          <p:nvPr/>
        </p:nvSpPr>
        <p:spPr bwMode="auto">
          <a:xfrm>
            <a:off x="4835525" y="3016666"/>
            <a:ext cx="3725863" cy="226464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 dirty="0">
              <a:cs typeface="+mn-cs"/>
            </a:endParaRPr>
          </a:p>
        </p:txBody>
      </p:sp>
      <p:sp>
        <p:nvSpPr>
          <p:cNvPr id="180314" name="Rectangle 90"/>
          <p:cNvSpPr>
            <a:spLocks noChangeArrowheads="1"/>
          </p:cNvSpPr>
          <p:nvPr/>
        </p:nvSpPr>
        <p:spPr bwMode="auto">
          <a:xfrm>
            <a:off x="4797425" y="3243527"/>
            <a:ext cx="3763963" cy="155054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 dirty="0">
              <a:cs typeface="+mn-cs"/>
            </a:endParaRPr>
          </a:p>
        </p:txBody>
      </p:sp>
      <p:sp>
        <p:nvSpPr>
          <p:cNvPr id="180315" name="Rectangle 91"/>
          <p:cNvSpPr>
            <a:spLocks noChangeArrowheads="1"/>
          </p:cNvSpPr>
          <p:nvPr/>
        </p:nvSpPr>
        <p:spPr bwMode="auto">
          <a:xfrm>
            <a:off x="4770438" y="4793433"/>
            <a:ext cx="3789362" cy="1692274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 dirty="0">
              <a:cs typeface="+mn-cs"/>
            </a:endParaRPr>
          </a:p>
        </p:txBody>
      </p:sp>
      <p:sp>
        <p:nvSpPr>
          <p:cNvPr id="30734" name="Rectangle 92"/>
          <p:cNvSpPr>
            <a:spLocks noChangeArrowheads="1"/>
          </p:cNvSpPr>
          <p:nvPr/>
        </p:nvSpPr>
        <p:spPr bwMode="auto">
          <a:xfrm>
            <a:off x="4764088" y="1520824"/>
            <a:ext cx="4040187" cy="1146176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 dirty="0">
              <a:cs typeface="+mn-cs"/>
            </a:endParaRPr>
          </a:p>
        </p:txBody>
      </p:sp>
      <p:grpSp>
        <p:nvGrpSpPr>
          <p:cNvPr id="99342" name="Group 98"/>
          <p:cNvGrpSpPr>
            <a:grpSpLocks/>
          </p:cNvGrpSpPr>
          <p:nvPr/>
        </p:nvGrpSpPr>
        <p:grpSpPr bwMode="auto">
          <a:xfrm>
            <a:off x="4948238" y="1885950"/>
            <a:ext cx="3513137" cy="628650"/>
            <a:chOff x="3117" y="180"/>
            <a:chExt cx="2213" cy="396"/>
          </a:xfrm>
        </p:grpSpPr>
        <p:grpSp>
          <p:nvGrpSpPr>
            <p:cNvPr id="99343" name="Group 67"/>
            <p:cNvGrpSpPr>
              <a:grpSpLocks/>
            </p:cNvGrpSpPr>
            <p:nvPr/>
          </p:nvGrpSpPr>
          <p:grpSpPr bwMode="auto">
            <a:xfrm flipH="1">
              <a:off x="3117" y="245"/>
              <a:ext cx="316" cy="323"/>
              <a:chOff x="2839" y="3501"/>
              <a:chExt cx="755" cy="803"/>
            </a:xfrm>
          </p:grpSpPr>
          <p:pic>
            <p:nvPicPr>
              <p:cNvPr id="99358" name="Picture 68" descr="desktop_computer_stylized_medium"/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99359" name="Freeform 69"/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</p:grpSp>
        <p:grpSp>
          <p:nvGrpSpPr>
            <p:cNvPr id="99344" name="Group 70"/>
            <p:cNvGrpSpPr>
              <a:grpSpLocks/>
            </p:cNvGrpSpPr>
            <p:nvPr/>
          </p:nvGrpSpPr>
          <p:grpSpPr bwMode="auto">
            <a:xfrm flipH="1">
              <a:off x="3747" y="253"/>
              <a:ext cx="316" cy="323"/>
              <a:chOff x="2839" y="3501"/>
              <a:chExt cx="755" cy="803"/>
            </a:xfrm>
          </p:grpSpPr>
          <p:pic>
            <p:nvPicPr>
              <p:cNvPr id="99356" name="Picture 71" descr="desktop_computer_stylized_medium"/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99357" name="Freeform 72"/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</p:grpSp>
        <p:grpSp>
          <p:nvGrpSpPr>
            <p:cNvPr id="99345" name="Group 73"/>
            <p:cNvGrpSpPr>
              <a:grpSpLocks/>
            </p:cNvGrpSpPr>
            <p:nvPr/>
          </p:nvGrpSpPr>
          <p:grpSpPr bwMode="auto">
            <a:xfrm flipH="1">
              <a:off x="4356" y="247"/>
              <a:ext cx="316" cy="323"/>
              <a:chOff x="2839" y="3501"/>
              <a:chExt cx="755" cy="803"/>
            </a:xfrm>
          </p:grpSpPr>
          <p:pic>
            <p:nvPicPr>
              <p:cNvPr id="99354" name="Picture 74" descr="desktop_computer_stylized_medium"/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99355" name="Freeform 75"/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</p:grpSp>
        <p:grpSp>
          <p:nvGrpSpPr>
            <p:cNvPr id="99346" name="Group 76"/>
            <p:cNvGrpSpPr>
              <a:grpSpLocks/>
            </p:cNvGrpSpPr>
            <p:nvPr/>
          </p:nvGrpSpPr>
          <p:grpSpPr bwMode="auto">
            <a:xfrm flipH="1">
              <a:off x="5014" y="249"/>
              <a:ext cx="316" cy="323"/>
              <a:chOff x="2839" y="3501"/>
              <a:chExt cx="755" cy="803"/>
            </a:xfrm>
          </p:grpSpPr>
          <p:pic>
            <p:nvPicPr>
              <p:cNvPr id="99352" name="Picture 77" descr="desktop_computer_stylized_medium"/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99353" name="Freeform 78"/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</p:grpSp>
        <p:sp>
          <p:nvSpPr>
            <p:cNvPr id="30740" name="Line 93"/>
            <p:cNvSpPr>
              <a:spLocks noChangeShapeType="1"/>
            </p:cNvSpPr>
            <p:nvPr/>
          </p:nvSpPr>
          <p:spPr bwMode="auto">
            <a:xfrm>
              <a:off x="3309" y="181"/>
              <a:ext cx="1989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>
                <a:defRPr/>
              </a:pPr>
              <a:endParaRPr lang="en-US" dirty="0">
                <a:cs typeface="+mn-cs"/>
              </a:endParaRPr>
            </a:p>
          </p:txBody>
        </p:sp>
        <p:sp>
          <p:nvSpPr>
            <p:cNvPr id="30741" name="Line 94"/>
            <p:cNvSpPr>
              <a:spLocks noChangeShapeType="1"/>
            </p:cNvSpPr>
            <p:nvPr/>
          </p:nvSpPr>
          <p:spPr bwMode="auto">
            <a:xfrm>
              <a:off x="3309" y="180"/>
              <a:ext cx="0" cy="8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>
                <a:defRPr/>
              </a:pPr>
              <a:endParaRPr lang="en-US" dirty="0">
                <a:cs typeface="+mn-cs"/>
              </a:endParaRPr>
            </a:p>
          </p:txBody>
        </p:sp>
        <p:sp>
          <p:nvSpPr>
            <p:cNvPr id="30742" name="Line 95"/>
            <p:cNvSpPr>
              <a:spLocks noChangeShapeType="1"/>
            </p:cNvSpPr>
            <p:nvPr/>
          </p:nvSpPr>
          <p:spPr bwMode="auto">
            <a:xfrm>
              <a:off x="3975" y="183"/>
              <a:ext cx="0" cy="8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>
                <a:defRPr/>
              </a:pPr>
              <a:endParaRPr lang="en-US" dirty="0">
                <a:cs typeface="+mn-cs"/>
              </a:endParaRPr>
            </a:p>
          </p:txBody>
        </p:sp>
        <p:sp>
          <p:nvSpPr>
            <p:cNvPr id="30743" name="Line 96"/>
            <p:cNvSpPr>
              <a:spLocks noChangeShapeType="1"/>
            </p:cNvSpPr>
            <p:nvPr/>
          </p:nvSpPr>
          <p:spPr bwMode="auto">
            <a:xfrm>
              <a:off x="4578" y="183"/>
              <a:ext cx="0" cy="8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>
                <a:defRPr/>
              </a:pPr>
              <a:endParaRPr lang="en-US" dirty="0">
                <a:cs typeface="+mn-cs"/>
              </a:endParaRPr>
            </a:p>
          </p:txBody>
        </p:sp>
        <p:sp>
          <p:nvSpPr>
            <p:cNvPr id="30744" name="Line 97"/>
            <p:cNvSpPr>
              <a:spLocks noChangeShapeType="1"/>
            </p:cNvSpPr>
            <p:nvPr/>
          </p:nvSpPr>
          <p:spPr bwMode="auto">
            <a:xfrm>
              <a:off x="5289" y="180"/>
              <a:ext cx="0" cy="8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>
                <a:defRPr/>
              </a:pPr>
              <a:endParaRPr lang="en-US" dirty="0">
                <a:cs typeface="+mn-cs"/>
              </a:endParaRPr>
            </a:p>
          </p:txBody>
        </p:sp>
      </p:grpSp>
      <p:sp>
        <p:nvSpPr>
          <p:cNvPr id="30728" name="Rectangle 6"/>
          <p:cNvSpPr>
            <a:spLocks noChangeArrowheads="1"/>
          </p:cNvSpPr>
          <p:nvPr/>
        </p:nvSpPr>
        <p:spPr bwMode="auto">
          <a:xfrm>
            <a:off x="5521325" y="1517650"/>
            <a:ext cx="256857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ctr">
              <a:defRPr/>
            </a:pPr>
            <a:r>
              <a:rPr lang="en-US" sz="1600" i="0" dirty="0">
                <a:latin typeface="Arial" charset="0"/>
                <a:cs typeface="+mn-cs"/>
              </a:rPr>
              <a:t>Spatial layout of nodes </a:t>
            </a:r>
            <a:endParaRPr lang="en-US" sz="2000" i="0" dirty="0">
              <a:latin typeface="Arial" charset="0"/>
              <a:cs typeface="+mn-cs"/>
            </a:endParaRP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6FED86-94EF-254D-90EE-B810FE8299EE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512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6" dur="500"/>
                                        <p:tgtEl>
                                          <p:spTgt spid="1803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0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xit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11" dur="500"/>
                                        <p:tgtEl>
                                          <p:spTgt spid="1803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0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16" dur="500"/>
                                        <p:tgtEl>
                                          <p:spTgt spid="1803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0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21" dur="500"/>
                                        <p:tgtEl>
                                          <p:spTgt spid="1803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0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0311" grpId="0" animBg="1"/>
      <p:bldP spid="180312" grpId="0" animBg="1"/>
      <p:bldP spid="180314" grpId="0" animBg="1"/>
      <p:bldP spid="18031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CSMA/CD (Collision Detection)</a:t>
            </a:r>
          </a:p>
        </p:txBody>
      </p:sp>
      <p:sp>
        <p:nvSpPr>
          <p:cNvPr id="97792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CSMA/CD: carrier sensing, deferral as in CSMA</a:t>
            </a:r>
          </a:p>
          <a:p>
            <a:pPr lvl="1"/>
            <a:r>
              <a:rPr lang="en-US" dirty="0"/>
              <a:t>Collisions detected within short time</a:t>
            </a:r>
          </a:p>
          <a:p>
            <a:pPr lvl="1"/>
            <a:r>
              <a:rPr lang="en-US" dirty="0"/>
              <a:t>Colliding transmissions aborted, reducing wastage </a:t>
            </a:r>
          </a:p>
          <a:p>
            <a:r>
              <a:rPr lang="en-US" dirty="0"/>
              <a:t>Collision detection easy in wired (broadcast) LANs</a:t>
            </a:r>
          </a:p>
          <a:p>
            <a:pPr lvl="1"/>
            <a:r>
              <a:rPr lang="en-US" dirty="0"/>
              <a:t>Compare transmitted, received signals</a:t>
            </a:r>
          </a:p>
          <a:p>
            <a:r>
              <a:rPr lang="en-US" dirty="0"/>
              <a:t>Collision detection difficult in wireless LANs</a:t>
            </a:r>
          </a:p>
          <a:p>
            <a:pPr lvl="1"/>
            <a:r>
              <a:rPr lang="en-US" dirty="0"/>
              <a:t>Later!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311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79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79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79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79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79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79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79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7792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4" name="Rectangle 8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CSMA/CD (Collision Detection)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For this to work, </a:t>
            </a:r>
            <a:r>
              <a:rPr lang="en-US" dirty="0">
                <a:solidFill>
                  <a:srgbClr val="0000FF"/>
                </a:solidFill>
              </a:rPr>
              <a:t>need restrictions on minimum frame size and maximum distance</a:t>
            </a:r>
          </a:p>
          <a:p>
            <a:pPr lvl="1"/>
            <a:r>
              <a:rPr lang="en-US" dirty="0"/>
              <a:t>Why?</a:t>
            </a:r>
          </a:p>
          <a:p>
            <a:endParaRPr lang="en-US" dirty="0"/>
          </a:p>
        </p:txBody>
      </p:sp>
      <p:grpSp>
        <p:nvGrpSpPr>
          <p:cNvPr id="5" name="Group 4"/>
          <p:cNvGrpSpPr/>
          <p:nvPr/>
        </p:nvGrpSpPr>
        <p:grpSpPr>
          <a:xfrm>
            <a:off x="4363860" y="1798910"/>
            <a:ext cx="4433887" cy="3956050"/>
            <a:chOff x="1999481" y="1446213"/>
            <a:chExt cx="4433887" cy="3956050"/>
          </a:xfrm>
        </p:grpSpPr>
        <p:pic>
          <p:nvPicPr>
            <p:cNvPr id="103427" name="Picture 3" descr="5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99481" y="1531938"/>
              <a:ext cx="4433887" cy="38703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2775" name="Rectangle 29"/>
            <p:cNvSpPr>
              <a:spLocks noChangeArrowheads="1"/>
            </p:cNvSpPr>
            <p:nvPr/>
          </p:nvSpPr>
          <p:spPr bwMode="auto">
            <a:xfrm>
              <a:off x="2185218" y="1446213"/>
              <a:ext cx="4135438" cy="121126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cs typeface="+mn-cs"/>
              </a:endParaRPr>
            </a:p>
          </p:txBody>
        </p:sp>
        <p:sp>
          <p:nvSpPr>
            <p:cNvPr id="32776" name="Rectangle 9"/>
            <p:cNvSpPr>
              <a:spLocks noChangeArrowheads="1"/>
            </p:cNvSpPr>
            <p:nvPr/>
          </p:nvSpPr>
          <p:spPr bwMode="auto">
            <a:xfrm>
              <a:off x="2921818" y="1595438"/>
              <a:ext cx="2568575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algn="ctr">
                <a:defRPr/>
              </a:pPr>
              <a:r>
                <a:rPr lang="en-US" dirty="0">
                  <a:cs typeface="+mn-cs"/>
                </a:rPr>
                <a:t>S</a:t>
              </a:r>
              <a:r>
                <a:rPr lang="en-US" sz="1600" i="0" dirty="0">
                  <a:latin typeface="Arial" charset="0"/>
                  <a:cs typeface="+mn-cs"/>
                </a:rPr>
                <a:t>patial layout of nodes </a:t>
              </a:r>
              <a:endParaRPr lang="en-US" sz="2000" i="0" dirty="0">
                <a:latin typeface="Arial" charset="0"/>
                <a:cs typeface="+mn-cs"/>
              </a:endParaRPr>
            </a:p>
          </p:txBody>
        </p:sp>
        <p:grpSp>
          <p:nvGrpSpPr>
            <p:cNvPr id="103432" name="Group 30"/>
            <p:cNvGrpSpPr>
              <a:grpSpLocks/>
            </p:cNvGrpSpPr>
            <p:nvPr/>
          </p:nvGrpSpPr>
          <p:grpSpPr bwMode="auto">
            <a:xfrm>
              <a:off x="2685281" y="1985963"/>
              <a:ext cx="3263900" cy="195262"/>
              <a:chOff x="4220" y="1231"/>
              <a:chExt cx="1989" cy="90"/>
            </a:xfrm>
          </p:grpSpPr>
          <p:sp>
            <p:nvSpPr>
              <p:cNvPr id="32790" name="Line 23"/>
              <p:cNvSpPr>
                <a:spLocks noChangeShapeType="1"/>
              </p:cNvSpPr>
              <p:nvPr/>
            </p:nvSpPr>
            <p:spPr bwMode="auto">
              <a:xfrm>
                <a:off x="4220" y="1232"/>
                <a:ext cx="1989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pPr>
                  <a:defRPr/>
                </a:pPr>
                <a:endParaRPr lang="en-US" dirty="0">
                  <a:cs typeface="+mn-cs"/>
                </a:endParaRPr>
              </a:p>
            </p:txBody>
          </p:sp>
          <p:sp>
            <p:nvSpPr>
              <p:cNvPr id="32791" name="Line 24"/>
              <p:cNvSpPr>
                <a:spLocks noChangeShapeType="1"/>
              </p:cNvSpPr>
              <p:nvPr/>
            </p:nvSpPr>
            <p:spPr bwMode="auto">
              <a:xfrm>
                <a:off x="4220" y="1231"/>
                <a:ext cx="0" cy="87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pPr>
                  <a:defRPr/>
                </a:pPr>
                <a:endParaRPr lang="en-US" dirty="0">
                  <a:cs typeface="+mn-cs"/>
                </a:endParaRPr>
              </a:p>
            </p:txBody>
          </p:sp>
          <p:sp>
            <p:nvSpPr>
              <p:cNvPr id="32792" name="Line 25"/>
              <p:cNvSpPr>
                <a:spLocks noChangeShapeType="1"/>
              </p:cNvSpPr>
              <p:nvPr/>
            </p:nvSpPr>
            <p:spPr bwMode="auto">
              <a:xfrm>
                <a:off x="4886" y="1234"/>
                <a:ext cx="0" cy="87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pPr>
                  <a:defRPr/>
                </a:pPr>
                <a:endParaRPr lang="en-US" dirty="0">
                  <a:cs typeface="+mn-cs"/>
                </a:endParaRPr>
              </a:p>
            </p:txBody>
          </p:sp>
          <p:sp>
            <p:nvSpPr>
              <p:cNvPr id="32793" name="Line 26"/>
              <p:cNvSpPr>
                <a:spLocks noChangeShapeType="1"/>
              </p:cNvSpPr>
              <p:nvPr/>
            </p:nvSpPr>
            <p:spPr bwMode="auto">
              <a:xfrm>
                <a:off x="5489" y="1234"/>
                <a:ext cx="0" cy="87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pPr>
                  <a:defRPr/>
                </a:pPr>
                <a:endParaRPr lang="en-US" dirty="0">
                  <a:cs typeface="+mn-cs"/>
                </a:endParaRPr>
              </a:p>
            </p:txBody>
          </p:sp>
          <p:sp>
            <p:nvSpPr>
              <p:cNvPr id="32794" name="Line 27"/>
              <p:cNvSpPr>
                <a:spLocks noChangeShapeType="1"/>
              </p:cNvSpPr>
              <p:nvPr/>
            </p:nvSpPr>
            <p:spPr bwMode="auto">
              <a:xfrm>
                <a:off x="6200" y="1231"/>
                <a:ext cx="0" cy="87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pPr>
                  <a:defRPr/>
                </a:pPr>
                <a:endParaRPr lang="en-US" dirty="0">
                  <a:cs typeface="+mn-cs"/>
                </a:endParaRPr>
              </a:p>
            </p:txBody>
          </p:sp>
        </p:grpSp>
        <p:grpSp>
          <p:nvGrpSpPr>
            <p:cNvPr id="103433" name="Group 11"/>
            <p:cNvGrpSpPr>
              <a:grpSpLocks/>
            </p:cNvGrpSpPr>
            <p:nvPr/>
          </p:nvGrpSpPr>
          <p:grpSpPr bwMode="auto">
            <a:xfrm flipH="1">
              <a:off x="2331268" y="2119313"/>
              <a:ext cx="501650" cy="512762"/>
              <a:chOff x="2839" y="3501"/>
              <a:chExt cx="755" cy="803"/>
            </a:xfrm>
          </p:grpSpPr>
          <p:pic>
            <p:nvPicPr>
              <p:cNvPr id="103443" name="Picture 12" descr="desktop_computer_stylized_medium"/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03444" name="Freeform 13"/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</p:grpSp>
        <p:grpSp>
          <p:nvGrpSpPr>
            <p:cNvPr id="103434" name="Group 14"/>
            <p:cNvGrpSpPr>
              <a:grpSpLocks/>
            </p:cNvGrpSpPr>
            <p:nvPr/>
          </p:nvGrpSpPr>
          <p:grpSpPr bwMode="auto">
            <a:xfrm flipH="1">
              <a:off x="3423468" y="2101850"/>
              <a:ext cx="501650" cy="512763"/>
              <a:chOff x="2839" y="3501"/>
              <a:chExt cx="755" cy="803"/>
            </a:xfrm>
          </p:grpSpPr>
          <p:pic>
            <p:nvPicPr>
              <p:cNvPr id="103441" name="Picture 15" descr="desktop_computer_stylized_medium"/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03442" name="Freeform 16"/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</p:grpSp>
        <p:grpSp>
          <p:nvGrpSpPr>
            <p:cNvPr id="103435" name="Group 17"/>
            <p:cNvGrpSpPr>
              <a:grpSpLocks/>
            </p:cNvGrpSpPr>
            <p:nvPr/>
          </p:nvGrpSpPr>
          <p:grpSpPr bwMode="auto">
            <a:xfrm flipH="1">
              <a:off x="4422006" y="2092325"/>
              <a:ext cx="501650" cy="512763"/>
              <a:chOff x="2839" y="3501"/>
              <a:chExt cx="755" cy="803"/>
            </a:xfrm>
          </p:grpSpPr>
          <p:pic>
            <p:nvPicPr>
              <p:cNvPr id="103439" name="Picture 18" descr="desktop_computer_stylized_medium"/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03440" name="Freeform 19"/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</p:grpSp>
        <p:grpSp>
          <p:nvGrpSpPr>
            <p:cNvPr id="103436" name="Group 20"/>
            <p:cNvGrpSpPr>
              <a:grpSpLocks/>
            </p:cNvGrpSpPr>
            <p:nvPr/>
          </p:nvGrpSpPr>
          <p:grpSpPr bwMode="auto">
            <a:xfrm flipH="1">
              <a:off x="5541193" y="2106613"/>
              <a:ext cx="501650" cy="512762"/>
              <a:chOff x="2839" y="3501"/>
              <a:chExt cx="755" cy="803"/>
            </a:xfrm>
          </p:grpSpPr>
          <p:pic>
            <p:nvPicPr>
              <p:cNvPr id="103437" name="Picture 21" descr="desktop_computer_stylized_medium"/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03438" name="Freeform 22"/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</p:grpSp>
      </p:grpSp>
      <p:sp>
        <p:nvSpPr>
          <p:cNvPr id="10" name="Date Placeholder 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6FED86-94EF-254D-90EE-B810FE8299EE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815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5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Limits on CSMA/CD network length</a:t>
            </a:r>
          </a:p>
        </p:txBody>
      </p:sp>
      <p:sp>
        <p:nvSpPr>
          <p:cNvPr id="943107" name="Rectangle 3"/>
          <p:cNvSpPr>
            <a:spLocks noGrp="1" noChangeArrowheads="1"/>
          </p:cNvSpPr>
          <p:nvPr>
            <p:ph idx="1"/>
          </p:nvPr>
        </p:nvSpPr>
        <p:spPr>
          <a:xfrm>
            <a:off x="685800" y="3004456"/>
            <a:ext cx="7924800" cy="3015343"/>
          </a:xfrm>
        </p:spPr>
        <p:txBody>
          <a:bodyPr/>
          <a:lstStyle/>
          <a:p>
            <a:r>
              <a:rPr lang="en-US" dirty="0"/>
              <a:t>Latency depends on physical length of link</a:t>
            </a:r>
          </a:p>
          <a:p>
            <a:pPr lvl="1"/>
            <a:r>
              <a:rPr lang="en-US" dirty="0"/>
              <a:t>Time to propagate a frame from one end to other</a:t>
            </a:r>
          </a:p>
          <a:p>
            <a:r>
              <a:rPr lang="en-US" dirty="0"/>
              <a:t> Suppose A sends a frame at time </a:t>
            </a:r>
            <a:r>
              <a:rPr lang="en-US" b="1" dirty="0"/>
              <a:t>t</a:t>
            </a:r>
          </a:p>
          <a:p>
            <a:pPr lvl="1"/>
            <a:r>
              <a:rPr lang="en-US" dirty="0"/>
              <a:t>And B sees an idle line at a time just before </a:t>
            </a:r>
            <a:r>
              <a:rPr lang="en-US" b="1" dirty="0"/>
              <a:t>t + d</a:t>
            </a:r>
          </a:p>
          <a:p>
            <a:pPr lvl="1"/>
            <a:r>
              <a:rPr lang="en-US" dirty="0"/>
              <a:t>… so B happily starts transmitting a frame</a:t>
            </a:r>
          </a:p>
          <a:p>
            <a:r>
              <a:rPr lang="en-US" dirty="0"/>
              <a:t>B detects a collision, and sends jamming signal</a:t>
            </a:r>
          </a:p>
          <a:p>
            <a:pPr lvl="1"/>
            <a:r>
              <a:rPr lang="en-US" dirty="0"/>
              <a:t>But A cannot see collision until </a:t>
            </a:r>
            <a:r>
              <a:rPr lang="en-US" b="1" dirty="0"/>
              <a:t>t + 2d</a:t>
            </a:r>
          </a:p>
        </p:txBody>
      </p:sp>
      <p:grpSp>
        <p:nvGrpSpPr>
          <p:cNvPr id="6" name="Group 5"/>
          <p:cNvGrpSpPr>
            <a:grpSpLocks noChangeAspect="1"/>
          </p:cNvGrpSpPr>
          <p:nvPr/>
        </p:nvGrpSpPr>
        <p:grpSpPr>
          <a:xfrm>
            <a:off x="914400" y="1410746"/>
            <a:ext cx="7354389" cy="1362047"/>
            <a:chOff x="517525" y="1201738"/>
            <a:chExt cx="8554585" cy="1584325"/>
          </a:xfrm>
        </p:grpSpPr>
        <p:pic>
          <p:nvPicPr>
            <p:cNvPr id="96261" name="Picture 4" descr="j0195384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491413" y="1431925"/>
              <a:ext cx="1316037" cy="13446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96262" name="Picture 5" descr="j0292020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7850" y="1316038"/>
              <a:ext cx="1549400" cy="1470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6263" name="Rectangle 6"/>
            <p:cNvSpPr>
              <a:spLocks noChangeArrowheads="1"/>
            </p:cNvSpPr>
            <p:nvPr/>
          </p:nvSpPr>
          <p:spPr bwMode="auto">
            <a:xfrm>
              <a:off x="2074863" y="1970089"/>
              <a:ext cx="5568950" cy="87311"/>
            </a:xfrm>
            <a:prstGeom prst="rect">
              <a:avLst/>
            </a:prstGeom>
            <a:solidFill>
              <a:srgbClr val="0000FF"/>
            </a:solidFill>
            <a:ln>
              <a:solidFill>
                <a:srgbClr val="0000FF"/>
              </a:solidFill>
            </a:ln>
            <a:extLst>
              <a:ext uri="{91240B29-F687-4f45-9708-019B960494DF}">
                <a14:hiddenLine xmlns:a14="http://schemas.microsoft.com/office/drawing/2010/main" xmlns="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6266" name="Text Box 13"/>
            <p:cNvSpPr txBox="1">
              <a:spLocks noChangeArrowheads="1"/>
            </p:cNvSpPr>
            <p:nvPr/>
          </p:nvSpPr>
          <p:spPr bwMode="auto">
            <a:xfrm>
              <a:off x="4030663" y="1547813"/>
              <a:ext cx="1285875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>
                  <a:latin typeface="Helvetica" charset="0"/>
                </a:rPr>
                <a:t>latency</a:t>
              </a:r>
              <a:r>
                <a:rPr lang="en-US" i="1">
                  <a:latin typeface="Helvetica" charset="0"/>
                </a:rPr>
                <a:t> d</a:t>
              </a:r>
              <a:endParaRPr lang="en-US">
                <a:latin typeface="Helvetica" charset="0"/>
              </a:endParaRPr>
            </a:p>
          </p:txBody>
        </p:sp>
        <p:sp>
          <p:nvSpPr>
            <p:cNvPr id="96267" name="Text Box 14"/>
            <p:cNvSpPr txBox="1">
              <a:spLocks noChangeArrowheads="1"/>
            </p:cNvSpPr>
            <p:nvPr/>
          </p:nvSpPr>
          <p:spPr bwMode="auto">
            <a:xfrm>
              <a:off x="517525" y="1265238"/>
              <a:ext cx="36830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i="1">
                  <a:latin typeface="Helvetica" charset="0"/>
                </a:rPr>
                <a:t>A</a:t>
              </a:r>
              <a:endParaRPr lang="en-US">
                <a:latin typeface="Helvetica" charset="0"/>
              </a:endParaRPr>
            </a:p>
          </p:txBody>
        </p:sp>
        <p:sp>
          <p:nvSpPr>
            <p:cNvPr id="96268" name="Text Box 15"/>
            <p:cNvSpPr txBox="1">
              <a:spLocks noChangeArrowheads="1"/>
            </p:cNvSpPr>
            <p:nvPr/>
          </p:nvSpPr>
          <p:spPr bwMode="auto">
            <a:xfrm>
              <a:off x="8703810" y="1201738"/>
              <a:ext cx="36830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i="1">
                  <a:latin typeface="Helvetica" charset="0"/>
                </a:rPr>
                <a:t>B</a:t>
              </a:r>
              <a:endParaRPr lang="en-US">
                <a:latin typeface="Helvetica" charset="0"/>
              </a:endParaRPr>
            </a:p>
          </p:txBody>
        </p:sp>
      </p:grp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75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31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31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31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31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31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31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31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43107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Limits on CSMA/CD network length</a:t>
            </a:r>
          </a:p>
        </p:txBody>
      </p:sp>
      <p:sp>
        <p:nvSpPr>
          <p:cNvPr id="945155" name="Rectangle 3"/>
          <p:cNvSpPr>
            <a:spLocks noGrp="1" noChangeArrowheads="1"/>
          </p:cNvSpPr>
          <p:nvPr>
            <p:ph idx="1"/>
          </p:nvPr>
        </p:nvSpPr>
        <p:spPr>
          <a:xfrm>
            <a:off x="685800" y="3017520"/>
            <a:ext cx="7924800" cy="3002280"/>
          </a:xfrm>
        </p:spPr>
        <p:txBody>
          <a:bodyPr/>
          <a:lstStyle/>
          <a:p>
            <a:r>
              <a:rPr lang="en-US" dirty="0"/>
              <a:t>A needs to wait for time </a:t>
            </a:r>
            <a:r>
              <a:rPr lang="en-US" b="1" dirty="0"/>
              <a:t>2d</a:t>
            </a:r>
            <a:r>
              <a:rPr lang="en-US" dirty="0"/>
              <a:t> to detect collision</a:t>
            </a:r>
          </a:p>
          <a:p>
            <a:pPr lvl="1"/>
            <a:r>
              <a:rPr lang="en-US" dirty="0"/>
              <a:t>So, A should keep transmitting during this period</a:t>
            </a:r>
          </a:p>
          <a:p>
            <a:pPr lvl="1"/>
            <a:r>
              <a:rPr lang="en-US" dirty="0"/>
              <a:t>AND keep an eye out for a possible collision</a:t>
            </a:r>
          </a:p>
          <a:p>
            <a:r>
              <a:rPr lang="en-US" dirty="0"/>
              <a:t>Imposes restrictions; e.g., for 10 Mbps Ethernet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Maximum length</a:t>
            </a:r>
            <a:r>
              <a:rPr lang="en-US" dirty="0"/>
              <a:t> of the wire: 2,500 meters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Minimum length</a:t>
            </a:r>
            <a:r>
              <a:rPr lang="en-US" dirty="0"/>
              <a:t> of a frame: 512 bits (64 bytes)</a:t>
            </a:r>
          </a:p>
        </p:txBody>
      </p:sp>
      <p:grpSp>
        <p:nvGrpSpPr>
          <p:cNvPr id="10" name="Group 9"/>
          <p:cNvGrpSpPr>
            <a:grpSpLocks noChangeAspect="1"/>
          </p:cNvGrpSpPr>
          <p:nvPr/>
        </p:nvGrpSpPr>
        <p:grpSpPr>
          <a:xfrm>
            <a:off x="914400" y="1410746"/>
            <a:ext cx="7354389" cy="1362047"/>
            <a:chOff x="517525" y="1201738"/>
            <a:chExt cx="8554585" cy="1584325"/>
          </a:xfrm>
        </p:grpSpPr>
        <p:pic>
          <p:nvPicPr>
            <p:cNvPr id="11" name="Picture 4" descr="j0195384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491413" y="1431925"/>
              <a:ext cx="1316037" cy="13446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2" name="Picture 5" descr="j0292020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7850" y="1316038"/>
              <a:ext cx="1549400" cy="1470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" name="Rectangle 6"/>
            <p:cNvSpPr>
              <a:spLocks noChangeArrowheads="1"/>
            </p:cNvSpPr>
            <p:nvPr/>
          </p:nvSpPr>
          <p:spPr bwMode="auto">
            <a:xfrm>
              <a:off x="2074863" y="1970089"/>
              <a:ext cx="5568950" cy="87311"/>
            </a:xfrm>
            <a:prstGeom prst="rect">
              <a:avLst/>
            </a:prstGeom>
            <a:solidFill>
              <a:srgbClr val="0000FF"/>
            </a:solidFill>
            <a:ln>
              <a:solidFill>
                <a:srgbClr val="0000FF"/>
              </a:solidFill>
            </a:ln>
            <a:extLst>
              <a:ext uri="{91240B29-F687-4f45-9708-019B960494DF}">
                <a14:hiddenLine xmlns:a14="http://schemas.microsoft.com/office/drawing/2010/main" xmlns="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4" name="Text Box 13"/>
            <p:cNvSpPr txBox="1">
              <a:spLocks noChangeArrowheads="1"/>
            </p:cNvSpPr>
            <p:nvPr/>
          </p:nvSpPr>
          <p:spPr bwMode="auto">
            <a:xfrm>
              <a:off x="4030663" y="1547813"/>
              <a:ext cx="1285875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>
                  <a:latin typeface="Helvetica" charset="0"/>
                </a:rPr>
                <a:t>latency</a:t>
              </a:r>
              <a:r>
                <a:rPr lang="en-US" i="1">
                  <a:latin typeface="Helvetica" charset="0"/>
                </a:rPr>
                <a:t> d</a:t>
              </a:r>
              <a:endParaRPr lang="en-US">
                <a:latin typeface="Helvetica" charset="0"/>
              </a:endParaRPr>
            </a:p>
          </p:txBody>
        </p:sp>
        <p:sp>
          <p:nvSpPr>
            <p:cNvPr id="15" name="Text Box 14"/>
            <p:cNvSpPr txBox="1">
              <a:spLocks noChangeArrowheads="1"/>
            </p:cNvSpPr>
            <p:nvPr/>
          </p:nvSpPr>
          <p:spPr bwMode="auto">
            <a:xfrm>
              <a:off x="517525" y="1265238"/>
              <a:ext cx="36830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i="1">
                  <a:latin typeface="Helvetica" charset="0"/>
                </a:rPr>
                <a:t>A</a:t>
              </a:r>
              <a:endParaRPr lang="en-US">
                <a:latin typeface="Helvetica" charset="0"/>
              </a:endParaRPr>
            </a:p>
          </p:txBody>
        </p:sp>
        <p:sp>
          <p:nvSpPr>
            <p:cNvPr id="16" name="Text Box 15"/>
            <p:cNvSpPr txBox="1">
              <a:spLocks noChangeArrowheads="1"/>
            </p:cNvSpPr>
            <p:nvPr/>
          </p:nvSpPr>
          <p:spPr bwMode="auto">
            <a:xfrm>
              <a:off x="8703810" y="1201738"/>
              <a:ext cx="36830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i="1">
                  <a:latin typeface="Helvetica" charset="0"/>
                </a:rPr>
                <a:t>B</a:t>
              </a:r>
              <a:endParaRPr lang="en-US">
                <a:latin typeface="Helvetica" charset="0"/>
              </a:endParaRPr>
            </a:p>
          </p:txBody>
        </p:sp>
      </p:grp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3468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51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51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51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45155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3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Three key ideas of random access</a:t>
            </a:r>
          </a:p>
        </p:txBody>
      </p:sp>
      <p:sp>
        <p:nvSpPr>
          <p:cNvPr id="96768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Carrier sense</a:t>
            </a:r>
          </a:p>
          <a:p>
            <a:pPr lvl="1"/>
            <a:r>
              <a:rPr lang="en-US" dirty="0"/>
              <a:t>Listen before speaking and don’t interrupt</a:t>
            </a:r>
          </a:p>
          <a:p>
            <a:pPr lvl="1"/>
            <a:r>
              <a:rPr lang="en-US" dirty="0"/>
              <a:t>Checking if someone else is already sending data</a:t>
            </a:r>
          </a:p>
          <a:p>
            <a:pPr lvl="1"/>
            <a:r>
              <a:rPr lang="en-US" dirty="0"/>
              <a:t>… and waiting till the other node is done</a:t>
            </a:r>
          </a:p>
          <a:p>
            <a:r>
              <a:rPr lang="en-US" dirty="0">
                <a:solidFill>
                  <a:srgbClr val="0000FF"/>
                </a:solidFill>
              </a:rPr>
              <a:t>Collision detection</a:t>
            </a:r>
          </a:p>
          <a:p>
            <a:pPr lvl="1"/>
            <a:r>
              <a:rPr lang="en-US" dirty="0"/>
              <a:t>If someone else starts talking at the same time, stop</a:t>
            </a:r>
          </a:p>
          <a:p>
            <a:pPr lvl="2"/>
            <a:r>
              <a:rPr lang="en-US" dirty="0"/>
              <a:t>Make sure everyone knows there was a collision!</a:t>
            </a:r>
          </a:p>
          <a:p>
            <a:pPr lvl="1"/>
            <a:r>
              <a:rPr lang="en-US" dirty="0"/>
              <a:t>Realizing when two nodes are transmitting at once</a:t>
            </a:r>
          </a:p>
          <a:p>
            <a:pPr lvl="1"/>
            <a:r>
              <a:rPr lang="en-US" dirty="0"/>
              <a:t>…by detecting that the data on the wire is garbled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37920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3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Three key ideas of random access</a:t>
            </a:r>
          </a:p>
        </p:txBody>
      </p:sp>
      <p:sp>
        <p:nvSpPr>
          <p:cNvPr id="96768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Randomness</a:t>
            </a:r>
          </a:p>
          <a:p>
            <a:pPr lvl="1"/>
            <a:r>
              <a:rPr lang="en-US" dirty="0"/>
              <a:t>Don’t start talking again right away</a:t>
            </a:r>
          </a:p>
          <a:p>
            <a:pPr lvl="1"/>
            <a:r>
              <a:rPr lang="en-US" dirty="0"/>
              <a:t>Waiting for a random time before trying again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9790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How long should you wait?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Should it be immediate?</a:t>
            </a:r>
          </a:p>
          <a:p>
            <a:r>
              <a:rPr lang="en-US" dirty="0"/>
              <a:t>Should it be a random number with a fixed distribution?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95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Ethernet: CSMA/CD Protocol</a:t>
            </a:r>
          </a:p>
        </p:txBody>
      </p:sp>
      <p:sp>
        <p:nvSpPr>
          <p:cNvPr id="939011" name="Rectangle 3"/>
          <p:cNvSpPr>
            <a:spLocks noGrp="1" noChangeArrowheads="1"/>
          </p:cNvSpPr>
          <p:nvPr>
            <p:ph idx="1"/>
          </p:nvPr>
        </p:nvSpPr>
        <p:spPr>
          <a:xfrm>
            <a:off x="685800" y="1600200"/>
            <a:ext cx="8275320" cy="4419600"/>
          </a:xfrm>
        </p:spPr>
        <p:txBody>
          <a:bodyPr/>
          <a:lstStyle/>
          <a:p>
            <a:r>
              <a:rPr lang="en-US" dirty="0"/>
              <a:t>Carrier sense: wait for link to be idle</a:t>
            </a:r>
          </a:p>
          <a:p>
            <a:r>
              <a:rPr lang="en-US" dirty="0"/>
              <a:t>Collision detection: listen while transmitting</a:t>
            </a:r>
          </a:p>
          <a:p>
            <a:pPr lvl="1"/>
            <a:r>
              <a:rPr lang="en-US" dirty="0"/>
              <a:t>No collision: transmission is complete</a:t>
            </a:r>
          </a:p>
          <a:p>
            <a:pPr lvl="1"/>
            <a:r>
              <a:rPr lang="en-US" dirty="0"/>
              <a:t>Collision: abort transmission &amp; send jam signal</a:t>
            </a:r>
          </a:p>
          <a:p>
            <a:r>
              <a:rPr lang="en-US" dirty="0"/>
              <a:t>Random access: </a:t>
            </a:r>
            <a:r>
              <a:rPr lang="en-US" dirty="0">
                <a:solidFill>
                  <a:srgbClr val="0000FF"/>
                </a:solidFill>
              </a:rPr>
              <a:t>binary exponential back-off</a:t>
            </a:r>
          </a:p>
          <a:p>
            <a:pPr lvl="1"/>
            <a:r>
              <a:rPr lang="en-US" dirty="0"/>
              <a:t>After collision, wait a random time before retrying</a:t>
            </a:r>
          </a:p>
          <a:p>
            <a:pPr lvl="1"/>
            <a:r>
              <a:rPr lang="en-US" dirty="0"/>
              <a:t>After </a:t>
            </a:r>
            <a:r>
              <a:rPr lang="en-US" dirty="0" err="1"/>
              <a:t>m</a:t>
            </a:r>
            <a:r>
              <a:rPr lang="en-US" baseline="30000" dirty="0" err="1"/>
              <a:t>th</a:t>
            </a:r>
            <a:r>
              <a:rPr lang="en-US" dirty="0"/>
              <a:t> collision, choose K randomly from {0, …, 2</a:t>
            </a:r>
            <a:r>
              <a:rPr lang="en-US" baseline="30000" dirty="0"/>
              <a:t>m</a:t>
            </a:r>
            <a:r>
              <a:rPr lang="en-US" dirty="0"/>
              <a:t>-1}</a:t>
            </a:r>
          </a:p>
          <a:p>
            <a:pPr lvl="2"/>
            <a:r>
              <a:rPr lang="en-US" dirty="0"/>
              <a:t>Wait for K*512 bit times before trying again</a:t>
            </a:r>
          </a:p>
          <a:p>
            <a:pPr lvl="2"/>
            <a:r>
              <a:rPr lang="en-US" dirty="0"/>
              <a:t>If transmission occurring when ready to send, wait until end of transmission (CSMA)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9522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90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90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90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90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90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90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90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90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90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39011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Efficiency of CSMA/CD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Efficiency is defined as the long-run fraction of time during which frames are being transmitted without collision</a:t>
            </a:r>
          </a:p>
          <a:p>
            <a:r>
              <a:rPr lang="en-US" dirty="0">
                <a:solidFill>
                  <a:srgbClr val="0000FF"/>
                </a:solidFill>
              </a:rPr>
              <a:t>d</a:t>
            </a:r>
            <a:r>
              <a:rPr lang="en-US" baseline="-25000" dirty="0">
                <a:solidFill>
                  <a:srgbClr val="0000FF"/>
                </a:solidFill>
              </a:rPr>
              <a:t>prop</a:t>
            </a:r>
            <a:r>
              <a:rPr lang="en-US" dirty="0"/>
              <a:t> = max propagation time between two adapters</a:t>
            </a:r>
          </a:p>
          <a:p>
            <a:r>
              <a:rPr lang="en-US" dirty="0">
                <a:solidFill>
                  <a:srgbClr val="0000FF"/>
                </a:solidFill>
              </a:rPr>
              <a:t>d</a:t>
            </a:r>
            <a:r>
              <a:rPr lang="en-US" baseline="-25000" dirty="0">
                <a:solidFill>
                  <a:srgbClr val="0000FF"/>
                </a:solidFill>
              </a:rPr>
              <a:t>trans</a:t>
            </a:r>
            <a:r>
              <a:rPr lang="en-US" dirty="0"/>
              <a:t> = time to transmit a max-sized frame</a:t>
            </a:r>
          </a:p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20</a:t>
            </a:fld>
            <a:endParaRPr lang="en-US"/>
          </a:p>
        </p:txBody>
      </p:sp>
      <p:grpSp>
        <p:nvGrpSpPr>
          <p:cNvPr id="17" name="Group 16"/>
          <p:cNvGrpSpPr/>
          <p:nvPr/>
        </p:nvGrpSpPr>
        <p:grpSpPr>
          <a:xfrm>
            <a:off x="1891937" y="4741816"/>
            <a:ext cx="5360126" cy="1115406"/>
            <a:chOff x="1537063" y="4846320"/>
            <a:chExt cx="5360126" cy="1115406"/>
          </a:xfrm>
        </p:grpSpPr>
        <p:sp>
          <p:nvSpPr>
            <p:cNvPr id="9" name="TextBox 8"/>
            <p:cNvSpPr txBox="1"/>
            <p:nvPr/>
          </p:nvSpPr>
          <p:spPr>
            <a:xfrm>
              <a:off x="5128685" y="4846320"/>
              <a:ext cx="38504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1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537063" y="5181600"/>
              <a:ext cx="218040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Efficiency ≈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792583" y="5438506"/>
              <a:ext cx="294664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1 + 5 d</a:t>
              </a:r>
              <a:r>
                <a:rPr lang="en-US" sz="2800" baseline="-25000" dirty="0"/>
                <a:t>prop</a:t>
              </a:r>
              <a:r>
                <a:rPr lang="en-US" sz="2800" dirty="0"/>
                <a:t> / d</a:t>
              </a:r>
              <a:r>
                <a:rPr lang="en-US" sz="2800" baseline="-25000" dirty="0"/>
                <a:t>trans</a:t>
              </a:r>
            </a:p>
          </p:txBody>
        </p:sp>
        <p:cxnSp>
          <p:nvCxnSpPr>
            <p:cNvPr id="13" name="Straight Connector 12"/>
            <p:cNvCxnSpPr/>
            <p:nvPr/>
          </p:nvCxnSpPr>
          <p:spPr bwMode="auto">
            <a:xfrm>
              <a:off x="3788229" y="5434149"/>
              <a:ext cx="3108960" cy="0"/>
            </a:xfrm>
            <a:prstGeom prst="line">
              <a:avLst/>
            </a:prstGeom>
            <a:solidFill>
              <a:schemeClr val="accent1"/>
            </a:solidFill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1603684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Efficiency of CSMA/CD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</a:t>
            </a:r>
            <a:r>
              <a:rPr lang="en-US" baseline="-25000" dirty="0"/>
              <a:t>prop</a:t>
            </a:r>
            <a:r>
              <a:rPr lang="en-US" dirty="0"/>
              <a:t> → 0</a:t>
            </a:r>
          </a:p>
          <a:p>
            <a:pPr lvl="1"/>
            <a:r>
              <a:rPr lang="en-US" dirty="0"/>
              <a:t>Efficiency approaches 1</a:t>
            </a:r>
          </a:p>
          <a:p>
            <a:pPr lvl="1"/>
            <a:r>
              <a:rPr lang="en-US" dirty="0"/>
              <a:t>Colliding nodes abort immediately</a:t>
            </a:r>
          </a:p>
          <a:p>
            <a:r>
              <a:rPr lang="en-US" dirty="0"/>
              <a:t>d</a:t>
            </a:r>
            <a:r>
              <a:rPr lang="en-US" baseline="-25000" dirty="0"/>
              <a:t>trans</a:t>
            </a:r>
            <a:r>
              <a:rPr lang="en-US" dirty="0"/>
              <a:t> → ∞</a:t>
            </a:r>
          </a:p>
          <a:p>
            <a:pPr lvl="1"/>
            <a:r>
              <a:rPr lang="en-US" dirty="0"/>
              <a:t>Efficiency approaches 1</a:t>
            </a:r>
          </a:p>
          <a:p>
            <a:pPr lvl="1"/>
            <a:r>
              <a:rPr lang="en-US" dirty="0"/>
              <a:t>Each frames uses the channel for a long time</a:t>
            </a:r>
          </a:p>
          <a:p>
            <a:pPr lvl="1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21</a:t>
            </a:fld>
            <a:endParaRPr lang="en-US"/>
          </a:p>
        </p:txBody>
      </p:sp>
      <p:grpSp>
        <p:nvGrpSpPr>
          <p:cNvPr id="17" name="Group 16"/>
          <p:cNvGrpSpPr/>
          <p:nvPr/>
        </p:nvGrpSpPr>
        <p:grpSpPr>
          <a:xfrm>
            <a:off x="1891937" y="4741816"/>
            <a:ext cx="5360126" cy="1115406"/>
            <a:chOff x="1537063" y="4846320"/>
            <a:chExt cx="5360126" cy="1115406"/>
          </a:xfrm>
        </p:grpSpPr>
        <p:sp>
          <p:nvSpPr>
            <p:cNvPr id="9" name="TextBox 8"/>
            <p:cNvSpPr txBox="1"/>
            <p:nvPr/>
          </p:nvSpPr>
          <p:spPr>
            <a:xfrm>
              <a:off x="4828237" y="4846320"/>
              <a:ext cx="98937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/>
                <a:t>d</a:t>
              </a:r>
              <a:r>
                <a:rPr lang="en-US" sz="2800" baseline="-25000"/>
                <a:t>trans</a:t>
              </a:r>
              <a:endParaRPr lang="en-US" sz="2800" baseline="-25000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537063" y="5181600"/>
              <a:ext cx="218040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Efficiency ≈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145282" y="5438506"/>
              <a:ext cx="24884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/>
                <a:t>d</a:t>
              </a:r>
              <a:r>
                <a:rPr lang="en-US" sz="2800" baseline="-25000"/>
                <a:t>trans</a:t>
              </a:r>
              <a:r>
                <a:rPr lang="en-US" sz="2800"/>
                <a:t> </a:t>
              </a:r>
              <a:r>
                <a:rPr lang="en-US" sz="2800" dirty="0"/>
                <a:t>+ 5 d</a:t>
              </a:r>
              <a:r>
                <a:rPr lang="en-US" sz="2800" baseline="-25000" dirty="0"/>
                <a:t>prop</a:t>
              </a:r>
            </a:p>
          </p:txBody>
        </p:sp>
        <p:cxnSp>
          <p:nvCxnSpPr>
            <p:cNvPr id="13" name="Straight Connector 12"/>
            <p:cNvCxnSpPr/>
            <p:nvPr/>
          </p:nvCxnSpPr>
          <p:spPr bwMode="auto">
            <a:xfrm>
              <a:off x="3788229" y="5434149"/>
              <a:ext cx="3108960" cy="0"/>
            </a:xfrm>
            <a:prstGeom prst="line">
              <a:avLst/>
            </a:prstGeom>
            <a:solidFill>
              <a:schemeClr val="accent1"/>
            </a:solidFill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413806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5-minute break!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67508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A3AF6CD-F570-FA07-ED39-EE5796DBD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12262F0-1C11-BE01-6E2D-F09C3D04A3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Assignment 4 is out!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E2D95B-E355-4573-B793-48E32EBA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A504BC-00E2-9A8D-191E-2E97E8838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66359E-A763-88B4-101A-2F5B40E41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2EB77-FB6C-2244-A076-ADF097535D48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74259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Switched Ethernet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2EB77-FB6C-2244-A076-ADF097535D48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003848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Broadcast vs. switched Ethernet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Invented as a broadcast technology</a:t>
            </a:r>
          </a:p>
          <a:p>
            <a:pPr lvl="1"/>
            <a:r>
              <a:rPr lang="en-US" dirty="0"/>
              <a:t>Hosts share channel</a:t>
            </a:r>
          </a:p>
          <a:p>
            <a:pPr lvl="1"/>
            <a:r>
              <a:rPr lang="en-US" dirty="0"/>
              <a:t>Each packet received by all attached hosts</a:t>
            </a:r>
          </a:p>
          <a:p>
            <a:pPr lvl="1"/>
            <a:r>
              <a:rPr lang="en-US" dirty="0"/>
              <a:t>CSMA/CD for media access control</a:t>
            </a:r>
          </a:p>
          <a:p>
            <a:r>
              <a:rPr lang="en-US" dirty="0">
                <a:solidFill>
                  <a:srgbClr val="0000FF"/>
                </a:solidFill>
              </a:rPr>
              <a:t>Modern Ethernets are “switched”</a:t>
            </a:r>
            <a:endParaRPr lang="en-US" dirty="0"/>
          </a:p>
          <a:p>
            <a:pPr lvl="1"/>
            <a:r>
              <a:rPr lang="en-US" dirty="0"/>
              <a:t>Point-to-point links between switches and between a host and switch</a:t>
            </a:r>
          </a:p>
          <a:p>
            <a:pPr lvl="1"/>
            <a:r>
              <a:rPr lang="en-US" dirty="0"/>
              <a:t>No sharing </a:t>
            </a:r>
            <a:r>
              <a:rPr lang="en-US" dirty="0">
                <a:sym typeface="Symbol" charset="0"/>
              </a:rPr>
              <a:t></a:t>
            </a:r>
            <a:r>
              <a:rPr lang="en-US" dirty="0"/>
              <a:t> no CSMA/CD</a:t>
            </a:r>
          </a:p>
          <a:p>
            <a:pPr lvl="2"/>
            <a:r>
              <a:rPr lang="en-US" dirty="0"/>
              <a:t>Uses “self learning” and “spanning tree” algorithms for routing</a:t>
            </a:r>
          </a:p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83416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switched Ethernet?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400" dirty="0">
                <a:solidFill>
                  <a:srgbClr val="0000FF"/>
                </a:solidFill>
              </a:rPr>
              <a:t>Enables concurrent communication</a:t>
            </a:r>
          </a:p>
          <a:p>
            <a:pPr lvl="1"/>
            <a:r>
              <a:rPr lang="en-US" sz="2000" dirty="0"/>
              <a:t>Host A can talk to C, while B talks to D</a:t>
            </a:r>
          </a:p>
          <a:p>
            <a:pPr lvl="1"/>
            <a:r>
              <a:rPr lang="en-US" sz="2000" dirty="0"/>
              <a:t>No collisions and no need for CSMA/CD</a:t>
            </a:r>
          </a:p>
          <a:p>
            <a:pPr lvl="1"/>
            <a:r>
              <a:rPr lang="en-US" sz="2000" dirty="0"/>
              <a:t>No constraints on link lengths, etc.</a:t>
            </a:r>
            <a:endParaRPr lang="en-US" sz="2400" dirty="0"/>
          </a:p>
        </p:txBody>
      </p:sp>
      <p:grpSp>
        <p:nvGrpSpPr>
          <p:cNvPr id="28" name="Group 27"/>
          <p:cNvGrpSpPr/>
          <p:nvPr/>
        </p:nvGrpSpPr>
        <p:grpSpPr>
          <a:xfrm>
            <a:off x="4873490" y="1723874"/>
            <a:ext cx="3344862" cy="3196500"/>
            <a:chOff x="2535238" y="1240544"/>
            <a:chExt cx="3344862" cy="3196500"/>
          </a:xfrm>
        </p:grpSpPr>
        <p:graphicFrame>
          <p:nvGraphicFramePr>
            <p:cNvPr id="29" name="Object 28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2396950"/>
                </p:ext>
              </p:extLst>
            </p:nvPr>
          </p:nvGraphicFramePr>
          <p:xfrm>
            <a:off x="3952875" y="1728769"/>
            <a:ext cx="512763" cy="4476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Clip" r:id="rId3" imgW="1307948" imgH="1084823" progId="MS_ClipArt_Gallery.2">
                    <p:embed/>
                  </p:oleObj>
                </mc:Choice>
                <mc:Fallback>
                  <p:oleObj name="Clip" r:id="rId3" imgW="1307948" imgH="1084823" progId="MS_ClipArt_Gallery.2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952875" y="1728769"/>
                          <a:ext cx="512763" cy="44767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=""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=""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="" xmlns:a14="http://schemas.microsoft.com/office/drawing/2010/main">
                              <a:effectLst>
                                <a:outerShdw blurRad="63500" dist="38099" dir="2700000" algn="ctr" rotWithShape="0">
                                  <a:srgbClr val="000000">
                                    <a:alpha val="74998"/>
                                  </a:srgbClr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0" name="Object 29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9624891"/>
                </p:ext>
              </p:extLst>
            </p:nvPr>
          </p:nvGraphicFramePr>
          <p:xfrm>
            <a:off x="3983038" y="3989369"/>
            <a:ext cx="512762" cy="4476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Clip" r:id="rId3" imgW="1307948" imgH="1084823" progId="MS_ClipArt_Gallery.2">
                    <p:embed/>
                  </p:oleObj>
                </mc:Choice>
                <mc:Fallback>
                  <p:oleObj name="Clip" r:id="rId3" imgW="1307948" imgH="1084823" progId="MS_ClipArt_Gallery.2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983038" y="3989369"/>
                          <a:ext cx="512762" cy="44767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=""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=""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="" xmlns:a14="http://schemas.microsoft.com/office/drawing/2010/main">
                              <a:effectLst>
                                <a:outerShdw blurRad="63500" dist="38099" dir="2700000" algn="ctr" rotWithShape="0">
                                  <a:srgbClr val="000000">
                                    <a:alpha val="74998"/>
                                  </a:srgbClr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1" name="Object 30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821888001"/>
                </p:ext>
              </p:extLst>
            </p:nvPr>
          </p:nvGraphicFramePr>
          <p:xfrm>
            <a:off x="5367338" y="2757469"/>
            <a:ext cx="512762" cy="4476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Clip" r:id="rId3" imgW="1307948" imgH="1084823" progId="MS_ClipArt_Gallery.2">
                    <p:embed/>
                  </p:oleObj>
                </mc:Choice>
                <mc:Fallback>
                  <p:oleObj name="Clip" r:id="rId3" imgW="1307948" imgH="1084823" progId="MS_ClipArt_Gallery.2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367338" y="2757469"/>
                          <a:ext cx="512762" cy="44767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=""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=""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="" xmlns:a14="http://schemas.microsoft.com/office/drawing/2010/main">
                              <a:effectLst>
                                <a:outerShdw blurRad="63500" dist="38099" dir="2700000" algn="ctr" rotWithShape="0">
                                  <a:srgbClr val="000000">
                                    <a:alpha val="74998"/>
                                  </a:srgbClr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2" name="Object 31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856815303"/>
                </p:ext>
              </p:extLst>
            </p:nvPr>
          </p:nvGraphicFramePr>
          <p:xfrm>
            <a:off x="2535238" y="2768582"/>
            <a:ext cx="512762" cy="4476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Clip" r:id="rId5" imgW="1307948" imgH="1084823" progId="MS_ClipArt_Gallery.2">
                    <p:embed/>
                  </p:oleObj>
                </mc:Choice>
                <mc:Fallback>
                  <p:oleObj name="Clip" r:id="rId5" imgW="1307948" imgH="1084823" progId="MS_ClipArt_Gallery.2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535238" y="2768582"/>
                          <a:ext cx="512762" cy="44767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=""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=""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="" xmlns:a14="http://schemas.microsoft.com/office/drawing/2010/main">
                              <a:effectLst>
                                <a:outerShdw blurRad="63500" dist="38099" dir="2700000" algn="ctr" rotWithShape="0">
                                  <a:srgbClr val="000000">
                                    <a:alpha val="74998"/>
                                  </a:srgbClr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3" name="Rectangle 9"/>
            <p:cNvSpPr>
              <a:spLocks noChangeArrowheads="1"/>
            </p:cNvSpPr>
            <p:nvPr/>
          </p:nvSpPr>
          <p:spPr bwMode="auto">
            <a:xfrm>
              <a:off x="3017838" y="2911457"/>
              <a:ext cx="153987" cy="131762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4" name="Rectangle 10"/>
            <p:cNvSpPr>
              <a:spLocks noChangeArrowheads="1"/>
            </p:cNvSpPr>
            <p:nvPr/>
          </p:nvSpPr>
          <p:spPr bwMode="auto">
            <a:xfrm>
              <a:off x="5273675" y="2911457"/>
              <a:ext cx="153988" cy="131762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5" name="Rectangle 11"/>
            <p:cNvSpPr>
              <a:spLocks noChangeArrowheads="1"/>
            </p:cNvSpPr>
            <p:nvPr/>
          </p:nvSpPr>
          <p:spPr bwMode="auto">
            <a:xfrm>
              <a:off x="4194175" y="2168507"/>
              <a:ext cx="120650" cy="207962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6" name="Rectangle 12"/>
            <p:cNvSpPr>
              <a:spLocks noChangeArrowheads="1"/>
            </p:cNvSpPr>
            <p:nvPr/>
          </p:nvSpPr>
          <p:spPr bwMode="auto">
            <a:xfrm>
              <a:off x="4202113" y="3795694"/>
              <a:ext cx="120650" cy="20796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7" name="Line 13"/>
            <p:cNvSpPr>
              <a:spLocks noChangeShapeType="1"/>
            </p:cNvSpPr>
            <p:nvPr/>
          </p:nvSpPr>
          <p:spPr bwMode="auto">
            <a:xfrm>
              <a:off x="3171825" y="2967019"/>
              <a:ext cx="84296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38" name="Line 14"/>
            <p:cNvSpPr>
              <a:spLocks noChangeShapeType="1"/>
            </p:cNvSpPr>
            <p:nvPr/>
          </p:nvSpPr>
          <p:spPr bwMode="auto">
            <a:xfrm>
              <a:off x="4240213" y="2379644"/>
              <a:ext cx="0" cy="48736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39" name="Line 15"/>
            <p:cNvSpPr>
              <a:spLocks noChangeShapeType="1"/>
            </p:cNvSpPr>
            <p:nvPr/>
          </p:nvSpPr>
          <p:spPr bwMode="auto">
            <a:xfrm flipH="1">
              <a:off x="4403725" y="2967019"/>
              <a:ext cx="85248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40" name="Line 16"/>
            <p:cNvSpPr>
              <a:spLocks noChangeShapeType="1"/>
            </p:cNvSpPr>
            <p:nvPr/>
          </p:nvSpPr>
          <p:spPr bwMode="auto">
            <a:xfrm flipV="1">
              <a:off x="4240213" y="3087669"/>
              <a:ext cx="11112" cy="6873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41" name="Text Box 17"/>
            <p:cNvSpPr txBox="1">
              <a:spLocks noChangeArrowheads="1"/>
            </p:cNvSpPr>
            <p:nvPr/>
          </p:nvSpPr>
          <p:spPr bwMode="auto">
            <a:xfrm>
              <a:off x="2989978" y="3244127"/>
              <a:ext cx="1112279" cy="7078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dirty="0">
                  <a:latin typeface="+mn-lt"/>
                </a:rPr>
                <a:t>Ethernet</a:t>
              </a:r>
              <a:br>
                <a:rPr lang="en-US" dirty="0">
                  <a:latin typeface="+mn-lt"/>
                </a:rPr>
              </a:br>
              <a:r>
                <a:rPr lang="en-US" dirty="0">
                  <a:latin typeface="+mn-lt"/>
                </a:rPr>
                <a:t>switch</a:t>
              </a:r>
            </a:p>
          </p:txBody>
        </p:sp>
        <p:sp>
          <p:nvSpPr>
            <p:cNvPr id="42" name="Line 18"/>
            <p:cNvSpPr>
              <a:spLocks noChangeShapeType="1"/>
            </p:cNvSpPr>
            <p:nvPr/>
          </p:nvSpPr>
          <p:spPr bwMode="auto">
            <a:xfrm flipV="1">
              <a:off x="3625850" y="3111482"/>
              <a:ext cx="355600" cy="23177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43" name="Text Box 19"/>
            <p:cNvSpPr txBox="1">
              <a:spLocks noChangeArrowheads="1"/>
            </p:cNvSpPr>
            <p:nvPr/>
          </p:nvSpPr>
          <p:spPr bwMode="auto">
            <a:xfrm>
              <a:off x="2584319" y="2290244"/>
              <a:ext cx="36830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>
                  <a:latin typeface="Helvetica" charset="0"/>
                </a:rPr>
                <a:t>A</a:t>
              </a:r>
            </a:p>
          </p:txBody>
        </p:sp>
        <p:sp>
          <p:nvSpPr>
            <p:cNvPr id="44" name="Text Box 20"/>
            <p:cNvSpPr txBox="1">
              <a:spLocks noChangeArrowheads="1"/>
            </p:cNvSpPr>
            <p:nvPr/>
          </p:nvSpPr>
          <p:spPr bwMode="auto">
            <a:xfrm>
              <a:off x="4075610" y="1240544"/>
              <a:ext cx="36830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>
                  <a:latin typeface="Helvetica" charset="0"/>
                </a:rPr>
                <a:t>B</a:t>
              </a:r>
            </a:p>
          </p:txBody>
        </p:sp>
        <p:sp>
          <p:nvSpPr>
            <p:cNvPr id="45" name="Text Box 21"/>
            <p:cNvSpPr txBox="1">
              <a:spLocks noChangeArrowheads="1"/>
            </p:cNvSpPr>
            <p:nvPr/>
          </p:nvSpPr>
          <p:spPr bwMode="auto">
            <a:xfrm>
              <a:off x="5470299" y="2289153"/>
              <a:ext cx="36830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>
                  <a:latin typeface="Helvetica" charset="0"/>
                </a:rPr>
                <a:t>C</a:t>
              </a:r>
            </a:p>
          </p:txBody>
        </p:sp>
        <p:sp>
          <p:nvSpPr>
            <p:cNvPr id="46" name="Text Box 22"/>
            <p:cNvSpPr txBox="1">
              <a:spLocks noChangeArrowheads="1"/>
            </p:cNvSpPr>
            <p:nvPr/>
          </p:nvSpPr>
          <p:spPr bwMode="auto">
            <a:xfrm>
              <a:off x="4532313" y="3936982"/>
              <a:ext cx="36830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>
                  <a:latin typeface="Helvetica" charset="0"/>
                </a:rPr>
                <a:t>D</a:t>
              </a:r>
            </a:p>
          </p:txBody>
        </p:sp>
        <p:pic>
          <p:nvPicPr>
            <p:cNvPr id="47" name="Picture 46"/>
            <p:cNvPicPr>
              <a:picLocks noChangeAspect="1"/>
            </p:cNvPicPr>
            <p:nvPr/>
          </p:nvPicPr>
          <p:blipFill>
            <a:blip r:embed="rId6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4006237" y="2745465"/>
              <a:ext cx="459679" cy="459679"/>
            </a:xfrm>
            <a:prstGeom prst="rect">
              <a:avLst/>
            </a:prstGeom>
          </p:spPr>
        </p:pic>
      </p:grp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6FED86-94EF-254D-90EE-B810FE8299EE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32220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1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evolution of Ethernet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Changed almost everything except the frame format</a:t>
            </a:r>
          </a:p>
          <a:p>
            <a:pPr lvl="1"/>
            <a:r>
              <a:rPr lang="en-US" dirty="0"/>
              <a:t>From the shared media coax cables to dedicated links</a:t>
            </a:r>
          </a:p>
          <a:p>
            <a:pPr lvl="1"/>
            <a:r>
              <a:rPr lang="en-US" dirty="0"/>
              <a:t>From 3 Mbit/s to </a:t>
            </a:r>
            <a:r>
              <a:rPr lang="en-US" dirty="0">
                <a:solidFill>
                  <a:srgbClr val="0000FF"/>
                </a:solidFill>
              </a:rPr>
              <a:t>800 Gbit/s</a:t>
            </a:r>
          </a:p>
          <a:p>
            <a:pPr lvl="1"/>
            <a:r>
              <a:rPr lang="en-US" dirty="0"/>
              <a:t>From electrical signaling to optical</a:t>
            </a:r>
          </a:p>
          <a:p>
            <a:r>
              <a:rPr lang="en-US" dirty="0">
                <a:solidFill>
                  <a:srgbClr val="0000FF"/>
                </a:solidFill>
              </a:rPr>
              <a:t>Lesson</a:t>
            </a:r>
            <a:r>
              <a:rPr lang="en-US" dirty="0"/>
              <a:t>: the right interface can accommodate many changes </a:t>
            </a:r>
          </a:p>
          <a:p>
            <a:pPr lvl="1"/>
            <a:r>
              <a:rPr lang="en-US" dirty="0"/>
              <a:t>Evolve the implementation while maintaining the</a:t>
            </a:r>
            <a:br>
              <a:rPr lang="en-US" dirty="0"/>
            </a:br>
            <a:r>
              <a:rPr lang="en-US" dirty="0"/>
              <a:t> interface (backward compatibility)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0EC31-23D6-1D42-99D7-2B6C49252CC9}" type="slidenum">
              <a:rPr lang="en-US" smtClean="0"/>
              <a:pPr/>
              <a:t>27</a:t>
            </a:fld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1335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Frames and framing </a:t>
            </a:r>
          </a:p>
          <a:p>
            <a:r>
              <a:rPr lang="en-US" dirty="0"/>
              <a:t>Addressing</a:t>
            </a:r>
          </a:p>
          <a:p>
            <a:r>
              <a:rPr lang="en-US" dirty="0"/>
              <a:t>Routing </a:t>
            </a:r>
          </a:p>
          <a:p>
            <a:r>
              <a:rPr lang="en-US" dirty="0"/>
              <a:t>Forwarding </a:t>
            </a:r>
          </a:p>
          <a:p>
            <a:r>
              <a:rPr lang="en-US" dirty="0"/>
              <a:t>Discovery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697246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7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Ethernet “Frames”</a:t>
            </a:r>
            <a:endParaRPr lang="en-US" dirty="0"/>
          </a:p>
        </p:txBody>
      </p:sp>
      <p:sp>
        <p:nvSpPr>
          <p:cNvPr id="180736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Encapsulates IP datagram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rgbClr val="0000FF"/>
                </a:solidFill>
              </a:rPr>
              <a:t>Preamble</a:t>
            </a:r>
            <a:r>
              <a:rPr lang="en-US" dirty="0"/>
              <a:t>: 7 bytes for clock synchronization and 1 byte to indicate start of frame </a:t>
            </a:r>
          </a:p>
          <a:p>
            <a:r>
              <a:rPr lang="en-US" dirty="0">
                <a:solidFill>
                  <a:srgbClr val="0000FF"/>
                </a:solidFill>
              </a:rPr>
              <a:t>Addresses</a:t>
            </a:r>
            <a:r>
              <a:rPr lang="en-US" dirty="0"/>
              <a:t>: 6 bytes each</a:t>
            </a:r>
          </a:p>
          <a:p>
            <a:r>
              <a:rPr lang="en-US" dirty="0" err="1">
                <a:solidFill>
                  <a:srgbClr val="0000FF"/>
                </a:solidFill>
              </a:rPr>
              <a:t>EtherType</a:t>
            </a:r>
            <a:r>
              <a:rPr lang="en-US" dirty="0"/>
              <a:t>: 2 bytes, protocol (e.g., IP), length, ..</a:t>
            </a:r>
          </a:p>
          <a:p>
            <a:r>
              <a:rPr lang="en-US" dirty="0">
                <a:solidFill>
                  <a:srgbClr val="0000FF"/>
                </a:solidFill>
              </a:rPr>
              <a:t>Data payload</a:t>
            </a:r>
            <a:r>
              <a:rPr lang="en-US" dirty="0"/>
              <a:t>: max 1500 bytes, min 46 bytes</a:t>
            </a:r>
          </a:p>
          <a:p>
            <a:r>
              <a:rPr lang="en-US" dirty="0">
                <a:solidFill>
                  <a:srgbClr val="0000FF"/>
                </a:solidFill>
              </a:rPr>
              <a:t>CRC</a:t>
            </a:r>
            <a:r>
              <a:rPr lang="en-US" dirty="0"/>
              <a:t>: 4 bytes for error detection</a:t>
            </a:r>
          </a:p>
          <a:p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4284830" y="2894951"/>
            <a:ext cx="122442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0" dirty="0" err="1">
                <a:ea typeface="Arial" charset="0"/>
                <a:cs typeface="Arial" charset="0"/>
              </a:rPr>
              <a:t>EtherType</a:t>
            </a:r>
            <a:endParaRPr lang="en-US" b="0" dirty="0">
              <a:ea typeface="Arial" charset="0"/>
              <a:cs typeface="Arial" charset="0"/>
            </a:endParaRPr>
          </a:p>
        </p:txBody>
      </p:sp>
      <p:grpSp>
        <p:nvGrpSpPr>
          <p:cNvPr id="4" name="Group 3"/>
          <p:cNvGrpSpPr/>
          <p:nvPr/>
        </p:nvGrpSpPr>
        <p:grpSpPr>
          <a:xfrm>
            <a:off x="1103489" y="2304355"/>
            <a:ext cx="6734225" cy="579810"/>
            <a:chOff x="1100667" y="1311822"/>
            <a:chExt cx="5729111" cy="579810"/>
          </a:xfrm>
        </p:grpSpPr>
        <p:sp>
          <p:nvSpPr>
            <p:cNvPr id="3" name="Rectangle 2"/>
            <p:cNvSpPr/>
            <p:nvPr/>
          </p:nvSpPr>
          <p:spPr>
            <a:xfrm>
              <a:off x="1100667" y="1311822"/>
              <a:ext cx="1368777" cy="579438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0" dirty="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rPr>
                <a:t>Preamble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2469444" y="1311822"/>
              <a:ext cx="889000" cy="579438"/>
            </a:xfrm>
            <a:prstGeom prst="rect">
              <a:avLst/>
            </a:prstGeom>
            <a:solidFill>
              <a:srgbClr val="D3A600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700" b="0" dirty="0">
                  <a:solidFill>
                    <a:srgbClr val="000000"/>
                  </a:solidFill>
                  <a:latin typeface="Arial" charset="0"/>
                  <a:ea typeface="Arial" charset="0"/>
                  <a:cs typeface="Arial" charset="0"/>
                </a:rPr>
                <a:t>Dst</a:t>
              </a:r>
              <a:br>
                <a:rPr lang="en-US" sz="1700" b="0" dirty="0">
                  <a:solidFill>
                    <a:srgbClr val="000000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lang="en-US" sz="1700" b="0" dirty="0">
                  <a:solidFill>
                    <a:srgbClr val="000000"/>
                  </a:solidFill>
                  <a:latin typeface="Arial" charset="0"/>
                  <a:ea typeface="Arial" charset="0"/>
                  <a:cs typeface="Arial" charset="0"/>
                </a:rPr>
                <a:t>Address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3358444" y="1311822"/>
              <a:ext cx="889000" cy="579438"/>
            </a:xfrm>
            <a:prstGeom prst="rect">
              <a:avLst/>
            </a:prstGeom>
            <a:solidFill>
              <a:srgbClr val="D3A600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700" b="0" dirty="0">
                  <a:solidFill>
                    <a:srgbClr val="000000"/>
                  </a:solidFill>
                  <a:latin typeface="Arial" charset="0"/>
                  <a:ea typeface="Arial" charset="0"/>
                  <a:cs typeface="Arial" charset="0"/>
                </a:rPr>
                <a:t>Source</a:t>
              </a:r>
              <a:br>
                <a:rPr lang="en-US" sz="1700" b="0" dirty="0">
                  <a:solidFill>
                    <a:srgbClr val="000000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lang="en-US" sz="1700" b="0" dirty="0">
                  <a:solidFill>
                    <a:srgbClr val="000000"/>
                  </a:solidFill>
                  <a:latin typeface="Arial" charset="0"/>
                  <a:ea typeface="Arial" charset="0"/>
                  <a:cs typeface="Arial" charset="0"/>
                </a:rPr>
                <a:t>Address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233333" y="1311822"/>
              <a:ext cx="351586" cy="579438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583287" y="1311822"/>
              <a:ext cx="1557474" cy="579438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0" dirty="0">
                  <a:solidFill>
                    <a:srgbClr val="000000"/>
                  </a:solidFill>
                  <a:latin typeface="Arial" charset="0"/>
                  <a:ea typeface="Arial" charset="0"/>
                  <a:cs typeface="Arial" charset="0"/>
                </a:rPr>
                <a:t>Data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138331" y="1312194"/>
              <a:ext cx="691447" cy="579438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0" dirty="0">
                  <a:solidFill>
                    <a:srgbClr val="000000"/>
                  </a:solidFill>
                  <a:latin typeface="Arial" charset="0"/>
                  <a:ea typeface="Arial" charset="0"/>
                  <a:cs typeface="Arial" charset="0"/>
                </a:rPr>
                <a:t>CRC</a:t>
              </a:r>
            </a:p>
          </p:txBody>
        </p:sp>
      </p:grpSp>
      <p:sp>
        <p:nvSpPr>
          <p:cNvPr id="16" name="Date Placeholder 1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631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73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73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73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736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736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Framing frames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Physical layer puts bits on a link</a:t>
            </a:r>
          </a:p>
          <a:p>
            <a:r>
              <a:rPr lang="en-US" dirty="0"/>
              <a:t>But, two hosts connected on the same physical medium need to be able to exchange frames</a:t>
            </a:r>
          </a:p>
          <a:p>
            <a:pPr lvl="1"/>
            <a:r>
              <a:rPr lang="en-US" dirty="0"/>
              <a:t>Service provided by the link layer</a:t>
            </a:r>
          </a:p>
          <a:p>
            <a:pPr lvl="1"/>
            <a:r>
              <a:rPr lang="en-US" dirty="0"/>
              <a:t>Implemented by the network adaptor</a:t>
            </a:r>
          </a:p>
          <a:p>
            <a:r>
              <a:rPr lang="en-US" dirty="0">
                <a:solidFill>
                  <a:srgbClr val="0000FF"/>
                </a:solidFill>
              </a:rPr>
              <a:t>Framing problem</a:t>
            </a:r>
            <a:r>
              <a:rPr lang="en-US" dirty="0"/>
              <a:t>: how does the link layer determine where each frame begins and ends? 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7626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approach: Count bytes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Sender includes number of bytes in header</a:t>
            </a:r>
          </a:p>
          <a:p>
            <a:endParaRPr lang="en-US" dirty="0"/>
          </a:p>
          <a:p>
            <a:endParaRPr lang="en-US" dirty="0"/>
          </a:p>
          <a:p>
            <a:pPr lvl="1"/>
            <a:r>
              <a:rPr lang="en-US" dirty="0"/>
              <a:t>Receiver extracts this number of bytes of body</a:t>
            </a:r>
          </a:p>
          <a:p>
            <a:r>
              <a:rPr lang="en-US" dirty="0">
                <a:solidFill>
                  <a:srgbClr val="0000FF"/>
                </a:solidFill>
              </a:rPr>
              <a:t>What if the Count field is corrupted?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L2 will frame the wrong bytes </a:t>
            </a:r>
            <a:r>
              <a:rPr lang="en-US" dirty="0">
                <a:sym typeface="Wingdings"/>
              </a:rPr>
              <a:t> </a:t>
            </a:r>
            <a:r>
              <a:rPr lang="en-US" dirty="0"/>
              <a:t>a framing error</a:t>
            </a:r>
          </a:p>
          <a:p>
            <a:pPr lvl="1"/>
            <a:r>
              <a:rPr lang="en-US" dirty="0"/>
              <a:t>CRC tells you to discard this frame, but what about the next one?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1182017" y="2318771"/>
            <a:ext cx="6779967" cy="763616"/>
            <a:chOff x="1178378" y="2221468"/>
            <a:chExt cx="6779967" cy="763616"/>
          </a:xfrm>
        </p:grpSpPr>
        <p:sp>
          <p:nvSpPr>
            <p:cNvPr id="23" name="Rectangle 7"/>
            <p:cNvSpPr>
              <a:spLocks noChangeArrowheads="1"/>
            </p:cNvSpPr>
            <p:nvPr/>
          </p:nvSpPr>
          <p:spPr bwMode="auto">
            <a:xfrm>
              <a:off x="1178378" y="2221468"/>
              <a:ext cx="698500" cy="355407"/>
            </a:xfrm>
            <a:prstGeom prst="rect">
              <a:avLst/>
            </a:prstGeom>
            <a:solidFill>
              <a:srgbClr val="FFCC00"/>
            </a:solidFill>
            <a:ln w="38100">
              <a:solidFill>
                <a:srgbClr val="FFCC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b="0" dirty="0">
                  <a:ea typeface="Arial" charset="0"/>
                  <a:cs typeface="Arial" charset="0"/>
                </a:rPr>
                <a:t>53</a:t>
              </a:r>
            </a:p>
          </p:txBody>
        </p:sp>
        <p:sp>
          <p:nvSpPr>
            <p:cNvPr id="25" name="Rectangle 9"/>
            <p:cNvSpPr>
              <a:spLocks noChangeArrowheads="1"/>
            </p:cNvSpPr>
            <p:nvPr/>
          </p:nvSpPr>
          <p:spPr bwMode="auto">
            <a:xfrm>
              <a:off x="1876878" y="2221468"/>
              <a:ext cx="1913229" cy="355407"/>
            </a:xfrm>
            <a:prstGeom prst="rect">
              <a:avLst/>
            </a:prstGeom>
            <a:solidFill>
              <a:srgbClr val="99CCFF"/>
            </a:solidFill>
            <a:ln w="38100">
              <a:solidFill>
                <a:srgbClr val="99CCFF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b="0" dirty="0">
                  <a:ea typeface="Arial" charset="0"/>
                  <a:cs typeface="Arial" charset="0"/>
                </a:rPr>
                <a:t>Body</a:t>
              </a:r>
            </a:p>
          </p:txBody>
        </p:sp>
        <p:sp>
          <p:nvSpPr>
            <p:cNvPr id="27" name="Rectangle 7"/>
            <p:cNvSpPr>
              <a:spLocks noChangeArrowheads="1"/>
            </p:cNvSpPr>
            <p:nvPr/>
          </p:nvSpPr>
          <p:spPr bwMode="auto">
            <a:xfrm>
              <a:off x="3790107" y="2221468"/>
              <a:ext cx="698500" cy="355407"/>
            </a:xfrm>
            <a:prstGeom prst="rect">
              <a:avLst/>
            </a:prstGeom>
            <a:solidFill>
              <a:srgbClr val="FFCC00"/>
            </a:solidFill>
            <a:ln w="38100">
              <a:solidFill>
                <a:srgbClr val="FFCC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b="0" dirty="0">
                  <a:ea typeface="Arial" charset="0"/>
                  <a:cs typeface="Arial" charset="0"/>
                </a:rPr>
                <a:t>80</a:t>
              </a:r>
            </a:p>
          </p:txBody>
        </p:sp>
        <p:sp>
          <p:nvSpPr>
            <p:cNvPr id="28" name="Rectangle 9"/>
            <p:cNvSpPr>
              <a:spLocks noChangeArrowheads="1"/>
            </p:cNvSpPr>
            <p:nvPr/>
          </p:nvSpPr>
          <p:spPr bwMode="auto">
            <a:xfrm>
              <a:off x="4488607" y="2221468"/>
              <a:ext cx="3469738" cy="355407"/>
            </a:xfrm>
            <a:prstGeom prst="rect">
              <a:avLst/>
            </a:prstGeom>
            <a:solidFill>
              <a:srgbClr val="99CCFF"/>
            </a:solidFill>
            <a:ln w="38100">
              <a:solidFill>
                <a:srgbClr val="99CCFF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b="0" dirty="0">
                  <a:ea typeface="Arial" charset="0"/>
                  <a:cs typeface="Arial" charset="0"/>
                </a:rPr>
                <a:t>Body</a:t>
              </a:r>
            </a:p>
          </p:txBody>
        </p:sp>
        <p:sp>
          <p:nvSpPr>
            <p:cNvPr id="29" name="Left Brace 28"/>
            <p:cNvSpPr/>
            <p:nvPr/>
          </p:nvSpPr>
          <p:spPr>
            <a:xfrm rot="16200000">
              <a:off x="2745416" y="1708337"/>
              <a:ext cx="135332" cy="1872407"/>
            </a:xfrm>
            <a:prstGeom prst="leftBrace">
              <a:avLst>
                <a:gd name="adj1" fmla="val 34259"/>
                <a:gd name="adj2" fmla="val 50000"/>
              </a:avLst>
            </a:prstGeom>
            <a:ln w="2857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b="0"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2053953" y="2645613"/>
              <a:ext cx="164660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0" dirty="0">
                  <a:ea typeface="Arial" charset="0"/>
                  <a:cs typeface="Arial" charset="0"/>
                </a:rPr>
                <a:t>53 bytes of data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5378999" y="2646530"/>
              <a:ext cx="164660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0" dirty="0">
                  <a:ea typeface="Arial" charset="0"/>
                  <a:cs typeface="Arial" charset="0"/>
                </a:rPr>
                <a:t>80 bytes of data</a:t>
              </a:r>
            </a:p>
          </p:txBody>
        </p:sp>
        <p:sp>
          <p:nvSpPr>
            <p:cNvPr id="32" name="Left Brace 31"/>
            <p:cNvSpPr/>
            <p:nvPr/>
          </p:nvSpPr>
          <p:spPr>
            <a:xfrm rot="16200000">
              <a:off x="6155810" y="926740"/>
              <a:ext cx="135332" cy="3469737"/>
            </a:xfrm>
            <a:prstGeom prst="leftBrace">
              <a:avLst>
                <a:gd name="adj1" fmla="val 34259"/>
                <a:gd name="adj2" fmla="val 50000"/>
              </a:avLst>
            </a:prstGeom>
            <a:ln w="2857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b="0">
                <a:latin typeface="Arial" charset="0"/>
                <a:ea typeface="Arial" charset="0"/>
                <a:cs typeface="Arial" charset="0"/>
              </a:endParaRP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779623" y="4067017"/>
            <a:ext cx="7584754" cy="1264746"/>
            <a:chOff x="1178376" y="4841625"/>
            <a:chExt cx="7584754" cy="1264746"/>
          </a:xfrm>
        </p:grpSpPr>
        <p:sp>
          <p:nvSpPr>
            <p:cNvPr id="35" name="Rectangle 7"/>
            <p:cNvSpPr>
              <a:spLocks noChangeArrowheads="1"/>
            </p:cNvSpPr>
            <p:nvPr/>
          </p:nvSpPr>
          <p:spPr bwMode="auto">
            <a:xfrm>
              <a:off x="1178376" y="5343672"/>
              <a:ext cx="698500" cy="355407"/>
            </a:xfrm>
            <a:prstGeom prst="rect">
              <a:avLst/>
            </a:prstGeom>
            <a:solidFill>
              <a:srgbClr val="FFCC00"/>
            </a:solidFill>
            <a:ln w="38100">
              <a:solidFill>
                <a:srgbClr val="FFCC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b="0" dirty="0"/>
                <a:t>61</a:t>
              </a:r>
            </a:p>
          </p:txBody>
        </p:sp>
        <p:sp>
          <p:nvSpPr>
            <p:cNvPr id="36" name="Rectangle 9"/>
            <p:cNvSpPr>
              <a:spLocks noChangeArrowheads="1"/>
            </p:cNvSpPr>
            <p:nvPr/>
          </p:nvSpPr>
          <p:spPr bwMode="auto">
            <a:xfrm>
              <a:off x="1876876" y="5343672"/>
              <a:ext cx="1913229" cy="355407"/>
            </a:xfrm>
            <a:prstGeom prst="rect">
              <a:avLst/>
            </a:prstGeom>
            <a:solidFill>
              <a:srgbClr val="99CCFF"/>
            </a:solidFill>
            <a:ln w="38100">
              <a:solidFill>
                <a:srgbClr val="99CCFF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b="0" dirty="0"/>
                <a:t>Body</a:t>
              </a:r>
            </a:p>
          </p:txBody>
        </p:sp>
        <p:sp>
          <p:nvSpPr>
            <p:cNvPr id="37" name="Rectangle 7"/>
            <p:cNvSpPr>
              <a:spLocks noChangeArrowheads="1"/>
            </p:cNvSpPr>
            <p:nvPr/>
          </p:nvSpPr>
          <p:spPr bwMode="auto">
            <a:xfrm>
              <a:off x="3790105" y="5343672"/>
              <a:ext cx="698500" cy="355407"/>
            </a:xfrm>
            <a:prstGeom prst="rect">
              <a:avLst/>
            </a:prstGeom>
            <a:solidFill>
              <a:srgbClr val="FFCC00"/>
            </a:solidFill>
            <a:ln w="38100">
              <a:solidFill>
                <a:srgbClr val="FFCC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b="0" dirty="0"/>
                <a:t>80</a:t>
              </a:r>
            </a:p>
          </p:txBody>
        </p:sp>
        <p:sp>
          <p:nvSpPr>
            <p:cNvPr id="38" name="Rectangle 9"/>
            <p:cNvSpPr>
              <a:spLocks noChangeArrowheads="1"/>
            </p:cNvSpPr>
            <p:nvPr/>
          </p:nvSpPr>
          <p:spPr bwMode="auto">
            <a:xfrm>
              <a:off x="4488605" y="5343672"/>
              <a:ext cx="3469740" cy="355407"/>
            </a:xfrm>
            <a:prstGeom prst="rect">
              <a:avLst/>
            </a:prstGeom>
            <a:solidFill>
              <a:srgbClr val="99CCFF"/>
            </a:solidFill>
            <a:ln w="38100">
              <a:solidFill>
                <a:srgbClr val="99CCFF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b="0" dirty="0"/>
                <a:t>Body</a:t>
              </a:r>
            </a:p>
          </p:txBody>
        </p:sp>
        <p:sp>
          <p:nvSpPr>
            <p:cNvPr id="39" name="Left Brace 38"/>
            <p:cNvSpPr/>
            <p:nvPr/>
          </p:nvSpPr>
          <p:spPr>
            <a:xfrm rot="16200000">
              <a:off x="3284129" y="4291827"/>
              <a:ext cx="135332" cy="2949835"/>
            </a:xfrm>
            <a:prstGeom prst="leftBrace">
              <a:avLst>
                <a:gd name="adj1" fmla="val 34259"/>
                <a:gd name="adj2" fmla="val 50000"/>
              </a:avLst>
            </a:prstGeom>
            <a:ln w="2857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b="0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2053951" y="5767817"/>
              <a:ext cx="285366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0" dirty="0"/>
                <a:t>61 bytes of data </a:t>
              </a:r>
              <a:r>
                <a:rPr lang="en-US" b="0" dirty="0">
                  <a:solidFill>
                    <a:srgbClr val="FF0000"/>
                  </a:solidFill>
                </a:rPr>
                <a:t>misdelivered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5795651" y="5767817"/>
              <a:ext cx="296747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0" dirty="0"/>
                <a:t>??? bytes of data </a:t>
              </a:r>
              <a:r>
                <a:rPr lang="en-US" b="0" dirty="0">
                  <a:solidFill>
                    <a:srgbClr val="FF0000"/>
                  </a:solidFill>
                </a:rPr>
                <a:t>misdelivered</a:t>
              </a:r>
            </a:p>
          </p:txBody>
        </p:sp>
        <p:sp>
          <p:nvSpPr>
            <p:cNvPr id="42" name="Left Brace 41"/>
            <p:cNvSpPr/>
            <p:nvPr/>
          </p:nvSpPr>
          <p:spPr>
            <a:xfrm rot="16200000">
              <a:off x="6691102" y="4568240"/>
              <a:ext cx="135332" cy="2399154"/>
            </a:xfrm>
            <a:prstGeom prst="leftBrace">
              <a:avLst>
                <a:gd name="adj1" fmla="val 34259"/>
                <a:gd name="adj2" fmla="val 50000"/>
              </a:avLst>
            </a:prstGeom>
            <a:ln w="2857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b="0"/>
            </a:p>
          </p:txBody>
        </p:sp>
        <p:sp>
          <p:nvSpPr>
            <p:cNvPr id="43" name="Multiply 42"/>
            <p:cNvSpPr/>
            <p:nvPr/>
          </p:nvSpPr>
          <p:spPr>
            <a:xfrm>
              <a:off x="1521470" y="5165969"/>
              <a:ext cx="355406" cy="355406"/>
            </a:xfrm>
            <a:prstGeom prst="mathMultiply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2400" b="0" dirty="0"/>
            </a:p>
          </p:txBody>
        </p:sp>
        <p:sp>
          <p:nvSpPr>
            <p:cNvPr id="44" name="Rectangle 7"/>
            <p:cNvSpPr>
              <a:spLocks noChangeArrowheads="1"/>
            </p:cNvSpPr>
            <p:nvPr/>
          </p:nvSpPr>
          <p:spPr bwMode="auto">
            <a:xfrm>
              <a:off x="4860691" y="5343671"/>
              <a:ext cx="698500" cy="355407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38100">
              <a:solidFill>
                <a:schemeClr val="accent2">
                  <a:lumMod val="60000"/>
                  <a:lumOff val="40000"/>
                </a:schemeClr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b="0" dirty="0"/>
                <a:t>???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6151315" y="4841625"/>
              <a:ext cx="17572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0" dirty="0"/>
                <a:t>Bogus count field</a:t>
              </a:r>
            </a:p>
          </p:txBody>
        </p:sp>
        <p:cxnSp>
          <p:nvCxnSpPr>
            <p:cNvPr id="48" name="Straight Arrow Connector 47"/>
            <p:cNvCxnSpPr>
              <a:stCxn id="46" idx="1"/>
              <a:endCxn id="44" idx="0"/>
            </p:cNvCxnSpPr>
            <p:nvPr/>
          </p:nvCxnSpPr>
          <p:spPr>
            <a:xfrm flipH="1">
              <a:off x="5209941" y="5010902"/>
              <a:ext cx="941374" cy="332769"/>
            </a:xfrm>
            <a:prstGeom prst="straightConnector1">
              <a:avLst/>
            </a:prstGeom>
            <a:ln w="2857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31</a:t>
            </a:fld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0990A8-3FC4-2845-B742-9B549C92DD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3641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Desynchronization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Once framing on a link is desynchronized, it can stay that way</a:t>
            </a:r>
          </a:p>
          <a:p>
            <a:r>
              <a:rPr lang="en-US" dirty="0"/>
              <a:t>Need a method to </a:t>
            </a:r>
            <a:r>
              <a:rPr lang="en-US" dirty="0">
                <a:solidFill>
                  <a:srgbClr val="0000FF"/>
                </a:solidFill>
              </a:rPr>
              <a:t>resynchronize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6945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Framing with sentinel bits</a:t>
            </a:r>
            <a:endParaRPr lang="en-US" dirty="0"/>
          </a:p>
        </p:txBody>
      </p:sp>
      <p:sp>
        <p:nvSpPr>
          <p:cNvPr id="94515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Delineate frame with special “sentinel” bit pattern</a:t>
            </a:r>
          </a:p>
          <a:p>
            <a:pPr lvl="1"/>
            <a:r>
              <a:rPr lang="en-US" dirty="0"/>
              <a:t>e.g., 01111110 </a:t>
            </a:r>
            <a:r>
              <a:rPr lang="en-US" dirty="0">
                <a:sym typeface="Symbol" charset="0"/>
              </a:rPr>
              <a:t> start, </a:t>
            </a:r>
            <a:r>
              <a:rPr lang="en-US" dirty="0"/>
              <a:t>01111111 </a:t>
            </a:r>
            <a:r>
              <a:rPr lang="en-US" dirty="0">
                <a:sym typeface="Symbol" charset="0"/>
              </a:rPr>
              <a:t> end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rgbClr val="0000FF"/>
                </a:solidFill>
              </a:rPr>
              <a:t>What if sentinel occurs within frame?</a:t>
            </a:r>
          </a:p>
          <a:p>
            <a:r>
              <a:rPr lang="en-US" dirty="0"/>
              <a:t>Solution: </a:t>
            </a:r>
            <a:r>
              <a:rPr lang="en-US" dirty="0">
                <a:solidFill>
                  <a:srgbClr val="0000FF"/>
                </a:solidFill>
              </a:rPr>
              <a:t>bit stuffing</a:t>
            </a:r>
          </a:p>
          <a:p>
            <a:pPr lvl="1"/>
            <a:r>
              <a:rPr lang="en-US" dirty="0"/>
              <a:t>Sender always inserts a 0 after five 1s in the frame contents</a:t>
            </a:r>
          </a:p>
          <a:p>
            <a:pPr lvl="1"/>
            <a:r>
              <a:rPr lang="en-US" dirty="0"/>
              <a:t>Receiver always removes a 0 appearing after five 1s</a:t>
            </a:r>
          </a:p>
        </p:txBody>
      </p:sp>
      <p:grpSp>
        <p:nvGrpSpPr>
          <p:cNvPr id="37893" name="Group 4"/>
          <p:cNvGrpSpPr>
            <a:grpSpLocks/>
          </p:cNvGrpSpPr>
          <p:nvPr/>
        </p:nvGrpSpPr>
        <p:grpSpPr bwMode="auto">
          <a:xfrm>
            <a:off x="1422402" y="3176954"/>
            <a:ext cx="6259513" cy="500063"/>
            <a:chOff x="969" y="2184"/>
            <a:chExt cx="3943" cy="315"/>
          </a:xfrm>
        </p:grpSpPr>
        <p:sp>
          <p:nvSpPr>
            <p:cNvPr id="37894" name="Rectangle 5"/>
            <p:cNvSpPr>
              <a:spLocks noChangeArrowheads="1"/>
            </p:cNvSpPr>
            <p:nvPr/>
          </p:nvSpPr>
          <p:spPr bwMode="auto">
            <a:xfrm>
              <a:off x="969" y="2184"/>
              <a:ext cx="919" cy="315"/>
            </a:xfrm>
            <a:prstGeom prst="rect">
              <a:avLst/>
            </a:prstGeom>
            <a:solidFill>
              <a:srgbClr val="FFCC00"/>
            </a:solidFill>
            <a:ln w="38100">
              <a:solidFill>
                <a:srgbClr val="FFCC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b="0">
                <a:ea typeface="Arial" charset="0"/>
                <a:cs typeface="Arial" charset="0"/>
              </a:endParaRPr>
            </a:p>
          </p:txBody>
        </p:sp>
        <p:sp>
          <p:nvSpPr>
            <p:cNvPr id="37895" name="Text Box 6"/>
            <p:cNvSpPr txBox="1">
              <a:spLocks noChangeArrowheads="1"/>
            </p:cNvSpPr>
            <p:nvPr/>
          </p:nvSpPr>
          <p:spPr bwMode="auto">
            <a:xfrm>
              <a:off x="1045" y="2208"/>
              <a:ext cx="771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b="0" dirty="0">
                  <a:latin typeface="Arial" charset="0"/>
                  <a:ea typeface="Arial" charset="0"/>
                </a:rPr>
                <a:t>01111110</a:t>
              </a:r>
            </a:p>
          </p:txBody>
        </p:sp>
        <p:sp>
          <p:nvSpPr>
            <p:cNvPr id="37896" name="Rectangle 7"/>
            <p:cNvSpPr>
              <a:spLocks noChangeArrowheads="1"/>
            </p:cNvSpPr>
            <p:nvPr/>
          </p:nvSpPr>
          <p:spPr bwMode="auto">
            <a:xfrm>
              <a:off x="1889" y="2184"/>
              <a:ext cx="2104" cy="315"/>
            </a:xfrm>
            <a:prstGeom prst="rect">
              <a:avLst/>
            </a:prstGeom>
            <a:solidFill>
              <a:srgbClr val="99CCFF"/>
            </a:solidFill>
            <a:ln w="38100">
              <a:solidFill>
                <a:srgbClr val="99CCFF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b="0">
                <a:ea typeface="Arial" charset="0"/>
                <a:cs typeface="Arial" charset="0"/>
              </a:endParaRPr>
            </a:p>
          </p:txBody>
        </p:sp>
        <p:sp>
          <p:nvSpPr>
            <p:cNvPr id="37897" name="Rectangle 8"/>
            <p:cNvSpPr>
              <a:spLocks noChangeArrowheads="1"/>
            </p:cNvSpPr>
            <p:nvPr/>
          </p:nvSpPr>
          <p:spPr bwMode="auto">
            <a:xfrm>
              <a:off x="3993" y="2184"/>
              <a:ext cx="919" cy="315"/>
            </a:xfrm>
            <a:prstGeom prst="rect">
              <a:avLst/>
            </a:prstGeom>
            <a:solidFill>
              <a:srgbClr val="FFCC00"/>
            </a:solidFill>
            <a:ln w="38100">
              <a:solidFill>
                <a:srgbClr val="FFCC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b="0">
                <a:ea typeface="Arial" charset="0"/>
                <a:cs typeface="Arial" charset="0"/>
              </a:endParaRPr>
            </a:p>
          </p:txBody>
        </p:sp>
        <p:sp>
          <p:nvSpPr>
            <p:cNvPr id="37898" name="Text Box 9"/>
            <p:cNvSpPr txBox="1">
              <a:spLocks noChangeArrowheads="1"/>
            </p:cNvSpPr>
            <p:nvPr/>
          </p:nvSpPr>
          <p:spPr bwMode="auto">
            <a:xfrm>
              <a:off x="4065" y="2208"/>
              <a:ext cx="782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b="0" dirty="0">
                  <a:latin typeface="Arial" charset="0"/>
                  <a:ea typeface="Arial" charset="0"/>
                </a:rPr>
                <a:t>01111111</a:t>
              </a:r>
            </a:p>
          </p:txBody>
        </p:sp>
        <p:sp>
          <p:nvSpPr>
            <p:cNvPr id="37899" name="Text Box 10"/>
            <p:cNvSpPr txBox="1">
              <a:spLocks noChangeArrowheads="1"/>
            </p:cNvSpPr>
            <p:nvPr/>
          </p:nvSpPr>
          <p:spPr bwMode="auto">
            <a:xfrm>
              <a:off x="2309" y="2208"/>
              <a:ext cx="1237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b="0" dirty="0">
                  <a:latin typeface="Arial" charset="0"/>
                  <a:ea typeface="Arial" charset="0"/>
                </a:rPr>
                <a:t>Frame contents</a:t>
              </a:r>
            </a:p>
          </p:txBody>
        </p:sp>
      </p:grp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942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51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51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51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515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When receiver sees five 1s…</a:t>
            </a:r>
            <a:endParaRPr lang="en-US" dirty="0"/>
          </a:p>
        </p:txBody>
      </p:sp>
      <p:sp>
        <p:nvSpPr>
          <p:cNvPr id="94515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r>
              <a:rPr lang="en-US" dirty="0"/>
              <a:t>If next bit 0, remove it; begin counting again</a:t>
            </a:r>
          </a:p>
          <a:p>
            <a:pPr lvl="1"/>
            <a:r>
              <a:rPr lang="en-US" dirty="0"/>
              <a:t>Because this must be a stuffed bit; we can’t be at beginning/end of frame (those had six or seven 1s)</a:t>
            </a:r>
          </a:p>
          <a:p>
            <a:r>
              <a:rPr lang="en-US" dirty="0"/>
              <a:t>If next bit 1 (i.e., we’ve seen six 1s) then:</a:t>
            </a:r>
          </a:p>
          <a:p>
            <a:pPr lvl="1"/>
            <a:r>
              <a:rPr lang="en-US" dirty="0"/>
              <a:t>If following bit is 0, this is start of frame</a:t>
            </a:r>
          </a:p>
          <a:p>
            <a:pPr lvl="2"/>
            <a:r>
              <a:rPr lang="en-US" dirty="0"/>
              <a:t>Because the receiver has seen 01111110</a:t>
            </a:r>
          </a:p>
          <a:p>
            <a:pPr lvl="1"/>
            <a:r>
              <a:rPr lang="en-US" dirty="0"/>
              <a:t>If following bit is 1, this is end of frame</a:t>
            </a:r>
          </a:p>
          <a:p>
            <a:pPr lvl="2"/>
            <a:r>
              <a:rPr lang="en-US" dirty="0"/>
              <a:t>Because the receiver has seen 01111111</a:t>
            </a:r>
          </a:p>
        </p:txBody>
      </p:sp>
      <p:grpSp>
        <p:nvGrpSpPr>
          <p:cNvPr id="39941" name="Group 4"/>
          <p:cNvGrpSpPr>
            <a:grpSpLocks/>
          </p:cNvGrpSpPr>
          <p:nvPr/>
        </p:nvGrpSpPr>
        <p:grpSpPr bwMode="auto">
          <a:xfrm>
            <a:off x="1442244" y="1920347"/>
            <a:ext cx="6259513" cy="500063"/>
            <a:chOff x="969" y="2184"/>
            <a:chExt cx="3943" cy="315"/>
          </a:xfrm>
        </p:grpSpPr>
        <p:sp>
          <p:nvSpPr>
            <p:cNvPr id="39942" name="Rectangle 5"/>
            <p:cNvSpPr>
              <a:spLocks noChangeArrowheads="1"/>
            </p:cNvSpPr>
            <p:nvPr/>
          </p:nvSpPr>
          <p:spPr bwMode="auto">
            <a:xfrm>
              <a:off x="969" y="2184"/>
              <a:ext cx="919" cy="315"/>
            </a:xfrm>
            <a:prstGeom prst="rect">
              <a:avLst/>
            </a:prstGeom>
            <a:solidFill>
              <a:srgbClr val="FFCC00"/>
            </a:solidFill>
            <a:ln w="38100">
              <a:solidFill>
                <a:srgbClr val="FFCC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b="0">
                <a:ea typeface="Arial" charset="0"/>
                <a:cs typeface="Arial" charset="0"/>
              </a:endParaRPr>
            </a:p>
          </p:txBody>
        </p:sp>
        <p:sp>
          <p:nvSpPr>
            <p:cNvPr id="39943" name="Text Box 6"/>
            <p:cNvSpPr txBox="1">
              <a:spLocks noChangeArrowheads="1"/>
            </p:cNvSpPr>
            <p:nvPr/>
          </p:nvSpPr>
          <p:spPr bwMode="auto">
            <a:xfrm>
              <a:off x="1045" y="2208"/>
              <a:ext cx="771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b="0" dirty="0">
                  <a:latin typeface="Arial" charset="0"/>
                  <a:ea typeface="Arial" charset="0"/>
                </a:rPr>
                <a:t>01111110</a:t>
              </a:r>
            </a:p>
          </p:txBody>
        </p:sp>
        <p:sp>
          <p:nvSpPr>
            <p:cNvPr id="39944" name="Rectangle 7"/>
            <p:cNvSpPr>
              <a:spLocks noChangeArrowheads="1"/>
            </p:cNvSpPr>
            <p:nvPr/>
          </p:nvSpPr>
          <p:spPr bwMode="auto">
            <a:xfrm>
              <a:off x="1889" y="2184"/>
              <a:ext cx="2104" cy="315"/>
            </a:xfrm>
            <a:prstGeom prst="rect">
              <a:avLst/>
            </a:prstGeom>
            <a:solidFill>
              <a:srgbClr val="99CCFF"/>
            </a:solidFill>
            <a:ln w="38100">
              <a:solidFill>
                <a:srgbClr val="99CCFF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b="0">
                <a:ea typeface="Arial" charset="0"/>
                <a:cs typeface="Arial" charset="0"/>
              </a:endParaRPr>
            </a:p>
          </p:txBody>
        </p:sp>
        <p:sp>
          <p:nvSpPr>
            <p:cNvPr id="39945" name="Rectangle 8"/>
            <p:cNvSpPr>
              <a:spLocks noChangeArrowheads="1"/>
            </p:cNvSpPr>
            <p:nvPr/>
          </p:nvSpPr>
          <p:spPr bwMode="auto">
            <a:xfrm>
              <a:off x="3993" y="2184"/>
              <a:ext cx="919" cy="315"/>
            </a:xfrm>
            <a:prstGeom prst="rect">
              <a:avLst/>
            </a:prstGeom>
            <a:solidFill>
              <a:srgbClr val="FFCC00"/>
            </a:solidFill>
            <a:ln w="38100">
              <a:solidFill>
                <a:srgbClr val="FFCC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b="0">
                <a:ea typeface="Arial" charset="0"/>
                <a:cs typeface="Arial" charset="0"/>
              </a:endParaRPr>
            </a:p>
          </p:txBody>
        </p:sp>
        <p:sp>
          <p:nvSpPr>
            <p:cNvPr id="39946" name="Text Box 9"/>
            <p:cNvSpPr txBox="1">
              <a:spLocks noChangeArrowheads="1"/>
            </p:cNvSpPr>
            <p:nvPr/>
          </p:nvSpPr>
          <p:spPr bwMode="auto">
            <a:xfrm>
              <a:off x="4065" y="2208"/>
              <a:ext cx="782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b="0" dirty="0">
                  <a:latin typeface="Arial" charset="0"/>
                  <a:ea typeface="Arial" charset="0"/>
                </a:rPr>
                <a:t>01111111</a:t>
              </a:r>
            </a:p>
          </p:txBody>
        </p:sp>
        <p:sp>
          <p:nvSpPr>
            <p:cNvPr id="39947" name="Text Box 10"/>
            <p:cNvSpPr txBox="1">
              <a:spLocks noChangeArrowheads="1"/>
            </p:cNvSpPr>
            <p:nvPr/>
          </p:nvSpPr>
          <p:spPr bwMode="auto">
            <a:xfrm>
              <a:off x="2350" y="2208"/>
              <a:ext cx="1156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b="0" dirty="0">
                  <a:latin typeface="Arial" charset="0"/>
                  <a:ea typeface="Arial" charset="0"/>
                </a:rPr>
                <a:t>Frame content</a:t>
              </a:r>
            </a:p>
          </p:txBody>
        </p:sp>
      </p:grp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2242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51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51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51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51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51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515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515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45155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Example: sentinel bits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>
                <a:solidFill>
                  <a:srgbClr val="000000"/>
                </a:solidFill>
                <a:latin typeface="Arial" charset="0"/>
                <a:ea typeface="Arial" charset="0"/>
                <a:cs typeface="Arial" charset="0"/>
              </a:rPr>
              <a:t>Original data, including </a:t>
            </a:r>
            <a:r>
              <a:rPr lang="en-US" sz="2800" dirty="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start/end of frame</a:t>
            </a:r>
            <a:r>
              <a:rPr lang="en-US" sz="2800" dirty="0">
                <a:solidFill>
                  <a:srgbClr val="000000"/>
                </a:solidFill>
                <a:latin typeface="Arial" charset="0"/>
                <a:ea typeface="Arial" charset="0"/>
                <a:cs typeface="Arial" charset="0"/>
              </a:rPr>
              <a:t>:</a:t>
            </a:r>
          </a:p>
          <a:p>
            <a:pPr lvl="1"/>
            <a:r>
              <a:rPr lang="en-US" dirty="0">
                <a:solidFill>
                  <a:srgbClr val="0000E5"/>
                </a:solidFill>
                <a:latin typeface="Arial" charset="0"/>
                <a:ea typeface="Arial" charset="0"/>
                <a:cs typeface="Arial" charset="0"/>
              </a:rPr>
              <a:t>01111110</a:t>
            </a:r>
            <a:r>
              <a:rPr lang="en-US" dirty="0">
                <a:latin typeface="Arial" charset="0"/>
                <a:ea typeface="Arial" charset="0"/>
                <a:cs typeface="Arial" charset="0"/>
              </a:rPr>
              <a:t>0111111011111011111001</a:t>
            </a:r>
            <a:r>
              <a:rPr lang="en-US" dirty="0">
                <a:solidFill>
                  <a:srgbClr val="0000E5"/>
                </a:solidFill>
                <a:latin typeface="Arial" charset="0"/>
                <a:ea typeface="Arial" charset="0"/>
                <a:cs typeface="Arial" charset="0"/>
              </a:rPr>
              <a:t>01111111</a:t>
            </a:r>
            <a:endParaRPr lang="en-US" sz="3200" dirty="0">
              <a:latin typeface="Arial" charset="0"/>
              <a:ea typeface="Arial" charset="0"/>
              <a:cs typeface="Arial" charset="0"/>
            </a:endParaRPr>
          </a:p>
          <a:p>
            <a:r>
              <a:rPr lang="en-US" sz="2800" dirty="0">
                <a:latin typeface="Arial" charset="0"/>
                <a:ea typeface="Arial" charset="0"/>
                <a:cs typeface="Arial" charset="0"/>
              </a:rPr>
              <a:t>Sender rule: five 1s </a:t>
            </a:r>
            <a:r>
              <a:rPr lang="en-US" sz="2800" dirty="0">
                <a:latin typeface="Arial" charset="0"/>
                <a:ea typeface="Arial" charset="0"/>
                <a:cs typeface="Arial" charset="0"/>
                <a:sym typeface="Wingdings"/>
              </a:rPr>
              <a:t> insert a </a:t>
            </a:r>
            <a:r>
              <a:rPr lang="en-US" sz="2800" dirty="0">
                <a:solidFill>
                  <a:srgbClr val="FF0000"/>
                </a:solidFill>
                <a:latin typeface="Arial" charset="0"/>
                <a:ea typeface="Arial" charset="0"/>
                <a:cs typeface="Arial" charset="0"/>
                <a:sym typeface="Wingdings"/>
              </a:rPr>
              <a:t>0</a:t>
            </a:r>
            <a:endParaRPr lang="en-US" sz="2800" dirty="0">
              <a:solidFill>
                <a:srgbClr val="FF0000"/>
              </a:solidFill>
              <a:latin typeface="Arial" charset="0"/>
              <a:ea typeface="Arial" charset="0"/>
              <a:cs typeface="Arial" charset="0"/>
            </a:endParaRPr>
          </a:p>
          <a:p>
            <a:pPr lvl="1"/>
            <a:r>
              <a:rPr lang="en-US" sz="2400" dirty="0">
                <a:latin typeface="Arial" charset="0"/>
                <a:ea typeface="Arial" charset="0"/>
                <a:cs typeface="Arial" charset="0"/>
              </a:rPr>
              <a:t>After bit stuffing at the sender:</a:t>
            </a:r>
          </a:p>
          <a:p>
            <a:pPr lvl="1"/>
            <a:r>
              <a:rPr lang="en-US" sz="2400" dirty="0">
                <a:solidFill>
                  <a:srgbClr val="0000E5"/>
                </a:solidFill>
                <a:latin typeface="Arial" charset="0"/>
                <a:ea typeface="Arial" charset="0"/>
                <a:cs typeface="Arial" charset="0"/>
              </a:rPr>
              <a:t>01111110</a:t>
            </a:r>
            <a:r>
              <a:rPr lang="en-US" sz="2400" dirty="0">
                <a:latin typeface="Arial" charset="0"/>
                <a:ea typeface="Arial" charset="0"/>
                <a:cs typeface="Arial" charset="0"/>
              </a:rPr>
              <a:t>0</a:t>
            </a:r>
            <a:r>
              <a:rPr lang="en-US" sz="2400" u="sng" dirty="0">
                <a:latin typeface="Arial" charset="0"/>
                <a:ea typeface="Arial" charset="0"/>
                <a:cs typeface="Arial" charset="0"/>
              </a:rPr>
              <a:t>11111</a:t>
            </a:r>
            <a:r>
              <a:rPr lang="en-US" sz="2400" dirty="0">
                <a:solidFill>
                  <a:srgbClr val="FF0000"/>
                </a:solidFill>
                <a:latin typeface="Arial" charset="0"/>
                <a:ea typeface="Arial" charset="0"/>
                <a:cs typeface="Arial" charset="0"/>
              </a:rPr>
              <a:t>0</a:t>
            </a:r>
            <a:r>
              <a:rPr lang="en-US" sz="2400" dirty="0">
                <a:latin typeface="Arial" charset="0"/>
                <a:ea typeface="Arial" charset="0"/>
                <a:cs typeface="Arial" charset="0"/>
              </a:rPr>
              <a:t>10</a:t>
            </a:r>
            <a:r>
              <a:rPr lang="en-US" sz="2400" u="sng" dirty="0">
                <a:latin typeface="Arial" charset="0"/>
                <a:ea typeface="Arial" charset="0"/>
                <a:cs typeface="Arial" charset="0"/>
              </a:rPr>
              <a:t>11111</a:t>
            </a:r>
            <a:r>
              <a:rPr lang="en-US" sz="2400" dirty="0">
                <a:solidFill>
                  <a:srgbClr val="FF0000"/>
                </a:solidFill>
                <a:latin typeface="Arial" charset="0"/>
                <a:ea typeface="Arial" charset="0"/>
                <a:cs typeface="Arial" charset="0"/>
              </a:rPr>
              <a:t>0</a:t>
            </a:r>
            <a:r>
              <a:rPr lang="en-US" sz="2400" dirty="0">
                <a:latin typeface="Arial" charset="0"/>
                <a:ea typeface="Arial" charset="0"/>
                <a:cs typeface="Arial" charset="0"/>
              </a:rPr>
              <a:t>0</a:t>
            </a:r>
            <a:r>
              <a:rPr lang="en-US" sz="2400" u="sng" dirty="0">
                <a:latin typeface="Arial" charset="0"/>
                <a:ea typeface="Arial" charset="0"/>
                <a:cs typeface="Arial" charset="0"/>
              </a:rPr>
              <a:t>11111</a:t>
            </a:r>
            <a:r>
              <a:rPr lang="en-US" sz="2400" dirty="0">
                <a:solidFill>
                  <a:srgbClr val="FF0000"/>
                </a:solidFill>
                <a:latin typeface="Arial" charset="0"/>
                <a:ea typeface="Arial" charset="0"/>
                <a:cs typeface="Arial" charset="0"/>
              </a:rPr>
              <a:t>0</a:t>
            </a:r>
            <a:r>
              <a:rPr lang="en-US" sz="2400" dirty="0">
                <a:latin typeface="Arial" charset="0"/>
                <a:ea typeface="Arial" charset="0"/>
                <a:cs typeface="Arial" charset="0"/>
              </a:rPr>
              <a:t>001</a:t>
            </a:r>
            <a:r>
              <a:rPr lang="en-US" sz="2400" dirty="0">
                <a:solidFill>
                  <a:srgbClr val="0000E5"/>
                </a:solidFill>
                <a:latin typeface="Arial" charset="0"/>
                <a:ea typeface="Arial" charset="0"/>
                <a:cs typeface="Arial" charset="0"/>
              </a:rPr>
              <a:t>01111111</a:t>
            </a:r>
            <a:endParaRPr lang="en-US" sz="2800" dirty="0">
              <a:latin typeface="Arial" charset="0"/>
              <a:ea typeface="Arial" charset="0"/>
              <a:cs typeface="Arial" charset="0"/>
            </a:endParaRPr>
          </a:p>
          <a:p>
            <a:r>
              <a:rPr lang="en-US" sz="2800" dirty="0">
                <a:latin typeface="Arial" charset="0"/>
                <a:ea typeface="Arial" charset="0"/>
                <a:cs typeface="Arial" charset="0"/>
              </a:rPr>
              <a:t>Receiver rule: five 1s and next bit 0 </a:t>
            </a:r>
            <a:r>
              <a:rPr lang="en-US" sz="2800" dirty="0">
                <a:latin typeface="Arial" charset="0"/>
                <a:ea typeface="Arial" charset="0"/>
                <a:cs typeface="Arial" charset="0"/>
                <a:sym typeface="Wingdings"/>
              </a:rPr>
              <a:t> remove 0</a:t>
            </a:r>
            <a:endParaRPr lang="en-US" dirty="0">
              <a:solidFill>
                <a:srgbClr val="0000E5"/>
              </a:solidFill>
              <a:latin typeface="Arial" charset="0"/>
              <a:ea typeface="Arial" charset="0"/>
              <a:cs typeface="Arial" charset="0"/>
              <a:sym typeface="Wingdings"/>
            </a:endParaRPr>
          </a:p>
          <a:p>
            <a:pPr lvl="1"/>
            <a:r>
              <a:rPr lang="en-US" dirty="0">
                <a:solidFill>
                  <a:srgbClr val="0000E5"/>
                </a:solidFill>
                <a:latin typeface="Arial" charset="0"/>
                <a:ea typeface="Arial" charset="0"/>
                <a:cs typeface="Arial" charset="0"/>
              </a:rPr>
              <a:t>01111110</a:t>
            </a:r>
            <a:r>
              <a:rPr lang="en-US" dirty="0">
                <a:latin typeface="Arial" charset="0"/>
                <a:ea typeface="Arial" charset="0"/>
                <a:cs typeface="Arial" charset="0"/>
              </a:rPr>
              <a:t>0</a:t>
            </a:r>
            <a:r>
              <a:rPr lang="en-US" u="sng" dirty="0">
                <a:latin typeface="Arial" charset="0"/>
                <a:ea typeface="Arial" charset="0"/>
                <a:cs typeface="Arial" charset="0"/>
              </a:rPr>
              <a:t>11111</a:t>
            </a:r>
            <a:r>
              <a:rPr lang="en-US" dirty="0">
                <a:latin typeface="Arial" charset="0"/>
                <a:ea typeface="Arial" charset="0"/>
                <a:cs typeface="Arial" charset="0"/>
              </a:rPr>
              <a:t>10</a:t>
            </a:r>
            <a:r>
              <a:rPr lang="en-US" u="sng" dirty="0">
                <a:latin typeface="Arial" charset="0"/>
                <a:ea typeface="Arial" charset="0"/>
                <a:cs typeface="Arial" charset="0"/>
              </a:rPr>
              <a:t>11111</a:t>
            </a:r>
            <a:r>
              <a:rPr lang="en-US" dirty="0">
                <a:latin typeface="Arial" charset="0"/>
                <a:ea typeface="Arial" charset="0"/>
                <a:cs typeface="Arial" charset="0"/>
              </a:rPr>
              <a:t>0</a:t>
            </a:r>
            <a:r>
              <a:rPr lang="en-US" u="sng" dirty="0">
                <a:latin typeface="Arial" charset="0"/>
                <a:ea typeface="Arial" charset="0"/>
                <a:cs typeface="Arial" charset="0"/>
              </a:rPr>
              <a:t>11111</a:t>
            </a:r>
            <a:r>
              <a:rPr lang="en-US" dirty="0">
                <a:latin typeface="Arial" charset="0"/>
                <a:ea typeface="Arial" charset="0"/>
                <a:cs typeface="Arial" charset="0"/>
              </a:rPr>
              <a:t>001</a:t>
            </a:r>
            <a:r>
              <a:rPr lang="en-US" dirty="0">
                <a:solidFill>
                  <a:srgbClr val="0000E5"/>
                </a:solidFill>
                <a:latin typeface="Arial" charset="0"/>
                <a:ea typeface="Arial" charset="0"/>
                <a:cs typeface="Arial" charset="0"/>
              </a:rPr>
              <a:t>01111111</a:t>
            </a:r>
            <a:endParaRPr lang="en-US" sz="2800" dirty="0">
              <a:solidFill>
                <a:srgbClr val="0000E5"/>
              </a:solidFill>
              <a:latin typeface="Arial" charset="0"/>
              <a:ea typeface="Arial" charset="0"/>
              <a:cs typeface="Arial" charset="0"/>
            </a:endParaRPr>
          </a:p>
          <a:p>
            <a:pPr marL="0" indent="0">
              <a:buNone/>
            </a:pPr>
            <a:endParaRPr lang="en-US" sz="2800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428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Frames and framing </a:t>
            </a:r>
          </a:p>
          <a:p>
            <a:r>
              <a:rPr lang="en-US" dirty="0"/>
              <a:t>Addressing</a:t>
            </a:r>
          </a:p>
          <a:p>
            <a:r>
              <a:rPr lang="en-US" dirty="0"/>
              <a:t>Routing </a:t>
            </a:r>
          </a:p>
          <a:p>
            <a:r>
              <a:rPr lang="en-US" dirty="0"/>
              <a:t>Forwarding </a:t>
            </a:r>
          </a:p>
          <a:p>
            <a:r>
              <a:rPr lang="en-US" dirty="0"/>
              <a:t>Discovery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3198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Medium Access Control (MAC) Address</a:t>
            </a:r>
          </a:p>
        </p:txBody>
      </p:sp>
      <p:sp>
        <p:nvSpPr>
          <p:cNvPr id="3072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MAC address</a:t>
            </a:r>
          </a:p>
          <a:p>
            <a:pPr lvl="1"/>
            <a:r>
              <a:rPr lang="en-US" dirty="0"/>
              <a:t>Numerical address associated with a network adapter</a:t>
            </a:r>
          </a:p>
          <a:p>
            <a:pPr lvl="1"/>
            <a:r>
              <a:rPr lang="en-US" dirty="0"/>
              <a:t>Flat name space of 48 bits (e.g., </a:t>
            </a:r>
            <a:r>
              <a:rPr lang="en-US" dirty="0">
                <a:solidFill>
                  <a:srgbClr val="0000FF"/>
                </a:solidFill>
              </a:rPr>
              <a:t>00-15-C5-49-04-A9 </a:t>
            </a:r>
            <a:r>
              <a:rPr lang="en-US" dirty="0"/>
              <a:t>in HEX)</a:t>
            </a:r>
          </a:p>
          <a:p>
            <a:pPr lvl="1"/>
            <a:r>
              <a:rPr lang="en-US" dirty="0"/>
              <a:t>Unique, hard-coded in the adapter when it is built</a:t>
            </a:r>
          </a:p>
          <a:p>
            <a:r>
              <a:rPr lang="en-US" dirty="0"/>
              <a:t>Hierarchical Allocation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Blocks</a:t>
            </a:r>
            <a:r>
              <a:rPr lang="en-US" dirty="0"/>
              <a:t>: assigned to vendors (e.g., Dell) by the IEEE</a:t>
            </a:r>
          </a:p>
          <a:p>
            <a:pPr lvl="2"/>
            <a:r>
              <a:rPr lang="en-US" dirty="0"/>
              <a:t>First 24 bits (e.g., 00-15-C5-**-**-**)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Adapter</a:t>
            </a:r>
            <a:r>
              <a:rPr lang="en-US" dirty="0"/>
              <a:t>: assigned by the vendor from its block</a:t>
            </a:r>
          </a:p>
          <a:p>
            <a:pPr lvl="2"/>
            <a:r>
              <a:rPr lang="en-US" dirty="0"/>
              <a:t>Last 24 bits 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403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23" grpId="0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MAC address vs. IP address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MAC Addresses</a:t>
            </a:r>
          </a:p>
        </p:txBody>
      </p:sp>
      <p:sp>
        <p:nvSpPr>
          <p:cNvPr id="928771" name="Rectangle 3"/>
          <p:cNvSpPr>
            <a:spLocks noGrp="1" noChangeArrowheads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Hard-coded when adapter is built</a:t>
            </a:r>
          </a:p>
          <a:p>
            <a:r>
              <a:rPr lang="en-US" dirty="0"/>
              <a:t>Flat name space of 48 bits (e.g., 00-0E-9B-6E-49-76)</a:t>
            </a:r>
          </a:p>
          <a:p>
            <a:r>
              <a:rPr lang="en-US" dirty="0"/>
              <a:t>Like a social security number</a:t>
            </a:r>
          </a:p>
          <a:p>
            <a:r>
              <a:rPr lang="en-US" dirty="0"/>
              <a:t>Portable, and can stay the same as the host moves</a:t>
            </a:r>
          </a:p>
          <a:p>
            <a:r>
              <a:rPr lang="en-US" dirty="0"/>
              <a:t>Used to get packet between interfaces on same network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IP Addresses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/>
              <a:t>Configured, or learned dynamically</a:t>
            </a:r>
          </a:p>
          <a:p>
            <a:r>
              <a:rPr lang="en-US" dirty="0"/>
              <a:t>Hierarchical name space of 32 bits for IPv4 (e.g., 12.178.66.9)</a:t>
            </a:r>
          </a:p>
          <a:p>
            <a:r>
              <a:rPr lang="en-US" dirty="0"/>
              <a:t>Like a postal mailing address</a:t>
            </a:r>
          </a:p>
          <a:p>
            <a:r>
              <a:rPr lang="en-US" dirty="0"/>
              <a:t>Not portable, and depends on where the host is attached</a:t>
            </a:r>
          </a:p>
          <a:p>
            <a:r>
              <a:rPr lang="en-US" dirty="0"/>
              <a:t>Used to get a packet to destination IP subnet </a:t>
            </a:r>
          </a:p>
          <a:p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CF967-1287-0948-92AE-55309D196149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845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87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87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87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877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877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Frames and framing </a:t>
            </a:r>
          </a:p>
          <a:p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Addressing</a:t>
            </a:r>
          </a:p>
          <a:p>
            <a:r>
              <a:rPr lang="en-US" dirty="0"/>
              <a:t>Routing </a:t>
            </a:r>
          </a:p>
          <a:p>
            <a:r>
              <a:rPr lang="en-US" dirty="0"/>
              <a:t>Forwarding </a:t>
            </a:r>
          </a:p>
          <a:p>
            <a:r>
              <a:rPr lang="en-US" dirty="0"/>
              <a:t>Discovery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4948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Routing with switched Ethernet?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3157891" y="3221327"/>
            <a:ext cx="120650" cy="626164"/>
            <a:chOff x="2820129" y="2959980"/>
            <a:chExt cx="120650" cy="626164"/>
          </a:xfrm>
        </p:grpSpPr>
        <p:sp>
          <p:nvSpPr>
            <p:cNvPr id="58381" name="Rectangle 12"/>
            <p:cNvSpPr>
              <a:spLocks noChangeArrowheads="1"/>
            </p:cNvSpPr>
            <p:nvPr/>
          </p:nvSpPr>
          <p:spPr bwMode="auto">
            <a:xfrm>
              <a:off x="2820129" y="3378181"/>
              <a:ext cx="120650" cy="20796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8385" name="Line 16"/>
            <p:cNvSpPr>
              <a:spLocks noChangeShapeType="1"/>
            </p:cNvSpPr>
            <p:nvPr/>
          </p:nvSpPr>
          <p:spPr bwMode="auto">
            <a:xfrm flipH="1" flipV="1">
              <a:off x="2858229" y="2959980"/>
              <a:ext cx="0" cy="4110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</p:grpSp>
      <p:sp>
        <p:nvSpPr>
          <p:cNvPr id="58388" name="Text Box 19"/>
          <p:cNvSpPr txBox="1">
            <a:spLocks noChangeArrowheads="1"/>
          </p:cNvSpPr>
          <p:nvPr/>
        </p:nvSpPr>
        <p:spPr bwMode="auto">
          <a:xfrm>
            <a:off x="2475902" y="1777166"/>
            <a:ext cx="671979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 b="0" dirty="0">
                <a:latin typeface="+mn-lt"/>
              </a:rPr>
              <a:t>A</a:t>
            </a:r>
            <a:r>
              <a:rPr lang="en-US" b="0" baseline="-25000" dirty="0">
                <a:latin typeface="+mn-lt"/>
              </a:rPr>
              <a:t>MAC</a:t>
            </a:r>
          </a:p>
        </p:txBody>
      </p:sp>
      <p:grpSp>
        <p:nvGrpSpPr>
          <p:cNvPr id="2" name="Group 1"/>
          <p:cNvGrpSpPr/>
          <p:nvPr/>
        </p:nvGrpSpPr>
        <p:grpSpPr>
          <a:xfrm rot="19140000">
            <a:off x="5257644" y="2154092"/>
            <a:ext cx="120651" cy="644729"/>
            <a:chOff x="4180663" y="2330627"/>
            <a:chExt cx="120650" cy="644727"/>
          </a:xfrm>
        </p:grpSpPr>
        <p:sp>
          <p:nvSpPr>
            <p:cNvPr id="58383" name="Line 14"/>
            <p:cNvSpPr>
              <a:spLocks noChangeShapeType="1"/>
            </p:cNvSpPr>
            <p:nvPr/>
          </p:nvSpPr>
          <p:spPr bwMode="auto">
            <a:xfrm>
              <a:off x="4240213" y="2379644"/>
              <a:ext cx="0" cy="59571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58380" name="Rectangle 11"/>
            <p:cNvSpPr>
              <a:spLocks noChangeArrowheads="1"/>
            </p:cNvSpPr>
            <p:nvPr/>
          </p:nvSpPr>
          <p:spPr bwMode="auto">
            <a:xfrm>
              <a:off x="4180663" y="2330627"/>
              <a:ext cx="120650" cy="207962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3" name="Group 2"/>
          <p:cNvGrpSpPr>
            <a:grpSpLocks noChangeAspect="1"/>
          </p:cNvGrpSpPr>
          <p:nvPr/>
        </p:nvGrpSpPr>
        <p:grpSpPr>
          <a:xfrm rot="2820000">
            <a:off x="6002364" y="2184781"/>
            <a:ext cx="120650" cy="644727"/>
            <a:chOff x="5955836" y="2330627"/>
            <a:chExt cx="120650" cy="644727"/>
          </a:xfrm>
        </p:grpSpPr>
        <p:sp>
          <p:nvSpPr>
            <p:cNvPr id="24" name="Line 14"/>
            <p:cNvSpPr>
              <a:spLocks noChangeShapeType="1"/>
            </p:cNvSpPr>
            <p:nvPr/>
          </p:nvSpPr>
          <p:spPr bwMode="auto">
            <a:xfrm>
              <a:off x="6015386" y="2379644"/>
              <a:ext cx="0" cy="59571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25" name="Rectangle 11"/>
            <p:cNvSpPr>
              <a:spLocks noChangeArrowheads="1"/>
            </p:cNvSpPr>
            <p:nvPr/>
          </p:nvSpPr>
          <p:spPr bwMode="auto">
            <a:xfrm>
              <a:off x="5955836" y="2330627"/>
              <a:ext cx="120650" cy="207962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5" name="Group 4"/>
          <p:cNvGrpSpPr/>
          <p:nvPr/>
        </p:nvGrpSpPr>
        <p:grpSpPr>
          <a:xfrm>
            <a:off x="4375834" y="4426939"/>
            <a:ext cx="120650" cy="626164"/>
            <a:chOff x="3659188" y="2974268"/>
            <a:chExt cx="120650" cy="626164"/>
          </a:xfrm>
        </p:grpSpPr>
        <p:sp>
          <p:nvSpPr>
            <p:cNvPr id="30" name="Rectangle 12"/>
            <p:cNvSpPr>
              <a:spLocks noChangeArrowheads="1"/>
            </p:cNvSpPr>
            <p:nvPr/>
          </p:nvSpPr>
          <p:spPr bwMode="auto">
            <a:xfrm>
              <a:off x="3659188" y="3392469"/>
              <a:ext cx="120650" cy="20796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1" name="Line 16"/>
            <p:cNvSpPr>
              <a:spLocks noChangeShapeType="1"/>
            </p:cNvSpPr>
            <p:nvPr/>
          </p:nvSpPr>
          <p:spPr bwMode="auto">
            <a:xfrm flipH="1" flipV="1">
              <a:off x="3711399" y="2974268"/>
              <a:ext cx="0" cy="4110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4" name="Group 3"/>
          <p:cNvGrpSpPr/>
          <p:nvPr/>
        </p:nvGrpSpPr>
        <p:grpSpPr>
          <a:xfrm>
            <a:off x="5623344" y="3048621"/>
            <a:ext cx="120650" cy="626164"/>
            <a:chOff x="4863307" y="2993358"/>
            <a:chExt cx="120650" cy="626164"/>
          </a:xfrm>
        </p:grpSpPr>
        <p:sp>
          <p:nvSpPr>
            <p:cNvPr id="33" name="Rectangle 12"/>
            <p:cNvSpPr>
              <a:spLocks noChangeArrowheads="1"/>
            </p:cNvSpPr>
            <p:nvPr/>
          </p:nvSpPr>
          <p:spPr bwMode="auto">
            <a:xfrm>
              <a:off x="4863307" y="3411559"/>
              <a:ext cx="120650" cy="20796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4" name="Line 16"/>
            <p:cNvSpPr>
              <a:spLocks noChangeShapeType="1"/>
            </p:cNvSpPr>
            <p:nvPr/>
          </p:nvSpPr>
          <p:spPr bwMode="auto">
            <a:xfrm flipH="1" flipV="1">
              <a:off x="4901407" y="2993358"/>
              <a:ext cx="0" cy="4110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</p:grpSp>
      <p:sp>
        <p:nvSpPr>
          <p:cNvPr id="38" name="Text Box 19"/>
          <p:cNvSpPr txBox="1">
            <a:spLocks noChangeArrowheads="1"/>
          </p:cNvSpPr>
          <p:nvPr/>
        </p:nvSpPr>
        <p:spPr bwMode="auto">
          <a:xfrm>
            <a:off x="4682322" y="1777166"/>
            <a:ext cx="671979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 b="0" dirty="0">
                <a:latin typeface="+mn-lt"/>
              </a:rPr>
              <a:t>B</a:t>
            </a:r>
            <a:r>
              <a:rPr lang="en-US" b="0" baseline="-25000" dirty="0">
                <a:latin typeface="+mn-lt"/>
              </a:rPr>
              <a:t>MAC</a:t>
            </a:r>
          </a:p>
        </p:txBody>
      </p:sp>
      <p:sp>
        <p:nvSpPr>
          <p:cNvPr id="39" name="Text Box 19"/>
          <p:cNvSpPr txBox="1">
            <a:spLocks noChangeArrowheads="1"/>
          </p:cNvSpPr>
          <p:nvPr/>
        </p:nvSpPr>
        <p:spPr bwMode="auto">
          <a:xfrm>
            <a:off x="6020216" y="1777166"/>
            <a:ext cx="671979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 b="0" dirty="0">
                <a:latin typeface="+mn-lt"/>
              </a:rPr>
              <a:t>C</a:t>
            </a:r>
            <a:r>
              <a:rPr lang="en-US" b="0" baseline="-25000" dirty="0">
                <a:latin typeface="+mn-lt"/>
              </a:rPr>
              <a:t>MAC</a:t>
            </a:r>
          </a:p>
        </p:txBody>
      </p:sp>
      <p:sp>
        <p:nvSpPr>
          <p:cNvPr id="40" name="Text Box 19"/>
          <p:cNvSpPr txBox="1">
            <a:spLocks noChangeArrowheads="1"/>
          </p:cNvSpPr>
          <p:nvPr/>
        </p:nvSpPr>
        <p:spPr bwMode="auto">
          <a:xfrm>
            <a:off x="2817049" y="3906826"/>
            <a:ext cx="678758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 b="0" dirty="0">
                <a:latin typeface="+mn-lt"/>
              </a:rPr>
              <a:t>D</a:t>
            </a:r>
            <a:r>
              <a:rPr lang="en-US" b="0" baseline="-25000" dirty="0">
                <a:latin typeface="+mn-lt"/>
              </a:rPr>
              <a:t>MAC</a:t>
            </a:r>
          </a:p>
        </p:txBody>
      </p:sp>
      <p:sp>
        <p:nvSpPr>
          <p:cNvPr id="41" name="Text Box 19"/>
          <p:cNvSpPr txBox="1">
            <a:spLocks noChangeArrowheads="1"/>
          </p:cNvSpPr>
          <p:nvPr/>
        </p:nvSpPr>
        <p:spPr bwMode="auto">
          <a:xfrm>
            <a:off x="4117600" y="4992996"/>
            <a:ext cx="646331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 b="0" dirty="0">
                <a:latin typeface="+mn-lt"/>
              </a:rPr>
              <a:t>E</a:t>
            </a:r>
            <a:r>
              <a:rPr lang="en-US" b="0" baseline="-25000" dirty="0">
                <a:latin typeface="+mn-lt"/>
              </a:rPr>
              <a:t>MAC</a:t>
            </a:r>
          </a:p>
        </p:txBody>
      </p:sp>
      <p:sp>
        <p:nvSpPr>
          <p:cNvPr id="42" name="Text Box 19"/>
          <p:cNvSpPr txBox="1">
            <a:spLocks noChangeArrowheads="1"/>
          </p:cNvSpPr>
          <p:nvPr/>
        </p:nvSpPr>
        <p:spPr bwMode="auto">
          <a:xfrm>
            <a:off x="5319081" y="3751377"/>
            <a:ext cx="646331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 b="0" dirty="0">
                <a:latin typeface="+mn-lt"/>
              </a:rPr>
              <a:t>F</a:t>
            </a:r>
            <a:r>
              <a:rPr lang="en-US" b="0" baseline="-25000" dirty="0">
                <a:latin typeface="+mn-lt"/>
              </a:rPr>
              <a:t>MAC</a:t>
            </a:r>
          </a:p>
        </p:txBody>
      </p:sp>
      <p:pic>
        <p:nvPicPr>
          <p:cNvPr id="45" name="Picture 44"/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032116" y="2761648"/>
            <a:ext cx="459679" cy="459679"/>
          </a:xfrm>
          <a:prstGeom prst="rect">
            <a:avLst/>
          </a:prstGeom>
        </p:spPr>
      </p:pic>
      <p:grpSp>
        <p:nvGrpSpPr>
          <p:cNvPr id="46" name="Group 45"/>
          <p:cNvGrpSpPr/>
          <p:nvPr/>
        </p:nvGrpSpPr>
        <p:grpSpPr>
          <a:xfrm rot="19140000">
            <a:off x="2908030" y="2232290"/>
            <a:ext cx="120651" cy="644729"/>
            <a:chOff x="4180663" y="2330627"/>
            <a:chExt cx="120650" cy="644727"/>
          </a:xfrm>
        </p:grpSpPr>
        <p:sp>
          <p:nvSpPr>
            <p:cNvPr id="47" name="Line 14"/>
            <p:cNvSpPr>
              <a:spLocks noChangeShapeType="1"/>
            </p:cNvSpPr>
            <p:nvPr/>
          </p:nvSpPr>
          <p:spPr bwMode="auto">
            <a:xfrm>
              <a:off x="4240213" y="2379644"/>
              <a:ext cx="0" cy="59571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48" name="Rectangle 11"/>
            <p:cNvSpPr>
              <a:spLocks noChangeArrowheads="1"/>
            </p:cNvSpPr>
            <p:nvPr/>
          </p:nvSpPr>
          <p:spPr bwMode="auto">
            <a:xfrm>
              <a:off x="4180663" y="2330627"/>
              <a:ext cx="120650" cy="207962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cxnSp>
        <p:nvCxnSpPr>
          <p:cNvPr id="9" name="Straight Connector 8"/>
          <p:cNvCxnSpPr>
            <a:stCxn id="45" idx="3"/>
            <a:endCxn id="35" idx="1"/>
          </p:cNvCxnSpPr>
          <p:nvPr/>
        </p:nvCxnSpPr>
        <p:spPr>
          <a:xfrm flipV="1">
            <a:off x="3491795" y="2890732"/>
            <a:ext cx="1943431" cy="10075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3477684" y="3134682"/>
            <a:ext cx="722176" cy="90570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H="1">
            <a:off x="4496484" y="3048621"/>
            <a:ext cx="1032392" cy="105955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9" name="Picture 48"/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155651" y="4026279"/>
            <a:ext cx="459679" cy="459679"/>
          </a:xfrm>
          <a:prstGeom prst="rect">
            <a:avLst/>
          </a:prstGeom>
        </p:spPr>
      </p:pic>
      <p:pic>
        <p:nvPicPr>
          <p:cNvPr id="35" name="Picture 34"/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435226" y="2660892"/>
            <a:ext cx="459679" cy="459679"/>
          </a:xfrm>
          <a:prstGeom prst="rect">
            <a:avLst/>
          </a:prstGeom>
        </p:spPr>
      </p:pic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40079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Why does Ethernet not use LS/DV?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Concerns over scalability  </a:t>
            </a:r>
          </a:p>
          <a:p>
            <a:pPr lvl="1"/>
            <a:r>
              <a:rPr lang="en-US"/>
              <a:t>Flat MAC addresses cannot be aggregated like IP addresses </a:t>
            </a:r>
          </a:p>
          <a:p>
            <a:r>
              <a:rPr lang="en-US"/>
              <a:t>Legacy</a:t>
            </a:r>
          </a:p>
          <a:p>
            <a:pPr lvl="1"/>
            <a:endParaRPr lang="en-US" dirty="0"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302227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“Routing” with broadcast Ethernet</a:t>
            </a:r>
            <a:endParaRPr lang="en-US" dirty="0"/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685800" y="3289611"/>
            <a:ext cx="7924800" cy="2730190"/>
          </a:xfrm>
        </p:spPr>
        <p:txBody>
          <a:bodyPr/>
          <a:lstStyle/>
          <a:p>
            <a:r>
              <a:rPr lang="en-US" dirty="0"/>
              <a:t>Sender transmits frame onto broadcast link</a:t>
            </a:r>
          </a:p>
          <a:p>
            <a:r>
              <a:rPr lang="en-US" dirty="0"/>
              <a:t>Each receiver’s link layer passes the frame to the network layer: </a:t>
            </a:r>
          </a:p>
          <a:p>
            <a:pPr lvl="1"/>
            <a:r>
              <a:rPr lang="en-US" dirty="0"/>
              <a:t>If destination address matches the receiver’s MAC address OR if the destination address is the broadcast MAC address (</a:t>
            </a:r>
            <a:r>
              <a:rPr lang="en-US" dirty="0" err="1"/>
              <a:t>ff:ff:ff:ff:ff:ff</a:t>
            </a:r>
            <a:r>
              <a:rPr lang="en-US" dirty="0"/>
              <a:t>)</a:t>
            </a:r>
          </a:p>
          <a:p>
            <a:endParaRPr lang="en-US" dirty="0"/>
          </a:p>
        </p:txBody>
      </p:sp>
      <p:grpSp>
        <p:nvGrpSpPr>
          <p:cNvPr id="8" name="Group 7"/>
          <p:cNvGrpSpPr/>
          <p:nvPr/>
        </p:nvGrpSpPr>
        <p:grpSpPr>
          <a:xfrm>
            <a:off x="2261240" y="1623765"/>
            <a:ext cx="4621521" cy="1551128"/>
            <a:chOff x="2261240" y="1791030"/>
            <a:chExt cx="4621521" cy="1551128"/>
          </a:xfrm>
        </p:grpSpPr>
        <p:sp>
          <p:nvSpPr>
            <p:cNvPr id="58388" name="Text Box 19"/>
            <p:cNvSpPr txBox="1">
              <a:spLocks noChangeArrowheads="1"/>
            </p:cNvSpPr>
            <p:nvPr/>
          </p:nvSpPr>
          <p:spPr bwMode="auto">
            <a:xfrm>
              <a:off x="2387378" y="1791030"/>
              <a:ext cx="671979" cy="3730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b="0" dirty="0">
                  <a:latin typeface="+mn-lt"/>
                </a:rPr>
                <a:t>A</a:t>
              </a:r>
              <a:r>
                <a:rPr lang="en-US" b="0" baseline="-25000" dirty="0">
                  <a:latin typeface="+mn-lt"/>
                </a:rPr>
                <a:t>MAC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2261240" y="2232688"/>
              <a:ext cx="4621521" cy="731520"/>
              <a:chOff x="1929452" y="2266141"/>
              <a:chExt cx="4621521" cy="1201737"/>
            </a:xfrm>
          </p:grpSpPr>
          <p:sp>
            <p:nvSpPr>
              <p:cNvPr id="58381" name="Rectangle 12"/>
              <p:cNvSpPr>
                <a:spLocks noChangeArrowheads="1"/>
              </p:cNvSpPr>
              <p:nvPr/>
            </p:nvSpPr>
            <p:spPr bwMode="auto">
              <a:xfrm>
                <a:off x="2820129" y="3242857"/>
                <a:ext cx="120650" cy="193900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8383" name="Line 14"/>
              <p:cNvSpPr>
                <a:spLocks noChangeShapeType="1"/>
              </p:cNvSpPr>
              <p:nvPr/>
            </p:nvSpPr>
            <p:spPr bwMode="auto">
              <a:xfrm>
                <a:off x="4240213" y="2311843"/>
                <a:ext cx="0" cy="55542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58384" name="Line 15"/>
              <p:cNvSpPr>
                <a:spLocks noChangeShapeType="1"/>
              </p:cNvSpPr>
              <p:nvPr/>
            </p:nvSpPr>
            <p:spPr bwMode="auto">
              <a:xfrm flipH="1">
                <a:off x="1929452" y="2848952"/>
                <a:ext cx="4621521" cy="0"/>
              </a:xfrm>
              <a:prstGeom prst="line">
                <a:avLst/>
              </a:prstGeom>
              <a:noFill/>
              <a:ln w="38100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58385" name="Line 16"/>
              <p:cNvSpPr>
                <a:spLocks noChangeShapeType="1"/>
              </p:cNvSpPr>
              <p:nvPr/>
            </p:nvSpPr>
            <p:spPr bwMode="auto">
              <a:xfrm flipH="1" flipV="1">
                <a:off x="2858229" y="2852936"/>
                <a:ext cx="0" cy="38327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58380" name="Rectangle 11"/>
              <p:cNvSpPr>
                <a:spLocks noChangeArrowheads="1"/>
              </p:cNvSpPr>
              <p:nvPr/>
            </p:nvSpPr>
            <p:spPr bwMode="auto">
              <a:xfrm>
                <a:off x="4180663" y="2266141"/>
                <a:ext cx="120650" cy="193899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4" name="Line 14"/>
              <p:cNvSpPr>
                <a:spLocks noChangeShapeType="1"/>
              </p:cNvSpPr>
              <p:nvPr/>
            </p:nvSpPr>
            <p:spPr bwMode="auto">
              <a:xfrm>
                <a:off x="6015386" y="2311843"/>
                <a:ext cx="0" cy="55542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25" name="Rectangle 11"/>
              <p:cNvSpPr>
                <a:spLocks noChangeArrowheads="1"/>
              </p:cNvSpPr>
              <p:nvPr/>
            </p:nvSpPr>
            <p:spPr bwMode="auto">
              <a:xfrm>
                <a:off x="5955836" y="2266141"/>
                <a:ext cx="120650" cy="193899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7" name="Line 14"/>
              <p:cNvSpPr>
                <a:spLocks noChangeShapeType="1"/>
              </p:cNvSpPr>
              <p:nvPr/>
            </p:nvSpPr>
            <p:spPr bwMode="auto">
              <a:xfrm>
                <a:off x="2371016" y="2311843"/>
                <a:ext cx="0" cy="55542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28" name="Rectangle 11"/>
              <p:cNvSpPr>
                <a:spLocks noChangeArrowheads="1"/>
              </p:cNvSpPr>
              <p:nvPr/>
            </p:nvSpPr>
            <p:spPr bwMode="auto">
              <a:xfrm>
                <a:off x="2311466" y="2266141"/>
                <a:ext cx="120650" cy="193899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0" name="Rectangle 12"/>
              <p:cNvSpPr>
                <a:spLocks noChangeArrowheads="1"/>
              </p:cNvSpPr>
              <p:nvPr/>
            </p:nvSpPr>
            <p:spPr bwMode="auto">
              <a:xfrm>
                <a:off x="3659188" y="3256179"/>
                <a:ext cx="120650" cy="193900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1" name="Line 16"/>
              <p:cNvSpPr>
                <a:spLocks noChangeShapeType="1"/>
              </p:cNvSpPr>
              <p:nvPr/>
            </p:nvSpPr>
            <p:spPr bwMode="auto">
              <a:xfrm flipH="1" flipV="1">
                <a:off x="3697288" y="2866258"/>
                <a:ext cx="0" cy="38327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33" name="Rectangle 12"/>
              <p:cNvSpPr>
                <a:spLocks noChangeArrowheads="1"/>
              </p:cNvSpPr>
              <p:nvPr/>
            </p:nvSpPr>
            <p:spPr bwMode="auto">
              <a:xfrm>
                <a:off x="4863307" y="3273978"/>
                <a:ext cx="120650" cy="193900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4" name="Line 16"/>
              <p:cNvSpPr>
                <a:spLocks noChangeShapeType="1"/>
              </p:cNvSpPr>
              <p:nvPr/>
            </p:nvSpPr>
            <p:spPr bwMode="auto">
              <a:xfrm flipH="1" flipV="1">
                <a:off x="4901407" y="2884057"/>
                <a:ext cx="0" cy="38327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/>
              </a:p>
            </p:txBody>
          </p:sp>
        </p:grpSp>
        <p:sp>
          <p:nvSpPr>
            <p:cNvPr id="38" name="Text Box 19"/>
            <p:cNvSpPr txBox="1">
              <a:spLocks noChangeArrowheads="1"/>
            </p:cNvSpPr>
            <p:nvPr/>
          </p:nvSpPr>
          <p:spPr bwMode="auto">
            <a:xfrm>
              <a:off x="4225806" y="1791030"/>
              <a:ext cx="671979" cy="3730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b="0" dirty="0">
                  <a:latin typeface="+mn-lt"/>
                </a:rPr>
                <a:t>B</a:t>
              </a:r>
              <a:r>
                <a:rPr lang="en-US" b="0" baseline="-25000" dirty="0">
                  <a:latin typeface="+mn-lt"/>
                </a:rPr>
                <a:t>MAC</a:t>
              </a:r>
            </a:p>
          </p:txBody>
        </p:sp>
        <p:sp>
          <p:nvSpPr>
            <p:cNvPr id="39" name="Text Box 19"/>
            <p:cNvSpPr txBox="1">
              <a:spLocks noChangeArrowheads="1"/>
            </p:cNvSpPr>
            <p:nvPr/>
          </p:nvSpPr>
          <p:spPr bwMode="auto">
            <a:xfrm>
              <a:off x="6020901" y="1791030"/>
              <a:ext cx="671979" cy="3730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b="0" dirty="0">
                  <a:latin typeface="+mn-lt"/>
                </a:rPr>
                <a:t>C</a:t>
              </a:r>
              <a:r>
                <a:rPr lang="en-US" b="0" baseline="-25000" dirty="0">
                  <a:latin typeface="+mn-lt"/>
                </a:rPr>
                <a:t>MAC</a:t>
              </a:r>
            </a:p>
          </p:txBody>
        </p:sp>
        <p:sp>
          <p:nvSpPr>
            <p:cNvPr id="40" name="Text Box 19"/>
            <p:cNvSpPr txBox="1">
              <a:spLocks noChangeArrowheads="1"/>
            </p:cNvSpPr>
            <p:nvPr/>
          </p:nvSpPr>
          <p:spPr bwMode="auto">
            <a:xfrm>
              <a:off x="2896035" y="2969104"/>
              <a:ext cx="678758" cy="3730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b="0" dirty="0">
                  <a:latin typeface="+mn-lt"/>
                </a:rPr>
                <a:t>D</a:t>
              </a:r>
              <a:r>
                <a:rPr lang="en-US" b="0" baseline="-25000" dirty="0">
                  <a:latin typeface="+mn-lt"/>
                </a:rPr>
                <a:t>MAC</a:t>
              </a:r>
            </a:p>
          </p:txBody>
        </p:sp>
        <p:sp>
          <p:nvSpPr>
            <p:cNvPr id="41" name="Text Box 19"/>
            <p:cNvSpPr txBox="1">
              <a:spLocks noChangeArrowheads="1"/>
            </p:cNvSpPr>
            <p:nvPr/>
          </p:nvSpPr>
          <p:spPr bwMode="auto">
            <a:xfrm>
              <a:off x="3738396" y="2967722"/>
              <a:ext cx="646331" cy="3730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b="0" dirty="0">
                  <a:latin typeface="+mn-lt"/>
                </a:rPr>
                <a:t>E</a:t>
              </a:r>
              <a:r>
                <a:rPr lang="en-US" b="0" baseline="-25000" dirty="0">
                  <a:latin typeface="+mn-lt"/>
                </a:rPr>
                <a:t>MAC</a:t>
              </a:r>
            </a:p>
          </p:txBody>
        </p:sp>
        <p:sp>
          <p:nvSpPr>
            <p:cNvPr id="42" name="Text Box 19"/>
            <p:cNvSpPr txBox="1">
              <a:spLocks noChangeArrowheads="1"/>
            </p:cNvSpPr>
            <p:nvPr/>
          </p:nvSpPr>
          <p:spPr bwMode="auto">
            <a:xfrm>
              <a:off x="5006091" y="2947710"/>
              <a:ext cx="646331" cy="3730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b="0" dirty="0">
                  <a:latin typeface="+mn-lt"/>
                </a:rPr>
                <a:t>F</a:t>
              </a:r>
              <a:r>
                <a:rPr lang="en-US" b="0" baseline="-25000" dirty="0">
                  <a:latin typeface="+mn-lt"/>
                </a:rPr>
                <a:t>MAC</a:t>
              </a:r>
            </a:p>
          </p:txBody>
        </p:sp>
      </p:grp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686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“Routing” with broadcast Ethernet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685800" y="3311912"/>
            <a:ext cx="7924800" cy="2707888"/>
          </a:xfrm>
        </p:spPr>
        <p:txBody>
          <a:bodyPr/>
          <a:lstStyle/>
          <a:p>
            <a:r>
              <a:rPr lang="en-US" dirty="0"/>
              <a:t>Ethernet is “plug-n-play”</a:t>
            </a:r>
          </a:p>
          <a:p>
            <a:r>
              <a:rPr lang="en-US" dirty="0"/>
              <a:t>A new host plugs into the Ethernet and is good to go</a:t>
            </a:r>
          </a:p>
          <a:p>
            <a:pPr lvl="1"/>
            <a:r>
              <a:rPr lang="en-US" dirty="0"/>
              <a:t>No configuration by users or network operators</a:t>
            </a:r>
          </a:p>
          <a:p>
            <a:pPr lvl="1"/>
            <a:r>
              <a:rPr lang="en-US" dirty="0"/>
              <a:t>Broadcast as a means of </a:t>
            </a:r>
            <a:r>
              <a:rPr lang="en-US"/>
              <a:t>bootstrapping communication</a:t>
            </a:r>
            <a:endParaRPr lang="en-US" dirty="0"/>
          </a:p>
          <a:p>
            <a:endParaRPr lang="en-US" dirty="0"/>
          </a:p>
        </p:txBody>
      </p:sp>
      <p:grpSp>
        <p:nvGrpSpPr>
          <p:cNvPr id="68" name="Group 67"/>
          <p:cNvGrpSpPr/>
          <p:nvPr/>
        </p:nvGrpSpPr>
        <p:grpSpPr>
          <a:xfrm>
            <a:off x="2261240" y="1623765"/>
            <a:ext cx="4621521" cy="1551128"/>
            <a:chOff x="2261240" y="1791030"/>
            <a:chExt cx="4621521" cy="1551128"/>
          </a:xfrm>
        </p:grpSpPr>
        <p:sp>
          <p:nvSpPr>
            <p:cNvPr id="69" name="Text Box 19"/>
            <p:cNvSpPr txBox="1">
              <a:spLocks noChangeArrowheads="1"/>
            </p:cNvSpPr>
            <p:nvPr/>
          </p:nvSpPr>
          <p:spPr bwMode="auto">
            <a:xfrm>
              <a:off x="2387378" y="1791030"/>
              <a:ext cx="671979" cy="3730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b="0" dirty="0">
                  <a:latin typeface="+mn-lt"/>
                </a:rPr>
                <a:t>A</a:t>
              </a:r>
              <a:r>
                <a:rPr lang="en-US" b="0" baseline="-25000" dirty="0">
                  <a:latin typeface="+mn-lt"/>
                </a:rPr>
                <a:t>MAC</a:t>
              </a:r>
            </a:p>
          </p:txBody>
        </p:sp>
        <p:grpSp>
          <p:nvGrpSpPr>
            <p:cNvPr id="70" name="Group 69"/>
            <p:cNvGrpSpPr/>
            <p:nvPr/>
          </p:nvGrpSpPr>
          <p:grpSpPr>
            <a:xfrm>
              <a:off x="2261240" y="2232688"/>
              <a:ext cx="4621521" cy="731520"/>
              <a:chOff x="1929452" y="2266141"/>
              <a:chExt cx="4621521" cy="1201737"/>
            </a:xfrm>
          </p:grpSpPr>
          <p:sp>
            <p:nvSpPr>
              <p:cNvPr id="76" name="Rectangle 12"/>
              <p:cNvSpPr>
                <a:spLocks noChangeArrowheads="1"/>
              </p:cNvSpPr>
              <p:nvPr/>
            </p:nvSpPr>
            <p:spPr bwMode="auto">
              <a:xfrm>
                <a:off x="2820129" y="3242857"/>
                <a:ext cx="120650" cy="193900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77" name="Line 14"/>
              <p:cNvSpPr>
                <a:spLocks noChangeShapeType="1"/>
              </p:cNvSpPr>
              <p:nvPr/>
            </p:nvSpPr>
            <p:spPr bwMode="auto">
              <a:xfrm>
                <a:off x="4240213" y="2311843"/>
                <a:ext cx="0" cy="55542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78" name="Line 15"/>
              <p:cNvSpPr>
                <a:spLocks noChangeShapeType="1"/>
              </p:cNvSpPr>
              <p:nvPr/>
            </p:nvSpPr>
            <p:spPr bwMode="auto">
              <a:xfrm flipH="1">
                <a:off x="1929452" y="2848952"/>
                <a:ext cx="4621521" cy="0"/>
              </a:xfrm>
              <a:prstGeom prst="line">
                <a:avLst/>
              </a:prstGeom>
              <a:noFill/>
              <a:ln w="38100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79" name="Line 16"/>
              <p:cNvSpPr>
                <a:spLocks noChangeShapeType="1"/>
              </p:cNvSpPr>
              <p:nvPr/>
            </p:nvSpPr>
            <p:spPr bwMode="auto">
              <a:xfrm flipH="1" flipV="1">
                <a:off x="2858229" y="2852936"/>
                <a:ext cx="0" cy="38327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80" name="Rectangle 11"/>
              <p:cNvSpPr>
                <a:spLocks noChangeArrowheads="1"/>
              </p:cNvSpPr>
              <p:nvPr/>
            </p:nvSpPr>
            <p:spPr bwMode="auto">
              <a:xfrm>
                <a:off x="4180663" y="2266141"/>
                <a:ext cx="120650" cy="193899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81" name="Line 14"/>
              <p:cNvSpPr>
                <a:spLocks noChangeShapeType="1"/>
              </p:cNvSpPr>
              <p:nvPr/>
            </p:nvSpPr>
            <p:spPr bwMode="auto">
              <a:xfrm>
                <a:off x="6015386" y="2311843"/>
                <a:ext cx="0" cy="55542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82" name="Rectangle 11"/>
              <p:cNvSpPr>
                <a:spLocks noChangeArrowheads="1"/>
              </p:cNvSpPr>
              <p:nvPr/>
            </p:nvSpPr>
            <p:spPr bwMode="auto">
              <a:xfrm>
                <a:off x="5955836" y="2266141"/>
                <a:ext cx="120650" cy="193899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83" name="Line 14"/>
              <p:cNvSpPr>
                <a:spLocks noChangeShapeType="1"/>
              </p:cNvSpPr>
              <p:nvPr/>
            </p:nvSpPr>
            <p:spPr bwMode="auto">
              <a:xfrm>
                <a:off x="2371016" y="2311843"/>
                <a:ext cx="0" cy="55542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84" name="Rectangle 11"/>
              <p:cNvSpPr>
                <a:spLocks noChangeArrowheads="1"/>
              </p:cNvSpPr>
              <p:nvPr/>
            </p:nvSpPr>
            <p:spPr bwMode="auto">
              <a:xfrm>
                <a:off x="2311466" y="2266141"/>
                <a:ext cx="120650" cy="193899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85" name="Rectangle 12"/>
              <p:cNvSpPr>
                <a:spLocks noChangeArrowheads="1"/>
              </p:cNvSpPr>
              <p:nvPr/>
            </p:nvSpPr>
            <p:spPr bwMode="auto">
              <a:xfrm>
                <a:off x="3659188" y="3256179"/>
                <a:ext cx="120650" cy="193900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86" name="Line 16"/>
              <p:cNvSpPr>
                <a:spLocks noChangeShapeType="1"/>
              </p:cNvSpPr>
              <p:nvPr/>
            </p:nvSpPr>
            <p:spPr bwMode="auto">
              <a:xfrm flipH="1" flipV="1">
                <a:off x="3697288" y="2866258"/>
                <a:ext cx="0" cy="38327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87" name="Rectangle 12"/>
              <p:cNvSpPr>
                <a:spLocks noChangeArrowheads="1"/>
              </p:cNvSpPr>
              <p:nvPr/>
            </p:nvSpPr>
            <p:spPr bwMode="auto">
              <a:xfrm>
                <a:off x="4863307" y="3273978"/>
                <a:ext cx="120650" cy="193900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88" name="Line 16"/>
              <p:cNvSpPr>
                <a:spLocks noChangeShapeType="1"/>
              </p:cNvSpPr>
              <p:nvPr/>
            </p:nvSpPr>
            <p:spPr bwMode="auto">
              <a:xfrm flipH="1" flipV="1">
                <a:off x="4901407" y="2884057"/>
                <a:ext cx="0" cy="38327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/>
              </a:p>
            </p:txBody>
          </p:sp>
        </p:grpSp>
        <p:sp>
          <p:nvSpPr>
            <p:cNvPr id="71" name="Text Box 19"/>
            <p:cNvSpPr txBox="1">
              <a:spLocks noChangeArrowheads="1"/>
            </p:cNvSpPr>
            <p:nvPr/>
          </p:nvSpPr>
          <p:spPr bwMode="auto">
            <a:xfrm>
              <a:off x="4225806" y="1791030"/>
              <a:ext cx="671979" cy="3730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b="0" dirty="0">
                  <a:latin typeface="+mn-lt"/>
                </a:rPr>
                <a:t>B</a:t>
              </a:r>
              <a:r>
                <a:rPr lang="en-US" b="0" baseline="-25000" dirty="0">
                  <a:latin typeface="+mn-lt"/>
                </a:rPr>
                <a:t>MAC</a:t>
              </a:r>
            </a:p>
          </p:txBody>
        </p:sp>
        <p:sp>
          <p:nvSpPr>
            <p:cNvPr id="72" name="Text Box 19"/>
            <p:cNvSpPr txBox="1">
              <a:spLocks noChangeArrowheads="1"/>
            </p:cNvSpPr>
            <p:nvPr/>
          </p:nvSpPr>
          <p:spPr bwMode="auto">
            <a:xfrm>
              <a:off x="6020901" y="1791030"/>
              <a:ext cx="671979" cy="3730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b="0" dirty="0">
                  <a:latin typeface="+mn-lt"/>
                </a:rPr>
                <a:t>C</a:t>
              </a:r>
              <a:r>
                <a:rPr lang="en-US" b="0" baseline="-25000" dirty="0">
                  <a:latin typeface="+mn-lt"/>
                </a:rPr>
                <a:t>MAC</a:t>
              </a:r>
            </a:p>
          </p:txBody>
        </p:sp>
        <p:sp>
          <p:nvSpPr>
            <p:cNvPr id="73" name="Text Box 19"/>
            <p:cNvSpPr txBox="1">
              <a:spLocks noChangeArrowheads="1"/>
            </p:cNvSpPr>
            <p:nvPr/>
          </p:nvSpPr>
          <p:spPr bwMode="auto">
            <a:xfrm>
              <a:off x="2896035" y="2969104"/>
              <a:ext cx="678758" cy="3730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b="0" dirty="0">
                  <a:latin typeface="+mn-lt"/>
                </a:rPr>
                <a:t>D</a:t>
              </a:r>
              <a:r>
                <a:rPr lang="en-US" b="0" baseline="-25000" dirty="0">
                  <a:latin typeface="+mn-lt"/>
                </a:rPr>
                <a:t>MAC</a:t>
              </a:r>
            </a:p>
          </p:txBody>
        </p:sp>
        <p:sp>
          <p:nvSpPr>
            <p:cNvPr id="74" name="Text Box 19"/>
            <p:cNvSpPr txBox="1">
              <a:spLocks noChangeArrowheads="1"/>
            </p:cNvSpPr>
            <p:nvPr/>
          </p:nvSpPr>
          <p:spPr bwMode="auto">
            <a:xfrm>
              <a:off x="3738396" y="2967722"/>
              <a:ext cx="646331" cy="3730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b="0" dirty="0">
                  <a:latin typeface="+mn-lt"/>
                </a:rPr>
                <a:t>E</a:t>
              </a:r>
              <a:r>
                <a:rPr lang="en-US" b="0" baseline="-25000" dirty="0">
                  <a:latin typeface="+mn-lt"/>
                </a:rPr>
                <a:t>MAC</a:t>
              </a:r>
            </a:p>
          </p:txBody>
        </p:sp>
        <p:sp>
          <p:nvSpPr>
            <p:cNvPr id="75" name="Text Box 19"/>
            <p:cNvSpPr txBox="1">
              <a:spLocks noChangeArrowheads="1"/>
            </p:cNvSpPr>
            <p:nvPr/>
          </p:nvSpPr>
          <p:spPr bwMode="auto">
            <a:xfrm>
              <a:off x="5006091" y="2947710"/>
              <a:ext cx="646331" cy="3730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b="0" dirty="0">
                  <a:latin typeface="+mn-lt"/>
                </a:rPr>
                <a:t>F</a:t>
              </a:r>
              <a:r>
                <a:rPr lang="en-US" b="0" baseline="-25000" dirty="0">
                  <a:latin typeface="+mn-lt"/>
                </a:rPr>
                <a:t>MAC</a:t>
              </a:r>
            </a:p>
          </p:txBody>
        </p:sp>
      </p:grp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285604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Why does Ethernet not use LS/DV?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Concerns over scalability  </a:t>
            </a:r>
          </a:p>
          <a:p>
            <a:pPr lvl="1"/>
            <a:r>
              <a:rPr lang="en-US" dirty="0"/>
              <a:t>Flat MAC addresses cannot be aggregated like IP addresses </a:t>
            </a:r>
          </a:p>
          <a:p>
            <a:r>
              <a:rPr lang="en-US" dirty="0"/>
              <a:t>Legacy</a:t>
            </a:r>
          </a:p>
          <a:p>
            <a:pPr lvl="1"/>
            <a:r>
              <a:rPr lang="en-US" dirty="0"/>
              <a:t>Backward compatibility with broadcast Ethernet </a:t>
            </a:r>
          </a:p>
          <a:p>
            <a:pPr lvl="1"/>
            <a:r>
              <a:rPr lang="en-US" dirty="0"/>
              <a:t>Desire to maintain Ethernet’s plug-n-play behavior</a:t>
            </a:r>
          </a:p>
          <a:p>
            <a:pPr lvl="1"/>
            <a:r>
              <a:rPr lang="en-US" dirty="0"/>
              <a:t>How broadcast Ethernet evolved</a:t>
            </a:r>
          </a:p>
          <a:p>
            <a:pPr lvl="1"/>
            <a:endParaRPr lang="en-US" dirty="0"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3864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5" name="Rectangle 2"/>
          <p:cNvSpPr>
            <a:spLocks noGrp="1" noChangeArrowheads="1"/>
          </p:cNvSpPr>
          <p:nvPr>
            <p:ph type="title"/>
          </p:nvPr>
        </p:nvSpPr>
        <p:spPr>
          <a:effectLst/>
        </p:spPr>
        <p:txBody>
          <a:bodyPr/>
          <a:lstStyle/>
          <a:p>
            <a:r>
              <a:rPr lang="en-US" dirty="0"/>
              <a:t>Routing in extended LANs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799563" y="1457779"/>
            <a:ext cx="3610194" cy="1041176"/>
            <a:chOff x="1929452" y="2330627"/>
            <a:chExt cx="4621521" cy="1288895"/>
          </a:xfrm>
          <a:effectLst/>
        </p:grpSpPr>
        <p:sp>
          <p:nvSpPr>
            <p:cNvPr id="58381" name="Rectangle 12"/>
            <p:cNvSpPr>
              <a:spLocks noChangeArrowheads="1"/>
            </p:cNvSpPr>
            <p:nvPr/>
          </p:nvSpPr>
          <p:spPr bwMode="auto">
            <a:xfrm>
              <a:off x="2820129" y="3378181"/>
              <a:ext cx="120650" cy="20796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8383" name="Line 14"/>
            <p:cNvSpPr>
              <a:spLocks noChangeShapeType="1"/>
            </p:cNvSpPr>
            <p:nvPr/>
          </p:nvSpPr>
          <p:spPr bwMode="auto">
            <a:xfrm>
              <a:off x="4240213" y="2379644"/>
              <a:ext cx="0" cy="59571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58384" name="Line 15"/>
            <p:cNvSpPr>
              <a:spLocks noChangeShapeType="1"/>
            </p:cNvSpPr>
            <p:nvPr/>
          </p:nvSpPr>
          <p:spPr bwMode="auto">
            <a:xfrm flipH="1">
              <a:off x="1929452" y="2975354"/>
              <a:ext cx="4621521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58385" name="Line 16"/>
            <p:cNvSpPr>
              <a:spLocks noChangeShapeType="1"/>
            </p:cNvSpPr>
            <p:nvPr/>
          </p:nvSpPr>
          <p:spPr bwMode="auto">
            <a:xfrm flipH="1" flipV="1">
              <a:off x="2858229" y="2959980"/>
              <a:ext cx="0" cy="4110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58380" name="Rectangle 11"/>
            <p:cNvSpPr>
              <a:spLocks noChangeArrowheads="1"/>
            </p:cNvSpPr>
            <p:nvPr/>
          </p:nvSpPr>
          <p:spPr bwMode="auto">
            <a:xfrm>
              <a:off x="4180663" y="2330627"/>
              <a:ext cx="120650" cy="207962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4" name="Line 14"/>
            <p:cNvSpPr>
              <a:spLocks noChangeShapeType="1"/>
            </p:cNvSpPr>
            <p:nvPr/>
          </p:nvSpPr>
          <p:spPr bwMode="auto">
            <a:xfrm>
              <a:off x="6015386" y="2379644"/>
              <a:ext cx="0" cy="59571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25" name="Rectangle 11"/>
            <p:cNvSpPr>
              <a:spLocks noChangeArrowheads="1"/>
            </p:cNvSpPr>
            <p:nvPr/>
          </p:nvSpPr>
          <p:spPr bwMode="auto">
            <a:xfrm>
              <a:off x="5955836" y="2330627"/>
              <a:ext cx="120650" cy="207962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" name="Line 14"/>
            <p:cNvSpPr>
              <a:spLocks noChangeShapeType="1"/>
            </p:cNvSpPr>
            <p:nvPr/>
          </p:nvSpPr>
          <p:spPr bwMode="auto">
            <a:xfrm>
              <a:off x="2371016" y="2379644"/>
              <a:ext cx="0" cy="59571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28" name="Rectangle 11"/>
            <p:cNvSpPr>
              <a:spLocks noChangeArrowheads="1"/>
            </p:cNvSpPr>
            <p:nvPr/>
          </p:nvSpPr>
          <p:spPr bwMode="auto">
            <a:xfrm>
              <a:off x="2311466" y="2330627"/>
              <a:ext cx="120650" cy="207962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0" name="Rectangle 12"/>
            <p:cNvSpPr>
              <a:spLocks noChangeArrowheads="1"/>
            </p:cNvSpPr>
            <p:nvPr/>
          </p:nvSpPr>
          <p:spPr bwMode="auto">
            <a:xfrm>
              <a:off x="3659188" y="3392469"/>
              <a:ext cx="120650" cy="20796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1" name="Line 16"/>
            <p:cNvSpPr>
              <a:spLocks noChangeShapeType="1"/>
            </p:cNvSpPr>
            <p:nvPr/>
          </p:nvSpPr>
          <p:spPr bwMode="auto">
            <a:xfrm flipH="1" flipV="1">
              <a:off x="3697288" y="2974268"/>
              <a:ext cx="0" cy="4110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33" name="Rectangle 12"/>
            <p:cNvSpPr>
              <a:spLocks noChangeArrowheads="1"/>
            </p:cNvSpPr>
            <p:nvPr/>
          </p:nvSpPr>
          <p:spPr bwMode="auto">
            <a:xfrm>
              <a:off x="4863307" y="3411559"/>
              <a:ext cx="120650" cy="20796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4" name="Line 16"/>
            <p:cNvSpPr>
              <a:spLocks noChangeShapeType="1"/>
            </p:cNvSpPr>
            <p:nvPr/>
          </p:nvSpPr>
          <p:spPr bwMode="auto">
            <a:xfrm flipH="1" flipV="1">
              <a:off x="4901407" y="2993358"/>
              <a:ext cx="0" cy="4110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46" name="Group 45"/>
          <p:cNvGrpSpPr/>
          <p:nvPr/>
        </p:nvGrpSpPr>
        <p:grpSpPr>
          <a:xfrm>
            <a:off x="1863263" y="2749700"/>
            <a:ext cx="5362667" cy="1041175"/>
            <a:chOff x="1929452" y="2330627"/>
            <a:chExt cx="4621521" cy="1288895"/>
          </a:xfrm>
          <a:effectLst/>
        </p:grpSpPr>
        <p:sp>
          <p:nvSpPr>
            <p:cNvPr id="47" name="Rectangle 12"/>
            <p:cNvSpPr>
              <a:spLocks noChangeArrowheads="1"/>
            </p:cNvSpPr>
            <p:nvPr/>
          </p:nvSpPr>
          <p:spPr bwMode="auto">
            <a:xfrm>
              <a:off x="2820129" y="3378181"/>
              <a:ext cx="120650" cy="20796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9" name="Line 15"/>
            <p:cNvSpPr>
              <a:spLocks noChangeShapeType="1"/>
            </p:cNvSpPr>
            <p:nvPr/>
          </p:nvSpPr>
          <p:spPr bwMode="auto">
            <a:xfrm flipH="1">
              <a:off x="1929452" y="2975354"/>
              <a:ext cx="4621521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50" name="Line 16"/>
            <p:cNvSpPr>
              <a:spLocks noChangeShapeType="1"/>
            </p:cNvSpPr>
            <p:nvPr/>
          </p:nvSpPr>
          <p:spPr bwMode="auto">
            <a:xfrm flipH="1" flipV="1">
              <a:off x="2858229" y="2959980"/>
              <a:ext cx="0" cy="4110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53" name="Line 14"/>
            <p:cNvSpPr>
              <a:spLocks noChangeShapeType="1"/>
            </p:cNvSpPr>
            <p:nvPr/>
          </p:nvSpPr>
          <p:spPr bwMode="auto">
            <a:xfrm>
              <a:off x="6015386" y="2379644"/>
              <a:ext cx="0" cy="59571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54" name="Rectangle 11"/>
            <p:cNvSpPr>
              <a:spLocks noChangeArrowheads="1"/>
            </p:cNvSpPr>
            <p:nvPr/>
          </p:nvSpPr>
          <p:spPr bwMode="auto">
            <a:xfrm>
              <a:off x="5955836" y="2330627"/>
              <a:ext cx="120650" cy="207962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7" name="Rectangle 12"/>
            <p:cNvSpPr>
              <a:spLocks noChangeArrowheads="1"/>
            </p:cNvSpPr>
            <p:nvPr/>
          </p:nvSpPr>
          <p:spPr bwMode="auto">
            <a:xfrm>
              <a:off x="3659188" y="3392469"/>
              <a:ext cx="120650" cy="20796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8" name="Line 16"/>
            <p:cNvSpPr>
              <a:spLocks noChangeShapeType="1"/>
            </p:cNvSpPr>
            <p:nvPr/>
          </p:nvSpPr>
          <p:spPr bwMode="auto">
            <a:xfrm flipH="1" flipV="1">
              <a:off x="3697288" y="2974268"/>
              <a:ext cx="0" cy="4110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59" name="Rectangle 12"/>
            <p:cNvSpPr>
              <a:spLocks noChangeArrowheads="1"/>
            </p:cNvSpPr>
            <p:nvPr/>
          </p:nvSpPr>
          <p:spPr bwMode="auto">
            <a:xfrm>
              <a:off x="4863307" y="3411559"/>
              <a:ext cx="120650" cy="20796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0" name="Line 16"/>
            <p:cNvSpPr>
              <a:spLocks noChangeShapeType="1"/>
            </p:cNvSpPr>
            <p:nvPr/>
          </p:nvSpPr>
          <p:spPr bwMode="auto">
            <a:xfrm flipH="1" flipV="1">
              <a:off x="4901407" y="2993358"/>
              <a:ext cx="0" cy="4110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66" name="Group 65"/>
          <p:cNvGrpSpPr/>
          <p:nvPr/>
        </p:nvGrpSpPr>
        <p:grpSpPr>
          <a:xfrm>
            <a:off x="334660" y="4225371"/>
            <a:ext cx="3610194" cy="1041175"/>
            <a:chOff x="1929452" y="2330627"/>
            <a:chExt cx="4621521" cy="1288895"/>
          </a:xfrm>
          <a:effectLst/>
        </p:grpSpPr>
        <p:sp>
          <p:nvSpPr>
            <p:cNvPr id="67" name="Rectangle 12"/>
            <p:cNvSpPr>
              <a:spLocks noChangeArrowheads="1"/>
            </p:cNvSpPr>
            <p:nvPr/>
          </p:nvSpPr>
          <p:spPr bwMode="auto">
            <a:xfrm>
              <a:off x="2820129" y="3378181"/>
              <a:ext cx="120650" cy="20796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8" name="Line 15"/>
            <p:cNvSpPr>
              <a:spLocks noChangeShapeType="1"/>
            </p:cNvSpPr>
            <p:nvPr/>
          </p:nvSpPr>
          <p:spPr bwMode="auto">
            <a:xfrm flipH="1">
              <a:off x="1929452" y="2975354"/>
              <a:ext cx="4621521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69" name="Line 16"/>
            <p:cNvSpPr>
              <a:spLocks noChangeShapeType="1"/>
            </p:cNvSpPr>
            <p:nvPr/>
          </p:nvSpPr>
          <p:spPr bwMode="auto">
            <a:xfrm flipH="1" flipV="1">
              <a:off x="2858229" y="2959980"/>
              <a:ext cx="0" cy="4110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70" name="Line 14"/>
            <p:cNvSpPr>
              <a:spLocks noChangeShapeType="1"/>
            </p:cNvSpPr>
            <p:nvPr/>
          </p:nvSpPr>
          <p:spPr bwMode="auto">
            <a:xfrm>
              <a:off x="6015386" y="2379644"/>
              <a:ext cx="0" cy="59571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71" name="Rectangle 11"/>
            <p:cNvSpPr>
              <a:spLocks noChangeArrowheads="1"/>
            </p:cNvSpPr>
            <p:nvPr/>
          </p:nvSpPr>
          <p:spPr bwMode="auto">
            <a:xfrm>
              <a:off x="5955836" y="2330627"/>
              <a:ext cx="120650" cy="207962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2" name="Rectangle 12"/>
            <p:cNvSpPr>
              <a:spLocks noChangeArrowheads="1"/>
            </p:cNvSpPr>
            <p:nvPr/>
          </p:nvSpPr>
          <p:spPr bwMode="auto">
            <a:xfrm>
              <a:off x="3659188" y="3392469"/>
              <a:ext cx="120650" cy="20796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3" name="Line 16"/>
            <p:cNvSpPr>
              <a:spLocks noChangeShapeType="1"/>
            </p:cNvSpPr>
            <p:nvPr/>
          </p:nvSpPr>
          <p:spPr bwMode="auto">
            <a:xfrm flipH="1" flipV="1">
              <a:off x="3697288" y="2974268"/>
              <a:ext cx="0" cy="4110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74" name="Rectangle 12"/>
            <p:cNvSpPr>
              <a:spLocks noChangeArrowheads="1"/>
            </p:cNvSpPr>
            <p:nvPr/>
          </p:nvSpPr>
          <p:spPr bwMode="auto">
            <a:xfrm>
              <a:off x="4863307" y="3411559"/>
              <a:ext cx="120650" cy="20796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5" name="Line 16"/>
            <p:cNvSpPr>
              <a:spLocks noChangeShapeType="1"/>
            </p:cNvSpPr>
            <p:nvPr/>
          </p:nvSpPr>
          <p:spPr bwMode="auto">
            <a:xfrm flipH="1" flipV="1">
              <a:off x="4901407" y="2993358"/>
              <a:ext cx="0" cy="4110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76" name="Group 75"/>
          <p:cNvGrpSpPr/>
          <p:nvPr/>
        </p:nvGrpSpPr>
        <p:grpSpPr>
          <a:xfrm>
            <a:off x="4730255" y="4209950"/>
            <a:ext cx="3610194" cy="1041175"/>
            <a:chOff x="1929452" y="2330627"/>
            <a:chExt cx="4621521" cy="1288895"/>
          </a:xfrm>
          <a:effectLst/>
        </p:grpSpPr>
        <p:sp>
          <p:nvSpPr>
            <p:cNvPr id="77" name="Rectangle 12"/>
            <p:cNvSpPr>
              <a:spLocks noChangeArrowheads="1"/>
            </p:cNvSpPr>
            <p:nvPr/>
          </p:nvSpPr>
          <p:spPr bwMode="auto">
            <a:xfrm>
              <a:off x="2820129" y="3378181"/>
              <a:ext cx="120650" cy="20796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8" name="Line 15"/>
            <p:cNvSpPr>
              <a:spLocks noChangeShapeType="1"/>
            </p:cNvSpPr>
            <p:nvPr/>
          </p:nvSpPr>
          <p:spPr bwMode="auto">
            <a:xfrm flipH="1">
              <a:off x="1929452" y="2975354"/>
              <a:ext cx="4621521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79" name="Line 16"/>
            <p:cNvSpPr>
              <a:spLocks noChangeShapeType="1"/>
            </p:cNvSpPr>
            <p:nvPr/>
          </p:nvSpPr>
          <p:spPr bwMode="auto">
            <a:xfrm flipH="1" flipV="1">
              <a:off x="2858229" y="2959980"/>
              <a:ext cx="0" cy="4110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80" name="Line 14"/>
            <p:cNvSpPr>
              <a:spLocks noChangeShapeType="1"/>
            </p:cNvSpPr>
            <p:nvPr/>
          </p:nvSpPr>
          <p:spPr bwMode="auto">
            <a:xfrm>
              <a:off x="6015386" y="2379644"/>
              <a:ext cx="0" cy="59571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81" name="Rectangle 11"/>
            <p:cNvSpPr>
              <a:spLocks noChangeArrowheads="1"/>
            </p:cNvSpPr>
            <p:nvPr/>
          </p:nvSpPr>
          <p:spPr bwMode="auto">
            <a:xfrm>
              <a:off x="5955836" y="2330627"/>
              <a:ext cx="120650" cy="207962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" name="Rectangle 12"/>
            <p:cNvSpPr>
              <a:spLocks noChangeArrowheads="1"/>
            </p:cNvSpPr>
            <p:nvPr/>
          </p:nvSpPr>
          <p:spPr bwMode="auto">
            <a:xfrm>
              <a:off x="3659188" y="3392469"/>
              <a:ext cx="120650" cy="20796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3" name="Line 16"/>
            <p:cNvSpPr>
              <a:spLocks noChangeShapeType="1"/>
            </p:cNvSpPr>
            <p:nvPr/>
          </p:nvSpPr>
          <p:spPr bwMode="auto">
            <a:xfrm flipH="1" flipV="1">
              <a:off x="3697288" y="2974268"/>
              <a:ext cx="0" cy="4110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84" name="Rectangle 12"/>
            <p:cNvSpPr>
              <a:spLocks noChangeArrowheads="1"/>
            </p:cNvSpPr>
            <p:nvPr/>
          </p:nvSpPr>
          <p:spPr bwMode="auto">
            <a:xfrm>
              <a:off x="4863307" y="3411559"/>
              <a:ext cx="120650" cy="20796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5" name="Line 16"/>
            <p:cNvSpPr>
              <a:spLocks noChangeShapeType="1"/>
            </p:cNvSpPr>
            <p:nvPr/>
          </p:nvSpPr>
          <p:spPr bwMode="auto">
            <a:xfrm flipH="1" flipV="1">
              <a:off x="4901407" y="2993358"/>
              <a:ext cx="0" cy="4110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</p:grpSp>
      <p:sp>
        <p:nvSpPr>
          <p:cNvPr id="5" name="TextBox 4"/>
          <p:cNvSpPr txBox="1"/>
          <p:nvPr/>
        </p:nvSpPr>
        <p:spPr>
          <a:xfrm>
            <a:off x="5164606" y="1357957"/>
            <a:ext cx="1569773" cy="646331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Local-Area</a:t>
            </a:r>
            <a:br>
              <a:rPr lang="en-US" dirty="0">
                <a:solidFill>
                  <a:srgbClr val="0000FF"/>
                </a:solidFill>
              </a:rPr>
            </a:br>
            <a:r>
              <a:rPr lang="en-US" dirty="0">
                <a:solidFill>
                  <a:srgbClr val="0000FF"/>
                </a:solidFill>
              </a:rPr>
              <a:t>Network (LAN)</a:t>
            </a:r>
          </a:p>
        </p:txBody>
      </p:sp>
      <p:cxnSp>
        <p:nvCxnSpPr>
          <p:cNvPr id="7" name="Straight Arrow Connector 6"/>
          <p:cNvCxnSpPr>
            <a:stCxn id="5" idx="1"/>
          </p:cNvCxnSpPr>
          <p:nvPr/>
        </p:nvCxnSpPr>
        <p:spPr>
          <a:xfrm flipH="1">
            <a:off x="4409757" y="1681123"/>
            <a:ext cx="754849" cy="296202"/>
          </a:xfrm>
          <a:prstGeom prst="straightConnector1">
            <a:avLst/>
          </a:prstGeom>
          <a:ln>
            <a:solidFill>
              <a:schemeClr val="tx1"/>
            </a:solidFill>
            <a:prstDash val="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/>
          <p:cNvCxnSpPr/>
          <p:nvPr/>
        </p:nvCxnSpPr>
        <p:spPr>
          <a:xfrm>
            <a:off x="6175721" y="1973934"/>
            <a:ext cx="0" cy="1284160"/>
          </a:xfrm>
          <a:prstGeom prst="straightConnector1">
            <a:avLst/>
          </a:prstGeom>
          <a:ln>
            <a:solidFill>
              <a:schemeClr val="tx1"/>
            </a:solidFill>
            <a:prstDash val="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" name="Group 10"/>
          <p:cNvGrpSpPr/>
          <p:nvPr/>
        </p:nvGrpSpPr>
        <p:grpSpPr>
          <a:xfrm>
            <a:off x="3437618" y="1973934"/>
            <a:ext cx="287716" cy="1294744"/>
            <a:chOff x="3437618" y="2441030"/>
            <a:chExt cx="287716" cy="1294744"/>
          </a:xfrm>
          <a:effectLst/>
        </p:grpSpPr>
        <p:sp>
          <p:nvSpPr>
            <p:cNvPr id="10" name="Rounded Rectangle 9"/>
            <p:cNvSpPr/>
            <p:nvPr/>
          </p:nvSpPr>
          <p:spPr>
            <a:xfrm>
              <a:off x="3437618" y="2922707"/>
              <a:ext cx="287716" cy="322311"/>
            </a:xfrm>
            <a:prstGeom prst="roundRect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tx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12"/>
            <p:cNvSpPr>
              <a:spLocks noChangeArrowheads="1"/>
            </p:cNvSpPr>
            <p:nvPr/>
          </p:nvSpPr>
          <p:spPr bwMode="auto">
            <a:xfrm>
              <a:off x="3540134" y="2778854"/>
              <a:ext cx="94248" cy="167994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2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9" name="Line 16"/>
            <p:cNvSpPr>
              <a:spLocks noChangeShapeType="1"/>
            </p:cNvSpPr>
            <p:nvPr/>
          </p:nvSpPr>
          <p:spPr bwMode="auto">
            <a:xfrm flipH="1" flipV="1">
              <a:off x="3569896" y="2441030"/>
              <a:ext cx="0" cy="332068"/>
            </a:xfrm>
            <a:prstGeom prst="line">
              <a:avLst/>
            </a:prstGeom>
            <a:noFill/>
            <a:ln w="28575" cmpd="sng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90" name="Line 14"/>
            <p:cNvSpPr>
              <a:spLocks noChangeShapeType="1"/>
            </p:cNvSpPr>
            <p:nvPr/>
          </p:nvSpPr>
          <p:spPr bwMode="auto">
            <a:xfrm>
              <a:off x="3579091" y="3254557"/>
              <a:ext cx="0" cy="481217"/>
            </a:xfrm>
            <a:prstGeom prst="line">
              <a:avLst/>
            </a:prstGeom>
            <a:noFill/>
            <a:ln w="28575" cmpd="sng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91" name="Rectangle 11"/>
            <p:cNvSpPr>
              <a:spLocks noChangeArrowheads="1"/>
            </p:cNvSpPr>
            <p:nvPr/>
          </p:nvSpPr>
          <p:spPr bwMode="auto">
            <a:xfrm>
              <a:off x="3509991" y="3214961"/>
              <a:ext cx="139998" cy="16799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2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92" name="Group 91"/>
          <p:cNvGrpSpPr/>
          <p:nvPr/>
        </p:nvGrpSpPr>
        <p:grpSpPr>
          <a:xfrm>
            <a:off x="2036686" y="3258094"/>
            <a:ext cx="287716" cy="1488090"/>
            <a:chOff x="3437618" y="2441030"/>
            <a:chExt cx="287716" cy="1294744"/>
          </a:xfrm>
          <a:effectLst/>
        </p:grpSpPr>
        <p:sp>
          <p:nvSpPr>
            <p:cNvPr id="93" name="Rounded Rectangle 92"/>
            <p:cNvSpPr/>
            <p:nvPr/>
          </p:nvSpPr>
          <p:spPr>
            <a:xfrm>
              <a:off x="3437618" y="2922707"/>
              <a:ext cx="287716" cy="322311"/>
            </a:xfrm>
            <a:prstGeom prst="roundRect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tx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Rectangle 12"/>
            <p:cNvSpPr>
              <a:spLocks noChangeArrowheads="1"/>
            </p:cNvSpPr>
            <p:nvPr/>
          </p:nvSpPr>
          <p:spPr bwMode="auto">
            <a:xfrm>
              <a:off x="3540134" y="2778854"/>
              <a:ext cx="94248" cy="167994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2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5" name="Line 16"/>
            <p:cNvSpPr>
              <a:spLocks noChangeShapeType="1"/>
            </p:cNvSpPr>
            <p:nvPr/>
          </p:nvSpPr>
          <p:spPr bwMode="auto">
            <a:xfrm flipH="1" flipV="1">
              <a:off x="3569896" y="2441030"/>
              <a:ext cx="0" cy="332068"/>
            </a:xfrm>
            <a:prstGeom prst="line">
              <a:avLst/>
            </a:prstGeom>
            <a:noFill/>
            <a:ln w="28575" cmpd="sng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96" name="Line 14"/>
            <p:cNvSpPr>
              <a:spLocks noChangeShapeType="1"/>
            </p:cNvSpPr>
            <p:nvPr/>
          </p:nvSpPr>
          <p:spPr bwMode="auto">
            <a:xfrm>
              <a:off x="3579091" y="3254557"/>
              <a:ext cx="0" cy="481217"/>
            </a:xfrm>
            <a:prstGeom prst="line">
              <a:avLst/>
            </a:prstGeom>
            <a:noFill/>
            <a:ln w="28575" cmpd="sng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97" name="Rectangle 11"/>
            <p:cNvSpPr>
              <a:spLocks noChangeArrowheads="1"/>
            </p:cNvSpPr>
            <p:nvPr/>
          </p:nvSpPr>
          <p:spPr bwMode="auto">
            <a:xfrm>
              <a:off x="3509991" y="3214961"/>
              <a:ext cx="139998" cy="16799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2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98" name="Group 97"/>
          <p:cNvGrpSpPr/>
          <p:nvPr/>
        </p:nvGrpSpPr>
        <p:grpSpPr>
          <a:xfrm>
            <a:off x="3082175" y="4713181"/>
            <a:ext cx="331522" cy="1371118"/>
            <a:chOff x="3437618" y="2441030"/>
            <a:chExt cx="287716" cy="1294744"/>
          </a:xfrm>
          <a:effectLst/>
        </p:grpSpPr>
        <p:sp>
          <p:nvSpPr>
            <p:cNvPr id="99" name="Rounded Rectangle 98"/>
            <p:cNvSpPr/>
            <p:nvPr/>
          </p:nvSpPr>
          <p:spPr>
            <a:xfrm>
              <a:off x="3437618" y="2922707"/>
              <a:ext cx="287716" cy="322311"/>
            </a:xfrm>
            <a:prstGeom prst="roundRect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tx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Rectangle 12"/>
            <p:cNvSpPr>
              <a:spLocks noChangeArrowheads="1"/>
            </p:cNvSpPr>
            <p:nvPr/>
          </p:nvSpPr>
          <p:spPr bwMode="auto">
            <a:xfrm>
              <a:off x="3540134" y="2778854"/>
              <a:ext cx="94248" cy="167994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2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1" name="Line 16"/>
            <p:cNvSpPr>
              <a:spLocks noChangeShapeType="1"/>
            </p:cNvSpPr>
            <p:nvPr/>
          </p:nvSpPr>
          <p:spPr bwMode="auto">
            <a:xfrm flipH="1" flipV="1">
              <a:off x="3569896" y="2441030"/>
              <a:ext cx="0" cy="332068"/>
            </a:xfrm>
            <a:prstGeom prst="line">
              <a:avLst/>
            </a:prstGeom>
            <a:noFill/>
            <a:ln w="28575" cmpd="sng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2" name="Line 14"/>
            <p:cNvSpPr>
              <a:spLocks noChangeShapeType="1"/>
            </p:cNvSpPr>
            <p:nvPr/>
          </p:nvSpPr>
          <p:spPr bwMode="auto">
            <a:xfrm>
              <a:off x="3579091" y="3254557"/>
              <a:ext cx="0" cy="481217"/>
            </a:xfrm>
            <a:prstGeom prst="line">
              <a:avLst/>
            </a:prstGeom>
            <a:noFill/>
            <a:ln w="28575" cmpd="sng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3" name="Rectangle 11"/>
            <p:cNvSpPr>
              <a:spLocks noChangeArrowheads="1"/>
            </p:cNvSpPr>
            <p:nvPr/>
          </p:nvSpPr>
          <p:spPr bwMode="auto">
            <a:xfrm>
              <a:off x="3509991" y="3214961"/>
              <a:ext cx="139998" cy="16799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2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04" name="TextBox 103"/>
          <p:cNvSpPr txBox="1"/>
          <p:nvPr/>
        </p:nvSpPr>
        <p:spPr>
          <a:xfrm>
            <a:off x="27604" y="2777922"/>
            <a:ext cx="2079415" cy="830997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0000FF"/>
                </a:solidFill>
              </a:rPr>
              <a:t>Bridges</a:t>
            </a:r>
            <a:r>
              <a:rPr lang="en-US" b="0" dirty="0">
                <a:solidFill>
                  <a:srgbClr val="0000FF"/>
                </a:solidFill>
              </a:rPr>
              <a:t> relay</a:t>
            </a:r>
            <a:br>
              <a:rPr lang="en-US" b="0" dirty="0">
                <a:solidFill>
                  <a:srgbClr val="0000FF"/>
                </a:solidFill>
              </a:rPr>
            </a:br>
            <a:r>
              <a:rPr lang="en-US" b="0" dirty="0">
                <a:solidFill>
                  <a:srgbClr val="0000FF"/>
                </a:solidFill>
              </a:rPr>
              <a:t>broadcasts from</a:t>
            </a:r>
            <a:br>
              <a:rPr lang="en-US" b="0" dirty="0">
                <a:solidFill>
                  <a:srgbClr val="0000FF"/>
                </a:solidFill>
              </a:rPr>
            </a:br>
            <a:r>
              <a:rPr lang="en-US" b="0" dirty="0">
                <a:solidFill>
                  <a:srgbClr val="0000FF"/>
                </a:solidFill>
              </a:rPr>
              <a:t>one LAN to the other</a:t>
            </a:r>
          </a:p>
        </p:txBody>
      </p:sp>
      <p:cxnSp>
        <p:nvCxnSpPr>
          <p:cNvPr id="105" name="Straight Arrow Connector 104"/>
          <p:cNvCxnSpPr>
            <a:endCxn id="93" idx="1"/>
          </p:cNvCxnSpPr>
          <p:nvPr/>
        </p:nvCxnSpPr>
        <p:spPr>
          <a:xfrm>
            <a:off x="1192229" y="3701252"/>
            <a:ext cx="844457" cy="295670"/>
          </a:xfrm>
          <a:prstGeom prst="straightConnector1">
            <a:avLst/>
          </a:prstGeom>
          <a:ln>
            <a:solidFill>
              <a:srgbClr val="E46C0A"/>
            </a:solidFill>
            <a:prstDash val="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/>
          <p:cNvCxnSpPr>
            <a:endCxn id="10" idx="1"/>
          </p:cNvCxnSpPr>
          <p:nvPr/>
        </p:nvCxnSpPr>
        <p:spPr>
          <a:xfrm flipV="1">
            <a:off x="1715641" y="2616767"/>
            <a:ext cx="1721977" cy="300926"/>
          </a:xfrm>
          <a:prstGeom prst="straightConnector1">
            <a:avLst/>
          </a:prstGeom>
          <a:ln>
            <a:solidFill>
              <a:srgbClr val="E46C0A"/>
            </a:solidFill>
            <a:prstDash val="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9" name="Group 108"/>
          <p:cNvGrpSpPr/>
          <p:nvPr/>
        </p:nvGrpSpPr>
        <p:grpSpPr>
          <a:xfrm>
            <a:off x="6734379" y="3230254"/>
            <a:ext cx="287716" cy="1488090"/>
            <a:chOff x="3437618" y="2441030"/>
            <a:chExt cx="287716" cy="1294744"/>
          </a:xfrm>
          <a:effectLst/>
        </p:grpSpPr>
        <p:sp>
          <p:nvSpPr>
            <p:cNvPr id="110" name="Rounded Rectangle 109"/>
            <p:cNvSpPr/>
            <p:nvPr/>
          </p:nvSpPr>
          <p:spPr>
            <a:xfrm>
              <a:off x="3437618" y="2922707"/>
              <a:ext cx="287716" cy="322311"/>
            </a:xfrm>
            <a:prstGeom prst="roundRect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tx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Rectangle 12"/>
            <p:cNvSpPr>
              <a:spLocks noChangeArrowheads="1"/>
            </p:cNvSpPr>
            <p:nvPr/>
          </p:nvSpPr>
          <p:spPr bwMode="auto">
            <a:xfrm>
              <a:off x="3540134" y="2778854"/>
              <a:ext cx="94248" cy="167994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2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12" name="Line 16"/>
            <p:cNvSpPr>
              <a:spLocks noChangeShapeType="1"/>
            </p:cNvSpPr>
            <p:nvPr/>
          </p:nvSpPr>
          <p:spPr bwMode="auto">
            <a:xfrm flipH="1" flipV="1">
              <a:off x="3569896" y="2441030"/>
              <a:ext cx="0" cy="332068"/>
            </a:xfrm>
            <a:prstGeom prst="line">
              <a:avLst/>
            </a:prstGeom>
            <a:noFill/>
            <a:ln w="28575" cmpd="sng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13" name="Line 14"/>
            <p:cNvSpPr>
              <a:spLocks noChangeShapeType="1"/>
            </p:cNvSpPr>
            <p:nvPr/>
          </p:nvSpPr>
          <p:spPr bwMode="auto">
            <a:xfrm>
              <a:off x="3579091" y="3254557"/>
              <a:ext cx="0" cy="481217"/>
            </a:xfrm>
            <a:prstGeom prst="line">
              <a:avLst/>
            </a:prstGeom>
            <a:noFill/>
            <a:ln w="28575" cmpd="sng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14" name="Rectangle 11"/>
            <p:cNvSpPr>
              <a:spLocks noChangeArrowheads="1"/>
            </p:cNvSpPr>
            <p:nvPr/>
          </p:nvSpPr>
          <p:spPr bwMode="auto">
            <a:xfrm>
              <a:off x="3509991" y="3214961"/>
              <a:ext cx="139998" cy="16799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2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117" name="Group 116"/>
          <p:cNvGrpSpPr/>
          <p:nvPr/>
        </p:nvGrpSpPr>
        <p:grpSpPr>
          <a:xfrm>
            <a:off x="2717927" y="5575905"/>
            <a:ext cx="3610194" cy="1041175"/>
            <a:chOff x="1929452" y="2330627"/>
            <a:chExt cx="4621521" cy="1288895"/>
          </a:xfrm>
          <a:effectLst/>
        </p:grpSpPr>
        <p:sp>
          <p:nvSpPr>
            <p:cNvPr id="118" name="Rectangle 12"/>
            <p:cNvSpPr>
              <a:spLocks noChangeArrowheads="1"/>
            </p:cNvSpPr>
            <p:nvPr/>
          </p:nvSpPr>
          <p:spPr bwMode="auto">
            <a:xfrm>
              <a:off x="2820129" y="3378181"/>
              <a:ext cx="120650" cy="20796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19" name="Line 15"/>
            <p:cNvSpPr>
              <a:spLocks noChangeShapeType="1"/>
            </p:cNvSpPr>
            <p:nvPr/>
          </p:nvSpPr>
          <p:spPr bwMode="auto">
            <a:xfrm flipH="1">
              <a:off x="1929452" y="2975354"/>
              <a:ext cx="4621521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20" name="Line 16"/>
            <p:cNvSpPr>
              <a:spLocks noChangeShapeType="1"/>
            </p:cNvSpPr>
            <p:nvPr/>
          </p:nvSpPr>
          <p:spPr bwMode="auto">
            <a:xfrm flipH="1" flipV="1">
              <a:off x="2858229" y="2959980"/>
              <a:ext cx="0" cy="4110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21" name="Line 14"/>
            <p:cNvSpPr>
              <a:spLocks noChangeShapeType="1"/>
            </p:cNvSpPr>
            <p:nvPr/>
          </p:nvSpPr>
          <p:spPr bwMode="auto">
            <a:xfrm>
              <a:off x="6015386" y="2379644"/>
              <a:ext cx="0" cy="59571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22" name="Rectangle 11"/>
            <p:cNvSpPr>
              <a:spLocks noChangeArrowheads="1"/>
            </p:cNvSpPr>
            <p:nvPr/>
          </p:nvSpPr>
          <p:spPr bwMode="auto">
            <a:xfrm>
              <a:off x="5955836" y="2330627"/>
              <a:ext cx="120650" cy="207962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3" name="Rectangle 12"/>
            <p:cNvSpPr>
              <a:spLocks noChangeArrowheads="1"/>
            </p:cNvSpPr>
            <p:nvPr/>
          </p:nvSpPr>
          <p:spPr bwMode="auto">
            <a:xfrm>
              <a:off x="3659188" y="3392469"/>
              <a:ext cx="120650" cy="20796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4" name="Line 16"/>
            <p:cNvSpPr>
              <a:spLocks noChangeShapeType="1"/>
            </p:cNvSpPr>
            <p:nvPr/>
          </p:nvSpPr>
          <p:spPr bwMode="auto">
            <a:xfrm flipH="1" flipV="1">
              <a:off x="3697288" y="2974268"/>
              <a:ext cx="0" cy="4110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25" name="Rectangle 12"/>
            <p:cNvSpPr>
              <a:spLocks noChangeArrowheads="1"/>
            </p:cNvSpPr>
            <p:nvPr/>
          </p:nvSpPr>
          <p:spPr bwMode="auto">
            <a:xfrm>
              <a:off x="4863307" y="3411559"/>
              <a:ext cx="120650" cy="20796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6" name="Line 16"/>
            <p:cNvSpPr>
              <a:spLocks noChangeShapeType="1"/>
            </p:cNvSpPr>
            <p:nvPr/>
          </p:nvSpPr>
          <p:spPr bwMode="auto">
            <a:xfrm flipH="1" flipV="1">
              <a:off x="4901407" y="2993358"/>
              <a:ext cx="0" cy="4110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127" name="Group 126"/>
          <p:cNvGrpSpPr/>
          <p:nvPr/>
        </p:nvGrpSpPr>
        <p:grpSpPr>
          <a:xfrm>
            <a:off x="5039529" y="4713181"/>
            <a:ext cx="287716" cy="1371118"/>
            <a:chOff x="3437618" y="2441030"/>
            <a:chExt cx="287716" cy="1294744"/>
          </a:xfrm>
          <a:effectLst/>
        </p:grpSpPr>
        <p:sp>
          <p:nvSpPr>
            <p:cNvPr id="128" name="Rounded Rectangle 127"/>
            <p:cNvSpPr/>
            <p:nvPr/>
          </p:nvSpPr>
          <p:spPr>
            <a:xfrm>
              <a:off x="3437618" y="2922707"/>
              <a:ext cx="287716" cy="322311"/>
            </a:xfrm>
            <a:prstGeom prst="roundRect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tx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Rectangle 12"/>
            <p:cNvSpPr>
              <a:spLocks noChangeArrowheads="1"/>
            </p:cNvSpPr>
            <p:nvPr/>
          </p:nvSpPr>
          <p:spPr bwMode="auto">
            <a:xfrm>
              <a:off x="3540134" y="2778854"/>
              <a:ext cx="94248" cy="167994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2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0" name="Line 16"/>
            <p:cNvSpPr>
              <a:spLocks noChangeShapeType="1"/>
            </p:cNvSpPr>
            <p:nvPr/>
          </p:nvSpPr>
          <p:spPr bwMode="auto">
            <a:xfrm flipH="1" flipV="1">
              <a:off x="3569896" y="2441030"/>
              <a:ext cx="0" cy="332068"/>
            </a:xfrm>
            <a:prstGeom prst="line">
              <a:avLst/>
            </a:prstGeom>
            <a:noFill/>
            <a:ln w="28575" cmpd="sng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31" name="Line 14"/>
            <p:cNvSpPr>
              <a:spLocks noChangeShapeType="1"/>
            </p:cNvSpPr>
            <p:nvPr/>
          </p:nvSpPr>
          <p:spPr bwMode="auto">
            <a:xfrm>
              <a:off x="3579091" y="3254557"/>
              <a:ext cx="0" cy="481217"/>
            </a:xfrm>
            <a:prstGeom prst="line">
              <a:avLst/>
            </a:prstGeom>
            <a:noFill/>
            <a:ln w="28575" cmpd="sng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32" name="Rectangle 11"/>
            <p:cNvSpPr>
              <a:spLocks noChangeArrowheads="1"/>
            </p:cNvSpPr>
            <p:nvPr/>
          </p:nvSpPr>
          <p:spPr bwMode="auto">
            <a:xfrm>
              <a:off x="3509991" y="3214961"/>
              <a:ext cx="139998" cy="16799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2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32355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“broadcast storm” problem</a:t>
            </a:r>
          </a:p>
        </p:txBody>
      </p:sp>
      <p:grpSp>
        <p:nvGrpSpPr>
          <p:cNvPr id="46" name="Group 45"/>
          <p:cNvGrpSpPr/>
          <p:nvPr/>
        </p:nvGrpSpPr>
        <p:grpSpPr>
          <a:xfrm>
            <a:off x="1863263" y="2749700"/>
            <a:ext cx="5362667" cy="1041175"/>
            <a:chOff x="1929452" y="2330627"/>
            <a:chExt cx="4621521" cy="1288895"/>
          </a:xfrm>
        </p:grpSpPr>
        <p:sp>
          <p:nvSpPr>
            <p:cNvPr id="47" name="Rectangle 12"/>
            <p:cNvSpPr>
              <a:spLocks noChangeArrowheads="1"/>
            </p:cNvSpPr>
            <p:nvPr/>
          </p:nvSpPr>
          <p:spPr bwMode="auto">
            <a:xfrm>
              <a:off x="2820129" y="3378181"/>
              <a:ext cx="120650" cy="20796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9" name="Line 15"/>
            <p:cNvSpPr>
              <a:spLocks noChangeShapeType="1"/>
            </p:cNvSpPr>
            <p:nvPr/>
          </p:nvSpPr>
          <p:spPr bwMode="auto">
            <a:xfrm flipH="1">
              <a:off x="1929452" y="2975354"/>
              <a:ext cx="4621521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50" name="Line 16"/>
            <p:cNvSpPr>
              <a:spLocks noChangeShapeType="1"/>
            </p:cNvSpPr>
            <p:nvPr/>
          </p:nvSpPr>
          <p:spPr bwMode="auto">
            <a:xfrm flipH="1" flipV="1">
              <a:off x="2858229" y="2959980"/>
              <a:ext cx="0" cy="4110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53" name="Line 14"/>
            <p:cNvSpPr>
              <a:spLocks noChangeShapeType="1"/>
            </p:cNvSpPr>
            <p:nvPr/>
          </p:nvSpPr>
          <p:spPr bwMode="auto">
            <a:xfrm>
              <a:off x="6015386" y="2379644"/>
              <a:ext cx="0" cy="59571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54" name="Rectangle 11"/>
            <p:cNvSpPr>
              <a:spLocks noChangeArrowheads="1"/>
            </p:cNvSpPr>
            <p:nvPr/>
          </p:nvSpPr>
          <p:spPr bwMode="auto">
            <a:xfrm>
              <a:off x="5955836" y="2330627"/>
              <a:ext cx="120650" cy="207962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7" name="Rectangle 12"/>
            <p:cNvSpPr>
              <a:spLocks noChangeArrowheads="1"/>
            </p:cNvSpPr>
            <p:nvPr/>
          </p:nvSpPr>
          <p:spPr bwMode="auto">
            <a:xfrm>
              <a:off x="3659188" y="3392469"/>
              <a:ext cx="120650" cy="20796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8" name="Line 16"/>
            <p:cNvSpPr>
              <a:spLocks noChangeShapeType="1"/>
            </p:cNvSpPr>
            <p:nvPr/>
          </p:nvSpPr>
          <p:spPr bwMode="auto">
            <a:xfrm flipH="1" flipV="1">
              <a:off x="3697288" y="2974268"/>
              <a:ext cx="0" cy="4110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59" name="Rectangle 12"/>
            <p:cNvSpPr>
              <a:spLocks noChangeArrowheads="1"/>
            </p:cNvSpPr>
            <p:nvPr/>
          </p:nvSpPr>
          <p:spPr bwMode="auto">
            <a:xfrm>
              <a:off x="4863307" y="3411559"/>
              <a:ext cx="120650" cy="20796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0" name="Line 16"/>
            <p:cNvSpPr>
              <a:spLocks noChangeShapeType="1"/>
            </p:cNvSpPr>
            <p:nvPr/>
          </p:nvSpPr>
          <p:spPr bwMode="auto">
            <a:xfrm flipH="1" flipV="1">
              <a:off x="4901407" y="2993358"/>
              <a:ext cx="0" cy="4110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66" name="Group 65"/>
          <p:cNvGrpSpPr/>
          <p:nvPr/>
        </p:nvGrpSpPr>
        <p:grpSpPr>
          <a:xfrm>
            <a:off x="334660" y="4225371"/>
            <a:ext cx="3610194" cy="1041175"/>
            <a:chOff x="1929452" y="2330627"/>
            <a:chExt cx="4621521" cy="1288895"/>
          </a:xfrm>
        </p:grpSpPr>
        <p:sp>
          <p:nvSpPr>
            <p:cNvPr id="67" name="Rectangle 12"/>
            <p:cNvSpPr>
              <a:spLocks noChangeArrowheads="1"/>
            </p:cNvSpPr>
            <p:nvPr/>
          </p:nvSpPr>
          <p:spPr bwMode="auto">
            <a:xfrm>
              <a:off x="2820129" y="3378181"/>
              <a:ext cx="120650" cy="20796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8" name="Line 15"/>
            <p:cNvSpPr>
              <a:spLocks noChangeShapeType="1"/>
            </p:cNvSpPr>
            <p:nvPr/>
          </p:nvSpPr>
          <p:spPr bwMode="auto">
            <a:xfrm flipH="1">
              <a:off x="1929452" y="2975354"/>
              <a:ext cx="4621521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69" name="Line 16"/>
            <p:cNvSpPr>
              <a:spLocks noChangeShapeType="1"/>
            </p:cNvSpPr>
            <p:nvPr/>
          </p:nvSpPr>
          <p:spPr bwMode="auto">
            <a:xfrm flipH="1" flipV="1">
              <a:off x="2858229" y="2959980"/>
              <a:ext cx="0" cy="4110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70" name="Line 14"/>
            <p:cNvSpPr>
              <a:spLocks noChangeShapeType="1"/>
            </p:cNvSpPr>
            <p:nvPr/>
          </p:nvSpPr>
          <p:spPr bwMode="auto">
            <a:xfrm>
              <a:off x="6015386" y="2379644"/>
              <a:ext cx="0" cy="59571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71" name="Rectangle 11"/>
            <p:cNvSpPr>
              <a:spLocks noChangeArrowheads="1"/>
            </p:cNvSpPr>
            <p:nvPr/>
          </p:nvSpPr>
          <p:spPr bwMode="auto">
            <a:xfrm>
              <a:off x="5955836" y="2330627"/>
              <a:ext cx="120650" cy="207962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2" name="Rectangle 12"/>
            <p:cNvSpPr>
              <a:spLocks noChangeArrowheads="1"/>
            </p:cNvSpPr>
            <p:nvPr/>
          </p:nvSpPr>
          <p:spPr bwMode="auto">
            <a:xfrm>
              <a:off x="3659188" y="3392469"/>
              <a:ext cx="120650" cy="20796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3" name="Line 16"/>
            <p:cNvSpPr>
              <a:spLocks noChangeShapeType="1"/>
            </p:cNvSpPr>
            <p:nvPr/>
          </p:nvSpPr>
          <p:spPr bwMode="auto">
            <a:xfrm flipH="1" flipV="1">
              <a:off x="3697288" y="2974268"/>
              <a:ext cx="0" cy="4110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74" name="Rectangle 12"/>
            <p:cNvSpPr>
              <a:spLocks noChangeArrowheads="1"/>
            </p:cNvSpPr>
            <p:nvPr/>
          </p:nvSpPr>
          <p:spPr bwMode="auto">
            <a:xfrm>
              <a:off x="4863307" y="3411559"/>
              <a:ext cx="120650" cy="20796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5" name="Line 16"/>
            <p:cNvSpPr>
              <a:spLocks noChangeShapeType="1"/>
            </p:cNvSpPr>
            <p:nvPr/>
          </p:nvSpPr>
          <p:spPr bwMode="auto">
            <a:xfrm flipH="1" flipV="1">
              <a:off x="4901407" y="2993358"/>
              <a:ext cx="0" cy="4110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76" name="Group 75"/>
          <p:cNvGrpSpPr/>
          <p:nvPr/>
        </p:nvGrpSpPr>
        <p:grpSpPr>
          <a:xfrm>
            <a:off x="4730255" y="4209950"/>
            <a:ext cx="3610194" cy="1041175"/>
            <a:chOff x="1929452" y="2330627"/>
            <a:chExt cx="4621521" cy="1288895"/>
          </a:xfrm>
        </p:grpSpPr>
        <p:sp>
          <p:nvSpPr>
            <p:cNvPr id="77" name="Rectangle 12"/>
            <p:cNvSpPr>
              <a:spLocks noChangeArrowheads="1"/>
            </p:cNvSpPr>
            <p:nvPr/>
          </p:nvSpPr>
          <p:spPr bwMode="auto">
            <a:xfrm>
              <a:off x="2820129" y="3378181"/>
              <a:ext cx="120650" cy="20796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8" name="Line 15"/>
            <p:cNvSpPr>
              <a:spLocks noChangeShapeType="1"/>
            </p:cNvSpPr>
            <p:nvPr/>
          </p:nvSpPr>
          <p:spPr bwMode="auto">
            <a:xfrm flipH="1">
              <a:off x="1929452" y="2975354"/>
              <a:ext cx="4621521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79" name="Line 16"/>
            <p:cNvSpPr>
              <a:spLocks noChangeShapeType="1"/>
            </p:cNvSpPr>
            <p:nvPr/>
          </p:nvSpPr>
          <p:spPr bwMode="auto">
            <a:xfrm flipH="1" flipV="1">
              <a:off x="2858229" y="2959980"/>
              <a:ext cx="0" cy="4110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80" name="Line 14"/>
            <p:cNvSpPr>
              <a:spLocks noChangeShapeType="1"/>
            </p:cNvSpPr>
            <p:nvPr/>
          </p:nvSpPr>
          <p:spPr bwMode="auto">
            <a:xfrm>
              <a:off x="6015386" y="2379644"/>
              <a:ext cx="0" cy="59571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81" name="Rectangle 11"/>
            <p:cNvSpPr>
              <a:spLocks noChangeArrowheads="1"/>
            </p:cNvSpPr>
            <p:nvPr/>
          </p:nvSpPr>
          <p:spPr bwMode="auto">
            <a:xfrm>
              <a:off x="5955836" y="2330627"/>
              <a:ext cx="120650" cy="207962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" name="Rectangle 12"/>
            <p:cNvSpPr>
              <a:spLocks noChangeArrowheads="1"/>
            </p:cNvSpPr>
            <p:nvPr/>
          </p:nvSpPr>
          <p:spPr bwMode="auto">
            <a:xfrm>
              <a:off x="3659188" y="3392469"/>
              <a:ext cx="120650" cy="20796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3" name="Line 16"/>
            <p:cNvSpPr>
              <a:spLocks noChangeShapeType="1"/>
            </p:cNvSpPr>
            <p:nvPr/>
          </p:nvSpPr>
          <p:spPr bwMode="auto">
            <a:xfrm flipH="1" flipV="1">
              <a:off x="3697288" y="2974268"/>
              <a:ext cx="0" cy="4110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84" name="Rectangle 12"/>
            <p:cNvSpPr>
              <a:spLocks noChangeArrowheads="1"/>
            </p:cNvSpPr>
            <p:nvPr/>
          </p:nvSpPr>
          <p:spPr bwMode="auto">
            <a:xfrm>
              <a:off x="4863307" y="3411559"/>
              <a:ext cx="120650" cy="20796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5" name="Line 16"/>
            <p:cNvSpPr>
              <a:spLocks noChangeShapeType="1"/>
            </p:cNvSpPr>
            <p:nvPr/>
          </p:nvSpPr>
          <p:spPr bwMode="auto">
            <a:xfrm flipH="1" flipV="1">
              <a:off x="4901407" y="2993358"/>
              <a:ext cx="0" cy="4110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3437618" y="1973934"/>
            <a:ext cx="287716" cy="1294744"/>
            <a:chOff x="3437618" y="2441030"/>
            <a:chExt cx="287716" cy="1294744"/>
          </a:xfrm>
        </p:grpSpPr>
        <p:sp>
          <p:nvSpPr>
            <p:cNvPr id="10" name="Rounded Rectangle 9"/>
            <p:cNvSpPr/>
            <p:nvPr/>
          </p:nvSpPr>
          <p:spPr>
            <a:xfrm>
              <a:off x="3437618" y="2922707"/>
              <a:ext cx="287716" cy="322311"/>
            </a:xfrm>
            <a:prstGeom prst="roundRect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rgbClr val="1F497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12"/>
            <p:cNvSpPr>
              <a:spLocks noChangeArrowheads="1"/>
            </p:cNvSpPr>
            <p:nvPr/>
          </p:nvSpPr>
          <p:spPr bwMode="auto">
            <a:xfrm>
              <a:off x="3540134" y="2778854"/>
              <a:ext cx="94248" cy="167994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rgbClr val="1F497D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9" name="Line 16"/>
            <p:cNvSpPr>
              <a:spLocks noChangeShapeType="1"/>
            </p:cNvSpPr>
            <p:nvPr/>
          </p:nvSpPr>
          <p:spPr bwMode="auto">
            <a:xfrm flipH="1" flipV="1">
              <a:off x="3569896" y="2441030"/>
              <a:ext cx="0" cy="332068"/>
            </a:xfrm>
            <a:prstGeom prst="line">
              <a:avLst/>
            </a:prstGeom>
            <a:noFill/>
            <a:ln w="28575" cmpd="sng">
              <a:solidFill>
                <a:srgbClr val="1F497D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90" name="Line 14"/>
            <p:cNvSpPr>
              <a:spLocks noChangeShapeType="1"/>
            </p:cNvSpPr>
            <p:nvPr/>
          </p:nvSpPr>
          <p:spPr bwMode="auto">
            <a:xfrm>
              <a:off x="3579091" y="3254557"/>
              <a:ext cx="0" cy="481217"/>
            </a:xfrm>
            <a:prstGeom prst="line">
              <a:avLst/>
            </a:prstGeom>
            <a:noFill/>
            <a:ln w="28575" cmpd="sng">
              <a:solidFill>
                <a:srgbClr val="1F497D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91" name="Rectangle 11"/>
            <p:cNvSpPr>
              <a:spLocks noChangeArrowheads="1"/>
            </p:cNvSpPr>
            <p:nvPr/>
          </p:nvSpPr>
          <p:spPr bwMode="auto">
            <a:xfrm>
              <a:off x="3509991" y="3214961"/>
              <a:ext cx="139998" cy="16799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rgbClr val="1F497D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92" name="Group 91"/>
          <p:cNvGrpSpPr/>
          <p:nvPr/>
        </p:nvGrpSpPr>
        <p:grpSpPr>
          <a:xfrm>
            <a:off x="2036686" y="3258094"/>
            <a:ext cx="287716" cy="1488090"/>
            <a:chOff x="3437618" y="2441030"/>
            <a:chExt cx="287716" cy="1294744"/>
          </a:xfrm>
        </p:grpSpPr>
        <p:sp>
          <p:nvSpPr>
            <p:cNvPr id="93" name="Rounded Rectangle 92"/>
            <p:cNvSpPr/>
            <p:nvPr/>
          </p:nvSpPr>
          <p:spPr>
            <a:xfrm>
              <a:off x="3437618" y="2922707"/>
              <a:ext cx="287716" cy="322311"/>
            </a:xfrm>
            <a:prstGeom prst="roundRect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rgbClr val="1F497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Rectangle 12"/>
            <p:cNvSpPr>
              <a:spLocks noChangeArrowheads="1"/>
            </p:cNvSpPr>
            <p:nvPr/>
          </p:nvSpPr>
          <p:spPr bwMode="auto">
            <a:xfrm>
              <a:off x="3540134" y="2778854"/>
              <a:ext cx="94248" cy="167994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rgbClr val="1F497D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5" name="Line 16"/>
            <p:cNvSpPr>
              <a:spLocks noChangeShapeType="1"/>
            </p:cNvSpPr>
            <p:nvPr/>
          </p:nvSpPr>
          <p:spPr bwMode="auto">
            <a:xfrm flipH="1" flipV="1">
              <a:off x="3569896" y="2441030"/>
              <a:ext cx="0" cy="332068"/>
            </a:xfrm>
            <a:prstGeom prst="line">
              <a:avLst/>
            </a:prstGeom>
            <a:noFill/>
            <a:ln w="28575" cmpd="sng">
              <a:solidFill>
                <a:srgbClr val="1F497D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96" name="Line 14"/>
            <p:cNvSpPr>
              <a:spLocks noChangeShapeType="1"/>
            </p:cNvSpPr>
            <p:nvPr/>
          </p:nvSpPr>
          <p:spPr bwMode="auto">
            <a:xfrm>
              <a:off x="3579091" y="3254557"/>
              <a:ext cx="0" cy="481217"/>
            </a:xfrm>
            <a:prstGeom prst="line">
              <a:avLst/>
            </a:prstGeom>
            <a:noFill/>
            <a:ln w="28575" cmpd="sng">
              <a:solidFill>
                <a:srgbClr val="1F497D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97" name="Rectangle 11"/>
            <p:cNvSpPr>
              <a:spLocks noChangeArrowheads="1"/>
            </p:cNvSpPr>
            <p:nvPr/>
          </p:nvSpPr>
          <p:spPr bwMode="auto">
            <a:xfrm>
              <a:off x="3509991" y="3214961"/>
              <a:ext cx="139998" cy="16799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rgbClr val="1F497D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98" name="Group 97"/>
          <p:cNvGrpSpPr/>
          <p:nvPr/>
        </p:nvGrpSpPr>
        <p:grpSpPr>
          <a:xfrm>
            <a:off x="3082175" y="4713181"/>
            <a:ext cx="331522" cy="1371118"/>
            <a:chOff x="3437618" y="2441030"/>
            <a:chExt cx="287716" cy="1294744"/>
          </a:xfrm>
        </p:grpSpPr>
        <p:sp>
          <p:nvSpPr>
            <p:cNvPr id="99" name="Rounded Rectangle 98"/>
            <p:cNvSpPr/>
            <p:nvPr/>
          </p:nvSpPr>
          <p:spPr>
            <a:xfrm>
              <a:off x="3437618" y="2922707"/>
              <a:ext cx="287716" cy="322311"/>
            </a:xfrm>
            <a:prstGeom prst="roundRect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rgbClr val="1F497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Rectangle 12"/>
            <p:cNvSpPr>
              <a:spLocks noChangeArrowheads="1"/>
            </p:cNvSpPr>
            <p:nvPr/>
          </p:nvSpPr>
          <p:spPr bwMode="auto">
            <a:xfrm>
              <a:off x="3540134" y="2778854"/>
              <a:ext cx="94248" cy="167994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rgbClr val="1F497D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1" name="Line 16"/>
            <p:cNvSpPr>
              <a:spLocks noChangeShapeType="1"/>
            </p:cNvSpPr>
            <p:nvPr/>
          </p:nvSpPr>
          <p:spPr bwMode="auto">
            <a:xfrm flipH="1" flipV="1">
              <a:off x="3569896" y="2441030"/>
              <a:ext cx="0" cy="332068"/>
            </a:xfrm>
            <a:prstGeom prst="line">
              <a:avLst/>
            </a:prstGeom>
            <a:noFill/>
            <a:ln w="28575" cmpd="sng">
              <a:solidFill>
                <a:srgbClr val="1F497D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2" name="Line 14"/>
            <p:cNvSpPr>
              <a:spLocks noChangeShapeType="1"/>
            </p:cNvSpPr>
            <p:nvPr/>
          </p:nvSpPr>
          <p:spPr bwMode="auto">
            <a:xfrm>
              <a:off x="3579091" y="3254557"/>
              <a:ext cx="0" cy="481217"/>
            </a:xfrm>
            <a:prstGeom prst="line">
              <a:avLst/>
            </a:prstGeom>
            <a:noFill/>
            <a:ln w="28575" cmpd="sng">
              <a:solidFill>
                <a:srgbClr val="1F497D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3" name="Rectangle 11"/>
            <p:cNvSpPr>
              <a:spLocks noChangeArrowheads="1"/>
            </p:cNvSpPr>
            <p:nvPr/>
          </p:nvSpPr>
          <p:spPr bwMode="auto">
            <a:xfrm>
              <a:off x="3509991" y="3214961"/>
              <a:ext cx="139998" cy="16799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rgbClr val="1F497D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109" name="Group 108"/>
          <p:cNvGrpSpPr/>
          <p:nvPr/>
        </p:nvGrpSpPr>
        <p:grpSpPr>
          <a:xfrm>
            <a:off x="6734379" y="3230254"/>
            <a:ext cx="287716" cy="1488090"/>
            <a:chOff x="3437618" y="2441030"/>
            <a:chExt cx="287716" cy="1294744"/>
          </a:xfrm>
        </p:grpSpPr>
        <p:sp>
          <p:nvSpPr>
            <p:cNvPr id="110" name="Rounded Rectangle 109"/>
            <p:cNvSpPr/>
            <p:nvPr/>
          </p:nvSpPr>
          <p:spPr>
            <a:xfrm>
              <a:off x="3437618" y="2922707"/>
              <a:ext cx="287716" cy="322311"/>
            </a:xfrm>
            <a:prstGeom prst="roundRect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rgbClr val="1F497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Rectangle 12"/>
            <p:cNvSpPr>
              <a:spLocks noChangeArrowheads="1"/>
            </p:cNvSpPr>
            <p:nvPr/>
          </p:nvSpPr>
          <p:spPr bwMode="auto">
            <a:xfrm>
              <a:off x="3540134" y="2778854"/>
              <a:ext cx="94248" cy="167994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rgbClr val="1F497D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12" name="Line 16"/>
            <p:cNvSpPr>
              <a:spLocks noChangeShapeType="1"/>
            </p:cNvSpPr>
            <p:nvPr/>
          </p:nvSpPr>
          <p:spPr bwMode="auto">
            <a:xfrm flipH="1" flipV="1">
              <a:off x="3569896" y="2441030"/>
              <a:ext cx="0" cy="332068"/>
            </a:xfrm>
            <a:prstGeom prst="line">
              <a:avLst/>
            </a:prstGeom>
            <a:noFill/>
            <a:ln w="28575" cmpd="sng">
              <a:solidFill>
                <a:srgbClr val="1F497D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13" name="Line 14"/>
            <p:cNvSpPr>
              <a:spLocks noChangeShapeType="1"/>
            </p:cNvSpPr>
            <p:nvPr/>
          </p:nvSpPr>
          <p:spPr bwMode="auto">
            <a:xfrm>
              <a:off x="3579091" y="3254557"/>
              <a:ext cx="0" cy="481217"/>
            </a:xfrm>
            <a:prstGeom prst="line">
              <a:avLst/>
            </a:prstGeom>
            <a:noFill/>
            <a:ln w="28575" cmpd="sng">
              <a:solidFill>
                <a:srgbClr val="1F497D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14" name="Rectangle 11"/>
            <p:cNvSpPr>
              <a:spLocks noChangeArrowheads="1"/>
            </p:cNvSpPr>
            <p:nvPr/>
          </p:nvSpPr>
          <p:spPr bwMode="auto">
            <a:xfrm>
              <a:off x="3509991" y="3214961"/>
              <a:ext cx="139998" cy="16799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rgbClr val="1F497D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117" name="Group 116"/>
          <p:cNvGrpSpPr/>
          <p:nvPr/>
        </p:nvGrpSpPr>
        <p:grpSpPr>
          <a:xfrm>
            <a:off x="2717927" y="5575905"/>
            <a:ext cx="3610194" cy="1041175"/>
            <a:chOff x="1929452" y="2330627"/>
            <a:chExt cx="4621521" cy="1288895"/>
          </a:xfrm>
        </p:grpSpPr>
        <p:sp>
          <p:nvSpPr>
            <p:cNvPr id="118" name="Rectangle 12"/>
            <p:cNvSpPr>
              <a:spLocks noChangeArrowheads="1"/>
            </p:cNvSpPr>
            <p:nvPr/>
          </p:nvSpPr>
          <p:spPr bwMode="auto">
            <a:xfrm>
              <a:off x="2820129" y="3378181"/>
              <a:ext cx="120650" cy="20796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19" name="Line 15"/>
            <p:cNvSpPr>
              <a:spLocks noChangeShapeType="1"/>
            </p:cNvSpPr>
            <p:nvPr/>
          </p:nvSpPr>
          <p:spPr bwMode="auto">
            <a:xfrm flipH="1">
              <a:off x="1929452" y="2975354"/>
              <a:ext cx="4621521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20" name="Line 16"/>
            <p:cNvSpPr>
              <a:spLocks noChangeShapeType="1"/>
            </p:cNvSpPr>
            <p:nvPr/>
          </p:nvSpPr>
          <p:spPr bwMode="auto">
            <a:xfrm flipH="1" flipV="1">
              <a:off x="2858229" y="2959980"/>
              <a:ext cx="0" cy="4110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21" name="Line 14"/>
            <p:cNvSpPr>
              <a:spLocks noChangeShapeType="1"/>
            </p:cNvSpPr>
            <p:nvPr/>
          </p:nvSpPr>
          <p:spPr bwMode="auto">
            <a:xfrm>
              <a:off x="6015386" y="2379644"/>
              <a:ext cx="0" cy="59571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22" name="Rectangle 11"/>
            <p:cNvSpPr>
              <a:spLocks noChangeArrowheads="1"/>
            </p:cNvSpPr>
            <p:nvPr/>
          </p:nvSpPr>
          <p:spPr bwMode="auto">
            <a:xfrm>
              <a:off x="5955836" y="2330627"/>
              <a:ext cx="120650" cy="207962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3" name="Rectangle 12"/>
            <p:cNvSpPr>
              <a:spLocks noChangeArrowheads="1"/>
            </p:cNvSpPr>
            <p:nvPr/>
          </p:nvSpPr>
          <p:spPr bwMode="auto">
            <a:xfrm>
              <a:off x="3659188" y="3392469"/>
              <a:ext cx="120650" cy="20796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4" name="Line 16"/>
            <p:cNvSpPr>
              <a:spLocks noChangeShapeType="1"/>
            </p:cNvSpPr>
            <p:nvPr/>
          </p:nvSpPr>
          <p:spPr bwMode="auto">
            <a:xfrm flipH="1" flipV="1">
              <a:off x="3697288" y="2974268"/>
              <a:ext cx="0" cy="4110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25" name="Rectangle 12"/>
            <p:cNvSpPr>
              <a:spLocks noChangeArrowheads="1"/>
            </p:cNvSpPr>
            <p:nvPr/>
          </p:nvSpPr>
          <p:spPr bwMode="auto">
            <a:xfrm>
              <a:off x="4863307" y="3411559"/>
              <a:ext cx="120650" cy="20796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6" name="Line 16"/>
            <p:cNvSpPr>
              <a:spLocks noChangeShapeType="1"/>
            </p:cNvSpPr>
            <p:nvPr/>
          </p:nvSpPr>
          <p:spPr bwMode="auto">
            <a:xfrm flipH="1" flipV="1">
              <a:off x="4901407" y="2993358"/>
              <a:ext cx="0" cy="4110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127" name="Group 126"/>
          <p:cNvGrpSpPr/>
          <p:nvPr/>
        </p:nvGrpSpPr>
        <p:grpSpPr>
          <a:xfrm>
            <a:off x="5039529" y="4713181"/>
            <a:ext cx="287716" cy="1371118"/>
            <a:chOff x="3437618" y="2441030"/>
            <a:chExt cx="287716" cy="1294744"/>
          </a:xfrm>
        </p:grpSpPr>
        <p:sp>
          <p:nvSpPr>
            <p:cNvPr id="128" name="Rounded Rectangle 127"/>
            <p:cNvSpPr/>
            <p:nvPr/>
          </p:nvSpPr>
          <p:spPr>
            <a:xfrm>
              <a:off x="3437618" y="2922707"/>
              <a:ext cx="287716" cy="322311"/>
            </a:xfrm>
            <a:prstGeom prst="roundRect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rgbClr val="1F497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Rectangle 12"/>
            <p:cNvSpPr>
              <a:spLocks noChangeArrowheads="1"/>
            </p:cNvSpPr>
            <p:nvPr/>
          </p:nvSpPr>
          <p:spPr bwMode="auto">
            <a:xfrm>
              <a:off x="3540134" y="2778854"/>
              <a:ext cx="94248" cy="167994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rgbClr val="1F497D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0" name="Line 16"/>
            <p:cNvSpPr>
              <a:spLocks noChangeShapeType="1"/>
            </p:cNvSpPr>
            <p:nvPr/>
          </p:nvSpPr>
          <p:spPr bwMode="auto">
            <a:xfrm flipH="1" flipV="1">
              <a:off x="3569896" y="2441030"/>
              <a:ext cx="0" cy="332068"/>
            </a:xfrm>
            <a:prstGeom prst="line">
              <a:avLst/>
            </a:prstGeom>
            <a:noFill/>
            <a:ln w="28575" cmpd="sng">
              <a:solidFill>
                <a:srgbClr val="1F497D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31" name="Line 14"/>
            <p:cNvSpPr>
              <a:spLocks noChangeShapeType="1"/>
            </p:cNvSpPr>
            <p:nvPr/>
          </p:nvSpPr>
          <p:spPr bwMode="auto">
            <a:xfrm>
              <a:off x="3579091" y="3254557"/>
              <a:ext cx="0" cy="481217"/>
            </a:xfrm>
            <a:prstGeom prst="line">
              <a:avLst/>
            </a:prstGeom>
            <a:noFill/>
            <a:ln w="28575" cmpd="sng">
              <a:solidFill>
                <a:srgbClr val="1F497D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32" name="Rectangle 11"/>
            <p:cNvSpPr>
              <a:spLocks noChangeArrowheads="1"/>
            </p:cNvSpPr>
            <p:nvPr/>
          </p:nvSpPr>
          <p:spPr bwMode="auto">
            <a:xfrm>
              <a:off x="3509991" y="3214961"/>
              <a:ext cx="139998" cy="16799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rgbClr val="1F497D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07" name="Line 15"/>
          <p:cNvSpPr>
            <a:spLocks noChangeShapeType="1"/>
          </p:cNvSpPr>
          <p:nvPr/>
        </p:nvSpPr>
        <p:spPr bwMode="auto">
          <a:xfrm>
            <a:off x="1328177" y="1841472"/>
            <a:ext cx="254221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 type="triangle"/>
            <a:tailEnd type="triangle" w="lg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08" name="Line 12"/>
          <p:cNvSpPr>
            <a:spLocks noChangeShapeType="1"/>
          </p:cNvSpPr>
          <p:nvPr/>
        </p:nvSpPr>
        <p:spPr bwMode="auto">
          <a:xfrm>
            <a:off x="3870394" y="2096844"/>
            <a:ext cx="0" cy="96520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lg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5" name="Line 15"/>
          <p:cNvSpPr>
            <a:spLocks noChangeShapeType="1"/>
          </p:cNvSpPr>
          <p:nvPr/>
        </p:nvSpPr>
        <p:spPr bwMode="auto">
          <a:xfrm>
            <a:off x="3185651" y="3404983"/>
            <a:ext cx="254221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 type="triangle"/>
            <a:tailEnd type="triangle" w="lg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6" name="Line 12"/>
          <p:cNvSpPr>
            <a:spLocks noChangeShapeType="1"/>
          </p:cNvSpPr>
          <p:nvPr/>
        </p:nvSpPr>
        <p:spPr bwMode="auto">
          <a:xfrm>
            <a:off x="2516936" y="3590161"/>
            <a:ext cx="0" cy="96520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lg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33" name="Line 12"/>
          <p:cNvSpPr>
            <a:spLocks noChangeShapeType="1"/>
          </p:cNvSpPr>
          <p:nvPr/>
        </p:nvSpPr>
        <p:spPr bwMode="auto">
          <a:xfrm>
            <a:off x="7116343" y="3428164"/>
            <a:ext cx="0" cy="96520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lg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34" name="Line 15"/>
          <p:cNvSpPr>
            <a:spLocks noChangeShapeType="1"/>
          </p:cNvSpPr>
          <p:nvPr/>
        </p:nvSpPr>
        <p:spPr bwMode="auto">
          <a:xfrm>
            <a:off x="658083" y="4625916"/>
            <a:ext cx="254221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 type="triangle"/>
            <a:tailEnd type="triangle" w="lg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35" name="Line 15"/>
          <p:cNvSpPr>
            <a:spLocks noChangeShapeType="1"/>
          </p:cNvSpPr>
          <p:nvPr/>
        </p:nvSpPr>
        <p:spPr bwMode="auto">
          <a:xfrm>
            <a:off x="5311826" y="4564122"/>
            <a:ext cx="254221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 type="triangle"/>
            <a:tailEnd type="triangle" w="lg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36" name="Line 12"/>
          <p:cNvSpPr>
            <a:spLocks noChangeShapeType="1"/>
          </p:cNvSpPr>
          <p:nvPr/>
        </p:nvSpPr>
        <p:spPr bwMode="auto">
          <a:xfrm>
            <a:off x="4954520" y="4924220"/>
            <a:ext cx="0" cy="96520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lg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37" name="Line 12"/>
          <p:cNvSpPr>
            <a:spLocks noChangeShapeType="1"/>
          </p:cNvSpPr>
          <p:nvPr/>
        </p:nvSpPr>
        <p:spPr bwMode="auto">
          <a:xfrm>
            <a:off x="3526469" y="4924220"/>
            <a:ext cx="0" cy="96520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lg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38" name="Line 15"/>
          <p:cNvSpPr>
            <a:spLocks noChangeShapeType="1"/>
          </p:cNvSpPr>
          <p:nvPr/>
        </p:nvSpPr>
        <p:spPr bwMode="auto">
          <a:xfrm>
            <a:off x="3234593" y="5977497"/>
            <a:ext cx="254221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 type="triangle"/>
            <a:tailEnd type="triangle" w="lg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39" name="Line 12"/>
          <p:cNvSpPr>
            <a:spLocks noChangeShapeType="1"/>
          </p:cNvSpPr>
          <p:nvPr/>
        </p:nvSpPr>
        <p:spPr bwMode="auto">
          <a:xfrm flipV="1">
            <a:off x="5327245" y="4864982"/>
            <a:ext cx="2904" cy="1041959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lg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40" name="Line 15"/>
          <p:cNvSpPr>
            <a:spLocks noChangeShapeType="1"/>
          </p:cNvSpPr>
          <p:nvPr/>
        </p:nvSpPr>
        <p:spPr bwMode="auto">
          <a:xfrm>
            <a:off x="3288216" y="5904121"/>
            <a:ext cx="254221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 type="triangle"/>
            <a:tailEnd type="triangle" w="lg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41" name="Line 12"/>
          <p:cNvSpPr>
            <a:spLocks noChangeShapeType="1"/>
          </p:cNvSpPr>
          <p:nvPr/>
        </p:nvSpPr>
        <p:spPr bwMode="auto">
          <a:xfrm flipV="1">
            <a:off x="3626266" y="4862162"/>
            <a:ext cx="2904" cy="1041959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lg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42" name="Line 15"/>
          <p:cNvSpPr>
            <a:spLocks noChangeShapeType="1"/>
          </p:cNvSpPr>
          <p:nvPr/>
        </p:nvSpPr>
        <p:spPr bwMode="auto">
          <a:xfrm>
            <a:off x="824594" y="4510207"/>
            <a:ext cx="254221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 type="triangle"/>
            <a:tailEnd type="triangle" w="lg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43" name="Line 15"/>
          <p:cNvSpPr>
            <a:spLocks noChangeShapeType="1"/>
          </p:cNvSpPr>
          <p:nvPr/>
        </p:nvSpPr>
        <p:spPr bwMode="auto">
          <a:xfrm>
            <a:off x="5327245" y="4473814"/>
            <a:ext cx="254221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 type="triangle"/>
            <a:tailEnd type="triangle" w="lg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44" name="Line 12"/>
          <p:cNvSpPr>
            <a:spLocks noChangeShapeType="1"/>
          </p:cNvSpPr>
          <p:nvPr/>
        </p:nvSpPr>
        <p:spPr bwMode="auto">
          <a:xfrm flipV="1">
            <a:off x="6606082" y="3352212"/>
            <a:ext cx="2904" cy="1041959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lg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45" name="Line 12"/>
          <p:cNvSpPr>
            <a:spLocks noChangeShapeType="1"/>
          </p:cNvSpPr>
          <p:nvPr/>
        </p:nvSpPr>
        <p:spPr bwMode="auto">
          <a:xfrm flipV="1">
            <a:off x="2623596" y="3352212"/>
            <a:ext cx="2904" cy="1041959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lg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46" name="Line 15"/>
          <p:cNvSpPr>
            <a:spLocks noChangeShapeType="1"/>
          </p:cNvSpPr>
          <p:nvPr/>
        </p:nvSpPr>
        <p:spPr bwMode="auto">
          <a:xfrm>
            <a:off x="3338051" y="3557383"/>
            <a:ext cx="254221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 type="triangle"/>
            <a:tailEnd type="triangle" w="lg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47" name="Line 15"/>
          <p:cNvSpPr>
            <a:spLocks noChangeShapeType="1"/>
          </p:cNvSpPr>
          <p:nvPr/>
        </p:nvSpPr>
        <p:spPr bwMode="auto">
          <a:xfrm>
            <a:off x="3490451" y="3709783"/>
            <a:ext cx="254221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 type="triangle"/>
            <a:tailEnd type="triangle" w="lg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grpSp>
        <p:nvGrpSpPr>
          <p:cNvPr id="148" name="Group 147"/>
          <p:cNvGrpSpPr/>
          <p:nvPr/>
        </p:nvGrpSpPr>
        <p:grpSpPr>
          <a:xfrm>
            <a:off x="7419185" y="1564311"/>
            <a:ext cx="1541370" cy="2199601"/>
            <a:chOff x="7602630" y="1433355"/>
            <a:chExt cx="1541370" cy="2199601"/>
          </a:xfrm>
        </p:grpSpPr>
        <p:pic>
          <p:nvPicPr>
            <p:cNvPr id="149" name="Picture 14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64190" y="1433355"/>
              <a:ext cx="1196362" cy="1794543"/>
            </a:xfrm>
            <a:prstGeom prst="rect">
              <a:avLst/>
            </a:prstGeom>
          </p:spPr>
        </p:pic>
        <p:sp>
          <p:nvSpPr>
            <p:cNvPr id="150" name="TextBox 149"/>
            <p:cNvSpPr txBox="1"/>
            <p:nvPr/>
          </p:nvSpPr>
          <p:spPr>
            <a:xfrm>
              <a:off x="7602630" y="3263624"/>
              <a:ext cx="15413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Radia Perlman</a:t>
              </a:r>
            </a:p>
          </p:txBody>
        </p:sp>
      </p:grpSp>
      <p:grpSp>
        <p:nvGrpSpPr>
          <p:cNvPr id="152" name="Group 151"/>
          <p:cNvGrpSpPr/>
          <p:nvPr/>
        </p:nvGrpSpPr>
        <p:grpSpPr>
          <a:xfrm>
            <a:off x="799563" y="1457779"/>
            <a:ext cx="3610194" cy="1041176"/>
            <a:chOff x="1929452" y="2330627"/>
            <a:chExt cx="4621521" cy="1288895"/>
          </a:xfrm>
          <a:effectLst/>
        </p:grpSpPr>
        <p:sp>
          <p:nvSpPr>
            <p:cNvPr id="153" name="Rectangle 12"/>
            <p:cNvSpPr>
              <a:spLocks noChangeArrowheads="1"/>
            </p:cNvSpPr>
            <p:nvPr/>
          </p:nvSpPr>
          <p:spPr bwMode="auto">
            <a:xfrm>
              <a:off x="2820129" y="3378181"/>
              <a:ext cx="120650" cy="20796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54" name="Line 14"/>
            <p:cNvSpPr>
              <a:spLocks noChangeShapeType="1"/>
            </p:cNvSpPr>
            <p:nvPr/>
          </p:nvSpPr>
          <p:spPr bwMode="auto">
            <a:xfrm>
              <a:off x="4240213" y="2379644"/>
              <a:ext cx="0" cy="59571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55" name="Line 15"/>
            <p:cNvSpPr>
              <a:spLocks noChangeShapeType="1"/>
            </p:cNvSpPr>
            <p:nvPr/>
          </p:nvSpPr>
          <p:spPr bwMode="auto">
            <a:xfrm flipH="1">
              <a:off x="1929452" y="2975354"/>
              <a:ext cx="4621521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56" name="Line 16"/>
            <p:cNvSpPr>
              <a:spLocks noChangeShapeType="1"/>
            </p:cNvSpPr>
            <p:nvPr/>
          </p:nvSpPr>
          <p:spPr bwMode="auto">
            <a:xfrm flipH="1" flipV="1">
              <a:off x="2858229" y="2959980"/>
              <a:ext cx="0" cy="4110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57" name="Rectangle 11"/>
            <p:cNvSpPr>
              <a:spLocks noChangeArrowheads="1"/>
            </p:cNvSpPr>
            <p:nvPr/>
          </p:nvSpPr>
          <p:spPr bwMode="auto">
            <a:xfrm>
              <a:off x="4180663" y="2330627"/>
              <a:ext cx="120650" cy="207962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58" name="Line 14"/>
            <p:cNvSpPr>
              <a:spLocks noChangeShapeType="1"/>
            </p:cNvSpPr>
            <p:nvPr/>
          </p:nvSpPr>
          <p:spPr bwMode="auto">
            <a:xfrm>
              <a:off x="6015386" y="2379644"/>
              <a:ext cx="0" cy="59571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59" name="Rectangle 11"/>
            <p:cNvSpPr>
              <a:spLocks noChangeArrowheads="1"/>
            </p:cNvSpPr>
            <p:nvPr/>
          </p:nvSpPr>
          <p:spPr bwMode="auto">
            <a:xfrm>
              <a:off x="5955836" y="2330627"/>
              <a:ext cx="120650" cy="207962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60" name="Line 14"/>
            <p:cNvSpPr>
              <a:spLocks noChangeShapeType="1"/>
            </p:cNvSpPr>
            <p:nvPr/>
          </p:nvSpPr>
          <p:spPr bwMode="auto">
            <a:xfrm>
              <a:off x="2371016" y="2379644"/>
              <a:ext cx="0" cy="59571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61" name="Rectangle 11"/>
            <p:cNvSpPr>
              <a:spLocks noChangeArrowheads="1"/>
            </p:cNvSpPr>
            <p:nvPr/>
          </p:nvSpPr>
          <p:spPr bwMode="auto">
            <a:xfrm>
              <a:off x="2311466" y="2330627"/>
              <a:ext cx="120650" cy="207962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62" name="Rectangle 12"/>
            <p:cNvSpPr>
              <a:spLocks noChangeArrowheads="1"/>
            </p:cNvSpPr>
            <p:nvPr/>
          </p:nvSpPr>
          <p:spPr bwMode="auto">
            <a:xfrm>
              <a:off x="3659188" y="3392469"/>
              <a:ext cx="120650" cy="20796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63" name="Line 16"/>
            <p:cNvSpPr>
              <a:spLocks noChangeShapeType="1"/>
            </p:cNvSpPr>
            <p:nvPr/>
          </p:nvSpPr>
          <p:spPr bwMode="auto">
            <a:xfrm flipH="1" flipV="1">
              <a:off x="3697288" y="2974268"/>
              <a:ext cx="0" cy="4110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64" name="Rectangle 12"/>
            <p:cNvSpPr>
              <a:spLocks noChangeArrowheads="1"/>
            </p:cNvSpPr>
            <p:nvPr/>
          </p:nvSpPr>
          <p:spPr bwMode="auto">
            <a:xfrm>
              <a:off x="4863307" y="3411559"/>
              <a:ext cx="120650" cy="20796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65" name="Line 16"/>
            <p:cNvSpPr>
              <a:spLocks noChangeShapeType="1"/>
            </p:cNvSpPr>
            <p:nvPr/>
          </p:nvSpPr>
          <p:spPr bwMode="auto">
            <a:xfrm flipH="1" flipV="1">
              <a:off x="4901407" y="2993358"/>
              <a:ext cx="0" cy="4110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B3D556-59A8-E243-AB78-FE1CE8A9F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46</a:t>
            </a:fld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B93F62-2B60-E39D-5CAB-C0AA9A44F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66" name="Rectangle 23">
            <a:extLst>
              <a:ext uri="{FF2B5EF4-FFF2-40B4-BE49-F238E27FC236}">
                <a16:creationId xmlns:a16="http://schemas.microsoft.com/office/drawing/2014/main" id="{FDB0B701-D110-5544-BC07-479D4EBE64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5771" y="6213031"/>
            <a:ext cx="7972459" cy="48884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algn="ctr" eaLnBrk="0" hangingPunct="0">
              <a:spcBef>
                <a:spcPct val="10000"/>
              </a:spcBef>
              <a:buClr>
                <a:schemeClr val="tx2"/>
              </a:buClr>
            </a:pPr>
            <a:r>
              <a:rPr lang="en-US" sz="2800" dirty="0">
                <a:solidFill>
                  <a:schemeClr val="bg1"/>
                </a:solidFill>
              </a:rPr>
              <a:t>Perlman’s idea</a:t>
            </a:r>
            <a:r>
              <a:rPr lang="en-US" sz="2800" b="0" dirty="0">
                <a:solidFill>
                  <a:schemeClr val="bg1"/>
                </a:solidFill>
              </a:rPr>
              <a:t>: eliminate loops in the topology</a:t>
            </a:r>
          </a:p>
          <a:p>
            <a:pPr marL="625475" lvl="1" indent="-285750" algn="ctr" eaLnBrk="0" hangingPunct="0">
              <a:spcBef>
                <a:spcPct val="10000"/>
              </a:spcBef>
              <a:buClr>
                <a:schemeClr val="tx2"/>
              </a:buClr>
              <a:buFont typeface="Arial"/>
              <a:buChar char="•"/>
            </a:pPr>
            <a:endParaRPr lang="en-US" sz="2000" b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5004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7" grpId="0" animBg="1"/>
      <p:bldP spid="108" grpId="0" animBg="1"/>
      <p:bldP spid="115" grpId="0" animBg="1"/>
      <p:bldP spid="116" grpId="0" animBg="1"/>
      <p:bldP spid="133" grpId="0" animBg="1"/>
      <p:bldP spid="134" grpId="0" animBg="1"/>
      <p:bldP spid="135" grpId="0" animBg="1"/>
      <p:bldP spid="136" grpId="0" animBg="1"/>
      <p:bldP spid="137" grpId="0" animBg="1"/>
      <p:bldP spid="138" grpId="0" animBg="1"/>
      <p:bldP spid="139" grpId="0" animBg="1"/>
      <p:bldP spid="140" grpId="0" animBg="1"/>
      <p:bldP spid="141" grpId="0" animBg="1"/>
      <p:bldP spid="142" grpId="0" animBg="1"/>
      <p:bldP spid="143" grpId="0" animBg="1"/>
      <p:bldP spid="144" grpId="0" animBg="1"/>
      <p:bldP spid="145" grpId="0" animBg="1"/>
      <p:bldP spid="146" grpId="0" animBg="1"/>
      <p:bldP spid="147" grpId="0" animBg="1"/>
      <p:bldP spid="166" grpId="0" build="allAtOnce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Easiest way to avoid loops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a topology where loops are impossible!</a:t>
            </a:r>
          </a:p>
          <a:p>
            <a:r>
              <a:rPr lang="en-US" dirty="0"/>
              <a:t>Take arbitrary topology and build a </a:t>
            </a:r>
            <a:r>
              <a:rPr lang="en-US" dirty="0">
                <a:solidFill>
                  <a:srgbClr val="0000FF"/>
                </a:solidFill>
              </a:rPr>
              <a:t>spanning tree </a:t>
            </a:r>
          </a:p>
          <a:p>
            <a:pPr lvl="1"/>
            <a:r>
              <a:rPr lang="en-US" dirty="0"/>
              <a:t>Sub-graph that includes all vertices but contains no cycles</a:t>
            </a:r>
          </a:p>
          <a:p>
            <a:pPr lvl="1"/>
            <a:r>
              <a:rPr lang="en-US" dirty="0"/>
              <a:t>Links not in the spanning tree are not used to forward frames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057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Consider a graph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1219200" y="1828800"/>
            <a:ext cx="4724400" cy="3505200"/>
            <a:chOff x="1219200" y="1828800"/>
            <a:chExt cx="4724400" cy="3505200"/>
          </a:xfrm>
        </p:grpSpPr>
        <p:sp>
          <p:nvSpPr>
            <p:cNvPr id="5" name="Oval 4"/>
            <p:cNvSpPr/>
            <p:nvPr/>
          </p:nvSpPr>
          <p:spPr bwMode="auto">
            <a:xfrm>
              <a:off x="1828800" y="1828800"/>
              <a:ext cx="152400" cy="1524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6" name="Oval 5"/>
            <p:cNvSpPr/>
            <p:nvPr/>
          </p:nvSpPr>
          <p:spPr bwMode="auto">
            <a:xfrm>
              <a:off x="1219200" y="2971800"/>
              <a:ext cx="152400" cy="1524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7" name="Oval 6"/>
            <p:cNvSpPr/>
            <p:nvPr/>
          </p:nvSpPr>
          <p:spPr bwMode="auto">
            <a:xfrm>
              <a:off x="3962400" y="2057400"/>
              <a:ext cx="152400" cy="1524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8" name="Oval 7"/>
            <p:cNvSpPr/>
            <p:nvPr/>
          </p:nvSpPr>
          <p:spPr bwMode="auto">
            <a:xfrm>
              <a:off x="3962400" y="4343400"/>
              <a:ext cx="152400" cy="1524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9" name="Oval 8"/>
            <p:cNvSpPr/>
            <p:nvPr/>
          </p:nvSpPr>
          <p:spPr bwMode="auto">
            <a:xfrm>
              <a:off x="2667000" y="5181600"/>
              <a:ext cx="152400" cy="1524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10" name="Oval 9"/>
            <p:cNvSpPr/>
            <p:nvPr/>
          </p:nvSpPr>
          <p:spPr bwMode="auto">
            <a:xfrm>
              <a:off x="2438400" y="3124200"/>
              <a:ext cx="152400" cy="1524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11" name="Oval 10"/>
            <p:cNvSpPr/>
            <p:nvPr/>
          </p:nvSpPr>
          <p:spPr bwMode="auto">
            <a:xfrm>
              <a:off x="5791200" y="2895600"/>
              <a:ext cx="152400" cy="1524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12" name="Oval 11"/>
            <p:cNvSpPr/>
            <p:nvPr/>
          </p:nvSpPr>
          <p:spPr bwMode="auto">
            <a:xfrm>
              <a:off x="2895600" y="3733800"/>
              <a:ext cx="152400" cy="1524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13" name="Oval 12"/>
            <p:cNvSpPr/>
            <p:nvPr/>
          </p:nvSpPr>
          <p:spPr bwMode="auto">
            <a:xfrm>
              <a:off x="1676400" y="4648200"/>
              <a:ext cx="152400" cy="1524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14" name="Oval 13"/>
            <p:cNvSpPr/>
            <p:nvPr/>
          </p:nvSpPr>
          <p:spPr bwMode="auto">
            <a:xfrm>
              <a:off x="3810000" y="3276600"/>
              <a:ext cx="152400" cy="1524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15" name="Oval 14"/>
            <p:cNvSpPr/>
            <p:nvPr/>
          </p:nvSpPr>
          <p:spPr bwMode="auto">
            <a:xfrm>
              <a:off x="5257800" y="4419600"/>
              <a:ext cx="152400" cy="1524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cxnSp>
          <p:nvCxnSpPr>
            <p:cNvPr id="16" name="Straight Connector 15"/>
            <p:cNvCxnSpPr>
              <a:stCxn id="5" idx="5"/>
              <a:endCxn id="10" idx="0"/>
            </p:cNvCxnSpPr>
            <p:nvPr/>
          </p:nvCxnSpPr>
          <p:spPr bwMode="auto">
            <a:xfrm>
              <a:off x="1958882" y="1958882"/>
              <a:ext cx="555718" cy="1165318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7" name="Straight Connector 16"/>
            <p:cNvCxnSpPr>
              <a:stCxn id="5" idx="3"/>
              <a:endCxn id="6" idx="0"/>
            </p:cNvCxnSpPr>
            <p:nvPr/>
          </p:nvCxnSpPr>
          <p:spPr bwMode="auto">
            <a:xfrm flipH="1">
              <a:off x="1295400" y="1958882"/>
              <a:ext cx="555718" cy="1012918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8" name="Straight Connector 17"/>
            <p:cNvCxnSpPr>
              <a:stCxn id="6" idx="5"/>
              <a:endCxn id="13" idx="1"/>
            </p:cNvCxnSpPr>
            <p:nvPr/>
          </p:nvCxnSpPr>
          <p:spPr bwMode="auto">
            <a:xfrm>
              <a:off x="1349282" y="3101882"/>
              <a:ext cx="349436" cy="1568636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9" name="Straight Connector 18"/>
            <p:cNvCxnSpPr>
              <a:endCxn id="12" idx="1"/>
            </p:cNvCxnSpPr>
            <p:nvPr/>
          </p:nvCxnSpPr>
          <p:spPr bwMode="auto">
            <a:xfrm>
              <a:off x="2590800" y="3200400"/>
              <a:ext cx="327118" cy="555718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0" name="Straight Connector 19"/>
            <p:cNvCxnSpPr>
              <a:stCxn id="14" idx="5"/>
            </p:cNvCxnSpPr>
            <p:nvPr/>
          </p:nvCxnSpPr>
          <p:spPr bwMode="auto">
            <a:xfrm>
              <a:off x="3940082" y="3406682"/>
              <a:ext cx="1362354" cy="1057554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1" name="Straight Connector 20"/>
            <p:cNvCxnSpPr>
              <a:endCxn id="14" idx="7"/>
            </p:cNvCxnSpPr>
            <p:nvPr/>
          </p:nvCxnSpPr>
          <p:spPr bwMode="auto">
            <a:xfrm flipH="1">
              <a:off x="3940082" y="2133600"/>
              <a:ext cx="98518" cy="1165318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2" name="Straight Connector 21"/>
            <p:cNvCxnSpPr>
              <a:endCxn id="11" idx="4"/>
            </p:cNvCxnSpPr>
            <p:nvPr/>
          </p:nvCxnSpPr>
          <p:spPr bwMode="auto">
            <a:xfrm>
              <a:off x="4038600" y="2057400"/>
              <a:ext cx="1828800" cy="990600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3" name="Straight Connector 22"/>
            <p:cNvCxnSpPr>
              <a:endCxn id="15" idx="0"/>
            </p:cNvCxnSpPr>
            <p:nvPr/>
          </p:nvCxnSpPr>
          <p:spPr bwMode="auto">
            <a:xfrm flipH="1">
              <a:off x="5334000" y="3048000"/>
              <a:ext cx="533400" cy="1371600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4" name="Straight Connector 23"/>
            <p:cNvCxnSpPr>
              <a:endCxn id="9" idx="2"/>
            </p:cNvCxnSpPr>
            <p:nvPr/>
          </p:nvCxnSpPr>
          <p:spPr bwMode="auto">
            <a:xfrm>
              <a:off x="1752600" y="4648200"/>
              <a:ext cx="914400" cy="609600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5" name="Straight Connector 24"/>
            <p:cNvCxnSpPr>
              <a:endCxn id="8" idx="3"/>
            </p:cNvCxnSpPr>
            <p:nvPr/>
          </p:nvCxnSpPr>
          <p:spPr bwMode="auto">
            <a:xfrm>
              <a:off x="2971800" y="3733800"/>
              <a:ext cx="1012918" cy="739682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6" name="Straight Connector 25"/>
            <p:cNvCxnSpPr>
              <a:endCxn id="8" idx="5"/>
            </p:cNvCxnSpPr>
            <p:nvPr/>
          </p:nvCxnSpPr>
          <p:spPr bwMode="auto">
            <a:xfrm flipH="1">
              <a:off x="4092482" y="4419600"/>
              <a:ext cx="1241518" cy="53882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7" name="Straight Connector 26"/>
            <p:cNvCxnSpPr>
              <a:endCxn id="8" idx="1"/>
            </p:cNvCxnSpPr>
            <p:nvPr/>
          </p:nvCxnSpPr>
          <p:spPr bwMode="auto">
            <a:xfrm>
              <a:off x="3886200" y="3276600"/>
              <a:ext cx="98518" cy="1089118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" name="Straight Connector 27"/>
            <p:cNvCxnSpPr>
              <a:endCxn id="9" idx="0"/>
            </p:cNvCxnSpPr>
            <p:nvPr/>
          </p:nvCxnSpPr>
          <p:spPr bwMode="auto">
            <a:xfrm flipH="1">
              <a:off x="2743200" y="3810000"/>
              <a:ext cx="228600" cy="1371600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9" name="Straight Connector 28"/>
            <p:cNvCxnSpPr>
              <a:stCxn id="10" idx="6"/>
              <a:endCxn id="14" idx="1"/>
            </p:cNvCxnSpPr>
            <p:nvPr/>
          </p:nvCxnSpPr>
          <p:spPr bwMode="auto">
            <a:xfrm>
              <a:off x="2590800" y="3200400"/>
              <a:ext cx="1241518" cy="98518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4" name="Straight Connector 63"/>
            <p:cNvCxnSpPr>
              <a:stCxn id="6" idx="6"/>
              <a:endCxn id="10" idx="2"/>
            </p:cNvCxnSpPr>
            <p:nvPr/>
          </p:nvCxnSpPr>
          <p:spPr bwMode="auto">
            <a:xfrm>
              <a:off x="1371600" y="3048000"/>
              <a:ext cx="1066800" cy="152400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6" name="Straight Connector 65"/>
            <p:cNvCxnSpPr>
              <a:stCxn id="13" idx="0"/>
              <a:endCxn id="12" idx="3"/>
            </p:cNvCxnSpPr>
            <p:nvPr/>
          </p:nvCxnSpPr>
          <p:spPr bwMode="auto">
            <a:xfrm flipV="1">
              <a:off x="1752600" y="3863882"/>
              <a:ext cx="1165318" cy="784318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8" name="Straight Connector 67"/>
            <p:cNvCxnSpPr>
              <a:stCxn id="9" idx="7"/>
              <a:endCxn id="8" idx="3"/>
            </p:cNvCxnSpPr>
            <p:nvPr/>
          </p:nvCxnSpPr>
          <p:spPr bwMode="auto">
            <a:xfrm flipV="1">
              <a:off x="2797082" y="4473482"/>
              <a:ext cx="1187636" cy="730436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70" name="Straight Connector 69"/>
            <p:cNvCxnSpPr>
              <a:stCxn id="13" idx="0"/>
              <a:endCxn id="10" idx="3"/>
            </p:cNvCxnSpPr>
            <p:nvPr/>
          </p:nvCxnSpPr>
          <p:spPr bwMode="auto">
            <a:xfrm flipV="1">
              <a:off x="1752600" y="3254282"/>
              <a:ext cx="708118" cy="1393918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72" name="Straight Connector 71"/>
            <p:cNvCxnSpPr>
              <a:stCxn id="12" idx="0"/>
              <a:endCxn id="14" idx="2"/>
            </p:cNvCxnSpPr>
            <p:nvPr/>
          </p:nvCxnSpPr>
          <p:spPr bwMode="auto">
            <a:xfrm flipV="1">
              <a:off x="2971800" y="3352800"/>
              <a:ext cx="838200" cy="381000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74" name="Straight Connector 73"/>
            <p:cNvCxnSpPr>
              <a:stCxn id="14" idx="7"/>
              <a:endCxn id="11" idx="5"/>
            </p:cNvCxnSpPr>
            <p:nvPr/>
          </p:nvCxnSpPr>
          <p:spPr bwMode="auto">
            <a:xfrm flipV="1">
              <a:off x="3940082" y="3025682"/>
              <a:ext cx="1981200" cy="273236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76" name="Straight Connector 75"/>
            <p:cNvCxnSpPr>
              <a:stCxn id="5" idx="7"/>
              <a:endCxn id="7" idx="2"/>
            </p:cNvCxnSpPr>
            <p:nvPr/>
          </p:nvCxnSpPr>
          <p:spPr bwMode="auto">
            <a:xfrm>
              <a:off x="1958882" y="1851118"/>
              <a:ext cx="2003518" cy="282482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78" name="Straight Connector 77"/>
            <p:cNvCxnSpPr>
              <a:stCxn id="10" idx="7"/>
              <a:endCxn id="7" idx="0"/>
            </p:cNvCxnSpPr>
            <p:nvPr/>
          </p:nvCxnSpPr>
          <p:spPr bwMode="auto">
            <a:xfrm flipV="1">
              <a:off x="2568482" y="2057400"/>
              <a:ext cx="1470118" cy="1089118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30" name="Date Placeholder 2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1" name="Footer Placeholder 3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2" name="Slide Number Placeholder 3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537568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spanning tree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667E8F-4C46-A54F-A59E-8662EF143610}" type="slidenum">
              <a:rPr lang="en-US" smtClean="0"/>
              <a:pPr/>
              <a:t>49</a:t>
            </a:fld>
            <a:endParaRPr lang="en-US"/>
          </a:p>
        </p:txBody>
      </p:sp>
      <p:sp>
        <p:nvSpPr>
          <p:cNvPr id="5" name="Oval 4"/>
          <p:cNvSpPr/>
          <p:nvPr/>
        </p:nvSpPr>
        <p:spPr bwMode="auto">
          <a:xfrm>
            <a:off x="1828800" y="18288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6" name="Oval 5"/>
          <p:cNvSpPr/>
          <p:nvPr/>
        </p:nvSpPr>
        <p:spPr bwMode="auto">
          <a:xfrm>
            <a:off x="1219200" y="29718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7" name="Oval 6"/>
          <p:cNvSpPr/>
          <p:nvPr/>
        </p:nvSpPr>
        <p:spPr bwMode="auto">
          <a:xfrm>
            <a:off x="3962400" y="20574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8" name="Oval 7"/>
          <p:cNvSpPr/>
          <p:nvPr/>
        </p:nvSpPr>
        <p:spPr bwMode="auto">
          <a:xfrm>
            <a:off x="3962400" y="43434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9" name="Oval 8"/>
          <p:cNvSpPr/>
          <p:nvPr/>
        </p:nvSpPr>
        <p:spPr bwMode="auto">
          <a:xfrm>
            <a:off x="2667000" y="51816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0" name="Oval 9"/>
          <p:cNvSpPr/>
          <p:nvPr/>
        </p:nvSpPr>
        <p:spPr bwMode="auto">
          <a:xfrm>
            <a:off x="2438400" y="31242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1" name="Oval 10"/>
          <p:cNvSpPr/>
          <p:nvPr/>
        </p:nvSpPr>
        <p:spPr bwMode="auto">
          <a:xfrm>
            <a:off x="5791200" y="28956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2" name="Oval 11"/>
          <p:cNvSpPr/>
          <p:nvPr/>
        </p:nvSpPr>
        <p:spPr bwMode="auto">
          <a:xfrm>
            <a:off x="2895600" y="37338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3" name="Oval 12"/>
          <p:cNvSpPr/>
          <p:nvPr/>
        </p:nvSpPr>
        <p:spPr bwMode="auto">
          <a:xfrm>
            <a:off x="1676400" y="46482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4" name="Oval 13"/>
          <p:cNvSpPr/>
          <p:nvPr/>
        </p:nvSpPr>
        <p:spPr bwMode="auto">
          <a:xfrm>
            <a:off x="3810000" y="32766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5" name="Oval 14"/>
          <p:cNvSpPr/>
          <p:nvPr/>
        </p:nvSpPr>
        <p:spPr bwMode="auto">
          <a:xfrm>
            <a:off x="5257800" y="44196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cxnSp>
        <p:nvCxnSpPr>
          <p:cNvPr id="16" name="Straight Connector 15"/>
          <p:cNvCxnSpPr>
            <a:stCxn id="5" idx="5"/>
            <a:endCxn id="10" idx="0"/>
          </p:cNvCxnSpPr>
          <p:nvPr/>
        </p:nvCxnSpPr>
        <p:spPr bwMode="auto">
          <a:xfrm>
            <a:off x="1958882" y="1958882"/>
            <a:ext cx="555718" cy="1165318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7" name="Straight Connector 16"/>
          <p:cNvCxnSpPr>
            <a:stCxn id="5" idx="3"/>
            <a:endCxn id="6" idx="0"/>
          </p:cNvCxnSpPr>
          <p:nvPr/>
        </p:nvCxnSpPr>
        <p:spPr bwMode="auto">
          <a:xfrm flipH="1">
            <a:off x="1295400" y="1958882"/>
            <a:ext cx="555718" cy="1012918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9" name="Straight Connector 18"/>
          <p:cNvCxnSpPr>
            <a:endCxn id="12" idx="1"/>
          </p:cNvCxnSpPr>
          <p:nvPr/>
        </p:nvCxnSpPr>
        <p:spPr bwMode="auto">
          <a:xfrm>
            <a:off x="2590800" y="3200400"/>
            <a:ext cx="327118" cy="555718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2" name="Straight Connector 21"/>
          <p:cNvCxnSpPr>
            <a:endCxn id="11" idx="4"/>
          </p:cNvCxnSpPr>
          <p:nvPr/>
        </p:nvCxnSpPr>
        <p:spPr bwMode="auto">
          <a:xfrm>
            <a:off x="4038600" y="2057400"/>
            <a:ext cx="1828800" cy="9906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3" name="Straight Connector 22"/>
          <p:cNvCxnSpPr>
            <a:endCxn id="15" idx="0"/>
          </p:cNvCxnSpPr>
          <p:nvPr/>
        </p:nvCxnSpPr>
        <p:spPr bwMode="auto">
          <a:xfrm flipH="1">
            <a:off x="5334000" y="3048000"/>
            <a:ext cx="533400" cy="13716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4" name="Straight Connector 23"/>
          <p:cNvCxnSpPr>
            <a:endCxn id="9" idx="2"/>
          </p:cNvCxnSpPr>
          <p:nvPr/>
        </p:nvCxnSpPr>
        <p:spPr bwMode="auto">
          <a:xfrm>
            <a:off x="1752600" y="4648200"/>
            <a:ext cx="914400" cy="6096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5" name="Straight Connector 24"/>
          <p:cNvCxnSpPr>
            <a:endCxn id="8" idx="3"/>
          </p:cNvCxnSpPr>
          <p:nvPr/>
        </p:nvCxnSpPr>
        <p:spPr bwMode="auto">
          <a:xfrm>
            <a:off x="2971800" y="3733800"/>
            <a:ext cx="1012918" cy="739682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6" name="Straight Connector 25"/>
          <p:cNvCxnSpPr>
            <a:endCxn id="8" idx="5"/>
          </p:cNvCxnSpPr>
          <p:nvPr/>
        </p:nvCxnSpPr>
        <p:spPr bwMode="auto">
          <a:xfrm flipH="1">
            <a:off x="4092482" y="4419600"/>
            <a:ext cx="1241518" cy="53882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7" name="Straight Connector 26"/>
          <p:cNvCxnSpPr>
            <a:endCxn id="8" idx="1"/>
          </p:cNvCxnSpPr>
          <p:nvPr/>
        </p:nvCxnSpPr>
        <p:spPr bwMode="auto">
          <a:xfrm>
            <a:off x="3886200" y="3276600"/>
            <a:ext cx="98518" cy="1089118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70" name="Straight Connector 69"/>
          <p:cNvCxnSpPr>
            <a:stCxn id="13" idx="0"/>
            <a:endCxn id="10" idx="3"/>
          </p:cNvCxnSpPr>
          <p:nvPr/>
        </p:nvCxnSpPr>
        <p:spPr bwMode="auto">
          <a:xfrm flipV="1">
            <a:off x="1752600" y="3254282"/>
            <a:ext cx="708118" cy="1393918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1" name="Date Placeholder 20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28" name="Footer Placeholder 2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86106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Another spanning tree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1667E8F-4C46-A54F-A59E-8662EF143610}" type="slidenum">
              <a:rPr lang="en-US" smtClean="0"/>
              <a:pPr>
                <a:defRPr/>
              </a:pPr>
              <a:t>50</a:t>
            </a:fld>
            <a:endParaRPr lang="en-US"/>
          </a:p>
        </p:txBody>
      </p:sp>
      <p:sp>
        <p:nvSpPr>
          <p:cNvPr id="5" name="Oval 4"/>
          <p:cNvSpPr/>
          <p:nvPr/>
        </p:nvSpPr>
        <p:spPr bwMode="auto">
          <a:xfrm>
            <a:off x="1828800" y="18288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6" name="Oval 5"/>
          <p:cNvSpPr/>
          <p:nvPr/>
        </p:nvSpPr>
        <p:spPr bwMode="auto">
          <a:xfrm>
            <a:off x="1219200" y="29718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7" name="Oval 6"/>
          <p:cNvSpPr/>
          <p:nvPr/>
        </p:nvSpPr>
        <p:spPr bwMode="auto">
          <a:xfrm>
            <a:off x="3962400" y="20574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8" name="Oval 7"/>
          <p:cNvSpPr/>
          <p:nvPr/>
        </p:nvSpPr>
        <p:spPr bwMode="auto">
          <a:xfrm>
            <a:off x="3962400" y="43434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9" name="Oval 8"/>
          <p:cNvSpPr/>
          <p:nvPr/>
        </p:nvSpPr>
        <p:spPr bwMode="auto">
          <a:xfrm>
            <a:off x="2667000" y="51816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0" name="Oval 9"/>
          <p:cNvSpPr/>
          <p:nvPr/>
        </p:nvSpPr>
        <p:spPr bwMode="auto">
          <a:xfrm>
            <a:off x="2438400" y="31242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1" name="Oval 10"/>
          <p:cNvSpPr/>
          <p:nvPr/>
        </p:nvSpPr>
        <p:spPr bwMode="auto">
          <a:xfrm>
            <a:off x="5791200" y="28956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2" name="Oval 11"/>
          <p:cNvSpPr/>
          <p:nvPr/>
        </p:nvSpPr>
        <p:spPr bwMode="auto">
          <a:xfrm>
            <a:off x="2895600" y="37338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3" name="Oval 12"/>
          <p:cNvSpPr/>
          <p:nvPr/>
        </p:nvSpPr>
        <p:spPr bwMode="auto">
          <a:xfrm>
            <a:off x="1676400" y="46482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4" name="Oval 13"/>
          <p:cNvSpPr/>
          <p:nvPr/>
        </p:nvSpPr>
        <p:spPr bwMode="auto">
          <a:xfrm>
            <a:off x="3810000" y="32766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5" name="Oval 14"/>
          <p:cNvSpPr/>
          <p:nvPr/>
        </p:nvSpPr>
        <p:spPr bwMode="auto">
          <a:xfrm>
            <a:off x="5257800" y="44196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cxnSp>
        <p:nvCxnSpPr>
          <p:cNvPr id="17" name="Straight Connector 16"/>
          <p:cNvCxnSpPr>
            <a:stCxn id="5" idx="3"/>
            <a:endCxn id="6" idx="0"/>
          </p:cNvCxnSpPr>
          <p:nvPr/>
        </p:nvCxnSpPr>
        <p:spPr bwMode="auto">
          <a:xfrm flipH="1">
            <a:off x="1295400" y="1958882"/>
            <a:ext cx="555718" cy="1012918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8" name="Straight Connector 17"/>
          <p:cNvCxnSpPr>
            <a:stCxn id="6" idx="5"/>
            <a:endCxn id="13" idx="1"/>
          </p:cNvCxnSpPr>
          <p:nvPr/>
        </p:nvCxnSpPr>
        <p:spPr bwMode="auto">
          <a:xfrm>
            <a:off x="1349282" y="3101882"/>
            <a:ext cx="349436" cy="1568636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9" name="Straight Connector 18"/>
          <p:cNvCxnSpPr>
            <a:endCxn id="12" idx="1"/>
          </p:cNvCxnSpPr>
          <p:nvPr/>
        </p:nvCxnSpPr>
        <p:spPr bwMode="auto">
          <a:xfrm>
            <a:off x="2590800" y="3200400"/>
            <a:ext cx="327118" cy="555718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1" name="Straight Connector 20"/>
          <p:cNvCxnSpPr>
            <a:endCxn id="14" idx="7"/>
          </p:cNvCxnSpPr>
          <p:nvPr/>
        </p:nvCxnSpPr>
        <p:spPr bwMode="auto">
          <a:xfrm flipH="1">
            <a:off x="3940082" y="2133600"/>
            <a:ext cx="98518" cy="1165318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3" name="Straight Connector 22"/>
          <p:cNvCxnSpPr>
            <a:endCxn id="15" idx="0"/>
          </p:cNvCxnSpPr>
          <p:nvPr/>
        </p:nvCxnSpPr>
        <p:spPr bwMode="auto">
          <a:xfrm flipH="1">
            <a:off x="5334000" y="3048000"/>
            <a:ext cx="533400" cy="13716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4" name="Straight Connector 23"/>
          <p:cNvCxnSpPr>
            <a:endCxn id="9" idx="2"/>
          </p:cNvCxnSpPr>
          <p:nvPr/>
        </p:nvCxnSpPr>
        <p:spPr bwMode="auto">
          <a:xfrm>
            <a:off x="1752600" y="4648200"/>
            <a:ext cx="914400" cy="6096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6" name="Straight Connector 25"/>
          <p:cNvCxnSpPr>
            <a:endCxn id="8" idx="5"/>
          </p:cNvCxnSpPr>
          <p:nvPr/>
        </p:nvCxnSpPr>
        <p:spPr bwMode="auto">
          <a:xfrm flipH="1">
            <a:off x="4092482" y="4419600"/>
            <a:ext cx="1241518" cy="53882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68" name="Straight Connector 67"/>
          <p:cNvCxnSpPr>
            <a:stCxn id="9" idx="7"/>
            <a:endCxn id="8" idx="3"/>
          </p:cNvCxnSpPr>
          <p:nvPr/>
        </p:nvCxnSpPr>
        <p:spPr bwMode="auto">
          <a:xfrm flipV="1">
            <a:off x="2797082" y="4473482"/>
            <a:ext cx="1187636" cy="730436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72" name="Straight Connector 71"/>
          <p:cNvCxnSpPr>
            <a:stCxn id="12" idx="0"/>
            <a:endCxn id="14" idx="2"/>
          </p:cNvCxnSpPr>
          <p:nvPr/>
        </p:nvCxnSpPr>
        <p:spPr bwMode="auto">
          <a:xfrm flipV="1">
            <a:off x="2971800" y="3352800"/>
            <a:ext cx="838200" cy="3810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76" name="Straight Connector 75"/>
          <p:cNvCxnSpPr>
            <a:stCxn id="5" idx="7"/>
            <a:endCxn id="7" idx="2"/>
          </p:cNvCxnSpPr>
          <p:nvPr/>
        </p:nvCxnSpPr>
        <p:spPr bwMode="auto">
          <a:xfrm>
            <a:off x="1958882" y="1851118"/>
            <a:ext cx="2003518" cy="282482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541661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Yet another spanning tree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1667E8F-4C46-A54F-A59E-8662EF143610}" type="slidenum">
              <a:rPr lang="en-US" smtClean="0"/>
              <a:pPr>
                <a:defRPr/>
              </a:pPr>
              <a:t>51</a:t>
            </a:fld>
            <a:endParaRPr lang="en-US"/>
          </a:p>
        </p:txBody>
      </p:sp>
      <p:sp>
        <p:nvSpPr>
          <p:cNvPr id="5" name="Oval 4"/>
          <p:cNvSpPr/>
          <p:nvPr/>
        </p:nvSpPr>
        <p:spPr bwMode="auto">
          <a:xfrm>
            <a:off x="1828800" y="18288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6" name="Oval 5"/>
          <p:cNvSpPr/>
          <p:nvPr/>
        </p:nvSpPr>
        <p:spPr bwMode="auto">
          <a:xfrm>
            <a:off x="1219200" y="29718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7" name="Oval 6"/>
          <p:cNvSpPr/>
          <p:nvPr/>
        </p:nvSpPr>
        <p:spPr bwMode="auto">
          <a:xfrm>
            <a:off x="3962400" y="20574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8" name="Oval 7"/>
          <p:cNvSpPr/>
          <p:nvPr/>
        </p:nvSpPr>
        <p:spPr bwMode="auto">
          <a:xfrm>
            <a:off x="3962400" y="43434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9" name="Oval 8"/>
          <p:cNvSpPr/>
          <p:nvPr/>
        </p:nvSpPr>
        <p:spPr bwMode="auto">
          <a:xfrm>
            <a:off x="2667000" y="51816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0" name="Oval 9"/>
          <p:cNvSpPr/>
          <p:nvPr/>
        </p:nvSpPr>
        <p:spPr bwMode="auto">
          <a:xfrm>
            <a:off x="2438400" y="31242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1" name="Oval 10"/>
          <p:cNvSpPr/>
          <p:nvPr/>
        </p:nvSpPr>
        <p:spPr bwMode="auto">
          <a:xfrm>
            <a:off x="5791200" y="28956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2" name="Oval 11"/>
          <p:cNvSpPr/>
          <p:nvPr/>
        </p:nvSpPr>
        <p:spPr bwMode="auto">
          <a:xfrm>
            <a:off x="2895600" y="37338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3" name="Oval 12"/>
          <p:cNvSpPr/>
          <p:nvPr/>
        </p:nvSpPr>
        <p:spPr bwMode="auto">
          <a:xfrm>
            <a:off x="1676400" y="46482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4" name="Oval 13"/>
          <p:cNvSpPr/>
          <p:nvPr/>
        </p:nvSpPr>
        <p:spPr bwMode="auto">
          <a:xfrm>
            <a:off x="3810000" y="32766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5" name="Oval 14"/>
          <p:cNvSpPr/>
          <p:nvPr/>
        </p:nvSpPr>
        <p:spPr bwMode="auto">
          <a:xfrm>
            <a:off x="5257800" y="44196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cxnSp>
        <p:nvCxnSpPr>
          <p:cNvPr id="16" name="Straight Connector 15"/>
          <p:cNvCxnSpPr>
            <a:stCxn id="5" idx="5"/>
            <a:endCxn id="10" idx="0"/>
          </p:cNvCxnSpPr>
          <p:nvPr/>
        </p:nvCxnSpPr>
        <p:spPr bwMode="auto">
          <a:xfrm>
            <a:off x="1958882" y="1958882"/>
            <a:ext cx="555718" cy="1165318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0" name="Straight Connector 19"/>
          <p:cNvCxnSpPr>
            <a:stCxn id="14" idx="5"/>
          </p:cNvCxnSpPr>
          <p:nvPr/>
        </p:nvCxnSpPr>
        <p:spPr bwMode="auto">
          <a:xfrm>
            <a:off x="3940082" y="3406682"/>
            <a:ext cx="1362354" cy="1057554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1" name="Straight Connector 20"/>
          <p:cNvCxnSpPr>
            <a:endCxn id="14" idx="7"/>
          </p:cNvCxnSpPr>
          <p:nvPr/>
        </p:nvCxnSpPr>
        <p:spPr bwMode="auto">
          <a:xfrm flipH="1">
            <a:off x="3940082" y="2133600"/>
            <a:ext cx="98518" cy="1165318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7" name="Straight Connector 26"/>
          <p:cNvCxnSpPr>
            <a:endCxn id="8" idx="1"/>
          </p:cNvCxnSpPr>
          <p:nvPr/>
        </p:nvCxnSpPr>
        <p:spPr bwMode="auto">
          <a:xfrm>
            <a:off x="3886200" y="3276600"/>
            <a:ext cx="98518" cy="1089118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8" name="Straight Connector 27"/>
          <p:cNvCxnSpPr>
            <a:endCxn id="9" idx="0"/>
          </p:cNvCxnSpPr>
          <p:nvPr/>
        </p:nvCxnSpPr>
        <p:spPr bwMode="auto">
          <a:xfrm flipH="1">
            <a:off x="2743200" y="3810000"/>
            <a:ext cx="228600" cy="13716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9" name="Straight Connector 28"/>
          <p:cNvCxnSpPr>
            <a:stCxn id="10" idx="6"/>
            <a:endCxn id="14" idx="1"/>
          </p:cNvCxnSpPr>
          <p:nvPr/>
        </p:nvCxnSpPr>
        <p:spPr bwMode="auto">
          <a:xfrm>
            <a:off x="2590800" y="3200400"/>
            <a:ext cx="1241518" cy="98518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64" name="Straight Connector 63"/>
          <p:cNvCxnSpPr>
            <a:stCxn id="6" idx="6"/>
            <a:endCxn id="10" idx="2"/>
          </p:cNvCxnSpPr>
          <p:nvPr/>
        </p:nvCxnSpPr>
        <p:spPr bwMode="auto">
          <a:xfrm>
            <a:off x="1371600" y="3048000"/>
            <a:ext cx="1066800" cy="1524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70" name="Straight Connector 69"/>
          <p:cNvCxnSpPr>
            <a:stCxn id="13" idx="0"/>
            <a:endCxn id="10" idx="3"/>
          </p:cNvCxnSpPr>
          <p:nvPr/>
        </p:nvCxnSpPr>
        <p:spPr bwMode="auto">
          <a:xfrm flipV="1">
            <a:off x="1752600" y="3254282"/>
            <a:ext cx="708118" cy="1393918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72" name="Straight Connector 71"/>
          <p:cNvCxnSpPr>
            <a:stCxn id="12" idx="0"/>
            <a:endCxn id="14" idx="2"/>
          </p:cNvCxnSpPr>
          <p:nvPr/>
        </p:nvCxnSpPr>
        <p:spPr bwMode="auto">
          <a:xfrm flipV="1">
            <a:off x="2971800" y="3352800"/>
            <a:ext cx="838200" cy="3810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74" name="Straight Connector 73"/>
          <p:cNvCxnSpPr>
            <a:stCxn id="14" idx="7"/>
            <a:endCxn id="11" idx="5"/>
          </p:cNvCxnSpPr>
          <p:nvPr/>
        </p:nvCxnSpPr>
        <p:spPr bwMode="auto">
          <a:xfrm flipV="1">
            <a:off x="3940082" y="3025682"/>
            <a:ext cx="1981200" cy="273236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724963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Spanning tree protocol (Perlman’85)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Protocol by which bridges construct a spanning tree</a:t>
            </a:r>
          </a:p>
          <a:p>
            <a:r>
              <a:rPr lang="en-US" dirty="0"/>
              <a:t>Nice properties</a:t>
            </a:r>
          </a:p>
          <a:p>
            <a:pPr lvl="1"/>
            <a:r>
              <a:rPr lang="en-US" dirty="0"/>
              <a:t>Zero configuration (by operators or users)</a:t>
            </a:r>
          </a:p>
          <a:p>
            <a:pPr lvl="1"/>
            <a:r>
              <a:rPr lang="en-US" dirty="0"/>
              <a:t>Self healing</a:t>
            </a:r>
          </a:p>
          <a:p>
            <a:r>
              <a:rPr lang="en-US" dirty="0"/>
              <a:t>Still used today</a:t>
            </a:r>
          </a:p>
          <a:p>
            <a:endParaRPr lang="en-US" dirty="0"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84969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From extended LANs to switched Ethernet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82242" y="2556268"/>
            <a:ext cx="3652411" cy="2394613"/>
            <a:chOff x="382242" y="2556268"/>
            <a:chExt cx="3652411" cy="2394613"/>
          </a:xfrm>
        </p:grpSpPr>
        <p:sp>
          <p:nvSpPr>
            <p:cNvPr id="68" name="Line 14"/>
            <p:cNvSpPr>
              <a:spLocks noChangeShapeType="1"/>
            </p:cNvSpPr>
            <p:nvPr/>
          </p:nvSpPr>
          <p:spPr bwMode="auto">
            <a:xfrm>
              <a:off x="2229556" y="2594799"/>
              <a:ext cx="0" cy="48121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69" name="Line 15"/>
            <p:cNvSpPr>
              <a:spLocks noChangeShapeType="1"/>
            </p:cNvSpPr>
            <p:nvPr/>
          </p:nvSpPr>
          <p:spPr bwMode="auto">
            <a:xfrm flipH="1">
              <a:off x="424459" y="3076017"/>
              <a:ext cx="3610194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71" name="Rectangle 11"/>
            <p:cNvSpPr>
              <a:spLocks noChangeArrowheads="1"/>
            </p:cNvSpPr>
            <p:nvPr/>
          </p:nvSpPr>
          <p:spPr bwMode="auto">
            <a:xfrm>
              <a:off x="2183038" y="2556268"/>
              <a:ext cx="94248" cy="16799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2" name="Line 14"/>
            <p:cNvSpPr>
              <a:spLocks noChangeShapeType="1"/>
            </p:cNvSpPr>
            <p:nvPr/>
          </p:nvSpPr>
          <p:spPr bwMode="auto">
            <a:xfrm>
              <a:off x="3616268" y="2594799"/>
              <a:ext cx="0" cy="48121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73" name="Rectangle 11"/>
            <p:cNvSpPr>
              <a:spLocks noChangeArrowheads="1"/>
            </p:cNvSpPr>
            <p:nvPr/>
          </p:nvSpPr>
          <p:spPr bwMode="auto">
            <a:xfrm>
              <a:off x="3569750" y="2556268"/>
              <a:ext cx="94248" cy="16799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4" name="Line 14"/>
            <p:cNvSpPr>
              <a:spLocks noChangeShapeType="1"/>
            </p:cNvSpPr>
            <p:nvPr/>
          </p:nvSpPr>
          <p:spPr bwMode="auto">
            <a:xfrm>
              <a:off x="769396" y="2594799"/>
              <a:ext cx="0" cy="48121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75" name="Rectangle 11"/>
            <p:cNvSpPr>
              <a:spLocks noChangeArrowheads="1"/>
            </p:cNvSpPr>
            <p:nvPr/>
          </p:nvSpPr>
          <p:spPr bwMode="auto">
            <a:xfrm>
              <a:off x="722877" y="2556268"/>
              <a:ext cx="94248" cy="16799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80" name="Group 79"/>
            <p:cNvGrpSpPr/>
            <p:nvPr/>
          </p:nvGrpSpPr>
          <p:grpSpPr>
            <a:xfrm>
              <a:off x="1411514" y="3055434"/>
              <a:ext cx="287716" cy="1391346"/>
              <a:chOff x="3437618" y="2441030"/>
              <a:chExt cx="287716" cy="1294744"/>
            </a:xfrm>
          </p:grpSpPr>
          <p:sp>
            <p:nvSpPr>
              <p:cNvPr id="81" name="Rounded Rectangle 80"/>
              <p:cNvSpPr/>
              <p:nvPr/>
            </p:nvSpPr>
            <p:spPr>
              <a:xfrm>
                <a:off x="3437618" y="2922707"/>
                <a:ext cx="287716" cy="322311"/>
              </a:xfrm>
              <a:prstGeom prst="roundRect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rgbClr val="1F497D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Rectangle 12"/>
              <p:cNvSpPr>
                <a:spLocks noChangeArrowheads="1"/>
              </p:cNvSpPr>
              <p:nvPr/>
            </p:nvSpPr>
            <p:spPr bwMode="auto">
              <a:xfrm>
                <a:off x="3540134" y="2778854"/>
                <a:ext cx="94248" cy="167994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rgbClr val="1F497D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83" name="Line 16"/>
              <p:cNvSpPr>
                <a:spLocks noChangeShapeType="1"/>
              </p:cNvSpPr>
              <p:nvPr/>
            </p:nvSpPr>
            <p:spPr bwMode="auto">
              <a:xfrm flipH="1" flipV="1">
                <a:off x="3581047" y="2441030"/>
                <a:ext cx="0" cy="332068"/>
              </a:xfrm>
              <a:prstGeom prst="line">
                <a:avLst/>
              </a:prstGeom>
              <a:noFill/>
              <a:ln w="28575" cmpd="sng">
                <a:solidFill>
                  <a:srgbClr val="1F497D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84" name="Line 14"/>
              <p:cNvSpPr>
                <a:spLocks noChangeShapeType="1"/>
              </p:cNvSpPr>
              <p:nvPr/>
            </p:nvSpPr>
            <p:spPr bwMode="auto">
              <a:xfrm>
                <a:off x="3579091" y="3254557"/>
                <a:ext cx="0" cy="481217"/>
              </a:xfrm>
              <a:prstGeom prst="line">
                <a:avLst/>
              </a:prstGeom>
              <a:noFill/>
              <a:ln w="28575" cmpd="sng">
                <a:solidFill>
                  <a:srgbClr val="1F497D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85" name="Rectangle 11"/>
              <p:cNvSpPr>
                <a:spLocks noChangeArrowheads="1"/>
              </p:cNvSpPr>
              <p:nvPr/>
            </p:nvSpPr>
            <p:spPr bwMode="auto">
              <a:xfrm>
                <a:off x="3509991" y="3214961"/>
                <a:ext cx="139998" cy="167993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rgbClr val="1F497D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89" name="Line 15"/>
            <p:cNvSpPr>
              <a:spLocks noChangeShapeType="1"/>
            </p:cNvSpPr>
            <p:nvPr/>
          </p:nvSpPr>
          <p:spPr bwMode="auto">
            <a:xfrm flipH="1">
              <a:off x="382242" y="4443141"/>
              <a:ext cx="3610194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90" name="Line 14"/>
            <p:cNvSpPr>
              <a:spLocks noChangeShapeType="1"/>
            </p:cNvSpPr>
            <p:nvPr/>
          </p:nvSpPr>
          <p:spPr bwMode="auto">
            <a:xfrm>
              <a:off x="2978446" y="2596928"/>
              <a:ext cx="0" cy="48121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91" name="Rectangle 11"/>
            <p:cNvSpPr>
              <a:spLocks noChangeArrowheads="1"/>
            </p:cNvSpPr>
            <p:nvPr/>
          </p:nvSpPr>
          <p:spPr bwMode="auto">
            <a:xfrm>
              <a:off x="2931928" y="2556268"/>
              <a:ext cx="94248" cy="16799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96" name="Group 95"/>
            <p:cNvGrpSpPr/>
            <p:nvPr/>
          </p:nvGrpSpPr>
          <p:grpSpPr>
            <a:xfrm>
              <a:off x="1182173" y="4420474"/>
              <a:ext cx="104201" cy="518076"/>
              <a:chOff x="2820129" y="2959980"/>
              <a:chExt cx="120650" cy="626164"/>
            </a:xfrm>
          </p:grpSpPr>
          <p:sp>
            <p:nvSpPr>
              <p:cNvPr id="97" name="Rectangle 12"/>
              <p:cNvSpPr>
                <a:spLocks noChangeArrowheads="1"/>
              </p:cNvSpPr>
              <p:nvPr/>
            </p:nvSpPr>
            <p:spPr bwMode="auto">
              <a:xfrm>
                <a:off x="2820129" y="3378181"/>
                <a:ext cx="120650" cy="207963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98" name="Line 16"/>
              <p:cNvSpPr>
                <a:spLocks noChangeShapeType="1"/>
              </p:cNvSpPr>
              <p:nvPr/>
            </p:nvSpPr>
            <p:spPr bwMode="auto">
              <a:xfrm flipH="1" flipV="1">
                <a:off x="2858229" y="2959980"/>
                <a:ext cx="0" cy="41107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/>
              </a:p>
            </p:txBody>
          </p:sp>
        </p:grpSp>
        <p:grpSp>
          <p:nvGrpSpPr>
            <p:cNvPr id="100" name="Group 99"/>
            <p:cNvGrpSpPr/>
            <p:nvPr/>
          </p:nvGrpSpPr>
          <p:grpSpPr>
            <a:xfrm>
              <a:off x="2055016" y="4419501"/>
              <a:ext cx="104201" cy="518076"/>
              <a:chOff x="2820129" y="2959980"/>
              <a:chExt cx="120650" cy="626164"/>
            </a:xfrm>
          </p:grpSpPr>
          <p:sp>
            <p:nvSpPr>
              <p:cNvPr id="101" name="Rectangle 12"/>
              <p:cNvSpPr>
                <a:spLocks noChangeArrowheads="1"/>
              </p:cNvSpPr>
              <p:nvPr/>
            </p:nvSpPr>
            <p:spPr bwMode="auto">
              <a:xfrm>
                <a:off x="2820129" y="3378181"/>
                <a:ext cx="120650" cy="207963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02" name="Line 16"/>
              <p:cNvSpPr>
                <a:spLocks noChangeShapeType="1"/>
              </p:cNvSpPr>
              <p:nvPr/>
            </p:nvSpPr>
            <p:spPr bwMode="auto">
              <a:xfrm flipH="1" flipV="1">
                <a:off x="2858229" y="2959980"/>
                <a:ext cx="0" cy="41107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/>
              </a:p>
            </p:txBody>
          </p:sp>
        </p:grpSp>
        <p:grpSp>
          <p:nvGrpSpPr>
            <p:cNvPr id="104" name="Group 103"/>
            <p:cNvGrpSpPr/>
            <p:nvPr/>
          </p:nvGrpSpPr>
          <p:grpSpPr>
            <a:xfrm>
              <a:off x="3047092" y="4432805"/>
              <a:ext cx="104201" cy="518076"/>
              <a:chOff x="2820129" y="2959980"/>
              <a:chExt cx="120650" cy="626164"/>
            </a:xfrm>
          </p:grpSpPr>
          <p:sp>
            <p:nvSpPr>
              <p:cNvPr id="105" name="Rectangle 12"/>
              <p:cNvSpPr>
                <a:spLocks noChangeArrowheads="1"/>
              </p:cNvSpPr>
              <p:nvPr/>
            </p:nvSpPr>
            <p:spPr bwMode="auto">
              <a:xfrm>
                <a:off x="2820129" y="3378181"/>
                <a:ext cx="120650" cy="207963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06" name="Line 16"/>
              <p:cNvSpPr>
                <a:spLocks noChangeShapeType="1"/>
              </p:cNvSpPr>
              <p:nvPr/>
            </p:nvSpPr>
            <p:spPr bwMode="auto">
              <a:xfrm flipH="1" flipV="1">
                <a:off x="2858229" y="2959980"/>
                <a:ext cx="0" cy="41107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/>
              </a:p>
            </p:txBody>
          </p:sp>
        </p:grpSp>
      </p:grpSp>
      <p:grpSp>
        <p:nvGrpSpPr>
          <p:cNvPr id="4" name="Group 3"/>
          <p:cNvGrpSpPr/>
          <p:nvPr/>
        </p:nvGrpSpPr>
        <p:grpSpPr>
          <a:xfrm>
            <a:off x="5464207" y="2625385"/>
            <a:ext cx="2941121" cy="2829296"/>
            <a:chOff x="5464207" y="2625385"/>
            <a:chExt cx="2941121" cy="2829296"/>
          </a:xfrm>
        </p:grpSpPr>
        <p:pic>
          <p:nvPicPr>
            <p:cNvPr id="58" name="Picture 57"/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7088817" y="3419381"/>
              <a:ext cx="397008" cy="380329"/>
            </a:xfrm>
            <a:prstGeom prst="rect">
              <a:avLst/>
            </a:prstGeom>
          </p:spPr>
        </p:pic>
        <p:sp>
          <p:nvSpPr>
            <p:cNvPr id="109" name="Line 14"/>
            <p:cNvSpPr>
              <a:spLocks noChangeShapeType="1"/>
            </p:cNvSpPr>
            <p:nvPr/>
          </p:nvSpPr>
          <p:spPr bwMode="auto">
            <a:xfrm>
              <a:off x="6970885" y="2663915"/>
              <a:ext cx="221427" cy="74970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10" name="Rectangle 11"/>
            <p:cNvSpPr>
              <a:spLocks noChangeArrowheads="1"/>
            </p:cNvSpPr>
            <p:nvPr/>
          </p:nvSpPr>
          <p:spPr bwMode="auto">
            <a:xfrm>
              <a:off x="6924368" y="2625385"/>
              <a:ext cx="94248" cy="16799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11" name="Line 14"/>
            <p:cNvSpPr>
              <a:spLocks noChangeShapeType="1"/>
            </p:cNvSpPr>
            <p:nvPr/>
          </p:nvSpPr>
          <p:spPr bwMode="auto">
            <a:xfrm flipH="1">
              <a:off x="7485824" y="2663915"/>
              <a:ext cx="825255" cy="75546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12" name="Rectangle 11"/>
            <p:cNvSpPr>
              <a:spLocks noChangeArrowheads="1"/>
            </p:cNvSpPr>
            <p:nvPr/>
          </p:nvSpPr>
          <p:spPr bwMode="auto">
            <a:xfrm>
              <a:off x="8311080" y="2625385"/>
              <a:ext cx="94248" cy="16799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13" name="Line 14"/>
            <p:cNvSpPr>
              <a:spLocks noChangeShapeType="1"/>
            </p:cNvSpPr>
            <p:nvPr/>
          </p:nvSpPr>
          <p:spPr bwMode="auto">
            <a:xfrm>
              <a:off x="5510725" y="2663915"/>
              <a:ext cx="1678701" cy="75546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14" name="Rectangle 11"/>
            <p:cNvSpPr>
              <a:spLocks noChangeArrowheads="1"/>
            </p:cNvSpPr>
            <p:nvPr/>
          </p:nvSpPr>
          <p:spPr bwMode="auto">
            <a:xfrm>
              <a:off x="5464207" y="2625385"/>
              <a:ext cx="94248" cy="16799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16" name="Line 14"/>
            <p:cNvSpPr>
              <a:spLocks noChangeShapeType="1"/>
            </p:cNvSpPr>
            <p:nvPr/>
          </p:nvSpPr>
          <p:spPr bwMode="auto">
            <a:xfrm flipH="1">
              <a:off x="7368820" y="2666045"/>
              <a:ext cx="350956" cy="7475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17" name="Rectangle 11"/>
            <p:cNvSpPr>
              <a:spLocks noChangeArrowheads="1"/>
            </p:cNvSpPr>
            <p:nvPr/>
          </p:nvSpPr>
          <p:spPr bwMode="auto">
            <a:xfrm>
              <a:off x="7673258" y="2625385"/>
              <a:ext cx="94248" cy="16799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1" name="Rectangle 12"/>
            <p:cNvSpPr>
              <a:spLocks noChangeArrowheads="1"/>
            </p:cNvSpPr>
            <p:nvPr/>
          </p:nvSpPr>
          <p:spPr bwMode="auto">
            <a:xfrm>
              <a:off x="6316584" y="5282616"/>
              <a:ext cx="104201" cy="172065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2" name="Line 16"/>
            <p:cNvSpPr>
              <a:spLocks noChangeShapeType="1"/>
            </p:cNvSpPr>
            <p:nvPr/>
          </p:nvSpPr>
          <p:spPr bwMode="auto">
            <a:xfrm flipV="1">
              <a:off x="6349489" y="4561703"/>
              <a:ext cx="839937" cy="70933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25" name="Rectangle 12"/>
            <p:cNvSpPr>
              <a:spLocks noChangeArrowheads="1"/>
            </p:cNvSpPr>
            <p:nvPr/>
          </p:nvSpPr>
          <p:spPr bwMode="auto">
            <a:xfrm>
              <a:off x="7189427" y="5282616"/>
              <a:ext cx="104201" cy="172065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6" name="Line 16"/>
            <p:cNvSpPr>
              <a:spLocks noChangeShapeType="1"/>
            </p:cNvSpPr>
            <p:nvPr/>
          </p:nvSpPr>
          <p:spPr bwMode="auto">
            <a:xfrm flipH="1" flipV="1">
              <a:off x="7222333" y="4561702"/>
              <a:ext cx="0" cy="70836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29" name="Rectangle 12"/>
            <p:cNvSpPr>
              <a:spLocks noChangeArrowheads="1"/>
            </p:cNvSpPr>
            <p:nvPr/>
          </p:nvSpPr>
          <p:spPr bwMode="auto">
            <a:xfrm>
              <a:off x="8181503" y="5282616"/>
              <a:ext cx="104201" cy="172065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0" name="Line 16"/>
            <p:cNvSpPr>
              <a:spLocks noChangeShapeType="1"/>
            </p:cNvSpPr>
            <p:nvPr/>
          </p:nvSpPr>
          <p:spPr bwMode="auto">
            <a:xfrm flipH="1" flipV="1">
              <a:off x="7368820" y="4561702"/>
              <a:ext cx="845589" cy="72167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pic>
          <p:nvPicPr>
            <p:cNvPr id="141" name="Picture 140"/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7074974" y="4286506"/>
              <a:ext cx="397008" cy="380329"/>
            </a:xfrm>
            <a:prstGeom prst="rect">
              <a:avLst/>
            </a:prstGeom>
          </p:spPr>
        </p:pic>
        <p:sp>
          <p:nvSpPr>
            <p:cNvPr id="142" name="Line 16"/>
            <p:cNvSpPr>
              <a:spLocks noChangeShapeType="1"/>
            </p:cNvSpPr>
            <p:nvPr/>
          </p:nvSpPr>
          <p:spPr bwMode="auto">
            <a:xfrm flipH="1" flipV="1">
              <a:off x="7268264" y="3799710"/>
              <a:ext cx="0" cy="486796"/>
            </a:xfrm>
            <a:prstGeom prst="line">
              <a:avLst/>
            </a:prstGeom>
            <a:noFill/>
            <a:ln w="28575" cmpd="sng">
              <a:solidFill>
                <a:srgbClr val="1F497D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</p:grp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236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Switched Ethernet 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Constraints (for backward compatibility)</a:t>
            </a:r>
          </a:p>
          <a:p>
            <a:pPr lvl="1"/>
            <a:r>
              <a:rPr lang="en-US" dirty="0"/>
              <a:t>No changes to end-hosts </a:t>
            </a:r>
          </a:p>
          <a:p>
            <a:pPr lvl="1"/>
            <a:r>
              <a:rPr lang="en-US" dirty="0"/>
              <a:t>Maintain plug-n-play aspect </a:t>
            </a:r>
          </a:p>
          <a:p>
            <a:r>
              <a:rPr lang="en-US" dirty="0"/>
              <a:t>Earlier Ethernet achieved plug-n-play by leveraging a broadcast medium</a:t>
            </a:r>
          </a:p>
          <a:p>
            <a:pPr lvl="1"/>
            <a:r>
              <a:rPr lang="en-US" dirty="0"/>
              <a:t>Can we do the same in a switched topology?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525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link layer transfers data between adjacent nodes or nodes connected to the same switch</a:t>
            </a:r>
          </a:p>
          <a:p>
            <a:r>
              <a:rPr lang="en-US" dirty="0"/>
              <a:t>Ethernet  evolved from a broadcast medium to switched</a:t>
            </a:r>
          </a:p>
          <a:p>
            <a:endParaRPr lang="en-US" dirty="0"/>
          </a:p>
          <a:p>
            <a:r>
              <a:rPr lang="en-US" dirty="0">
                <a:solidFill>
                  <a:srgbClr val="0000FF"/>
                </a:solidFill>
              </a:rPr>
              <a:t>Next week</a:t>
            </a:r>
            <a:r>
              <a:rPr lang="en-US" dirty="0"/>
              <a:t>: (Wired) Link layer wrap up + putting everything together</a:t>
            </a:r>
          </a:p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38130"/>
      </p:ext>
    </p:extLst>
  </p:cSld>
  <p:clrMapOvr>
    <a:masterClrMapping/>
  </p:clrMapOvr>
</p:sld>
</file>

<file path=ppt/theme/theme1.xml><?xml version="1.0" encoding="utf-8"?>
<a:theme xmlns:a="http://schemas.openxmlformats.org/drawingml/2006/main" name="dbllineb">
  <a:themeElements>
    <a:clrScheme name="">
      <a:dk1>
        <a:srgbClr val="333399"/>
      </a:dk1>
      <a:lt1>
        <a:srgbClr val="FFFFFF"/>
      </a:lt1>
      <a:dk2>
        <a:srgbClr val="CC0000"/>
      </a:dk2>
      <a:lt2>
        <a:srgbClr val="CECECE"/>
      </a:lt2>
      <a:accent1>
        <a:srgbClr val="EBEBEB"/>
      </a:accent1>
      <a:accent2>
        <a:srgbClr val="232323"/>
      </a:accent2>
      <a:accent3>
        <a:srgbClr val="FFFFFF"/>
      </a:accent3>
      <a:accent4>
        <a:srgbClr val="2A2A82"/>
      </a:accent4>
      <a:accent5>
        <a:srgbClr val="F3F3F3"/>
      </a:accent5>
      <a:accent6>
        <a:srgbClr val="1F1F1F"/>
      </a:accent6>
      <a:hlink>
        <a:srgbClr val="9C9C9C"/>
      </a:hlink>
      <a:folHlink>
        <a:srgbClr val="676767"/>
      </a:folHlink>
    </a:clrScheme>
    <a:fontScheme name="dbllineb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stealth" w="med" len="lg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stealth" w="med" len="lg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dbllineb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bllineb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c:\msoffice\powerpnt\template\bwovrhd\dbllineb.ppt</Template>
  <TotalTime>1490453739</TotalTime>
  <Pages>7</Pages>
  <Words>2748</Words>
  <Application>Microsoft Macintosh PowerPoint</Application>
  <PresentationFormat>On-screen Show (4:3)</PresentationFormat>
  <Paragraphs>596</Paragraphs>
  <Slides>55</Slides>
  <Notes>28</Notes>
  <HiddenSlides>0</HiddenSlides>
  <MMClips>0</MMClips>
  <ScaleCrop>false</ScaleCrop>
  <HeadingPairs>
    <vt:vector size="8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68" baseType="lpstr">
      <vt:lpstr>ＭＳ Ｐゴシック</vt:lpstr>
      <vt:lpstr>Arial</vt:lpstr>
      <vt:lpstr>Arial Black</vt:lpstr>
      <vt:lpstr>Calibri</vt:lpstr>
      <vt:lpstr>Courier New</vt:lpstr>
      <vt:lpstr>Gill Sans</vt:lpstr>
      <vt:lpstr>Helvetica</vt:lpstr>
      <vt:lpstr>Monotype Sorts</vt:lpstr>
      <vt:lpstr>Symbol</vt:lpstr>
      <vt:lpstr>Times New Roman</vt:lpstr>
      <vt:lpstr>Wingdings</vt:lpstr>
      <vt:lpstr>dbllineb</vt:lpstr>
      <vt:lpstr>Clip</vt:lpstr>
      <vt:lpstr>EECS 489 Computer Networks  Winter 2025</vt:lpstr>
      <vt:lpstr>Agenda</vt:lpstr>
      <vt:lpstr>Data link layer</vt:lpstr>
      <vt:lpstr>Data link layer</vt:lpstr>
      <vt:lpstr>Packets are now “frames”</vt:lpstr>
      <vt:lpstr>Point-to-point vs. broadcast medium</vt:lpstr>
      <vt:lpstr>Multiple access algorithm</vt:lpstr>
      <vt:lpstr>Random access MAC protocols</vt:lpstr>
      <vt:lpstr>Ethernet</vt:lpstr>
      <vt:lpstr>CSMA (Carrier Sense Multiple Access)</vt:lpstr>
      <vt:lpstr>CSMA collisions</vt:lpstr>
      <vt:lpstr>CSMA/CD (Collision Detection)</vt:lpstr>
      <vt:lpstr>CSMA/CD (Collision Detection)</vt:lpstr>
      <vt:lpstr>Limits on CSMA/CD network length</vt:lpstr>
      <vt:lpstr>Limits on CSMA/CD network length</vt:lpstr>
      <vt:lpstr>Three key ideas of random access</vt:lpstr>
      <vt:lpstr>Three key ideas of random access</vt:lpstr>
      <vt:lpstr>How long should you wait?</vt:lpstr>
      <vt:lpstr>Ethernet: CSMA/CD Protocol</vt:lpstr>
      <vt:lpstr>Efficiency of CSMA/CD</vt:lpstr>
      <vt:lpstr>Efficiency of CSMA/CD</vt:lpstr>
      <vt:lpstr>5-minute break!</vt:lpstr>
      <vt:lpstr>Announcements</vt:lpstr>
      <vt:lpstr>Switched Ethernet</vt:lpstr>
      <vt:lpstr>Broadcast vs. switched Ethernet</vt:lpstr>
      <vt:lpstr>Why switched Ethernet?</vt:lpstr>
      <vt:lpstr>The evolution of Ethernet</vt:lpstr>
      <vt:lpstr>Topics</vt:lpstr>
      <vt:lpstr>Ethernet “Frames”</vt:lpstr>
      <vt:lpstr>Framing frames</vt:lpstr>
      <vt:lpstr>Simple approach: Count bytes</vt:lpstr>
      <vt:lpstr>Desynchronization</vt:lpstr>
      <vt:lpstr>Framing with sentinel bits</vt:lpstr>
      <vt:lpstr>When receiver sees five 1s…</vt:lpstr>
      <vt:lpstr>Example: sentinel bits</vt:lpstr>
      <vt:lpstr>Topics</vt:lpstr>
      <vt:lpstr>Medium Access Control (MAC) Address</vt:lpstr>
      <vt:lpstr>MAC address vs. IP address</vt:lpstr>
      <vt:lpstr>Topics</vt:lpstr>
      <vt:lpstr>Routing with switched Ethernet?</vt:lpstr>
      <vt:lpstr>Why does Ethernet not use LS/DV? </vt:lpstr>
      <vt:lpstr>“Routing” with broadcast Ethernet</vt:lpstr>
      <vt:lpstr>“Routing” with broadcast Ethernet</vt:lpstr>
      <vt:lpstr>Why does Ethernet not use LS/DV? </vt:lpstr>
      <vt:lpstr>Routing in extended LANs</vt:lpstr>
      <vt:lpstr>The “broadcast storm” problem</vt:lpstr>
      <vt:lpstr>Easiest way to avoid loops</vt:lpstr>
      <vt:lpstr>Consider a graph</vt:lpstr>
      <vt:lpstr>A spanning tree</vt:lpstr>
      <vt:lpstr>Another spanning tree</vt:lpstr>
      <vt:lpstr>Yet another spanning tree</vt:lpstr>
      <vt:lpstr>Spanning tree protocol (Perlman’85)</vt:lpstr>
      <vt:lpstr>From extended LANs to switched Ethernet</vt:lpstr>
      <vt:lpstr>Switched Ethernet </vt:lpstr>
      <vt:lpstr>Summary</vt:lpstr>
    </vt:vector>
  </TitlesOfParts>
  <Manager/>
  <Company>UC Riverside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CS153: Lecture 3 - Processes</dc:title>
  <dc:subject/>
  <dc:creator>Harsha V. Madhyastha</dc:creator>
  <cp:keywords/>
  <dc:description/>
  <cp:lastModifiedBy>Chowdhury, Mosharaf</cp:lastModifiedBy>
  <cp:revision>1261</cp:revision>
  <cp:lastPrinted>1999-09-08T17:25:07Z</cp:lastPrinted>
  <dcterms:created xsi:type="dcterms:W3CDTF">2014-01-14T18:15:50Z</dcterms:created>
  <dcterms:modified xsi:type="dcterms:W3CDTF">2025-04-02T15:50:20Z</dcterms:modified>
  <cp:category/>
</cp:coreProperties>
</file>