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1"/>
  </p:sldMasterIdLst>
  <p:notesMasterIdLst>
    <p:notesMasterId r:id="rId71"/>
  </p:notesMasterIdLst>
  <p:handoutMasterIdLst>
    <p:handoutMasterId r:id="rId72"/>
  </p:handoutMasterIdLst>
  <p:sldIdLst>
    <p:sldId id="258" r:id="rId2"/>
    <p:sldId id="663" r:id="rId3"/>
    <p:sldId id="667" r:id="rId4"/>
    <p:sldId id="668" r:id="rId5"/>
    <p:sldId id="520" r:id="rId6"/>
    <p:sldId id="662" r:id="rId7"/>
    <p:sldId id="655" r:id="rId8"/>
    <p:sldId id="586" r:id="rId9"/>
    <p:sldId id="656" r:id="rId10"/>
    <p:sldId id="657" r:id="rId11"/>
    <p:sldId id="524" r:id="rId12"/>
    <p:sldId id="658" r:id="rId13"/>
    <p:sldId id="659" r:id="rId14"/>
    <p:sldId id="660" r:id="rId15"/>
    <p:sldId id="661" r:id="rId16"/>
    <p:sldId id="602" r:id="rId17"/>
    <p:sldId id="672" r:id="rId18"/>
    <p:sldId id="604" r:id="rId19"/>
    <p:sldId id="605" r:id="rId20"/>
    <p:sldId id="527" r:id="rId21"/>
    <p:sldId id="528" r:id="rId22"/>
    <p:sldId id="529" r:id="rId23"/>
    <p:sldId id="531" r:id="rId24"/>
    <p:sldId id="530" r:id="rId25"/>
    <p:sldId id="532" r:id="rId26"/>
    <p:sldId id="534" r:id="rId27"/>
    <p:sldId id="609" r:id="rId28"/>
    <p:sldId id="535" r:id="rId29"/>
    <p:sldId id="611" r:id="rId30"/>
    <p:sldId id="613" r:id="rId31"/>
    <p:sldId id="614" r:id="rId32"/>
    <p:sldId id="540" r:id="rId33"/>
    <p:sldId id="541" r:id="rId34"/>
    <p:sldId id="615" r:id="rId35"/>
    <p:sldId id="542" r:id="rId36"/>
    <p:sldId id="625" r:id="rId37"/>
    <p:sldId id="582" r:id="rId38"/>
    <p:sldId id="673" r:id="rId39"/>
    <p:sldId id="548" r:id="rId40"/>
    <p:sldId id="550" r:id="rId41"/>
    <p:sldId id="551" r:id="rId42"/>
    <p:sldId id="619" r:id="rId43"/>
    <p:sldId id="620" r:id="rId44"/>
    <p:sldId id="621" r:id="rId45"/>
    <p:sldId id="622" r:id="rId46"/>
    <p:sldId id="674" r:id="rId47"/>
    <p:sldId id="554" r:id="rId48"/>
    <p:sldId id="555" r:id="rId49"/>
    <p:sldId id="556" r:id="rId50"/>
    <p:sldId id="557" r:id="rId51"/>
    <p:sldId id="558" r:id="rId52"/>
    <p:sldId id="525" r:id="rId53"/>
    <p:sldId id="526" r:id="rId54"/>
    <p:sldId id="559" r:id="rId55"/>
    <p:sldId id="560" r:id="rId56"/>
    <p:sldId id="562" r:id="rId57"/>
    <p:sldId id="563" r:id="rId58"/>
    <p:sldId id="564" r:id="rId59"/>
    <p:sldId id="566" r:id="rId60"/>
    <p:sldId id="581" r:id="rId61"/>
    <p:sldId id="675" r:id="rId62"/>
    <p:sldId id="568" r:id="rId63"/>
    <p:sldId id="569" r:id="rId64"/>
    <p:sldId id="571" r:id="rId65"/>
    <p:sldId id="575" r:id="rId66"/>
    <p:sldId id="576" r:id="rId67"/>
    <p:sldId id="577" r:id="rId68"/>
    <p:sldId id="578" r:id="rId69"/>
    <p:sldId id="512" r:id="rId70"/>
  </p:sldIdLst>
  <p:sldSz cx="9144000" cy="6858000" type="screen4x3"/>
  <p:notesSz cx="7315200" cy="9601200"/>
  <p:defaultTextStyle>
    <a:defPPr>
      <a:defRPr lang="en-US"/>
    </a:defPPr>
    <a:lvl1pPr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D3A600"/>
    <a:srgbClr val="333399"/>
    <a:srgbClr val="FFCB05"/>
    <a:srgbClr val="FF9900"/>
    <a:srgbClr val="00274C"/>
    <a:srgbClr val="009900"/>
    <a:srgbClr val="D60093"/>
    <a:srgbClr val="FF330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08"/>
    <p:restoredTop sz="94648"/>
  </p:normalViewPr>
  <p:slideViewPr>
    <p:cSldViewPr>
      <p:cViewPr varScale="1">
        <p:scale>
          <a:sx n="112" d="100"/>
          <a:sy n="112" d="100"/>
        </p:scale>
        <p:origin x="1560" y="192"/>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82" d="100"/>
          <a:sy n="82" d="100"/>
        </p:scale>
        <p:origin x="-1914" y="-9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vl1pPr>
          </a:lstStyle>
          <a:p>
            <a:endParaRPr lang="en-US"/>
          </a:p>
        </p:txBody>
      </p:sp>
      <p:sp>
        <p:nvSpPr>
          <p:cNvPr id="3075" name="Rectangle 3"/>
          <p:cNvSpPr>
            <a:spLocks noGrp="1" noChangeArrowheads="1"/>
          </p:cNvSpPr>
          <p:nvPr>
            <p:ph type="dt" sz="quarter"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vl1pPr>
          </a:lstStyle>
          <a:p>
            <a:endParaRPr lang="en-US"/>
          </a:p>
        </p:txBody>
      </p:sp>
      <p:sp>
        <p:nvSpPr>
          <p:cNvPr id="3076" name="Rectangle 4"/>
          <p:cNvSpPr>
            <a:spLocks noGrp="1" noChangeArrowheads="1"/>
          </p:cNvSpPr>
          <p:nvPr>
            <p:ph type="ftr" sz="quarter" idx="2"/>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vl1pPr>
          </a:lstStyle>
          <a:p>
            <a:endParaRPr lang="en-US"/>
          </a:p>
        </p:txBody>
      </p:sp>
      <p:sp>
        <p:nvSpPr>
          <p:cNvPr id="3077" name="Rectangle 5"/>
          <p:cNvSpPr>
            <a:spLocks noGrp="1" noChangeArrowheads="1"/>
          </p:cNvSpPr>
          <p:nvPr>
            <p:ph type="sldNum" sz="quarter" idx="3"/>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vl1pPr>
          </a:lstStyle>
          <a:p>
            <a:fld id="{B29687F7-08B4-A54B-BC56-F290ADA497A1}" type="slidenum">
              <a:rPr lang="en-US"/>
              <a:pPr/>
              <a:t>‹#›</a:t>
            </a:fld>
            <a:endParaRPr lang="en-US"/>
          </a:p>
        </p:txBody>
      </p:sp>
    </p:spTree>
    <p:extLst>
      <p:ext uri="{BB962C8B-B14F-4D97-AF65-F5344CB8AC3E}">
        <p14:creationId xmlns:p14="http://schemas.microsoft.com/office/powerpoint/2010/main" val="29838747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1" name="Rectangle 3"/>
          <p:cNvSpPr>
            <a:spLocks noGrp="1" noChangeArrowheads="1"/>
          </p:cNvSpPr>
          <p:nvPr>
            <p:ph type="dt"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atin typeface="Times New Roman" charset="0"/>
              </a:defRPr>
            </a:lvl1pPr>
          </a:lstStyle>
          <a:p>
            <a:endParaRPr lang="en-US"/>
          </a:p>
        </p:txBody>
      </p:sp>
      <p:sp>
        <p:nvSpPr>
          <p:cNvPr id="2052" name="Rectangle 4"/>
          <p:cNvSpPr>
            <a:spLocks noGrp="1" noChangeArrowheads="1"/>
          </p:cNvSpPr>
          <p:nvPr>
            <p:ph type="ftr" sz="quarter" idx="4"/>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3" name="Rectangle 5"/>
          <p:cNvSpPr>
            <a:spLocks noGrp="1" noChangeArrowheads="1"/>
          </p:cNvSpPr>
          <p:nvPr>
            <p:ph type="sldNum" sz="quarter" idx="5"/>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atin typeface="Times New Roman" charset="0"/>
              </a:defRPr>
            </a:lvl1pPr>
          </a:lstStyle>
          <a:p>
            <a:fld id="{C7E9A20B-E167-2E4E-BE18-AA9F5BF5FBB1}" type="slidenum">
              <a:rPr lang="en-US"/>
              <a:pPr/>
              <a:t>‹#›</a:t>
            </a:fld>
            <a:endParaRPr lang="en-US"/>
          </a:p>
        </p:txBody>
      </p:sp>
      <p:sp>
        <p:nvSpPr>
          <p:cNvPr id="2054" name="Rectangle 6"/>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7154" tIns="48580" rIns="97154" bIns="48580" numCol="1" anchor="t" anchorCtr="0" compatLnSpc="1">
            <a:prstTxWarp prst="textNoShape">
              <a:avLst/>
            </a:prstTxWarp>
          </a:bodyPr>
          <a:lstStyle/>
          <a:p>
            <a:pPr lvl="0"/>
            <a:r>
              <a:rPr lang="en-US"/>
              <a:t>Click to edit Master notes styles</a:t>
            </a:r>
          </a:p>
          <a:p>
            <a:pPr lvl="1"/>
            <a:r>
              <a:rPr lang="en-US"/>
              <a:t>Second Level</a:t>
            </a:r>
          </a:p>
          <a:p>
            <a:pPr lvl="2"/>
            <a:r>
              <a:rPr lang="en-US"/>
              <a:t>Third Level</a:t>
            </a:r>
          </a:p>
          <a:p>
            <a:pPr lvl="3"/>
            <a:r>
              <a:rPr lang="en-US"/>
              <a:t>Fourth Level</a:t>
            </a:r>
          </a:p>
          <a:p>
            <a:pPr lvl="4"/>
            <a:r>
              <a:rPr lang="en-US"/>
              <a:t>Fifth Level</a:t>
            </a:r>
          </a:p>
        </p:txBody>
      </p:sp>
      <p:sp>
        <p:nvSpPr>
          <p:cNvPr id="14343" name="Rectangle 7"/>
          <p:cNvSpPr>
            <a:spLocks noGrp="1" noRot="1" noChangeAspect="1" noChangeArrowheads="1" noTextEdit="1"/>
          </p:cNvSpPr>
          <p:nvPr>
            <p:ph type="sldImg" idx="2"/>
          </p:nvPr>
        </p:nvSpPr>
        <p:spPr bwMode="auto">
          <a:xfrm>
            <a:off x="1268413" y="727075"/>
            <a:ext cx="4781550" cy="3586163"/>
          </a:xfrm>
          <a:prstGeom prst="rect">
            <a:avLst/>
          </a:prstGeom>
          <a:noFill/>
          <a:ln w="12700">
            <a:solidFill>
              <a:schemeClr val="tx1"/>
            </a:solidFill>
            <a:miter lim="800000"/>
            <a:headEnd/>
            <a:tailEnd/>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Lst>
        </p:spPr>
      </p:sp>
    </p:spTree>
    <p:extLst>
      <p:ext uri="{BB962C8B-B14F-4D97-AF65-F5344CB8AC3E}">
        <p14:creationId xmlns:p14="http://schemas.microsoft.com/office/powerpoint/2010/main" val="2151473154"/>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65200" eaLnBrk="0" hangingPunct="0">
              <a:defRPr sz="1600" b="1">
                <a:solidFill>
                  <a:schemeClr val="tx1"/>
                </a:solidFill>
                <a:latin typeface="Arial" charset="0"/>
                <a:ea typeface="ＭＳ Ｐゴシック" charset="0"/>
                <a:cs typeface="ＭＳ Ｐゴシック" charset="0"/>
              </a:defRPr>
            </a:lvl1pPr>
            <a:lvl2pPr marL="37931725" indent="-37474525" defTabSz="965200" eaLnBrk="0" hangingPunct="0">
              <a:defRPr sz="1600" b="1">
                <a:solidFill>
                  <a:schemeClr val="tx1"/>
                </a:solidFill>
                <a:latin typeface="Arial" charset="0"/>
                <a:ea typeface="ＭＳ Ｐゴシック" charset="0"/>
              </a:defRPr>
            </a:lvl2pPr>
            <a:lvl3pPr eaLnBrk="0" hangingPunct="0">
              <a:defRPr sz="1600" b="1">
                <a:solidFill>
                  <a:schemeClr val="tx1"/>
                </a:solidFill>
                <a:latin typeface="Arial" charset="0"/>
                <a:ea typeface="ＭＳ Ｐゴシック" charset="0"/>
              </a:defRPr>
            </a:lvl3pPr>
            <a:lvl4pPr eaLnBrk="0" hangingPunct="0">
              <a:defRPr sz="1600" b="1">
                <a:solidFill>
                  <a:schemeClr val="tx1"/>
                </a:solidFill>
                <a:latin typeface="Arial" charset="0"/>
                <a:ea typeface="ＭＳ Ｐゴシック" charset="0"/>
              </a:defRPr>
            </a:lvl4pPr>
            <a:lvl5pPr eaLnBrk="0" hangingPunct="0">
              <a:defRPr sz="1600" b="1">
                <a:solidFill>
                  <a:schemeClr val="tx1"/>
                </a:solidFill>
                <a:latin typeface="Arial" charset="0"/>
                <a:ea typeface="ＭＳ Ｐゴシック" charset="0"/>
              </a:defRPr>
            </a:lvl5pPr>
            <a:lvl6pPr marL="457200" eaLnBrk="0" fontAlgn="base" hangingPunct="0">
              <a:spcBef>
                <a:spcPct val="0"/>
              </a:spcBef>
              <a:spcAft>
                <a:spcPct val="0"/>
              </a:spcAft>
              <a:defRPr sz="1600" b="1">
                <a:solidFill>
                  <a:schemeClr val="tx1"/>
                </a:solidFill>
                <a:latin typeface="Arial" charset="0"/>
                <a:ea typeface="ＭＳ Ｐゴシック" charset="0"/>
              </a:defRPr>
            </a:lvl6pPr>
            <a:lvl7pPr marL="914400" eaLnBrk="0" fontAlgn="base" hangingPunct="0">
              <a:spcBef>
                <a:spcPct val="0"/>
              </a:spcBef>
              <a:spcAft>
                <a:spcPct val="0"/>
              </a:spcAft>
              <a:defRPr sz="1600" b="1">
                <a:solidFill>
                  <a:schemeClr val="tx1"/>
                </a:solidFill>
                <a:latin typeface="Arial" charset="0"/>
                <a:ea typeface="ＭＳ Ｐゴシック" charset="0"/>
              </a:defRPr>
            </a:lvl7pPr>
            <a:lvl8pPr marL="1371600" eaLnBrk="0" fontAlgn="base" hangingPunct="0">
              <a:spcBef>
                <a:spcPct val="0"/>
              </a:spcBef>
              <a:spcAft>
                <a:spcPct val="0"/>
              </a:spcAft>
              <a:defRPr sz="1600" b="1">
                <a:solidFill>
                  <a:schemeClr val="tx1"/>
                </a:solidFill>
                <a:latin typeface="Arial" charset="0"/>
                <a:ea typeface="ＭＳ Ｐゴシック" charset="0"/>
              </a:defRPr>
            </a:lvl8pPr>
            <a:lvl9pPr marL="1828800" eaLnBrk="0" fontAlgn="base" hangingPunct="0">
              <a:spcBef>
                <a:spcPct val="0"/>
              </a:spcBef>
              <a:spcAft>
                <a:spcPct val="0"/>
              </a:spcAft>
              <a:defRPr sz="1600" b="1">
                <a:solidFill>
                  <a:schemeClr val="tx1"/>
                </a:solidFill>
                <a:latin typeface="Arial" charset="0"/>
                <a:ea typeface="ＭＳ Ｐゴシック" charset="0"/>
              </a:defRPr>
            </a:lvl9pPr>
          </a:lstStyle>
          <a:p>
            <a:fld id="{914EF427-E3A8-D542-91D3-317F25033480}" type="slidenum">
              <a:rPr lang="en-US" sz="1100" b="0">
                <a:latin typeface="Times New Roman" charset="0"/>
              </a:rPr>
              <a:pPr/>
              <a:t>1</a:t>
            </a:fld>
            <a:endParaRPr lang="en-US" sz="1100" b="0">
              <a:latin typeface="Times New Roman" charset="0"/>
            </a:endParaRPr>
          </a:p>
        </p:txBody>
      </p:sp>
      <p:sp>
        <p:nvSpPr>
          <p:cNvPr id="16387" name="Rectangle 2"/>
          <p:cNvSpPr>
            <a:spLocks noGrp="1" noRot="1" noChangeAspect="1" noChangeArrowheads="1" noTextEdit="1"/>
          </p:cNvSpPr>
          <p:nvPr>
            <p:ph type="sldImg"/>
          </p:nvPr>
        </p:nvSpPr>
        <p:spPr>
          <a:xfrm>
            <a:off x="1268413" y="727075"/>
            <a:ext cx="4781550" cy="3586163"/>
          </a:xfrm>
          <a:ln/>
        </p:spPr>
      </p:sp>
      <p:sp>
        <p:nvSpPr>
          <p:cNvPr id="16388"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271330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2</a:t>
            </a:fld>
            <a:endParaRPr lang="en-US"/>
          </a:p>
        </p:txBody>
      </p:sp>
    </p:spTree>
    <p:extLst>
      <p:ext uri="{BB962C8B-B14F-4D97-AF65-F5344CB8AC3E}">
        <p14:creationId xmlns:p14="http://schemas.microsoft.com/office/powerpoint/2010/main" val="39908293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57263" eaLnBrk="0" hangingPunct="0">
              <a:defRPr sz="2000" b="1">
                <a:solidFill>
                  <a:schemeClr val="tx1"/>
                </a:solidFill>
                <a:latin typeface="Courier New" charset="0"/>
                <a:ea typeface="ＭＳ Ｐゴシック" charset="0"/>
                <a:cs typeface="ＭＳ Ｐゴシック" charset="0"/>
              </a:defRPr>
            </a:lvl1pPr>
            <a:lvl2pPr marL="742950" indent="-285750" defTabSz="957263" eaLnBrk="0" hangingPunct="0">
              <a:defRPr sz="2000" b="1">
                <a:solidFill>
                  <a:schemeClr val="tx1"/>
                </a:solidFill>
                <a:latin typeface="Courier New" charset="0"/>
                <a:ea typeface="ＭＳ Ｐゴシック" charset="0"/>
              </a:defRPr>
            </a:lvl2pPr>
            <a:lvl3pPr marL="1143000" indent="-228600" defTabSz="957263" eaLnBrk="0" hangingPunct="0">
              <a:defRPr sz="2000" b="1">
                <a:solidFill>
                  <a:schemeClr val="tx1"/>
                </a:solidFill>
                <a:latin typeface="Courier New" charset="0"/>
                <a:ea typeface="ＭＳ Ｐゴシック" charset="0"/>
              </a:defRPr>
            </a:lvl3pPr>
            <a:lvl4pPr marL="1600200" indent="-228600" defTabSz="957263" eaLnBrk="0" hangingPunct="0">
              <a:defRPr sz="2000" b="1">
                <a:solidFill>
                  <a:schemeClr val="tx1"/>
                </a:solidFill>
                <a:latin typeface="Courier New" charset="0"/>
                <a:ea typeface="ＭＳ Ｐゴシック" charset="0"/>
              </a:defRPr>
            </a:lvl4pPr>
            <a:lvl5pPr marL="2057400" indent="-228600" defTabSz="957263" eaLnBrk="0" hangingPunct="0">
              <a:defRPr sz="2000" b="1">
                <a:solidFill>
                  <a:schemeClr val="tx1"/>
                </a:solidFill>
                <a:latin typeface="Courier New" charset="0"/>
                <a:ea typeface="ＭＳ Ｐゴシック" charset="0"/>
              </a:defRPr>
            </a:lvl5pPr>
            <a:lvl6pPr marL="25146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9pPr>
          </a:lstStyle>
          <a:p>
            <a:pPr eaLnBrk="1" hangingPunct="1"/>
            <a:fld id="{FE274BE9-847F-CE4B-BF62-3669DAE04580}" type="slidenum">
              <a:rPr lang="en-US" sz="1300" b="0">
                <a:latin typeface="Times New Roman" charset="0"/>
              </a:rPr>
              <a:pPr eaLnBrk="1" hangingPunct="1"/>
              <a:t>5</a:t>
            </a:fld>
            <a:endParaRPr lang="en-US" sz="1300" b="0">
              <a:latin typeface="Times New Roman" charset="0"/>
            </a:endParaRPr>
          </a:p>
        </p:txBody>
      </p:sp>
      <p:sp>
        <p:nvSpPr>
          <p:cNvPr id="30722" name="Rectangle 2"/>
          <p:cNvSpPr>
            <a:spLocks noGrp="1" noRot="1" noChangeAspect="1" noChangeArrowheads="1"/>
          </p:cNvSpPr>
          <p:nvPr>
            <p:ph type="sldImg"/>
          </p:nvPr>
        </p:nvSpPr>
        <p:spPr>
          <a:solidFill>
            <a:srgbClr val="FFFFFF"/>
          </a:solidFill>
          <a:ln/>
        </p:spPr>
      </p:sp>
      <p:sp>
        <p:nvSpPr>
          <p:cNvPr id="30723" name="Rectangle 3"/>
          <p:cNvSpPr>
            <a:spLocks noGrp="1" noChangeArrowheads="1"/>
          </p:cNvSpPr>
          <p:nvPr>
            <p:ph type="body" idx="1"/>
          </p:nvPr>
        </p:nvSpPr>
        <p:spPr>
          <a:solidFill>
            <a:srgbClr val="FFFFFF"/>
          </a:solidFill>
          <a:ln>
            <a:solidFill>
              <a:srgbClr val="000000"/>
            </a:solidFill>
          </a:ln>
        </p:spPr>
        <p:txBody>
          <a:bodyPr/>
          <a:lstStyle/>
          <a:p>
            <a:r>
              <a:rPr lang="en-US">
                <a:ea typeface="ＭＳ Ｐゴシック" charset="0"/>
                <a:cs typeface="ＭＳ Ｐゴシック" charset="0"/>
              </a:rPr>
              <a:t>Why go up? Why not stay down in the lower levels?</a:t>
            </a:r>
          </a:p>
          <a:p>
            <a:endParaRPr lang="en-US">
              <a:ea typeface="ＭＳ Ｐゴシック" charset="0"/>
              <a:cs typeface="ＭＳ Ｐゴシック" charset="0"/>
            </a:endParaRPr>
          </a:p>
        </p:txBody>
      </p:sp>
    </p:spTree>
    <p:extLst>
      <p:ext uri="{BB962C8B-B14F-4D97-AF65-F5344CB8AC3E}">
        <p14:creationId xmlns:p14="http://schemas.microsoft.com/office/powerpoint/2010/main" val="1491034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57263" eaLnBrk="0" hangingPunct="0">
              <a:defRPr sz="2000" b="1">
                <a:solidFill>
                  <a:schemeClr val="tx1"/>
                </a:solidFill>
                <a:latin typeface="Courier New" charset="0"/>
                <a:ea typeface="ＭＳ Ｐゴシック" charset="0"/>
                <a:cs typeface="ＭＳ Ｐゴシック" charset="0"/>
              </a:defRPr>
            </a:lvl1pPr>
            <a:lvl2pPr marL="742950" indent="-285750" defTabSz="957263" eaLnBrk="0" hangingPunct="0">
              <a:defRPr sz="2000" b="1">
                <a:solidFill>
                  <a:schemeClr val="tx1"/>
                </a:solidFill>
                <a:latin typeface="Courier New" charset="0"/>
                <a:ea typeface="ＭＳ Ｐゴシック" charset="0"/>
              </a:defRPr>
            </a:lvl2pPr>
            <a:lvl3pPr marL="1143000" indent="-228600" defTabSz="957263" eaLnBrk="0" hangingPunct="0">
              <a:defRPr sz="2000" b="1">
                <a:solidFill>
                  <a:schemeClr val="tx1"/>
                </a:solidFill>
                <a:latin typeface="Courier New" charset="0"/>
                <a:ea typeface="ＭＳ Ｐゴシック" charset="0"/>
              </a:defRPr>
            </a:lvl3pPr>
            <a:lvl4pPr marL="1600200" indent="-228600" defTabSz="957263" eaLnBrk="0" hangingPunct="0">
              <a:defRPr sz="2000" b="1">
                <a:solidFill>
                  <a:schemeClr val="tx1"/>
                </a:solidFill>
                <a:latin typeface="Courier New" charset="0"/>
                <a:ea typeface="ＭＳ Ｐゴシック" charset="0"/>
              </a:defRPr>
            </a:lvl4pPr>
            <a:lvl5pPr marL="2057400" indent="-228600" defTabSz="957263" eaLnBrk="0" hangingPunct="0">
              <a:defRPr sz="2000" b="1">
                <a:solidFill>
                  <a:schemeClr val="tx1"/>
                </a:solidFill>
                <a:latin typeface="Courier New" charset="0"/>
                <a:ea typeface="ＭＳ Ｐゴシック" charset="0"/>
              </a:defRPr>
            </a:lvl5pPr>
            <a:lvl6pPr marL="25146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9pPr>
          </a:lstStyle>
          <a:p>
            <a:pPr eaLnBrk="1" hangingPunct="1"/>
            <a:fld id="{82204167-EFB0-2D48-A5F0-063C27AB3381}" type="slidenum">
              <a:rPr lang="en-US" sz="1300" b="0">
                <a:latin typeface="Times New Roman" charset="0"/>
              </a:rPr>
              <a:pPr eaLnBrk="1" hangingPunct="1"/>
              <a:t>8</a:t>
            </a:fld>
            <a:endParaRPr lang="en-US" sz="1300" b="0">
              <a:latin typeface="Times New Roman" charset="0"/>
            </a:endParaRPr>
          </a:p>
        </p:txBody>
      </p:sp>
      <p:sp>
        <p:nvSpPr>
          <p:cNvPr id="93186" name="Rectangle 2"/>
          <p:cNvSpPr>
            <a:spLocks noGrp="1" noRot="1" noChangeAspect="1" noChangeArrowheads="1" noTextEdit="1"/>
          </p:cNvSpPr>
          <p:nvPr>
            <p:ph type="sldImg"/>
          </p:nvPr>
        </p:nvSpPr>
        <p:spPr>
          <a:xfrm>
            <a:off x="1212850" y="709613"/>
            <a:ext cx="4841875" cy="3630612"/>
          </a:xfrm>
          <a:ln/>
        </p:spPr>
      </p:sp>
      <p:sp>
        <p:nvSpPr>
          <p:cNvPr id="93187" name="Rectangle 3"/>
          <p:cNvSpPr>
            <a:spLocks noGrp="1" noChangeArrowheads="1"/>
          </p:cNvSpPr>
          <p:nvPr>
            <p:ph type="body" idx="1"/>
          </p:nvPr>
        </p:nvSpPr>
        <p:spPr>
          <a:xfrm>
            <a:off x="958850" y="4576763"/>
            <a:ext cx="5345113" cy="434022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5134" tIns="47567" rIns="95134" bIns="47567"/>
          <a:lstStyle/>
          <a:p>
            <a:endParaRPr lang="en-GB">
              <a:ea typeface="ＭＳ Ｐゴシック" charset="0"/>
              <a:cs typeface="ＭＳ Ｐゴシック" charset="0"/>
            </a:endParaRPr>
          </a:p>
        </p:txBody>
      </p:sp>
    </p:spTree>
    <p:extLst>
      <p:ext uri="{BB962C8B-B14F-4D97-AF65-F5344CB8AC3E}">
        <p14:creationId xmlns:p14="http://schemas.microsoft.com/office/powerpoint/2010/main" val="205635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97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57263" eaLnBrk="0" hangingPunct="0">
              <a:defRPr sz="2000" b="1">
                <a:solidFill>
                  <a:schemeClr val="tx1"/>
                </a:solidFill>
                <a:latin typeface="Courier New" charset="0"/>
                <a:ea typeface="ＭＳ Ｐゴシック" charset="0"/>
                <a:cs typeface="ＭＳ Ｐゴシック" charset="0"/>
              </a:defRPr>
            </a:lvl1pPr>
            <a:lvl2pPr marL="742950" indent="-285750" defTabSz="957263" eaLnBrk="0" hangingPunct="0">
              <a:defRPr sz="2000" b="1">
                <a:solidFill>
                  <a:schemeClr val="tx1"/>
                </a:solidFill>
                <a:latin typeface="Courier New" charset="0"/>
                <a:ea typeface="ＭＳ Ｐゴシック" charset="0"/>
              </a:defRPr>
            </a:lvl2pPr>
            <a:lvl3pPr marL="1143000" indent="-228600" defTabSz="957263" eaLnBrk="0" hangingPunct="0">
              <a:defRPr sz="2000" b="1">
                <a:solidFill>
                  <a:schemeClr val="tx1"/>
                </a:solidFill>
                <a:latin typeface="Courier New" charset="0"/>
                <a:ea typeface="ＭＳ Ｐゴシック" charset="0"/>
              </a:defRPr>
            </a:lvl3pPr>
            <a:lvl4pPr marL="1600200" indent="-228600" defTabSz="957263" eaLnBrk="0" hangingPunct="0">
              <a:defRPr sz="2000" b="1">
                <a:solidFill>
                  <a:schemeClr val="tx1"/>
                </a:solidFill>
                <a:latin typeface="Courier New" charset="0"/>
                <a:ea typeface="ＭＳ Ｐゴシック" charset="0"/>
              </a:defRPr>
            </a:lvl4pPr>
            <a:lvl5pPr marL="2057400" indent="-228600" defTabSz="957263" eaLnBrk="0" hangingPunct="0">
              <a:defRPr sz="2000" b="1">
                <a:solidFill>
                  <a:schemeClr val="tx1"/>
                </a:solidFill>
                <a:latin typeface="Courier New" charset="0"/>
                <a:ea typeface="ＭＳ Ｐゴシック" charset="0"/>
              </a:defRPr>
            </a:lvl5pPr>
            <a:lvl6pPr marL="25146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9pPr>
          </a:lstStyle>
          <a:p>
            <a:pPr eaLnBrk="1" hangingPunct="1"/>
            <a:fld id="{A8D30E7F-23DC-AB44-B0E5-C01BC33DA8FF}" type="slidenum">
              <a:rPr lang="en-US" sz="1300" b="0">
                <a:latin typeface="Times New Roman" charset="0"/>
              </a:rPr>
              <a:pPr eaLnBrk="1" hangingPunct="1"/>
              <a:t>12</a:t>
            </a:fld>
            <a:endParaRPr lang="en-US" sz="1300" b="0">
              <a:latin typeface="Times New Roman" charset="0"/>
            </a:endParaRPr>
          </a:p>
        </p:txBody>
      </p:sp>
      <p:sp>
        <p:nvSpPr>
          <p:cNvPr id="254978" name="Rectangle 2"/>
          <p:cNvSpPr>
            <a:spLocks noGrp="1" noRot="1" noChangeAspect="1" noChangeArrowheads="1" noTextEdit="1"/>
          </p:cNvSpPr>
          <p:nvPr>
            <p:ph type="sldImg"/>
          </p:nvPr>
        </p:nvSpPr>
        <p:spPr>
          <a:ln/>
        </p:spPr>
      </p:sp>
      <p:sp>
        <p:nvSpPr>
          <p:cNvPr id="254979"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dirty="0">
                <a:ea typeface="ＭＳ Ｐゴシック" charset="0"/>
                <a:cs typeface="ＭＳ Ｐゴシック" charset="0"/>
              </a:rPr>
              <a:t>Idea: build</a:t>
            </a:r>
            <a:r>
              <a:rPr lang="en-US" baseline="0" dirty="0">
                <a:ea typeface="ＭＳ Ｐゴシック" charset="0"/>
                <a:cs typeface="ＭＳ Ｐゴシック" charset="0"/>
              </a:rPr>
              <a:t> tree to help with match. When a new packet comes in, walk the tree to determine the correct port.</a:t>
            </a:r>
            <a:endParaRPr lang="en-US" dirty="0">
              <a:ea typeface="ＭＳ Ｐゴシック" charset="0"/>
              <a:cs typeface="ＭＳ Ｐゴシック" charset="0"/>
            </a:endParaRPr>
          </a:p>
          <a:p>
            <a:r>
              <a:rPr lang="en-US" dirty="0">
                <a:ea typeface="ＭＳ Ｐゴシック" charset="0"/>
                <a:cs typeface="ＭＳ Ｐゴシック" charset="0"/>
              </a:rPr>
              <a:t>Each level in the tree: one bit.  Root:</a:t>
            </a:r>
            <a:r>
              <a:rPr lang="en-US" baseline="0" dirty="0">
                <a:ea typeface="ＭＳ Ｐゴシック" charset="0"/>
                <a:cs typeface="ＭＳ Ｐゴシック" charset="0"/>
              </a:rPr>
              <a:t> all wild cards</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1526981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0000FF"/>
                </a:solidFill>
              </a:rPr>
              <a:t>If you don’t get full demand, no one gets more than you</a:t>
            </a:r>
            <a:r>
              <a:rPr lang="en-US" altLang="zh-CN" dirty="0">
                <a:solidFill>
                  <a:srgbClr val="0000FF"/>
                </a:solidFill>
              </a:rPr>
              <a:t>.</a:t>
            </a:r>
            <a:endParaRPr lang="en-US" dirty="0">
              <a:solidFill>
                <a:srgbClr val="0000FF"/>
              </a:solidFill>
            </a:endParaRPr>
          </a:p>
        </p:txBody>
      </p:sp>
      <p:sp>
        <p:nvSpPr>
          <p:cNvPr id="4" name="Slide Number Placeholder 3"/>
          <p:cNvSpPr>
            <a:spLocks noGrp="1"/>
          </p:cNvSpPr>
          <p:nvPr>
            <p:ph type="sldNum" sz="quarter" idx="10"/>
          </p:nvPr>
        </p:nvSpPr>
        <p:spPr/>
        <p:txBody>
          <a:bodyPr/>
          <a:lstStyle/>
          <a:p>
            <a:fld id="{C7E9A20B-E167-2E4E-BE18-AA9F5BF5FBB1}" type="slidenum">
              <a:rPr lang="en-US" smtClean="0"/>
              <a:pPr/>
              <a:t>14</a:t>
            </a:fld>
            <a:endParaRPr lang="en-US"/>
          </a:p>
        </p:txBody>
      </p:sp>
    </p:spTree>
    <p:extLst>
      <p:ext uri="{BB962C8B-B14F-4D97-AF65-F5344CB8AC3E}">
        <p14:creationId xmlns:p14="http://schemas.microsoft.com/office/powerpoint/2010/main" val="6167653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57178" eaLnBrk="0" hangingPunct="0">
              <a:defRPr sz="2000" b="1">
                <a:solidFill>
                  <a:schemeClr val="tx1"/>
                </a:solidFill>
                <a:latin typeface="Courier New" charset="0"/>
                <a:ea typeface="ＭＳ Ｐゴシック" charset="0"/>
                <a:cs typeface="Arial" charset="0"/>
              </a:defRPr>
            </a:lvl1pPr>
            <a:lvl2pPr marL="37928345" indent="-37471185" defTabSz="957178"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159" eaLnBrk="0" fontAlgn="base" hangingPunct="0">
              <a:spcBef>
                <a:spcPct val="0"/>
              </a:spcBef>
              <a:spcAft>
                <a:spcPct val="0"/>
              </a:spcAft>
              <a:defRPr sz="2000" b="1">
                <a:solidFill>
                  <a:schemeClr val="tx1"/>
                </a:solidFill>
                <a:latin typeface="Courier New" charset="0"/>
                <a:ea typeface="Arial" charset="0"/>
                <a:cs typeface="Arial" charset="0"/>
              </a:defRPr>
            </a:lvl6pPr>
            <a:lvl7pPr marL="914319" eaLnBrk="0" fontAlgn="base" hangingPunct="0">
              <a:spcBef>
                <a:spcPct val="0"/>
              </a:spcBef>
              <a:spcAft>
                <a:spcPct val="0"/>
              </a:spcAft>
              <a:defRPr sz="2000" b="1">
                <a:solidFill>
                  <a:schemeClr val="tx1"/>
                </a:solidFill>
                <a:latin typeface="Courier New" charset="0"/>
                <a:ea typeface="Arial" charset="0"/>
                <a:cs typeface="Arial" charset="0"/>
              </a:defRPr>
            </a:lvl7pPr>
            <a:lvl8pPr marL="1371477" eaLnBrk="0" fontAlgn="base" hangingPunct="0">
              <a:spcBef>
                <a:spcPct val="0"/>
              </a:spcBef>
              <a:spcAft>
                <a:spcPct val="0"/>
              </a:spcAft>
              <a:defRPr sz="2000" b="1">
                <a:solidFill>
                  <a:schemeClr val="tx1"/>
                </a:solidFill>
                <a:latin typeface="Courier New" charset="0"/>
                <a:ea typeface="Arial" charset="0"/>
                <a:cs typeface="Arial" charset="0"/>
              </a:defRPr>
            </a:lvl8pPr>
            <a:lvl9pPr marL="1828637"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F7EF65C0-C774-5649-A5FC-3864B06236AB}" type="slidenum">
              <a:rPr lang="en-US" sz="1300" b="0">
                <a:latin typeface="Times New Roman" charset="0"/>
              </a:rPr>
              <a:pPr eaLnBrk="1" hangingPunct="1"/>
              <a:t>15</a:t>
            </a:fld>
            <a:endParaRPr lang="en-US" sz="1300" b="0">
              <a:latin typeface="Times New Roman" charset="0"/>
            </a:endParaRPr>
          </a:p>
        </p:txBody>
      </p:sp>
      <p:sp>
        <p:nvSpPr>
          <p:cNvPr id="74755" name="Rectangle 2"/>
          <p:cNvSpPr>
            <a:spLocks noGrp="1" noRot="1" noChangeAspect="1" noChangeArrowheads="1"/>
          </p:cNvSpPr>
          <p:nvPr>
            <p:ph type="sldImg"/>
          </p:nvPr>
        </p:nvSpPr>
        <p:spPr>
          <a:solidFill>
            <a:srgbClr val="FFFFFF"/>
          </a:solidFill>
          <a:ln/>
        </p:spPr>
      </p:sp>
      <p:sp>
        <p:nvSpPr>
          <p:cNvPr id="74756"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9481587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86493" tIns="43247" rIns="86493" bIns="43247"/>
          <a:lstStyle/>
          <a:p>
            <a:r>
              <a:rPr lang="en-US" dirty="0"/>
              <a:t>What could go wrong?</a:t>
            </a:r>
          </a:p>
        </p:txBody>
      </p:sp>
      <p:sp>
        <p:nvSpPr>
          <p:cNvPr id="4" name="Slide Number Placeholder 3"/>
          <p:cNvSpPr>
            <a:spLocks noGrp="1"/>
          </p:cNvSpPr>
          <p:nvPr>
            <p:ph type="sldNum" sz="quarter" idx="10"/>
          </p:nvPr>
        </p:nvSpPr>
        <p:spPr>
          <a:xfrm>
            <a:off x="3884414" y="8685894"/>
            <a:ext cx="2972098" cy="456595"/>
          </a:xfrm>
          <a:prstGeom prst="rect">
            <a:avLst/>
          </a:prstGeom>
        </p:spPr>
        <p:txBody>
          <a:bodyPr lIns="86493" tIns="43247" rIns="86493" bIns="43247"/>
          <a:lstStyle/>
          <a:p>
            <a:pPr>
              <a:defRPr/>
            </a:pPr>
            <a:fld id="{9EEA0328-C956-B249-A6D4-A0E7BBC7B378}" type="slidenum">
              <a:rPr lang="en-US" smtClean="0">
                <a:solidFill>
                  <a:prstClr val="black"/>
                </a:solidFill>
              </a:rPr>
              <a:pPr>
                <a:defRPr/>
              </a:pPr>
              <a:t>19</a:t>
            </a:fld>
            <a:endParaRPr lang="en-US">
              <a:solidFill>
                <a:prstClr val="black"/>
              </a:solidFill>
            </a:endParaRPr>
          </a:p>
        </p:txBody>
      </p:sp>
    </p:spTree>
    <p:extLst>
      <p:ext uri="{BB962C8B-B14F-4D97-AF65-F5344CB8AC3E}">
        <p14:creationId xmlns:p14="http://schemas.microsoft.com/office/powerpoint/2010/main" val="10167383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7"/>
          <p:cNvSpPr>
            <a:spLocks noGrp="1" noChangeArrowheads="1"/>
          </p:cNvSpPr>
          <p:nvPr>
            <p:ph type="sldNum" sz="quarter" idx="5"/>
          </p:nvPr>
        </p:nvSpPr>
        <p:spPr>
          <a:xfrm>
            <a:off x="3885010" y="8684684"/>
            <a:ext cx="2971800" cy="457200"/>
          </a:xfrm>
          <a:prstGeom prst="rect">
            <a:avLst/>
          </a:prstGeom>
          <a:noFill/>
        </p:spPr>
        <p:txBody>
          <a:bodyPr/>
          <a:lstStyle/>
          <a:p>
            <a:fld id="{DF86D6B3-6172-344F-AF2E-101ACF88B5E5}" type="slidenum">
              <a:rPr lang="en-US">
                <a:latin typeface="Times New Roman" charset="0"/>
              </a:rPr>
              <a:pPr/>
              <a:t>23</a:t>
            </a:fld>
            <a:endParaRPr lang="en-US">
              <a:latin typeface="Times New Roman" charset="0"/>
            </a:endParaRPr>
          </a:p>
        </p:txBody>
      </p:sp>
      <p:sp>
        <p:nvSpPr>
          <p:cNvPr id="45059" name="Rectangle 2"/>
          <p:cNvSpPr>
            <a:spLocks noGrp="1" noRot="1" noChangeAspect="1" noChangeArrowheads="1" noTextEdit="1"/>
          </p:cNvSpPr>
          <p:nvPr>
            <p:ph type="sldImg"/>
          </p:nvPr>
        </p:nvSpPr>
        <p:spPr>
          <a:ln/>
        </p:spPr>
      </p:sp>
      <p:sp>
        <p:nvSpPr>
          <p:cNvPr id="45060" name="Rectangle 3"/>
          <p:cNvSpPr>
            <a:spLocks noGrp="1" noChangeArrowheads="1"/>
          </p:cNvSpPr>
          <p:nvPr>
            <p:ph type="body" idx="1"/>
          </p:nvPr>
        </p:nvSpPr>
        <p:spPr>
          <a:noFill/>
          <a:ln/>
        </p:spPr>
        <p:txBody>
          <a:bodyPr/>
          <a:lstStyle/>
          <a:p>
            <a:endParaRPr lang="en-US">
              <a:ea typeface="ＭＳ Ｐゴシック" charset="-128"/>
              <a:cs typeface="ＭＳ Ｐゴシック" charset="-128"/>
            </a:endParaRPr>
          </a:p>
        </p:txBody>
      </p:sp>
    </p:spTree>
    <p:extLst>
      <p:ext uri="{BB962C8B-B14F-4D97-AF65-F5344CB8AC3E}">
        <p14:creationId xmlns:p14="http://schemas.microsoft.com/office/powerpoint/2010/main" val="15001865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xfrm>
            <a:off x="3885010" y="8684684"/>
            <a:ext cx="2971800" cy="457200"/>
          </a:xfrm>
          <a:prstGeom prst="rect">
            <a:avLst/>
          </a:prstGeom>
          <a:noFill/>
        </p:spPr>
        <p:txBody>
          <a:bodyPr/>
          <a:lstStyle/>
          <a:p>
            <a:fld id="{42B0DAA6-02FB-6E4A-B752-815ED524F531}" type="slidenum">
              <a:rPr lang="en-US">
                <a:latin typeface="Times New Roman" charset="0"/>
              </a:rPr>
              <a:pPr/>
              <a:t>24</a:t>
            </a:fld>
            <a:endParaRPr lang="en-US">
              <a:latin typeface="Times New Roman" charset="0"/>
            </a:endParaRPr>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p:spPr>
        <p:txBody>
          <a:bodyPr/>
          <a:lstStyle/>
          <a:p>
            <a:endParaRPr lang="en-US">
              <a:ea typeface="ＭＳ Ｐゴシック" charset="-128"/>
              <a:cs typeface="ＭＳ Ｐゴシック" charset="-128"/>
            </a:endParaRPr>
          </a:p>
        </p:txBody>
      </p:sp>
    </p:spTree>
    <p:extLst>
      <p:ext uri="{BB962C8B-B14F-4D97-AF65-F5344CB8AC3E}">
        <p14:creationId xmlns:p14="http://schemas.microsoft.com/office/powerpoint/2010/main" val="611631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57263" eaLnBrk="0" hangingPunct="0">
              <a:defRPr sz="2000" b="1">
                <a:solidFill>
                  <a:schemeClr val="tx1"/>
                </a:solidFill>
                <a:latin typeface="Courier New" charset="0"/>
                <a:ea typeface="ＭＳ Ｐゴシック" charset="0"/>
                <a:cs typeface="ＭＳ Ｐゴシック" charset="0"/>
              </a:defRPr>
            </a:lvl1pPr>
            <a:lvl2pPr marL="742950" indent="-285750" defTabSz="957263" eaLnBrk="0" hangingPunct="0">
              <a:defRPr sz="2000" b="1">
                <a:solidFill>
                  <a:schemeClr val="tx1"/>
                </a:solidFill>
                <a:latin typeface="Courier New" charset="0"/>
                <a:ea typeface="ＭＳ Ｐゴシック" charset="0"/>
              </a:defRPr>
            </a:lvl2pPr>
            <a:lvl3pPr marL="1143000" indent="-228600" defTabSz="957263" eaLnBrk="0" hangingPunct="0">
              <a:defRPr sz="2000" b="1">
                <a:solidFill>
                  <a:schemeClr val="tx1"/>
                </a:solidFill>
                <a:latin typeface="Courier New" charset="0"/>
                <a:ea typeface="ＭＳ Ｐゴシック" charset="0"/>
              </a:defRPr>
            </a:lvl3pPr>
            <a:lvl4pPr marL="1600200" indent="-228600" defTabSz="957263" eaLnBrk="0" hangingPunct="0">
              <a:defRPr sz="2000" b="1">
                <a:solidFill>
                  <a:schemeClr val="tx1"/>
                </a:solidFill>
                <a:latin typeface="Courier New" charset="0"/>
                <a:ea typeface="ＭＳ Ｐゴシック" charset="0"/>
              </a:defRPr>
            </a:lvl4pPr>
            <a:lvl5pPr marL="2057400" indent="-228600" defTabSz="957263" eaLnBrk="0" hangingPunct="0">
              <a:defRPr sz="2000" b="1">
                <a:solidFill>
                  <a:schemeClr val="tx1"/>
                </a:solidFill>
                <a:latin typeface="Courier New" charset="0"/>
                <a:ea typeface="ＭＳ Ｐゴシック" charset="0"/>
              </a:defRPr>
            </a:lvl5pPr>
            <a:lvl6pPr marL="25146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57263" eaLnBrk="0" fontAlgn="base" hangingPunct="0">
              <a:spcBef>
                <a:spcPct val="0"/>
              </a:spcBef>
              <a:spcAft>
                <a:spcPct val="0"/>
              </a:spcAft>
              <a:defRPr sz="2000" b="1">
                <a:solidFill>
                  <a:schemeClr val="tx1"/>
                </a:solidFill>
                <a:latin typeface="Courier New" charset="0"/>
                <a:ea typeface="ＭＳ Ｐゴシック" charset="0"/>
              </a:defRPr>
            </a:lvl9pPr>
          </a:lstStyle>
          <a:p>
            <a:pPr eaLnBrk="1" hangingPunct="1"/>
            <a:fld id="{B0C462F0-F4EF-5244-A49E-6CE8D6940A21}" type="slidenum">
              <a:rPr lang="en-US" sz="1300" b="0">
                <a:latin typeface="Times New Roman" charset="0"/>
              </a:rPr>
              <a:pPr eaLnBrk="1" hangingPunct="1"/>
              <a:t>27</a:t>
            </a:fld>
            <a:endParaRPr lang="en-US" sz="1300" b="0">
              <a:latin typeface="Times New Roman" charset="0"/>
            </a:endParaRPr>
          </a:p>
        </p:txBody>
      </p:sp>
      <p:sp>
        <p:nvSpPr>
          <p:cNvPr id="125954" name="Rectangle 2"/>
          <p:cNvSpPr>
            <a:spLocks noGrp="1" noRot="1" noChangeAspect="1" noChangeArrowheads="1" noTextEdit="1"/>
          </p:cNvSpPr>
          <p:nvPr>
            <p:ph type="sldImg"/>
          </p:nvPr>
        </p:nvSpPr>
        <p:spPr>
          <a:xfrm>
            <a:off x="1250950" y="708025"/>
            <a:ext cx="4814888" cy="3611563"/>
          </a:xfrm>
          <a:solidFill>
            <a:srgbClr val="FFFFFF"/>
          </a:solidFill>
          <a:ln/>
        </p:spPr>
      </p:sp>
      <p:sp>
        <p:nvSpPr>
          <p:cNvPr id="125955" name="Rectangle 3"/>
          <p:cNvSpPr>
            <a:spLocks noGrp="1" noChangeArrowheads="1"/>
          </p:cNvSpPr>
          <p:nvPr>
            <p:ph type="body" idx="1"/>
          </p:nvPr>
        </p:nvSpPr>
        <p:spPr>
          <a:xfrm>
            <a:off x="942975" y="4564063"/>
            <a:ext cx="5429250" cy="4333875"/>
          </a:xfrm>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fr-FR">
              <a:ea typeface="ＭＳ Ｐゴシック" charset="0"/>
              <a:cs typeface="ＭＳ Ｐゴシック" charset="0"/>
            </a:endParaRPr>
          </a:p>
        </p:txBody>
      </p:sp>
    </p:spTree>
    <p:extLst>
      <p:ext uri="{BB962C8B-B14F-4D97-AF65-F5344CB8AC3E}">
        <p14:creationId xmlns:p14="http://schemas.microsoft.com/office/powerpoint/2010/main" val="2214053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57263" eaLnBrk="0" hangingPunct="0">
              <a:defRPr sz="2000" b="1">
                <a:solidFill>
                  <a:schemeClr val="tx1"/>
                </a:solidFill>
                <a:latin typeface="Courier New" charset="0"/>
                <a:ea typeface="ＭＳ Ｐゴシック" charset="0"/>
                <a:cs typeface="Arial" charset="0"/>
              </a:defRPr>
            </a:lvl1pPr>
            <a:lvl2pPr marL="37931725" indent="-37474525" defTabSz="957263"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FC4775AA-6F91-DB45-94C9-1927444BC962}" type="slidenum">
              <a:rPr lang="en-US" sz="1300" b="0">
                <a:latin typeface="Times New Roman" charset="0"/>
              </a:rPr>
              <a:pPr eaLnBrk="1" hangingPunct="1"/>
              <a:t>28</a:t>
            </a:fld>
            <a:endParaRPr lang="en-US" sz="1300" b="0">
              <a:latin typeface="Times New Roman" charset="0"/>
            </a:endParaRPr>
          </a:p>
        </p:txBody>
      </p:sp>
      <p:sp>
        <p:nvSpPr>
          <p:cNvPr id="41987" name="Rectangle 2"/>
          <p:cNvSpPr>
            <a:spLocks noGrp="1" noRot="1" noChangeAspect="1" noChangeArrowheads="1" noTextEdit="1"/>
          </p:cNvSpPr>
          <p:nvPr>
            <p:ph type="sldImg"/>
          </p:nvPr>
        </p:nvSpPr>
        <p:spPr>
          <a:ln/>
        </p:spPr>
      </p:sp>
      <p:sp>
        <p:nvSpPr>
          <p:cNvPr id="4198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4453645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57263" eaLnBrk="0" hangingPunct="0">
              <a:defRPr sz="2000" b="1">
                <a:solidFill>
                  <a:schemeClr val="tx1"/>
                </a:solidFill>
                <a:latin typeface="Courier New" charset="0"/>
                <a:ea typeface="ＭＳ Ｐゴシック" charset="0"/>
                <a:cs typeface="Arial" charset="0"/>
              </a:defRPr>
            </a:lvl1pPr>
            <a:lvl2pPr marL="37931725" indent="-37474525" defTabSz="957263"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432177F9-D46C-9E47-A59B-29E08ABE9F97}" type="slidenum">
              <a:rPr lang="en-US" sz="1300" b="0">
                <a:latin typeface="Times New Roman" charset="0"/>
              </a:rPr>
              <a:pPr eaLnBrk="1" hangingPunct="1"/>
              <a:t>31</a:t>
            </a:fld>
            <a:endParaRPr lang="en-US" sz="1300" b="0">
              <a:latin typeface="Times New Roman" charset="0"/>
            </a:endParaRPr>
          </a:p>
        </p:txBody>
      </p:sp>
      <p:sp>
        <p:nvSpPr>
          <p:cNvPr id="48131" name="Rectangle 2"/>
          <p:cNvSpPr>
            <a:spLocks noGrp="1" noRot="1" noChangeAspect="1" noChangeArrowheads="1"/>
          </p:cNvSpPr>
          <p:nvPr>
            <p:ph type="sldImg"/>
          </p:nvPr>
        </p:nvSpPr>
        <p:spPr>
          <a:solidFill>
            <a:srgbClr val="FFFFFF"/>
          </a:solidFill>
          <a:ln/>
        </p:spPr>
      </p:sp>
      <p:sp>
        <p:nvSpPr>
          <p:cNvPr id="48132"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r>
              <a:rPr lang="en-US" dirty="0">
                <a:ea typeface="ＭＳ Ｐゴシック" charset="0"/>
                <a:cs typeface="ＭＳ Ｐゴシック" charset="0"/>
              </a:rPr>
              <a:t>Arrows</a:t>
            </a:r>
            <a:r>
              <a:rPr lang="en-US" baseline="0" dirty="0">
                <a:ea typeface="ＭＳ Ｐゴシック" charset="0"/>
                <a:cs typeface="ＭＳ Ｐゴシック" charset="0"/>
              </a:rPr>
              <a:t> are routing message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5752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57263" eaLnBrk="0" hangingPunct="0">
              <a:defRPr sz="2000" b="1">
                <a:solidFill>
                  <a:schemeClr val="tx1"/>
                </a:solidFill>
                <a:latin typeface="Courier New" charset="0"/>
                <a:ea typeface="ＭＳ Ｐゴシック" charset="0"/>
                <a:cs typeface="Arial" charset="0"/>
              </a:defRPr>
            </a:lvl1pPr>
            <a:lvl2pPr marL="37931725" indent="-37474525" defTabSz="957263"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86217817-1DE6-EC4D-9339-BD283CA19325}" type="slidenum">
              <a:rPr lang="en-US" sz="1300" b="0">
                <a:latin typeface="Times New Roman" charset="0"/>
              </a:rPr>
              <a:pPr eaLnBrk="1" hangingPunct="1"/>
              <a:t>32</a:t>
            </a:fld>
            <a:endParaRPr lang="en-US" sz="1300" b="0">
              <a:latin typeface="Times New Roman" charset="0"/>
            </a:endParaRPr>
          </a:p>
        </p:txBody>
      </p:sp>
      <p:sp>
        <p:nvSpPr>
          <p:cNvPr id="62467" name="Rectangle 2"/>
          <p:cNvSpPr>
            <a:spLocks noGrp="1" noRot="1" noChangeAspect="1" noChangeArrowheads="1" noTextEdit="1"/>
          </p:cNvSpPr>
          <p:nvPr>
            <p:ph type="sldImg"/>
          </p:nvPr>
        </p:nvSpPr>
        <p:spPr>
          <a:xfrm>
            <a:off x="1258888" y="720725"/>
            <a:ext cx="4799012" cy="3598863"/>
          </a:xfrm>
          <a:solidFill>
            <a:srgbClr val="FFFFFF"/>
          </a:solidFill>
          <a:ln/>
        </p:spPr>
      </p:sp>
      <p:sp>
        <p:nvSpPr>
          <p:cNvPr id="62468" name="Rectangle 3"/>
          <p:cNvSpPr>
            <a:spLocks noGrp="1" noChangeArrowheads="1"/>
          </p:cNvSpPr>
          <p:nvPr>
            <p:ph type="body" idx="1"/>
          </p:nvPr>
        </p:nvSpPr>
        <p:spPr>
          <a:xfrm>
            <a:off x="731838" y="4559300"/>
            <a:ext cx="5851525" cy="4321175"/>
          </a:xfrm>
          <a:solidFill>
            <a:srgbClr val="FFFFFF"/>
          </a:solidFill>
          <a:ln>
            <a:solidFill>
              <a:srgbClr val="000000"/>
            </a:solidFill>
          </a:ln>
        </p:spPr>
        <p:txBody>
          <a:bodyPr/>
          <a:lstStyle/>
          <a:p>
            <a:endParaRPr lang="en-US" altLang="zh-CN" dirty="0">
              <a:ea typeface="宋体" charset="0"/>
              <a:cs typeface="宋体" charset="0"/>
            </a:endParaRPr>
          </a:p>
          <a:p>
            <a:r>
              <a:rPr lang="en-US" altLang="zh-CN" dirty="0">
                <a:ea typeface="宋体" charset="0"/>
                <a:cs typeface="宋体" charset="0"/>
              </a:rPr>
              <a:t>Arrows:</a:t>
            </a:r>
            <a:r>
              <a:rPr lang="en-US" altLang="zh-CN" baseline="0" dirty="0">
                <a:ea typeface="宋体" charset="0"/>
                <a:cs typeface="宋体" charset="0"/>
              </a:rPr>
              <a:t> routing messages!</a:t>
            </a:r>
            <a:endParaRPr lang="en-US" altLang="zh-CN" dirty="0">
              <a:ea typeface="宋体" charset="0"/>
              <a:cs typeface="宋体" charset="0"/>
            </a:endParaRPr>
          </a:p>
        </p:txBody>
      </p:sp>
    </p:spTree>
    <p:extLst>
      <p:ext uri="{BB962C8B-B14F-4D97-AF65-F5344CB8AC3E}">
        <p14:creationId xmlns:p14="http://schemas.microsoft.com/office/powerpoint/2010/main" val="13436853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E50E609E-E8D3-7341-9173-2B1EA0EA0FF7}" type="slidenum">
              <a:rPr lang="en-US" smtClean="0"/>
              <a:pPr>
                <a:defRPr/>
              </a:pPr>
              <a:t>39</a:t>
            </a:fld>
            <a:endParaRPr lang="en-US"/>
          </a:p>
        </p:txBody>
      </p:sp>
    </p:spTree>
    <p:extLst>
      <p:ext uri="{BB962C8B-B14F-4D97-AF65-F5344CB8AC3E}">
        <p14:creationId xmlns:p14="http://schemas.microsoft.com/office/powerpoint/2010/main" val="33120485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57178" eaLnBrk="0" hangingPunct="0">
              <a:defRPr sz="2000" b="1">
                <a:solidFill>
                  <a:schemeClr val="tx1"/>
                </a:solidFill>
                <a:latin typeface="Courier New" charset="0"/>
                <a:ea typeface="ＭＳ Ｐゴシック" charset="0"/>
                <a:cs typeface="Arial" charset="0"/>
              </a:defRPr>
            </a:lvl1pPr>
            <a:lvl2pPr marL="37928345" indent="-37471185" defTabSz="957178"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159" eaLnBrk="0" fontAlgn="base" hangingPunct="0">
              <a:spcBef>
                <a:spcPct val="0"/>
              </a:spcBef>
              <a:spcAft>
                <a:spcPct val="0"/>
              </a:spcAft>
              <a:defRPr sz="2000" b="1">
                <a:solidFill>
                  <a:schemeClr val="tx1"/>
                </a:solidFill>
                <a:latin typeface="Courier New" charset="0"/>
                <a:ea typeface="Arial" charset="0"/>
                <a:cs typeface="Arial" charset="0"/>
              </a:defRPr>
            </a:lvl6pPr>
            <a:lvl7pPr marL="914319" eaLnBrk="0" fontAlgn="base" hangingPunct="0">
              <a:spcBef>
                <a:spcPct val="0"/>
              </a:spcBef>
              <a:spcAft>
                <a:spcPct val="0"/>
              </a:spcAft>
              <a:defRPr sz="2000" b="1">
                <a:solidFill>
                  <a:schemeClr val="tx1"/>
                </a:solidFill>
                <a:latin typeface="Courier New" charset="0"/>
                <a:ea typeface="Arial" charset="0"/>
                <a:cs typeface="Arial" charset="0"/>
              </a:defRPr>
            </a:lvl7pPr>
            <a:lvl8pPr marL="1371477" eaLnBrk="0" fontAlgn="base" hangingPunct="0">
              <a:spcBef>
                <a:spcPct val="0"/>
              </a:spcBef>
              <a:spcAft>
                <a:spcPct val="0"/>
              </a:spcAft>
              <a:defRPr sz="2000" b="1">
                <a:solidFill>
                  <a:schemeClr val="tx1"/>
                </a:solidFill>
                <a:latin typeface="Courier New" charset="0"/>
                <a:ea typeface="Arial" charset="0"/>
                <a:cs typeface="Arial" charset="0"/>
              </a:defRPr>
            </a:lvl8pPr>
            <a:lvl9pPr marL="1828637"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B8E2CB00-C86A-A747-9BDC-DD3376311CB6}" type="slidenum">
              <a:rPr lang="en-US" sz="1300" b="0">
                <a:latin typeface="Times New Roman" charset="0"/>
              </a:rPr>
              <a:pPr eaLnBrk="1" hangingPunct="1"/>
              <a:t>48</a:t>
            </a:fld>
            <a:endParaRPr lang="en-US" sz="1300" b="0">
              <a:latin typeface="Times New Roman" charset="0"/>
            </a:endParaRPr>
          </a:p>
        </p:txBody>
      </p:sp>
      <p:sp>
        <p:nvSpPr>
          <p:cNvPr id="57347" name="Rectangle 2"/>
          <p:cNvSpPr>
            <a:spLocks noGrp="1" noRot="1" noChangeAspect="1" noChangeArrowheads="1"/>
          </p:cNvSpPr>
          <p:nvPr>
            <p:ph type="sldImg"/>
          </p:nvPr>
        </p:nvSpPr>
        <p:spPr>
          <a:solidFill>
            <a:srgbClr val="FFFFFF"/>
          </a:solidFill>
          <a:ln/>
        </p:spPr>
      </p:sp>
      <p:sp>
        <p:nvSpPr>
          <p:cNvPr id="57348"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335577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57178" eaLnBrk="0" hangingPunct="0">
              <a:defRPr sz="2000" b="1">
                <a:solidFill>
                  <a:schemeClr val="tx1"/>
                </a:solidFill>
                <a:latin typeface="Courier New" charset="0"/>
                <a:ea typeface="ＭＳ Ｐゴシック" charset="0"/>
                <a:cs typeface="Arial" charset="0"/>
              </a:defRPr>
            </a:lvl1pPr>
            <a:lvl2pPr marL="37928345" indent="-37471185" defTabSz="957178"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159" eaLnBrk="0" fontAlgn="base" hangingPunct="0">
              <a:spcBef>
                <a:spcPct val="0"/>
              </a:spcBef>
              <a:spcAft>
                <a:spcPct val="0"/>
              </a:spcAft>
              <a:defRPr sz="2000" b="1">
                <a:solidFill>
                  <a:schemeClr val="tx1"/>
                </a:solidFill>
                <a:latin typeface="Courier New" charset="0"/>
                <a:ea typeface="Arial" charset="0"/>
                <a:cs typeface="Arial" charset="0"/>
              </a:defRPr>
            </a:lvl6pPr>
            <a:lvl7pPr marL="914319" eaLnBrk="0" fontAlgn="base" hangingPunct="0">
              <a:spcBef>
                <a:spcPct val="0"/>
              </a:spcBef>
              <a:spcAft>
                <a:spcPct val="0"/>
              </a:spcAft>
              <a:defRPr sz="2000" b="1">
                <a:solidFill>
                  <a:schemeClr val="tx1"/>
                </a:solidFill>
                <a:latin typeface="Courier New" charset="0"/>
                <a:ea typeface="Arial" charset="0"/>
                <a:cs typeface="Arial" charset="0"/>
              </a:defRPr>
            </a:lvl7pPr>
            <a:lvl8pPr marL="1371477" eaLnBrk="0" fontAlgn="base" hangingPunct="0">
              <a:spcBef>
                <a:spcPct val="0"/>
              </a:spcBef>
              <a:spcAft>
                <a:spcPct val="0"/>
              </a:spcAft>
              <a:defRPr sz="2000" b="1">
                <a:solidFill>
                  <a:schemeClr val="tx1"/>
                </a:solidFill>
                <a:latin typeface="Courier New" charset="0"/>
                <a:ea typeface="Arial" charset="0"/>
                <a:cs typeface="Arial" charset="0"/>
              </a:defRPr>
            </a:lvl8pPr>
            <a:lvl9pPr marL="1828637"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114CD15E-08C5-BE42-912D-322759A8C347}" type="slidenum">
              <a:rPr lang="en-US" sz="1300" b="0">
                <a:latin typeface="Times New Roman" charset="0"/>
              </a:rPr>
              <a:pPr eaLnBrk="1" hangingPunct="1"/>
              <a:t>49</a:t>
            </a:fld>
            <a:endParaRPr lang="en-US" sz="1300" b="0">
              <a:latin typeface="Times New Roman" charset="0"/>
            </a:endParaRPr>
          </a:p>
        </p:txBody>
      </p:sp>
      <p:sp>
        <p:nvSpPr>
          <p:cNvPr id="72707" name="Rectangle 2"/>
          <p:cNvSpPr>
            <a:spLocks noGrp="1" noRot="1" noChangeAspect="1" noChangeArrowheads="1"/>
          </p:cNvSpPr>
          <p:nvPr>
            <p:ph type="sldImg"/>
          </p:nvPr>
        </p:nvSpPr>
        <p:spPr>
          <a:solidFill>
            <a:srgbClr val="FFFFFF"/>
          </a:solidFill>
          <a:ln/>
        </p:spPr>
      </p:sp>
      <p:sp>
        <p:nvSpPr>
          <p:cNvPr id="72708"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5465502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57178" eaLnBrk="0" hangingPunct="0">
              <a:defRPr sz="2000" b="1">
                <a:solidFill>
                  <a:schemeClr val="tx1"/>
                </a:solidFill>
                <a:latin typeface="Courier New" charset="0"/>
                <a:ea typeface="ＭＳ Ｐゴシック" charset="0"/>
                <a:cs typeface="Arial" charset="0"/>
              </a:defRPr>
            </a:lvl1pPr>
            <a:lvl2pPr marL="37928345" indent="-37471185" defTabSz="957178"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159" eaLnBrk="0" fontAlgn="base" hangingPunct="0">
              <a:spcBef>
                <a:spcPct val="0"/>
              </a:spcBef>
              <a:spcAft>
                <a:spcPct val="0"/>
              </a:spcAft>
              <a:defRPr sz="2000" b="1">
                <a:solidFill>
                  <a:schemeClr val="tx1"/>
                </a:solidFill>
                <a:latin typeface="Courier New" charset="0"/>
                <a:ea typeface="Arial" charset="0"/>
                <a:cs typeface="Arial" charset="0"/>
              </a:defRPr>
            </a:lvl6pPr>
            <a:lvl7pPr marL="914319" eaLnBrk="0" fontAlgn="base" hangingPunct="0">
              <a:spcBef>
                <a:spcPct val="0"/>
              </a:spcBef>
              <a:spcAft>
                <a:spcPct val="0"/>
              </a:spcAft>
              <a:defRPr sz="2000" b="1">
                <a:solidFill>
                  <a:schemeClr val="tx1"/>
                </a:solidFill>
                <a:latin typeface="Courier New" charset="0"/>
                <a:ea typeface="Arial" charset="0"/>
                <a:cs typeface="Arial" charset="0"/>
              </a:defRPr>
            </a:lvl7pPr>
            <a:lvl8pPr marL="1371477" eaLnBrk="0" fontAlgn="base" hangingPunct="0">
              <a:spcBef>
                <a:spcPct val="0"/>
              </a:spcBef>
              <a:spcAft>
                <a:spcPct val="0"/>
              </a:spcAft>
              <a:defRPr sz="2000" b="1">
                <a:solidFill>
                  <a:schemeClr val="tx1"/>
                </a:solidFill>
                <a:latin typeface="Courier New" charset="0"/>
                <a:ea typeface="Arial" charset="0"/>
                <a:cs typeface="Arial" charset="0"/>
              </a:defRPr>
            </a:lvl8pPr>
            <a:lvl9pPr marL="1828637"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281ECA61-3AE7-2C4E-AD4F-E208908BE981}" type="slidenum">
              <a:rPr lang="en-US" sz="1300" b="0">
                <a:latin typeface="Times New Roman" charset="0"/>
              </a:rPr>
              <a:pPr eaLnBrk="1" hangingPunct="1"/>
              <a:t>50</a:t>
            </a:fld>
            <a:endParaRPr lang="en-US" sz="1300" b="0">
              <a:latin typeface="Times New Roman" charset="0"/>
            </a:endParaRPr>
          </a:p>
        </p:txBody>
      </p:sp>
      <p:sp>
        <p:nvSpPr>
          <p:cNvPr id="89091" name="Rectangle 2"/>
          <p:cNvSpPr>
            <a:spLocks noGrp="1" noRot="1" noChangeAspect="1" noChangeArrowheads="1"/>
          </p:cNvSpPr>
          <p:nvPr>
            <p:ph type="sldImg"/>
          </p:nvPr>
        </p:nvSpPr>
        <p:spPr>
          <a:solidFill>
            <a:srgbClr val="FFFFFF"/>
          </a:solidFill>
          <a:ln/>
        </p:spPr>
      </p:sp>
      <p:sp>
        <p:nvSpPr>
          <p:cNvPr id="89092"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9972911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57178" eaLnBrk="0" hangingPunct="0">
              <a:defRPr sz="2000" b="1">
                <a:solidFill>
                  <a:schemeClr val="tx1"/>
                </a:solidFill>
                <a:latin typeface="Courier New" charset="0"/>
                <a:ea typeface="ＭＳ Ｐゴシック" charset="0"/>
                <a:cs typeface="Arial" charset="0"/>
              </a:defRPr>
            </a:lvl1pPr>
            <a:lvl2pPr marL="37928345" indent="-37471185" defTabSz="957178"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159" eaLnBrk="0" fontAlgn="base" hangingPunct="0">
              <a:spcBef>
                <a:spcPct val="0"/>
              </a:spcBef>
              <a:spcAft>
                <a:spcPct val="0"/>
              </a:spcAft>
              <a:defRPr sz="2000" b="1">
                <a:solidFill>
                  <a:schemeClr val="tx1"/>
                </a:solidFill>
                <a:latin typeface="Courier New" charset="0"/>
                <a:ea typeface="Arial" charset="0"/>
                <a:cs typeface="Arial" charset="0"/>
              </a:defRPr>
            </a:lvl6pPr>
            <a:lvl7pPr marL="914319" eaLnBrk="0" fontAlgn="base" hangingPunct="0">
              <a:spcBef>
                <a:spcPct val="0"/>
              </a:spcBef>
              <a:spcAft>
                <a:spcPct val="0"/>
              </a:spcAft>
              <a:defRPr sz="2000" b="1">
                <a:solidFill>
                  <a:schemeClr val="tx1"/>
                </a:solidFill>
                <a:latin typeface="Courier New" charset="0"/>
                <a:ea typeface="Arial" charset="0"/>
                <a:cs typeface="Arial" charset="0"/>
              </a:defRPr>
            </a:lvl7pPr>
            <a:lvl8pPr marL="1371477" eaLnBrk="0" fontAlgn="base" hangingPunct="0">
              <a:spcBef>
                <a:spcPct val="0"/>
              </a:spcBef>
              <a:spcAft>
                <a:spcPct val="0"/>
              </a:spcAft>
              <a:defRPr sz="2000" b="1">
                <a:solidFill>
                  <a:schemeClr val="tx1"/>
                </a:solidFill>
                <a:latin typeface="Courier New" charset="0"/>
                <a:ea typeface="Arial" charset="0"/>
                <a:cs typeface="Arial" charset="0"/>
              </a:defRPr>
            </a:lvl8pPr>
            <a:lvl9pPr marL="1828637"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EA2B8162-AD91-4E41-87FA-46E55C0794C5}" type="slidenum">
              <a:rPr lang="en-US" sz="1300" b="0">
                <a:latin typeface="Times New Roman" charset="0"/>
              </a:rPr>
              <a:pPr eaLnBrk="1" hangingPunct="1"/>
              <a:t>51</a:t>
            </a:fld>
            <a:endParaRPr lang="en-US" sz="1300" b="0">
              <a:latin typeface="Times New Roman" charset="0"/>
            </a:endParaRPr>
          </a:p>
        </p:txBody>
      </p:sp>
      <p:sp>
        <p:nvSpPr>
          <p:cNvPr id="93187" name="Rectangle 2"/>
          <p:cNvSpPr>
            <a:spLocks noGrp="1" noRot="1" noChangeAspect="1" noChangeArrowheads="1"/>
          </p:cNvSpPr>
          <p:nvPr>
            <p:ph type="sldImg"/>
          </p:nvPr>
        </p:nvSpPr>
        <p:spPr>
          <a:solidFill>
            <a:srgbClr val="FFFFFF"/>
          </a:solidFill>
          <a:ln/>
        </p:spPr>
      </p:sp>
      <p:sp>
        <p:nvSpPr>
          <p:cNvPr id="93188"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r>
              <a:rPr lang="en-US" dirty="0">
                <a:ea typeface="ＭＳ Ｐゴシック" charset="0"/>
                <a:cs typeface="ＭＳ Ｐゴシック" charset="0"/>
              </a:rPr>
              <a:t>wireless: because reception while</a:t>
            </a:r>
            <a:r>
              <a:rPr lang="en-US" baseline="0" dirty="0">
                <a:ea typeface="ＭＳ Ｐゴシック" charset="0"/>
                <a:cs typeface="ＭＳ Ｐゴシック" charset="0"/>
              </a:rPr>
              <a:t> </a:t>
            </a:r>
            <a:r>
              <a:rPr lang="en-US" baseline="0" dirty="0" err="1">
                <a:ea typeface="ＭＳ Ｐゴシック" charset="0"/>
                <a:cs typeface="ＭＳ Ｐゴシック" charset="0"/>
              </a:rPr>
              <a:t>tx</a:t>
            </a:r>
            <a:r>
              <a:rPr lang="en-US" baseline="0" dirty="0">
                <a:ea typeface="ＭＳ Ｐゴシック" charset="0"/>
                <a:cs typeface="ＭＳ Ｐゴシック" charset="0"/>
              </a:rPr>
              <a:t> is difficult . broadcast isn’t perfect so collisions local</a:t>
            </a:r>
            <a:endParaRPr lang="en-US" dirty="0">
              <a:ea typeface="ＭＳ Ｐゴシック" charset="0"/>
              <a:cs typeface="ＭＳ Ｐゴシック" charset="0"/>
            </a:endParaRPr>
          </a:p>
        </p:txBody>
      </p:sp>
    </p:spTree>
    <p:extLst>
      <p:ext uri="{BB962C8B-B14F-4D97-AF65-F5344CB8AC3E}">
        <p14:creationId xmlns:p14="http://schemas.microsoft.com/office/powerpoint/2010/main" val="4781200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57178" eaLnBrk="0" hangingPunct="0">
              <a:defRPr sz="2000" b="1">
                <a:solidFill>
                  <a:schemeClr val="tx1"/>
                </a:solidFill>
                <a:latin typeface="Courier New" charset="0"/>
                <a:ea typeface="ＭＳ Ｐゴシック" charset="0"/>
                <a:cs typeface="Arial" charset="0"/>
              </a:defRPr>
            </a:lvl1pPr>
            <a:lvl2pPr marL="37928345" indent="-37471185" defTabSz="957178"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159" eaLnBrk="0" fontAlgn="base" hangingPunct="0">
              <a:spcBef>
                <a:spcPct val="0"/>
              </a:spcBef>
              <a:spcAft>
                <a:spcPct val="0"/>
              </a:spcAft>
              <a:defRPr sz="2000" b="1">
                <a:solidFill>
                  <a:schemeClr val="tx1"/>
                </a:solidFill>
                <a:latin typeface="Courier New" charset="0"/>
                <a:ea typeface="Arial" charset="0"/>
                <a:cs typeface="Arial" charset="0"/>
              </a:defRPr>
            </a:lvl6pPr>
            <a:lvl7pPr marL="914319" eaLnBrk="0" fontAlgn="base" hangingPunct="0">
              <a:spcBef>
                <a:spcPct val="0"/>
              </a:spcBef>
              <a:spcAft>
                <a:spcPct val="0"/>
              </a:spcAft>
              <a:defRPr sz="2000" b="1">
                <a:solidFill>
                  <a:schemeClr val="tx1"/>
                </a:solidFill>
                <a:latin typeface="Courier New" charset="0"/>
                <a:ea typeface="Arial" charset="0"/>
                <a:cs typeface="Arial" charset="0"/>
              </a:defRPr>
            </a:lvl7pPr>
            <a:lvl8pPr marL="1371477" eaLnBrk="0" fontAlgn="base" hangingPunct="0">
              <a:spcBef>
                <a:spcPct val="0"/>
              </a:spcBef>
              <a:spcAft>
                <a:spcPct val="0"/>
              </a:spcAft>
              <a:defRPr sz="2000" b="1">
                <a:solidFill>
                  <a:schemeClr val="tx1"/>
                </a:solidFill>
                <a:latin typeface="Courier New" charset="0"/>
                <a:ea typeface="Arial" charset="0"/>
                <a:cs typeface="Arial" charset="0"/>
              </a:defRPr>
            </a:lvl8pPr>
            <a:lvl9pPr marL="1828637"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EC130659-87AF-CE4D-B5EA-54D55326E82A}" type="slidenum">
              <a:rPr lang="en-US" sz="1300" b="0">
                <a:latin typeface="Times New Roman" charset="0"/>
              </a:rPr>
              <a:pPr eaLnBrk="1" hangingPunct="1"/>
              <a:t>52</a:t>
            </a:fld>
            <a:endParaRPr lang="en-US" sz="1300" b="0">
              <a:latin typeface="Times New Roman" charset="0"/>
            </a:endParaRPr>
          </a:p>
        </p:txBody>
      </p:sp>
      <p:sp>
        <p:nvSpPr>
          <p:cNvPr id="97283" name="Rectangle 2"/>
          <p:cNvSpPr>
            <a:spLocks noGrp="1" noRot="1" noChangeAspect="1" noChangeArrowheads="1"/>
          </p:cNvSpPr>
          <p:nvPr>
            <p:ph type="sldImg"/>
          </p:nvPr>
        </p:nvSpPr>
        <p:spPr>
          <a:solidFill>
            <a:srgbClr val="FFFFFF"/>
          </a:solidFill>
          <a:ln/>
        </p:spPr>
      </p:sp>
      <p:sp>
        <p:nvSpPr>
          <p:cNvPr id="97284"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39628361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57178" eaLnBrk="0" hangingPunct="0">
              <a:defRPr sz="2000" b="1">
                <a:solidFill>
                  <a:schemeClr val="tx1"/>
                </a:solidFill>
                <a:latin typeface="Courier New" charset="0"/>
                <a:ea typeface="ＭＳ Ｐゴシック" charset="0"/>
                <a:cs typeface="Arial" charset="0"/>
              </a:defRPr>
            </a:lvl1pPr>
            <a:lvl2pPr marL="37928345" indent="-37471185" defTabSz="957178"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159" eaLnBrk="0" fontAlgn="base" hangingPunct="0">
              <a:spcBef>
                <a:spcPct val="0"/>
              </a:spcBef>
              <a:spcAft>
                <a:spcPct val="0"/>
              </a:spcAft>
              <a:defRPr sz="2000" b="1">
                <a:solidFill>
                  <a:schemeClr val="tx1"/>
                </a:solidFill>
                <a:latin typeface="Courier New" charset="0"/>
                <a:ea typeface="Arial" charset="0"/>
                <a:cs typeface="Arial" charset="0"/>
              </a:defRPr>
            </a:lvl6pPr>
            <a:lvl7pPr marL="914319" eaLnBrk="0" fontAlgn="base" hangingPunct="0">
              <a:spcBef>
                <a:spcPct val="0"/>
              </a:spcBef>
              <a:spcAft>
                <a:spcPct val="0"/>
              </a:spcAft>
              <a:defRPr sz="2000" b="1">
                <a:solidFill>
                  <a:schemeClr val="tx1"/>
                </a:solidFill>
                <a:latin typeface="Courier New" charset="0"/>
                <a:ea typeface="Arial" charset="0"/>
                <a:cs typeface="Arial" charset="0"/>
              </a:defRPr>
            </a:lvl7pPr>
            <a:lvl8pPr marL="1371477" eaLnBrk="0" fontAlgn="base" hangingPunct="0">
              <a:spcBef>
                <a:spcPct val="0"/>
              </a:spcBef>
              <a:spcAft>
                <a:spcPct val="0"/>
              </a:spcAft>
              <a:defRPr sz="2000" b="1">
                <a:solidFill>
                  <a:schemeClr val="tx1"/>
                </a:solidFill>
                <a:latin typeface="Courier New" charset="0"/>
                <a:ea typeface="Arial" charset="0"/>
                <a:cs typeface="Arial" charset="0"/>
              </a:defRPr>
            </a:lvl8pPr>
            <a:lvl9pPr marL="1828637"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fld id="{A10B4C87-43F1-8447-99DD-FB94C86AE74F}" type="slidenum">
              <a:rPr lang="en-US" sz="1300" b="0">
                <a:latin typeface="Times New Roman" charset="0"/>
              </a:rPr>
              <a:pPr eaLnBrk="1" hangingPunct="1"/>
              <a:t>53</a:t>
            </a:fld>
            <a:endParaRPr lang="en-US" sz="1300" b="0">
              <a:latin typeface="Times New Roman" charset="0"/>
            </a:endParaRPr>
          </a:p>
        </p:txBody>
      </p:sp>
      <p:sp>
        <p:nvSpPr>
          <p:cNvPr id="99331" name="Rectangle 2"/>
          <p:cNvSpPr>
            <a:spLocks noGrp="1" noRot="1" noChangeAspect="1" noChangeArrowheads="1"/>
          </p:cNvSpPr>
          <p:nvPr>
            <p:ph type="sldImg"/>
          </p:nvPr>
        </p:nvSpPr>
        <p:spPr>
          <a:solidFill>
            <a:srgbClr val="FFFFFF"/>
          </a:solidFill>
          <a:ln/>
        </p:spPr>
      </p:sp>
      <p:sp>
        <p:nvSpPr>
          <p:cNvPr id="99332" name="Rectangle 3"/>
          <p:cNvSpPr>
            <a:spLocks noGrp="1" noChangeArrowheads="1"/>
          </p:cNvSpPr>
          <p:nvPr>
            <p:ph type="body" idx="1"/>
          </p:nvPr>
        </p:nvSpPr>
        <p:spPr>
          <a:solidFill>
            <a:srgbClr val="FFFFFF"/>
          </a:solidFill>
          <a:ln>
            <a:solidFill>
              <a:srgbClr val="000000"/>
            </a:solidFill>
          </a:ln>
          <a:extLst>
            <a:ext uri="{FAA26D3D-D897-4be2-8F04-BA451C77F1D7}">
              <ma14:placeholderFlag xmlns:ma14="http://schemas.microsoft.com/office/mac/drawingml/2011/main" xmlns="" val="1"/>
            </a:ext>
          </a:extLst>
        </p:spPr>
        <p:txBody>
          <a:bodyPr/>
          <a:lstStyle/>
          <a:p>
            <a:endParaRPr lang="en-US" sz="2100" b="1" dirty="0">
              <a:ea typeface="ＭＳ Ｐゴシック" charset="0"/>
              <a:cs typeface="ＭＳ Ｐゴシック" charset="0"/>
            </a:endParaRPr>
          </a:p>
        </p:txBody>
      </p:sp>
    </p:spTree>
    <p:extLst>
      <p:ext uri="{BB962C8B-B14F-4D97-AF65-F5344CB8AC3E}">
        <p14:creationId xmlns:p14="http://schemas.microsoft.com/office/powerpoint/2010/main" val="21692604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05475" eaLnBrk="0" hangingPunct="0">
              <a:defRPr sz="1900" b="1">
                <a:solidFill>
                  <a:schemeClr val="tx1"/>
                </a:solidFill>
                <a:latin typeface="Courier New" charset="0"/>
                <a:ea typeface="ＭＳ Ｐゴシック" charset="0"/>
                <a:cs typeface="Arial" charset="0"/>
              </a:defRPr>
            </a:lvl1pPr>
            <a:lvl2pPr marL="35879619" indent="-35447153" defTabSz="905475" eaLnBrk="0" hangingPunct="0">
              <a:defRPr sz="1900" b="1">
                <a:solidFill>
                  <a:schemeClr val="tx1"/>
                </a:solidFill>
                <a:latin typeface="Courier New" charset="0"/>
                <a:ea typeface="Arial" charset="0"/>
                <a:cs typeface="Arial" charset="0"/>
              </a:defRPr>
            </a:lvl2pPr>
            <a:lvl3pPr eaLnBrk="0" hangingPunct="0">
              <a:defRPr sz="1900" b="1">
                <a:solidFill>
                  <a:schemeClr val="tx1"/>
                </a:solidFill>
                <a:latin typeface="Courier New" charset="0"/>
                <a:ea typeface="Arial" charset="0"/>
                <a:cs typeface="Arial" charset="0"/>
              </a:defRPr>
            </a:lvl3pPr>
            <a:lvl4pPr eaLnBrk="0" hangingPunct="0">
              <a:defRPr sz="1900" b="1">
                <a:solidFill>
                  <a:schemeClr val="tx1"/>
                </a:solidFill>
                <a:latin typeface="Courier New" charset="0"/>
                <a:ea typeface="Arial" charset="0"/>
                <a:cs typeface="Arial" charset="0"/>
              </a:defRPr>
            </a:lvl4pPr>
            <a:lvl5pPr eaLnBrk="0" hangingPunct="0">
              <a:defRPr sz="1900" b="1">
                <a:solidFill>
                  <a:schemeClr val="tx1"/>
                </a:solidFill>
                <a:latin typeface="Courier New" charset="0"/>
                <a:ea typeface="Arial" charset="0"/>
                <a:cs typeface="Arial" charset="0"/>
              </a:defRPr>
            </a:lvl5pPr>
            <a:lvl6pPr marL="432465" eaLnBrk="0" fontAlgn="base" hangingPunct="0">
              <a:spcBef>
                <a:spcPct val="0"/>
              </a:spcBef>
              <a:spcAft>
                <a:spcPct val="0"/>
              </a:spcAft>
              <a:defRPr sz="1900" b="1">
                <a:solidFill>
                  <a:schemeClr val="tx1"/>
                </a:solidFill>
                <a:latin typeface="Courier New" charset="0"/>
                <a:ea typeface="Arial" charset="0"/>
                <a:cs typeface="Arial" charset="0"/>
              </a:defRPr>
            </a:lvl6pPr>
            <a:lvl7pPr marL="864931" eaLnBrk="0" fontAlgn="base" hangingPunct="0">
              <a:spcBef>
                <a:spcPct val="0"/>
              </a:spcBef>
              <a:spcAft>
                <a:spcPct val="0"/>
              </a:spcAft>
              <a:defRPr sz="1900" b="1">
                <a:solidFill>
                  <a:schemeClr val="tx1"/>
                </a:solidFill>
                <a:latin typeface="Courier New" charset="0"/>
                <a:ea typeface="Arial" charset="0"/>
                <a:cs typeface="Arial" charset="0"/>
              </a:defRPr>
            </a:lvl7pPr>
            <a:lvl8pPr marL="1297396" eaLnBrk="0" fontAlgn="base" hangingPunct="0">
              <a:spcBef>
                <a:spcPct val="0"/>
              </a:spcBef>
              <a:spcAft>
                <a:spcPct val="0"/>
              </a:spcAft>
              <a:defRPr sz="1900" b="1">
                <a:solidFill>
                  <a:schemeClr val="tx1"/>
                </a:solidFill>
                <a:latin typeface="Courier New" charset="0"/>
                <a:ea typeface="Arial" charset="0"/>
                <a:cs typeface="Arial" charset="0"/>
              </a:defRPr>
            </a:lvl8pPr>
            <a:lvl9pPr marL="1729862" eaLnBrk="0" fontAlgn="base" hangingPunct="0">
              <a:spcBef>
                <a:spcPct val="0"/>
              </a:spcBef>
              <a:spcAft>
                <a:spcPct val="0"/>
              </a:spcAft>
              <a:defRPr sz="1900" b="1">
                <a:solidFill>
                  <a:schemeClr val="tx1"/>
                </a:solidFill>
                <a:latin typeface="Courier New" charset="0"/>
                <a:ea typeface="Arial" charset="0"/>
                <a:cs typeface="Arial" charset="0"/>
              </a:defRPr>
            </a:lvl9pPr>
          </a:lstStyle>
          <a:p>
            <a:pPr eaLnBrk="1" hangingPunct="1"/>
            <a:fld id="{BB73EF23-A48E-FF4B-A9BC-8B81AB75B1F3}" type="slidenum">
              <a:rPr lang="en-US" sz="1200" b="0">
                <a:latin typeface="Times New Roman" charset="0"/>
              </a:rPr>
              <a:pPr eaLnBrk="1" hangingPunct="1"/>
              <a:t>54</a:t>
            </a:fld>
            <a:endParaRPr lang="en-US" sz="1200" b="0">
              <a:latin typeface="Times New Roman" charset="0"/>
            </a:endParaRPr>
          </a:p>
        </p:txBody>
      </p:sp>
      <p:sp>
        <p:nvSpPr>
          <p:cNvPr id="59395" name="Rectangle 2"/>
          <p:cNvSpPr>
            <a:spLocks noGrp="1" noRot="1" noChangeAspect="1" noChangeArrowheads="1"/>
          </p:cNvSpPr>
          <p:nvPr>
            <p:ph type="sldImg"/>
          </p:nvPr>
        </p:nvSpPr>
        <p:spPr>
          <a:solidFill>
            <a:srgbClr val="FFFFFF"/>
          </a:solidFill>
          <a:ln/>
        </p:spPr>
      </p:sp>
      <p:sp>
        <p:nvSpPr>
          <p:cNvPr id="59396"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769137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05475" eaLnBrk="0" hangingPunct="0">
              <a:defRPr sz="1900" b="1">
                <a:solidFill>
                  <a:schemeClr val="tx1"/>
                </a:solidFill>
                <a:latin typeface="Courier New" charset="0"/>
                <a:ea typeface="ＭＳ Ｐゴシック" charset="0"/>
                <a:cs typeface="Arial" charset="0"/>
              </a:defRPr>
            </a:lvl1pPr>
            <a:lvl2pPr marL="35879619" indent="-35447153" defTabSz="905475" eaLnBrk="0" hangingPunct="0">
              <a:defRPr sz="1900" b="1">
                <a:solidFill>
                  <a:schemeClr val="tx1"/>
                </a:solidFill>
                <a:latin typeface="Courier New" charset="0"/>
                <a:ea typeface="Arial" charset="0"/>
                <a:cs typeface="Arial" charset="0"/>
              </a:defRPr>
            </a:lvl2pPr>
            <a:lvl3pPr eaLnBrk="0" hangingPunct="0">
              <a:defRPr sz="1900" b="1">
                <a:solidFill>
                  <a:schemeClr val="tx1"/>
                </a:solidFill>
                <a:latin typeface="Courier New" charset="0"/>
                <a:ea typeface="Arial" charset="0"/>
                <a:cs typeface="Arial" charset="0"/>
              </a:defRPr>
            </a:lvl3pPr>
            <a:lvl4pPr eaLnBrk="0" hangingPunct="0">
              <a:defRPr sz="1900" b="1">
                <a:solidFill>
                  <a:schemeClr val="tx1"/>
                </a:solidFill>
                <a:latin typeface="Courier New" charset="0"/>
                <a:ea typeface="Arial" charset="0"/>
                <a:cs typeface="Arial" charset="0"/>
              </a:defRPr>
            </a:lvl4pPr>
            <a:lvl5pPr eaLnBrk="0" hangingPunct="0">
              <a:defRPr sz="1900" b="1">
                <a:solidFill>
                  <a:schemeClr val="tx1"/>
                </a:solidFill>
                <a:latin typeface="Courier New" charset="0"/>
                <a:ea typeface="Arial" charset="0"/>
                <a:cs typeface="Arial" charset="0"/>
              </a:defRPr>
            </a:lvl5pPr>
            <a:lvl6pPr marL="432465" eaLnBrk="0" fontAlgn="base" hangingPunct="0">
              <a:spcBef>
                <a:spcPct val="0"/>
              </a:spcBef>
              <a:spcAft>
                <a:spcPct val="0"/>
              </a:spcAft>
              <a:defRPr sz="1900" b="1">
                <a:solidFill>
                  <a:schemeClr val="tx1"/>
                </a:solidFill>
                <a:latin typeface="Courier New" charset="0"/>
                <a:ea typeface="Arial" charset="0"/>
                <a:cs typeface="Arial" charset="0"/>
              </a:defRPr>
            </a:lvl6pPr>
            <a:lvl7pPr marL="864931" eaLnBrk="0" fontAlgn="base" hangingPunct="0">
              <a:spcBef>
                <a:spcPct val="0"/>
              </a:spcBef>
              <a:spcAft>
                <a:spcPct val="0"/>
              </a:spcAft>
              <a:defRPr sz="1900" b="1">
                <a:solidFill>
                  <a:schemeClr val="tx1"/>
                </a:solidFill>
                <a:latin typeface="Courier New" charset="0"/>
                <a:ea typeface="Arial" charset="0"/>
                <a:cs typeface="Arial" charset="0"/>
              </a:defRPr>
            </a:lvl7pPr>
            <a:lvl8pPr marL="1297396" eaLnBrk="0" fontAlgn="base" hangingPunct="0">
              <a:spcBef>
                <a:spcPct val="0"/>
              </a:spcBef>
              <a:spcAft>
                <a:spcPct val="0"/>
              </a:spcAft>
              <a:defRPr sz="1900" b="1">
                <a:solidFill>
                  <a:schemeClr val="tx1"/>
                </a:solidFill>
                <a:latin typeface="Courier New" charset="0"/>
                <a:ea typeface="Arial" charset="0"/>
                <a:cs typeface="Arial" charset="0"/>
              </a:defRPr>
            </a:lvl8pPr>
            <a:lvl9pPr marL="1729862" eaLnBrk="0" fontAlgn="base" hangingPunct="0">
              <a:spcBef>
                <a:spcPct val="0"/>
              </a:spcBef>
              <a:spcAft>
                <a:spcPct val="0"/>
              </a:spcAft>
              <a:defRPr sz="1900" b="1">
                <a:solidFill>
                  <a:schemeClr val="tx1"/>
                </a:solidFill>
                <a:latin typeface="Courier New" charset="0"/>
                <a:ea typeface="Arial" charset="0"/>
                <a:cs typeface="Arial" charset="0"/>
              </a:defRPr>
            </a:lvl9pPr>
          </a:lstStyle>
          <a:p>
            <a:pPr eaLnBrk="1" hangingPunct="1"/>
            <a:fld id="{BB32342D-A5EE-634E-BBD6-118AB66A94E6}" type="slidenum">
              <a:rPr lang="en-US" sz="1200" b="0">
                <a:latin typeface="Times New Roman" charset="0"/>
              </a:rPr>
              <a:pPr eaLnBrk="1" hangingPunct="1"/>
              <a:t>55</a:t>
            </a:fld>
            <a:endParaRPr lang="en-US" sz="1200" b="0">
              <a:latin typeface="Times New Roman" charset="0"/>
            </a:endParaRPr>
          </a:p>
        </p:txBody>
      </p:sp>
      <p:sp>
        <p:nvSpPr>
          <p:cNvPr id="67587" name="Rectangle 2"/>
          <p:cNvSpPr>
            <a:spLocks noGrp="1" noRot="1" noChangeAspect="1" noChangeArrowheads="1"/>
          </p:cNvSpPr>
          <p:nvPr>
            <p:ph type="sldImg"/>
          </p:nvPr>
        </p:nvSpPr>
        <p:spPr>
          <a:solidFill>
            <a:srgbClr val="FFFFFF"/>
          </a:solidFill>
          <a:ln/>
        </p:spPr>
      </p:sp>
      <p:sp>
        <p:nvSpPr>
          <p:cNvPr id="67588"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15503306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56</a:t>
            </a:fld>
            <a:endParaRPr lang="en-US"/>
          </a:p>
        </p:txBody>
      </p:sp>
    </p:spTree>
    <p:extLst>
      <p:ext uri="{BB962C8B-B14F-4D97-AF65-F5344CB8AC3E}">
        <p14:creationId xmlns:p14="http://schemas.microsoft.com/office/powerpoint/2010/main" val="8336053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05395" eaLnBrk="0" hangingPunct="0">
              <a:defRPr sz="1900" b="1">
                <a:solidFill>
                  <a:schemeClr val="tx1"/>
                </a:solidFill>
                <a:latin typeface="Courier New" charset="0"/>
                <a:ea typeface="ＭＳ Ｐゴシック" charset="0"/>
                <a:cs typeface="Arial" charset="0"/>
              </a:defRPr>
            </a:lvl1pPr>
            <a:lvl2pPr marL="35876422" indent="-35443994" defTabSz="905395" eaLnBrk="0" hangingPunct="0">
              <a:defRPr sz="1900" b="1">
                <a:solidFill>
                  <a:schemeClr val="tx1"/>
                </a:solidFill>
                <a:latin typeface="Courier New" charset="0"/>
                <a:ea typeface="Arial" charset="0"/>
                <a:cs typeface="Arial" charset="0"/>
              </a:defRPr>
            </a:lvl2pPr>
            <a:lvl3pPr eaLnBrk="0" hangingPunct="0">
              <a:defRPr sz="1900" b="1">
                <a:solidFill>
                  <a:schemeClr val="tx1"/>
                </a:solidFill>
                <a:latin typeface="Courier New" charset="0"/>
                <a:ea typeface="Arial" charset="0"/>
                <a:cs typeface="Arial" charset="0"/>
              </a:defRPr>
            </a:lvl3pPr>
            <a:lvl4pPr eaLnBrk="0" hangingPunct="0">
              <a:defRPr sz="1900" b="1">
                <a:solidFill>
                  <a:schemeClr val="tx1"/>
                </a:solidFill>
                <a:latin typeface="Courier New" charset="0"/>
                <a:ea typeface="Arial" charset="0"/>
                <a:cs typeface="Arial" charset="0"/>
              </a:defRPr>
            </a:lvl4pPr>
            <a:lvl5pPr eaLnBrk="0" hangingPunct="0">
              <a:defRPr sz="1900" b="1">
                <a:solidFill>
                  <a:schemeClr val="tx1"/>
                </a:solidFill>
                <a:latin typeface="Courier New" charset="0"/>
                <a:ea typeface="Arial" charset="0"/>
                <a:cs typeface="Arial" charset="0"/>
              </a:defRPr>
            </a:lvl5pPr>
            <a:lvl6pPr marL="432427" eaLnBrk="0" fontAlgn="base" hangingPunct="0">
              <a:spcBef>
                <a:spcPct val="0"/>
              </a:spcBef>
              <a:spcAft>
                <a:spcPct val="0"/>
              </a:spcAft>
              <a:defRPr sz="1900" b="1">
                <a:solidFill>
                  <a:schemeClr val="tx1"/>
                </a:solidFill>
                <a:latin typeface="Courier New" charset="0"/>
                <a:ea typeface="Arial" charset="0"/>
                <a:cs typeface="Arial" charset="0"/>
              </a:defRPr>
            </a:lvl6pPr>
            <a:lvl7pPr marL="864854" eaLnBrk="0" fontAlgn="base" hangingPunct="0">
              <a:spcBef>
                <a:spcPct val="0"/>
              </a:spcBef>
              <a:spcAft>
                <a:spcPct val="0"/>
              </a:spcAft>
              <a:defRPr sz="1900" b="1">
                <a:solidFill>
                  <a:schemeClr val="tx1"/>
                </a:solidFill>
                <a:latin typeface="Courier New" charset="0"/>
                <a:ea typeface="Arial" charset="0"/>
                <a:cs typeface="Arial" charset="0"/>
              </a:defRPr>
            </a:lvl7pPr>
            <a:lvl8pPr marL="1297280" eaLnBrk="0" fontAlgn="base" hangingPunct="0">
              <a:spcBef>
                <a:spcPct val="0"/>
              </a:spcBef>
              <a:spcAft>
                <a:spcPct val="0"/>
              </a:spcAft>
              <a:defRPr sz="1900" b="1">
                <a:solidFill>
                  <a:schemeClr val="tx1"/>
                </a:solidFill>
                <a:latin typeface="Courier New" charset="0"/>
                <a:ea typeface="Arial" charset="0"/>
                <a:cs typeface="Arial" charset="0"/>
              </a:defRPr>
            </a:lvl8pPr>
            <a:lvl9pPr marL="1729708" eaLnBrk="0" fontAlgn="base" hangingPunct="0">
              <a:spcBef>
                <a:spcPct val="0"/>
              </a:spcBef>
              <a:spcAft>
                <a:spcPct val="0"/>
              </a:spcAft>
              <a:defRPr sz="1900" b="1">
                <a:solidFill>
                  <a:schemeClr val="tx1"/>
                </a:solidFill>
                <a:latin typeface="Courier New" charset="0"/>
                <a:ea typeface="Arial" charset="0"/>
                <a:cs typeface="Arial" charset="0"/>
              </a:defRPr>
            </a:lvl9pPr>
          </a:lstStyle>
          <a:p>
            <a:pPr eaLnBrk="1" hangingPunct="1"/>
            <a:fld id="{2A3C8062-490D-8343-A3E5-312490AFF82B}" type="slidenum">
              <a:rPr lang="en-US" sz="1200" b="0">
                <a:latin typeface="Times New Roman" charset="0"/>
              </a:rPr>
              <a:pPr eaLnBrk="1" hangingPunct="1"/>
              <a:t>57</a:t>
            </a:fld>
            <a:endParaRPr lang="en-US" sz="1200" b="0">
              <a:latin typeface="Times New Roman" charset="0"/>
            </a:endParaRPr>
          </a:p>
        </p:txBody>
      </p:sp>
      <p:sp>
        <p:nvSpPr>
          <p:cNvPr id="41987" name="Rectangle 2"/>
          <p:cNvSpPr>
            <a:spLocks noGrp="1" noRot="1" noChangeAspect="1" noChangeArrowheads="1"/>
          </p:cNvSpPr>
          <p:nvPr>
            <p:ph type="sldImg"/>
          </p:nvPr>
        </p:nvSpPr>
        <p:spPr>
          <a:solidFill>
            <a:srgbClr val="FFFFFF"/>
          </a:solidFill>
          <a:ln/>
        </p:spPr>
      </p:sp>
      <p:sp>
        <p:nvSpPr>
          <p:cNvPr id="41988" name="Rectangle 3"/>
          <p:cNvSpPr>
            <a:spLocks noGrp="1" noChangeArrowheads="1"/>
          </p:cNvSpPr>
          <p:nvPr>
            <p:ph type="body" idx="1"/>
          </p:nvPr>
        </p:nvSpPr>
        <p:spPr>
          <a:solidFill>
            <a:srgbClr val="FFFFFF"/>
          </a:solidFill>
          <a:ln>
            <a:solidFill>
              <a:srgbClr val="000000"/>
            </a:solidFill>
          </a:ln>
          <a:extLst>
            <a:ext uri="{FAA26D3D-D897-4be2-8F04-BA451C77F1D7}">
              <ma14:placeholderFlag xmlns="" xmlns:ma14="http://schemas.microsoft.com/office/mac/drawingml/2011/main" val="1"/>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7519083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p:cNvSpPr>
            <a:spLocks noGrp="1" noChangeArrowheads="1"/>
          </p:cNvSpPr>
          <p:nvPr>
            <p:ph type="sldNum" sz="quarter" idx="5"/>
          </p:nvPr>
        </p:nvSpPr>
        <p:spPr>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lvl1pPr defTabSz="965200">
              <a:defRPr>
                <a:solidFill>
                  <a:schemeClr val="tx1"/>
                </a:solidFill>
                <a:latin typeface="Comic Sans MS" charset="0"/>
                <a:ea typeface="ＭＳ Ｐゴシック" charset="0"/>
              </a:defRPr>
            </a:lvl1pPr>
            <a:lvl2pPr marL="742950" indent="-285750" defTabSz="965200">
              <a:defRPr>
                <a:solidFill>
                  <a:schemeClr val="tx1"/>
                </a:solidFill>
                <a:latin typeface="Comic Sans MS" charset="0"/>
                <a:ea typeface="ＭＳ Ｐゴシック" charset="0"/>
              </a:defRPr>
            </a:lvl2pPr>
            <a:lvl3pPr marL="1143000" indent="-228600" defTabSz="965200">
              <a:defRPr>
                <a:solidFill>
                  <a:schemeClr val="tx1"/>
                </a:solidFill>
                <a:latin typeface="Comic Sans MS" charset="0"/>
                <a:ea typeface="ＭＳ Ｐゴシック" charset="0"/>
              </a:defRPr>
            </a:lvl3pPr>
            <a:lvl4pPr marL="1600200" indent="-228600" defTabSz="965200">
              <a:defRPr>
                <a:solidFill>
                  <a:schemeClr val="tx1"/>
                </a:solidFill>
                <a:latin typeface="Comic Sans MS" charset="0"/>
                <a:ea typeface="ＭＳ Ｐゴシック" charset="0"/>
              </a:defRPr>
            </a:lvl4pPr>
            <a:lvl5pPr marL="2057400" indent="-228600" defTabSz="965200">
              <a:defRPr>
                <a:solidFill>
                  <a:schemeClr val="tx1"/>
                </a:solidFill>
                <a:latin typeface="Comic Sans MS" charset="0"/>
                <a:ea typeface="ＭＳ Ｐゴシック" charset="0"/>
              </a:defRPr>
            </a:lvl5pPr>
            <a:lvl6pPr marL="2514600" indent="-228600" defTabSz="965200" eaLnBrk="0" fontAlgn="base" hangingPunct="0">
              <a:spcBef>
                <a:spcPct val="0"/>
              </a:spcBef>
              <a:spcAft>
                <a:spcPct val="0"/>
              </a:spcAft>
              <a:defRPr>
                <a:solidFill>
                  <a:schemeClr val="tx1"/>
                </a:solidFill>
                <a:latin typeface="Comic Sans MS" charset="0"/>
                <a:ea typeface="ＭＳ Ｐゴシック" charset="0"/>
              </a:defRPr>
            </a:lvl6pPr>
            <a:lvl7pPr marL="2971800" indent="-228600" defTabSz="965200" eaLnBrk="0" fontAlgn="base" hangingPunct="0">
              <a:spcBef>
                <a:spcPct val="0"/>
              </a:spcBef>
              <a:spcAft>
                <a:spcPct val="0"/>
              </a:spcAft>
              <a:defRPr>
                <a:solidFill>
                  <a:schemeClr val="tx1"/>
                </a:solidFill>
                <a:latin typeface="Comic Sans MS" charset="0"/>
                <a:ea typeface="ＭＳ Ｐゴシック" charset="0"/>
              </a:defRPr>
            </a:lvl7pPr>
            <a:lvl8pPr marL="3429000" indent="-228600" defTabSz="965200" eaLnBrk="0" fontAlgn="base" hangingPunct="0">
              <a:spcBef>
                <a:spcPct val="0"/>
              </a:spcBef>
              <a:spcAft>
                <a:spcPct val="0"/>
              </a:spcAft>
              <a:defRPr>
                <a:solidFill>
                  <a:schemeClr val="tx1"/>
                </a:solidFill>
                <a:latin typeface="Comic Sans MS" charset="0"/>
                <a:ea typeface="ＭＳ Ｐゴシック" charset="0"/>
              </a:defRPr>
            </a:lvl8pPr>
            <a:lvl9pPr marL="3886200" indent="-228600" defTabSz="965200" eaLnBrk="0" fontAlgn="base" hangingPunct="0">
              <a:spcBef>
                <a:spcPct val="0"/>
              </a:spcBef>
              <a:spcAft>
                <a:spcPct val="0"/>
              </a:spcAft>
              <a:defRPr>
                <a:solidFill>
                  <a:schemeClr val="tx1"/>
                </a:solidFill>
                <a:latin typeface="Comic Sans MS" charset="0"/>
                <a:ea typeface="ＭＳ Ｐゴシック" charset="0"/>
              </a:defRPr>
            </a:lvl9pPr>
          </a:lstStyle>
          <a:p>
            <a:pPr>
              <a:defRPr/>
            </a:pPr>
            <a:fld id="{7F701F30-FBFD-DB45-AF66-8CDAFD7ECFEC}" type="slidenum">
              <a:rPr lang="en-US" smtClean="0">
                <a:latin typeface="Times New Roman" charset="0"/>
              </a:rPr>
              <a:pPr>
                <a:defRPr/>
              </a:pPr>
              <a:t>58</a:t>
            </a:fld>
            <a:endParaRPr lang="en-US" dirty="0">
              <a:latin typeface="Times New Roman" charset="0"/>
            </a:endParaRPr>
          </a:p>
        </p:txBody>
      </p:sp>
      <p:sp>
        <p:nvSpPr>
          <p:cNvPr id="83971" name="Rectangle 2"/>
          <p:cNvSpPr>
            <a:spLocks noGrp="1" noRot="1" noChangeAspect="1" noChangeArrowheads="1" noTextEdit="1"/>
          </p:cNvSpPr>
          <p:nvPr>
            <p:ph type="sldImg"/>
          </p:nvPr>
        </p:nvSpPr>
        <p:spPr>
          <a:ln/>
        </p:spPr>
      </p:sp>
      <p:sp>
        <p:nvSpPr>
          <p:cNvPr id="83972"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Times New Roman" charset="0"/>
              <a:cs typeface="+mn-cs"/>
            </a:endParaRPr>
          </a:p>
        </p:txBody>
      </p:sp>
    </p:spTree>
    <p:extLst>
      <p:ext uri="{BB962C8B-B14F-4D97-AF65-F5344CB8AC3E}">
        <p14:creationId xmlns:p14="http://schemas.microsoft.com/office/powerpoint/2010/main" val="20353744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gn="r" defTabSz="957263" eaLnBrk="0" hangingPunct="0">
              <a:defRPr sz="2000" b="1">
                <a:solidFill>
                  <a:schemeClr val="tx1"/>
                </a:solidFill>
                <a:latin typeface="Courier New" pitchFamily="49" charset="0"/>
                <a:ea typeface="MS PGothic" pitchFamily="34" charset="-128"/>
              </a:defRPr>
            </a:lvl1pPr>
            <a:lvl2pPr marL="742950" indent="-285750" algn="r" defTabSz="957263" eaLnBrk="0" hangingPunct="0">
              <a:defRPr sz="2000" b="1">
                <a:solidFill>
                  <a:schemeClr val="tx1"/>
                </a:solidFill>
                <a:latin typeface="Courier New" pitchFamily="49" charset="0"/>
                <a:ea typeface="MS PGothic" pitchFamily="34" charset="-128"/>
              </a:defRPr>
            </a:lvl2pPr>
            <a:lvl3pPr marL="1143000" indent="-228600" algn="r" defTabSz="957263" eaLnBrk="0" hangingPunct="0">
              <a:defRPr sz="2000" b="1">
                <a:solidFill>
                  <a:schemeClr val="tx1"/>
                </a:solidFill>
                <a:latin typeface="Courier New" pitchFamily="49" charset="0"/>
                <a:ea typeface="MS PGothic" pitchFamily="34" charset="-128"/>
              </a:defRPr>
            </a:lvl3pPr>
            <a:lvl4pPr marL="1600200" indent="-228600" algn="r" defTabSz="957263" eaLnBrk="0" hangingPunct="0">
              <a:defRPr sz="2000" b="1">
                <a:solidFill>
                  <a:schemeClr val="tx1"/>
                </a:solidFill>
                <a:latin typeface="Courier New" pitchFamily="49" charset="0"/>
                <a:ea typeface="MS PGothic" pitchFamily="34" charset="-128"/>
              </a:defRPr>
            </a:lvl4pPr>
            <a:lvl5pPr marL="2057400" indent="-228600" algn="r" defTabSz="957263" eaLnBrk="0" hangingPunct="0">
              <a:defRPr sz="2000" b="1">
                <a:solidFill>
                  <a:schemeClr val="tx1"/>
                </a:solidFill>
                <a:latin typeface="Courier New" pitchFamily="49" charset="0"/>
                <a:ea typeface="MS PGothic" pitchFamily="34" charset="-128"/>
              </a:defRPr>
            </a:lvl5pPr>
            <a:lvl6pPr marL="25146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eaLnBrk="1" hangingPunct="1"/>
            <a:fld id="{D3E02E9D-6A4F-4CD9-95CC-5E495CE0D39D}" type="slidenum">
              <a:rPr lang="en-US" sz="1300" b="0" smtClean="0">
                <a:latin typeface="Times New Roman" pitchFamily="18" charset="0"/>
              </a:rPr>
              <a:pPr eaLnBrk="1" hangingPunct="1"/>
              <a:t>60</a:t>
            </a:fld>
            <a:endParaRPr lang="en-US" sz="1300" b="0">
              <a:latin typeface="Times New Roman" pitchFamily="18" charset="0"/>
            </a:endParaRPr>
          </a:p>
        </p:txBody>
      </p:sp>
      <p:sp>
        <p:nvSpPr>
          <p:cNvPr id="129027" name="Rectangle 7"/>
          <p:cNvSpPr txBox="1">
            <a:spLocks noGrp="1" noChangeArrowheads="1"/>
          </p:cNvSpPr>
          <p:nvPr/>
        </p:nvSpPr>
        <p:spPr bwMode="auto">
          <a:xfrm>
            <a:off x="4143375" y="9120188"/>
            <a:ext cx="3170238" cy="479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5738" tIns="47869" rIns="95738" bIns="47869" anchor="b"/>
          <a:lstStyle>
            <a:lvl1pPr algn="r" defTabSz="957263" eaLnBrk="0" hangingPunct="0">
              <a:defRPr sz="2000" b="1">
                <a:solidFill>
                  <a:schemeClr val="tx1"/>
                </a:solidFill>
                <a:latin typeface="Courier New" pitchFamily="49" charset="0"/>
                <a:ea typeface="MS PGothic" pitchFamily="34" charset="-128"/>
              </a:defRPr>
            </a:lvl1pPr>
            <a:lvl2pPr marL="742950" indent="-285750" algn="r" defTabSz="957263" eaLnBrk="0" hangingPunct="0">
              <a:defRPr sz="2000" b="1">
                <a:solidFill>
                  <a:schemeClr val="tx1"/>
                </a:solidFill>
                <a:latin typeface="Courier New" pitchFamily="49" charset="0"/>
                <a:ea typeface="MS PGothic" pitchFamily="34" charset="-128"/>
              </a:defRPr>
            </a:lvl2pPr>
            <a:lvl3pPr marL="1143000" indent="-228600" algn="r" defTabSz="957263" eaLnBrk="0" hangingPunct="0">
              <a:defRPr sz="2000" b="1">
                <a:solidFill>
                  <a:schemeClr val="tx1"/>
                </a:solidFill>
                <a:latin typeface="Courier New" pitchFamily="49" charset="0"/>
                <a:ea typeface="MS PGothic" pitchFamily="34" charset="-128"/>
              </a:defRPr>
            </a:lvl3pPr>
            <a:lvl4pPr marL="1600200" indent="-228600" algn="r" defTabSz="957263" eaLnBrk="0" hangingPunct="0">
              <a:defRPr sz="2000" b="1">
                <a:solidFill>
                  <a:schemeClr val="tx1"/>
                </a:solidFill>
                <a:latin typeface="Courier New" pitchFamily="49" charset="0"/>
                <a:ea typeface="MS PGothic" pitchFamily="34" charset="-128"/>
              </a:defRPr>
            </a:lvl4pPr>
            <a:lvl5pPr marL="2057400" indent="-228600" algn="r" defTabSz="957263" eaLnBrk="0" hangingPunct="0">
              <a:defRPr sz="2000" b="1">
                <a:solidFill>
                  <a:schemeClr val="tx1"/>
                </a:solidFill>
                <a:latin typeface="Courier New" pitchFamily="49" charset="0"/>
                <a:ea typeface="MS PGothic" pitchFamily="34" charset="-128"/>
              </a:defRPr>
            </a:lvl5pPr>
            <a:lvl6pPr marL="25146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defTabSz="957263"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eaLnBrk="1" hangingPunct="1"/>
            <a:fld id="{C3545A94-B8A9-4FD7-9026-7BA0DA2A648D}" type="slidenum">
              <a:rPr lang="en-US" sz="1300" b="0">
                <a:latin typeface="Times New Roman" pitchFamily="18" charset="0"/>
              </a:rPr>
              <a:pPr eaLnBrk="1" hangingPunct="1"/>
              <a:t>60</a:t>
            </a:fld>
            <a:endParaRPr lang="en-US" sz="1300" b="0">
              <a:latin typeface="Times New Roman" pitchFamily="18" charset="0"/>
            </a:endParaRPr>
          </a:p>
        </p:txBody>
      </p:sp>
      <p:sp>
        <p:nvSpPr>
          <p:cNvPr id="129028" name="Rectangle 2"/>
          <p:cNvSpPr>
            <a:spLocks noGrp="1" noRot="1" noChangeAspect="1" noChangeArrowheads="1" noTextEdit="1"/>
          </p:cNvSpPr>
          <p:nvPr>
            <p:ph type="sldImg"/>
          </p:nvPr>
        </p:nvSpPr>
        <p:spPr>
          <a:xfrm>
            <a:off x="1258888" y="720725"/>
            <a:ext cx="4800600" cy="3600450"/>
          </a:xfrm>
          <a:ln/>
        </p:spPr>
      </p:sp>
      <p:sp>
        <p:nvSpPr>
          <p:cNvPr id="129029" name="Rectangle 3"/>
          <p:cNvSpPr>
            <a:spLocks noGrp="1" noChangeArrowheads="1"/>
          </p:cNvSpPr>
          <p:nvPr>
            <p:ph type="body" idx="1"/>
          </p:nvPr>
        </p:nvSpPr>
        <p:spPr>
          <a:xfrm>
            <a:off x="974725" y="4559300"/>
            <a:ext cx="5365750" cy="4321175"/>
          </a:xfrm>
          <a:solidFill>
            <a:srgbClr val="FFFFFF"/>
          </a:solidFill>
          <a:ln>
            <a:solidFill>
              <a:srgbClr val="000000"/>
            </a:solidFill>
          </a:ln>
        </p:spPr>
        <p:txBody>
          <a:bodyPr lIns="95235" tIns="47617" rIns="95235" bIns="47617"/>
          <a:lstStyle/>
          <a:p>
            <a:endParaRPr lang="en-US">
              <a:latin typeface="Times New Roman" pitchFamily="18" charset="0"/>
            </a:endParaRPr>
          </a:p>
        </p:txBody>
      </p:sp>
    </p:spTree>
    <p:extLst>
      <p:ext uri="{BB962C8B-B14F-4D97-AF65-F5344CB8AC3E}">
        <p14:creationId xmlns:p14="http://schemas.microsoft.com/office/powerpoint/2010/main" val="37727124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62</a:t>
            </a:fld>
            <a:endParaRPr lang="en-US"/>
          </a:p>
        </p:txBody>
      </p:sp>
    </p:spTree>
    <p:extLst>
      <p:ext uri="{BB962C8B-B14F-4D97-AF65-F5344CB8AC3E}">
        <p14:creationId xmlns:p14="http://schemas.microsoft.com/office/powerpoint/2010/main" val="1967780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8440" name="Rectangle 8"/>
          <p:cNvSpPr>
            <a:spLocks noGrp="1" noChangeArrowheads="1"/>
          </p:cNvSpPr>
          <p:nvPr>
            <p:ph type="subTitle" idx="1"/>
          </p:nvPr>
        </p:nvSpPr>
        <p:spPr>
          <a:xfrm>
            <a:off x="1371600" y="3886200"/>
            <a:ext cx="6400800" cy="1752600"/>
          </a:xfrm>
        </p:spPr>
        <p:txBody>
          <a:bodyPr/>
          <a:lstStyle>
            <a:lvl1pPr marL="0" indent="0" algn="ctr">
              <a:buFont typeface="Monotype Sorts" pitchFamily="96" charset="2"/>
              <a:buNone/>
              <a:defRPr/>
            </a:lvl1pPr>
          </a:lstStyle>
          <a:p>
            <a:r>
              <a:rPr lang="en-US" dirty="0"/>
              <a:t>Click to edit Master subtitle style</a:t>
            </a:r>
          </a:p>
        </p:txBody>
      </p:sp>
      <p:sp>
        <p:nvSpPr>
          <p:cNvPr id="18441" name="Rectangle 9"/>
          <p:cNvSpPr>
            <a:spLocks noGrp="1" noChangeArrowheads="1"/>
          </p:cNvSpPr>
          <p:nvPr>
            <p:ph type="ctrTitle"/>
          </p:nvPr>
        </p:nvSpPr>
        <p:spPr>
          <a:xfrm>
            <a:off x="685800" y="1143000"/>
            <a:ext cx="7772400" cy="2057400"/>
          </a:xfrm>
        </p:spPr>
        <p:txBody>
          <a:bodyPr/>
          <a:lstStyle>
            <a:lvl1pPr>
              <a:defRPr/>
            </a:lvl1pPr>
          </a:lstStyle>
          <a:p>
            <a:r>
              <a:rPr lang="en-US"/>
              <a:t>Click to edit Master title style</a:t>
            </a:r>
          </a:p>
        </p:txBody>
      </p:sp>
      <p:sp>
        <p:nvSpPr>
          <p:cNvPr id="4" name="Rectangle 2"/>
          <p:cNvSpPr>
            <a:spLocks noGrp="1" noChangeArrowheads="1"/>
          </p:cNvSpPr>
          <p:nvPr>
            <p:ph type="dt" sz="half" idx="10"/>
          </p:nvPr>
        </p:nvSpPr>
        <p:spPr/>
        <p:txBody>
          <a:bodyPr/>
          <a:lstStyle>
            <a:lvl1pPr>
              <a:defRPr sz="1050" b="0">
                <a:latin typeface="Times New Roman" charset="0"/>
              </a:defRPr>
            </a:lvl1pPr>
          </a:lstStyle>
          <a:p>
            <a:r>
              <a:rPr lang="en-US"/>
              <a:t>April 16, 2025</a:t>
            </a:r>
          </a:p>
        </p:txBody>
      </p:sp>
      <p:sp>
        <p:nvSpPr>
          <p:cNvPr id="5" name="Rectangle 3"/>
          <p:cNvSpPr>
            <a:spLocks noGrp="1" noChangeArrowheads="1"/>
          </p:cNvSpPr>
          <p:nvPr>
            <p:ph type="ftr" sz="quarter" idx="11"/>
          </p:nvPr>
        </p:nvSpPr>
        <p:spPr/>
        <p:txBody>
          <a:bodyPr/>
          <a:lstStyle>
            <a:lvl1pPr>
              <a:defRPr sz="1050" b="0">
                <a:latin typeface="Times New Roman" charset="0"/>
              </a:defRPr>
            </a:lvl1pPr>
          </a:lstStyle>
          <a:p>
            <a:r>
              <a:rPr lang="en-US"/>
              <a:t>EECS 489 – Final Review</a:t>
            </a:r>
          </a:p>
        </p:txBody>
      </p:sp>
    </p:spTree>
    <p:extLst>
      <p:ext uri="{BB962C8B-B14F-4D97-AF65-F5344CB8AC3E}">
        <p14:creationId xmlns:p14="http://schemas.microsoft.com/office/powerpoint/2010/main" val="35119642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A190D881-957A-7944-A8D0-1584E528B88F}" type="slidenum">
              <a:rPr lang="en-US"/>
              <a:pPr/>
              <a:t>‹#›</a:t>
            </a:fld>
            <a:endParaRPr lang="en-US"/>
          </a:p>
        </p:txBody>
      </p:sp>
    </p:spTree>
    <p:extLst>
      <p:ext uri="{BB962C8B-B14F-4D97-AF65-F5344CB8AC3E}">
        <p14:creationId xmlns:p14="http://schemas.microsoft.com/office/powerpoint/2010/main" val="42144048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t>Click to edit Master text styles</a:t>
            </a:r>
          </a:p>
        </p:txBody>
      </p:sp>
      <p:sp>
        <p:nvSpPr>
          <p:cNvPr id="4"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81F2EB77-FB6C-2244-A076-ADF097535D48}" type="slidenum">
              <a:rPr lang="en-US"/>
              <a:pPr/>
              <a:t>‹#›</a:t>
            </a:fld>
            <a:endParaRPr lang="en-US"/>
          </a:p>
        </p:txBody>
      </p:sp>
    </p:spTree>
    <p:extLst>
      <p:ext uri="{BB962C8B-B14F-4D97-AF65-F5344CB8AC3E}">
        <p14:creationId xmlns:p14="http://schemas.microsoft.com/office/powerpoint/2010/main" val="19600208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44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F36FED86-94EF-254D-90EE-B810FE8299EE}" type="slidenum">
              <a:rPr lang="en-US"/>
              <a:pPr/>
              <a:t>‹#›</a:t>
            </a:fld>
            <a:endParaRPr lang="en-US"/>
          </a:p>
        </p:txBody>
      </p:sp>
    </p:spTree>
    <p:extLst>
      <p:ext uri="{BB962C8B-B14F-4D97-AF65-F5344CB8AC3E}">
        <p14:creationId xmlns:p14="http://schemas.microsoft.com/office/powerpoint/2010/main" val="100682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8"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9" name="Rectangle 12"/>
          <p:cNvSpPr>
            <a:spLocks noGrp="1" noChangeArrowheads="1"/>
          </p:cNvSpPr>
          <p:nvPr>
            <p:ph type="sldNum" sz="quarter" idx="12"/>
          </p:nvPr>
        </p:nvSpPr>
        <p:spPr>
          <a:ln/>
        </p:spPr>
        <p:txBody>
          <a:bodyPr/>
          <a:lstStyle>
            <a:lvl1pPr>
              <a:defRPr/>
            </a:lvl1pPr>
          </a:lstStyle>
          <a:p>
            <a:fld id="{D11CF967-1287-0948-92AE-55309D196149}" type="slidenum">
              <a:rPr lang="en-US"/>
              <a:pPr/>
              <a:t>‹#›</a:t>
            </a:fld>
            <a:endParaRPr lang="en-US"/>
          </a:p>
        </p:txBody>
      </p:sp>
    </p:spTree>
    <p:extLst>
      <p:ext uri="{BB962C8B-B14F-4D97-AF65-F5344CB8AC3E}">
        <p14:creationId xmlns:p14="http://schemas.microsoft.com/office/powerpoint/2010/main" val="3712545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4"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5" name="Rectangle 12"/>
          <p:cNvSpPr>
            <a:spLocks noGrp="1" noChangeArrowheads="1"/>
          </p:cNvSpPr>
          <p:nvPr>
            <p:ph type="sldNum" sz="quarter" idx="12"/>
          </p:nvPr>
        </p:nvSpPr>
        <p:spPr>
          <a:ln/>
        </p:spPr>
        <p:txBody>
          <a:bodyPr/>
          <a:lstStyle>
            <a:lvl1pPr>
              <a:defRPr/>
            </a:lvl1pPr>
          </a:lstStyle>
          <a:p>
            <a:fld id="{9507A418-0CEB-9E4A-BA45-3B7D3D133EB9}" type="slidenum">
              <a:rPr lang="en-US"/>
              <a:pPr/>
              <a:t>‹#›</a:t>
            </a:fld>
            <a:endParaRPr lang="en-US"/>
          </a:p>
        </p:txBody>
      </p:sp>
    </p:spTree>
    <p:extLst>
      <p:ext uri="{BB962C8B-B14F-4D97-AF65-F5344CB8AC3E}">
        <p14:creationId xmlns:p14="http://schemas.microsoft.com/office/powerpoint/2010/main" val="2851218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3"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4" name="Rectangle 12"/>
          <p:cNvSpPr>
            <a:spLocks noGrp="1" noChangeArrowheads="1"/>
          </p:cNvSpPr>
          <p:nvPr>
            <p:ph type="sldNum" sz="quarter" idx="12"/>
          </p:nvPr>
        </p:nvSpPr>
        <p:spPr>
          <a:ln/>
        </p:spPr>
        <p:txBody>
          <a:bodyPr/>
          <a:lstStyle>
            <a:lvl1pPr>
              <a:defRPr/>
            </a:lvl1pPr>
          </a:lstStyle>
          <a:p>
            <a:fld id="{D3D7AD44-FDD5-3640-B5FD-B68DA213B14F}" type="slidenum">
              <a:rPr lang="en-US"/>
              <a:pPr/>
              <a:t>‹#›</a:t>
            </a:fld>
            <a:endParaRPr lang="en-US"/>
          </a:p>
        </p:txBody>
      </p:sp>
    </p:spTree>
    <p:extLst>
      <p:ext uri="{BB962C8B-B14F-4D97-AF65-F5344CB8AC3E}">
        <p14:creationId xmlns:p14="http://schemas.microsoft.com/office/powerpoint/2010/main" val="15208545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lstStyle>
            <a:lvl1pPr algn="l">
              <a:defRPr sz="15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FC1E35D2-F4F4-2848-A65C-22D2D75C6747}" type="slidenum">
              <a:rPr lang="en-US"/>
              <a:pPr/>
              <a:t>‹#›</a:t>
            </a:fld>
            <a:endParaRPr lang="en-US"/>
          </a:p>
        </p:txBody>
      </p:sp>
    </p:spTree>
    <p:extLst>
      <p:ext uri="{BB962C8B-B14F-4D97-AF65-F5344CB8AC3E}">
        <p14:creationId xmlns:p14="http://schemas.microsoft.com/office/powerpoint/2010/main" val="1125227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57309860-561E-FA4E-8AD9-21F393B80F88}" type="slidenum">
              <a:rPr lang="en-US"/>
              <a:pPr/>
              <a:t>‹#›</a:t>
            </a:fld>
            <a:endParaRPr lang="en-US"/>
          </a:p>
        </p:txBody>
      </p:sp>
    </p:spTree>
    <p:extLst>
      <p:ext uri="{BB962C8B-B14F-4D97-AF65-F5344CB8AC3E}">
        <p14:creationId xmlns:p14="http://schemas.microsoft.com/office/powerpoint/2010/main" val="542822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B500292D-9130-BA41-A2F4-8C3DF7A50D37}" type="slidenum">
              <a:rPr lang="en-US"/>
              <a:pPr/>
              <a:t>‹#›</a:t>
            </a:fld>
            <a:endParaRPr lang="en-US"/>
          </a:p>
        </p:txBody>
      </p:sp>
    </p:spTree>
    <p:extLst>
      <p:ext uri="{BB962C8B-B14F-4D97-AF65-F5344CB8AC3E}">
        <p14:creationId xmlns:p14="http://schemas.microsoft.com/office/powerpoint/2010/main" val="29170804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05600" y="152400"/>
            <a:ext cx="2133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52400"/>
            <a:ext cx="62484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dt" sz="half" idx="10"/>
          </p:nvPr>
        </p:nvSpPr>
        <p:spPr>
          <a:ln/>
        </p:spPr>
        <p:txBody>
          <a:bodyPr/>
          <a:lstStyle>
            <a:lvl1pPr>
              <a:defRPr/>
            </a:lvl1pPr>
          </a:lstStyle>
          <a:p>
            <a:r>
              <a:rPr lang="en-US"/>
              <a:t>April 16,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Final Review</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0E995D8D-2725-7449-9768-A6F305723FFE}" type="slidenum">
              <a:rPr lang="en-US"/>
              <a:pPr/>
              <a:t>‹#›</a:t>
            </a:fld>
            <a:endParaRPr lang="en-US"/>
          </a:p>
        </p:txBody>
      </p:sp>
    </p:spTree>
    <p:extLst>
      <p:ext uri="{BB962C8B-B14F-4D97-AF65-F5344CB8AC3E}">
        <p14:creationId xmlns:p14="http://schemas.microsoft.com/office/powerpoint/2010/main" val="18116466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0" name="Shape 10"/>
          <p:cNvSpPr>
            <a:spLocks noGrp="1"/>
          </p:cNvSpPr>
          <p:nvPr>
            <p:ph type="title"/>
          </p:nvPr>
        </p:nvSpPr>
        <p:spPr>
          <a:prstGeom prst="rect">
            <a:avLst/>
          </a:prstGeom>
        </p:spPr>
        <p:txBody>
          <a:bodyPr/>
          <a:lstStyle/>
          <a:p>
            <a:pPr lvl="0"/>
            <a:r>
              <a:t>Title Text</a:t>
            </a:r>
          </a:p>
        </p:txBody>
      </p:sp>
      <p:sp>
        <p:nvSpPr>
          <p:cNvPr id="11" name="Shape 11"/>
          <p:cNvSpPr>
            <a:spLocks noGrp="1"/>
          </p:cNvSpPr>
          <p:nvPr>
            <p:ph type="body" idx="1"/>
          </p:nvPr>
        </p:nvSpPr>
        <p:spPr>
          <a:prstGeom prst="rect">
            <a:avLst/>
          </a:prstGeom>
        </p:spPr>
        <p:txBody>
          <a:bodyPr/>
          <a:lstStyle>
            <a:lvl2pPr marL="937584" indent="-401822">
              <a:spcBef>
                <a:spcPts val="1687"/>
              </a:spcBef>
              <a:buChar char="-"/>
              <a:defRPr sz="2500" i="1"/>
            </a:lvl2pPr>
            <a:lvl3pPr marL="1250112" indent="-401822">
              <a:spcBef>
                <a:spcPts val="1687"/>
              </a:spcBef>
              <a:buFont typeface="Gill Sans"/>
              <a:buChar char="-"/>
              <a:defRPr sz="2500" i="1">
                <a:latin typeface="Gill Sans"/>
                <a:ea typeface="Gill Sans"/>
                <a:cs typeface="Gill Sans"/>
                <a:sym typeface="Gill Sans"/>
              </a:defRPr>
            </a:lvl3pPr>
            <a:lvl4pPr marL="1562640" indent="-401822">
              <a:spcBef>
                <a:spcPts val="1687"/>
              </a:spcBef>
              <a:buFont typeface="Gill Sans"/>
              <a:buChar char="-"/>
              <a:defRPr sz="2500" i="1">
                <a:latin typeface="Gill Sans"/>
                <a:ea typeface="Gill Sans"/>
                <a:cs typeface="Gill Sans"/>
                <a:sym typeface="Gill Sans"/>
              </a:defRPr>
            </a:lvl4pPr>
            <a:lvl5pPr marL="1875168" indent="-401822">
              <a:spcBef>
                <a:spcPts val="1687"/>
              </a:spcBef>
              <a:buFont typeface="Gill Sans"/>
              <a:buChar char="-"/>
              <a:defRPr sz="2500" i="1">
                <a:latin typeface="Gill Sans"/>
                <a:ea typeface="Gill Sans"/>
                <a:cs typeface="Gill Sans"/>
                <a:sym typeface="Gill Sans"/>
              </a:defRPr>
            </a:lvl5pPr>
          </a:lstStyle>
          <a:p>
            <a:pPr lvl="0"/>
            <a:r>
              <a:t>Body Level One</a:t>
            </a:r>
          </a:p>
          <a:p>
            <a:pPr lvl="1"/>
            <a:r>
              <a:t>Body Level Two</a:t>
            </a:r>
          </a:p>
          <a:p>
            <a:pPr lvl="2"/>
            <a:r>
              <a:t>Body Level Three</a:t>
            </a:r>
          </a:p>
          <a:p>
            <a:pPr lvl="3"/>
            <a:r>
              <a:t>Body Level Four</a:t>
            </a:r>
          </a:p>
          <a:p>
            <a:pPr lvl="4"/>
            <a:r>
              <a:t>Body Level Five</a:t>
            </a:r>
          </a:p>
        </p:txBody>
      </p:sp>
      <p:sp>
        <p:nvSpPr>
          <p:cNvPr id="4" name="Shape 12"/>
          <p:cNvSpPr>
            <a:spLocks noGrp="1"/>
          </p:cNvSpPr>
          <p:nvPr>
            <p:ph type="sldNum" sz="quarter" idx="10"/>
          </p:nvPr>
        </p:nvSpPr>
        <p:spPr/>
        <p:txBody>
          <a:bodyPr/>
          <a:lstStyle>
            <a:lvl1pPr>
              <a:defRPr/>
            </a:lvl1pPr>
          </a:lstStyle>
          <a:p>
            <a:fld id="{E2893C13-EE0C-EE4E-AB27-289AE4B3B289}" type="slidenum">
              <a:rPr lang="en-US" altLang="x-none"/>
              <a:pPr/>
              <a:t>‹#›</a:t>
            </a:fld>
            <a:endParaRPr lang="en-US" altLang="x-none"/>
          </a:p>
        </p:txBody>
      </p:sp>
    </p:spTree>
    <p:extLst>
      <p:ext uri="{BB962C8B-B14F-4D97-AF65-F5344CB8AC3E}">
        <p14:creationId xmlns:p14="http://schemas.microsoft.com/office/powerpoint/2010/main" val="1663522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dt" sz="half" idx="2"/>
          </p:nvPr>
        </p:nvSpPr>
        <p:spPr bwMode="auto">
          <a:xfrm>
            <a:off x="685800" y="6248400"/>
            <a:ext cx="19050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eaLnBrk="0" hangingPunct="0">
              <a:defRPr sz="750"/>
            </a:lvl1pPr>
          </a:lstStyle>
          <a:p>
            <a:r>
              <a:rPr lang="en-US"/>
              <a:t>April 16, 2025</a:t>
            </a:r>
            <a:endParaRPr lang="en-US" sz="1050" b="0">
              <a:latin typeface="Times New Roman" charset="0"/>
            </a:endParaRPr>
          </a:p>
        </p:txBody>
      </p:sp>
      <p:sp>
        <p:nvSpPr>
          <p:cNvPr id="1027" name="Rectangle 3"/>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eaLnBrk="0" hangingPunct="0">
              <a:defRPr sz="750"/>
            </a:lvl1pPr>
          </a:lstStyle>
          <a:p>
            <a:r>
              <a:rPr lang="en-US"/>
              <a:t>EECS 489 – Final Review</a:t>
            </a:r>
            <a:endParaRPr lang="en-US" sz="1050" b="0">
              <a:latin typeface="Times New Roman" charset="0"/>
            </a:endParaRPr>
          </a:p>
        </p:txBody>
      </p:sp>
      <p:sp>
        <p:nvSpPr>
          <p:cNvPr id="1028" name="Rectangle 8"/>
          <p:cNvSpPr>
            <a:spLocks noGrp="1" noChangeArrowheads="1"/>
          </p:cNvSpPr>
          <p:nvPr>
            <p:ph type="body" idx="1"/>
          </p:nvPr>
        </p:nvSpPr>
        <p:spPr bwMode="auto">
          <a:xfrm>
            <a:off x="685800" y="1600200"/>
            <a:ext cx="7924800" cy="441960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33" name="Rectangle 9"/>
          <p:cNvSpPr>
            <a:spLocks noGrp="1" noChangeArrowheads="1"/>
          </p:cNvSpPr>
          <p:nvPr>
            <p:ph type="title"/>
          </p:nvPr>
        </p:nvSpPr>
        <p:spPr bwMode="auto">
          <a:xfrm>
            <a:off x="304800" y="152400"/>
            <a:ext cx="8534400" cy="1143000"/>
          </a:xfrm>
          <a:prstGeom prst="rect">
            <a:avLst/>
          </a:prstGeom>
          <a:noFill/>
          <a:ln w="9525">
            <a:noFill/>
            <a:miter lim="800000"/>
            <a:headEnd/>
            <a:tailEnd/>
          </a:ln>
          <a:effectLst/>
        </p:spPr>
        <p:txBody>
          <a:bodyPr vert="horz" wrap="square" lIns="92075" tIns="46038" rIns="92075" bIns="46038" numCol="1" anchor="b" anchorCtr="0" compatLnSpc="1">
            <a:prstTxWarp prst="textNoShape">
              <a:avLst/>
            </a:prstTxWarp>
          </a:bodyPr>
          <a:lstStyle/>
          <a:p>
            <a:pPr lvl="0"/>
            <a:r>
              <a:rPr lang="en-US" dirty="0"/>
              <a:t>Click to edit Master title style</a:t>
            </a:r>
          </a:p>
        </p:txBody>
      </p:sp>
      <p:sp>
        <p:nvSpPr>
          <p:cNvPr id="1036" name="Rectangle 12"/>
          <p:cNvSpPr>
            <a:spLocks noGrp="1" noChangeArrowheads="1"/>
          </p:cNvSpPr>
          <p:nvPr>
            <p:ph type="sldNum" sz="quarter" idx="4"/>
          </p:nvPr>
        </p:nvSpPr>
        <p:spPr bwMode="auto">
          <a:xfrm>
            <a:off x="8001000" y="6248400"/>
            <a:ext cx="609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eaLnBrk="0" hangingPunct="0">
              <a:defRPr sz="750"/>
            </a:lvl1pPr>
          </a:lstStyle>
          <a:p>
            <a:fld id="{6CABC02E-5657-E248-B9C6-199B1358382F}" type="slidenum">
              <a:rPr lang="en-US"/>
              <a:pPr/>
              <a:t>‹#›</a:t>
            </a:fld>
            <a:endParaRPr lang="en-US"/>
          </a:p>
        </p:txBody>
      </p:sp>
      <p:sp>
        <p:nvSpPr>
          <p:cNvPr id="1037" name="Line 13"/>
          <p:cNvSpPr>
            <a:spLocks noChangeShapeType="1"/>
          </p:cNvSpPr>
          <p:nvPr/>
        </p:nvSpPr>
        <p:spPr bwMode="auto">
          <a:xfrm>
            <a:off x="0" y="1371600"/>
            <a:ext cx="8305800" cy="0"/>
          </a:xfrm>
          <a:prstGeom prst="line">
            <a:avLst/>
          </a:prstGeom>
          <a:noFill/>
          <a:ln w="44450">
            <a:solidFill>
              <a:srgbClr val="FFCB05"/>
            </a:solidFill>
            <a:round/>
            <a:headEnd/>
            <a:tailEnd/>
          </a:ln>
          <a:effectLst>
            <a:outerShdw dist="53882" dir="2700000" algn="ctr" rotWithShape="0">
              <a:srgbClr val="D3A600"/>
            </a:outerShdw>
          </a:effectLst>
        </p:spPr>
        <p:txBody>
          <a:bodyPr wrap="none" anchor="ctr"/>
          <a:lstStyle/>
          <a:p>
            <a:pPr eaLnBrk="0" hangingPunct="0">
              <a:defRPr/>
            </a:pPr>
            <a:endParaRPr lang="en-US" sz="1200">
              <a:ea typeface="+mn-ea"/>
              <a:cs typeface="+mn-cs"/>
            </a:endParaRPr>
          </a:p>
        </p:txBody>
      </p:sp>
    </p:spTree>
  </p:cSld>
  <p:clrMap bg1="lt1" tx1="dk1" bg2="lt2" tx2="dk2" accent1="accent1" accent2="accent2" accent3="accent3" accent4="accent4" accent5="accent5" accent6="accent6" hlink="hlink" folHlink="folHlink"/>
  <p:sldLayoutIdLst>
    <p:sldLayoutId id="2147483707"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8" r:id="rId12"/>
  </p:sldLayoutIdLst>
  <p:hf hdr="0"/>
  <p:txStyles>
    <p:titleStyle>
      <a:lvl1pPr algn="l" rtl="0" eaLnBrk="0" fontAlgn="base" hangingPunct="0">
        <a:spcBef>
          <a:spcPct val="0"/>
        </a:spcBef>
        <a:spcAft>
          <a:spcPct val="0"/>
        </a:spcAft>
        <a:defRPr sz="4000">
          <a:solidFill>
            <a:schemeClr val="tx1"/>
          </a:solidFill>
          <a:effectLst/>
          <a:latin typeface="+mj-lt"/>
          <a:ea typeface="ＭＳ Ｐゴシック" charset="-128"/>
          <a:cs typeface="ＭＳ Ｐゴシック" charset="-128"/>
        </a:defRPr>
      </a:lvl1pPr>
      <a:lvl2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2pPr>
      <a:lvl3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3pPr>
      <a:lvl4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4pPr>
      <a:lvl5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5pPr>
      <a:lvl6pPr marL="3429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6pPr>
      <a:lvl7pPr marL="6858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7pPr>
      <a:lvl8pPr marL="10287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8pPr>
      <a:lvl9pPr marL="13716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9pPr>
    </p:titleStyle>
    <p:bodyStyle>
      <a:lvl1pPr marL="257175" indent="-257175" algn="l" rtl="0" eaLnBrk="0" fontAlgn="base" hangingPunct="0">
        <a:spcBef>
          <a:spcPct val="20000"/>
        </a:spcBef>
        <a:spcAft>
          <a:spcPct val="0"/>
        </a:spcAft>
        <a:buClr>
          <a:schemeClr val="tx1"/>
        </a:buClr>
        <a:buSzPct val="50000"/>
        <a:buFont typeface="Monotype Sorts" charset="0"/>
        <a:buChar char="l"/>
        <a:defRPr sz="2800">
          <a:solidFill>
            <a:schemeClr val="accent2"/>
          </a:solidFill>
          <a:latin typeface="+mn-lt"/>
          <a:ea typeface="ＭＳ Ｐゴシック" charset="-128"/>
          <a:cs typeface="ＭＳ Ｐゴシック" charset="-128"/>
        </a:defRPr>
      </a:lvl1pPr>
      <a:lvl2pPr marL="557213" indent="-214313" algn="l" rtl="0" eaLnBrk="0" fontAlgn="base" hangingPunct="0">
        <a:spcBef>
          <a:spcPct val="20000"/>
        </a:spcBef>
        <a:spcAft>
          <a:spcPct val="0"/>
        </a:spcAft>
        <a:buClr>
          <a:schemeClr val="tx1"/>
        </a:buClr>
        <a:buSzPct val="50000"/>
        <a:buFont typeface="Wingdings" pitchFamily="2" charset="2"/>
        <a:buChar char="Ø"/>
        <a:defRPr sz="2400">
          <a:solidFill>
            <a:schemeClr val="accent2"/>
          </a:solidFill>
          <a:latin typeface="+mn-lt"/>
          <a:ea typeface="ＭＳ Ｐゴシック" charset="-128"/>
        </a:defRPr>
      </a:lvl2pPr>
      <a:lvl3pPr marL="857250" indent="-171450" algn="l" rtl="0" eaLnBrk="0" fontAlgn="base" hangingPunct="0">
        <a:spcBef>
          <a:spcPct val="20000"/>
        </a:spcBef>
        <a:spcAft>
          <a:spcPct val="0"/>
        </a:spcAft>
        <a:buClr>
          <a:schemeClr val="tx1"/>
        </a:buClr>
        <a:buChar char="»"/>
        <a:defRPr sz="2400">
          <a:solidFill>
            <a:schemeClr val="accent2"/>
          </a:solidFill>
          <a:latin typeface="+mn-lt"/>
          <a:ea typeface="ＭＳ Ｐゴシック" charset="-128"/>
        </a:defRPr>
      </a:lvl3pPr>
      <a:lvl4pPr marL="1200150" indent="-171450" algn="l" rtl="0" eaLnBrk="0" fontAlgn="base" hangingPunct="0">
        <a:spcBef>
          <a:spcPct val="20000"/>
        </a:spcBef>
        <a:spcAft>
          <a:spcPct val="0"/>
        </a:spcAft>
        <a:buClr>
          <a:schemeClr val="tx1"/>
        </a:buClr>
        <a:buSzPct val="50000"/>
        <a:buFont typeface="Monotype Sorts" charset="0"/>
        <a:buChar char="n"/>
        <a:defRPr sz="1200">
          <a:solidFill>
            <a:schemeClr val="accent2"/>
          </a:solidFill>
          <a:latin typeface="+mn-lt"/>
          <a:ea typeface="ＭＳ Ｐゴシック" charset="-128"/>
        </a:defRPr>
      </a:lvl4pPr>
      <a:lvl5pPr marL="1543050" indent="-171450" algn="l" rtl="0" eaLnBrk="0" fontAlgn="base" hangingPunct="0">
        <a:spcBef>
          <a:spcPct val="20000"/>
        </a:spcBef>
        <a:spcAft>
          <a:spcPct val="0"/>
        </a:spcAft>
        <a:buClr>
          <a:schemeClr val="tx1"/>
        </a:buClr>
        <a:buSzPct val="50000"/>
        <a:buFont typeface="Monotype Sorts" charset="0"/>
        <a:buChar char="l"/>
        <a:defRPr sz="1200">
          <a:solidFill>
            <a:schemeClr val="accent2"/>
          </a:solidFill>
          <a:latin typeface="+mn-lt"/>
          <a:ea typeface="ＭＳ Ｐゴシック" charset="-128"/>
        </a:defRPr>
      </a:lvl5pPr>
      <a:lvl6pPr marL="18859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6pPr>
      <a:lvl7pPr marL="22288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7pPr>
      <a:lvl8pPr marL="25717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8pPr>
      <a:lvl9pPr marL="29146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emf"/></Relationships>
</file>

<file path=ppt/slides/_rels/slide5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emf"/></Relationships>
</file>

<file path=ppt/slides/_rels/slide5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oleObject" Target="../embeddings/oleObject2.bin"/><Relationship Id="rId4" Type="http://schemas.openxmlformats.org/officeDocument/2006/relationships/image" Target="../media/image3.emf"/></Relationships>
</file>

<file path=ppt/slides/_rels/slide5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oleObject" Target="../embeddings/oleObject4.bin"/><Relationship Id="rId4" Type="http://schemas.openxmlformats.org/officeDocument/2006/relationships/image" Target="../media/image5.emf"/></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ctrTitle"/>
          </p:nvPr>
        </p:nvSpPr>
        <p:spPr>
          <a:xfrm>
            <a:off x="1657350" y="1257300"/>
            <a:ext cx="5829300" cy="2286000"/>
          </a:xfrm>
        </p:spPr>
        <p:txBody>
          <a:bodyPr/>
          <a:lstStyle/>
          <a:p>
            <a:pPr algn="ctr"/>
            <a:r>
              <a:rPr lang="en-US" dirty="0">
                <a:effectLst/>
                <a:latin typeface="Arial Black" charset="0"/>
                <a:ea typeface="ＭＳ Ｐゴシック" charset="0"/>
                <a:cs typeface="ＭＳ Ｐゴシック" charset="0"/>
              </a:rPr>
              <a:t>EECS 489</a:t>
            </a:r>
            <a:br>
              <a:rPr lang="en-US" dirty="0">
                <a:effectLst/>
                <a:latin typeface="Arial Black" charset="0"/>
                <a:ea typeface="ＭＳ Ｐゴシック" charset="0"/>
                <a:cs typeface="ＭＳ Ｐゴシック" charset="0"/>
              </a:rPr>
            </a:br>
            <a:r>
              <a:rPr lang="en-US" dirty="0"/>
              <a:t>Computer Networks</a:t>
            </a:r>
            <a:br>
              <a:rPr lang="en-US" dirty="0">
                <a:effectLst/>
                <a:latin typeface="Arial Black" charset="0"/>
                <a:ea typeface="ＭＳ Ｐゴシック" charset="0"/>
                <a:cs typeface="ＭＳ Ｐゴシック" charset="0"/>
              </a:rPr>
            </a:br>
            <a:br>
              <a:rPr lang="en-US" sz="2400" dirty="0">
                <a:latin typeface="Arial Black" charset="0"/>
                <a:ea typeface="ＭＳ Ｐゴシック" charset="0"/>
                <a:cs typeface="ＭＳ Ｐゴシック" charset="0"/>
              </a:rPr>
            </a:br>
            <a:r>
              <a:rPr lang="en-US" sz="2400" dirty="0">
                <a:latin typeface="Arial Black" charset="0"/>
                <a:ea typeface="ＭＳ Ｐゴシック" charset="0"/>
                <a:cs typeface="ＭＳ Ｐゴシック" charset="0"/>
              </a:rPr>
              <a:t>Winter 2025</a:t>
            </a:r>
            <a:endParaRPr lang="en-US" dirty="0">
              <a:effectLst/>
              <a:latin typeface="Arial Black" charset="0"/>
              <a:ea typeface="ＭＳ Ｐゴシック" charset="0"/>
              <a:cs typeface="ＭＳ Ｐゴシック" charset="0"/>
            </a:endParaRPr>
          </a:p>
        </p:txBody>
      </p:sp>
      <p:sp>
        <p:nvSpPr>
          <p:cNvPr id="17411" name="Rectangle 3"/>
          <p:cNvSpPr>
            <a:spLocks noGrp="1" noChangeArrowheads="1"/>
          </p:cNvSpPr>
          <p:nvPr>
            <p:ph type="subTitle" idx="1"/>
          </p:nvPr>
        </p:nvSpPr>
        <p:spPr>
          <a:xfrm>
            <a:off x="800100" y="3771900"/>
            <a:ext cx="7543800" cy="1828800"/>
          </a:xfrm>
        </p:spPr>
        <p:txBody>
          <a:bodyPr/>
          <a:lstStyle/>
          <a:p>
            <a:r>
              <a:rPr lang="en-US" dirty="0">
                <a:latin typeface="Arial" charset="0"/>
                <a:ea typeface="ＭＳ Ｐゴシック" charset="0"/>
                <a:cs typeface="ＭＳ Ｐゴシック" charset="0"/>
              </a:rPr>
              <a:t>Mosharaf Chowdhury</a:t>
            </a:r>
          </a:p>
          <a:p>
            <a:pPr>
              <a:buFont typeface="Monotype Sorts" charset="0"/>
              <a:buNone/>
            </a:pPr>
            <a:endParaRPr lang="en-US" dirty="0">
              <a:latin typeface="Arial" charset="0"/>
              <a:ea typeface="ＭＳ Ｐゴシック" charset="0"/>
              <a:cs typeface="ＭＳ Ｐゴシック" charset="0"/>
            </a:endParaRPr>
          </a:p>
          <a:p>
            <a:pPr>
              <a:buFont typeface="Monotype Sorts" charset="0"/>
              <a:buNone/>
            </a:pPr>
            <a:endParaRPr lang="en-US" dirty="0">
              <a:latin typeface="Arial" charset="0"/>
              <a:ea typeface="ＭＳ Ｐゴシック" charset="0"/>
              <a:cs typeface="ＭＳ Ｐゴシック" charset="0"/>
            </a:endParaRPr>
          </a:p>
          <a:p>
            <a:pPr algn="l"/>
            <a:r>
              <a:rPr lang="en-US" sz="1800" i="1" dirty="0">
                <a:latin typeface="Arial" charset="0"/>
                <a:ea typeface="ＭＳ Ｐゴシック" charset="0"/>
                <a:cs typeface="ＭＳ Ｐゴシック" charset="0"/>
              </a:rPr>
              <a:t>Material with thanks to Aditya </a:t>
            </a:r>
            <a:r>
              <a:rPr lang="en-US" sz="1800" i="1" dirty="0" err="1">
                <a:latin typeface="Arial" charset="0"/>
                <a:ea typeface="ＭＳ Ｐゴシック" charset="0"/>
                <a:cs typeface="ＭＳ Ｐゴシック" charset="0"/>
              </a:rPr>
              <a:t>Akella</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Sugih</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Jamin</a:t>
            </a:r>
            <a:r>
              <a:rPr lang="en-US" sz="1800" i="1" dirty="0">
                <a:latin typeface="Arial" charset="0"/>
                <a:ea typeface="ＭＳ Ｐゴシック" charset="0"/>
                <a:cs typeface="ＭＳ Ｐゴシック" charset="0"/>
              </a:rPr>
              <a:t>, Philip Levis, Sylvia Ratnasamy, Peter </a:t>
            </a:r>
            <a:r>
              <a:rPr lang="en-US" sz="1800" i="1" dirty="0" err="1">
                <a:latin typeface="Arial" charset="0"/>
                <a:ea typeface="ＭＳ Ｐゴシック" charset="0"/>
                <a:cs typeface="ＭＳ Ｐゴシック" charset="0"/>
              </a:rPr>
              <a:t>Steenkiste</a:t>
            </a:r>
            <a:r>
              <a:rPr lang="en-US" sz="1800" i="1" dirty="0">
                <a:latin typeface="Arial" charset="0"/>
                <a:ea typeface="ＭＳ Ｐゴシック" charset="0"/>
                <a:cs typeface="ＭＳ Ｐゴシック" charset="0"/>
              </a:rPr>
              <a:t>, and many other colleagues.</a:t>
            </a:r>
          </a:p>
          <a:p>
            <a:pPr>
              <a:buFont typeface="Monotype Sorts" charset="0"/>
              <a:buNone/>
            </a:pPr>
            <a:endParaRPr lang="en-US" dirty="0">
              <a:latin typeface="Arial" charset="0"/>
              <a:ea typeface="ＭＳ Ｐゴシック" charset="0"/>
              <a:cs typeface="ＭＳ Ｐゴシック" charset="0"/>
            </a:endParaRPr>
          </a:p>
          <a:p>
            <a:pPr>
              <a:buFont typeface="Monotype Sorts" charset="0"/>
              <a:buNone/>
            </a:pPr>
            <a:endParaRPr lang="en-US" dirty="0">
              <a:effectLst>
                <a:outerShdw blurRad="38100" dist="38100" dir="2700000" algn="tl">
                  <a:srgbClr val="DDDDDD"/>
                </a:outerShdw>
              </a:effectLst>
              <a:latin typeface="Arial" charset="0"/>
              <a:ea typeface="ＭＳ Ｐゴシック" charset="0"/>
              <a:cs typeface="ＭＳ Ｐゴシック"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3458" name="Rectangle 2"/>
          <p:cNvSpPr>
            <a:spLocks noGrp="1" noChangeArrowheads="1"/>
          </p:cNvSpPr>
          <p:nvPr>
            <p:ph type="title"/>
          </p:nvPr>
        </p:nvSpPr>
        <p:spPr/>
        <p:txBody>
          <a:bodyPr/>
          <a:lstStyle/>
          <a:p>
            <a:r>
              <a:rPr lang="en-US"/>
              <a:t>Logistics</a:t>
            </a:r>
            <a:endParaRPr lang="en-US" dirty="0"/>
          </a:p>
        </p:txBody>
      </p:sp>
      <p:sp>
        <p:nvSpPr>
          <p:cNvPr id="1043459" name="Rectangle 3"/>
          <p:cNvSpPr>
            <a:spLocks noGrp="1" noChangeArrowheads="1"/>
          </p:cNvSpPr>
          <p:nvPr>
            <p:ph idx="1"/>
          </p:nvPr>
        </p:nvSpPr>
        <p:spPr/>
        <p:txBody>
          <a:bodyPr/>
          <a:lstStyle/>
          <a:p>
            <a:r>
              <a:rPr lang="en-US" dirty="0"/>
              <a:t>You’re ONLY allowed </a:t>
            </a:r>
            <a:r>
              <a:rPr lang="en-US" b="1" dirty="0">
                <a:solidFill>
                  <a:srgbClr val="0000FF"/>
                </a:solidFill>
              </a:rPr>
              <a:t>two</a:t>
            </a:r>
            <a:r>
              <a:rPr lang="en-US" dirty="0">
                <a:solidFill>
                  <a:srgbClr val="0000FF"/>
                </a:solidFill>
              </a:rPr>
              <a:t> double-sided 8.5in x 11in note sheet</a:t>
            </a:r>
          </a:p>
          <a:p>
            <a:pPr lvl="1"/>
            <a:r>
              <a:rPr lang="en-US" dirty="0"/>
              <a:t>Basic calculators are allowed but you won’t need it</a:t>
            </a:r>
          </a:p>
          <a:p>
            <a:pPr lvl="1"/>
            <a:endParaRPr lang="en-US" dirty="0"/>
          </a:p>
          <a:p>
            <a:r>
              <a:rPr lang="en-US" dirty="0"/>
              <a:t>General guidelines from the midterm still apply</a:t>
            </a:r>
          </a:p>
        </p:txBody>
      </p:sp>
      <p:sp>
        <p:nvSpPr>
          <p:cNvPr id="5" name="Date Placeholder 4"/>
          <p:cNvSpPr>
            <a:spLocks noGrp="1"/>
          </p:cNvSpPr>
          <p:nvPr>
            <p:ph type="dt" sz="half" idx="10"/>
          </p:nvPr>
        </p:nvSpPr>
        <p:spPr/>
        <p:txBody>
          <a:bodyPr/>
          <a:lstStyle/>
          <a:p>
            <a:r>
              <a:rPr lang="en-US"/>
              <a:t>April 16,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7" name="Slide Number Placeholder 6"/>
          <p:cNvSpPr>
            <a:spLocks noGrp="1"/>
          </p:cNvSpPr>
          <p:nvPr>
            <p:ph type="sldNum" sz="quarter" idx="12"/>
          </p:nvPr>
        </p:nvSpPr>
        <p:spPr/>
        <p:txBody>
          <a:bodyPr/>
          <a:lstStyle/>
          <a:p>
            <a:fld id="{A190D881-957A-7944-A8D0-1584E528B88F}" type="slidenum">
              <a:rPr lang="en-US" smtClean="0"/>
              <a:pPr/>
              <a:t>2</a:t>
            </a:fld>
            <a:endParaRPr lang="en-US"/>
          </a:p>
        </p:txBody>
      </p:sp>
    </p:spTree>
    <p:extLst>
      <p:ext uri="{BB962C8B-B14F-4D97-AF65-F5344CB8AC3E}">
        <p14:creationId xmlns:p14="http://schemas.microsoft.com/office/powerpoint/2010/main" val="39895695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BB3E78-E627-7948-AAAC-604D1F94C8B5}"/>
              </a:ext>
            </a:extLst>
          </p:cNvPr>
          <p:cNvSpPr>
            <a:spLocks noGrp="1"/>
          </p:cNvSpPr>
          <p:nvPr>
            <p:ph type="title"/>
          </p:nvPr>
        </p:nvSpPr>
        <p:spPr/>
        <p:txBody>
          <a:bodyPr/>
          <a:lstStyle/>
          <a:p>
            <a:r>
              <a:rPr lang="en-US" dirty="0"/>
              <a:t>Format</a:t>
            </a:r>
          </a:p>
        </p:txBody>
      </p:sp>
      <p:sp>
        <p:nvSpPr>
          <p:cNvPr id="8" name="Content Placeholder 7">
            <a:extLst>
              <a:ext uri="{FF2B5EF4-FFF2-40B4-BE49-F238E27FC236}">
                <a16:creationId xmlns:a16="http://schemas.microsoft.com/office/drawing/2014/main" id="{BE9A3222-879E-E54F-89D9-86FE8F7AD434}"/>
              </a:ext>
            </a:extLst>
          </p:cNvPr>
          <p:cNvSpPr>
            <a:spLocks noGrp="1"/>
          </p:cNvSpPr>
          <p:nvPr>
            <p:ph idx="1"/>
          </p:nvPr>
        </p:nvSpPr>
        <p:spPr/>
        <p:txBody>
          <a:bodyPr/>
          <a:lstStyle/>
          <a:p>
            <a:r>
              <a:rPr lang="en-US" dirty="0"/>
              <a:t>~75-minute in-person exam</a:t>
            </a:r>
          </a:p>
          <a:p>
            <a:pPr lvl="1"/>
            <a:r>
              <a:rPr lang="en-US" dirty="0"/>
              <a:t>Tuesday, Apr. 29 from 1:30PM - 3:30PM</a:t>
            </a:r>
          </a:p>
          <a:p>
            <a:pPr lvl="2"/>
            <a:r>
              <a:rPr lang="en-US" dirty="0"/>
              <a:t>Room assignments: </a:t>
            </a:r>
            <a:r>
              <a:rPr lang="en-US" dirty="0">
                <a:solidFill>
                  <a:srgbClr val="0000FF"/>
                </a:solidFill>
              </a:rPr>
              <a:t>TBA</a:t>
            </a:r>
          </a:p>
          <a:p>
            <a:pPr lvl="1"/>
            <a:r>
              <a:rPr lang="en-US" dirty="0"/>
              <a:t>SSD accommodations</a:t>
            </a:r>
          </a:p>
          <a:p>
            <a:pPr lvl="2"/>
            <a:r>
              <a:rPr lang="en-US" dirty="0"/>
              <a:t>Tuesday, Apr. 29 from 10:30AM at LBME 1130</a:t>
            </a:r>
          </a:p>
          <a:p>
            <a:pPr lvl="1"/>
            <a:r>
              <a:rPr lang="en-US" dirty="0"/>
              <a:t>Other conflicts</a:t>
            </a:r>
          </a:p>
          <a:p>
            <a:pPr lvl="2"/>
            <a:r>
              <a:rPr lang="en-US" dirty="0">
                <a:solidFill>
                  <a:srgbClr val="0000FF"/>
                </a:solidFill>
              </a:rPr>
              <a:t>Email us ASAP</a:t>
            </a:r>
            <a:r>
              <a:rPr lang="en-US" dirty="0"/>
              <a:t> to potentially start earlier on Tuesday, Apr. 29 from 10:30AM at LBME 1130</a:t>
            </a:r>
          </a:p>
          <a:p>
            <a:pPr lvl="2"/>
            <a:r>
              <a:rPr lang="en-US" dirty="0">
                <a:solidFill>
                  <a:srgbClr val="0000FF"/>
                </a:solidFill>
              </a:rPr>
              <a:t>MUST be confirmed first</a:t>
            </a:r>
          </a:p>
          <a:p>
            <a:pPr lvl="2"/>
            <a:endParaRPr lang="en-US" dirty="0"/>
          </a:p>
        </p:txBody>
      </p:sp>
      <p:sp>
        <p:nvSpPr>
          <p:cNvPr id="6" name="Slide Number Placeholder 5">
            <a:extLst>
              <a:ext uri="{FF2B5EF4-FFF2-40B4-BE49-F238E27FC236}">
                <a16:creationId xmlns:a16="http://schemas.microsoft.com/office/drawing/2014/main" id="{DCE21341-A460-814B-9BB6-AA2FFEAD1152}"/>
              </a:ext>
            </a:extLst>
          </p:cNvPr>
          <p:cNvSpPr>
            <a:spLocks noGrp="1"/>
          </p:cNvSpPr>
          <p:nvPr>
            <p:ph type="sldNum" sz="quarter" idx="12"/>
          </p:nvPr>
        </p:nvSpPr>
        <p:spPr/>
        <p:txBody>
          <a:bodyPr/>
          <a:lstStyle/>
          <a:p>
            <a:fld id="{81F2EB77-FB6C-2244-A076-ADF097535D48}" type="slidenum">
              <a:rPr lang="en-US" smtClean="0"/>
              <a:pPr/>
              <a:t>3</a:t>
            </a:fld>
            <a:endParaRPr lang="en-US"/>
          </a:p>
        </p:txBody>
      </p:sp>
      <p:sp>
        <p:nvSpPr>
          <p:cNvPr id="2" name="Date Placeholder 1">
            <a:extLst>
              <a:ext uri="{FF2B5EF4-FFF2-40B4-BE49-F238E27FC236}">
                <a16:creationId xmlns:a16="http://schemas.microsoft.com/office/drawing/2014/main" id="{A98C4D87-790C-C47C-DD8C-F0E81F6F97CA}"/>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3" name="Footer Placeholder 2">
            <a:extLst>
              <a:ext uri="{FF2B5EF4-FFF2-40B4-BE49-F238E27FC236}">
                <a16:creationId xmlns:a16="http://schemas.microsoft.com/office/drawing/2014/main" id="{BE62017A-3137-1B96-9528-ECEF46CC1418}"/>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Tree>
    <p:extLst>
      <p:ext uri="{BB962C8B-B14F-4D97-AF65-F5344CB8AC3E}">
        <p14:creationId xmlns:p14="http://schemas.microsoft.com/office/powerpoint/2010/main" val="2413630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4CC1D-1C57-2156-3E03-CC48E54EA909}"/>
              </a:ext>
            </a:extLst>
          </p:cNvPr>
          <p:cNvSpPr>
            <a:spLocks noGrp="1"/>
          </p:cNvSpPr>
          <p:nvPr>
            <p:ph type="title"/>
          </p:nvPr>
        </p:nvSpPr>
        <p:spPr/>
        <p:txBody>
          <a:bodyPr/>
          <a:lstStyle/>
          <a:p>
            <a:r>
              <a:rPr lang="en-US" dirty="0"/>
              <a:t>What’s covered in the final?</a:t>
            </a:r>
          </a:p>
        </p:txBody>
      </p:sp>
      <p:sp>
        <p:nvSpPr>
          <p:cNvPr id="3" name="Content Placeholder 2">
            <a:extLst>
              <a:ext uri="{FF2B5EF4-FFF2-40B4-BE49-F238E27FC236}">
                <a16:creationId xmlns:a16="http://schemas.microsoft.com/office/drawing/2014/main" id="{E8DD1DAE-EDB2-0150-3599-EB0F18E39334}"/>
              </a:ext>
            </a:extLst>
          </p:cNvPr>
          <p:cNvSpPr>
            <a:spLocks noGrp="1"/>
          </p:cNvSpPr>
          <p:nvPr>
            <p:ph idx="1"/>
          </p:nvPr>
        </p:nvSpPr>
        <p:spPr/>
        <p:txBody>
          <a:bodyPr/>
          <a:lstStyle/>
          <a:p>
            <a:r>
              <a:rPr lang="en-US" dirty="0">
                <a:solidFill>
                  <a:srgbClr val="0000FF"/>
                </a:solidFill>
              </a:rPr>
              <a:t>Lectures:</a:t>
            </a:r>
            <a:r>
              <a:rPr lang="en-US" dirty="0"/>
              <a:t> 10—20</a:t>
            </a:r>
          </a:p>
          <a:p>
            <a:r>
              <a:rPr lang="en-US" dirty="0">
                <a:solidFill>
                  <a:srgbClr val="0000FF"/>
                </a:solidFill>
              </a:rPr>
              <a:t>Assignments:</a:t>
            </a:r>
            <a:r>
              <a:rPr lang="en-US" dirty="0"/>
              <a:t> 2—4</a:t>
            </a:r>
          </a:p>
          <a:p>
            <a:r>
              <a:rPr lang="en-US" dirty="0">
                <a:solidFill>
                  <a:srgbClr val="0000FF"/>
                </a:solidFill>
              </a:rPr>
              <a:t>Discussion sections:</a:t>
            </a:r>
            <a:r>
              <a:rPr lang="en-US" dirty="0"/>
              <a:t> 4—10</a:t>
            </a:r>
          </a:p>
          <a:p>
            <a:endParaRPr lang="en-US" dirty="0"/>
          </a:p>
          <a:p>
            <a:r>
              <a:rPr lang="en-US" dirty="0"/>
              <a:t>What about content in the midterm? Is the final cumulative?</a:t>
            </a:r>
          </a:p>
          <a:p>
            <a:pPr lvl="1"/>
            <a:r>
              <a:rPr lang="en-US" dirty="0"/>
              <a:t>Since we are progressively going down the network stack, there will be questions that might require knowledge from the first half, but there will not be questions just on the first-half materials</a:t>
            </a:r>
          </a:p>
          <a:p>
            <a:pPr lvl="1"/>
            <a:endParaRPr lang="en-US" dirty="0"/>
          </a:p>
        </p:txBody>
      </p:sp>
      <p:sp>
        <p:nvSpPr>
          <p:cNvPr id="4" name="Date Placeholder 3">
            <a:extLst>
              <a:ext uri="{FF2B5EF4-FFF2-40B4-BE49-F238E27FC236}">
                <a16:creationId xmlns:a16="http://schemas.microsoft.com/office/drawing/2014/main" id="{2571090D-6B58-497A-5729-235530AA04C0}"/>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65DC920F-1DD3-889E-5CFA-CFAED8E4C22D}"/>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328A4C9C-CC51-DC0E-6DAB-56625C7EC375}"/>
              </a:ext>
            </a:extLst>
          </p:cNvPr>
          <p:cNvSpPr>
            <a:spLocks noGrp="1"/>
          </p:cNvSpPr>
          <p:nvPr>
            <p:ph type="sldNum" sz="quarter" idx="12"/>
          </p:nvPr>
        </p:nvSpPr>
        <p:spPr/>
        <p:txBody>
          <a:bodyPr/>
          <a:lstStyle/>
          <a:p>
            <a:fld id="{A190D881-957A-7944-A8D0-1584E528B88F}" type="slidenum">
              <a:rPr lang="en-US" smtClean="0"/>
              <a:pPr/>
              <a:t>4</a:t>
            </a:fld>
            <a:endParaRPr lang="en-US"/>
          </a:p>
        </p:txBody>
      </p:sp>
    </p:spTree>
    <p:extLst>
      <p:ext uri="{BB962C8B-B14F-4D97-AF65-F5344CB8AC3E}">
        <p14:creationId xmlns:p14="http://schemas.microsoft.com/office/powerpoint/2010/main" val="7305952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p:txBody>
          <a:bodyPr/>
          <a:lstStyle/>
          <a:p>
            <a:r>
              <a:rPr lang="en-US" dirty="0"/>
              <a:t>The networking stack</a:t>
            </a:r>
          </a:p>
        </p:txBody>
      </p:sp>
      <p:sp>
        <p:nvSpPr>
          <p:cNvPr id="29698" name="Rectangle 3"/>
          <p:cNvSpPr>
            <a:spLocks noGrp="1" noChangeArrowheads="1"/>
          </p:cNvSpPr>
          <p:nvPr>
            <p:ph idx="1"/>
          </p:nvPr>
        </p:nvSpPr>
        <p:spPr>
          <a:xfrm>
            <a:off x="685800" y="1600200"/>
            <a:ext cx="7924800" cy="1181099"/>
          </a:xfrm>
        </p:spPr>
        <p:txBody>
          <a:bodyPr/>
          <a:lstStyle/>
          <a:p>
            <a:r>
              <a:rPr lang="en-US" dirty="0"/>
              <a:t>Lower three layers implemented everywhere</a:t>
            </a:r>
          </a:p>
          <a:p>
            <a:r>
              <a:rPr lang="en-US" dirty="0"/>
              <a:t>Top two layers implemented only at hosts</a:t>
            </a:r>
          </a:p>
        </p:txBody>
      </p:sp>
      <p:grpSp>
        <p:nvGrpSpPr>
          <p:cNvPr id="3" name="Group 2"/>
          <p:cNvGrpSpPr/>
          <p:nvPr/>
        </p:nvGrpSpPr>
        <p:grpSpPr>
          <a:xfrm>
            <a:off x="817399" y="3441700"/>
            <a:ext cx="2200603" cy="2577900"/>
            <a:chOff x="817399" y="3441700"/>
            <a:chExt cx="2200603" cy="2577900"/>
          </a:xfrm>
        </p:grpSpPr>
        <p:sp>
          <p:nvSpPr>
            <p:cNvPr id="29699" name="Rectangle 4"/>
            <p:cNvSpPr>
              <a:spLocks noChangeArrowheads="1"/>
            </p:cNvSpPr>
            <p:nvPr/>
          </p:nvSpPr>
          <p:spPr bwMode="auto">
            <a:xfrm>
              <a:off x="1066800" y="3822700"/>
              <a:ext cx="1703388" cy="381000"/>
            </a:xfrm>
            <a:prstGeom prst="rect">
              <a:avLst/>
            </a:prstGeom>
            <a:solidFill>
              <a:srgbClr val="0000FF"/>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29700" name="Text Box 5"/>
            <p:cNvSpPr txBox="1">
              <a:spLocks noChangeArrowheads="1"/>
            </p:cNvSpPr>
            <p:nvPr/>
          </p:nvSpPr>
          <p:spPr bwMode="auto">
            <a:xfrm>
              <a:off x="1233488" y="3806825"/>
              <a:ext cx="136795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Transport</a:t>
              </a:r>
            </a:p>
          </p:txBody>
        </p:sp>
        <p:sp>
          <p:nvSpPr>
            <p:cNvPr id="29701" name="Rectangle 6"/>
            <p:cNvSpPr>
              <a:spLocks noChangeArrowheads="1"/>
            </p:cNvSpPr>
            <p:nvPr/>
          </p:nvSpPr>
          <p:spPr bwMode="auto">
            <a:xfrm>
              <a:off x="1066800" y="4203700"/>
              <a:ext cx="1703388"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02" name="Text Box 7"/>
            <p:cNvSpPr txBox="1">
              <a:spLocks noChangeArrowheads="1"/>
            </p:cNvSpPr>
            <p:nvPr/>
          </p:nvSpPr>
          <p:spPr bwMode="auto">
            <a:xfrm>
              <a:off x="1325563" y="41878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dirty="0">
                  <a:latin typeface="Arial" charset="0"/>
                  <a:ea typeface="Arial" charset="0"/>
                  <a:cs typeface="Arial" charset="0"/>
                </a:rPr>
                <a:t>Network</a:t>
              </a:r>
            </a:p>
          </p:txBody>
        </p:sp>
        <p:sp>
          <p:nvSpPr>
            <p:cNvPr id="29703" name="Rectangle 8"/>
            <p:cNvSpPr>
              <a:spLocks noChangeArrowheads="1"/>
            </p:cNvSpPr>
            <p:nvPr/>
          </p:nvSpPr>
          <p:spPr bwMode="auto">
            <a:xfrm>
              <a:off x="1066800" y="4584700"/>
              <a:ext cx="1703388"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04" name="Text Box 9"/>
            <p:cNvSpPr txBox="1">
              <a:spLocks noChangeArrowheads="1"/>
            </p:cNvSpPr>
            <p:nvPr/>
          </p:nvSpPr>
          <p:spPr bwMode="auto">
            <a:xfrm>
              <a:off x="1331913" y="45688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Datalink</a:t>
              </a:r>
            </a:p>
          </p:txBody>
        </p:sp>
        <p:sp>
          <p:nvSpPr>
            <p:cNvPr id="29705" name="Rectangle 10"/>
            <p:cNvSpPr>
              <a:spLocks noChangeArrowheads="1"/>
            </p:cNvSpPr>
            <p:nvPr/>
          </p:nvSpPr>
          <p:spPr bwMode="auto">
            <a:xfrm>
              <a:off x="1066800" y="4965700"/>
              <a:ext cx="1703388"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06" name="Text Box 11"/>
            <p:cNvSpPr txBox="1">
              <a:spLocks noChangeArrowheads="1"/>
            </p:cNvSpPr>
            <p:nvPr/>
          </p:nvSpPr>
          <p:spPr bwMode="auto">
            <a:xfrm>
              <a:off x="1311275" y="49498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Physical</a:t>
              </a:r>
            </a:p>
          </p:txBody>
        </p:sp>
        <p:sp>
          <p:nvSpPr>
            <p:cNvPr id="29732" name="Rectangle 34"/>
            <p:cNvSpPr>
              <a:spLocks noChangeArrowheads="1"/>
            </p:cNvSpPr>
            <p:nvPr/>
          </p:nvSpPr>
          <p:spPr bwMode="auto">
            <a:xfrm>
              <a:off x="1066800" y="3441700"/>
              <a:ext cx="1703388" cy="38100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29733" name="Text Box 35"/>
            <p:cNvSpPr txBox="1">
              <a:spLocks noChangeArrowheads="1"/>
            </p:cNvSpPr>
            <p:nvPr/>
          </p:nvSpPr>
          <p:spPr bwMode="auto">
            <a:xfrm>
              <a:off x="1143000" y="3441700"/>
              <a:ext cx="1581150" cy="400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sp>
          <p:nvSpPr>
            <p:cNvPr id="29729" name="Text Box 39"/>
            <p:cNvSpPr txBox="1">
              <a:spLocks noChangeArrowheads="1"/>
            </p:cNvSpPr>
            <p:nvPr/>
          </p:nvSpPr>
          <p:spPr bwMode="auto">
            <a:xfrm>
              <a:off x="817399" y="5499100"/>
              <a:ext cx="2200603"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rgbClr val="0000FF"/>
                  </a:solidFill>
                  <a:latin typeface="Arial" charset="0"/>
                  <a:ea typeface="Arial" charset="0"/>
                  <a:cs typeface="Arial" charset="0"/>
                </a:rPr>
                <a:t>End system</a:t>
              </a:r>
            </a:p>
          </p:txBody>
        </p:sp>
      </p:grpSp>
      <p:grpSp>
        <p:nvGrpSpPr>
          <p:cNvPr id="7" name="Group 6"/>
          <p:cNvGrpSpPr/>
          <p:nvPr/>
        </p:nvGrpSpPr>
        <p:grpSpPr>
          <a:xfrm>
            <a:off x="6229187" y="3441700"/>
            <a:ext cx="2200603" cy="2577900"/>
            <a:chOff x="6229187" y="3441700"/>
            <a:chExt cx="2200603" cy="2577900"/>
          </a:xfrm>
        </p:grpSpPr>
        <p:sp>
          <p:nvSpPr>
            <p:cNvPr id="29707" name="Rectangle 12"/>
            <p:cNvSpPr>
              <a:spLocks noChangeArrowheads="1"/>
            </p:cNvSpPr>
            <p:nvPr/>
          </p:nvSpPr>
          <p:spPr bwMode="auto">
            <a:xfrm>
              <a:off x="6477000" y="3822700"/>
              <a:ext cx="1703388" cy="381000"/>
            </a:xfrm>
            <a:prstGeom prst="rect">
              <a:avLst/>
            </a:prstGeom>
            <a:solidFill>
              <a:srgbClr val="0000FF"/>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29708" name="Text Box 13"/>
            <p:cNvSpPr txBox="1">
              <a:spLocks noChangeArrowheads="1"/>
            </p:cNvSpPr>
            <p:nvPr/>
          </p:nvSpPr>
          <p:spPr bwMode="auto">
            <a:xfrm>
              <a:off x="6643688" y="3806825"/>
              <a:ext cx="136795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Transport</a:t>
              </a:r>
            </a:p>
          </p:txBody>
        </p:sp>
        <p:sp>
          <p:nvSpPr>
            <p:cNvPr id="29709" name="Rectangle 14"/>
            <p:cNvSpPr>
              <a:spLocks noChangeArrowheads="1"/>
            </p:cNvSpPr>
            <p:nvPr/>
          </p:nvSpPr>
          <p:spPr bwMode="auto">
            <a:xfrm>
              <a:off x="6477000" y="4203700"/>
              <a:ext cx="1703388"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10" name="Text Box 15"/>
            <p:cNvSpPr txBox="1">
              <a:spLocks noChangeArrowheads="1"/>
            </p:cNvSpPr>
            <p:nvPr/>
          </p:nvSpPr>
          <p:spPr bwMode="auto">
            <a:xfrm>
              <a:off x="6735763" y="41878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Network</a:t>
              </a:r>
            </a:p>
          </p:txBody>
        </p:sp>
        <p:sp>
          <p:nvSpPr>
            <p:cNvPr id="29711" name="Rectangle 16"/>
            <p:cNvSpPr>
              <a:spLocks noChangeArrowheads="1"/>
            </p:cNvSpPr>
            <p:nvPr/>
          </p:nvSpPr>
          <p:spPr bwMode="auto">
            <a:xfrm>
              <a:off x="6477000" y="4584700"/>
              <a:ext cx="1703388"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12" name="Text Box 17"/>
            <p:cNvSpPr txBox="1">
              <a:spLocks noChangeArrowheads="1"/>
            </p:cNvSpPr>
            <p:nvPr/>
          </p:nvSpPr>
          <p:spPr bwMode="auto">
            <a:xfrm>
              <a:off x="6742113" y="45688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Datalink</a:t>
              </a:r>
            </a:p>
          </p:txBody>
        </p:sp>
        <p:sp>
          <p:nvSpPr>
            <p:cNvPr id="29713" name="Rectangle 18"/>
            <p:cNvSpPr>
              <a:spLocks noChangeArrowheads="1"/>
            </p:cNvSpPr>
            <p:nvPr/>
          </p:nvSpPr>
          <p:spPr bwMode="auto">
            <a:xfrm>
              <a:off x="6477000" y="4965700"/>
              <a:ext cx="1703388"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14" name="Text Box 19"/>
            <p:cNvSpPr txBox="1">
              <a:spLocks noChangeArrowheads="1"/>
            </p:cNvSpPr>
            <p:nvPr/>
          </p:nvSpPr>
          <p:spPr bwMode="auto">
            <a:xfrm>
              <a:off x="6721475" y="49498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Physical</a:t>
              </a:r>
            </a:p>
          </p:txBody>
        </p:sp>
        <p:sp>
          <p:nvSpPr>
            <p:cNvPr id="29734" name="Rectangle 36"/>
            <p:cNvSpPr>
              <a:spLocks noChangeArrowheads="1"/>
            </p:cNvSpPr>
            <p:nvPr/>
          </p:nvSpPr>
          <p:spPr bwMode="auto">
            <a:xfrm>
              <a:off x="6477000" y="3441700"/>
              <a:ext cx="1703388" cy="38100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29735" name="Text Box 37"/>
            <p:cNvSpPr txBox="1">
              <a:spLocks noChangeArrowheads="1"/>
            </p:cNvSpPr>
            <p:nvPr/>
          </p:nvSpPr>
          <p:spPr bwMode="auto">
            <a:xfrm>
              <a:off x="6510338" y="3441700"/>
              <a:ext cx="1581150" cy="400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sp>
          <p:nvSpPr>
            <p:cNvPr id="29730" name="Text Box 40"/>
            <p:cNvSpPr txBox="1">
              <a:spLocks noChangeArrowheads="1"/>
            </p:cNvSpPr>
            <p:nvPr/>
          </p:nvSpPr>
          <p:spPr bwMode="auto">
            <a:xfrm>
              <a:off x="6229187" y="5499100"/>
              <a:ext cx="2200603"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a:solidFill>
                    <a:srgbClr val="0000FF"/>
                  </a:solidFill>
                  <a:latin typeface="Arial" charset="0"/>
                  <a:ea typeface="Arial" charset="0"/>
                  <a:cs typeface="Arial" charset="0"/>
                </a:rPr>
                <a:t>End system</a:t>
              </a:r>
            </a:p>
          </p:txBody>
        </p:sp>
      </p:grpSp>
      <p:grpSp>
        <p:nvGrpSpPr>
          <p:cNvPr id="8" name="Group 7"/>
          <p:cNvGrpSpPr/>
          <p:nvPr/>
        </p:nvGrpSpPr>
        <p:grpSpPr>
          <a:xfrm>
            <a:off x="2770188" y="3632200"/>
            <a:ext cx="3740150" cy="2387400"/>
            <a:chOff x="2770188" y="3632200"/>
            <a:chExt cx="3740150" cy="2387400"/>
          </a:xfrm>
        </p:grpSpPr>
        <p:sp>
          <p:nvSpPr>
            <p:cNvPr id="29715" name="Rectangle 20"/>
            <p:cNvSpPr>
              <a:spLocks noChangeArrowheads="1"/>
            </p:cNvSpPr>
            <p:nvPr/>
          </p:nvSpPr>
          <p:spPr bwMode="auto">
            <a:xfrm>
              <a:off x="3706813" y="4203700"/>
              <a:ext cx="1703387"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16" name="Text Box 21"/>
            <p:cNvSpPr txBox="1">
              <a:spLocks noChangeArrowheads="1"/>
            </p:cNvSpPr>
            <p:nvPr/>
          </p:nvSpPr>
          <p:spPr bwMode="auto">
            <a:xfrm>
              <a:off x="3965575" y="41878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Network</a:t>
              </a:r>
            </a:p>
          </p:txBody>
        </p:sp>
        <p:sp>
          <p:nvSpPr>
            <p:cNvPr id="29717" name="Rectangle 22"/>
            <p:cNvSpPr>
              <a:spLocks noChangeArrowheads="1"/>
            </p:cNvSpPr>
            <p:nvPr/>
          </p:nvSpPr>
          <p:spPr bwMode="auto">
            <a:xfrm>
              <a:off x="3706813" y="4584700"/>
              <a:ext cx="1703387"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18" name="Text Box 23"/>
            <p:cNvSpPr txBox="1">
              <a:spLocks noChangeArrowheads="1"/>
            </p:cNvSpPr>
            <p:nvPr/>
          </p:nvSpPr>
          <p:spPr bwMode="auto">
            <a:xfrm>
              <a:off x="3971925" y="45688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Datalink</a:t>
              </a:r>
            </a:p>
          </p:txBody>
        </p:sp>
        <p:sp>
          <p:nvSpPr>
            <p:cNvPr id="29719" name="Rectangle 24"/>
            <p:cNvSpPr>
              <a:spLocks noChangeArrowheads="1"/>
            </p:cNvSpPr>
            <p:nvPr/>
          </p:nvSpPr>
          <p:spPr bwMode="auto">
            <a:xfrm>
              <a:off x="3706813" y="4965700"/>
              <a:ext cx="1703387" cy="381000"/>
            </a:xfrm>
            <a:prstGeom prst="rect">
              <a:avLst/>
            </a:prstGeom>
            <a:solidFill>
              <a:schemeClr val="tx1">
                <a:lumMod val="20000"/>
                <a:lumOff val="80000"/>
              </a:schemeClr>
            </a:solidFill>
            <a:ln w="25400">
              <a:solidFill>
                <a:schemeClr val="tx1"/>
              </a:solidFill>
              <a:miter lim="800000"/>
              <a:headEnd/>
              <a:tailEnd/>
            </a:ln>
          </p:spPr>
          <p:txBody>
            <a:bodyPr wrap="none" lIns="91425" tIns="45713" rIns="91425" bIns="45713" anchor="ctr"/>
            <a:lstStyle/>
            <a:p>
              <a:endParaRPr lang="en-US">
                <a:ea typeface="Arial" charset="0"/>
                <a:cs typeface="Arial" charset="0"/>
              </a:endParaRPr>
            </a:p>
          </p:txBody>
        </p:sp>
        <p:sp>
          <p:nvSpPr>
            <p:cNvPr id="29720" name="Text Box 25"/>
            <p:cNvSpPr txBox="1">
              <a:spLocks noChangeArrowheads="1"/>
            </p:cNvSpPr>
            <p:nvPr/>
          </p:nvSpPr>
          <p:spPr bwMode="auto">
            <a:xfrm>
              <a:off x="3951288" y="49498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latin typeface="Arial" charset="0"/>
                  <a:ea typeface="Arial" charset="0"/>
                  <a:cs typeface="Arial" charset="0"/>
                </a:rPr>
                <a:t>Physical</a:t>
              </a:r>
            </a:p>
          </p:txBody>
        </p:sp>
        <p:cxnSp>
          <p:nvCxnSpPr>
            <p:cNvPr id="29721" name="AutoShape 26"/>
            <p:cNvCxnSpPr>
              <a:cxnSpLocks noChangeShapeType="1"/>
              <a:stCxn id="29705" idx="3"/>
              <a:endCxn id="29719" idx="1"/>
            </p:cNvCxnSpPr>
            <p:nvPr/>
          </p:nvCxnSpPr>
          <p:spPr bwMode="auto">
            <a:xfrm>
              <a:off x="2782888" y="5156200"/>
              <a:ext cx="911225"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29722" name="AutoShape 27"/>
            <p:cNvCxnSpPr>
              <a:cxnSpLocks noChangeShapeType="1"/>
              <a:stCxn id="29703" idx="3"/>
              <a:endCxn id="29717" idx="1"/>
            </p:cNvCxnSpPr>
            <p:nvPr/>
          </p:nvCxnSpPr>
          <p:spPr bwMode="auto">
            <a:xfrm>
              <a:off x="2782888" y="4775200"/>
              <a:ext cx="911225"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29723" name="AutoShape 28"/>
            <p:cNvCxnSpPr>
              <a:cxnSpLocks noChangeShapeType="1"/>
              <a:stCxn id="29701" idx="3"/>
              <a:endCxn id="29715" idx="1"/>
            </p:cNvCxnSpPr>
            <p:nvPr/>
          </p:nvCxnSpPr>
          <p:spPr bwMode="auto">
            <a:xfrm>
              <a:off x="2782888" y="4394200"/>
              <a:ext cx="911225"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29724" name="AutoShape 29"/>
            <p:cNvCxnSpPr>
              <a:cxnSpLocks noChangeShapeType="1"/>
              <a:stCxn id="29719" idx="3"/>
              <a:endCxn id="29713" idx="1"/>
            </p:cNvCxnSpPr>
            <p:nvPr/>
          </p:nvCxnSpPr>
          <p:spPr bwMode="auto">
            <a:xfrm>
              <a:off x="5422900" y="5156200"/>
              <a:ext cx="1041400"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29725" name="AutoShape 30"/>
            <p:cNvCxnSpPr>
              <a:cxnSpLocks noChangeShapeType="1"/>
              <a:stCxn id="29717" idx="3"/>
              <a:endCxn id="29711" idx="1"/>
            </p:cNvCxnSpPr>
            <p:nvPr/>
          </p:nvCxnSpPr>
          <p:spPr bwMode="auto">
            <a:xfrm>
              <a:off x="5422900" y="4775200"/>
              <a:ext cx="1041400"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29726" name="AutoShape 31"/>
            <p:cNvCxnSpPr>
              <a:cxnSpLocks noChangeShapeType="1"/>
              <a:stCxn id="29715" idx="3"/>
              <a:endCxn id="29709" idx="1"/>
            </p:cNvCxnSpPr>
            <p:nvPr/>
          </p:nvCxnSpPr>
          <p:spPr bwMode="auto">
            <a:xfrm>
              <a:off x="5422900" y="4394200"/>
              <a:ext cx="1041400"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29727" name="AutoShape 32"/>
            <p:cNvCxnSpPr>
              <a:cxnSpLocks noChangeShapeType="1"/>
              <a:stCxn id="29699" idx="3"/>
              <a:endCxn id="29707" idx="1"/>
            </p:cNvCxnSpPr>
            <p:nvPr/>
          </p:nvCxnSpPr>
          <p:spPr bwMode="auto">
            <a:xfrm>
              <a:off x="2782888" y="4013200"/>
              <a:ext cx="3681412"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29736" name="AutoShape 38"/>
            <p:cNvCxnSpPr>
              <a:cxnSpLocks noChangeShapeType="1"/>
              <a:stCxn id="29732" idx="3"/>
              <a:endCxn id="29735" idx="1"/>
            </p:cNvCxnSpPr>
            <p:nvPr/>
          </p:nvCxnSpPr>
          <p:spPr bwMode="auto">
            <a:xfrm>
              <a:off x="2770188" y="3632200"/>
              <a:ext cx="3740150" cy="9525"/>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sp>
          <p:nvSpPr>
            <p:cNvPr id="29731" name="Text Box 41"/>
            <p:cNvSpPr txBox="1">
              <a:spLocks noChangeArrowheads="1"/>
            </p:cNvSpPr>
            <p:nvPr/>
          </p:nvSpPr>
          <p:spPr bwMode="auto">
            <a:xfrm>
              <a:off x="3887818" y="5499100"/>
              <a:ext cx="1339790"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a:solidFill>
                    <a:srgbClr val="0000FF"/>
                  </a:solidFill>
                  <a:latin typeface="Arial" charset="0"/>
                  <a:ea typeface="Arial" charset="0"/>
                  <a:cs typeface="Arial" charset="0"/>
                </a:rPr>
                <a:t>Switch</a:t>
              </a:r>
            </a:p>
          </p:txBody>
        </p:sp>
      </p:gr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5</a:t>
            </a:fld>
            <a:endParaRPr lang="en-US"/>
          </a:p>
        </p:txBody>
      </p:sp>
    </p:spTree>
    <p:extLst>
      <p:ext uri="{BB962C8B-B14F-4D97-AF65-F5344CB8AC3E}">
        <p14:creationId xmlns:p14="http://schemas.microsoft.com/office/powerpoint/2010/main" val="580817767"/>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4E4C2-16C9-8758-AA61-439EDA489AC4}"/>
            </a:ext>
          </a:extLst>
        </p:cNvPr>
        <p:cNvGrpSpPr/>
        <p:nvPr/>
      </p:nvGrpSpPr>
      <p:grpSpPr>
        <a:xfrm>
          <a:off x="0" y="0"/>
          <a:ext cx="0" cy="0"/>
          <a:chOff x="0" y="0"/>
          <a:chExt cx="0" cy="0"/>
        </a:xfrm>
      </p:grpSpPr>
      <p:sp>
        <p:nvSpPr>
          <p:cNvPr id="1043458" name="Rectangle 2">
            <a:extLst>
              <a:ext uri="{FF2B5EF4-FFF2-40B4-BE49-F238E27FC236}">
                <a16:creationId xmlns:a16="http://schemas.microsoft.com/office/drawing/2014/main" id="{01AE6C6B-D575-179A-B979-A3411414BC43}"/>
              </a:ext>
            </a:extLst>
          </p:cNvPr>
          <p:cNvSpPr>
            <a:spLocks noGrp="1" noChangeArrowheads="1"/>
          </p:cNvSpPr>
          <p:nvPr>
            <p:ph type="title"/>
          </p:nvPr>
        </p:nvSpPr>
        <p:spPr/>
        <p:txBody>
          <a:bodyPr/>
          <a:lstStyle/>
          <a:p>
            <a:r>
              <a:rPr lang="en-US"/>
              <a:t>Topics</a:t>
            </a:r>
            <a:endParaRPr lang="en-US" dirty="0"/>
          </a:p>
        </p:txBody>
      </p:sp>
      <p:sp>
        <p:nvSpPr>
          <p:cNvPr id="1043459" name="Rectangle 3">
            <a:extLst>
              <a:ext uri="{FF2B5EF4-FFF2-40B4-BE49-F238E27FC236}">
                <a16:creationId xmlns:a16="http://schemas.microsoft.com/office/drawing/2014/main" id="{C633FFD3-B7D4-B671-A131-0677AA833BD3}"/>
              </a:ext>
            </a:extLst>
          </p:cNvPr>
          <p:cNvSpPr>
            <a:spLocks noGrp="1" noChangeArrowheads="1"/>
          </p:cNvSpPr>
          <p:nvPr>
            <p:ph idx="1"/>
          </p:nvPr>
        </p:nvSpPr>
        <p:spPr/>
        <p:txBody>
          <a:bodyPr/>
          <a:lstStyle/>
          <a:p>
            <a:r>
              <a:rPr lang="en-US" dirty="0"/>
              <a:t>Network layer (lectures 10–15)</a:t>
            </a:r>
          </a:p>
          <a:p>
            <a:pPr lvl="1"/>
            <a:r>
              <a:rPr lang="en-US" dirty="0"/>
              <a:t>Addressing</a:t>
            </a:r>
          </a:p>
          <a:p>
            <a:pPr lvl="1"/>
            <a:r>
              <a:rPr lang="en-US" dirty="0"/>
              <a:t>Data plane</a:t>
            </a:r>
          </a:p>
          <a:p>
            <a:pPr lvl="1"/>
            <a:r>
              <a:rPr lang="en-US" dirty="0"/>
              <a:t>Intra-domain routing </a:t>
            </a:r>
          </a:p>
          <a:p>
            <a:pPr lvl="1"/>
            <a:r>
              <a:rPr lang="en-US" dirty="0"/>
              <a:t>Inter-domain routing</a:t>
            </a:r>
          </a:p>
          <a:p>
            <a:r>
              <a:rPr lang="en-US" dirty="0"/>
              <a:t>SDN and programmable networks (lecture 16)</a:t>
            </a:r>
          </a:p>
          <a:p>
            <a:r>
              <a:rPr lang="en-US" dirty="0"/>
              <a:t>Link layer (lectures 17–19)</a:t>
            </a:r>
          </a:p>
          <a:p>
            <a:pPr lvl="1"/>
            <a:r>
              <a:rPr lang="en-US" dirty="0"/>
              <a:t>Ethernet</a:t>
            </a:r>
          </a:p>
          <a:p>
            <a:pPr lvl="1"/>
            <a:r>
              <a:rPr lang="en-US" dirty="0"/>
              <a:t>Wireless</a:t>
            </a:r>
          </a:p>
          <a:p>
            <a:r>
              <a:rPr lang="en-US" dirty="0"/>
              <a:t>Datacenter networking (lecture 20)</a:t>
            </a:r>
          </a:p>
        </p:txBody>
      </p:sp>
      <p:sp>
        <p:nvSpPr>
          <p:cNvPr id="4" name="Date Placeholder 3">
            <a:extLst>
              <a:ext uri="{FF2B5EF4-FFF2-40B4-BE49-F238E27FC236}">
                <a16:creationId xmlns:a16="http://schemas.microsoft.com/office/drawing/2014/main" id="{39DA953D-A21E-E8E5-E468-BFAEA7004708}"/>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8C1C77F7-ADA6-3AA6-26BB-457B706F5A6C}"/>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23D33F63-DCCA-2791-C33A-706E23FAABBC}"/>
              </a:ext>
            </a:extLst>
          </p:cNvPr>
          <p:cNvSpPr>
            <a:spLocks noGrp="1"/>
          </p:cNvSpPr>
          <p:nvPr>
            <p:ph type="sldNum" sz="quarter" idx="12"/>
          </p:nvPr>
        </p:nvSpPr>
        <p:spPr/>
        <p:txBody>
          <a:bodyPr/>
          <a:lstStyle/>
          <a:p>
            <a:fld id="{A190D881-957A-7944-A8D0-1584E528B88F}" type="slidenum">
              <a:rPr lang="en-US" smtClean="0"/>
              <a:pPr/>
              <a:t>6</a:t>
            </a:fld>
            <a:endParaRPr lang="en-US"/>
          </a:p>
        </p:txBody>
      </p:sp>
    </p:spTree>
    <p:extLst>
      <p:ext uri="{BB962C8B-B14F-4D97-AF65-F5344CB8AC3E}">
        <p14:creationId xmlns:p14="http://schemas.microsoft.com/office/powerpoint/2010/main" val="3030220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4345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345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4345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4345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4345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4345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43459">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43459">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43459">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4345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345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information do we need in the IP header?</a:t>
            </a:r>
          </a:p>
        </p:txBody>
      </p:sp>
      <p:sp>
        <p:nvSpPr>
          <p:cNvPr id="3" name="Content Placeholder 2"/>
          <p:cNvSpPr>
            <a:spLocks noGrp="1"/>
          </p:cNvSpPr>
          <p:nvPr>
            <p:ph idx="1"/>
          </p:nvPr>
        </p:nvSpPr>
        <p:spPr/>
        <p:txBody>
          <a:bodyPr/>
          <a:lstStyle/>
          <a:p>
            <a:r>
              <a:rPr lang="en-US" dirty="0"/>
              <a:t>Parse packet</a:t>
            </a:r>
          </a:p>
          <a:p>
            <a:pPr lvl="1"/>
            <a:r>
              <a:rPr lang="en-US" dirty="0">
                <a:solidFill>
                  <a:srgbClr val="0000FF"/>
                </a:solidFill>
              </a:rPr>
              <a:t>IP version number (4 bits), packet length (16 bits)</a:t>
            </a:r>
          </a:p>
          <a:p>
            <a:r>
              <a:rPr lang="en-US" dirty="0"/>
              <a:t>Carry packet to the destination</a:t>
            </a:r>
          </a:p>
          <a:p>
            <a:pPr lvl="1"/>
            <a:r>
              <a:rPr lang="en-US" dirty="0">
                <a:solidFill>
                  <a:srgbClr val="0000FF"/>
                </a:solidFill>
              </a:rPr>
              <a:t>Destination’s IP address (32 bits)</a:t>
            </a:r>
          </a:p>
          <a:p>
            <a:r>
              <a:rPr lang="en-US" dirty="0"/>
              <a:t>Deal with problems along the way</a:t>
            </a:r>
          </a:p>
          <a:p>
            <a:pPr lvl="1"/>
            <a:r>
              <a:rPr lang="en-US" dirty="0"/>
              <a:t>Loops: </a:t>
            </a:r>
            <a:r>
              <a:rPr lang="en-US" dirty="0">
                <a:solidFill>
                  <a:srgbClr val="0000FF"/>
                </a:solidFill>
              </a:rPr>
              <a:t>TTL (8 bits)</a:t>
            </a:r>
          </a:p>
          <a:p>
            <a:pPr lvl="1"/>
            <a:r>
              <a:rPr lang="en-US" dirty="0"/>
              <a:t>Corruption: </a:t>
            </a:r>
            <a:r>
              <a:rPr lang="en-US" dirty="0">
                <a:solidFill>
                  <a:srgbClr val="0000FF"/>
                </a:solidFill>
              </a:rPr>
              <a:t>checksum (16 bits)</a:t>
            </a:r>
          </a:p>
          <a:p>
            <a:pPr lvl="1"/>
            <a:r>
              <a:rPr lang="en-US" dirty="0"/>
              <a:t>Packet too large: </a:t>
            </a:r>
            <a:r>
              <a:rPr lang="en-US" dirty="0">
                <a:solidFill>
                  <a:srgbClr val="0000FF"/>
                </a:solidFill>
              </a:rPr>
              <a:t>fragmentation fields (32 bits)</a:t>
            </a:r>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7</a:t>
            </a:fld>
            <a:endParaRPr lang="en-US"/>
          </a:p>
        </p:txBody>
      </p:sp>
    </p:spTree>
    <p:extLst>
      <p:ext uri="{BB962C8B-B14F-4D97-AF65-F5344CB8AC3E}">
        <p14:creationId xmlns:p14="http://schemas.microsoft.com/office/powerpoint/2010/main" val="808780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Rectangle 2"/>
          <p:cNvSpPr>
            <a:spLocks noGrp="1" noChangeArrowheads="1"/>
          </p:cNvSpPr>
          <p:nvPr>
            <p:ph type="title"/>
          </p:nvPr>
        </p:nvSpPr>
        <p:spPr/>
        <p:txBody>
          <a:bodyPr/>
          <a:lstStyle/>
          <a:p>
            <a:r>
              <a:rPr lang="en-GB" dirty="0"/>
              <a:t>IPv4 and IPv6 header comparison</a:t>
            </a:r>
            <a:endParaRPr lang="en-US" dirty="0"/>
          </a:p>
        </p:txBody>
      </p:sp>
      <p:graphicFrame>
        <p:nvGraphicFramePr>
          <p:cNvPr id="34819" name="Group 3"/>
          <p:cNvGraphicFramePr>
            <a:graphicFrameLocks noGrp="1"/>
          </p:cNvGraphicFramePr>
          <p:nvPr/>
        </p:nvGraphicFramePr>
        <p:xfrm>
          <a:off x="90488" y="1905000"/>
          <a:ext cx="4557711" cy="3276599"/>
        </p:xfrm>
        <a:graphic>
          <a:graphicData uri="http://schemas.openxmlformats.org/drawingml/2006/table">
            <a:tbl>
              <a:tblPr/>
              <a:tblGrid>
                <a:gridCol w="778839">
                  <a:extLst>
                    <a:ext uri="{9D8B030D-6E8A-4147-A177-3AD203B41FA5}">
                      <a16:colId xmlns:a16="http://schemas.microsoft.com/office/drawing/2014/main" val="20000"/>
                    </a:ext>
                  </a:extLst>
                </a:gridCol>
                <a:gridCol w="478000">
                  <a:extLst>
                    <a:ext uri="{9D8B030D-6E8A-4147-A177-3AD203B41FA5}">
                      <a16:colId xmlns:a16="http://schemas.microsoft.com/office/drawing/2014/main" val="20001"/>
                    </a:ext>
                  </a:extLst>
                </a:gridCol>
                <a:gridCol w="1215055">
                  <a:extLst>
                    <a:ext uri="{9D8B030D-6E8A-4147-A177-3AD203B41FA5}">
                      <a16:colId xmlns:a16="http://schemas.microsoft.com/office/drawing/2014/main" val="20002"/>
                    </a:ext>
                  </a:extLst>
                </a:gridCol>
                <a:gridCol w="717000">
                  <a:extLst>
                    <a:ext uri="{9D8B030D-6E8A-4147-A177-3AD203B41FA5}">
                      <a16:colId xmlns:a16="http://schemas.microsoft.com/office/drawing/2014/main" val="20003"/>
                    </a:ext>
                  </a:extLst>
                </a:gridCol>
                <a:gridCol w="212258">
                  <a:extLst>
                    <a:ext uri="{9D8B030D-6E8A-4147-A177-3AD203B41FA5}">
                      <a16:colId xmlns:a16="http://schemas.microsoft.com/office/drawing/2014/main" val="20004"/>
                    </a:ext>
                  </a:extLst>
                </a:gridCol>
                <a:gridCol w="1156559">
                  <a:extLst>
                    <a:ext uri="{9D8B030D-6E8A-4147-A177-3AD203B41FA5}">
                      <a16:colId xmlns:a16="http://schemas.microsoft.com/office/drawing/2014/main" val="20005"/>
                    </a:ext>
                  </a:extLst>
                </a:gridCol>
              </a:tblGrid>
              <a:tr h="680556">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200" b="1" i="0" u="none" strike="noStrike" cap="none" normalizeH="0" baseline="0" dirty="0">
                          <a:ln>
                            <a:noFill/>
                          </a:ln>
                          <a:solidFill>
                            <a:schemeClr val="accent2"/>
                          </a:solidFill>
                          <a:effectLst/>
                          <a:latin typeface="Arial" charset="0"/>
                        </a:rPr>
                        <a:t>Version</a:t>
                      </a:r>
                    </a:p>
                  </a:txBody>
                  <a:tcPr marL="73025" marR="73025" marT="36512" marB="36512" anchor="ctr" horzOverflow="overflow">
                    <a:lnL w="28575"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D3A600"/>
                    </a:solidFill>
                  </a:tcPr>
                </a:tc>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IHL</a:t>
                      </a:r>
                    </a:p>
                  </a:txBody>
                  <a:tcPr marL="73025" marR="73025" marT="36512" marB="36512"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2">
                        <a:lumMod val="20000"/>
                        <a:lumOff val="80000"/>
                      </a:schemeClr>
                    </a:solidFill>
                  </a:tcPr>
                </a:tc>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Type of Service</a:t>
                      </a:r>
                    </a:p>
                  </a:txBody>
                  <a:tcPr marL="73025" marR="73025" marT="36512" marB="36512"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tc gridSpan="3">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Total Length</a:t>
                      </a:r>
                    </a:p>
                  </a:txBody>
                  <a:tcPr marL="73025" marR="73025" marT="36512" marB="36512" anchor="ctr" horzOverflow="overflow">
                    <a:lnL w="12700" cap="flat" cmpd="sng" algn="ctr">
                      <a:solidFill>
                        <a:schemeClr val="bg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80556">
                <a:tc gridSpan="3">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Identification</a:t>
                      </a:r>
                    </a:p>
                  </a:txBody>
                  <a:tcPr marL="73025" marR="73025" marT="36512" marB="36512" anchor="ctr" horzOverflow="overflow">
                    <a:lnL w="28575"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2">
                        <a:lumMod val="20000"/>
                        <a:lumOff val="80000"/>
                      </a:schemeClr>
                    </a:solidFill>
                  </a:tcPr>
                </a:tc>
                <a:tc hMerge="1">
                  <a:txBody>
                    <a:bodyPr/>
                    <a:lstStyle/>
                    <a:p>
                      <a:endParaRPr lang="en-US"/>
                    </a:p>
                  </a:txBody>
                  <a:tcPr/>
                </a:tc>
                <a:tc hMerge="1">
                  <a:txBody>
                    <a:bodyPr/>
                    <a:lstStyle/>
                    <a:p>
                      <a:endParaRPr lang="en-US"/>
                    </a:p>
                  </a:txBody>
                  <a:tcPr/>
                </a:tc>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Flags</a:t>
                      </a:r>
                    </a:p>
                  </a:txBody>
                  <a:tcPr marL="73025" marR="73025" marT="36512" marB="36512"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2">
                        <a:lumMod val="20000"/>
                        <a:lumOff val="80000"/>
                      </a:schemeClr>
                    </a:solidFill>
                  </a:tcPr>
                </a:tc>
                <a:tc gridSpan="2">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Fragment Offset</a:t>
                      </a:r>
                    </a:p>
                  </a:txBody>
                  <a:tcPr marL="73025" marR="73025" marT="36512" marB="36512" anchor="ctr" horzOverflow="overflow">
                    <a:lnL w="12700" cap="flat" cmpd="sng" algn="ctr">
                      <a:solidFill>
                        <a:schemeClr val="bg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2">
                        <a:lumMod val="20000"/>
                        <a:lumOff val="80000"/>
                      </a:schemeClr>
                    </a:solidFill>
                  </a:tcPr>
                </a:tc>
                <a:tc hMerge="1">
                  <a:txBody>
                    <a:bodyPr/>
                    <a:lstStyle/>
                    <a:p>
                      <a:endParaRPr lang="en-US"/>
                    </a:p>
                  </a:txBody>
                  <a:tcPr/>
                </a:tc>
                <a:extLst>
                  <a:ext uri="{0D108BD9-81ED-4DB2-BD59-A6C34878D82A}">
                    <a16:rowId xmlns:a16="http://schemas.microsoft.com/office/drawing/2014/main" val="10001"/>
                  </a:ext>
                </a:extLst>
              </a:tr>
              <a:tr h="682625">
                <a:tc gridSpan="2">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Time to Live</a:t>
                      </a:r>
                    </a:p>
                  </a:txBody>
                  <a:tcPr marL="73025" marR="73025" marT="36512" marB="36512" anchor="ctr" horzOverflow="overflow">
                    <a:lnL w="28575"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tc hMerge="1">
                  <a:txBody>
                    <a:bodyPr/>
                    <a:lstStyle/>
                    <a:p>
                      <a:endParaRPr lang="en-US"/>
                    </a:p>
                  </a:txBody>
                  <a:tcPr/>
                </a:tc>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Protocol</a:t>
                      </a:r>
                    </a:p>
                  </a:txBody>
                  <a:tcPr marL="73025" marR="73025" marT="36512" marB="36512"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tc gridSpan="3">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Header Checksum</a:t>
                      </a:r>
                    </a:p>
                  </a:txBody>
                  <a:tcPr marL="73025" marR="73025" marT="36512" marB="36512" anchor="ctr" horzOverflow="overflow">
                    <a:lnL w="12700" cap="flat" cmpd="sng" algn="ctr">
                      <a:solidFill>
                        <a:schemeClr val="bg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2">
                        <a:lumMod val="20000"/>
                        <a:lumOff val="80000"/>
                      </a:scheme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424055">
                <a:tc gridSpan="6">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rgbClr val="000000"/>
                          </a:solidFill>
                          <a:effectLst/>
                          <a:latin typeface="Arial" charset="0"/>
                        </a:rPr>
                        <a:t>Source Address</a:t>
                      </a:r>
                    </a:p>
                  </a:txBody>
                  <a:tcPr marL="73025" marR="73025" marT="36512" marB="36512" anchor="ct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D3A60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421986">
                <a:tc gridSpan="6">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rgbClr val="000000"/>
                          </a:solidFill>
                          <a:effectLst/>
                          <a:latin typeface="Arial" charset="0"/>
                        </a:rPr>
                        <a:t>Destination Address</a:t>
                      </a:r>
                    </a:p>
                  </a:txBody>
                  <a:tcPr marL="73025" marR="73025" marT="36512" marB="36512" anchor="ct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D3A60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386821">
                <a:tc gridSpan="5">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Options</a:t>
                      </a:r>
                    </a:p>
                  </a:txBody>
                  <a:tcPr marL="73025" marR="73025" marT="36512" marB="36512" anchor="ctr" horzOverflow="overflow">
                    <a:lnL w="28575"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tx2">
                        <a:lumMod val="20000"/>
                        <a:lumOff val="80000"/>
                      </a:schemeClr>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Padding</a:t>
                      </a:r>
                    </a:p>
                  </a:txBody>
                  <a:tcPr marL="73025" marR="73025" marT="36512" marB="36512" anchor="ctr" horzOverflow="overflow">
                    <a:lnL w="12700" cap="flat" cmpd="sng" algn="ctr">
                      <a:solidFill>
                        <a:schemeClr val="bg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tx2">
                        <a:lumMod val="20000"/>
                        <a:lumOff val="80000"/>
                      </a:schemeClr>
                    </a:solidFill>
                  </a:tcPr>
                </a:tc>
                <a:extLst>
                  <a:ext uri="{0D108BD9-81ED-4DB2-BD59-A6C34878D82A}">
                    <a16:rowId xmlns:a16="http://schemas.microsoft.com/office/drawing/2014/main" val="10005"/>
                  </a:ext>
                </a:extLst>
              </a:tr>
            </a:tbl>
          </a:graphicData>
        </a:graphic>
      </p:graphicFrame>
      <p:graphicFrame>
        <p:nvGraphicFramePr>
          <p:cNvPr id="34849" name="Group 33"/>
          <p:cNvGraphicFramePr>
            <a:graphicFrameLocks noGrp="1"/>
          </p:cNvGraphicFramePr>
          <p:nvPr/>
        </p:nvGraphicFramePr>
        <p:xfrm>
          <a:off x="4724400" y="1905000"/>
          <a:ext cx="4343400" cy="4572001"/>
        </p:xfrm>
        <a:graphic>
          <a:graphicData uri="http://schemas.openxmlformats.org/drawingml/2006/table">
            <a:tbl>
              <a:tblPr>
                <a:effectLst/>
              </a:tblPr>
              <a:tblGrid>
                <a:gridCol w="741363">
                  <a:extLst>
                    <a:ext uri="{9D8B030D-6E8A-4147-A177-3AD203B41FA5}">
                      <a16:colId xmlns:a16="http://schemas.microsoft.com/office/drawing/2014/main" val="20000"/>
                    </a:ext>
                  </a:extLst>
                </a:gridCol>
                <a:gridCol w="1231900">
                  <a:extLst>
                    <a:ext uri="{9D8B030D-6E8A-4147-A177-3AD203B41FA5}">
                      <a16:colId xmlns:a16="http://schemas.microsoft.com/office/drawing/2014/main" val="20001"/>
                    </a:ext>
                  </a:extLst>
                </a:gridCol>
                <a:gridCol w="166687">
                  <a:extLst>
                    <a:ext uri="{9D8B030D-6E8A-4147-A177-3AD203B41FA5}">
                      <a16:colId xmlns:a16="http://schemas.microsoft.com/office/drawing/2014/main" val="20002"/>
                    </a:ext>
                  </a:extLst>
                </a:gridCol>
                <a:gridCol w="1101725">
                  <a:extLst>
                    <a:ext uri="{9D8B030D-6E8A-4147-A177-3AD203B41FA5}">
                      <a16:colId xmlns:a16="http://schemas.microsoft.com/office/drawing/2014/main" val="20003"/>
                    </a:ext>
                  </a:extLst>
                </a:gridCol>
                <a:gridCol w="1101725">
                  <a:extLst>
                    <a:ext uri="{9D8B030D-6E8A-4147-A177-3AD203B41FA5}">
                      <a16:colId xmlns:a16="http://schemas.microsoft.com/office/drawing/2014/main" val="20004"/>
                    </a:ext>
                  </a:extLst>
                </a:gridCol>
              </a:tblGrid>
              <a:tr h="885825">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200" b="1" i="0" u="none" strike="noStrike" cap="none" normalizeH="0" baseline="0" dirty="0">
                          <a:ln>
                            <a:noFill/>
                          </a:ln>
                          <a:solidFill>
                            <a:srgbClr val="000000"/>
                          </a:solidFill>
                          <a:effectLst/>
                          <a:latin typeface="Arial" charset="0"/>
                        </a:rPr>
                        <a:t>Version</a:t>
                      </a:r>
                    </a:p>
                  </a:txBody>
                  <a:tcPr marL="73025" marR="73025" marT="36512" marB="36512" anchor="ctr" horzOverflow="overflow">
                    <a:lnL w="28575"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D3A600"/>
                    </a:solidFill>
                  </a:tcPr>
                </a:tc>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Traffic Class</a:t>
                      </a:r>
                    </a:p>
                  </a:txBody>
                  <a:tcPr marL="73025" marR="73025" marT="36512" marB="36512"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tc gridSpan="3">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bg1"/>
                          </a:solidFill>
                          <a:effectLst/>
                          <a:latin typeface="Arial" charset="0"/>
                        </a:rPr>
                        <a:t>Flow</a:t>
                      </a:r>
                      <a:r>
                        <a:rPr kumimoji="0" lang="en-US" sz="1600" b="1" i="0" u="none" strike="noStrike" cap="none" normalizeH="0" baseline="0" dirty="0">
                          <a:ln>
                            <a:noFill/>
                          </a:ln>
                          <a:solidFill>
                            <a:srgbClr val="000000"/>
                          </a:solidFill>
                          <a:effectLst/>
                          <a:latin typeface="Arial" charset="0"/>
                        </a:rPr>
                        <a:t> </a:t>
                      </a:r>
                      <a:r>
                        <a:rPr kumimoji="0" lang="en-US" sz="1600" b="1" i="0" u="none" strike="noStrike" cap="none" normalizeH="0" baseline="0" dirty="0">
                          <a:ln>
                            <a:noFill/>
                          </a:ln>
                          <a:solidFill>
                            <a:schemeClr val="bg1"/>
                          </a:solidFill>
                          <a:effectLst/>
                          <a:latin typeface="Arial" charset="0"/>
                        </a:rPr>
                        <a:t>Label</a:t>
                      </a:r>
                    </a:p>
                  </a:txBody>
                  <a:tcPr marL="73025" marR="73025" marT="36512" marB="36512" anchor="ctr" horzOverflow="overflow">
                    <a:lnL w="12700" cap="flat" cmpd="sng" algn="ctr">
                      <a:solidFill>
                        <a:schemeClr val="bg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0099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801688">
                <a:tc gridSpan="3">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Payload Length</a:t>
                      </a:r>
                    </a:p>
                  </a:txBody>
                  <a:tcPr marL="73025" marR="73025" marT="36512" marB="36512" anchor="ctr" horzOverflow="overflow">
                    <a:lnL w="28575"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tc hMerge="1">
                  <a:txBody>
                    <a:bodyPr/>
                    <a:lstStyle/>
                    <a:p>
                      <a:endParaRPr lang="en-US"/>
                    </a:p>
                  </a:txBody>
                  <a:tcPr/>
                </a:tc>
                <a:tc hMerge="1">
                  <a:txBody>
                    <a:bodyPr/>
                    <a:lstStyle/>
                    <a:p>
                      <a:endParaRPr lang="en-US"/>
                    </a:p>
                  </a:txBody>
                  <a:tcPr/>
                </a:tc>
                <a:tc>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Next Header</a:t>
                      </a:r>
                    </a:p>
                  </a:txBody>
                  <a:tcPr marL="73025" marR="73025" marT="36512" marB="36512"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tc>
                  <a:txBody>
                    <a:bodyPr/>
                    <a:lstStyle/>
                    <a:p>
                      <a:pPr marL="0" marR="0" lvl="0" indent="0" algn="l"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chemeClr val="accent2"/>
                          </a:solidFill>
                          <a:effectLst/>
                          <a:latin typeface="Arial" charset="0"/>
                        </a:rPr>
                        <a:t>Hop Limit</a:t>
                      </a:r>
                    </a:p>
                  </a:txBody>
                  <a:tcPr marL="73025" marR="73025" marT="36512" marB="36512" anchor="ctr" horzOverflow="overflow">
                    <a:lnL w="12700" cap="flat" cmpd="sng" algn="ctr">
                      <a:solidFill>
                        <a:schemeClr val="bg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tx1">
                        <a:lumMod val="20000"/>
                        <a:lumOff val="80000"/>
                      </a:schemeClr>
                    </a:solidFill>
                  </a:tcPr>
                </a:tc>
                <a:extLst>
                  <a:ext uri="{0D108BD9-81ED-4DB2-BD59-A6C34878D82A}">
                    <a16:rowId xmlns:a16="http://schemas.microsoft.com/office/drawing/2014/main" val="10001"/>
                  </a:ext>
                </a:extLst>
              </a:tr>
              <a:tr h="1427163">
                <a:tc gridSpan="5">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rgbClr val="000000"/>
                          </a:solidFill>
                          <a:effectLst/>
                          <a:latin typeface="Arial" charset="0"/>
                        </a:rPr>
                        <a:t>128-bit</a:t>
                      </a:r>
                    </a:p>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rgbClr val="000000"/>
                          </a:solidFill>
                          <a:effectLst/>
                          <a:latin typeface="Arial" charset="0"/>
                        </a:rPr>
                        <a:t>Source Address</a:t>
                      </a:r>
                    </a:p>
                  </a:txBody>
                  <a:tcPr marL="73025" marR="73025" marT="36512" marB="36512" anchor="ct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rgbClr val="D3A60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1457325">
                <a:tc gridSpan="5">
                  <a:txBody>
                    <a:bodyPr/>
                    <a:lstStyle/>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rgbClr val="000000"/>
                          </a:solidFill>
                          <a:effectLst/>
                          <a:latin typeface="Arial" charset="0"/>
                        </a:rPr>
                        <a:t>128-bit</a:t>
                      </a:r>
                    </a:p>
                    <a:p>
                      <a:pPr marL="0" marR="0" lvl="0" indent="0" algn="ctr" defTabSz="814388" rtl="0" eaLnBrk="0" fontAlgn="base" latinLnBrk="0" hangingPunct="0">
                        <a:lnSpc>
                          <a:spcPct val="95000"/>
                        </a:lnSpc>
                        <a:spcBef>
                          <a:spcPct val="50000"/>
                        </a:spcBef>
                        <a:spcAft>
                          <a:spcPct val="0"/>
                        </a:spcAft>
                        <a:buClr>
                          <a:schemeClr val="folHlink"/>
                        </a:buClr>
                        <a:buSzPct val="100000"/>
                        <a:buFont typeface="Arial" charset="0"/>
                        <a:buNone/>
                        <a:tabLst/>
                      </a:pPr>
                      <a:r>
                        <a:rPr kumimoji="0" lang="en-US" sz="1600" b="1" i="0" u="none" strike="noStrike" cap="none" normalizeH="0" baseline="0" dirty="0">
                          <a:ln>
                            <a:noFill/>
                          </a:ln>
                          <a:solidFill>
                            <a:srgbClr val="000000"/>
                          </a:solidFill>
                          <a:effectLst/>
                          <a:latin typeface="Arial" charset="0"/>
                        </a:rPr>
                        <a:t>Destination Address</a:t>
                      </a:r>
                    </a:p>
                  </a:txBody>
                  <a:tcPr marL="73025" marR="73025" marT="36512" marB="36512" anchor="ct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D3A60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bl>
          </a:graphicData>
        </a:graphic>
      </p:graphicFrame>
      <p:sp>
        <p:nvSpPr>
          <p:cNvPr id="34869" name="Rectangle 53"/>
          <p:cNvSpPr>
            <a:spLocks noChangeArrowheads="1"/>
          </p:cNvSpPr>
          <p:nvPr/>
        </p:nvSpPr>
        <p:spPr bwMode="gray">
          <a:xfrm>
            <a:off x="1752600" y="1447800"/>
            <a:ext cx="763588" cy="442913"/>
          </a:xfrm>
          <a:prstGeom prst="rect">
            <a:avLst/>
          </a:prstGeom>
          <a:noFill/>
          <a:ln w="9525">
            <a:noFill/>
            <a:miter lim="800000"/>
            <a:headEnd/>
            <a:tailEnd/>
          </a:ln>
          <a:effectLst/>
        </p:spPr>
        <p:txBody>
          <a:bodyPr wrap="none" lIns="73025" tIns="36512" rIns="73025" bIns="36512">
            <a:spAutoFit/>
          </a:bodyPr>
          <a:lstStyle/>
          <a:p>
            <a:pPr algn="ctr">
              <a:defRPr/>
            </a:pPr>
            <a:r>
              <a:rPr lang="en-US" sz="2400" b="0" dirty="0">
                <a:latin typeface="+mn-lt"/>
                <a:ea typeface="+mn-ea"/>
                <a:cs typeface="+mn-cs"/>
              </a:rPr>
              <a:t>IPv4</a:t>
            </a:r>
          </a:p>
        </p:txBody>
      </p:sp>
      <p:sp>
        <p:nvSpPr>
          <p:cNvPr id="34870" name="Rectangle 54"/>
          <p:cNvSpPr>
            <a:spLocks noChangeArrowheads="1"/>
          </p:cNvSpPr>
          <p:nvPr/>
        </p:nvSpPr>
        <p:spPr bwMode="gray">
          <a:xfrm>
            <a:off x="5334000" y="1371600"/>
            <a:ext cx="2514600" cy="442913"/>
          </a:xfrm>
          <a:prstGeom prst="rect">
            <a:avLst/>
          </a:prstGeom>
          <a:noFill/>
          <a:ln w="9525">
            <a:noFill/>
            <a:miter lim="800000"/>
            <a:headEnd/>
            <a:tailEnd/>
          </a:ln>
          <a:effectLst/>
        </p:spPr>
        <p:txBody>
          <a:bodyPr lIns="73025" tIns="36512" rIns="73025" bIns="36512">
            <a:spAutoFit/>
          </a:bodyPr>
          <a:lstStyle/>
          <a:p>
            <a:pPr algn="ctr">
              <a:defRPr/>
            </a:pPr>
            <a:r>
              <a:rPr lang="en-US" sz="2400" b="0" dirty="0">
                <a:latin typeface="Arial" charset="0"/>
                <a:cs typeface="Arial" charset="0"/>
              </a:rPr>
              <a:t>IPv6</a:t>
            </a:r>
            <a:endParaRPr lang="en-US" sz="2400" b="0" dirty="0">
              <a:effectLst>
                <a:outerShdw blurRad="38100" dist="38100" dir="2700000" algn="tl">
                  <a:srgbClr val="DDDDDD"/>
                </a:outerShdw>
              </a:effectLst>
              <a:latin typeface="Arial" charset="0"/>
              <a:cs typeface="Arial" charset="0"/>
            </a:endParaRPr>
          </a:p>
        </p:txBody>
      </p:sp>
      <p:sp>
        <p:nvSpPr>
          <p:cNvPr id="34871" name="AutoShape 55"/>
          <p:cNvSpPr>
            <a:spLocks noChangeArrowheads="1"/>
          </p:cNvSpPr>
          <p:nvPr/>
        </p:nvSpPr>
        <p:spPr bwMode="auto">
          <a:xfrm>
            <a:off x="381000" y="5334000"/>
            <a:ext cx="328613" cy="228600"/>
          </a:xfrm>
          <a:prstGeom prst="roundRect">
            <a:avLst>
              <a:gd name="adj" fmla="val 16667"/>
            </a:avLst>
          </a:prstGeom>
          <a:solidFill>
            <a:srgbClr val="D3A600"/>
          </a:solidFill>
          <a:ln w="6350">
            <a:solidFill>
              <a:srgbClr val="808080"/>
            </a:solidFill>
            <a:round/>
            <a:headEnd/>
            <a:tailEnd/>
          </a:ln>
          <a:effectLst>
            <a:outerShdw blurRad="63500" dist="38099" dir="2700000" algn="ctr" rotWithShape="0">
              <a:schemeClr val="bg2">
                <a:alpha val="74998"/>
              </a:schemeClr>
            </a:outerShdw>
          </a:effectLst>
        </p:spPr>
        <p:txBody>
          <a:bodyPr wrap="none" lIns="82124" tIns="41061" rIns="82124" bIns="41061" anchor="ctr"/>
          <a:lstStyle/>
          <a:p>
            <a:pPr>
              <a:defRPr/>
            </a:pPr>
            <a:endParaRPr lang="en-US">
              <a:ea typeface="+mn-ea"/>
              <a:cs typeface="+mn-cs"/>
            </a:endParaRPr>
          </a:p>
        </p:txBody>
      </p:sp>
      <p:sp>
        <p:nvSpPr>
          <p:cNvPr id="34872" name="AutoShape 56"/>
          <p:cNvSpPr>
            <a:spLocks noChangeArrowheads="1"/>
          </p:cNvSpPr>
          <p:nvPr/>
        </p:nvSpPr>
        <p:spPr bwMode="auto">
          <a:xfrm>
            <a:off x="381000" y="5664200"/>
            <a:ext cx="328613" cy="228600"/>
          </a:xfrm>
          <a:prstGeom prst="roundRect">
            <a:avLst>
              <a:gd name="adj" fmla="val 16667"/>
            </a:avLst>
          </a:prstGeom>
          <a:solidFill>
            <a:schemeClr val="tx2">
              <a:lumMod val="20000"/>
              <a:lumOff val="80000"/>
            </a:schemeClr>
          </a:solidFill>
          <a:ln w="6350">
            <a:solidFill>
              <a:srgbClr val="808080"/>
            </a:solidFill>
            <a:round/>
            <a:headEnd/>
            <a:tailEnd/>
          </a:ln>
          <a:effectLst>
            <a:outerShdw blurRad="63500" dist="38099" dir="2700000" algn="ctr" rotWithShape="0">
              <a:schemeClr val="bg2">
                <a:alpha val="74998"/>
              </a:schemeClr>
            </a:outerShdw>
          </a:effectLst>
        </p:spPr>
        <p:txBody>
          <a:bodyPr wrap="none" lIns="82124" tIns="41061" rIns="82124" bIns="41061" anchor="ctr"/>
          <a:lstStyle/>
          <a:p>
            <a:pPr>
              <a:defRPr/>
            </a:pPr>
            <a:endParaRPr lang="en-US">
              <a:ea typeface="+mn-ea"/>
              <a:cs typeface="+mn-cs"/>
            </a:endParaRPr>
          </a:p>
        </p:txBody>
      </p:sp>
      <p:sp>
        <p:nvSpPr>
          <p:cNvPr id="34873" name="AutoShape 57"/>
          <p:cNvSpPr>
            <a:spLocks noChangeArrowheads="1"/>
          </p:cNvSpPr>
          <p:nvPr/>
        </p:nvSpPr>
        <p:spPr bwMode="auto">
          <a:xfrm>
            <a:off x="381000" y="5994400"/>
            <a:ext cx="328613" cy="228600"/>
          </a:xfrm>
          <a:prstGeom prst="roundRect">
            <a:avLst>
              <a:gd name="adj" fmla="val 16667"/>
            </a:avLst>
          </a:prstGeom>
          <a:solidFill>
            <a:schemeClr val="tx1">
              <a:lumMod val="20000"/>
              <a:lumOff val="80000"/>
            </a:schemeClr>
          </a:solidFill>
          <a:ln w="6350">
            <a:solidFill>
              <a:srgbClr val="808080"/>
            </a:solidFill>
            <a:round/>
            <a:headEnd/>
            <a:tailEnd/>
          </a:ln>
          <a:effectLst>
            <a:outerShdw blurRad="63500" dist="38099" dir="2700000" algn="ctr" rotWithShape="0">
              <a:schemeClr val="bg2">
                <a:alpha val="74998"/>
              </a:schemeClr>
            </a:outerShdw>
          </a:effectLst>
        </p:spPr>
        <p:txBody>
          <a:bodyPr wrap="none" lIns="82124" tIns="41061" rIns="82124" bIns="41061" anchor="ctr"/>
          <a:lstStyle/>
          <a:p>
            <a:pPr>
              <a:defRPr/>
            </a:pPr>
            <a:endParaRPr lang="en-US">
              <a:ea typeface="+mn-ea"/>
              <a:cs typeface="+mn-cs"/>
            </a:endParaRPr>
          </a:p>
        </p:txBody>
      </p:sp>
      <p:sp>
        <p:nvSpPr>
          <p:cNvPr id="34874" name="AutoShape 58"/>
          <p:cNvSpPr>
            <a:spLocks noChangeArrowheads="1"/>
          </p:cNvSpPr>
          <p:nvPr/>
        </p:nvSpPr>
        <p:spPr bwMode="auto">
          <a:xfrm>
            <a:off x="381000" y="6324600"/>
            <a:ext cx="328613" cy="228600"/>
          </a:xfrm>
          <a:prstGeom prst="roundRect">
            <a:avLst>
              <a:gd name="adj" fmla="val 16667"/>
            </a:avLst>
          </a:prstGeom>
          <a:solidFill>
            <a:srgbClr val="009900"/>
          </a:solidFill>
          <a:ln w="6350">
            <a:solidFill>
              <a:srgbClr val="808080"/>
            </a:solidFill>
            <a:round/>
            <a:headEnd/>
            <a:tailEnd/>
          </a:ln>
          <a:effectLst>
            <a:outerShdw blurRad="63500" dist="38099" dir="2700000" algn="ctr" rotWithShape="0">
              <a:schemeClr val="bg2">
                <a:alpha val="74998"/>
              </a:schemeClr>
            </a:outerShdw>
          </a:effectLst>
        </p:spPr>
        <p:txBody>
          <a:bodyPr wrap="none" lIns="82124" tIns="41061" rIns="82124" bIns="41061" anchor="ctr"/>
          <a:lstStyle/>
          <a:p>
            <a:pPr>
              <a:defRPr/>
            </a:pPr>
            <a:endParaRPr lang="en-US">
              <a:ea typeface="+mn-ea"/>
              <a:cs typeface="+mn-cs"/>
            </a:endParaRPr>
          </a:p>
        </p:txBody>
      </p:sp>
      <p:sp>
        <p:nvSpPr>
          <p:cNvPr id="92218" name="Text Box 59"/>
          <p:cNvSpPr txBox="1">
            <a:spLocks noChangeArrowheads="1"/>
          </p:cNvSpPr>
          <p:nvPr/>
        </p:nvSpPr>
        <p:spPr bwMode="auto">
          <a:xfrm>
            <a:off x="785814" y="5326063"/>
            <a:ext cx="3100386" cy="12271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38100">
                <a:solidFill>
                  <a:srgbClr val="000000"/>
                </a:solidFill>
                <a:miter lim="800000"/>
                <a:headEnd/>
                <a:tailEnd/>
              </a14:hiddenLine>
            </a:ext>
          </a:extLst>
        </p:spPr>
        <p:txBody>
          <a:bodyPr wrap="square" lIns="82124" tIns="41061" rIns="82124" bIns="41061" anchorCtr="1">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eaLnBrk="1" hangingPunct="1">
              <a:lnSpc>
                <a:spcPct val="95000"/>
              </a:lnSpc>
              <a:spcBef>
                <a:spcPct val="50000"/>
              </a:spcBef>
              <a:buClr>
                <a:srgbClr val="35C5FF"/>
              </a:buClr>
              <a:buSzPct val="100000"/>
              <a:buFont typeface="Arial" charset="0"/>
              <a:buNone/>
            </a:pPr>
            <a:r>
              <a:rPr lang="en-US" sz="1400" dirty="0">
                <a:latin typeface="Arial" charset="0"/>
              </a:rPr>
              <a:t>Field </a:t>
            </a:r>
            <a:r>
              <a:rPr lang="en-GB" sz="1400" dirty="0">
                <a:latin typeface="Arial" charset="0"/>
              </a:rPr>
              <a:t>name </a:t>
            </a:r>
            <a:r>
              <a:rPr lang="en-US" sz="1400" dirty="0">
                <a:latin typeface="Arial" charset="0"/>
              </a:rPr>
              <a:t>kept from IPv4 to IPv6</a:t>
            </a:r>
          </a:p>
          <a:p>
            <a:pPr algn="l" eaLnBrk="1" hangingPunct="1">
              <a:lnSpc>
                <a:spcPct val="95000"/>
              </a:lnSpc>
              <a:spcBef>
                <a:spcPct val="50000"/>
              </a:spcBef>
              <a:buClr>
                <a:srgbClr val="35C5FF"/>
              </a:buClr>
              <a:buSzPct val="100000"/>
              <a:buFont typeface="Arial" charset="0"/>
              <a:buNone/>
            </a:pPr>
            <a:r>
              <a:rPr lang="en-US" sz="1400" dirty="0">
                <a:latin typeface="Arial" charset="0"/>
              </a:rPr>
              <a:t>Fields not kept in IPv6</a:t>
            </a:r>
          </a:p>
          <a:p>
            <a:pPr algn="l" eaLnBrk="1" hangingPunct="1">
              <a:lnSpc>
                <a:spcPct val="95000"/>
              </a:lnSpc>
              <a:spcBef>
                <a:spcPct val="50000"/>
              </a:spcBef>
              <a:buClr>
                <a:srgbClr val="35C5FF"/>
              </a:buClr>
              <a:buSzPct val="100000"/>
              <a:buFont typeface="Arial" charset="0"/>
              <a:buNone/>
            </a:pPr>
            <a:r>
              <a:rPr lang="en-GB" sz="1400" dirty="0">
                <a:latin typeface="Arial" charset="0"/>
              </a:rPr>
              <a:t>Name &amp; position changed in IPv6</a:t>
            </a:r>
          </a:p>
          <a:p>
            <a:pPr algn="l" eaLnBrk="1" hangingPunct="1">
              <a:lnSpc>
                <a:spcPct val="95000"/>
              </a:lnSpc>
              <a:spcBef>
                <a:spcPct val="50000"/>
              </a:spcBef>
              <a:buClr>
                <a:srgbClr val="35C5FF"/>
              </a:buClr>
              <a:buSzPct val="100000"/>
              <a:buFont typeface="Arial" charset="0"/>
              <a:buNone/>
            </a:pPr>
            <a:r>
              <a:rPr lang="en-GB" sz="1400" dirty="0">
                <a:latin typeface="Arial" charset="0"/>
              </a:rPr>
              <a:t>New field in IPv6</a:t>
            </a:r>
            <a:endParaRPr lang="en-US" sz="1400" dirty="0">
              <a:latin typeface="Arial" charset="0"/>
            </a:endParaRPr>
          </a:p>
        </p:txBody>
      </p:sp>
      <p:sp>
        <p:nvSpPr>
          <p:cNvPr id="3" name="Footer Placeholder 2">
            <a:extLst>
              <a:ext uri="{FF2B5EF4-FFF2-40B4-BE49-F238E27FC236}">
                <a16:creationId xmlns:a16="http://schemas.microsoft.com/office/drawing/2014/main" id="{80868920-E566-8BA6-0392-02CDA5AAE86F}"/>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4" name="Slide Number Placeholder 3">
            <a:extLst>
              <a:ext uri="{FF2B5EF4-FFF2-40B4-BE49-F238E27FC236}">
                <a16:creationId xmlns:a16="http://schemas.microsoft.com/office/drawing/2014/main" id="{29CC2D72-6611-8C34-015A-40BD5C54B6D3}"/>
              </a:ext>
            </a:extLst>
          </p:cNvPr>
          <p:cNvSpPr>
            <a:spLocks noGrp="1"/>
          </p:cNvSpPr>
          <p:nvPr>
            <p:ph type="sldNum" sz="quarter" idx="12"/>
          </p:nvPr>
        </p:nvSpPr>
        <p:spPr/>
        <p:txBody>
          <a:bodyPr/>
          <a:lstStyle/>
          <a:p>
            <a:fld id="{9507A418-0CEB-9E4A-BA45-3B7D3D133EB9}" type="slidenum">
              <a:rPr lang="en-US" smtClean="0"/>
              <a:pPr/>
              <a:t>8</a:t>
            </a:fld>
            <a:endParaRPr lang="en-US"/>
          </a:p>
        </p:txBody>
      </p:sp>
      <p:sp>
        <p:nvSpPr>
          <p:cNvPr id="2" name="Date Placeholder 1">
            <a:extLst>
              <a:ext uri="{FF2B5EF4-FFF2-40B4-BE49-F238E27FC236}">
                <a16:creationId xmlns:a16="http://schemas.microsoft.com/office/drawing/2014/main" id="{2230A7AE-DD5F-4B66-A0F6-DE5F53D1B228}"/>
              </a:ext>
            </a:extLst>
          </p:cNvPr>
          <p:cNvSpPr>
            <a:spLocks noGrp="1"/>
          </p:cNvSpPr>
          <p:nvPr>
            <p:ph type="dt" sz="half" idx="10"/>
          </p:nvPr>
        </p:nvSpPr>
        <p:spPr/>
        <p:txBody>
          <a:bodyPr/>
          <a:lstStyle/>
          <a:p>
            <a:r>
              <a:rPr lang="en-US"/>
              <a:t>April 16, 2025</a:t>
            </a:r>
            <a:endParaRPr lang="en-US" sz="1050" b="0">
              <a:latin typeface="Times New Roman" charset="0"/>
            </a:endParaRPr>
          </a:p>
        </p:txBody>
      </p:sp>
    </p:spTree>
    <p:extLst>
      <p:ext uri="{BB962C8B-B14F-4D97-AF65-F5344CB8AC3E}">
        <p14:creationId xmlns:p14="http://schemas.microsoft.com/office/powerpoint/2010/main" val="8395920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What’s inside a router?</a:t>
            </a:r>
            <a:endParaRPr lang="en-US" dirty="0"/>
          </a:p>
        </p:txBody>
      </p:sp>
      <p:sp>
        <p:nvSpPr>
          <p:cNvPr id="4" name="Rectangle 7"/>
          <p:cNvSpPr>
            <a:spLocks noChangeArrowheads="1"/>
          </p:cNvSpPr>
          <p:nvPr/>
        </p:nvSpPr>
        <p:spPr bwMode="auto">
          <a:xfrm>
            <a:off x="1382460" y="1600200"/>
            <a:ext cx="6799338" cy="5105400"/>
          </a:xfrm>
          <a:prstGeom prst="rect">
            <a:avLst/>
          </a:prstGeom>
          <a:solidFill>
            <a:srgbClr val="E6E6E6"/>
          </a:solidFill>
          <a:ln w="25400">
            <a:solidFill>
              <a:schemeClr val="tx1"/>
            </a:solidFill>
            <a:miter lim="800000"/>
            <a:headEnd/>
            <a:tailEnd/>
          </a:ln>
          <a:effectLst/>
        </p:spPr>
        <p:txBody>
          <a:bodyPr wrap="none" lIns="90332" tIns="44374" rIns="90332" bIns="44374" anchor="ctr"/>
          <a:lstStyle/>
          <a:p>
            <a:pPr algn="ctr" defTabSz="912813"/>
            <a:endParaRPr lang="en-US"/>
          </a:p>
        </p:txBody>
      </p:sp>
      <p:sp>
        <p:nvSpPr>
          <p:cNvPr id="5" name="Rectangle 8"/>
          <p:cNvSpPr>
            <a:spLocks noChangeArrowheads="1"/>
          </p:cNvSpPr>
          <p:nvPr/>
        </p:nvSpPr>
        <p:spPr bwMode="auto">
          <a:xfrm>
            <a:off x="1735065" y="3307018"/>
            <a:ext cx="1288721" cy="493691"/>
          </a:xfrm>
          <a:prstGeom prst="rect">
            <a:avLst/>
          </a:prstGeom>
          <a:solidFill>
            <a:schemeClr val="bg1"/>
          </a:solidFill>
          <a:ln w="25400">
            <a:solidFill>
              <a:schemeClr val="tx1"/>
            </a:solidFill>
            <a:miter lim="800000"/>
            <a:headEnd/>
            <a:tailEnd/>
          </a:ln>
          <a:effectLst/>
        </p:spPr>
        <p:txBody>
          <a:bodyPr wrap="none" lIns="90488" tIns="44450" rIns="90488" bIns="44450" anchor="ctr"/>
          <a:lstStyle/>
          <a:p>
            <a:pPr algn="ctr"/>
            <a:r>
              <a:rPr lang="en-US" dirty="0"/>
              <a:t>1</a:t>
            </a:r>
          </a:p>
        </p:txBody>
      </p:sp>
      <p:sp>
        <p:nvSpPr>
          <p:cNvPr id="6" name="Rectangle 9"/>
          <p:cNvSpPr>
            <a:spLocks noChangeArrowheads="1"/>
          </p:cNvSpPr>
          <p:nvPr/>
        </p:nvSpPr>
        <p:spPr bwMode="auto">
          <a:xfrm>
            <a:off x="1735065" y="4095906"/>
            <a:ext cx="1288721" cy="491147"/>
          </a:xfrm>
          <a:prstGeom prst="rect">
            <a:avLst/>
          </a:prstGeom>
          <a:solidFill>
            <a:schemeClr val="bg1"/>
          </a:solidFill>
          <a:ln w="25400">
            <a:solidFill>
              <a:schemeClr val="tx1"/>
            </a:solidFill>
            <a:miter lim="800000"/>
            <a:headEnd/>
            <a:tailEnd/>
          </a:ln>
          <a:effectLst/>
        </p:spPr>
        <p:txBody>
          <a:bodyPr wrap="none" lIns="90488" tIns="44450" rIns="90488" bIns="44450" anchor="ctr"/>
          <a:lstStyle/>
          <a:p>
            <a:pPr algn="ctr"/>
            <a:r>
              <a:rPr lang="en-US" dirty="0"/>
              <a:t>2</a:t>
            </a:r>
          </a:p>
        </p:txBody>
      </p:sp>
      <p:sp>
        <p:nvSpPr>
          <p:cNvPr id="7" name="Rectangle 10"/>
          <p:cNvSpPr>
            <a:spLocks noChangeArrowheads="1"/>
          </p:cNvSpPr>
          <p:nvPr/>
        </p:nvSpPr>
        <p:spPr bwMode="auto">
          <a:xfrm>
            <a:off x="1735065" y="5968879"/>
            <a:ext cx="1288721" cy="491147"/>
          </a:xfrm>
          <a:prstGeom prst="rect">
            <a:avLst/>
          </a:prstGeom>
          <a:solidFill>
            <a:schemeClr val="bg1"/>
          </a:solidFill>
          <a:ln w="25400">
            <a:solidFill>
              <a:schemeClr val="tx1"/>
            </a:solidFill>
            <a:miter lim="800000"/>
            <a:headEnd/>
            <a:tailEnd/>
          </a:ln>
          <a:effectLst/>
        </p:spPr>
        <p:txBody>
          <a:bodyPr wrap="none" lIns="90488" tIns="44450" rIns="90488" bIns="44450" anchor="ctr"/>
          <a:lstStyle/>
          <a:p>
            <a:pPr algn="ctr"/>
            <a:r>
              <a:rPr lang="en-US" dirty="0"/>
              <a:t>N</a:t>
            </a:r>
          </a:p>
        </p:txBody>
      </p:sp>
      <p:sp>
        <p:nvSpPr>
          <p:cNvPr id="8" name="Rectangle 11"/>
          <p:cNvSpPr>
            <a:spLocks noChangeArrowheads="1"/>
          </p:cNvSpPr>
          <p:nvPr/>
        </p:nvSpPr>
        <p:spPr bwMode="auto">
          <a:xfrm>
            <a:off x="6421896" y="3307018"/>
            <a:ext cx="1288721" cy="493691"/>
          </a:xfrm>
          <a:prstGeom prst="rect">
            <a:avLst/>
          </a:prstGeom>
          <a:solidFill>
            <a:schemeClr val="bg1"/>
          </a:solidFill>
          <a:ln w="25400">
            <a:solidFill>
              <a:schemeClr val="tx1"/>
            </a:solidFill>
            <a:miter lim="800000"/>
            <a:headEnd/>
            <a:tailEnd/>
          </a:ln>
          <a:effectLst/>
        </p:spPr>
        <p:txBody>
          <a:bodyPr wrap="none" lIns="90488" tIns="44450" rIns="90488" bIns="44450" anchor="ctr"/>
          <a:lstStyle/>
          <a:p>
            <a:pPr algn="ctr"/>
            <a:r>
              <a:rPr lang="en-US" dirty="0"/>
              <a:t>1</a:t>
            </a:r>
          </a:p>
        </p:txBody>
      </p:sp>
      <p:sp>
        <p:nvSpPr>
          <p:cNvPr id="9" name="Rectangle 12"/>
          <p:cNvSpPr>
            <a:spLocks noChangeArrowheads="1"/>
          </p:cNvSpPr>
          <p:nvPr/>
        </p:nvSpPr>
        <p:spPr bwMode="auto">
          <a:xfrm>
            <a:off x="6421896" y="4095906"/>
            <a:ext cx="1288721" cy="491146"/>
          </a:xfrm>
          <a:prstGeom prst="rect">
            <a:avLst/>
          </a:prstGeom>
          <a:solidFill>
            <a:schemeClr val="bg1"/>
          </a:solidFill>
          <a:ln w="25400">
            <a:solidFill>
              <a:schemeClr val="tx1"/>
            </a:solidFill>
            <a:miter lim="800000"/>
            <a:headEnd/>
            <a:tailEnd/>
          </a:ln>
          <a:effectLst/>
        </p:spPr>
        <p:txBody>
          <a:bodyPr wrap="none" lIns="90488" tIns="44450" rIns="90488" bIns="44450" anchor="ctr"/>
          <a:lstStyle/>
          <a:p>
            <a:pPr algn="ctr"/>
            <a:r>
              <a:rPr lang="en-US" dirty="0"/>
              <a:t>2</a:t>
            </a:r>
          </a:p>
        </p:txBody>
      </p:sp>
      <p:sp>
        <p:nvSpPr>
          <p:cNvPr id="10" name="Rectangle 13"/>
          <p:cNvSpPr>
            <a:spLocks noChangeArrowheads="1"/>
          </p:cNvSpPr>
          <p:nvPr/>
        </p:nvSpPr>
        <p:spPr bwMode="auto">
          <a:xfrm>
            <a:off x="6421896" y="5967607"/>
            <a:ext cx="1288721" cy="493691"/>
          </a:xfrm>
          <a:prstGeom prst="rect">
            <a:avLst/>
          </a:prstGeom>
          <a:solidFill>
            <a:schemeClr val="bg1"/>
          </a:solidFill>
          <a:ln w="25400">
            <a:solidFill>
              <a:schemeClr val="tx1"/>
            </a:solidFill>
            <a:miter lim="800000"/>
            <a:headEnd/>
            <a:tailEnd/>
          </a:ln>
          <a:effectLst/>
        </p:spPr>
        <p:txBody>
          <a:bodyPr wrap="none" lIns="90488" tIns="44450" rIns="90488" bIns="44450" anchor="ctr"/>
          <a:lstStyle/>
          <a:p>
            <a:pPr algn="ctr"/>
            <a:r>
              <a:rPr lang="en-US" dirty="0"/>
              <a:t>N</a:t>
            </a:r>
          </a:p>
        </p:txBody>
      </p:sp>
      <p:sp>
        <p:nvSpPr>
          <p:cNvPr id="11" name="Rectangle 14"/>
          <p:cNvSpPr>
            <a:spLocks noChangeArrowheads="1"/>
          </p:cNvSpPr>
          <p:nvPr/>
        </p:nvSpPr>
        <p:spPr bwMode="auto">
          <a:xfrm>
            <a:off x="3591698" y="3453344"/>
            <a:ext cx="2131229" cy="2761108"/>
          </a:xfrm>
          <a:prstGeom prst="rect">
            <a:avLst/>
          </a:prstGeom>
          <a:solidFill>
            <a:srgbClr val="D3A600"/>
          </a:solidFill>
          <a:ln w="25400">
            <a:solidFill>
              <a:schemeClr val="tx1"/>
            </a:solidFill>
            <a:miter lim="800000"/>
            <a:headEnd/>
            <a:tailEnd/>
          </a:ln>
          <a:effectLst/>
        </p:spPr>
        <p:txBody>
          <a:bodyPr wrap="none" lIns="90478" tIns="44445" rIns="90478" bIns="44445" anchor="ctr"/>
          <a:lstStyle/>
          <a:p>
            <a:pPr algn="ctr"/>
            <a:endParaRPr lang="en-US">
              <a:latin typeface="Palatino Linotype" charset="0"/>
            </a:endParaRPr>
          </a:p>
        </p:txBody>
      </p:sp>
      <p:sp>
        <p:nvSpPr>
          <p:cNvPr id="12" name="Line 15"/>
          <p:cNvSpPr>
            <a:spLocks noChangeShapeType="1"/>
          </p:cNvSpPr>
          <p:nvPr/>
        </p:nvSpPr>
        <p:spPr bwMode="auto">
          <a:xfrm>
            <a:off x="914401" y="3552591"/>
            <a:ext cx="820664" cy="0"/>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a:p>
        </p:txBody>
      </p:sp>
      <p:sp>
        <p:nvSpPr>
          <p:cNvPr id="13" name="Line 16"/>
          <p:cNvSpPr>
            <a:spLocks noChangeShapeType="1"/>
          </p:cNvSpPr>
          <p:nvPr/>
        </p:nvSpPr>
        <p:spPr bwMode="auto">
          <a:xfrm>
            <a:off x="914401" y="4244777"/>
            <a:ext cx="820664" cy="0"/>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a:p>
        </p:txBody>
      </p:sp>
      <p:sp>
        <p:nvSpPr>
          <p:cNvPr id="14" name="Line 17"/>
          <p:cNvSpPr>
            <a:spLocks noChangeShapeType="1"/>
          </p:cNvSpPr>
          <p:nvPr/>
        </p:nvSpPr>
        <p:spPr bwMode="auto">
          <a:xfrm>
            <a:off x="914401" y="6214453"/>
            <a:ext cx="820664" cy="0"/>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a:p>
        </p:txBody>
      </p:sp>
      <p:sp>
        <p:nvSpPr>
          <p:cNvPr id="15" name="Line 18"/>
          <p:cNvSpPr>
            <a:spLocks noChangeShapeType="1"/>
          </p:cNvSpPr>
          <p:nvPr/>
        </p:nvSpPr>
        <p:spPr bwMode="auto">
          <a:xfrm>
            <a:off x="7710617" y="6313701"/>
            <a:ext cx="823784" cy="0"/>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a:p>
        </p:txBody>
      </p:sp>
      <p:sp>
        <p:nvSpPr>
          <p:cNvPr id="16" name="Line 19"/>
          <p:cNvSpPr>
            <a:spLocks noChangeShapeType="1"/>
          </p:cNvSpPr>
          <p:nvPr/>
        </p:nvSpPr>
        <p:spPr bwMode="auto">
          <a:xfrm>
            <a:off x="7710617" y="4341479"/>
            <a:ext cx="823784" cy="0"/>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a:p>
        </p:txBody>
      </p:sp>
      <p:sp>
        <p:nvSpPr>
          <p:cNvPr id="17" name="Line 20"/>
          <p:cNvSpPr>
            <a:spLocks noChangeShapeType="1"/>
          </p:cNvSpPr>
          <p:nvPr/>
        </p:nvSpPr>
        <p:spPr bwMode="auto">
          <a:xfrm>
            <a:off x="7710617" y="3552591"/>
            <a:ext cx="823784" cy="0"/>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a:p>
        </p:txBody>
      </p:sp>
      <p:sp>
        <p:nvSpPr>
          <p:cNvPr id="19" name="Text Box 22"/>
          <p:cNvSpPr txBox="1">
            <a:spLocks noChangeArrowheads="1"/>
          </p:cNvSpPr>
          <p:nvPr/>
        </p:nvSpPr>
        <p:spPr bwMode="auto">
          <a:xfrm>
            <a:off x="1206407" y="2864564"/>
            <a:ext cx="2298793" cy="335836"/>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600" b="1" dirty="0">
                <a:latin typeface="Arial" charset="0"/>
              </a:rPr>
              <a:t>Linecard</a:t>
            </a:r>
            <a:r>
              <a:rPr lang="en-US" sz="1600" dirty="0">
                <a:latin typeface="Arial" charset="0"/>
              </a:rPr>
              <a:t>s (input)</a:t>
            </a:r>
            <a:endParaRPr lang="en-US" sz="1600" b="1" dirty="0">
              <a:latin typeface="Arial" charset="0"/>
            </a:endParaRPr>
          </a:p>
        </p:txBody>
      </p:sp>
      <p:sp>
        <p:nvSpPr>
          <p:cNvPr id="20" name="Oval 23"/>
          <p:cNvSpPr>
            <a:spLocks noChangeArrowheads="1"/>
          </p:cNvSpPr>
          <p:nvPr/>
        </p:nvSpPr>
        <p:spPr bwMode="auto">
          <a:xfrm>
            <a:off x="2234328" y="4723199"/>
            <a:ext cx="118575" cy="96702"/>
          </a:xfrm>
          <a:prstGeom prst="ellipse">
            <a:avLst/>
          </a:prstGeom>
          <a:solidFill>
            <a:schemeClr val="tx1"/>
          </a:solidFill>
          <a:ln w="2540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a:p>
        </p:txBody>
      </p:sp>
      <p:sp>
        <p:nvSpPr>
          <p:cNvPr id="21" name="Oval 24"/>
          <p:cNvSpPr>
            <a:spLocks noChangeArrowheads="1"/>
          </p:cNvSpPr>
          <p:nvPr/>
        </p:nvSpPr>
        <p:spPr bwMode="auto">
          <a:xfrm>
            <a:off x="2235887" y="5130367"/>
            <a:ext cx="115456" cy="99248"/>
          </a:xfrm>
          <a:prstGeom prst="ellipse">
            <a:avLst/>
          </a:prstGeom>
          <a:solidFill>
            <a:schemeClr val="tx1"/>
          </a:solidFill>
          <a:ln w="2540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a:p>
        </p:txBody>
      </p:sp>
      <p:sp>
        <p:nvSpPr>
          <p:cNvPr id="22" name="Oval 25"/>
          <p:cNvSpPr>
            <a:spLocks noChangeArrowheads="1"/>
          </p:cNvSpPr>
          <p:nvPr/>
        </p:nvSpPr>
        <p:spPr bwMode="auto">
          <a:xfrm>
            <a:off x="2235887" y="5522267"/>
            <a:ext cx="115456" cy="99248"/>
          </a:xfrm>
          <a:prstGeom prst="ellipse">
            <a:avLst/>
          </a:prstGeom>
          <a:solidFill>
            <a:schemeClr val="tx1"/>
          </a:solidFill>
          <a:ln w="2540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a:p>
        </p:txBody>
      </p:sp>
      <p:sp>
        <p:nvSpPr>
          <p:cNvPr id="23" name="Oval 26"/>
          <p:cNvSpPr>
            <a:spLocks noChangeArrowheads="1"/>
          </p:cNvSpPr>
          <p:nvPr/>
        </p:nvSpPr>
        <p:spPr bwMode="auto">
          <a:xfrm>
            <a:off x="7008530" y="4858074"/>
            <a:ext cx="118575" cy="99246"/>
          </a:xfrm>
          <a:prstGeom prst="ellipse">
            <a:avLst/>
          </a:prstGeom>
          <a:solidFill>
            <a:schemeClr val="tx1"/>
          </a:solidFill>
          <a:ln w="2540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a:p>
        </p:txBody>
      </p:sp>
      <p:sp>
        <p:nvSpPr>
          <p:cNvPr id="24" name="Oval 27"/>
          <p:cNvSpPr>
            <a:spLocks noChangeArrowheads="1"/>
          </p:cNvSpPr>
          <p:nvPr/>
        </p:nvSpPr>
        <p:spPr bwMode="auto">
          <a:xfrm>
            <a:off x="7008530" y="5252518"/>
            <a:ext cx="118575" cy="99248"/>
          </a:xfrm>
          <a:prstGeom prst="ellipse">
            <a:avLst/>
          </a:prstGeom>
          <a:solidFill>
            <a:schemeClr val="tx1"/>
          </a:solidFill>
          <a:ln w="2540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a:p>
        </p:txBody>
      </p:sp>
      <p:sp>
        <p:nvSpPr>
          <p:cNvPr id="25" name="Oval 28"/>
          <p:cNvSpPr>
            <a:spLocks noChangeArrowheads="1"/>
          </p:cNvSpPr>
          <p:nvPr/>
        </p:nvSpPr>
        <p:spPr bwMode="auto">
          <a:xfrm>
            <a:off x="7008530" y="5644417"/>
            <a:ext cx="118575" cy="99248"/>
          </a:xfrm>
          <a:prstGeom prst="ellipse">
            <a:avLst/>
          </a:prstGeom>
          <a:solidFill>
            <a:schemeClr val="tx1"/>
          </a:solidFill>
          <a:ln w="25400">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a:p>
        </p:txBody>
      </p:sp>
      <p:cxnSp>
        <p:nvCxnSpPr>
          <p:cNvPr id="26" name="AutoShape 29"/>
          <p:cNvCxnSpPr>
            <a:cxnSpLocks noChangeShapeType="1"/>
            <a:stCxn id="5" idx="3"/>
          </p:cNvCxnSpPr>
          <p:nvPr/>
        </p:nvCxnSpPr>
        <p:spPr bwMode="auto">
          <a:xfrm>
            <a:off x="3023786" y="3553864"/>
            <a:ext cx="557614" cy="408536"/>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27" name="AutoShape 30"/>
          <p:cNvCxnSpPr>
            <a:cxnSpLocks noChangeShapeType="1"/>
            <a:stCxn id="6" idx="3"/>
          </p:cNvCxnSpPr>
          <p:nvPr/>
        </p:nvCxnSpPr>
        <p:spPr bwMode="auto">
          <a:xfrm>
            <a:off x="3023786" y="4341480"/>
            <a:ext cx="557614" cy="295196"/>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28" name="AutoShape 31"/>
          <p:cNvCxnSpPr>
            <a:cxnSpLocks noChangeShapeType="1"/>
            <a:stCxn id="7" idx="3"/>
          </p:cNvCxnSpPr>
          <p:nvPr/>
        </p:nvCxnSpPr>
        <p:spPr bwMode="auto">
          <a:xfrm flipV="1">
            <a:off x="3023786" y="5522268"/>
            <a:ext cx="557614" cy="692185"/>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29" name="AutoShape 32"/>
          <p:cNvCxnSpPr>
            <a:cxnSpLocks noChangeShapeType="1"/>
            <a:endCxn id="8" idx="1"/>
          </p:cNvCxnSpPr>
          <p:nvPr/>
        </p:nvCxnSpPr>
        <p:spPr bwMode="auto">
          <a:xfrm flipV="1">
            <a:off x="5722927" y="3553864"/>
            <a:ext cx="698969" cy="404694"/>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30" name="AutoShape 33"/>
          <p:cNvCxnSpPr>
            <a:cxnSpLocks noChangeShapeType="1"/>
            <a:endCxn id="9" idx="1"/>
          </p:cNvCxnSpPr>
          <p:nvPr/>
        </p:nvCxnSpPr>
        <p:spPr bwMode="auto">
          <a:xfrm flipV="1">
            <a:off x="5718964" y="4341479"/>
            <a:ext cx="702932" cy="234364"/>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31" name="AutoShape 34"/>
          <p:cNvCxnSpPr>
            <a:cxnSpLocks noChangeShapeType="1"/>
            <a:endCxn id="10" idx="1"/>
          </p:cNvCxnSpPr>
          <p:nvPr/>
        </p:nvCxnSpPr>
        <p:spPr bwMode="auto">
          <a:xfrm>
            <a:off x="5728479" y="5404030"/>
            <a:ext cx="693417" cy="810423"/>
          </a:xfrm>
          <a:prstGeom prst="straightConnector1">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2" name="Text Box 35"/>
          <p:cNvSpPr txBox="1">
            <a:spLocks noChangeArrowheads="1"/>
          </p:cNvSpPr>
          <p:nvPr/>
        </p:nvSpPr>
        <p:spPr bwMode="auto">
          <a:xfrm>
            <a:off x="3828775" y="4387144"/>
            <a:ext cx="1567943" cy="920755"/>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381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78" tIns="44445" rIns="90478" bIns="44445">
            <a:spAutoFit/>
          </a:bodyPr>
          <a:lstStyle/>
          <a:p>
            <a:pPr algn="ctr"/>
            <a:r>
              <a:rPr lang="en-US" sz="1800" dirty="0">
                <a:latin typeface="+mn-lt"/>
              </a:rPr>
              <a:t>Interconnect</a:t>
            </a:r>
            <a:br>
              <a:rPr lang="en-US" sz="1800" dirty="0">
                <a:latin typeface="+mn-lt"/>
              </a:rPr>
            </a:br>
            <a:r>
              <a:rPr lang="en-US" sz="1800" dirty="0">
                <a:latin typeface="+mn-lt"/>
              </a:rPr>
              <a:t>(Switching)</a:t>
            </a:r>
          </a:p>
          <a:p>
            <a:pPr algn="ctr"/>
            <a:r>
              <a:rPr lang="en-US" sz="1800" dirty="0">
                <a:latin typeface="+mn-lt"/>
              </a:rPr>
              <a:t>Fabric</a:t>
            </a:r>
          </a:p>
        </p:txBody>
      </p:sp>
      <p:sp>
        <p:nvSpPr>
          <p:cNvPr id="40" name="Rectangle 11"/>
          <p:cNvSpPr>
            <a:spLocks noChangeArrowheads="1"/>
          </p:cNvSpPr>
          <p:nvPr/>
        </p:nvSpPr>
        <p:spPr bwMode="auto">
          <a:xfrm>
            <a:off x="3810000" y="1905000"/>
            <a:ext cx="1752600" cy="609600"/>
          </a:xfrm>
          <a:prstGeom prst="rect">
            <a:avLst/>
          </a:prstGeom>
          <a:solidFill>
            <a:schemeClr val="accent1">
              <a:lumMod val="60000"/>
              <a:lumOff val="40000"/>
            </a:schemeClr>
          </a:solidFill>
          <a:ln w="25400">
            <a:solidFill>
              <a:schemeClr val="tx1"/>
            </a:solidFill>
            <a:miter lim="800000"/>
            <a:headEnd/>
            <a:tailEnd/>
          </a:ln>
          <a:effectLst/>
        </p:spPr>
        <p:txBody>
          <a:bodyPr wrap="none" lIns="90488" tIns="44450" rIns="90488" bIns="44450" anchor="ctr"/>
          <a:lstStyle/>
          <a:p>
            <a:pPr algn="ctr"/>
            <a:r>
              <a:rPr lang="en-US" sz="1800" dirty="0">
                <a:latin typeface="+mn-lt"/>
              </a:rPr>
              <a:t>Route/Control </a:t>
            </a:r>
            <a:br>
              <a:rPr lang="en-US" sz="1800" dirty="0">
                <a:latin typeface="+mn-lt"/>
              </a:rPr>
            </a:br>
            <a:r>
              <a:rPr lang="en-US" sz="1800" dirty="0">
                <a:latin typeface="+mn-lt"/>
              </a:rPr>
              <a:t>Processor</a:t>
            </a:r>
          </a:p>
        </p:txBody>
      </p:sp>
      <p:sp>
        <p:nvSpPr>
          <p:cNvPr id="47" name="Text Box 22"/>
          <p:cNvSpPr txBox="1">
            <a:spLocks noChangeArrowheads="1"/>
          </p:cNvSpPr>
          <p:nvPr/>
        </p:nvSpPr>
        <p:spPr bwMode="auto">
          <a:xfrm>
            <a:off x="5930807" y="2864564"/>
            <a:ext cx="2298793" cy="335836"/>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600" b="1" dirty="0">
                <a:latin typeface="Arial" charset="0"/>
              </a:rPr>
              <a:t>Linecard</a:t>
            </a:r>
            <a:r>
              <a:rPr lang="en-US" sz="1600" dirty="0">
                <a:latin typeface="Arial" charset="0"/>
              </a:rPr>
              <a:t>s (output)</a:t>
            </a:r>
            <a:endParaRPr lang="en-US" sz="1600" b="1" dirty="0">
              <a:latin typeface="Arial" charset="0"/>
            </a:endParaRPr>
          </a:p>
        </p:txBody>
      </p:sp>
      <p:cxnSp>
        <p:nvCxnSpPr>
          <p:cNvPr id="48" name="Straight Connector 47"/>
          <p:cNvCxnSpPr/>
          <p:nvPr/>
        </p:nvCxnSpPr>
        <p:spPr bwMode="auto">
          <a:xfrm>
            <a:off x="304800" y="2667000"/>
            <a:ext cx="8686800" cy="0"/>
          </a:xfrm>
          <a:prstGeom prst="line">
            <a:avLst/>
          </a:prstGeom>
          <a:solidFill>
            <a:schemeClr val="accent1"/>
          </a:solidFill>
          <a:ln w="76200" cap="flat" cmpd="sng" algn="ctr">
            <a:solidFill>
              <a:srgbClr val="D3A600"/>
            </a:solidFill>
            <a:prstDash val="sysDot"/>
            <a:round/>
            <a:headEnd type="none" w="med" len="med"/>
            <a:tailEnd type="none" w="med" len="med"/>
          </a:ln>
          <a:effectLst/>
        </p:spPr>
      </p:cxnSp>
      <p:sp>
        <p:nvSpPr>
          <p:cNvPr id="52" name="TextBox 51"/>
          <p:cNvSpPr txBox="1"/>
          <p:nvPr/>
        </p:nvSpPr>
        <p:spPr>
          <a:xfrm>
            <a:off x="298403" y="1917412"/>
            <a:ext cx="914400" cy="584775"/>
          </a:xfrm>
          <a:prstGeom prst="rect">
            <a:avLst/>
          </a:prstGeom>
          <a:noFill/>
        </p:spPr>
        <p:txBody>
          <a:bodyPr wrap="square" rtlCol="0">
            <a:spAutoFit/>
          </a:bodyPr>
          <a:lstStyle/>
          <a:p>
            <a:pPr algn="ctr"/>
            <a:r>
              <a:rPr lang="en-US" dirty="0">
                <a:solidFill>
                  <a:srgbClr val="D3A600"/>
                </a:solidFill>
              </a:rPr>
              <a:t>Control Plane</a:t>
            </a:r>
          </a:p>
        </p:txBody>
      </p:sp>
      <p:sp>
        <p:nvSpPr>
          <p:cNvPr id="56" name="TextBox 55"/>
          <p:cNvSpPr txBox="1"/>
          <p:nvPr/>
        </p:nvSpPr>
        <p:spPr>
          <a:xfrm>
            <a:off x="298403" y="2768025"/>
            <a:ext cx="914400" cy="584775"/>
          </a:xfrm>
          <a:prstGeom prst="rect">
            <a:avLst/>
          </a:prstGeom>
          <a:noFill/>
        </p:spPr>
        <p:txBody>
          <a:bodyPr wrap="square" rtlCol="0">
            <a:spAutoFit/>
          </a:bodyPr>
          <a:lstStyle/>
          <a:p>
            <a:pPr algn="ctr"/>
            <a:r>
              <a:rPr lang="en-US" dirty="0">
                <a:solidFill>
                  <a:srgbClr val="D3A600"/>
                </a:solidFill>
              </a:rPr>
              <a:t>Data Plane</a:t>
            </a:r>
          </a:p>
        </p:txBody>
      </p:sp>
      <p:sp>
        <p:nvSpPr>
          <p:cNvPr id="18" name="Footer Placeholder 17">
            <a:extLst>
              <a:ext uri="{FF2B5EF4-FFF2-40B4-BE49-F238E27FC236}">
                <a16:creationId xmlns:a16="http://schemas.microsoft.com/office/drawing/2014/main" id="{B0C39458-3A2F-614C-9745-33D7147A0D8D}"/>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33" name="Slide Number Placeholder 32">
            <a:extLst>
              <a:ext uri="{FF2B5EF4-FFF2-40B4-BE49-F238E27FC236}">
                <a16:creationId xmlns:a16="http://schemas.microsoft.com/office/drawing/2014/main" id="{3D1631DF-4F1C-FD46-8454-BE9E26D619E0}"/>
              </a:ext>
            </a:extLst>
          </p:cNvPr>
          <p:cNvSpPr>
            <a:spLocks noGrp="1"/>
          </p:cNvSpPr>
          <p:nvPr>
            <p:ph type="sldNum" sz="quarter" idx="12"/>
          </p:nvPr>
        </p:nvSpPr>
        <p:spPr/>
        <p:txBody>
          <a:bodyPr/>
          <a:lstStyle/>
          <a:p>
            <a:fld id="{9507A418-0CEB-9E4A-BA45-3B7D3D133EB9}" type="slidenum">
              <a:rPr lang="en-US" smtClean="0"/>
              <a:pPr/>
              <a:t>9</a:t>
            </a:fld>
            <a:endParaRPr lang="en-US"/>
          </a:p>
        </p:txBody>
      </p:sp>
      <p:sp>
        <p:nvSpPr>
          <p:cNvPr id="3" name="Date Placeholder 2">
            <a:extLst>
              <a:ext uri="{FF2B5EF4-FFF2-40B4-BE49-F238E27FC236}">
                <a16:creationId xmlns:a16="http://schemas.microsoft.com/office/drawing/2014/main" id="{7A26308F-101A-3289-7E13-03815DB04DF4}"/>
              </a:ext>
            </a:extLst>
          </p:cNvPr>
          <p:cNvSpPr>
            <a:spLocks noGrp="1"/>
          </p:cNvSpPr>
          <p:nvPr>
            <p:ph type="dt" sz="half" idx="10"/>
          </p:nvPr>
        </p:nvSpPr>
        <p:spPr/>
        <p:txBody>
          <a:bodyPr/>
          <a:lstStyle/>
          <a:p>
            <a:r>
              <a:rPr lang="en-US"/>
              <a:t>April 16, 2025</a:t>
            </a:r>
            <a:endParaRPr lang="en-US" sz="1050" b="0">
              <a:latin typeface="Times New Roman" charset="0"/>
            </a:endParaRPr>
          </a:p>
        </p:txBody>
      </p:sp>
    </p:spTree>
    <p:extLst>
      <p:ext uri="{BB962C8B-B14F-4D97-AF65-F5344CB8AC3E}">
        <p14:creationId xmlns:p14="http://schemas.microsoft.com/office/powerpoint/2010/main" val="2379322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Input linecards</a:t>
            </a:r>
          </a:p>
        </p:txBody>
      </p:sp>
      <p:sp>
        <p:nvSpPr>
          <p:cNvPr id="3" name="Content Placeholder 2"/>
          <p:cNvSpPr>
            <a:spLocks noGrp="1"/>
          </p:cNvSpPr>
          <p:nvPr>
            <p:ph idx="1"/>
          </p:nvPr>
        </p:nvSpPr>
        <p:spPr/>
        <p:txBody>
          <a:bodyPr/>
          <a:lstStyle/>
          <a:p>
            <a:r>
              <a:rPr lang="en-US" dirty="0"/>
              <a:t>Main challenge is processing speeds</a:t>
            </a:r>
          </a:p>
          <a:p>
            <a:r>
              <a:rPr lang="en-US" dirty="0"/>
              <a:t>Tasks involved:</a:t>
            </a:r>
          </a:p>
          <a:p>
            <a:pPr lvl="1"/>
            <a:r>
              <a:rPr lang="en-US" dirty="0"/>
              <a:t>Update packet header (easy) </a:t>
            </a:r>
          </a:p>
          <a:p>
            <a:pPr lvl="1"/>
            <a:r>
              <a:rPr lang="en-US" dirty="0"/>
              <a:t>LPM lookup on destination address (harder)</a:t>
            </a:r>
          </a:p>
          <a:p>
            <a:r>
              <a:rPr lang="en-US" dirty="0"/>
              <a:t>Mostly implemented with specialized hardware</a:t>
            </a:r>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10</a:t>
            </a:fld>
            <a:endParaRPr lang="en-US"/>
          </a:p>
        </p:txBody>
      </p:sp>
    </p:spTree>
    <p:extLst>
      <p:ext uri="{BB962C8B-B14F-4D97-AF65-F5344CB8AC3E}">
        <p14:creationId xmlns:p14="http://schemas.microsoft.com/office/powerpoint/2010/main" val="807265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Longest prefix matching</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11</a:t>
            </a:fld>
            <a:endParaRPr lang="en-US"/>
          </a:p>
        </p:txBody>
      </p:sp>
      <p:grpSp>
        <p:nvGrpSpPr>
          <p:cNvPr id="7" name="Group 12"/>
          <p:cNvGrpSpPr>
            <a:grpSpLocks/>
          </p:cNvGrpSpPr>
          <p:nvPr/>
        </p:nvGrpSpPr>
        <p:grpSpPr bwMode="auto">
          <a:xfrm>
            <a:off x="914400" y="2392362"/>
            <a:ext cx="7221880" cy="2103438"/>
            <a:chOff x="933450" y="2514600"/>
            <a:chExt cx="7220322" cy="2088887"/>
          </a:xfrm>
        </p:grpSpPr>
        <p:sp>
          <p:nvSpPr>
            <p:cNvPr id="8" name="Oval 13"/>
            <p:cNvSpPr>
              <a:spLocks noChangeArrowheads="1"/>
            </p:cNvSpPr>
            <p:nvPr/>
          </p:nvSpPr>
          <p:spPr bwMode="auto">
            <a:xfrm>
              <a:off x="2895600" y="3951288"/>
              <a:ext cx="1295400" cy="381000"/>
            </a:xfrm>
            <a:prstGeom prst="ellipse">
              <a:avLst/>
            </a:prstGeom>
            <a:solidFill>
              <a:srgbClr val="3366FF"/>
            </a:solidFill>
            <a:ln w="9525">
              <a:solidFill>
                <a:schemeClr val="tx1"/>
              </a:solidFill>
              <a:round/>
              <a:headEnd/>
              <a:tailEnd/>
            </a:ln>
          </p:spPr>
          <p:txBody>
            <a:bodyPr wrap="none" anchor="ctr"/>
            <a:lstStyle/>
            <a:p>
              <a:endParaRPr lang="en-US">
                <a:solidFill>
                  <a:schemeClr val="accent2"/>
                </a:solidFill>
                <a:latin typeface="+mn-lt"/>
              </a:endParaRPr>
            </a:p>
          </p:txBody>
        </p:sp>
        <p:sp>
          <p:nvSpPr>
            <p:cNvPr id="9" name="Oval 14"/>
            <p:cNvSpPr>
              <a:spLocks noChangeArrowheads="1"/>
            </p:cNvSpPr>
            <p:nvPr/>
          </p:nvSpPr>
          <p:spPr bwMode="auto">
            <a:xfrm>
              <a:off x="1143000" y="3951288"/>
              <a:ext cx="1295400" cy="381000"/>
            </a:xfrm>
            <a:prstGeom prst="ellipse">
              <a:avLst/>
            </a:prstGeom>
            <a:solidFill>
              <a:srgbClr val="3366FF"/>
            </a:solidFill>
            <a:ln w="9525">
              <a:solidFill>
                <a:schemeClr val="tx1"/>
              </a:solidFill>
              <a:round/>
              <a:headEnd/>
              <a:tailEnd/>
            </a:ln>
          </p:spPr>
          <p:txBody>
            <a:bodyPr wrap="none" anchor="ctr"/>
            <a:lstStyle/>
            <a:p>
              <a:pPr algn="ctr"/>
              <a:endParaRPr lang="en-US" sz="2400" b="0">
                <a:solidFill>
                  <a:schemeClr val="accent2"/>
                </a:solidFill>
                <a:latin typeface="+mn-lt"/>
              </a:endParaRPr>
            </a:p>
          </p:txBody>
        </p:sp>
        <p:sp>
          <p:nvSpPr>
            <p:cNvPr id="10" name="Oval 15"/>
            <p:cNvSpPr>
              <a:spLocks noChangeArrowheads="1"/>
            </p:cNvSpPr>
            <p:nvPr/>
          </p:nvSpPr>
          <p:spPr bwMode="auto">
            <a:xfrm>
              <a:off x="4876800" y="3951288"/>
              <a:ext cx="1295400" cy="381000"/>
            </a:xfrm>
            <a:prstGeom prst="ellipse">
              <a:avLst/>
            </a:prstGeom>
            <a:solidFill>
              <a:srgbClr val="3366FF"/>
            </a:solidFill>
            <a:ln w="9525">
              <a:solidFill>
                <a:schemeClr val="tx1"/>
              </a:solidFill>
              <a:round/>
              <a:headEnd/>
              <a:tailEnd/>
            </a:ln>
          </p:spPr>
          <p:txBody>
            <a:bodyPr wrap="none" anchor="ctr"/>
            <a:lstStyle/>
            <a:p>
              <a:endParaRPr lang="en-US">
                <a:solidFill>
                  <a:schemeClr val="accent2"/>
                </a:solidFill>
                <a:latin typeface="+mn-lt"/>
              </a:endParaRPr>
            </a:p>
          </p:txBody>
        </p:sp>
        <p:sp>
          <p:nvSpPr>
            <p:cNvPr id="11" name="Oval 16"/>
            <p:cNvSpPr>
              <a:spLocks noChangeArrowheads="1"/>
            </p:cNvSpPr>
            <p:nvPr/>
          </p:nvSpPr>
          <p:spPr bwMode="auto">
            <a:xfrm>
              <a:off x="6705600" y="3951288"/>
              <a:ext cx="1295400" cy="381000"/>
            </a:xfrm>
            <a:prstGeom prst="ellipse">
              <a:avLst/>
            </a:prstGeom>
            <a:solidFill>
              <a:srgbClr val="3366FF"/>
            </a:solidFill>
            <a:ln w="9525">
              <a:solidFill>
                <a:schemeClr val="tx1"/>
              </a:solidFill>
              <a:round/>
              <a:headEnd/>
              <a:tailEnd/>
            </a:ln>
          </p:spPr>
          <p:txBody>
            <a:bodyPr wrap="none" anchor="ctr"/>
            <a:lstStyle/>
            <a:p>
              <a:endParaRPr lang="en-US">
                <a:solidFill>
                  <a:schemeClr val="accent2"/>
                </a:solidFill>
                <a:latin typeface="+mn-lt"/>
              </a:endParaRPr>
            </a:p>
          </p:txBody>
        </p:sp>
        <p:sp>
          <p:nvSpPr>
            <p:cNvPr id="12" name="Text Box 9"/>
            <p:cNvSpPr txBox="1">
              <a:spLocks noChangeArrowheads="1"/>
            </p:cNvSpPr>
            <p:nvPr/>
          </p:nvSpPr>
          <p:spPr bwMode="auto">
            <a:xfrm>
              <a:off x="933450" y="4267200"/>
              <a:ext cx="1582738" cy="3362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1600" b="0" dirty="0">
                  <a:solidFill>
                    <a:schemeClr val="accent2"/>
                  </a:solidFill>
                  <a:latin typeface="+mn-lt"/>
                </a:rPr>
                <a:t>110000**</a:t>
              </a:r>
            </a:p>
          </p:txBody>
        </p:sp>
        <p:sp>
          <p:nvSpPr>
            <p:cNvPr id="13" name="Text Box 10"/>
            <p:cNvSpPr txBox="1">
              <a:spLocks noChangeArrowheads="1"/>
            </p:cNvSpPr>
            <p:nvPr/>
          </p:nvSpPr>
          <p:spPr bwMode="auto">
            <a:xfrm>
              <a:off x="2714625" y="4267200"/>
              <a:ext cx="1582738" cy="3362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1600" b="0" dirty="0">
                  <a:solidFill>
                    <a:schemeClr val="accent2"/>
                  </a:solidFill>
                  <a:latin typeface="+mn-lt"/>
                </a:rPr>
                <a:t>110001**</a:t>
              </a:r>
            </a:p>
          </p:txBody>
        </p:sp>
        <p:sp>
          <p:nvSpPr>
            <p:cNvPr id="14" name="Text Box 11"/>
            <p:cNvSpPr txBox="1">
              <a:spLocks noChangeArrowheads="1"/>
            </p:cNvSpPr>
            <p:nvPr/>
          </p:nvSpPr>
          <p:spPr bwMode="auto">
            <a:xfrm>
              <a:off x="4724400" y="4267200"/>
              <a:ext cx="1582738" cy="3362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1600" b="0" dirty="0">
                  <a:solidFill>
                    <a:schemeClr val="accent2"/>
                  </a:solidFill>
                  <a:latin typeface="+mn-lt"/>
                </a:rPr>
                <a:t>1100****</a:t>
              </a:r>
            </a:p>
          </p:txBody>
        </p:sp>
        <p:sp>
          <p:nvSpPr>
            <p:cNvPr id="15" name="Text Box 12"/>
            <p:cNvSpPr txBox="1">
              <a:spLocks noChangeArrowheads="1"/>
            </p:cNvSpPr>
            <p:nvPr/>
          </p:nvSpPr>
          <p:spPr bwMode="auto">
            <a:xfrm>
              <a:off x="6571034" y="4267200"/>
              <a:ext cx="1582738" cy="3362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1600" b="0" dirty="0">
                  <a:solidFill>
                    <a:schemeClr val="accent2"/>
                  </a:solidFill>
                  <a:latin typeface="+mn-lt"/>
                </a:rPr>
                <a:t>1101****</a:t>
              </a:r>
            </a:p>
          </p:txBody>
        </p:sp>
        <p:cxnSp>
          <p:nvCxnSpPr>
            <p:cNvPr id="16" name="AutoShape 13"/>
            <p:cNvCxnSpPr>
              <a:cxnSpLocks noChangeShapeType="1"/>
            </p:cNvCxnSpPr>
            <p:nvPr/>
          </p:nvCxnSpPr>
          <p:spPr bwMode="auto">
            <a:xfrm rot="10800000" flipV="1">
              <a:off x="1790700" y="2808288"/>
              <a:ext cx="1763713" cy="1143000"/>
            </a:xfrm>
            <a:prstGeom prst="bentConnector2">
              <a:avLst/>
            </a:prstGeom>
            <a:noFill/>
            <a:ln w="9525">
              <a:solidFill>
                <a:srgbClr val="000000"/>
              </a:solidFill>
              <a:miter lim="800000"/>
              <a:headEnd/>
              <a:tailEnd/>
            </a:ln>
            <a:extLst>
              <a:ext uri="{909E8E84-426E-40dd-AFC4-6F175D3DCCD1}">
                <a14:hiddenFill xmlns:a14="http://schemas.microsoft.com/office/drawing/2010/main" xmlns="">
                  <a:noFill/>
                </a14:hiddenFill>
              </a:ext>
            </a:extLst>
          </p:spPr>
        </p:cxnSp>
        <p:cxnSp>
          <p:nvCxnSpPr>
            <p:cNvPr id="17" name="AutoShape 14"/>
            <p:cNvCxnSpPr>
              <a:cxnSpLocks noChangeShapeType="1"/>
            </p:cNvCxnSpPr>
            <p:nvPr/>
          </p:nvCxnSpPr>
          <p:spPr bwMode="auto">
            <a:xfrm rot="5400000">
              <a:off x="3567907" y="2985293"/>
              <a:ext cx="838200" cy="1116013"/>
            </a:xfrm>
            <a:prstGeom prst="bentConnector3">
              <a:avLst>
                <a:gd name="adj1" fmla="val 50000"/>
              </a:avLst>
            </a:prstGeom>
            <a:noFill/>
            <a:ln w="9525">
              <a:solidFill>
                <a:srgbClr val="000000"/>
              </a:solidFill>
              <a:miter lim="800000"/>
              <a:headEnd/>
              <a:tailEnd/>
            </a:ln>
            <a:extLst>
              <a:ext uri="{909E8E84-426E-40dd-AFC4-6F175D3DCCD1}">
                <a14:hiddenFill xmlns:a14="http://schemas.microsoft.com/office/drawing/2010/main" xmlns="">
                  <a:noFill/>
                </a14:hiddenFill>
              </a:ext>
            </a:extLst>
          </p:spPr>
        </p:cxnSp>
        <p:cxnSp>
          <p:nvCxnSpPr>
            <p:cNvPr id="18" name="AutoShape 15"/>
            <p:cNvCxnSpPr>
              <a:cxnSpLocks noChangeShapeType="1"/>
            </p:cNvCxnSpPr>
            <p:nvPr/>
          </p:nvCxnSpPr>
          <p:spPr bwMode="auto">
            <a:xfrm>
              <a:off x="5764213" y="2808288"/>
              <a:ext cx="1589087" cy="1143000"/>
            </a:xfrm>
            <a:prstGeom prst="bentConnector2">
              <a:avLst/>
            </a:prstGeom>
            <a:noFill/>
            <a:ln w="9525">
              <a:solidFill>
                <a:srgbClr val="000000"/>
              </a:solidFill>
              <a:miter lim="800000"/>
              <a:headEnd/>
              <a:tailEnd/>
            </a:ln>
            <a:extLst>
              <a:ext uri="{909E8E84-426E-40dd-AFC4-6F175D3DCCD1}">
                <a14:hiddenFill xmlns:a14="http://schemas.microsoft.com/office/drawing/2010/main" xmlns="">
                  <a:noFill/>
                </a14:hiddenFill>
              </a:ext>
            </a:extLst>
          </p:spPr>
        </p:cxnSp>
        <p:cxnSp>
          <p:nvCxnSpPr>
            <p:cNvPr id="19" name="AutoShape 16"/>
            <p:cNvCxnSpPr>
              <a:cxnSpLocks noChangeShapeType="1"/>
            </p:cNvCxnSpPr>
            <p:nvPr/>
          </p:nvCxnSpPr>
          <p:spPr bwMode="auto">
            <a:xfrm rot="16200000" flipH="1">
              <a:off x="4691857" y="3156744"/>
              <a:ext cx="838200" cy="750887"/>
            </a:xfrm>
            <a:prstGeom prst="bentConnector3">
              <a:avLst>
                <a:gd name="adj1" fmla="val 51514"/>
              </a:avLst>
            </a:prstGeom>
            <a:noFill/>
            <a:ln w="9525">
              <a:solidFill>
                <a:srgbClr val="000000"/>
              </a:solidFill>
              <a:miter lim="800000"/>
              <a:headEnd/>
              <a:tailEnd/>
            </a:ln>
            <a:extLst>
              <a:ext uri="{909E8E84-426E-40dd-AFC4-6F175D3DCCD1}">
                <a14:hiddenFill xmlns:a14="http://schemas.microsoft.com/office/drawing/2010/main" xmlns="">
                  <a:noFill/>
                </a14:hiddenFill>
              </a:ext>
            </a:extLst>
          </p:spPr>
        </p:cxnSp>
        <p:sp>
          <p:nvSpPr>
            <p:cNvPr id="20" name="Oval 25"/>
            <p:cNvSpPr>
              <a:spLocks noChangeArrowheads="1"/>
            </p:cNvSpPr>
            <p:nvPr/>
          </p:nvSpPr>
          <p:spPr bwMode="auto">
            <a:xfrm>
              <a:off x="3505200" y="2514600"/>
              <a:ext cx="2209800" cy="609600"/>
            </a:xfrm>
            <a:prstGeom prst="ellipse">
              <a:avLst/>
            </a:prstGeom>
            <a:solidFill>
              <a:srgbClr val="D3A600"/>
            </a:solidFill>
            <a:ln w="9525">
              <a:solidFill>
                <a:schemeClr val="tx1"/>
              </a:solidFill>
              <a:round/>
              <a:headEnd/>
              <a:tailEnd/>
            </a:ln>
          </p:spPr>
          <p:txBody>
            <a:bodyPr wrap="none" anchor="ctr"/>
            <a:lstStyle/>
            <a:p>
              <a:pPr algn="ctr"/>
              <a:r>
                <a:rPr lang="en-US" dirty="0">
                  <a:solidFill>
                    <a:schemeClr val="accent2"/>
                  </a:solidFill>
                  <a:latin typeface="+mn-lt"/>
                </a:rPr>
                <a:t>ISP Router</a:t>
              </a:r>
            </a:p>
          </p:txBody>
        </p:sp>
      </p:grpSp>
      <p:cxnSp>
        <p:nvCxnSpPr>
          <p:cNvPr id="21" name="Straight Connector 29"/>
          <p:cNvCxnSpPr>
            <a:cxnSpLocks noChangeShapeType="1"/>
          </p:cNvCxnSpPr>
          <p:nvPr/>
        </p:nvCxnSpPr>
        <p:spPr bwMode="auto">
          <a:xfrm rot="5400000">
            <a:off x="4479131" y="2277268"/>
            <a:ext cx="228600" cy="1588"/>
          </a:xfrm>
          <a:prstGeom prst="line">
            <a:avLst/>
          </a:prstGeom>
          <a:noFill/>
          <a:ln w="9525">
            <a:solidFill>
              <a:srgbClr val="000000"/>
            </a:solidFill>
            <a:miter lim="800000"/>
            <a:headEnd/>
            <a:tailEnd/>
          </a:ln>
          <a:extLst>
            <a:ext uri="{909E8E84-426E-40dd-AFC4-6F175D3DCCD1}">
              <a14:hiddenFill xmlns:a14="http://schemas.microsoft.com/office/drawing/2010/main" xmlns="">
                <a:noFill/>
              </a14:hiddenFill>
            </a:ext>
          </a:extLst>
        </p:spPr>
      </p:cxnSp>
      <p:sp>
        <p:nvSpPr>
          <p:cNvPr id="22" name="TextBox 21"/>
          <p:cNvSpPr txBox="1"/>
          <p:nvPr/>
        </p:nvSpPr>
        <p:spPr>
          <a:xfrm>
            <a:off x="1925637" y="2316162"/>
            <a:ext cx="838200" cy="338138"/>
          </a:xfrm>
          <a:prstGeom prst="rect">
            <a:avLst/>
          </a:prstGeom>
          <a:noFill/>
        </p:spPr>
        <p:txBody>
          <a:bodyPr>
            <a:spAutoFit/>
          </a:bodyPr>
          <a:lstStyle/>
          <a:p>
            <a:pPr algn="ctr">
              <a:defRPr/>
            </a:pPr>
            <a:r>
              <a:rPr lang="en-US" sz="1600" b="0" dirty="0">
                <a:solidFill>
                  <a:schemeClr val="accent2"/>
                </a:solidFill>
                <a:latin typeface="+mn-lt"/>
                <a:ea typeface="+mn-ea"/>
                <a:cs typeface="+mn-cs"/>
              </a:rPr>
              <a:t>Port 1</a:t>
            </a:r>
          </a:p>
        </p:txBody>
      </p:sp>
      <p:sp>
        <p:nvSpPr>
          <p:cNvPr id="23" name="TextBox 22"/>
          <p:cNvSpPr txBox="1"/>
          <p:nvPr/>
        </p:nvSpPr>
        <p:spPr>
          <a:xfrm>
            <a:off x="2992437" y="3001962"/>
            <a:ext cx="838200" cy="338138"/>
          </a:xfrm>
          <a:prstGeom prst="rect">
            <a:avLst/>
          </a:prstGeom>
          <a:noFill/>
        </p:spPr>
        <p:txBody>
          <a:bodyPr>
            <a:spAutoFit/>
          </a:bodyPr>
          <a:lstStyle/>
          <a:p>
            <a:pPr algn="ctr">
              <a:defRPr/>
            </a:pPr>
            <a:r>
              <a:rPr lang="en-US" sz="1600" b="0" dirty="0">
                <a:solidFill>
                  <a:schemeClr val="accent2"/>
                </a:solidFill>
                <a:latin typeface="+mn-lt"/>
                <a:ea typeface="+mn-ea"/>
                <a:cs typeface="+mn-cs"/>
              </a:rPr>
              <a:t>Port 2</a:t>
            </a:r>
          </a:p>
        </p:txBody>
      </p:sp>
      <p:sp>
        <p:nvSpPr>
          <p:cNvPr id="24" name="TextBox 23"/>
          <p:cNvSpPr txBox="1"/>
          <p:nvPr/>
        </p:nvSpPr>
        <p:spPr>
          <a:xfrm>
            <a:off x="5278437" y="3044825"/>
            <a:ext cx="838200" cy="338137"/>
          </a:xfrm>
          <a:prstGeom prst="rect">
            <a:avLst/>
          </a:prstGeom>
          <a:noFill/>
        </p:spPr>
        <p:txBody>
          <a:bodyPr>
            <a:spAutoFit/>
          </a:bodyPr>
          <a:lstStyle/>
          <a:p>
            <a:pPr algn="ctr">
              <a:defRPr/>
            </a:pPr>
            <a:r>
              <a:rPr lang="en-US" sz="1600" b="0" dirty="0">
                <a:solidFill>
                  <a:schemeClr val="accent2"/>
                </a:solidFill>
                <a:latin typeface="+mn-lt"/>
                <a:ea typeface="+mn-ea"/>
                <a:cs typeface="+mn-cs"/>
              </a:rPr>
              <a:t>Port 3</a:t>
            </a:r>
          </a:p>
        </p:txBody>
      </p:sp>
      <p:sp>
        <p:nvSpPr>
          <p:cNvPr id="25" name="TextBox 24"/>
          <p:cNvSpPr txBox="1"/>
          <p:nvPr/>
        </p:nvSpPr>
        <p:spPr>
          <a:xfrm>
            <a:off x="6116637" y="2316162"/>
            <a:ext cx="838200" cy="338138"/>
          </a:xfrm>
          <a:prstGeom prst="rect">
            <a:avLst/>
          </a:prstGeom>
          <a:noFill/>
        </p:spPr>
        <p:txBody>
          <a:bodyPr>
            <a:spAutoFit/>
          </a:bodyPr>
          <a:lstStyle/>
          <a:p>
            <a:pPr algn="ctr">
              <a:defRPr/>
            </a:pPr>
            <a:r>
              <a:rPr lang="en-US" sz="1600" b="0" dirty="0">
                <a:solidFill>
                  <a:schemeClr val="accent2"/>
                </a:solidFill>
                <a:latin typeface="+mn-lt"/>
                <a:ea typeface="+mn-ea"/>
                <a:cs typeface="+mn-cs"/>
              </a:rPr>
              <a:t>Port 4</a:t>
            </a:r>
          </a:p>
        </p:txBody>
      </p:sp>
      <p:sp>
        <p:nvSpPr>
          <p:cNvPr id="26" name="TextBox 25"/>
          <p:cNvSpPr txBox="1"/>
          <p:nvPr/>
        </p:nvSpPr>
        <p:spPr>
          <a:xfrm>
            <a:off x="440531" y="5112603"/>
            <a:ext cx="8262938" cy="461665"/>
          </a:xfrm>
          <a:prstGeom prst="rect">
            <a:avLst/>
          </a:prstGeom>
          <a:noFill/>
        </p:spPr>
        <p:txBody>
          <a:bodyPr wrap="square" rtlCol="0">
            <a:spAutoFit/>
          </a:bodyPr>
          <a:lstStyle/>
          <a:p>
            <a:pPr algn="ctr"/>
            <a:r>
              <a:rPr lang="en-US" sz="2400" b="0" dirty="0">
                <a:solidFill>
                  <a:srgbClr val="0000FF"/>
                </a:solidFill>
                <a:latin typeface="+mn-lt"/>
              </a:rPr>
              <a:t>Send to the port with the longest prefix match</a:t>
            </a:r>
          </a:p>
        </p:txBody>
      </p:sp>
    </p:spTree>
    <p:extLst>
      <p:ext uri="{BB962C8B-B14F-4D97-AF65-F5344CB8AC3E}">
        <p14:creationId xmlns:p14="http://schemas.microsoft.com/office/powerpoint/2010/main" val="1818652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954" name="Rectangle 2"/>
          <p:cNvSpPr>
            <a:spLocks noGrp="1" noChangeArrowheads="1"/>
          </p:cNvSpPr>
          <p:nvPr>
            <p:ph type="title"/>
          </p:nvPr>
        </p:nvSpPr>
        <p:spPr/>
        <p:txBody>
          <a:bodyPr/>
          <a:lstStyle/>
          <a:p>
            <a:r>
              <a:rPr lang="en-US" dirty="0"/>
              <a:t>Tree structure</a:t>
            </a:r>
          </a:p>
        </p:txBody>
      </p:sp>
      <p:sp>
        <p:nvSpPr>
          <p:cNvPr id="34" name="Oval 6"/>
          <p:cNvSpPr>
            <a:spLocks noChangeArrowheads="1"/>
          </p:cNvSpPr>
          <p:nvPr/>
        </p:nvSpPr>
        <p:spPr bwMode="auto">
          <a:xfrm>
            <a:off x="1147763" y="4230688"/>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00*</a:t>
            </a:r>
          </a:p>
        </p:txBody>
      </p:sp>
      <p:sp>
        <p:nvSpPr>
          <p:cNvPr id="35" name="Oval 7"/>
          <p:cNvSpPr>
            <a:spLocks noChangeArrowheads="1"/>
          </p:cNvSpPr>
          <p:nvPr/>
        </p:nvSpPr>
        <p:spPr bwMode="auto">
          <a:xfrm>
            <a:off x="381000" y="5037138"/>
            <a:ext cx="500062" cy="422275"/>
          </a:xfrm>
          <a:prstGeom prst="ellipse">
            <a:avLst/>
          </a:prstGeom>
          <a:solidFill>
            <a:srgbClr val="D3A600"/>
          </a:solidFill>
          <a:ln>
            <a:solidFill>
              <a:schemeClr val="accent2"/>
            </a:solidFill>
            <a:headEnd/>
            <a:tailEnd/>
          </a:ln>
          <a:extLst>
            <a:ext uri="{909E8E84-426E-40dd-AFC4-6F175D3DCCD1}">
              <a14:hiddenFill xmlns:a14="http://schemas.microsoft.com/office/drawing/2010/main" xmlns="">
                <a:solidFill>
                  <a:srgbClr val="FFFFFF"/>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000</a:t>
            </a:r>
          </a:p>
        </p:txBody>
      </p:sp>
      <p:sp>
        <p:nvSpPr>
          <p:cNvPr id="36" name="Oval 8"/>
          <p:cNvSpPr>
            <a:spLocks noChangeArrowheads="1"/>
          </p:cNvSpPr>
          <p:nvPr/>
        </p:nvSpPr>
        <p:spPr bwMode="auto">
          <a:xfrm>
            <a:off x="1800225" y="5075238"/>
            <a:ext cx="500062" cy="422275"/>
          </a:xfrm>
          <a:prstGeom prst="ellipse">
            <a:avLst/>
          </a:prstGeom>
          <a:solidFill>
            <a:srgbClr val="D3A600"/>
          </a:solidFill>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001</a:t>
            </a:r>
          </a:p>
        </p:txBody>
      </p:sp>
      <p:sp>
        <p:nvSpPr>
          <p:cNvPr id="37" name="Line 10"/>
          <p:cNvSpPr>
            <a:spLocks noChangeShapeType="1"/>
          </p:cNvSpPr>
          <p:nvPr/>
        </p:nvSpPr>
        <p:spPr bwMode="auto">
          <a:xfrm>
            <a:off x="157162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38" name="Line 11"/>
          <p:cNvSpPr>
            <a:spLocks noChangeShapeType="1"/>
          </p:cNvSpPr>
          <p:nvPr/>
        </p:nvSpPr>
        <p:spPr bwMode="auto">
          <a:xfrm flipH="1">
            <a:off x="76517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39" name="Text Box 19"/>
          <p:cNvSpPr txBox="1">
            <a:spLocks noChangeArrowheads="1"/>
          </p:cNvSpPr>
          <p:nvPr/>
        </p:nvSpPr>
        <p:spPr bwMode="auto">
          <a:xfrm>
            <a:off x="60960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0</a:t>
            </a:r>
          </a:p>
        </p:txBody>
      </p:sp>
      <p:sp>
        <p:nvSpPr>
          <p:cNvPr id="40" name="Text Box 20"/>
          <p:cNvSpPr txBox="1">
            <a:spLocks noChangeArrowheads="1"/>
          </p:cNvSpPr>
          <p:nvPr/>
        </p:nvSpPr>
        <p:spPr bwMode="auto">
          <a:xfrm>
            <a:off x="165735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1</a:t>
            </a:r>
          </a:p>
        </p:txBody>
      </p:sp>
      <p:grpSp>
        <p:nvGrpSpPr>
          <p:cNvPr id="48" name="Group 47"/>
          <p:cNvGrpSpPr/>
          <p:nvPr/>
        </p:nvGrpSpPr>
        <p:grpSpPr>
          <a:xfrm>
            <a:off x="2590800" y="4267200"/>
            <a:ext cx="1919287" cy="1266825"/>
            <a:chOff x="685800" y="4230688"/>
            <a:chExt cx="1919287" cy="1266825"/>
          </a:xfrm>
        </p:grpSpPr>
        <p:sp>
          <p:nvSpPr>
            <p:cNvPr id="49" name="Oval 6"/>
            <p:cNvSpPr>
              <a:spLocks noChangeArrowheads="1"/>
            </p:cNvSpPr>
            <p:nvPr/>
          </p:nvSpPr>
          <p:spPr bwMode="auto">
            <a:xfrm>
              <a:off x="1452563" y="4230688"/>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01*</a:t>
              </a:r>
            </a:p>
          </p:txBody>
        </p:sp>
        <p:sp>
          <p:nvSpPr>
            <p:cNvPr id="50" name="Oval 7"/>
            <p:cNvSpPr>
              <a:spLocks noChangeArrowheads="1"/>
            </p:cNvSpPr>
            <p:nvPr/>
          </p:nvSpPr>
          <p:spPr bwMode="auto">
            <a:xfrm>
              <a:off x="685800" y="5037138"/>
              <a:ext cx="500062" cy="422275"/>
            </a:xfrm>
            <a:prstGeom prst="ellipse">
              <a:avLst/>
            </a:prstGeom>
            <a:ln>
              <a:solidFill>
                <a:schemeClr val="accent2"/>
              </a:solidFill>
              <a:headEnd/>
              <a:tailEnd/>
            </a:ln>
            <a:extLst>
              <a:ext uri="{909E8E84-426E-40dd-AFC4-6F175D3DCCD1}">
                <a14:hiddenFill xmlns:a14="http://schemas.microsoft.com/office/drawing/2010/main" xmlns="">
                  <a:solidFill>
                    <a:srgbClr val="FFFFFF"/>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010</a:t>
              </a:r>
            </a:p>
          </p:txBody>
        </p:sp>
        <p:sp>
          <p:nvSpPr>
            <p:cNvPr id="51" name="Oval 8"/>
            <p:cNvSpPr>
              <a:spLocks noChangeArrowheads="1"/>
            </p:cNvSpPr>
            <p:nvPr/>
          </p:nvSpPr>
          <p:spPr bwMode="auto">
            <a:xfrm>
              <a:off x="2105025" y="5075238"/>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011</a:t>
              </a:r>
            </a:p>
          </p:txBody>
        </p:sp>
        <p:sp>
          <p:nvSpPr>
            <p:cNvPr id="52" name="Line 10"/>
            <p:cNvSpPr>
              <a:spLocks noChangeShapeType="1"/>
            </p:cNvSpPr>
            <p:nvPr/>
          </p:nvSpPr>
          <p:spPr bwMode="auto">
            <a:xfrm>
              <a:off x="187642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53" name="Line 11"/>
            <p:cNvSpPr>
              <a:spLocks noChangeShapeType="1"/>
            </p:cNvSpPr>
            <p:nvPr/>
          </p:nvSpPr>
          <p:spPr bwMode="auto">
            <a:xfrm flipH="1">
              <a:off x="106997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54" name="Text Box 19"/>
            <p:cNvSpPr txBox="1">
              <a:spLocks noChangeArrowheads="1"/>
            </p:cNvSpPr>
            <p:nvPr/>
          </p:nvSpPr>
          <p:spPr bwMode="auto">
            <a:xfrm>
              <a:off x="91440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0</a:t>
              </a:r>
            </a:p>
          </p:txBody>
        </p:sp>
        <p:sp>
          <p:nvSpPr>
            <p:cNvPr id="55" name="Text Box 20"/>
            <p:cNvSpPr txBox="1">
              <a:spLocks noChangeArrowheads="1"/>
            </p:cNvSpPr>
            <p:nvPr/>
          </p:nvSpPr>
          <p:spPr bwMode="auto">
            <a:xfrm>
              <a:off x="196215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1</a:t>
              </a:r>
            </a:p>
          </p:txBody>
        </p:sp>
      </p:grpSp>
      <p:grpSp>
        <p:nvGrpSpPr>
          <p:cNvPr id="56" name="Group 55"/>
          <p:cNvGrpSpPr/>
          <p:nvPr/>
        </p:nvGrpSpPr>
        <p:grpSpPr>
          <a:xfrm>
            <a:off x="6996113" y="4267200"/>
            <a:ext cx="1919287" cy="1266825"/>
            <a:chOff x="685800" y="4230688"/>
            <a:chExt cx="1919287" cy="1266825"/>
          </a:xfrm>
        </p:grpSpPr>
        <p:sp>
          <p:nvSpPr>
            <p:cNvPr id="57" name="Oval 6"/>
            <p:cNvSpPr>
              <a:spLocks noChangeArrowheads="1"/>
            </p:cNvSpPr>
            <p:nvPr/>
          </p:nvSpPr>
          <p:spPr bwMode="auto">
            <a:xfrm>
              <a:off x="1452563" y="4230688"/>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11*</a:t>
              </a:r>
            </a:p>
          </p:txBody>
        </p:sp>
        <p:sp>
          <p:nvSpPr>
            <p:cNvPr id="58" name="Oval 7"/>
            <p:cNvSpPr>
              <a:spLocks noChangeArrowheads="1"/>
            </p:cNvSpPr>
            <p:nvPr/>
          </p:nvSpPr>
          <p:spPr bwMode="auto">
            <a:xfrm>
              <a:off x="685800" y="5037138"/>
              <a:ext cx="500062" cy="422275"/>
            </a:xfrm>
            <a:prstGeom prst="ellipse">
              <a:avLst/>
            </a:prstGeom>
            <a:ln>
              <a:solidFill>
                <a:schemeClr val="accent2"/>
              </a:solidFill>
              <a:headEnd/>
              <a:tailEnd/>
            </a:ln>
            <a:extLst>
              <a:ext uri="{909E8E84-426E-40dd-AFC4-6F175D3DCCD1}">
                <a14:hiddenFill xmlns:a14="http://schemas.microsoft.com/office/drawing/2010/main" xmlns="">
                  <a:solidFill>
                    <a:srgbClr val="FFFFFF"/>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110</a:t>
              </a:r>
            </a:p>
          </p:txBody>
        </p:sp>
        <p:sp>
          <p:nvSpPr>
            <p:cNvPr id="59" name="Oval 8"/>
            <p:cNvSpPr>
              <a:spLocks noChangeArrowheads="1"/>
            </p:cNvSpPr>
            <p:nvPr/>
          </p:nvSpPr>
          <p:spPr bwMode="auto">
            <a:xfrm>
              <a:off x="2105025" y="5075238"/>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111</a:t>
              </a:r>
            </a:p>
          </p:txBody>
        </p:sp>
        <p:sp>
          <p:nvSpPr>
            <p:cNvPr id="60" name="Line 10"/>
            <p:cNvSpPr>
              <a:spLocks noChangeShapeType="1"/>
            </p:cNvSpPr>
            <p:nvPr/>
          </p:nvSpPr>
          <p:spPr bwMode="auto">
            <a:xfrm>
              <a:off x="187642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61" name="Line 11"/>
            <p:cNvSpPr>
              <a:spLocks noChangeShapeType="1"/>
            </p:cNvSpPr>
            <p:nvPr/>
          </p:nvSpPr>
          <p:spPr bwMode="auto">
            <a:xfrm flipH="1">
              <a:off x="106997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62" name="Text Box 19"/>
            <p:cNvSpPr txBox="1">
              <a:spLocks noChangeArrowheads="1"/>
            </p:cNvSpPr>
            <p:nvPr/>
          </p:nvSpPr>
          <p:spPr bwMode="auto">
            <a:xfrm>
              <a:off x="91440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0</a:t>
              </a:r>
            </a:p>
          </p:txBody>
        </p:sp>
        <p:sp>
          <p:nvSpPr>
            <p:cNvPr id="63" name="Text Box 20"/>
            <p:cNvSpPr txBox="1">
              <a:spLocks noChangeArrowheads="1"/>
            </p:cNvSpPr>
            <p:nvPr/>
          </p:nvSpPr>
          <p:spPr bwMode="auto">
            <a:xfrm>
              <a:off x="196215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1</a:t>
              </a:r>
            </a:p>
          </p:txBody>
        </p:sp>
      </p:grpSp>
      <p:grpSp>
        <p:nvGrpSpPr>
          <p:cNvPr id="64" name="Group 63"/>
          <p:cNvGrpSpPr/>
          <p:nvPr/>
        </p:nvGrpSpPr>
        <p:grpSpPr>
          <a:xfrm>
            <a:off x="4800600" y="4267200"/>
            <a:ext cx="1919287" cy="1266825"/>
            <a:chOff x="685800" y="4230688"/>
            <a:chExt cx="1919287" cy="1266825"/>
          </a:xfrm>
        </p:grpSpPr>
        <p:sp>
          <p:nvSpPr>
            <p:cNvPr id="65" name="Oval 6"/>
            <p:cNvSpPr>
              <a:spLocks noChangeArrowheads="1"/>
            </p:cNvSpPr>
            <p:nvPr/>
          </p:nvSpPr>
          <p:spPr bwMode="auto">
            <a:xfrm>
              <a:off x="1452563" y="4230688"/>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10*</a:t>
              </a:r>
            </a:p>
          </p:txBody>
        </p:sp>
        <p:sp>
          <p:nvSpPr>
            <p:cNvPr id="66" name="Oval 7"/>
            <p:cNvSpPr>
              <a:spLocks noChangeArrowheads="1"/>
            </p:cNvSpPr>
            <p:nvPr/>
          </p:nvSpPr>
          <p:spPr bwMode="auto">
            <a:xfrm>
              <a:off x="685800" y="5037138"/>
              <a:ext cx="500062" cy="422275"/>
            </a:xfrm>
            <a:prstGeom prst="ellipse">
              <a:avLst/>
            </a:prstGeom>
            <a:ln>
              <a:solidFill>
                <a:schemeClr val="accent2"/>
              </a:solidFill>
              <a:headEnd/>
              <a:tailEnd/>
            </a:ln>
            <a:extLst>
              <a:ext uri="{909E8E84-426E-40dd-AFC4-6F175D3DCCD1}">
                <a14:hiddenFill xmlns:a14="http://schemas.microsoft.com/office/drawing/2010/main" xmlns="">
                  <a:solidFill>
                    <a:srgbClr val="FFFFFF"/>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100</a:t>
              </a:r>
            </a:p>
          </p:txBody>
        </p:sp>
        <p:sp>
          <p:nvSpPr>
            <p:cNvPr id="67" name="Oval 8"/>
            <p:cNvSpPr>
              <a:spLocks noChangeArrowheads="1"/>
            </p:cNvSpPr>
            <p:nvPr/>
          </p:nvSpPr>
          <p:spPr bwMode="auto">
            <a:xfrm>
              <a:off x="2105025" y="5075238"/>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101</a:t>
              </a:r>
            </a:p>
          </p:txBody>
        </p:sp>
        <p:sp>
          <p:nvSpPr>
            <p:cNvPr id="68" name="Line 10"/>
            <p:cNvSpPr>
              <a:spLocks noChangeShapeType="1"/>
            </p:cNvSpPr>
            <p:nvPr/>
          </p:nvSpPr>
          <p:spPr bwMode="auto">
            <a:xfrm>
              <a:off x="187642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69" name="Line 11"/>
            <p:cNvSpPr>
              <a:spLocks noChangeShapeType="1"/>
            </p:cNvSpPr>
            <p:nvPr/>
          </p:nvSpPr>
          <p:spPr bwMode="auto">
            <a:xfrm flipH="1">
              <a:off x="1069975" y="4576763"/>
              <a:ext cx="422275" cy="49847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70" name="Text Box 19"/>
            <p:cNvSpPr txBox="1">
              <a:spLocks noChangeArrowheads="1"/>
            </p:cNvSpPr>
            <p:nvPr/>
          </p:nvSpPr>
          <p:spPr bwMode="auto">
            <a:xfrm>
              <a:off x="91440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0</a:t>
              </a:r>
            </a:p>
          </p:txBody>
        </p:sp>
        <p:sp>
          <p:nvSpPr>
            <p:cNvPr id="71" name="Text Box 20"/>
            <p:cNvSpPr txBox="1">
              <a:spLocks noChangeArrowheads="1"/>
            </p:cNvSpPr>
            <p:nvPr/>
          </p:nvSpPr>
          <p:spPr bwMode="auto">
            <a:xfrm>
              <a:off x="1962150" y="446087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1</a:t>
              </a:r>
            </a:p>
          </p:txBody>
        </p:sp>
      </p:grpSp>
      <p:sp>
        <p:nvSpPr>
          <p:cNvPr id="72" name="Oval 6"/>
          <p:cNvSpPr>
            <a:spLocks noChangeArrowheads="1"/>
          </p:cNvSpPr>
          <p:nvPr/>
        </p:nvSpPr>
        <p:spPr bwMode="auto">
          <a:xfrm>
            <a:off x="2290763" y="3429000"/>
            <a:ext cx="500062" cy="422275"/>
          </a:xfrm>
          <a:prstGeom prst="ellipse">
            <a:avLst/>
          </a:prstGeom>
          <a:solidFill>
            <a:srgbClr val="D3A600"/>
          </a:solidFill>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0**</a:t>
            </a:r>
          </a:p>
        </p:txBody>
      </p:sp>
      <p:sp>
        <p:nvSpPr>
          <p:cNvPr id="75" name="Line 10"/>
          <p:cNvSpPr>
            <a:spLocks noChangeShapeType="1"/>
          </p:cNvSpPr>
          <p:nvPr/>
        </p:nvSpPr>
        <p:spPr bwMode="auto">
          <a:xfrm>
            <a:off x="2714625" y="3775075"/>
            <a:ext cx="714375" cy="64452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76" name="Line 11"/>
          <p:cNvSpPr>
            <a:spLocks noChangeShapeType="1"/>
          </p:cNvSpPr>
          <p:nvPr/>
        </p:nvSpPr>
        <p:spPr bwMode="auto">
          <a:xfrm flipH="1">
            <a:off x="1600200" y="3775075"/>
            <a:ext cx="730250" cy="56832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77" name="Text Box 19"/>
          <p:cNvSpPr txBox="1">
            <a:spLocks noChangeArrowheads="1"/>
          </p:cNvSpPr>
          <p:nvPr/>
        </p:nvSpPr>
        <p:spPr bwMode="auto">
          <a:xfrm>
            <a:off x="1676400" y="3659187"/>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dirty="0">
                <a:solidFill>
                  <a:schemeClr val="accent2"/>
                </a:solidFill>
                <a:latin typeface="Arial" charset="0"/>
                <a:ea typeface="Arial" charset="0"/>
                <a:cs typeface="Arial" charset="0"/>
              </a:rPr>
              <a:t>0</a:t>
            </a:r>
          </a:p>
        </p:txBody>
      </p:sp>
      <p:sp>
        <p:nvSpPr>
          <p:cNvPr id="78" name="Text Box 20"/>
          <p:cNvSpPr txBox="1">
            <a:spLocks noChangeArrowheads="1"/>
          </p:cNvSpPr>
          <p:nvPr/>
        </p:nvSpPr>
        <p:spPr bwMode="auto">
          <a:xfrm>
            <a:off x="2940050" y="3659187"/>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dirty="0">
                <a:solidFill>
                  <a:schemeClr val="accent2"/>
                </a:solidFill>
                <a:latin typeface="Arial" charset="0"/>
                <a:ea typeface="Arial" charset="0"/>
                <a:cs typeface="Arial" charset="0"/>
              </a:rPr>
              <a:t>1</a:t>
            </a:r>
          </a:p>
        </p:txBody>
      </p:sp>
      <p:sp>
        <p:nvSpPr>
          <p:cNvPr id="79" name="Oval 6"/>
          <p:cNvSpPr>
            <a:spLocks noChangeArrowheads="1"/>
          </p:cNvSpPr>
          <p:nvPr/>
        </p:nvSpPr>
        <p:spPr bwMode="auto">
          <a:xfrm>
            <a:off x="6772276" y="3429000"/>
            <a:ext cx="500062" cy="422275"/>
          </a:xfrm>
          <a:prstGeom prst="ellipse">
            <a:avLst/>
          </a:prstGeom>
          <a:solidFill>
            <a:srgbClr val="D3A600"/>
          </a:solidFill>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1**</a:t>
            </a:r>
          </a:p>
        </p:txBody>
      </p:sp>
      <p:sp>
        <p:nvSpPr>
          <p:cNvPr id="82" name="Line 10"/>
          <p:cNvSpPr>
            <a:spLocks noChangeShapeType="1"/>
          </p:cNvSpPr>
          <p:nvPr/>
        </p:nvSpPr>
        <p:spPr bwMode="auto">
          <a:xfrm>
            <a:off x="7196138" y="3775075"/>
            <a:ext cx="652462" cy="56832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83" name="Line 11"/>
          <p:cNvSpPr>
            <a:spLocks noChangeShapeType="1"/>
          </p:cNvSpPr>
          <p:nvPr/>
        </p:nvSpPr>
        <p:spPr bwMode="auto">
          <a:xfrm flipH="1">
            <a:off x="5943599" y="3775075"/>
            <a:ext cx="868363" cy="56832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84" name="Text Box 19"/>
          <p:cNvSpPr txBox="1">
            <a:spLocks noChangeArrowheads="1"/>
          </p:cNvSpPr>
          <p:nvPr/>
        </p:nvSpPr>
        <p:spPr bwMode="auto">
          <a:xfrm>
            <a:off x="6096000" y="3659187"/>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a:solidFill>
                  <a:schemeClr val="accent2"/>
                </a:solidFill>
                <a:latin typeface="Arial" charset="0"/>
                <a:ea typeface="Arial" charset="0"/>
                <a:cs typeface="Arial" charset="0"/>
              </a:rPr>
              <a:t>0</a:t>
            </a:r>
          </a:p>
        </p:txBody>
      </p:sp>
      <p:sp>
        <p:nvSpPr>
          <p:cNvPr id="85" name="Text Box 20"/>
          <p:cNvSpPr txBox="1">
            <a:spLocks noChangeArrowheads="1"/>
          </p:cNvSpPr>
          <p:nvPr/>
        </p:nvSpPr>
        <p:spPr bwMode="auto">
          <a:xfrm>
            <a:off x="7435850" y="3659187"/>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dirty="0">
                <a:solidFill>
                  <a:schemeClr val="accent2"/>
                </a:solidFill>
                <a:latin typeface="Arial" charset="0"/>
                <a:ea typeface="Arial" charset="0"/>
                <a:cs typeface="Arial" charset="0"/>
              </a:rPr>
              <a:t>1</a:t>
            </a:r>
          </a:p>
        </p:txBody>
      </p:sp>
      <p:sp>
        <p:nvSpPr>
          <p:cNvPr id="86" name="Oval 6"/>
          <p:cNvSpPr>
            <a:spLocks noChangeArrowheads="1"/>
          </p:cNvSpPr>
          <p:nvPr/>
        </p:nvSpPr>
        <p:spPr bwMode="auto">
          <a:xfrm>
            <a:off x="4424363" y="2209800"/>
            <a:ext cx="500062" cy="422275"/>
          </a:xfrm>
          <a:prstGeom prst="ellipse">
            <a:avLst/>
          </a:prstGeom>
          <a:ln>
            <a:solidFill>
              <a:schemeClr val="accent2"/>
            </a:solidFill>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chemeClr val="accent2"/>
                </a:solidFill>
                <a:latin typeface="Arial" charset="0"/>
                <a:ea typeface="Arial" charset="0"/>
                <a:cs typeface="Arial" charset="0"/>
              </a:rPr>
              <a:t>***</a:t>
            </a:r>
          </a:p>
        </p:txBody>
      </p:sp>
      <p:sp>
        <p:nvSpPr>
          <p:cNvPr id="89" name="Line 10"/>
          <p:cNvSpPr>
            <a:spLocks noChangeShapeType="1"/>
          </p:cNvSpPr>
          <p:nvPr/>
        </p:nvSpPr>
        <p:spPr bwMode="auto">
          <a:xfrm>
            <a:off x="4848225" y="2555875"/>
            <a:ext cx="2009775" cy="94932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90" name="Line 11"/>
          <p:cNvSpPr>
            <a:spLocks noChangeShapeType="1"/>
          </p:cNvSpPr>
          <p:nvPr/>
        </p:nvSpPr>
        <p:spPr bwMode="auto">
          <a:xfrm flipH="1">
            <a:off x="2743200" y="2555875"/>
            <a:ext cx="1720850" cy="1025525"/>
          </a:xfrm>
          <a:prstGeom prst="line">
            <a:avLst/>
          </a:prstGeom>
          <a:noFill/>
          <a:ln w="25400">
            <a:solidFill>
              <a:schemeClr val="accent2"/>
            </a:solidFill>
            <a:round/>
            <a:headEnd/>
            <a:tailEnd type="triangle" w="lg" len="lg"/>
          </a:ln>
          <a:extLst>
            <a:ext uri="{909E8E84-426E-40dd-AFC4-6F175D3DCCD1}">
              <a14:hiddenFill xmlns:a14="http://schemas.microsoft.com/office/drawing/2010/main" xmlns="">
                <a:noFill/>
              </a14:hiddenFill>
            </a:ext>
          </a:extLst>
        </p:spPr>
        <p:txBody>
          <a:bodyPr wrap="none" anchor="ctr"/>
          <a:lstStyle/>
          <a:p>
            <a:endParaRPr lang="en-US" b="0">
              <a:solidFill>
                <a:schemeClr val="accent2"/>
              </a:solidFill>
              <a:ea typeface="Arial" charset="0"/>
              <a:cs typeface="Arial" charset="0"/>
            </a:endParaRPr>
          </a:p>
        </p:txBody>
      </p:sp>
      <p:sp>
        <p:nvSpPr>
          <p:cNvPr id="91" name="Text Box 19"/>
          <p:cNvSpPr txBox="1">
            <a:spLocks noChangeArrowheads="1"/>
          </p:cNvSpPr>
          <p:nvPr/>
        </p:nvSpPr>
        <p:spPr bwMode="auto">
          <a:xfrm>
            <a:off x="3200400" y="2574925"/>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dirty="0">
                <a:solidFill>
                  <a:schemeClr val="accent2"/>
                </a:solidFill>
                <a:latin typeface="Arial" charset="0"/>
                <a:ea typeface="Arial" charset="0"/>
                <a:cs typeface="Arial" charset="0"/>
              </a:rPr>
              <a:t>0</a:t>
            </a:r>
          </a:p>
        </p:txBody>
      </p:sp>
      <p:sp>
        <p:nvSpPr>
          <p:cNvPr id="92" name="Text Box 20"/>
          <p:cNvSpPr txBox="1">
            <a:spLocks noChangeArrowheads="1"/>
          </p:cNvSpPr>
          <p:nvPr/>
        </p:nvSpPr>
        <p:spPr bwMode="auto">
          <a:xfrm>
            <a:off x="5943600" y="2590800"/>
            <a:ext cx="48895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ctr" eaLnBrk="1" hangingPunct="1"/>
            <a:r>
              <a:rPr lang="en-US" b="0" dirty="0">
                <a:solidFill>
                  <a:schemeClr val="accent2"/>
                </a:solidFill>
                <a:latin typeface="Arial" charset="0"/>
                <a:ea typeface="Arial" charset="0"/>
                <a:cs typeface="Arial" charset="0"/>
              </a:rPr>
              <a:t>1</a:t>
            </a:r>
          </a:p>
        </p:txBody>
      </p:sp>
      <p:sp>
        <p:nvSpPr>
          <p:cNvPr id="73" name="TextBox 72"/>
          <p:cNvSpPr txBox="1"/>
          <p:nvPr/>
        </p:nvSpPr>
        <p:spPr>
          <a:xfrm>
            <a:off x="5486400" y="1191161"/>
            <a:ext cx="3276600" cy="1323439"/>
          </a:xfrm>
          <a:prstGeom prst="rect">
            <a:avLst/>
          </a:prstGeom>
          <a:noFill/>
        </p:spPr>
        <p:txBody>
          <a:bodyPr wrap="square" rtlCol="0">
            <a:spAutoFit/>
          </a:bodyPr>
          <a:lstStyle/>
          <a:p>
            <a:pPr marL="0" indent="0">
              <a:buNone/>
            </a:pPr>
            <a:endParaRPr lang="en-US" b="0" dirty="0"/>
          </a:p>
          <a:p>
            <a:r>
              <a:rPr lang="en-US" b="0" dirty="0">
                <a:latin typeface="Monaco"/>
                <a:cs typeface="Monaco"/>
              </a:rPr>
              <a:t>  000</a:t>
            </a:r>
            <a:r>
              <a:rPr lang="en-US" b="0" dirty="0"/>
              <a:t>	</a:t>
            </a:r>
            <a:r>
              <a:rPr lang="en-US" b="0" dirty="0">
                <a:latin typeface="Wingdings"/>
                <a:ea typeface="Wingdings"/>
                <a:cs typeface="Wingdings"/>
                <a:sym typeface="Wingdings"/>
              </a:rPr>
              <a:t>	</a:t>
            </a:r>
            <a:r>
              <a:rPr lang="en-US" b="0" dirty="0"/>
              <a:t>Port 1</a:t>
            </a:r>
          </a:p>
          <a:p>
            <a:r>
              <a:rPr lang="en-US" b="0" dirty="0">
                <a:latin typeface="Monaco"/>
                <a:cs typeface="Monaco"/>
              </a:rPr>
              <a:t>  001</a:t>
            </a:r>
            <a:r>
              <a:rPr lang="en-US" b="0" dirty="0"/>
              <a:t>	</a:t>
            </a:r>
            <a:r>
              <a:rPr lang="en-US" b="0" dirty="0">
                <a:latin typeface="Wingdings"/>
                <a:ea typeface="Wingdings"/>
                <a:cs typeface="Wingdings"/>
                <a:sym typeface="Wingdings"/>
              </a:rPr>
              <a:t>	</a:t>
            </a:r>
            <a:r>
              <a:rPr lang="en-US" b="0" dirty="0"/>
              <a:t>Port 2</a:t>
            </a:r>
          </a:p>
          <a:p>
            <a:r>
              <a:rPr lang="en-US" b="0" dirty="0">
                <a:latin typeface="Monaco"/>
                <a:cs typeface="Monaco"/>
              </a:rPr>
              <a:t>  0**</a:t>
            </a:r>
            <a:r>
              <a:rPr lang="en-US" b="0" dirty="0"/>
              <a:t>	</a:t>
            </a:r>
            <a:r>
              <a:rPr lang="en-US" b="0" dirty="0">
                <a:latin typeface="Wingdings"/>
                <a:ea typeface="Wingdings"/>
                <a:cs typeface="Wingdings"/>
                <a:sym typeface="Wingdings"/>
              </a:rPr>
              <a:t>	</a:t>
            </a:r>
            <a:r>
              <a:rPr lang="en-US" b="0" dirty="0"/>
              <a:t>Port 3</a:t>
            </a:r>
          </a:p>
          <a:p>
            <a:r>
              <a:rPr lang="en-US" b="0" dirty="0">
                <a:latin typeface="Monaco"/>
                <a:cs typeface="Monaco"/>
              </a:rPr>
              <a:t>  1**</a:t>
            </a:r>
            <a:r>
              <a:rPr lang="en-US" b="0" dirty="0"/>
              <a:t>	</a:t>
            </a:r>
            <a:r>
              <a:rPr lang="en-US" b="0" dirty="0">
                <a:latin typeface="Wingdings"/>
                <a:ea typeface="Wingdings"/>
                <a:cs typeface="Wingdings"/>
                <a:sym typeface="Wingdings"/>
              </a:rPr>
              <a:t>	</a:t>
            </a:r>
            <a:r>
              <a:rPr lang="en-US" b="0" dirty="0"/>
              <a:t>Port 4</a:t>
            </a:r>
          </a:p>
        </p:txBody>
      </p:sp>
      <p:sp>
        <p:nvSpPr>
          <p:cNvPr id="74" name="TextBox 73"/>
          <p:cNvSpPr txBox="1"/>
          <p:nvPr/>
        </p:nvSpPr>
        <p:spPr>
          <a:xfrm>
            <a:off x="440531" y="5812264"/>
            <a:ext cx="8262938" cy="830997"/>
          </a:xfrm>
          <a:prstGeom prst="rect">
            <a:avLst/>
          </a:prstGeom>
          <a:noFill/>
        </p:spPr>
        <p:txBody>
          <a:bodyPr wrap="square" rtlCol="0">
            <a:spAutoFit/>
          </a:bodyPr>
          <a:lstStyle/>
          <a:p>
            <a:pPr algn="ctr"/>
            <a:r>
              <a:rPr lang="en-US" sz="2400" b="0" dirty="0">
                <a:solidFill>
                  <a:schemeClr val="accent2"/>
                </a:solidFill>
                <a:latin typeface="+mn-lt"/>
              </a:rPr>
              <a:t>Record port associated with latest match, and only override when it matches another prefix during walk down tree</a:t>
            </a:r>
          </a:p>
        </p:txBody>
      </p:sp>
      <p:sp>
        <p:nvSpPr>
          <p:cNvPr id="4" name="Slide Number Placeholder 3">
            <a:extLst>
              <a:ext uri="{FF2B5EF4-FFF2-40B4-BE49-F238E27FC236}">
                <a16:creationId xmlns:a16="http://schemas.microsoft.com/office/drawing/2014/main" id="{0D7C6A66-3E77-ED42-94AA-73BBEB9A5DA6}"/>
              </a:ext>
            </a:extLst>
          </p:cNvPr>
          <p:cNvSpPr>
            <a:spLocks noGrp="1"/>
          </p:cNvSpPr>
          <p:nvPr>
            <p:ph type="sldNum" sz="quarter" idx="12"/>
          </p:nvPr>
        </p:nvSpPr>
        <p:spPr/>
        <p:txBody>
          <a:bodyPr/>
          <a:lstStyle/>
          <a:p>
            <a:fld id="{9507A418-0CEB-9E4A-BA45-3B7D3D133EB9}" type="slidenum">
              <a:rPr lang="en-US" smtClean="0"/>
              <a:pPr/>
              <a:t>12</a:t>
            </a:fld>
            <a:endParaRPr lang="en-US"/>
          </a:p>
        </p:txBody>
      </p:sp>
    </p:spTree>
    <p:extLst>
      <p:ext uri="{BB962C8B-B14F-4D97-AF65-F5344CB8AC3E}">
        <p14:creationId xmlns:p14="http://schemas.microsoft.com/office/powerpoint/2010/main" val="119641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title"/>
          </p:nvPr>
        </p:nvSpPr>
        <p:spPr/>
        <p:txBody>
          <a:bodyPr/>
          <a:lstStyle/>
          <a:p>
            <a:r>
              <a:rPr lang="en-US" dirty="0"/>
              <a:t>Output linecards</a:t>
            </a:r>
          </a:p>
        </p:txBody>
      </p:sp>
      <p:sp>
        <p:nvSpPr>
          <p:cNvPr id="71" name="Content Placeholder 70"/>
          <p:cNvSpPr>
            <a:spLocks noGrp="1"/>
          </p:cNvSpPr>
          <p:nvPr>
            <p:ph idx="1"/>
          </p:nvPr>
        </p:nvSpPr>
        <p:spPr/>
        <p:txBody>
          <a:bodyPr/>
          <a:lstStyle/>
          <a:p>
            <a:r>
              <a:rPr lang="en-US" dirty="0">
                <a:solidFill>
                  <a:srgbClr val="0000FF"/>
                </a:solidFill>
              </a:rPr>
              <a:t>Packet classification</a:t>
            </a:r>
            <a:r>
              <a:rPr lang="en-US" dirty="0"/>
              <a:t>: map packets to flows</a:t>
            </a:r>
          </a:p>
          <a:p>
            <a:r>
              <a:rPr lang="en-US" dirty="0">
                <a:solidFill>
                  <a:srgbClr val="0000FF"/>
                </a:solidFill>
              </a:rPr>
              <a:t>Buffer management</a:t>
            </a:r>
            <a:r>
              <a:rPr lang="en-US" dirty="0"/>
              <a:t>: decide when and which packet to drop</a:t>
            </a:r>
          </a:p>
          <a:p>
            <a:r>
              <a:rPr lang="en-US" dirty="0">
                <a:solidFill>
                  <a:srgbClr val="0000FF"/>
                </a:solidFill>
              </a:rPr>
              <a:t>Scheduler</a:t>
            </a:r>
            <a:r>
              <a:rPr lang="en-US" dirty="0"/>
              <a:t>: decide when and which packet to transmit</a:t>
            </a:r>
          </a:p>
        </p:txBody>
      </p:sp>
      <p:sp>
        <p:nvSpPr>
          <p:cNvPr id="6" name="Rectangle 5"/>
          <p:cNvSpPr>
            <a:spLocks noChangeArrowheads="1"/>
          </p:cNvSpPr>
          <p:nvPr/>
        </p:nvSpPr>
        <p:spPr bwMode="auto">
          <a:xfrm>
            <a:off x="2895600" y="4159418"/>
            <a:ext cx="3424238" cy="2128837"/>
          </a:xfrm>
          <a:prstGeom prst="rect">
            <a:avLst/>
          </a:prstGeom>
          <a:solidFill>
            <a:schemeClr val="accent1"/>
          </a:solidFill>
          <a:ln w="12700">
            <a:solidFill>
              <a:schemeClr val="tx1"/>
            </a:solidFill>
            <a:miter lim="800000"/>
            <a:headEnd/>
            <a:tailEnd/>
          </a:ln>
          <a:effectLst/>
        </p:spPr>
        <p:txBody>
          <a:bodyPr wrap="none" lIns="90332" tIns="44374" rIns="90332" bIns="44374" anchor="ctr"/>
          <a:lstStyle/>
          <a:p>
            <a:pPr algn="ctr" defTabSz="912813"/>
            <a:endParaRPr lang="en-US" b="0">
              <a:ln w="0"/>
              <a:solidFill>
                <a:schemeClr val="accent2"/>
              </a:solidFill>
              <a:latin typeface="+mn-lt"/>
            </a:endParaRPr>
          </a:p>
        </p:txBody>
      </p:sp>
      <p:sp>
        <p:nvSpPr>
          <p:cNvPr id="7" name="Rectangle 6"/>
          <p:cNvSpPr>
            <a:spLocks noChangeArrowheads="1"/>
          </p:cNvSpPr>
          <p:nvPr/>
        </p:nvSpPr>
        <p:spPr bwMode="auto">
          <a:xfrm>
            <a:off x="4037013" y="4388018"/>
            <a:ext cx="1065212" cy="1444625"/>
          </a:xfrm>
          <a:prstGeom prst="rect">
            <a:avLst/>
          </a:prstGeom>
          <a:solidFill>
            <a:schemeClr val="accent1"/>
          </a:solidFill>
          <a:ln w="12700">
            <a:solidFill>
              <a:schemeClr val="tx1"/>
            </a:solidFill>
            <a:miter lim="800000"/>
            <a:headEnd/>
            <a:tailEnd/>
          </a:ln>
          <a:effectLst/>
        </p:spPr>
        <p:txBody>
          <a:bodyPr wrap="none" lIns="90488" tIns="44450" rIns="90488" bIns="44450" anchor="ctr"/>
          <a:lstStyle/>
          <a:p>
            <a:endParaRPr lang="en-US" b="0">
              <a:ln w="0"/>
              <a:solidFill>
                <a:schemeClr val="accent2"/>
              </a:solidFill>
              <a:latin typeface="+mn-lt"/>
            </a:endParaRPr>
          </a:p>
        </p:txBody>
      </p:sp>
      <p:sp>
        <p:nvSpPr>
          <p:cNvPr id="33" name="Rectangle 32"/>
          <p:cNvSpPr>
            <a:spLocks noChangeArrowheads="1"/>
          </p:cNvSpPr>
          <p:nvPr/>
        </p:nvSpPr>
        <p:spPr bwMode="auto">
          <a:xfrm>
            <a:off x="5283200" y="4767430"/>
            <a:ext cx="911225" cy="531813"/>
          </a:xfrm>
          <a:prstGeom prst="rect">
            <a:avLst/>
          </a:prstGeom>
          <a:noFill/>
          <a:ln w="12700">
            <a:solidFill>
              <a:schemeClr val="tx1"/>
            </a:solidFill>
            <a:miter lim="800000"/>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b="0">
              <a:ln w="0"/>
              <a:solidFill>
                <a:schemeClr val="accent2"/>
              </a:solidFill>
              <a:latin typeface="+mn-lt"/>
            </a:endParaRPr>
          </a:p>
        </p:txBody>
      </p:sp>
      <p:grpSp>
        <p:nvGrpSpPr>
          <p:cNvPr id="34" name="Group 33"/>
          <p:cNvGrpSpPr>
            <a:grpSpLocks/>
          </p:cNvGrpSpPr>
          <p:nvPr/>
        </p:nvGrpSpPr>
        <p:grpSpPr bwMode="auto">
          <a:xfrm>
            <a:off x="4191000" y="4615019"/>
            <a:ext cx="779463" cy="152400"/>
            <a:chOff x="3636" y="2064"/>
            <a:chExt cx="493" cy="96"/>
          </a:xfrm>
          <a:effectLst/>
        </p:grpSpPr>
        <p:sp>
          <p:nvSpPr>
            <p:cNvPr id="35" name="Rectangle 34"/>
            <p:cNvSpPr>
              <a:spLocks noChangeArrowheads="1"/>
            </p:cNvSpPr>
            <p:nvPr/>
          </p:nvSpPr>
          <p:spPr bwMode="auto">
            <a:xfrm>
              <a:off x="3696" y="2064"/>
              <a:ext cx="432" cy="96"/>
            </a:xfrm>
            <a:prstGeom prst="rect">
              <a:avLst/>
            </a:prstGeom>
            <a:noFill/>
            <a:ln w="12700">
              <a:solidFill>
                <a:schemeClr val="tx1"/>
              </a:solidFill>
              <a:miter lim="800000"/>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b="0">
                <a:ln w="0"/>
                <a:solidFill>
                  <a:schemeClr val="accent2"/>
                </a:solidFill>
                <a:latin typeface="+mn-lt"/>
              </a:endParaRPr>
            </a:p>
          </p:txBody>
        </p:sp>
        <p:sp>
          <p:nvSpPr>
            <p:cNvPr id="36" name="Line 35"/>
            <p:cNvSpPr>
              <a:spLocks noChangeShapeType="1"/>
            </p:cNvSpPr>
            <p:nvPr/>
          </p:nvSpPr>
          <p:spPr bwMode="auto">
            <a:xfrm>
              <a:off x="4128" y="2064"/>
              <a:ext cx="1"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37" name="Line 36"/>
            <p:cNvSpPr>
              <a:spLocks noChangeShapeType="1"/>
            </p:cNvSpPr>
            <p:nvPr/>
          </p:nvSpPr>
          <p:spPr bwMode="auto">
            <a:xfrm>
              <a:off x="3984" y="2064"/>
              <a:ext cx="0"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38" name="Line 37"/>
            <p:cNvSpPr>
              <a:spLocks noChangeShapeType="1"/>
            </p:cNvSpPr>
            <p:nvPr/>
          </p:nvSpPr>
          <p:spPr bwMode="auto">
            <a:xfrm>
              <a:off x="3840" y="2064"/>
              <a:ext cx="1"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39" name="Line 38"/>
            <p:cNvSpPr>
              <a:spLocks noChangeShapeType="1"/>
            </p:cNvSpPr>
            <p:nvPr/>
          </p:nvSpPr>
          <p:spPr bwMode="auto">
            <a:xfrm>
              <a:off x="3636" y="2064"/>
              <a:ext cx="108" cy="0"/>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40" name="Line 39"/>
            <p:cNvSpPr>
              <a:spLocks noChangeShapeType="1"/>
            </p:cNvSpPr>
            <p:nvPr/>
          </p:nvSpPr>
          <p:spPr bwMode="auto">
            <a:xfrm>
              <a:off x="3636" y="2160"/>
              <a:ext cx="108" cy="0"/>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grpSp>
      <p:sp>
        <p:nvSpPr>
          <p:cNvPr id="41" name="Text Box 40"/>
          <p:cNvSpPr txBox="1">
            <a:spLocks noChangeArrowheads="1"/>
          </p:cNvSpPr>
          <p:nvPr/>
        </p:nvSpPr>
        <p:spPr bwMode="auto">
          <a:xfrm>
            <a:off x="5249438" y="4870306"/>
            <a:ext cx="988739" cy="305058"/>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127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400" b="0">
                <a:ln w="0"/>
                <a:solidFill>
                  <a:schemeClr val="accent2"/>
                </a:solidFill>
                <a:latin typeface="+mn-lt"/>
              </a:rPr>
              <a:t>Scheduler</a:t>
            </a:r>
          </a:p>
        </p:txBody>
      </p:sp>
      <p:sp>
        <p:nvSpPr>
          <p:cNvPr id="42" name="Text Box 41"/>
          <p:cNvSpPr txBox="1">
            <a:spLocks noChangeArrowheads="1"/>
          </p:cNvSpPr>
          <p:nvPr/>
        </p:nvSpPr>
        <p:spPr bwMode="auto">
          <a:xfrm>
            <a:off x="4308660" y="4388018"/>
            <a:ext cx="650505" cy="305058"/>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127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400" b="0">
                <a:ln w="0"/>
                <a:solidFill>
                  <a:schemeClr val="accent2"/>
                </a:solidFill>
                <a:latin typeface="+mn-lt"/>
              </a:rPr>
              <a:t>flow 1</a:t>
            </a:r>
          </a:p>
        </p:txBody>
      </p:sp>
      <p:sp>
        <p:nvSpPr>
          <p:cNvPr id="51" name="Text Box 50"/>
          <p:cNvSpPr txBox="1">
            <a:spLocks noChangeArrowheads="1"/>
          </p:cNvSpPr>
          <p:nvPr/>
        </p:nvSpPr>
        <p:spPr bwMode="auto">
          <a:xfrm>
            <a:off x="4327710" y="4845218"/>
            <a:ext cx="650505" cy="305058"/>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127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400" b="0">
                <a:ln w="0"/>
                <a:solidFill>
                  <a:schemeClr val="accent2"/>
                </a:solidFill>
                <a:latin typeface="+mn-lt"/>
              </a:rPr>
              <a:t>flow 2</a:t>
            </a:r>
          </a:p>
        </p:txBody>
      </p:sp>
      <p:grpSp>
        <p:nvGrpSpPr>
          <p:cNvPr id="52" name="Group 51"/>
          <p:cNvGrpSpPr>
            <a:grpSpLocks/>
          </p:cNvGrpSpPr>
          <p:nvPr/>
        </p:nvGrpSpPr>
        <p:grpSpPr bwMode="auto">
          <a:xfrm>
            <a:off x="4208463" y="5602444"/>
            <a:ext cx="781050" cy="152400"/>
            <a:chOff x="3636" y="2064"/>
            <a:chExt cx="493" cy="96"/>
          </a:xfrm>
          <a:effectLst/>
        </p:grpSpPr>
        <p:sp>
          <p:nvSpPr>
            <p:cNvPr id="53" name="Rectangle 52"/>
            <p:cNvSpPr>
              <a:spLocks noChangeArrowheads="1"/>
            </p:cNvSpPr>
            <p:nvPr/>
          </p:nvSpPr>
          <p:spPr bwMode="auto">
            <a:xfrm>
              <a:off x="3696" y="2064"/>
              <a:ext cx="432" cy="96"/>
            </a:xfrm>
            <a:prstGeom prst="rect">
              <a:avLst/>
            </a:prstGeom>
            <a:noFill/>
            <a:ln w="12700">
              <a:solidFill>
                <a:schemeClr val="tx1"/>
              </a:solidFill>
              <a:miter lim="800000"/>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b="0">
                <a:ln w="0"/>
                <a:solidFill>
                  <a:schemeClr val="accent2"/>
                </a:solidFill>
                <a:latin typeface="+mn-lt"/>
              </a:endParaRPr>
            </a:p>
          </p:txBody>
        </p:sp>
        <p:sp>
          <p:nvSpPr>
            <p:cNvPr id="54" name="Line 53"/>
            <p:cNvSpPr>
              <a:spLocks noChangeShapeType="1"/>
            </p:cNvSpPr>
            <p:nvPr/>
          </p:nvSpPr>
          <p:spPr bwMode="auto">
            <a:xfrm>
              <a:off x="4128" y="2064"/>
              <a:ext cx="1"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55" name="Line 54"/>
            <p:cNvSpPr>
              <a:spLocks noChangeShapeType="1"/>
            </p:cNvSpPr>
            <p:nvPr/>
          </p:nvSpPr>
          <p:spPr bwMode="auto">
            <a:xfrm>
              <a:off x="3984" y="2064"/>
              <a:ext cx="0"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56" name="Line 55"/>
            <p:cNvSpPr>
              <a:spLocks noChangeShapeType="1"/>
            </p:cNvSpPr>
            <p:nvPr/>
          </p:nvSpPr>
          <p:spPr bwMode="auto">
            <a:xfrm>
              <a:off x="3840" y="2064"/>
              <a:ext cx="1"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57" name="Line 56"/>
            <p:cNvSpPr>
              <a:spLocks noChangeShapeType="1"/>
            </p:cNvSpPr>
            <p:nvPr/>
          </p:nvSpPr>
          <p:spPr bwMode="auto">
            <a:xfrm>
              <a:off x="3636" y="2064"/>
              <a:ext cx="108" cy="1"/>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58" name="Line 57"/>
            <p:cNvSpPr>
              <a:spLocks noChangeShapeType="1"/>
            </p:cNvSpPr>
            <p:nvPr/>
          </p:nvSpPr>
          <p:spPr bwMode="auto">
            <a:xfrm>
              <a:off x="3636" y="2160"/>
              <a:ext cx="108" cy="0"/>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grpSp>
      <p:sp>
        <p:nvSpPr>
          <p:cNvPr id="59" name="Text Box 58"/>
          <p:cNvSpPr txBox="1">
            <a:spLocks noChangeArrowheads="1"/>
          </p:cNvSpPr>
          <p:nvPr/>
        </p:nvSpPr>
        <p:spPr bwMode="auto">
          <a:xfrm>
            <a:off x="4328364" y="5361436"/>
            <a:ext cx="649153" cy="305058"/>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127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400" b="0">
                <a:ln w="0"/>
                <a:solidFill>
                  <a:schemeClr val="accent2"/>
                </a:solidFill>
                <a:latin typeface="+mn-lt"/>
              </a:rPr>
              <a:t>flow n</a:t>
            </a:r>
          </a:p>
        </p:txBody>
      </p:sp>
      <p:sp>
        <p:nvSpPr>
          <p:cNvPr id="60" name="Rectangle 59"/>
          <p:cNvSpPr>
            <a:spLocks noChangeArrowheads="1"/>
          </p:cNvSpPr>
          <p:nvPr/>
        </p:nvSpPr>
        <p:spPr bwMode="auto">
          <a:xfrm>
            <a:off x="3013075" y="4767430"/>
            <a:ext cx="862013" cy="531813"/>
          </a:xfrm>
          <a:prstGeom prst="rect">
            <a:avLst/>
          </a:prstGeom>
          <a:noFill/>
          <a:ln w="12700">
            <a:solidFill>
              <a:schemeClr val="tx1"/>
            </a:solidFill>
            <a:miter lim="800000"/>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b="0">
              <a:ln w="0"/>
              <a:solidFill>
                <a:schemeClr val="accent2"/>
              </a:solidFill>
              <a:latin typeface="+mn-lt"/>
            </a:endParaRPr>
          </a:p>
        </p:txBody>
      </p:sp>
      <p:sp>
        <p:nvSpPr>
          <p:cNvPr id="61" name="Text Box 60"/>
          <p:cNvSpPr txBox="1">
            <a:spLocks noChangeArrowheads="1"/>
          </p:cNvSpPr>
          <p:nvPr/>
        </p:nvSpPr>
        <p:spPr bwMode="auto">
          <a:xfrm>
            <a:off x="2981432" y="4870306"/>
            <a:ext cx="919811" cy="305058"/>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127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400" b="0">
                <a:ln w="0"/>
                <a:solidFill>
                  <a:schemeClr val="accent2"/>
                </a:solidFill>
                <a:latin typeface="+mn-lt"/>
              </a:rPr>
              <a:t>Classifier</a:t>
            </a:r>
          </a:p>
        </p:txBody>
      </p:sp>
      <p:sp>
        <p:nvSpPr>
          <p:cNvPr id="63" name="Line 62"/>
          <p:cNvSpPr>
            <a:spLocks noChangeShapeType="1"/>
          </p:cNvSpPr>
          <p:nvPr/>
        </p:nvSpPr>
        <p:spPr bwMode="auto">
          <a:xfrm flipV="1">
            <a:off x="3886200" y="4691230"/>
            <a:ext cx="3048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64" name="Line 63"/>
          <p:cNvSpPr>
            <a:spLocks noChangeShapeType="1"/>
          </p:cNvSpPr>
          <p:nvPr/>
        </p:nvSpPr>
        <p:spPr bwMode="auto">
          <a:xfrm>
            <a:off x="3886200" y="4996030"/>
            <a:ext cx="304800" cy="1524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65" name="Line 64"/>
          <p:cNvSpPr>
            <a:spLocks noChangeShapeType="1"/>
          </p:cNvSpPr>
          <p:nvPr/>
        </p:nvSpPr>
        <p:spPr bwMode="auto">
          <a:xfrm>
            <a:off x="3886200" y="4996030"/>
            <a:ext cx="304800" cy="684213"/>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66" name="Line 65"/>
          <p:cNvSpPr>
            <a:spLocks noChangeShapeType="1"/>
          </p:cNvSpPr>
          <p:nvPr/>
        </p:nvSpPr>
        <p:spPr bwMode="auto">
          <a:xfrm>
            <a:off x="4978400" y="4700755"/>
            <a:ext cx="295275" cy="276225"/>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67" name="Line 66"/>
          <p:cNvSpPr>
            <a:spLocks noChangeShapeType="1"/>
          </p:cNvSpPr>
          <p:nvPr/>
        </p:nvSpPr>
        <p:spPr bwMode="auto">
          <a:xfrm flipV="1">
            <a:off x="5026025" y="5043655"/>
            <a:ext cx="258763" cy="104775"/>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68" name="Line 67"/>
          <p:cNvSpPr>
            <a:spLocks noChangeShapeType="1"/>
          </p:cNvSpPr>
          <p:nvPr/>
        </p:nvSpPr>
        <p:spPr bwMode="auto">
          <a:xfrm flipV="1">
            <a:off x="4999038" y="5148430"/>
            <a:ext cx="255587" cy="522288"/>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69" name="Line 68"/>
          <p:cNvSpPr>
            <a:spLocks noChangeShapeType="1"/>
          </p:cNvSpPr>
          <p:nvPr/>
        </p:nvSpPr>
        <p:spPr bwMode="auto">
          <a:xfrm>
            <a:off x="6205538" y="5019842"/>
            <a:ext cx="419100" cy="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70" name="Text Box 69"/>
          <p:cNvSpPr txBox="1">
            <a:spLocks noChangeArrowheads="1"/>
          </p:cNvSpPr>
          <p:nvPr/>
        </p:nvSpPr>
        <p:spPr bwMode="auto">
          <a:xfrm>
            <a:off x="3840956" y="5804098"/>
            <a:ext cx="1533525" cy="520502"/>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127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332" tIns="44374" rIns="90332" bIns="44374">
            <a:spAutoFit/>
          </a:bodyPr>
          <a:lstStyle>
            <a:lvl1pPr defTabSz="912813">
              <a:defRPr sz="2400">
                <a:solidFill>
                  <a:schemeClr val="tx1"/>
                </a:solidFill>
                <a:latin typeface="Times New Roman" charset="0"/>
                <a:ea typeface="ＭＳ Ｐゴシック" charset="0"/>
              </a:defRPr>
            </a:lvl1pPr>
            <a:lvl2pPr defTabSz="912813">
              <a:defRPr sz="2400">
                <a:solidFill>
                  <a:schemeClr val="tx1"/>
                </a:solidFill>
                <a:latin typeface="Times New Roman" charset="0"/>
                <a:ea typeface="ＭＳ Ｐゴシック" charset="0"/>
              </a:defRPr>
            </a:lvl2pPr>
            <a:lvl3pPr marL="912813" defTabSz="912813">
              <a:defRPr sz="2400">
                <a:solidFill>
                  <a:schemeClr val="tx1"/>
                </a:solidFill>
                <a:latin typeface="Times New Roman" charset="0"/>
                <a:ea typeface="ＭＳ Ｐゴシック" charset="0"/>
              </a:defRPr>
            </a:lvl3pPr>
            <a:lvl4pPr marL="1370013" defTabSz="912813">
              <a:defRPr sz="2400">
                <a:solidFill>
                  <a:schemeClr val="tx1"/>
                </a:solidFill>
                <a:latin typeface="Times New Roman" charset="0"/>
                <a:ea typeface="ＭＳ Ｐゴシック" charset="0"/>
              </a:defRPr>
            </a:lvl4pPr>
            <a:lvl5pPr marL="1825625" defTabSz="912813">
              <a:defRPr sz="2400">
                <a:solidFill>
                  <a:schemeClr val="tx1"/>
                </a:solidFill>
                <a:latin typeface="Times New Roman" charset="0"/>
                <a:ea typeface="ＭＳ Ｐゴシック" charset="0"/>
              </a:defRPr>
            </a:lvl5pPr>
            <a:lvl6pPr marL="2282825" defTabSz="912813" eaLnBrk="0" fontAlgn="base" hangingPunct="0">
              <a:spcBef>
                <a:spcPct val="0"/>
              </a:spcBef>
              <a:spcAft>
                <a:spcPct val="0"/>
              </a:spcAft>
              <a:defRPr sz="2400">
                <a:solidFill>
                  <a:schemeClr val="tx1"/>
                </a:solidFill>
                <a:latin typeface="Times New Roman" charset="0"/>
                <a:ea typeface="ＭＳ Ｐゴシック" charset="0"/>
              </a:defRPr>
            </a:lvl6pPr>
            <a:lvl7pPr marL="2740025" defTabSz="912813" eaLnBrk="0" fontAlgn="base" hangingPunct="0">
              <a:spcBef>
                <a:spcPct val="0"/>
              </a:spcBef>
              <a:spcAft>
                <a:spcPct val="0"/>
              </a:spcAft>
              <a:defRPr sz="2400">
                <a:solidFill>
                  <a:schemeClr val="tx1"/>
                </a:solidFill>
                <a:latin typeface="Times New Roman" charset="0"/>
                <a:ea typeface="ＭＳ Ｐゴシック" charset="0"/>
              </a:defRPr>
            </a:lvl7pPr>
            <a:lvl8pPr marL="3197225" defTabSz="912813" eaLnBrk="0" fontAlgn="base" hangingPunct="0">
              <a:spcBef>
                <a:spcPct val="0"/>
              </a:spcBef>
              <a:spcAft>
                <a:spcPct val="0"/>
              </a:spcAft>
              <a:defRPr sz="2400">
                <a:solidFill>
                  <a:schemeClr val="tx1"/>
                </a:solidFill>
                <a:latin typeface="Times New Roman" charset="0"/>
                <a:ea typeface="ＭＳ Ｐゴシック" charset="0"/>
              </a:defRPr>
            </a:lvl8pPr>
            <a:lvl9pPr marL="3654425" defTabSz="912813" eaLnBrk="0" fontAlgn="base" hangingPunct="0">
              <a:spcBef>
                <a:spcPct val="0"/>
              </a:spcBef>
              <a:spcAft>
                <a:spcPct val="0"/>
              </a:spcAft>
              <a:defRPr sz="2400">
                <a:solidFill>
                  <a:schemeClr val="tx1"/>
                </a:solidFill>
                <a:latin typeface="Times New Roman" charset="0"/>
                <a:ea typeface="ＭＳ Ｐゴシック" charset="0"/>
              </a:defRPr>
            </a:lvl9pPr>
          </a:lstStyle>
          <a:p>
            <a:pPr algn="ctr"/>
            <a:r>
              <a:rPr lang="en-US" sz="1400" b="0">
                <a:ln w="0"/>
                <a:solidFill>
                  <a:schemeClr val="accent2"/>
                </a:solidFill>
                <a:latin typeface="+mn-lt"/>
              </a:rPr>
              <a:t>Buffer management</a:t>
            </a:r>
            <a:endParaRPr lang="en-US" sz="1400" b="0" dirty="0">
              <a:ln w="0"/>
              <a:solidFill>
                <a:schemeClr val="accent2"/>
              </a:solidFill>
              <a:latin typeface="+mn-lt"/>
            </a:endParaRPr>
          </a:p>
        </p:txBody>
      </p:sp>
      <p:grpSp>
        <p:nvGrpSpPr>
          <p:cNvPr id="72" name="Group 71"/>
          <p:cNvGrpSpPr>
            <a:grpSpLocks/>
          </p:cNvGrpSpPr>
          <p:nvPr/>
        </p:nvGrpSpPr>
        <p:grpSpPr bwMode="auto">
          <a:xfrm>
            <a:off x="4191000" y="5096031"/>
            <a:ext cx="779463" cy="152400"/>
            <a:chOff x="3636" y="2064"/>
            <a:chExt cx="493" cy="96"/>
          </a:xfrm>
          <a:effectLst/>
        </p:grpSpPr>
        <p:sp>
          <p:nvSpPr>
            <p:cNvPr id="73" name="Rectangle 72"/>
            <p:cNvSpPr>
              <a:spLocks noChangeArrowheads="1"/>
            </p:cNvSpPr>
            <p:nvPr/>
          </p:nvSpPr>
          <p:spPr bwMode="auto">
            <a:xfrm>
              <a:off x="3696" y="2064"/>
              <a:ext cx="432" cy="96"/>
            </a:xfrm>
            <a:prstGeom prst="rect">
              <a:avLst/>
            </a:prstGeom>
            <a:noFill/>
            <a:ln w="12700">
              <a:solidFill>
                <a:schemeClr val="tx1"/>
              </a:solidFill>
              <a:miter lim="800000"/>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nchor="ctr"/>
            <a:lstStyle/>
            <a:p>
              <a:endParaRPr lang="en-US" b="0">
                <a:ln w="0"/>
                <a:solidFill>
                  <a:schemeClr val="accent2"/>
                </a:solidFill>
                <a:latin typeface="+mn-lt"/>
              </a:endParaRPr>
            </a:p>
          </p:txBody>
        </p:sp>
        <p:sp>
          <p:nvSpPr>
            <p:cNvPr id="74" name="Line 35"/>
            <p:cNvSpPr>
              <a:spLocks noChangeShapeType="1"/>
            </p:cNvSpPr>
            <p:nvPr/>
          </p:nvSpPr>
          <p:spPr bwMode="auto">
            <a:xfrm>
              <a:off x="4128" y="2064"/>
              <a:ext cx="1"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75" name="Line 36"/>
            <p:cNvSpPr>
              <a:spLocks noChangeShapeType="1"/>
            </p:cNvSpPr>
            <p:nvPr/>
          </p:nvSpPr>
          <p:spPr bwMode="auto">
            <a:xfrm>
              <a:off x="3984" y="2064"/>
              <a:ext cx="0"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76" name="Line 37"/>
            <p:cNvSpPr>
              <a:spLocks noChangeShapeType="1"/>
            </p:cNvSpPr>
            <p:nvPr/>
          </p:nvSpPr>
          <p:spPr bwMode="auto">
            <a:xfrm>
              <a:off x="3840" y="2064"/>
              <a:ext cx="1" cy="96"/>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77" name="Line 38"/>
            <p:cNvSpPr>
              <a:spLocks noChangeShapeType="1"/>
            </p:cNvSpPr>
            <p:nvPr/>
          </p:nvSpPr>
          <p:spPr bwMode="auto">
            <a:xfrm>
              <a:off x="3636" y="2064"/>
              <a:ext cx="108" cy="0"/>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78" name="Line 39"/>
            <p:cNvSpPr>
              <a:spLocks noChangeShapeType="1"/>
            </p:cNvSpPr>
            <p:nvPr/>
          </p:nvSpPr>
          <p:spPr bwMode="auto">
            <a:xfrm>
              <a:off x="3636" y="2160"/>
              <a:ext cx="108" cy="0"/>
            </a:xfrm>
            <a:prstGeom prst="line">
              <a:avLst/>
            </a:prstGeom>
            <a:noFill/>
            <a:ln w="127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grpSp>
      <p:sp>
        <p:nvSpPr>
          <p:cNvPr id="84" name="Line 68"/>
          <p:cNvSpPr>
            <a:spLocks noChangeShapeType="1"/>
          </p:cNvSpPr>
          <p:nvPr/>
        </p:nvSpPr>
        <p:spPr bwMode="auto">
          <a:xfrm>
            <a:off x="2593975" y="5019842"/>
            <a:ext cx="419100" cy="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88" tIns="44450" rIns="90488" bIns="44450"/>
          <a:lstStyle/>
          <a:p>
            <a:endParaRPr lang="en-US" b="0">
              <a:ln w="0"/>
              <a:solidFill>
                <a:schemeClr val="accent2"/>
              </a:solidFill>
              <a:latin typeface="+mn-lt"/>
            </a:endParaRPr>
          </a:p>
        </p:txBody>
      </p:sp>
      <p:sp>
        <p:nvSpPr>
          <p:cNvPr id="85" name="Date Placeholder 84"/>
          <p:cNvSpPr>
            <a:spLocks noGrp="1"/>
          </p:cNvSpPr>
          <p:nvPr>
            <p:ph type="dt" sz="half" idx="10"/>
          </p:nvPr>
        </p:nvSpPr>
        <p:spPr/>
        <p:txBody>
          <a:bodyPr/>
          <a:lstStyle/>
          <a:p>
            <a:r>
              <a:rPr lang="en-US"/>
              <a:t>April 16, 2025</a:t>
            </a:r>
            <a:endParaRPr lang="en-US" sz="1050" b="0">
              <a:latin typeface="Times New Roman" charset="0"/>
            </a:endParaRPr>
          </a:p>
        </p:txBody>
      </p:sp>
      <p:sp>
        <p:nvSpPr>
          <p:cNvPr id="86" name="Footer Placeholder 8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7" name="Slide Number Placeholder 86"/>
          <p:cNvSpPr>
            <a:spLocks noGrp="1"/>
          </p:cNvSpPr>
          <p:nvPr>
            <p:ph type="sldNum" sz="quarter" idx="12"/>
          </p:nvPr>
        </p:nvSpPr>
        <p:spPr/>
        <p:txBody>
          <a:bodyPr/>
          <a:lstStyle/>
          <a:p>
            <a:fld id="{A190D881-957A-7944-A8D0-1584E528B88F}" type="slidenum">
              <a:rPr lang="en-US" smtClean="0"/>
              <a:pPr/>
              <a:t>13</a:t>
            </a:fld>
            <a:endParaRPr lang="en-US"/>
          </a:p>
        </p:txBody>
      </p:sp>
    </p:spTree>
    <p:extLst>
      <p:ext uri="{BB962C8B-B14F-4D97-AF65-F5344CB8AC3E}">
        <p14:creationId xmlns:p14="http://schemas.microsoft.com/office/powerpoint/2010/main" val="20651713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Title 1"/>
          <p:cNvSpPr>
            <a:spLocks noGrp="1"/>
          </p:cNvSpPr>
          <p:nvPr>
            <p:ph type="title"/>
          </p:nvPr>
        </p:nvSpPr>
        <p:spPr/>
        <p:txBody>
          <a:bodyPr/>
          <a:lstStyle/>
          <a:p>
            <a:r>
              <a:rPr lang="en-US" dirty="0"/>
              <a:t>Max-Min fairness</a:t>
            </a:r>
          </a:p>
        </p:txBody>
      </p:sp>
      <p:sp>
        <p:nvSpPr>
          <p:cNvPr id="70659" name="Content Placeholder 2"/>
          <p:cNvSpPr>
            <a:spLocks noGrp="1"/>
          </p:cNvSpPr>
          <p:nvPr>
            <p:ph idx="1"/>
          </p:nvPr>
        </p:nvSpPr>
        <p:spPr/>
        <p:txBody>
          <a:bodyPr/>
          <a:lstStyle/>
          <a:p>
            <a:r>
              <a:rPr lang="en-US" dirty="0"/>
              <a:t>Given set of bandwidth demands </a:t>
            </a:r>
            <a:r>
              <a:rPr lang="en-US" dirty="0" err="1">
                <a:solidFill>
                  <a:srgbClr val="0000FF"/>
                </a:solidFill>
              </a:rPr>
              <a:t>r</a:t>
            </a:r>
            <a:r>
              <a:rPr lang="en-US" baseline="-25000" dirty="0" err="1">
                <a:solidFill>
                  <a:srgbClr val="0000FF"/>
                </a:solidFill>
              </a:rPr>
              <a:t>i</a:t>
            </a:r>
            <a:r>
              <a:rPr lang="en-US" dirty="0"/>
              <a:t> and total bandwidth </a:t>
            </a:r>
            <a:r>
              <a:rPr lang="en-US" dirty="0">
                <a:solidFill>
                  <a:srgbClr val="0000FF"/>
                </a:solidFill>
              </a:rPr>
              <a:t>C</a:t>
            </a:r>
            <a:r>
              <a:rPr lang="en-US" dirty="0"/>
              <a:t>, max-min bandwidth allocations are:</a:t>
            </a:r>
          </a:p>
          <a:p>
            <a:pPr lvl="1"/>
            <a:r>
              <a:rPr lang="en-US" dirty="0" err="1">
                <a:solidFill>
                  <a:srgbClr val="0000FF"/>
                </a:solidFill>
              </a:rPr>
              <a:t>a</a:t>
            </a:r>
            <a:r>
              <a:rPr lang="en-US" baseline="-25000" dirty="0" err="1">
                <a:solidFill>
                  <a:srgbClr val="0000FF"/>
                </a:solidFill>
              </a:rPr>
              <a:t>i</a:t>
            </a:r>
            <a:r>
              <a:rPr lang="en-US" dirty="0">
                <a:solidFill>
                  <a:srgbClr val="0000FF"/>
                </a:solidFill>
              </a:rPr>
              <a:t>  = min(f, </a:t>
            </a:r>
            <a:r>
              <a:rPr lang="en-US" dirty="0" err="1">
                <a:solidFill>
                  <a:srgbClr val="0000FF"/>
                </a:solidFill>
              </a:rPr>
              <a:t>r</a:t>
            </a:r>
            <a:r>
              <a:rPr lang="en-US" baseline="-25000" dirty="0" err="1">
                <a:solidFill>
                  <a:srgbClr val="0000FF"/>
                </a:solidFill>
              </a:rPr>
              <a:t>i</a:t>
            </a:r>
            <a:r>
              <a:rPr lang="en-US" dirty="0">
                <a:solidFill>
                  <a:srgbClr val="0000FF"/>
                </a:solidFill>
              </a:rPr>
              <a:t>)</a:t>
            </a:r>
          </a:p>
          <a:p>
            <a:pPr lvl="1"/>
            <a:r>
              <a:rPr lang="en-US" dirty="0"/>
              <a:t>where </a:t>
            </a:r>
            <a:r>
              <a:rPr lang="en-US" dirty="0">
                <a:solidFill>
                  <a:srgbClr val="0000FF"/>
                </a:solidFill>
              </a:rPr>
              <a:t>f</a:t>
            </a:r>
            <a:r>
              <a:rPr lang="en-US" dirty="0"/>
              <a:t> is the unique value such that </a:t>
            </a:r>
            <a:r>
              <a:rPr lang="en-US" dirty="0">
                <a:solidFill>
                  <a:srgbClr val="0000FF"/>
                </a:solidFill>
              </a:rPr>
              <a:t>Sum(</a:t>
            </a:r>
            <a:r>
              <a:rPr lang="en-US" dirty="0" err="1">
                <a:solidFill>
                  <a:srgbClr val="0000FF"/>
                </a:solidFill>
              </a:rPr>
              <a:t>a</a:t>
            </a:r>
            <a:r>
              <a:rPr lang="en-US" baseline="-25000" dirty="0" err="1">
                <a:solidFill>
                  <a:srgbClr val="0000FF"/>
                </a:solidFill>
              </a:rPr>
              <a:t>i</a:t>
            </a:r>
            <a:r>
              <a:rPr lang="en-US" dirty="0">
                <a:solidFill>
                  <a:srgbClr val="0000FF"/>
                </a:solidFill>
              </a:rPr>
              <a:t>) = C</a:t>
            </a:r>
          </a:p>
          <a:p>
            <a:pPr lvl="3"/>
            <a:endParaRPr lang="en-US" dirty="0"/>
          </a:p>
        </p:txBody>
      </p:sp>
      <p:grpSp>
        <p:nvGrpSpPr>
          <p:cNvPr id="5" name="Group 4"/>
          <p:cNvGrpSpPr>
            <a:grpSpLocks/>
          </p:cNvGrpSpPr>
          <p:nvPr/>
        </p:nvGrpSpPr>
        <p:grpSpPr bwMode="auto">
          <a:xfrm>
            <a:off x="2819400" y="4419600"/>
            <a:ext cx="2805113" cy="1146175"/>
            <a:chOff x="1488" y="2112"/>
            <a:chExt cx="1767" cy="722"/>
          </a:xfrm>
        </p:grpSpPr>
        <p:sp>
          <p:nvSpPr>
            <p:cNvPr id="6" name="Text Box 5"/>
            <p:cNvSpPr txBox="1">
              <a:spLocks noChangeArrowheads="1"/>
            </p:cNvSpPr>
            <p:nvPr/>
          </p:nvSpPr>
          <p:spPr bwMode="auto">
            <a:xfrm>
              <a:off x="1488" y="2112"/>
              <a:ext cx="218"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dirty="0">
                  <a:solidFill>
                    <a:srgbClr val="FF0000"/>
                  </a:solidFill>
                  <a:latin typeface="Arial" charset="0"/>
                  <a:ea typeface="Arial" charset="0"/>
                </a:rPr>
                <a:t>r</a:t>
              </a:r>
              <a:r>
                <a:rPr lang="en-US" sz="1800" b="0" baseline="-25000" dirty="0">
                  <a:solidFill>
                    <a:srgbClr val="FF0000"/>
                  </a:solidFill>
                  <a:latin typeface="Arial" charset="0"/>
                  <a:ea typeface="Arial" charset="0"/>
                </a:rPr>
                <a:t>1</a:t>
              </a:r>
              <a:endParaRPr lang="en-US" sz="1800" b="0" baseline="-25000" dirty="0">
                <a:latin typeface="Arial" charset="0"/>
                <a:ea typeface="Arial" charset="0"/>
              </a:endParaRPr>
            </a:p>
          </p:txBody>
        </p:sp>
        <p:sp>
          <p:nvSpPr>
            <p:cNvPr id="7" name="Text Box 6"/>
            <p:cNvSpPr txBox="1">
              <a:spLocks noChangeArrowheads="1"/>
            </p:cNvSpPr>
            <p:nvPr/>
          </p:nvSpPr>
          <p:spPr bwMode="auto">
            <a:xfrm>
              <a:off x="1488" y="2361"/>
              <a:ext cx="218"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dirty="0">
                  <a:solidFill>
                    <a:srgbClr val="008000"/>
                  </a:solidFill>
                  <a:latin typeface="Arial" charset="0"/>
                  <a:ea typeface="Arial" charset="0"/>
                </a:rPr>
                <a:t>r</a:t>
              </a:r>
              <a:r>
                <a:rPr lang="en-US" sz="1800" b="0" baseline="-25000" dirty="0">
                  <a:solidFill>
                    <a:srgbClr val="008000"/>
                  </a:solidFill>
                  <a:latin typeface="Arial" charset="0"/>
                  <a:ea typeface="Arial" charset="0"/>
                </a:rPr>
                <a:t>2</a:t>
              </a:r>
            </a:p>
          </p:txBody>
        </p:sp>
        <p:sp>
          <p:nvSpPr>
            <p:cNvPr id="8" name="Text Box 7"/>
            <p:cNvSpPr txBox="1">
              <a:spLocks noChangeArrowheads="1"/>
            </p:cNvSpPr>
            <p:nvPr/>
          </p:nvSpPr>
          <p:spPr bwMode="auto">
            <a:xfrm>
              <a:off x="1488" y="2601"/>
              <a:ext cx="218"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dirty="0">
                  <a:solidFill>
                    <a:srgbClr val="0000FF"/>
                  </a:solidFill>
                  <a:latin typeface="Arial" charset="0"/>
                  <a:ea typeface="Arial" charset="0"/>
                </a:rPr>
                <a:t>r</a:t>
              </a:r>
              <a:r>
                <a:rPr lang="en-US" sz="1800" b="0" baseline="-25000" dirty="0">
                  <a:solidFill>
                    <a:srgbClr val="0000FF"/>
                  </a:solidFill>
                  <a:latin typeface="Arial" charset="0"/>
                  <a:ea typeface="Arial" charset="0"/>
                </a:rPr>
                <a:t>3</a:t>
              </a:r>
            </a:p>
          </p:txBody>
        </p:sp>
        <p:sp>
          <p:nvSpPr>
            <p:cNvPr id="9" name="Line 8"/>
            <p:cNvSpPr>
              <a:spLocks noChangeShapeType="1"/>
            </p:cNvSpPr>
            <p:nvPr/>
          </p:nvSpPr>
          <p:spPr bwMode="auto">
            <a:xfrm>
              <a:off x="2736" y="2580"/>
              <a:ext cx="336" cy="0"/>
            </a:xfrm>
            <a:prstGeom prst="line">
              <a:avLst/>
            </a:prstGeom>
            <a:noFill/>
            <a:ln w="1270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10" name="Line 9"/>
            <p:cNvSpPr>
              <a:spLocks noChangeShapeType="1"/>
            </p:cNvSpPr>
            <p:nvPr/>
          </p:nvSpPr>
          <p:spPr bwMode="auto">
            <a:xfrm>
              <a:off x="2736" y="2496"/>
              <a:ext cx="336" cy="0"/>
            </a:xfrm>
            <a:prstGeom prst="line">
              <a:avLst/>
            </a:prstGeom>
            <a:noFill/>
            <a:ln w="31750">
              <a:solidFill>
                <a:srgbClr val="00FF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11" name="Line 10"/>
            <p:cNvSpPr>
              <a:spLocks noChangeShapeType="1"/>
            </p:cNvSpPr>
            <p:nvPr/>
          </p:nvSpPr>
          <p:spPr bwMode="auto">
            <a:xfrm>
              <a:off x="2736" y="2404"/>
              <a:ext cx="336" cy="0"/>
            </a:xfrm>
            <a:prstGeom prst="line">
              <a:avLst/>
            </a:prstGeom>
            <a:noFill/>
            <a:ln w="31750">
              <a:solidFill>
                <a:srgbClr val="FF00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12" name="Text Box 11"/>
            <p:cNvSpPr txBox="1">
              <a:spLocks noChangeArrowheads="1"/>
            </p:cNvSpPr>
            <p:nvPr/>
          </p:nvSpPr>
          <p:spPr bwMode="auto">
            <a:xfrm>
              <a:off x="3058" y="2400"/>
              <a:ext cx="197"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dirty="0">
                  <a:solidFill>
                    <a:srgbClr val="008000"/>
                  </a:solidFill>
                  <a:latin typeface="Arial" charset="0"/>
                  <a:ea typeface="Arial" charset="0"/>
                </a:rPr>
                <a:t>?</a:t>
              </a:r>
            </a:p>
          </p:txBody>
        </p:sp>
        <p:sp>
          <p:nvSpPr>
            <p:cNvPr id="13" name="Text Box 12"/>
            <p:cNvSpPr txBox="1">
              <a:spLocks noChangeArrowheads="1"/>
            </p:cNvSpPr>
            <p:nvPr/>
          </p:nvSpPr>
          <p:spPr bwMode="auto">
            <a:xfrm>
              <a:off x="3058" y="2256"/>
              <a:ext cx="197"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dirty="0">
                  <a:solidFill>
                    <a:srgbClr val="FF0000"/>
                  </a:solidFill>
                  <a:latin typeface="Arial" charset="0"/>
                  <a:ea typeface="Arial" charset="0"/>
                </a:rPr>
                <a:t>?</a:t>
              </a:r>
              <a:endParaRPr lang="en-US" sz="1800" b="0" dirty="0">
                <a:latin typeface="Arial" charset="0"/>
                <a:ea typeface="Arial" charset="0"/>
              </a:endParaRPr>
            </a:p>
          </p:txBody>
        </p:sp>
        <p:sp>
          <p:nvSpPr>
            <p:cNvPr id="14" name="Text Box 13"/>
            <p:cNvSpPr txBox="1">
              <a:spLocks noChangeArrowheads="1"/>
            </p:cNvSpPr>
            <p:nvPr/>
          </p:nvSpPr>
          <p:spPr bwMode="auto">
            <a:xfrm>
              <a:off x="3058" y="2523"/>
              <a:ext cx="197"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dirty="0">
                  <a:solidFill>
                    <a:srgbClr val="0000FF"/>
                  </a:solidFill>
                  <a:latin typeface="Arial" charset="0"/>
                  <a:ea typeface="Arial" charset="0"/>
                </a:rPr>
                <a:t>?</a:t>
              </a:r>
            </a:p>
          </p:txBody>
        </p:sp>
        <p:sp>
          <p:nvSpPr>
            <p:cNvPr id="16" name="Oval 15"/>
            <p:cNvSpPr>
              <a:spLocks noChangeArrowheads="1"/>
            </p:cNvSpPr>
            <p:nvPr/>
          </p:nvSpPr>
          <p:spPr bwMode="auto">
            <a:xfrm>
              <a:off x="2688" y="2352"/>
              <a:ext cx="96" cy="288"/>
            </a:xfrm>
            <a:prstGeom prst="ellipse">
              <a:avLst/>
            </a:prstGeom>
            <a:gradFill rotWithShape="0">
              <a:gsLst>
                <a:gs pos="0">
                  <a:srgbClr val="767676"/>
                </a:gs>
                <a:gs pos="50000">
                  <a:srgbClr val="FFFFFF"/>
                </a:gs>
                <a:gs pos="100000">
                  <a:srgbClr val="767676"/>
                </a:gs>
              </a:gsLst>
              <a:lin ang="5400000" scaled="1"/>
            </a:gradFill>
            <a:ln w="12700">
              <a:solidFill>
                <a:schemeClr val="tx1"/>
              </a:solidFill>
              <a:round/>
              <a:headEnd/>
              <a:tailEnd/>
            </a:ln>
          </p:spPr>
          <p:txBody>
            <a:bodyPr wrap="none" anchor="ctr"/>
            <a:lstStyle/>
            <a:p>
              <a:endParaRPr lang="en-US">
                <a:ea typeface="Arial" charset="0"/>
                <a:cs typeface="Arial" charset="0"/>
              </a:endParaRPr>
            </a:p>
          </p:txBody>
        </p:sp>
        <p:sp>
          <p:nvSpPr>
            <p:cNvPr id="17" name="Rectangle 16"/>
            <p:cNvSpPr>
              <a:spLocks noChangeArrowheads="1"/>
            </p:cNvSpPr>
            <p:nvPr/>
          </p:nvSpPr>
          <p:spPr bwMode="auto">
            <a:xfrm>
              <a:off x="2064" y="2352"/>
              <a:ext cx="672" cy="288"/>
            </a:xfrm>
            <a:prstGeom prst="rect">
              <a:avLst/>
            </a:prstGeom>
            <a:gradFill rotWithShape="0">
              <a:gsLst>
                <a:gs pos="0">
                  <a:srgbClr val="767676"/>
                </a:gs>
                <a:gs pos="50000">
                  <a:srgbClr val="FFFFFF"/>
                </a:gs>
                <a:gs pos="100000">
                  <a:srgbClr val="767676"/>
                </a:gs>
              </a:gsLst>
              <a:lin ang="5400000" scaled="1"/>
            </a:gradFill>
            <a:ln>
              <a:noFill/>
            </a:ln>
            <a:extLst>
              <a:ext uri="{91240B29-F687-4f45-9708-019B960494DF}">
                <a14:hiddenLine xmlns="" xmlns:a14="http://schemas.microsoft.com/office/drawing/2010/main" w="25400">
                  <a:solidFill>
                    <a:srgbClr val="000000"/>
                  </a:solidFill>
                  <a:miter lim="800000"/>
                  <a:headEnd/>
                  <a:tailEnd/>
                </a14:hiddenLine>
              </a:ext>
            </a:extLst>
          </p:spPr>
          <p:txBody>
            <a:bodyPr wrap="none" anchor="ctr"/>
            <a:lstStyle/>
            <a:p>
              <a:endParaRPr lang="en-US">
                <a:ea typeface="Arial" charset="0"/>
                <a:cs typeface="Arial" charset="0"/>
              </a:endParaRPr>
            </a:p>
          </p:txBody>
        </p:sp>
        <p:sp>
          <p:nvSpPr>
            <p:cNvPr id="18" name="Line 17"/>
            <p:cNvSpPr>
              <a:spLocks noChangeShapeType="1"/>
            </p:cNvSpPr>
            <p:nvPr/>
          </p:nvSpPr>
          <p:spPr bwMode="auto">
            <a:xfrm>
              <a:off x="2064" y="2352"/>
              <a:ext cx="672" cy="0"/>
            </a:xfrm>
            <a:prstGeom prst="line">
              <a:avLst/>
            </a:prstGeom>
            <a:noFill/>
            <a:ln w="12700">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19" name="Line 18"/>
            <p:cNvSpPr>
              <a:spLocks noChangeShapeType="1"/>
            </p:cNvSpPr>
            <p:nvPr/>
          </p:nvSpPr>
          <p:spPr bwMode="auto">
            <a:xfrm>
              <a:off x="2064" y="2640"/>
              <a:ext cx="672" cy="0"/>
            </a:xfrm>
            <a:prstGeom prst="line">
              <a:avLst/>
            </a:prstGeom>
            <a:noFill/>
            <a:ln w="12700">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20" name="Oval 19"/>
            <p:cNvSpPr>
              <a:spLocks noChangeArrowheads="1"/>
            </p:cNvSpPr>
            <p:nvPr/>
          </p:nvSpPr>
          <p:spPr bwMode="auto">
            <a:xfrm>
              <a:off x="2016" y="2352"/>
              <a:ext cx="96" cy="288"/>
            </a:xfrm>
            <a:prstGeom prst="ellipse">
              <a:avLst/>
            </a:prstGeom>
            <a:solidFill>
              <a:srgbClr val="FFFFFF"/>
            </a:solidFill>
            <a:ln w="12700">
              <a:solidFill>
                <a:schemeClr val="tx1"/>
              </a:solidFill>
              <a:round/>
              <a:headEnd/>
              <a:tailEnd/>
            </a:ln>
          </p:spPr>
          <p:txBody>
            <a:bodyPr wrap="none" anchor="ctr"/>
            <a:lstStyle/>
            <a:p>
              <a:endParaRPr lang="en-US">
                <a:ea typeface="Arial" charset="0"/>
                <a:cs typeface="Arial" charset="0"/>
              </a:endParaRPr>
            </a:p>
          </p:txBody>
        </p:sp>
        <p:sp>
          <p:nvSpPr>
            <p:cNvPr id="21" name="Line 20"/>
            <p:cNvSpPr>
              <a:spLocks noChangeShapeType="1"/>
            </p:cNvSpPr>
            <p:nvPr/>
          </p:nvSpPr>
          <p:spPr bwMode="auto">
            <a:xfrm>
              <a:off x="1692" y="2256"/>
              <a:ext cx="384" cy="192"/>
            </a:xfrm>
            <a:prstGeom prst="line">
              <a:avLst/>
            </a:prstGeom>
            <a:noFill/>
            <a:ln w="50800">
              <a:solidFill>
                <a:srgbClr val="FF00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22" name="Line 21"/>
            <p:cNvSpPr>
              <a:spLocks noChangeShapeType="1"/>
            </p:cNvSpPr>
            <p:nvPr/>
          </p:nvSpPr>
          <p:spPr bwMode="auto">
            <a:xfrm>
              <a:off x="1692" y="2496"/>
              <a:ext cx="384" cy="0"/>
            </a:xfrm>
            <a:prstGeom prst="line">
              <a:avLst/>
            </a:prstGeom>
            <a:noFill/>
            <a:ln w="38100">
              <a:solidFill>
                <a:srgbClr val="00FF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23" name="Line 22"/>
            <p:cNvSpPr>
              <a:spLocks noChangeShapeType="1"/>
            </p:cNvSpPr>
            <p:nvPr/>
          </p:nvSpPr>
          <p:spPr bwMode="auto">
            <a:xfrm flipV="1">
              <a:off x="1680" y="2544"/>
              <a:ext cx="384" cy="192"/>
            </a:xfrm>
            <a:prstGeom prst="line">
              <a:avLst/>
            </a:prstGeom>
            <a:noFill/>
            <a:ln w="1270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24" name="Text Box 23"/>
            <p:cNvSpPr txBox="1">
              <a:spLocks noChangeArrowheads="1"/>
            </p:cNvSpPr>
            <p:nvPr/>
          </p:nvSpPr>
          <p:spPr bwMode="auto">
            <a:xfrm>
              <a:off x="2111" y="2359"/>
              <a:ext cx="601"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anchor="ctr">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b="0" dirty="0">
                  <a:latin typeface="Arial" charset="0"/>
                  <a:ea typeface="Arial" charset="0"/>
                </a:rPr>
                <a:t>C bits/s</a:t>
              </a:r>
              <a:endParaRPr lang="en-US" b="0" dirty="0">
                <a:latin typeface="Arial" charset="0"/>
                <a:ea typeface="Arial" charset="0"/>
              </a:endParaRPr>
            </a:p>
          </p:txBody>
        </p:sp>
      </p:grpSp>
      <p:sp>
        <p:nvSpPr>
          <p:cNvPr id="25" name="Date Placeholder 24"/>
          <p:cNvSpPr>
            <a:spLocks noGrp="1"/>
          </p:cNvSpPr>
          <p:nvPr>
            <p:ph type="dt" sz="half" idx="10"/>
          </p:nvPr>
        </p:nvSpPr>
        <p:spPr/>
        <p:txBody>
          <a:bodyPr/>
          <a:lstStyle/>
          <a:p>
            <a:r>
              <a:rPr lang="en-US"/>
              <a:t>April 16, 2025</a:t>
            </a:r>
            <a:endParaRPr lang="en-US" sz="1050" b="0">
              <a:latin typeface="Times New Roman" charset="0"/>
            </a:endParaRPr>
          </a:p>
        </p:txBody>
      </p:sp>
      <p:sp>
        <p:nvSpPr>
          <p:cNvPr id="26" name="Footer Placeholder 2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27" name="Slide Number Placeholder 26"/>
          <p:cNvSpPr>
            <a:spLocks noGrp="1"/>
          </p:cNvSpPr>
          <p:nvPr>
            <p:ph type="sldNum" sz="quarter" idx="12"/>
          </p:nvPr>
        </p:nvSpPr>
        <p:spPr/>
        <p:txBody>
          <a:bodyPr/>
          <a:lstStyle/>
          <a:p>
            <a:fld id="{A190D881-957A-7944-A8D0-1584E528B88F}" type="slidenum">
              <a:rPr lang="en-US" smtClean="0"/>
              <a:pPr/>
              <a:t>14</a:t>
            </a:fld>
            <a:endParaRPr lang="en-US"/>
          </a:p>
        </p:txBody>
      </p:sp>
    </p:spTree>
    <p:extLst>
      <p:ext uri="{BB962C8B-B14F-4D97-AF65-F5344CB8AC3E}">
        <p14:creationId xmlns:p14="http://schemas.microsoft.com/office/powerpoint/2010/main" val="62778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065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65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65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659"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1" name="Rectangle 2"/>
          <p:cNvSpPr>
            <a:spLocks noGrp="1" noChangeArrowheads="1"/>
          </p:cNvSpPr>
          <p:nvPr>
            <p:ph type="title"/>
          </p:nvPr>
        </p:nvSpPr>
        <p:spPr/>
        <p:txBody>
          <a:bodyPr/>
          <a:lstStyle/>
          <a:p>
            <a:r>
              <a:rPr lang="en-US" dirty="0"/>
              <a:t>Example</a:t>
            </a:r>
          </a:p>
        </p:txBody>
      </p:sp>
      <p:sp>
        <p:nvSpPr>
          <p:cNvPr id="932867" name="Rectangle 3"/>
          <p:cNvSpPr>
            <a:spLocks noGrp="1" noChangeArrowheads="1"/>
          </p:cNvSpPr>
          <p:nvPr>
            <p:ph idx="1"/>
          </p:nvPr>
        </p:nvSpPr>
        <p:spPr/>
        <p:txBody>
          <a:bodyPr/>
          <a:lstStyle/>
          <a:p>
            <a:r>
              <a:rPr lang="en-US" dirty="0"/>
              <a:t>C = 10; r</a:t>
            </a:r>
            <a:r>
              <a:rPr lang="en-US" baseline="-25000" dirty="0"/>
              <a:t>1</a:t>
            </a:r>
            <a:r>
              <a:rPr lang="en-US" dirty="0"/>
              <a:t> = 8, r</a:t>
            </a:r>
            <a:r>
              <a:rPr lang="en-US" baseline="-25000" dirty="0"/>
              <a:t>2</a:t>
            </a:r>
            <a:r>
              <a:rPr lang="en-US" dirty="0"/>
              <a:t> = 6, r</a:t>
            </a:r>
            <a:r>
              <a:rPr lang="en-US" baseline="-25000" dirty="0"/>
              <a:t>3</a:t>
            </a:r>
            <a:r>
              <a:rPr lang="en-US" dirty="0"/>
              <a:t> = 2; N = 3</a:t>
            </a:r>
          </a:p>
          <a:p>
            <a:r>
              <a:rPr lang="en-US" dirty="0"/>
              <a:t>C/3 = 3.33 </a:t>
            </a:r>
            <a:r>
              <a:rPr lang="en-US" dirty="0">
                <a:sym typeface="Symbol" charset="0"/>
              </a:rPr>
              <a:t></a:t>
            </a:r>
            <a:endParaRPr lang="en-US" dirty="0">
              <a:sym typeface="Wingdings" charset="0"/>
            </a:endParaRPr>
          </a:p>
          <a:p>
            <a:pPr lvl="1"/>
            <a:r>
              <a:rPr lang="en-US" dirty="0">
                <a:sym typeface="Wingdings" charset="0"/>
              </a:rPr>
              <a:t>r</a:t>
            </a:r>
            <a:r>
              <a:rPr lang="en-US" baseline="-25000" dirty="0">
                <a:sym typeface="Wingdings" charset="0"/>
              </a:rPr>
              <a:t>3</a:t>
            </a:r>
            <a:r>
              <a:rPr lang="en-US" dirty="0">
                <a:sym typeface="Wingdings" charset="0"/>
              </a:rPr>
              <a:t> needs only 2</a:t>
            </a:r>
          </a:p>
          <a:p>
            <a:pPr lvl="2"/>
            <a:r>
              <a:rPr lang="en-US" dirty="0">
                <a:sym typeface="Wingdings" charset="0"/>
              </a:rPr>
              <a:t>Can service all of r</a:t>
            </a:r>
            <a:r>
              <a:rPr lang="en-US" baseline="-25000" dirty="0">
                <a:sym typeface="Wingdings" charset="0"/>
              </a:rPr>
              <a:t>3</a:t>
            </a:r>
          </a:p>
          <a:p>
            <a:pPr lvl="1"/>
            <a:r>
              <a:rPr lang="en-US" dirty="0">
                <a:sym typeface="Wingdings" charset="0"/>
              </a:rPr>
              <a:t>Remove r</a:t>
            </a:r>
            <a:r>
              <a:rPr lang="en-US" baseline="-25000" dirty="0">
                <a:sym typeface="Wingdings" charset="0"/>
              </a:rPr>
              <a:t>3</a:t>
            </a:r>
            <a:r>
              <a:rPr lang="en-US" dirty="0">
                <a:sym typeface="Wingdings" charset="0"/>
              </a:rPr>
              <a:t> from the accounting: C = C – r</a:t>
            </a:r>
            <a:r>
              <a:rPr lang="en-US" baseline="-25000" dirty="0">
                <a:sym typeface="Wingdings" charset="0"/>
              </a:rPr>
              <a:t>3</a:t>
            </a:r>
            <a:r>
              <a:rPr lang="en-US" dirty="0">
                <a:sym typeface="Wingdings" charset="0"/>
              </a:rPr>
              <a:t> = 8; N = 2</a:t>
            </a:r>
          </a:p>
          <a:p>
            <a:r>
              <a:rPr lang="en-US" dirty="0">
                <a:sym typeface="Wingdings" charset="0"/>
              </a:rPr>
              <a:t>C/2 = 4 </a:t>
            </a:r>
            <a:r>
              <a:rPr lang="en-US" dirty="0">
                <a:sym typeface="Symbol" charset="0"/>
              </a:rPr>
              <a:t></a:t>
            </a:r>
            <a:endParaRPr lang="en-US" dirty="0">
              <a:sym typeface="Wingdings" charset="0"/>
            </a:endParaRPr>
          </a:p>
          <a:p>
            <a:pPr lvl="1"/>
            <a:r>
              <a:rPr lang="en-US" dirty="0">
                <a:sym typeface="Wingdings" charset="0"/>
              </a:rPr>
              <a:t>Can’t service all of r</a:t>
            </a:r>
            <a:r>
              <a:rPr lang="en-US" baseline="-25000" dirty="0">
                <a:sym typeface="Wingdings" charset="0"/>
              </a:rPr>
              <a:t>1</a:t>
            </a:r>
            <a:r>
              <a:rPr lang="en-US" dirty="0">
                <a:sym typeface="Wingdings" charset="0"/>
              </a:rPr>
              <a:t> or r</a:t>
            </a:r>
            <a:r>
              <a:rPr lang="en-US" baseline="-25000" dirty="0">
                <a:sym typeface="Wingdings" charset="0"/>
              </a:rPr>
              <a:t>2</a:t>
            </a:r>
          </a:p>
          <a:p>
            <a:pPr lvl="1"/>
            <a:r>
              <a:rPr lang="en-US" dirty="0">
                <a:sym typeface="Wingdings" charset="0"/>
              </a:rPr>
              <a:t>So hold them to the remaining fair share: f = 4</a:t>
            </a:r>
          </a:p>
        </p:txBody>
      </p:sp>
      <p:grpSp>
        <p:nvGrpSpPr>
          <p:cNvPr id="2" name="Group 4"/>
          <p:cNvGrpSpPr>
            <a:grpSpLocks/>
          </p:cNvGrpSpPr>
          <p:nvPr/>
        </p:nvGrpSpPr>
        <p:grpSpPr bwMode="auto">
          <a:xfrm>
            <a:off x="1905000" y="5410200"/>
            <a:ext cx="4876800" cy="1295400"/>
            <a:chOff x="1488" y="2016"/>
            <a:chExt cx="3072" cy="816"/>
          </a:xfrm>
        </p:grpSpPr>
        <p:sp>
          <p:nvSpPr>
            <p:cNvPr id="73734" name="Text Box 5"/>
            <p:cNvSpPr txBox="1">
              <a:spLocks noChangeArrowheads="1"/>
            </p:cNvSpPr>
            <p:nvPr/>
          </p:nvSpPr>
          <p:spPr bwMode="auto">
            <a:xfrm>
              <a:off x="1488" y="2112"/>
              <a:ext cx="204"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solidFill>
                    <a:srgbClr val="FF0000"/>
                  </a:solidFill>
                  <a:latin typeface="Arial" charset="0"/>
                  <a:ea typeface="Arial" charset="0"/>
                </a:rPr>
                <a:t>8</a:t>
              </a:r>
              <a:endParaRPr lang="en-US" sz="1800" b="0">
                <a:latin typeface="Arial" charset="0"/>
                <a:ea typeface="Arial" charset="0"/>
              </a:endParaRPr>
            </a:p>
          </p:txBody>
        </p:sp>
        <p:sp>
          <p:nvSpPr>
            <p:cNvPr id="73735" name="Text Box 6"/>
            <p:cNvSpPr txBox="1">
              <a:spLocks noChangeArrowheads="1"/>
            </p:cNvSpPr>
            <p:nvPr/>
          </p:nvSpPr>
          <p:spPr bwMode="auto">
            <a:xfrm>
              <a:off x="1488" y="2361"/>
              <a:ext cx="204"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solidFill>
                    <a:srgbClr val="66CCFF"/>
                  </a:solidFill>
                  <a:latin typeface="Arial" charset="0"/>
                  <a:ea typeface="Arial" charset="0"/>
                </a:rPr>
                <a:t>6</a:t>
              </a:r>
            </a:p>
          </p:txBody>
        </p:sp>
        <p:sp>
          <p:nvSpPr>
            <p:cNvPr id="73736" name="Text Box 7"/>
            <p:cNvSpPr txBox="1">
              <a:spLocks noChangeArrowheads="1"/>
            </p:cNvSpPr>
            <p:nvPr/>
          </p:nvSpPr>
          <p:spPr bwMode="auto">
            <a:xfrm>
              <a:off x="1488" y="2601"/>
              <a:ext cx="204"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solidFill>
                    <a:schemeClr val="accent2"/>
                  </a:solidFill>
                  <a:latin typeface="Arial" charset="0"/>
                  <a:ea typeface="Arial" charset="0"/>
                </a:rPr>
                <a:t>2</a:t>
              </a:r>
              <a:endParaRPr lang="en-US" sz="1800" b="0">
                <a:latin typeface="Arial" charset="0"/>
                <a:ea typeface="Arial" charset="0"/>
              </a:endParaRPr>
            </a:p>
          </p:txBody>
        </p:sp>
        <p:sp>
          <p:nvSpPr>
            <p:cNvPr id="73737" name="Line 8"/>
            <p:cNvSpPr>
              <a:spLocks noChangeShapeType="1"/>
            </p:cNvSpPr>
            <p:nvPr/>
          </p:nvSpPr>
          <p:spPr bwMode="auto">
            <a:xfrm>
              <a:off x="2736" y="2580"/>
              <a:ext cx="336" cy="0"/>
            </a:xfrm>
            <a:prstGeom prst="line">
              <a:avLst/>
            </a:prstGeom>
            <a:noFill/>
            <a:ln w="1270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38" name="Line 9"/>
            <p:cNvSpPr>
              <a:spLocks noChangeShapeType="1"/>
            </p:cNvSpPr>
            <p:nvPr/>
          </p:nvSpPr>
          <p:spPr bwMode="auto">
            <a:xfrm>
              <a:off x="2736" y="2496"/>
              <a:ext cx="336" cy="0"/>
            </a:xfrm>
            <a:prstGeom prst="line">
              <a:avLst/>
            </a:prstGeom>
            <a:noFill/>
            <a:ln w="31750">
              <a:solidFill>
                <a:srgbClr val="00FF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39" name="Line 10"/>
            <p:cNvSpPr>
              <a:spLocks noChangeShapeType="1"/>
            </p:cNvSpPr>
            <p:nvPr/>
          </p:nvSpPr>
          <p:spPr bwMode="auto">
            <a:xfrm>
              <a:off x="2736" y="2404"/>
              <a:ext cx="336" cy="0"/>
            </a:xfrm>
            <a:prstGeom prst="line">
              <a:avLst/>
            </a:prstGeom>
            <a:noFill/>
            <a:ln w="31750">
              <a:solidFill>
                <a:srgbClr val="FF00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40" name="Text Box 11"/>
            <p:cNvSpPr txBox="1">
              <a:spLocks noChangeArrowheads="1"/>
            </p:cNvSpPr>
            <p:nvPr/>
          </p:nvSpPr>
          <p:spPr bwMode="auto">
            <a:xfrm>
              <a:off x="3051" y="2400"/>
              <a:ext cx="204"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solidFill>
                    <a:srgbClr val="66CCFF"/>
                  </a:solidFill>
                  <a:latin typeface="Arial" charset="0"/>
                  <a:ea typeface="Arial" charset="0"/>
                </a:rPr>
                <a:t>4</a:t>
              </a:r>
            </a:p>
          </p:txBody>
        </p:sp>
        <p:sp>
          <p:nvSpPr>
            <p:cNvPr id="73741" name="Text Box 12"/>
            <p:cNvSpPr txBox="1">
              <a:spLocks noChangeArrowheads="1"/>
            </p:cNvSpPr>
            <p:nvPr/>
          </p:nvSpPr>
          <p:spPr bwMode="auto">
            <a:xfrm>
              <a:off x="3060" y="2256"/>
              <a:ext cx="204"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solidFill>
                    <a:srgbClr val="FF0000"/>
                  </a:solidFill>
                  <a:latin typeface="Arial" charset="0"/>
                  <a:ea typeface="Arial" charset="0"/>
                </a:rPr>
                <a:t>4</a:t>
              </a:r>
              <a:endParaRPr lang="en-US" sz="1800" b="0">
                <a:latin typeface="Arial" charset="0"/>
                <a:ea typeface="Arial" charset="0"/>
              </a:endParaRPr>
            </a:p>
          </p:txBody>
        </p:sp>
        <p:sp>
          <p:nvSpPr>
            <p:cNvPr id="73742" name="Text Box 13"/>
            <p:cNvSpPr txBox="1">
              <a:spLocks noChangeArrowheads="1"/>
            </p:cNvSpPr>
            <p:nvPr/>
          </p:nvSpPr>
          <p:spPr bwMode="auto">
            <a:xfrm>
              <a:off x="3060" y="2523"/>
              <a:ext cx="204"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solidFill>
                    <a:schemeClr val="accent2"/>
                  </a:solidFill>
                  <a:latin typeface="Arial" charset="0"/>
                  <a:ea typeface="Arial" charset="0"/>
                </a:rPr>
                <a:t>2</a:t>
              </a:r>
              <a:endParaRPr lang="en-US" sz="1800" b="0">
                <a:latin typeface="Arial" charset="0"/>
                <a:ea typeface="Arial" charset="0"/>
              </a:endParaRPr>
            </a:p>
          </p:txBody>
        </p:sp>
        <p:sp>
          <p:nvSpPr>
            <p:cNvPr id="73743" name="Text Box 14"/>
            <p:cNvSpPr txBox="1">
              <a:spLocks noChangeArrowheads="1"/>
            </p:cNvSpPr>
            <p:nvPr/>
          </p:nvSpPr>
          <p:spPr bwMode="auto">
            <a:xfrm>
              <a:off x="3592" y="2034"/>
              <a:ext cx="968" cy="7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i="1" dirty="0">
                  <a:solidFill>
                    <a:schemeClr val="accent2"/>
                  </a:solidFill>
                  <a:latin typeface="Arial" charset="0"/>
                  <a:ea typeface="Arial" charset="0"/>
                </a:rPr>
                <a:t>f </a:t>
              </a:r>
              <a:r>
                <a:rPr lang="en-US" sz="1800" b="0" dirty="0">
                  <a:solidFill>
                    <a:schemeClr val="accent2"/>
                  </a:solidFill>
                  <a:latin typeface="Arial" charset="0"/>
                  <a:ea typeface="Arial" charset="0"/>
                </a:rPr>
                <a:t>= 4:  </a:t>
              </a:r>
            </a:p>
            <a:p>
              <a:pPr algn="l"/>
              <a:r>
                <a:rPr lang="en-US" sz="1800" b="0" dirty="0">
                  <a:solidFill>
                    <a:schemeClr val="accent2"/>
                  </a:solidFill>
                  <a:latin typeface="Arial" charset="0"/>
                  <a:ea typeface="Arial" charset="0"/>
                </a:rPr>
                <a:t>min(8, 4) = 4 </a:t>
              </a:r>
            </a:p>
            <a:p>
              <a:pPr algn="l"/>
              <a:r>
                <a:rPr lang="en-US" sz="1800" b="0" dirty="0">
                  <a:solidFill>
                    <a:schemeClr val="accent2"/>
                  </a:solidFill>
                  <a:latin typeface="Arial" charset="0"/>
                  <a:ea typeface="Arial" charset="0"/>
                </a:rPr>
                <a:t>min(6, 4) = 4 </a:t>
              </a:r>
            </a:p>
            <a:p>
              <a:pPr algn="l"/>
              <a:r>
                <a:rPr lang="en-US" sz="1800" b="0" dirty="0">
                  <a:solidFill>
                    <a:schemeClr val="accent2"/>
                  </a:solidFill>
                  <a:latin typeface="Arial" charset="0"/>
                  <a:ea typeface="Arial" charset="0"/>
                </a:rPr>
                <a:t>min(2, 4) = 2</a:t>
              </a:r>
              <a:r>
                <a:rPr lang="en-US" sz="1600" b="0" dirty="0">
                  <a:solidFill>
                    <a:schemeClr val="accent2"/>
                  </a:solidFill>
                  <a:latin typeface="Arial" charset="0"/>
                  <a:ea typeface="Arial" charset="0"/>
                </a:rPr>
                <a:t> </a:t>
              </a:r>
            </a:p>
          </p:txBody>
        </p:sp>
        <p:sp>
          <p:nvSpPr>
            <p:cNvPr id="73744" name="Oval 15"/>
            <p:cNvSpPr>
              <a:spLocks noChangeArrowheads="1"/>
            </p:cNvSpPr>
            <p:nvPr/>
          </p:nvSpPr>
          <p:spPr bwMode="auto">
            <a:xfrm>
              <a:off x="2688" y="2352"/>
              <a:ext cx="96" cy="288"/>
            </a:xfrm>
            <a:prstGeom prst="ellipse">
              <a:avLst/>
            </a:prstGeom>
            <a:gradFill rotWithShape="0">
              <a:gsLst>
                <a:gs pos="0">
                  <a:srgbClr val="767676"/>
                </a:gs>
                <a:gs pos="50000">
                  <a:srgbClr val="FFFFFF"/>
                </a:gs>
                <a:gs pos="100000">
                  <a:srgbClr val="767676"/>
                </a:gs>
              </a:gsLst>
              <a:lin ang="5400000" scaled="1"/>
            </a:gradFill>
            <a:ln w="12700">
              <a:solidFill>
                <a:schemeClr val="tx1"/>
              </a:solidFill>
              <a:round/>
              <a:headEnd/>
              <a:tailEnd/>
            </a:ln>
          </p:spPr>
          <p:txBody>
            <a:bodyPr wrap="none" anchor="ctr"/>
            <a:lstStyle/>
            <a:p>
              <a:endParaRPr lang="en-US">
                <a:ea typeface="Arial" charset="0"/>
                <a:cs typeface="Arial" charset="0"/>
              </a:endParaRPr>
            </a:p>
          </p:txBody>
        </p:sp>
        <p:sp>
          <p:nvSpPr>
            <p:cNvPr id="73745" name="Rectangle 16"/>
            <p:cNvSpPr>
              <a:spLocks noChangeArrowheads="1"/>
            </p:cNvSpPr>
            <p:nvPr/>
          </p:nvSpPr>
          <p:spPr bwMode="auto">
            <a:xfrm>
              <a:off x="2064" y="2352"/>
              <a:ext cx="672" cy="288"/>
            </a:xfrm>
            <a:prstGeom prst="rect">
              <a:avLst/>
            </a:prstGeom>
            <a:gradFill rotWithShape="0">
              <a:gsLst>
                <a:gs pos="0">
                  <a:srgbClr val="767676"/>
                </a:gs>
                <a:gs pos="50000">
                  <a:srgbClr val="FFFFFF"/>
                </a:gs>
                <a:gs pos="100000">
                  <a:srgbClr val="767676"/>
                </a:gs>
              </a:gsLst>
              <a:lin ang="5400000" scaled="1"/>
            </a:gradFill>
            <a:ln>
              <a:noFill/>
            </a:ln>
            <a:extLst>
              <a:ext uri="{91240B29-F687-4f45-9708-019B960494DF}">
                <a14:hiddenLine xmlns="" xmlns:a14="http://schemas.microsoft.com/office/drawing/2010/main" w="25400">
                  <a:solidFill>
                    <a:srgbClr val="000000"/>
                  </a:solidFill>
                  <a:miter lim="800000"/>
                  <a:headEnd/>
                  <a:tailEnd/>
                </a14:hiddenLine>
              </a:ext>
            </a:extLst>
          </p:spPr>
          <p:txBody>
            <a:bodyPr wrap="none" anchor="ctr"/>
            <a:lstStyle/>
            <a:p>
              <a:endParaRPr lang="en-US">
                <a:ea typeface="Arial" charset="0"/>
                <a:cs typeface="Arial" charset="0"/>
              </a:endParaRPr>
            </a:p>
          </p:txBody>
        </p:sp>
        <p:sp>
          <p:nvSpPr>
            <p:cNvPr id="73746" name="Line 17"/>
            <p:cNvSpPr>
              <a:spLocks noChangeShapeType="1"/>
            </p:cNvSpPr>
            <p:nvPr/>
          </p:nvSpPr>
          <p:spPr bwMode="auto">
            <a:xfrm>
              <a:off x="2064" y="2352"/>
              <a:ext cx="672" cy="0"/>
            </a:xfrm>
            <a:prstGeom prst="line">
              <a:avLst/>
            </a:prstGeom>
            <a:noFill/>
            <a:ln w="12700">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47" name="Line 18"/>
            <p:cNvSpPr>
              <a:spLocks noChangeShapeType="1"/>
            </p:cNvSpPr>
            <p:nvPr/>
          </p:nvSpPr>
          <p:spPr bwMode="auto">
            <a:xfrm>
              <a:off x="2064" y="2640"/>
              <a:ext cx="672" cy="0"/>
            </a:xfrm>
            <a:prstGeom prst="line">
              <a:avLst/>
            </a:prstGeom>
            <a:noFill/>
            <a:ln w="12700">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48" name="Oval 19"/>
            <p:cNvSpPr>
              <a:spLocks noChangeArrowheads="1"/>
            </p:cNvSpPr>
            <p:nvPr/>
          </p:nvSpPr>
          <p:spPr bwMode="auto">
            <a:xfrm>
              <a:off x="2016" y="2352"/>
              <a:ext cx="96" cy="288"/>
            </a:xfrm>
            <a:prstGeom prst="ellipse">
              <a:avLst/>
            </a:prstGeom>
            <a:solidFill>
              <a:srgbClr val="FFFFFF"/>
            </a:solidFill>
            <a:ln w="12700">
              <a:solidFill>
                <a:schemeClr val="tx1"/>
              </a:solidFill>
              <a:round/>
              <a:headEnd/>
              <a:tailEnd/>
            </a:ln>
          </p:spPr>
          <p:txBody>
            <a:bodyPr wrap="none" anchor="ctr"/>
            <a:lstStyle/>
            <a:p>
              <a:endParaRPr lang="en-US">
                <a:ea typeface="Arial" charset="0"/>
                <a:cs typeface="Arial" charset="0"/>
              </a:endParaRPr>
            </a:p>
          </p:txBody>
        </p:sp>
        <p:sp>
          <p:nvSpPr>
            <p:cNvPr id="73749" name="Line 20"/>
            <p:cNvSpPr>
              <a:spLocks noChangeShapeType="1"/>
            </p:cNvSpPr>
            <p:nvPr/>
          </p:nvSpPr>
          <p:spPr bwMode="auto">
            <a:xfrm>
              <a:off x="1692" y="2256"/>
              <a:ext cx="384" cy="192"/>
            </a:xfrm>
            <a:prstGeom prst="line">
              <a:avLst/>
            </a:prstGeom>
            <a:noFill/>
            <a:ln w="50800">
              <a:solidFill>
                <a:srgbClr val="FF00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50" name="Line 21"/>
            <p:cNvSpPr>
              <a:spLocks noChangeShapeType="1"/>
            </p:cNvSpPr>
            <p:nvPr/>
          </p:nvSpPr>
          <p:spPr bwMode="auto">
            <a:xfrm>
              <a:off x="1692" y="2496"/>
              <a:ext cx="384" cy="0"/>
            </a:xfrm>
            <a:prstGeom prst="line">
              <a:avLst/>
            </a:prstGeom>
            <a:noFill/>
            <a:ln w="38100">
              <a:solidFill>
                <a:srgbClr val="00FF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51" name="Line 22"/>
            <p:cNvSpPr>
              <a:spLocks noChangeShapeType="1"/>
            </p:cNvSpPr>
            <p:nvPr/>
          </p:nvSpPr>
          <p:spPr bwMode="auto">
            <a:xfrm flipV="1">
              <a:off x="1680" y="2544"/>
              <a:ext cx="384" cy="192"/>
            </a:xfrm>
            <a:prstGeom prst="line">
              <a:avLst/>
            </a:prstGeom>
            <a:noFill/>
            <a:ln w="1270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ea typeface="Arial" charset="0"/>
                <a:cs typeface="Arial" charset="0"/>
              </a:endParaRPr>
            </a:p>
          </p:txBody>
        </p:sp>
        <p:sp>
          <p:nvSpPr>
            <p:cNvPr id="73752" name="Text Box 23"/>
            <p:cNvSpPr txBox="1">
              <a:spLocks noChangeArrowheads="1"/>
            </p:cNvSpPr>
            <p:nvPr/>
          </p:nvSpPr>
          <p:spPr bwMode="auto">
            <a:xfrm>
              <a:off x="2271" y="2159"/>
              <a:ext cx="278" cy="23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anchor="ctr">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b="0">
                  <a:latin typeface="Arial" charset="0"/>
                  <a:ea typeface="Arial" charset="0"/>
                </a:rPr>
                <a:t>10</a:t>
              </a:r>
              <a:endParaRPr lang="en-US" b="0">
                <a:latin typeface="Arial" charset="0"/>
                <a:ea typeface="Arial" charset="0"/>
              </a:endParaRPr>
            </a:p>
          </p:txBody>
        </p:sp>
        <p:sp>
          <p:nvSpPr>
            <p:cNvPr id="73753" name="Rectangle 24"/>
            <p:cNvSpPr>
              <a:spLocks noChangeArrowheads="1"/>
            </p:cNvSpPr>
            <p:nvPr/>
          </p:nvSpPr>
          <p:spPr bwMode="auto">
            <a:xfrm>
              <a:off x="3552" y="2016"/>
              <a:ext cx="1008" cy="816"/>
            </a:xfrm>
            <a:prstGeom prst="rect">
              <a:avLst/>
            </a:prstGeom>
            <a:noFill/>
            <a:ln w="19050">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ea typeface="Arial" charset="0"/>
                <a:cs typeface="Arial" charset="0"/>
              </a:endParaRPr>
            </a:p>
          </p:txBody>
        </p:sp>
      </p:grpSp>
      <p:sp>
        <p:nvSpPr>
          <p:cNvPr id="5" name="Date Placeholder 4"/>
          <p:cNvSpPr>
            <a:spLocks noGrp="1"/>
          </p:cNvSpPr>
          <p:nvPr>
            <p:ph type="dt" sz="half" idx="10"/>
          </p:nvPr>
        </p:nvSpPr>
        <p:spPr/>
        <p:txBody>
          <a:bodyPr/>
          <a:lstStyle/>
          <a:p>
            <a:r>
              <a:rPr lang="en-US"/>
              <a:t>April 16, 2025</a:t>
            </a:r>
            <a:endParaRPr lang="en-US" sz="1050" b="0">
              <a:latin typeface="Times New Roman" charset="0"/>
            </a:endParaRPr>
          </a:p>
        </p:txBody>
      </p:sp>
      <p:sp>
        <p:nvSpPr>
          <p:cNvPr id="7" name="Slide Number Placeholder 6"/>
          <p:cNvSpPr>
            <a:spLocks noGrp="1"/>
          </p:cNvSpPr>
          <p:nvPr>
            <p:ph type="sldNum" sz="quarter" idx="12"/>
          </p:nvPr>
        </p:nvSpPr>
        <p:spPr/>
        <p:txBody>
          <a:bodyPr/>
          <a:lstStyle/>
          <a:p>
            <a:fld id="{A190D881-957A-7944-A8D0-1584E528B88F}" type="slidenum">
              <a:rPr lang="en-US" smtClean="0"/>
              <a:pPr/>
              <a:t>15</a:t>
            </a:fld>
            <a:endParaRPr lang="en-US"/>
          </a:p>
        </p:txBody>
      </p:sp>
    </p:spTree>
    <p:extLst>
      <p:ext uri="{BB962C8B-B14F-4D97-AF65-F5344CB8AC3E}">
        <p14:creationId xmlns:p14="http://schemas.microsoft.com/office/powerpoint/2010/main" val="7884114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32867">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32867">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32867">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32867">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32867">
                                            <p:txEl>
                                              <p:pRg st="4" end="4"/>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32867">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32867">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32867">
                                            <p:txEl>
                                              <p:pRg st="7" end="7"/>
                                            </p:txEl>
                                          </p:spTgt>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2867"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Title 1"/>
          <p:cNvSpPr>
            <a:spLocks noGrp="1"/>
          </p:cNvSpPr>
          <p:nvPr>
            <p:ph type="title"/>
          </p:nvPr>
        </p:nvSpPr>
        <p:spPr/>
        <p:txBody>
          <a:bodyPr/>
          <a:lstStyle/>
          <a:p>
            <a:r>
              <a:rPr lang="en-US" dirty="0"/>
              <a:t>Max-Min fairness</a:t>
            </a:r>
          </a:p>
        </p:txBody>
      </p:sp>
      <p:sp>
        <p:nvSpPr>
          <p:cNvPr id="70659" name="Content Placeholder 2"/>
          <p:cNvSpPr>
            <a:spLocks noGrp="1"/>
          </p:cNvSpPr>
          <p:nvPr>
            <p:ph idx="1"/>
          </p:nvPr>
        </p:nvSpPr>
        <p:spPr/>
        <p:txBody>
          <a:bodyPr/>
          <a:lstStyle/>
          <a:p>
            <a:r>
              <a:rPr lang="en-US" dirty="0"/>
              <a:t>Given set of bandwidth demands </a:t>
            </a:r>
            <a:r>
              <a:rPr lang="en-US" dirty="0" err="1">
                <a:solidFill>
                  <a:srgbClr val="0000FF"/>
                </a:solidFill>
              </a:rPr>
              <a:t>r</a:t>
            </a:r>
            <a:r>
              <a:rPr lang="en-US" baseline="-25000" dirty="0" err="1">
                <a:solidFill>
                  <a:srgbClr val="0000FF"/>
                </a:solidFill>
              </a:rPr>
              <a:t>i</a:t>
            </a:r>
            <a:r>
              <a:rPr lang="en-US" dirty="0"/>
              <a:t> and total bandwidth </a:t>
            </a:r>
            <a:r>
              <a:rPr lang="en-US" dirty="0">
                <a:solidFill>
                  <a:srgbClr val="0000FF"/>
                </a:solidFill>
              </a:rPr>
              <a:t>C</a:t>
            </a:r>
            <a:r>
              <a:rPr lang="en-US" dirty="0"/>
              <a:t>, max-min bandwidth allocations are:</a:t>
            </a:r>
          </a:p>
          <a:p>
            <a:pPr lvl="1"/>
            <a:r>
              <a:rPr lang="en-US" dirty="0" err="1">
                <a:solidFill>
                  <a:srgbClr val="0000FF"/>
                </a:solidFill>
              </a:rPr>
              <a:t>a</a:t>
            </a:r>
            <a:r>
              <a:rPr lang="en-US" baseline="-25000" dirty="0" err="1">
                <a:solidFill>
                  <a:srgbClr val="0000FF"/>
                </a:solidFill>
              </a:rPr>
              <a:t>i</a:t>
            </a:r>
            <a:r>
              <a:rPr lang="en-US" dirty="0">
                <a:solidFill>
                  <a:srgbClr val="0000FF"/>
                </a:solidFill>
              </a:rPr>
              <a:t>  = min(f, </a:t>
            </a:r>
            <a:r>
              <a:rPr lang="en-US" dirty="0" err="1">
                <a:solidFill>
                  <a:srgbClr val="0000FF"/>
                </a:solidFill>
              </a:rPr>
              <a:t>r</a:t>
            </a:r>
            <a:r>
              <a:rPr lang="en-US" baseline="-25000" dirty="0" err="1">
                <a:solidFill>
                  <a:srgbClr val="0000FF"/>
                </a:solidFill>
              </a:rPr>
              <a:t>i</a:t>
            </a:r>
            <a:r>
              <a:rPr lang="en-US" dirty="0">
                <a:solidFill>
                  <a:srgbClr val="0000FF"/>
                </a:solidFill>
              </a:rPr>
              <a:t>)</a:t>
            </a:r>
          </a:p>
          <a:p>
            <a:pPr lvl="1"/>
            <a:r>
              <a:rPr lang="en-US" dirty="0"/>
              <a:t>where </a:t>
            </a:r>
            <a:r>
              <a:rPr lang="en-US" dirty="0">
                <a:solidFill>
                  <a:srgbClr val="0000FF"/>
                </a:solidFill>
              </a:rPr>
              <a:t>f</a:t>
            </a:r>
            <a:r>
              <a:rPr lang="en-US" dirty="0"/>
              <a:t> is the unique value such that </a:t>
            </a:r>
            <a:r>
              <a:rPr lang="en-US" dirty="0">
                <a:solidFill>
                  <a:srgbClr val="0000FF"/>
                </a:solidFill>
              </a:rPr>
              <a:t>Sum(</a:t>
            </a:r>
            <a:r>
              <a:rPr lang="en-US" dirty="0" err="1">
                <a:solidFill>
                  <a:srgbClr val="0000FF"/>
                </a:solidFill>
              </a:rPr>
              <a:t>a</a:t>
            </a:r>
            <a:r>
              <a:rPr lang="en-US" baseline="-25000" dirty="0" err="1">
                <a:solidFill>
                  <a:srgbClr val="0000FF"/>
                </a:solidFill>
              </a:rPr>
              <a:t>i</a:t>
            </a:r>
            <a:r>
              <a:rPr lang="en-US" dirty="0">
                <a:solidFill>
                  <a:srgbClr val="0000FF"/>
                </a:solidFill>
              </a:rPr>
              <a:t>) = C</a:t>
            </a:r>
            <a:endParaRPr lang="en-US" dirty="0"/>
          </a:p>
          <a:p>
            <a:r>
              <a:rPr lang="en-US" dirty="0">
                <a:solidFill>
                  <a:srgbClr val="0000FF"/>
                </a:solidFill>
              </a:rPr>
              <a:t>If you don’t get full demand, no one gets more than you</a:t>
            </a:r>
          </a:p>
          <a:p>
            <a:r>
              <a:rPr lang="en-US" dirty="0"/>
              <a:t>This is what round-robin service gives if all packets are the same size</a:t>
            </a:r>
          </a:p>
          <a:p>
            <a:endParaRPr lang="en-US" dirty="0">
              <a:solidFill>
                <a:srgbClr val="0000FF"/>
              </a:solidFill>
            </a:endParaRPr>
          </a:p>
        </p:txBody>
      </p:sp>
      <p:sp>
        <p:nvSpPr>
          <p:cNvPr id="2" name="Date Placeholder 1"/>
          <p:cNvSpPr>
            <a:spLocks noGrp="1"/>
          </p:cNvSpPr>
          <p:nvPr>
            <p:ph type="dt" sz="half" idx="10"/>
          </p:nvPr>
        </p:nvSpPr>
        <p:spPr/>
        <p:txBody>
          <a:bodyPr/>
          <a:lstStyle/>
          <a:p>
            <a:r>
              <a:rPr lang="en-US"/>
              <a:t>April 16, 2025</a:t>
            </a:r>
            <a:endParaRPr lang="en-US" sz="1050" b="0">
              <a:latin typeface="Times New Roman" charset="0"/>
            </a:endParaRPr>
          </a:p>
        </p:txBody>
      </p:sp>
      <p:sp>
        <p:nvSpPr>
          <p:cNvPr id="3" name="Footer Placeholder 2"/>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4" name="Slide Number Placeholder 3"/>
          <p:cNvSpPr>
            <a:spLocks noGrp="1"/>
          </p:cNvSpPr>
          <p:nvPr>
            <p:ph type="sldNum" sz="quarter" idx="12"/>
          </p:nvPr>
        </p:nvSpPr>
        <p:spPr/>
        <p:txBody>
          <a:bodyPr/>
          <a:lstStyle/>
          <a:p>
            <a:fld id="{A190D881-957A-7944-A8D0-1584E528B88F}" type="slidenum">
              <a:rPr lang="en-US" smtClean="0"/>
              <a:pPr/>
              <a:t>16</a:t>
            </a:fld>
            <a:endParaRPr lang="en-US"/>
          </a:p>
        </p:txBody>
      </p:sp>
    </p:spTree>
    <p:extLst>
      <p:ext uri="{BB962C8B-B14F-4D97-AF65-F5344CB8AC3E}">
        <p14:creationId xmlns:p14="http://schemas.microsoft.com/office/powerpoint/2010/main" val="19291714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065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C6D70-B7B3-01BB-F8E1-5E2C27A00F01}"/>
            </a:ext>
          </a:extLst>
        </p:cNvPr>
        <p:cNvGrpSpPr/>
        <p:nvPr/>
      </p:nvGrpSpPr>
      <p:grpSpPr>
        <a:xfrm>
          <a:off x="0" y="0"/>
          <a:ext cx="0" cy="0"/>
          <a:chOff x="0" y="0"/>
          <a:chExt cx="0" cy="0"/>
        </a:xfrm>
      </p:grpSpPr>
      <p:sp>
        <p:nvSpPr>
          <p:cNvPr id="1043458" name="Rectangle 2">
            <a:extLst>
              <a:ext uri="{FF2B5EF4-FFF2-40B4-BE49-F238E27FC236}">
                <a16:creationId xmlns:a16="http://schemas.microsoft.com/office/drawing/2014/main" id="{8BEA2581-7A81-C90F-795C-EA0382699AE5}"/>
              </a:ext>
            </a:extLst>
          </p:cNvPr>
          <p:cNvSpPr>
            <a:spLocks noGrp="1" noChangeArrowheads="1"/>
          </p:cNvSpPr>
          <p:nvPr>
            <p:ph type="title"/>
          </p:nvPr>
        </p:nvSpPr>
        <p:spPr/>
        <p:txBody>
          <a:bodyPr/>
          <a:lstStyle/>
          <a:p>
            <a:r>
              <a:rPr lang="en-US"/>
              <a:t>Topics</a:t>
            </a:r>
            <a:endParaRPr lang="en-US" dirty="0"/>
          </a:p>
        </p:txBody>
      </p:sp>
      <p:sp>
        <p:nvSpPr>
          <p:cNvPr id="1043459" name="Rectangle 3">
            <a:extLst>
              <a:ext uri="{FF2B5EF4-FFF2-40B4-BE49-F238E27FC236}">
                <a16:creationId xmlns:a16="http://schemas.microsoft.com/office/drawing/2014/main" id="{A6F444C3-CF06-00D2-2ADB-CA0C1764FE8C}"/>
              </a:ext>
            </a:extLst>
          </p:cNvPr>
          <p:cNvSpPr>
            <a:spLocks noGrp="1" noChangeArrowheads="1"/>
          </p:cNvSpPr>
          <p:nvPr>
            <p:ph idx="1"/>
          </p:nvPr>
        </p:nvSpPr>
        <p:spPr/>
        <p:txBody>
          <a:bodyPr/>
          <a:lstStyle/>
          <a:p>
            <a:r>
              <a:rPr lang="en-US" dirty="0">
                <a:solidFill>
                  <a:schemeClr val="bg1">
                    <a:lumMod val="50000"/>
                  </a:schemeClr>
                </a:solidFill>
              </a:rPr>
              <a:t>Network layer (lectures 10–15)</a:t>
            </a:r>
          </a:p>
          <a:p>
            <a:pPr lvl="1"/>
            <a:r>
              <a:rPr lang="en-US" dirty="0">
                <a:solidFill>
                  <a:schemeClr val="bg1">
                    <a:lumMod val="50000"/>
                  </a:schemeClr>
                </a:solidFill>
              </a:rPr>
              <a:t>Addressing</a:t>
            </a:r>
          </a:p>
          <a:p>
            <a:pPr lvl="1"/>
            <a:r>
              <a:rPr lang="en-US" dirty="0">
                <a:solidFill>
                  <a:schemeClr val="bg1">
                    <a:lumMod val="50000"/>
                  </a:schemeClr>
                </a:solidFill>
              </a:rPr>
              <a:t>Data plane</a:t>
            </a:r>
          </a:p>
          <a:p>
            <a:pPr lvl="1"/>
            <a:r>
              <a:rPr lang="en-US" dirty="0"/>
              <a:t>Intra-domain routing </a:t>
            </a:r>
          </a:p>
          <a:p>
            <a:pPr lvl="1"/>
            <a:r>
              <a:rPr lang="en-US" dirty="0"/>
              <a:t>Inter-domain routing</a:t>
            </a:r>
          </a:p>
          <a:p>
            <a:r>
              <a:rPr lang="en-US" dirty="0"/>
              <a:t>SDN and programmable networks (lecture 16)</a:t>
            </a:r>
          </a:p>
          <a:p>
            <a:r>
              <a:rPr lang="en-US" dirty="0"/>
              <a:t>Link layer (lectures 17–19)</a:t>
            </a:r>
          </a:p>
          <a:p>
            <a:pPr lvl="1"/>
            <a:r>
              <a:rPr lang="en-US" dirty="0"/>
              <a:t>Ethernet</a:t>
            </a:r>
          </a:p>
          <a:p>
            <a:pPr lvl="1"/>
            <a:r>
              <a:rPr lang="en-US" dirty="0"/>
              <a:t>Wireless</a:t>
            </a:r>
          </a:p>
          <a:p>
            <a:r>
              <a:rPr lang="en-US" dirty="0"/>
              <a:t>Datacenter networking (lecture 20)</a:t>
            </a:r>
          </a:p>
        </p:txBody>
      </p:sp>
      <p:sp>
        <p:nvSpPr>
          <p:cNvPr id="4" name="Date Placeholder 3">
            <a:extLst>
              <a:ext uri="{FF2B5EF4-FFF2-40B4-BE49-F238E27FC236}">
                <a16:creationId xmlns:a16="http://schemas.microsoft.com/office/drawing/2014/main" id="{DF207AED-37A9-5E74-57FC-1E4CC8956F30}"/>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375BFE86-7E5C-5DA9-E7C3-6DFDE4D3D95B}"/>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F05FAC5A-ABE7-AEF4-E367-F89B8E482A98}"/>
              </a:ext>
            </a:extLst>
          </p:cNvPr>
          <p:cNvSpPr>
            <a:spLocks noGrp="1"/>
          </p:cNvSpPr>
          <p:nvPr>
            <p:ph type="sldNum" sz="quarter" idx="12"/>
          </p:nvPr>
        </p:nvSpPr>
        <p:spPr/>
        <p:txBody>
          <a:bodyPr/>
          <a:lstStyle/>
          <a:p>
            <a:fld id="{A190D881-957A-7944-A8D0-1584E528B88F}" type="slidenum">
              <a:rPr lang="en-US" smtClean="0"/>
              <a:pPr/>
              <a:t>17</a:t>
            </a:fld>
            <a:endParaRPr lang="en-US"/>
          </a:p>
        </p:txBody>
      </p:sp>
    </p:spTree>
    <p:extLst>
      <p:ext uri="{BB962C8B-B14F-4D97-AF65-F5344CB8AC3E}">
        <p14:creationId xmlns:p14="http://schemas.microsoft.com/office/powerpoint/2010/main" val="5857502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Routing: Local vs. global view</a:t>
            </a:r>
          </a:p>
        </p:txBody>
      </p:sp>
      <p:sp>
        <p:nvSpPr>
          <p:cNvPr id="3" name="Content Placeholder 2"/>
          <p:cNvSpPr>
            <a:spLocks noGrp="1"/>
          </p:cNvSpPr>
          <p:nvPr>
            <p:ph idx="1"/>
          </p:nvPr>
        </p:nvSpPr>
        <p:spPr/>
        <p:txBody>
          <a:bodyPr/>
          <a:lstStyle/>
          <a:p>
            <a:r>
              <a:rPr lang="en-US" i="1" dirty="0"/>
              <a:t>Local</a:t>
            </a:r>
            <a:r>
              <a:rPr lang="en-US" dirty="0"/>
              <a:t> routing state is the forwarding table in a single router</a:t>
            </a:r>
          </a:p>
          <a:p>
            <a:pPr lvl="1"/>
            <a:r>
              <a:rPr lang="en-US" dirty="0"/>
              <a:t>By itself, the state in a single router cannot be evaluated </a:t>
            </a:r>
          </a:p>
          <a:p>
            <a:pPr lvl="1"/>
            <a:r>
              <a:rPr lang="en-US" dirty="0"/>
              <a:t>It must be evaluated in terms of the global context</a:t>
            </a:r>
          </a:p>
          <a:p>
            <a:r>
              <a:rPr lang="en-US" i="1" dirty="0"/>
              <a:t>Global</a:t>
            </a:r>
            <a:r>
              <a:rPr lang="en-US" dirty="0"/>
              <a:t> state refers to the collection of forwarding tables in each of the routers</a:t>
            </a:r>
          </a:p>
          <a:p>
            <a:pPr lvl="1"/>
            <a:r>
              <a:rPr lang="en-US" dirty="0"/>
              <a:t>Global state determines which paths packets take</a:t>
            </a:r>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18</a:t>
            </a:fld>
            <a:endParaRPr lang="en-US"/>
          </a:p>
        </p:txBody>
      </p:sp>
    </p:spTree>
    <p:extLst>
      <p:ext uri="{BB962C8B-B14F-4D97-AF65-F5344CB8AC3E}">
        <p14:creationId xmlns:p14="http://schemas.microsoft.com/office/powerpoint/2010/main" val="1959505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“Valid” routing state</a:t>
            </a:r>
          </a:p>
        </p:txBody>
      </p:sp>
      <p:sp>
        <p:nvSpPr>
          <p:cNvPr id="3" name="Content Placeholder 2"/>
          <p:cNvSpPr>
            <a:spLocks noGrp="1"/>
          </p:cNvSpPr>
          <p:nvPr>
            <p:ph idx="1"/>
          </p:nvPr>
        </p:nvSpPr>
        <p:spPr/>
        <p:txBody>
          <a:bodyPr/>
          <a:lstStyle/>
          <a:p>
            <a:r>
              <a:rPr lang="en-US" dirty="0"/>
              <a:t>Global state is “valid” if it produces forwarding decisions that always deliver packets to their destinations</a:t>
            </a:r>
          </a:p>
          <a:p>
            <a:r>
              <a:rPr lang="en-US" dirty="0"/>
              <a:t>Goal of routing protocols: compute valid state</a:t>
            </a:r>
          </a:p>
          <a:p>
            <a:pPr lvl="1"/>
            <a:r>
              <a:rPr lang="en-US" dirty="0"/>
              <a:t>How can we tell if routing state if valid?</a:t>
            </a:r>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19</a:t>
            </a:fld>
            <a:endParaRPr lang="en-US"/>
          </a:p>
        </p:txBody>
      </p:sp>
    </p:spTree>
    <p:extLst>
      <p:ext uri="{BB962C8B-B14F-4D97-AF65-F5344CB8AC3E}">
        <p14:creationId xmlns:p14="http://schemas.microsoft.com/office/powerpoint/2010/main" val="1750808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Necessary and sufficient condition</a:t>
            </a:r>
          </a:p>
        </p:txBody>
      </p:sp>
      <p:sp>
        <p:nvSpPr>
          <p:cNvPr id="3" name="Content Placeholder 2"/>
          <p:cNvSpPr>
            <a:spLocks noGrp="1"/>
          </p:cNvSpPr>
          <p:nvPr>
            <p:ph idx="1"/>
          </p:nvPr>
        </p:nvSpPr>
        <p:spPr/>
        <p:txBody>
          <a:bodyPr/>
          <a:lstStyle/>
          <a:p>
            <a:r>
              <a:rPr lang="en-US" dirty="0"/>
              <a:t>Global routing state is valid </a:t>
            </a:r>
            <a:r>
              <a:rPr lang="en-US" i="1" dirty="0">
                <a:solidFill>
                  <a:srgbClr val="0000FF"/>
                </a:solidFill>
              </a:rPr>
              <a:t>if and only if</a:t>
            </a:r>
            <a:r>
              <a:rPr lang="en-US" dirty="0"/>
              <a:t>:</a:t>
            </a:r>
          </a:p>
          <a:p>
            <a:pPr lvl="1"/>
            <a:r>
              <a:rPr lang="en-US" dirty="0"/>
              <a:t>There are no dead ends (other than destination)</a:t>
            </a:r>
          </a:p>
          <a:p>
            <a:pPr lvl="1"/>
            <a:r>
              <a:rPr lang="en-US" dirty="0"/>
              <a:t>There are no loops</a:t>
            </a:r>
          </a:p>
          <a:p>
            <a:r>
              <a:rPr lang="en-US" dirty="0"/>
              <a:t>A </a:t>
            </a:r>
            <a:r>
              <a:rPr lang="en-US" dirty="0">
                <a:solidFill>
                  <a:srgbClr val="0000FF"/>
                </a:solidFill>
              </a:rPr>
              <a:t>dead end</a:t>
            </a:r>
            <a:r>
              <a:rPr lang="en-US" dirty="0"/>
              <a:t> is when there is no outgoing link (next-hop)</a:t>
            </a:r>
          </a:p>
          <a:p>
            <a:pPr lvl="1"/>
            <a:r>
              <a:rPr lang="en-US" dirty="0"/>
              <a:t>A packet arrives, but the forwarding decision does not yield any outgoing link</a:t>
            </a:r>
          </a:p>
          <a:p>
            <a:r>
              <a:rPr lang="en-US" dirty="0"/>
              <a:t>A </a:t>
            </a:r>
            <a:r>
              <a:rPr lang="en-US" dirty="0">
                <a:solidFill>
                  <a:srgbClr val="0000FF"/>
                </a:solidFill>
              </a:rPr>
              <a:t>loop</a:t>
            </a:r>
            <a:r>
              <a:rPr lang="en-US" dirty="0"/>
              <a:t> is when a packet cycles around the same set of nodes forever</a:t>
            </a:r>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20</a:t>
            </a:fld>
            <a:endParaRPr lang="en-US"/>
          </a:p>
        </p:txBody>
      </p:sp>
    </p:spTree>
    <p:extLst>
      <p:ext uri="{BB962C8B-B14F-4D97-AF65-F5344CB8AC3E}">
        <p14:creationId xmlns:p14="http://schemas.microsoft.com/office/powerpoint/2010/main" val="794523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Least-cost routes</a:t>
            </a:r>
          </a:p>
        </p:txBody>
      </p:sp>
      <p:sp>
        <p:nvSpPr>
          <p:cNvPr id="3" name="Content Placeholder 2"/>
          <p:cNvSpPr>
            <a:spLocks noGrp="1"/>
          </p:cNvSpPr>
          <p:nvPr>
            <p:ph idx="1"/>
          </p:nvPr>
        </p:nvSpPr>
        <p:spPr/>
        <p:txBody>
          <a:bodyPr/>
          <a:lstStyle/>
          <a:p>
            <a:r>
              <a:rPr lang="en-US" dirty="0"/>
              <a:t>Least-cost routes provide an easy way to avoid loops</a:t>
            </a:r>
          </a:p>
          <a:p>
            <a:pPr lvl="1"/>
            <a:r>
              <a:rPr lang="en-US" dirty="0"/>
              <a:t>No reasonable cost metric is minimized by traversing a loop</a:t>
            </a:r>
          </a:p>
          <a:p>
            <a:r>
              <a:rPr lang="en-US" dirty="0"/>
              <a:t>Least-cost paths form a spanning tree for each destination rooted at that destination</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21</a:t>
            </a:fld>
            <a:endParaRPr lang="en-US"/>
          </a:p>
        </p:txBody>
      </p:sp>
    </p:spTree>
    <p:extLst>
      <p:ext uri="{BB962C8B-B14F-4D97-AF65-F5344CB8AC3E}">
        <p14:creationId xmlns:p14="http://schemas.microsoft.com/office/powerpoint/2010/main" val="601895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Intra-domain routing</a:t>
            </a:r>
          </a:p>
        </p:txBody>
      </p:sp>
      <p:sp>
        <p:nvSpPr>
          <p:cNvPr id="3" name="Content Placeholder 2"/>
          <p:cNvSpPr>
            <a:spLocks noGrp="1"/>
          </p:cNvSpPr>
          <p:nvPr>
            <p:ph idx="1"/>
          </p:nvPr>
        </p:nvSpPr>
        <p:spPr/>
        <p:txBody>
          <a:bodyPr/>
          <a:lstStyle/>
          <a:p>
            <a:r>
              <a:rPr lang="en-US" dirty="0"/>
              <a:t>Link-state (LS) routing protocol</a:t>
            </a:r>
          </a:p>
          <a:p>
            <a:pPr lvl="1"/>
            <a:r>
              <a:rPr lang="en-US" dirty="0"/>
              <a:t>Dijkstra’s algorithm</a:t>
            </a:r>
          </a:p>
          <a:p>
            <a:pPr lvl="1"/>
            <a:r>
              <a:rPr lang="en-US" dirty="0">
                <a:solidFill>
                  <a:srgbClr val="0000FF"/>
                </a:solidFill>
              </a:rPr>
              <a:t>Broadcast neighbors’ info to everyone</a:t>
            </a:r>
          </a:p>
          <a:p>
            <a:r>
              <a:rPr lang="en-US" dirty="0"/>
              <a:t>Distance vector (DV) routing protocol</a:t>
            </a:r>
          </a:p>
          <a:p>
            <a:pPr lvl="1"/>
            <a:r>
              <a:rPr lang="en-US" dirty="0"/>
              <a:t>Bellman-Ford algorithm</a:t>
            </a:r>
          </a:p>
          <a:p>
            <a:pPr lvl="1"/>
            <a:r>
              <a:rPr lang="en-US" dirty="0">
                <a:solidFill>
                  <a:srgbClr val="0000FF"/>
                </a:solidFill>
              </a:rPr>
              <a:t>Gossip to neighbors about everyone</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22</a:t>
            </a:fld>
            <a:endParaRPr lang="en-US"/>
          </a:p>
        </p:txBody>
      </p:sp>
    </p:spTree>
    <p:extLst>
      <p:ext uri="{BB962C8B-B14F-4D97-AF65-F5344CB8AC3E}">
        <p14:creationId xmlns:p14="http://schemas.microsoft.com/office/powerpoint/2010/main" val="1613304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r>
              <a:rPr lang="en-US"/>
              <a:t>Similarities between LS and DV routing</a:t>
            </a:r>
            <a:endParaRPr lang="en-US" dirty="0"/>
          </a:p>
        </p:txBody>
      </p:sp>
      <p:sp>
        <p:nvSpPr>
          <p:cNvPr id="44035" name="Rectangle 3"/>
          <p:cNvSpPr>
            <a:spLocks noGrp="1" noChangeArrowheads="1"/>
          </p:cNvSpPr>
          <p:nvPr>
            <p:ph idx="1"/>
          </p:nvPr>
        </p:nvSpPr>
        <p:spPr/>
        <p:txBody>
          <a:bodyPr/>
          <a:lstStyle/>
          <a:p>
            <a:r>
              <a:rPr lang="en-US" dirty="0"/>
              <a:t>Both are shortest-path based routing</a:t>
            </a:r>
          </a:p>
          <a:p>
            <a:pPr lvl="1"/>
            <a:r>
              <a:rPr lang="en-US" dirty="0"/>
              <a:t>Minimizing cost metric (link weights) a common optimization goal</a:t>
            </a:r>
          </a:p>
          <a:p>
            <a:pPr lvl="2"/>
            <a:r>
              <a:rPr lang="en-US" dirty="0"/>
              <a:t>Routers share a common view as to what makes a path “good” and how to measure the “goodness” of a path</a:t>
            </a:r>
          </a:p>
          <a:p>
            <a:r>
              <a:rPr lang="en-US" dirty="0"/>
              <a:t>Due to shared goal, commonly used inside an organization</a:t>
            </a:r>
          </a:p>
          <a:p>
            <a:pPr lvl="1"/>
            <a:r>
              <a:rPr lang="en-US" dirty="0"/>
              <a:t>RIP and OSPF are mostly used for </a:t>
            </a:r>
            <a:r>
              <a:rPr lang="en-US" dirty="0">
                <a:solidFill>
                  <a:srgbClr val="0000FF"/>
                </a:solidFill>
              </a:rPr>
              <a:t>intra</a:t>
            </a:r>
            <a:r>
              <a:rPr lang="en-US" dirty="0"/>
              <a:t>-domain routing</a:t>
            </a:r>
          </a:p>
        </p:txBody>
      </p:sp>
      <p:sp>
        <p:nvSpPr>
          <p:cNvPr id="4" name="Date Placeholder 3"/>
          <p:cNvSpPr>
            <a:spLocks noGrp="1"/>
          </p:cNvSpPr>
          <p:nvPr>
            <p:ph type="dt" sz="half" idx="10"/>
          </p:nvPr>
        </p:nvSpPr>
        <p:spPr/>
        <p:txBody>
          <a:bodyPr/>
          <a:lstStyle/>
          <a:p>
            <a:r>
              <a:rPr lang="en-US"/>
              <a:t>April 16, 2025</a:t>
            </a:r>
          </a:p>
        </p:txBody>
      </p:sp>
      <p:sp>
        <p:nvSpPr>
          <p:cNvPr id="5" name="Footer Placeholder 4"/>
          <p:cNvSpPr>
            <a:spLocks noGrp="1"/>
          </p:cNvSpPr>
          <p:nvPr>
            <p:ph type="ftr" sz="quarter" idx="11"/>
          </p:nvPr>
        </p:nvSpPr>
        <p:spPr/>
        <p:txBody>
          <a:bodyPr/>
          <a:lstStyle/>
          <a:p>
            <a:r>
              <a:rPr lang="en-US"/>
              <a:t>EECS 489 – Final Review</a:t>
            </a:r>
          </a:p>
        </p:txBody>
      </p:sp>
      <p:sp>
        <p:nvSpPr>
          <p:cNvPr id="6" name="Slide Number Placeholder 5"/>
          <p:cNvSpPr>
            <a:spLocks noGrp="1"/>
          </p:cNvSpPr>
          <p:nvPr>
            <p:ph type="sldNum" sz="quarter" idx="12"/>
          </p:nvPr>
        </p:nvSpPr>
        <p:spPr/>
        <p:txBody>
          <a:bodyPr/>
          <a:lstStyle/>
          <a:p>
            <a:fld id="{A190D881-957A-7944-A8D0-1584E528B88F}" type="slidenum">
              <a:rPr lang="en-US" smtClean="0"/>
              <a:pPr/>
              <a:t>23</a:t>
            </a:fld>
            <a:endParaRPr lang="en-US"/>
          </a:p>
        </p:txBody>
      </p:sp>
    </p:spTree>
    <p:extLst>
      <p:ext uri="{BB962C8B-B14F-4D97-AF65-F5344CB8AC3E}">
        <p14:creationId xmlns:p14="http://schemas.microsoft.com/office/powerpoint/2010/main" val="1410321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03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403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t>Comparison of LS and DV routing</a:t>
            </a:r>
            <a:endParaRPr lang="en-US" dirty="0"/>
          </a:p>
        </p:txBody>
      </p:sp>
      <p:sp>
        <p:nvSpPr>
          <p:cNvPr id="41987" name="Rectangle 3"/>
          <p:cNvSpPr>
            <a:spLocks noGrp="1" noChangeArrowheads="1"/>
          </p:cNvSpPr>
          <p:nvPr>
            <p:ph sz="half" idx="1"/>
          </p:nvPr>
        </p:nvSpPr>
        <p:spPr/>
        <p:txBody>
          <a:bodyPr/>
          <a:lstStyle/>
          <a:p>
            <a:pPr marL="0" indent="0">
              <a:buNone/>
            </a:pPr>
            <a:r>
              <a:rPr lang="en-US" dirty="0">
                <a:solidFill>
                  <a:srgbClr val="0000FF"/>
                </a:solidFill>
              </a:rPr>
              <a:t>Messaging complexity</a:t>
            </a:r>
          </a:p>
          <a:p>
            <a:r>
              <a:rPr lang="en-US" dirty="0"/>
              <a:t>LS: with N nodes, E links,         O(NE) messages sent  </a:t>
            </a:r>
          </a:p>
          <a:p>
            <a:r>
              <a:rPr lang="en-US" dirty="0"/>
              <a:t>DV: exchange between neighbors only</a:t>
            </a:r>
          </a:p>
          <a:p>
            <a:endParaRPr lang="en-US" dirty="0"/>
          </a:p>
          <a:p>
            <a:pPr marL="0" indent="0">
              <a:buNone/>
            </a:pPr>
            <a:r>
              <a:rPr lang="en-US" dirty="0">
                <a:solidFill>
                  <a:srgbClr val="0000FF"/>
                </a:solidFill>
              </a:rPr>
              <a:t>Speed of convergence</a:t>
            </a:r>
          </a:p>
          <a:p>
            <a:r>
              <a:rPr lang="en-US" dirty="0"/>
              <a:t>LS: relatively fast</a:t>
            </a:r>
          </a:p>
          <a:p>
            <a:r>
              <a:rPr lang="en-US" dirty="0"/>
              <a:t>DV: convergence time varies</a:t>
            </a:r>
          </a:p>
          <a:p>
            <a:pPr lvl="1"/>
            <a:r>
              <a:rPr lang="en-US" b="1" dirty="0">
                <a:solidFill>
                  <a:srgbClr val="0000FF"/>
                </a:solidFill>
              </a:rPr>
              <a:t>Count-to-infinity</a:t>
            </a:r>
            <a:r>
              <a:rPr lang="en-US" dirty="0"/>
              <a:t> problem</a:t>
            </a:r>
          </a:p>
        </p:txBody>
      </p:sp>
      <p:sp>
        <p:nvSpPr>
          <p:cNvPr id="46084" name="Rectangle 4"/>
          <p:cNvSpPr>
            <a:spLocks noGrp="1" noChangeArrowheads="1"/>
          </p:cNvSpPr>
          <p:nvPr>
            <p:ph sz="half" idx="2"/>
          </p:nvPr>
        </p:nvSpPr>
        <p:spPr/>
        <p:txBody>
          <a:bodyPr/>
          <a:lstStyle/>
          <a:p>
            <a:pPr marL="0" indent="0">
              <a:buNone/>
            </a:pPr>
            <a:r>
              <a:rPr lang="en-US" dirty="0">
                <a:solidFill>
                  <a:srgbClr val="0000FF"/>
                </a:solidFill>
              </a:rPr>
              <a:t>Robustness: what happens if router malfunctions?</a:t>
            </a:r>
          </a:p>
          <a:p>
            <a:r>
              <a:rPr lang="en-US" dirty="0"/>
              <a:t>LS: </a:t>
            </a:r>
          </a:p>
          <a:p>
            <a:pPr lvl="1"/>
            <a:r>
              <a:rPr lang="en-US" dirty="0"/>
              <a:t>Node can advertise incorrect </a:t>
            </a:r>
            <a:r>
              <a:rPr lang="en-US" dirty="0">
                <a:solidFill>
                  <a:srgbClr val="0000FF"/>
                </a:solidFill>
              </a:rPr>
              <a:t>link</a:t>
            </a:r>
            <a:r>
              <a:rPr lang="en-US" dirty="0"/>
              <a:t> cost</a:t>
            </a:r>
          </a:p>
          <a:p>
            <a:pPr lvl="1"/>
            <a:r>
              <a:rPr lang="en-US" dirty="0"/>
              <a:t>Each node computes its </a:t>
            </a:r>
            <a:r>
              <a:rPr lang="en-US" i="1" dirty="0"/>
              <a:t>own</a:t>
            </a:r>
            <a:r>
              <a:rPr lang="en-US" dirty="0"/>
              <a:t> table</a:t>
            </a:r>
          </a:p>
          <a:p>
            <a:r>
              <a:rPr lang="en-US" dirty="0"/>
              <a:t>DV:</a:t>
            </a:r>
          </a:p>
          <a:p>
            <a:pPr lvl="1"/>
            <a:r>
              <a:rPr lang="en-US" dirty="0"/>
              <a:t>Node can advertise incorrect </a:t>
            </a:r>
            <a:r>
              <a:rPr lang="en-US" dirty="0">
                <a:solidFill>
                  <a:srgbClr val="0000FF"/>
                </a:solidFill>
              </a:rPr>
              <a:t>path</a:t>
            </a:r>
            <a:r>
              <a:rPr lang="en-US" dirty="0"/>
              <a:t> cost</a:t>
            </a:r>
          </a:p>
          <a:p>
            <a:pPr lvl="1"/>
            <a:r>
              <a:rPr lang="en-US" dirty="0"/>
              <a:t>Each node’s table used by others (</a:t>
            </a:r>
            <a:r>
              <a:rPr lang="en-US" dirty="0">
                <a:solidFill>
                  <a:srgbClr val="0000FF"/>
                </a:solidFill>
              </a:rPr>
              <a:t>errors propagate</a:t>
            </a:r>
            <a:r>
              <a:rPr lang="en-US" dirty="0"/>
              <a:t>)</a:t>
            </a:r>
          </a:p>
        </p:txBody>
      </p:sp>
      <p:sp>
        <p:nvSpPr>
          <p:cNvPr id="5" name="Date Placeholder 4"/>
          <p:cNvSpPr>
            <a:spLocks noGrp="1"/>
          </p:cNvSpPr>
          <p:nvPr>
            <p:ph type="dt" sz="half" idx="10"/>
          </p:nvPr>
        </p:nvSpPr>
        <p:spPr/>
        <p:txBody>
          <a:bodyPr/>
          <a:lstStyle/>
          <a:p>
            <a:r>
              <a:rPr lang="en-US"/>
              <a:t>April 16, 2025</a:t>
            </a:r>
          </a:p>
        </p:txBody>
      </p:sp>
      <p:sp>
        <p:nvSpPr>
          <p:cNvPr id="6" name="Footer Placeholder 5"/>
          <p:cNvSpPr>
            <a:spLocks noGrp="1"/>
          </p:cNvSpPr>
          <p:nvPr>
            <p:ph type="ftr" sz="quarter" idx="11"/>
          </p:nvPr>
        </p:nvSpPr>
        <p:spPr/>
        <p:txBody>
          <a:bodyPr/>
          <a:lstStyle/>
          <a:p>
            <a:r>
              <a:rPr lang="en-US"/>
              <a:t>EECS 489 – Final Review</a:t>
            </a:r>
          </a:p>
        </p:txBody>
      </p:sp>
      <p:sp>
        <p:nvSpPr>
          <p:cNvPr id="7" name="Slide Number Placeholder 6"/>
          <p:cNvSpPr>
            <a:spLocks noGrp="1"/>
          </p:cNvSpPr>
          <p:nvPr>
            <p:ph type="sldNum" sz="quarter" idx="12"/>
          </p:nvPr>
        </p:nvSpPr>
        <p:spPr/>
        <p:txBody>
          <a:bodyPr/>
          <a:lstStyle/>
          <a:p>
            <a:fld id="{F36FED86-94EF-254D-90EE-B810FE8299EE}" type="slidenum">
              <a:rPr lang="en-US" smtClean="0"/>
              <a:pPr/>
              <a:t>24</a:t>
            </a:fld>
            <a:endParaRPr lang="en-US"/>
          </a:p>
        </p:txBody>
      </p:sp>
    </p:spTree>
    <p:extLst>
      <p:ext uri="{BB962C8B-B14F-4D97-AF65-F5344CB8AC3E}">
        <p14:creationId xmlns:p14="http://schemas.microsoft.com/office/powerpoint/2010/main" val="1801126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98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98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198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98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198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198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987">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6084">
                                            <p:txEl>
                                              <p:pRg st="0" end="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6084">
                                            <p:txEl>
                                              <p:pRg st="1" end="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084">
                                            <p:txEl>
                                              <p:pRg st="2" end="2"/>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084">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084">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6084">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08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84"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dirty="0"/>
              <a:t>Addressing is key to scalable inter-domain routing</a:t>
            </a:r>
          </a:p>
        </p:txBody>
      </p:sp>
      <p:sp>
        <p:nvSpPr>
          <p:cNvPr id="9" name="Content Placeholder 8"/>
          <p:cNvSpPr>
            <a:spLocks noGrp="1"/>
          </p:cNvSpPr>
          <p:nvPr>
            <p:ph idx="1"/>
          </p:nvPr>
        </p:nvSpPr>
        <p:spPr/>
        <p:txBody>
          <a:bodyPr/>
          <a:lstStyle/>
          <a:p>
            <a:pPr lvl="0"/>
            <a:r>
              <a:rPr lang="en-US" dirty="0">
                <a:solidFill>
                  <a:srgbClr val="0000FF"/>
                </a:solidFill>
              </a:rPr>
              <a:t>Ability to aggregate</a:t>
            </a:r>
            <a:r>
              <a:rPr lang="en-US" dirty="0"/>
              <a:t> addresses is crucial for</a:t>
            </a:r>
          </a:p>
          <a:p>
            <a:pPr lvl="1"/>
            <a:r>
              <a:rPr lang="en-US" dirty="0"/>
              <a:t>State: Small forwarding tables at routers</a:t>
            </a:r>
          </a:p>
          <a:p>
            <a:pPr lvl="2"/>
            <a:r>
              <a:rPr lang="en-US" dirty="0"/>
              <a:t>Much less than the number of hosts</a:t>
            </a:r>
          </a:p>
          <a:p>
            <a:pPr lvl="1"/>
            <a:r>
              <a:rPr lang="en-US" dirty="0"/>
              <a:t>Churn: Limited rate of change in routing tables</a:t>
            </a:r>
          </a:p>
          <a:p>
            <a:endParaRPr lang="en-US" dirty="0"/>
          </a:p>
        </p:txBody>
      </p:sp>
      <p:sp>
        <p:nvSpPr>
          <p:cNvPr id="5" name="Date Placeholder 4"/>
          <p:cNvSpPr>
            <a:spLocks noGrp="1"/>
          </p:cNvSpPr>
          <p:nvPr>
            <p:ph type="dt" sz="half" idx="10"/>
          </p:nvPr>
        </p:nvSpPr>
        <p:spPr/>
        <p:txBody>
          <a:bodyPr/>
          <a:lstStyle/>
          <a:p>
            <a:r>
              <a:rPr lang="en-US"/>
              <a:t>April 16,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7" name="Slide Number Placeholder 6"/>
          <p:cNvSpPr>
            <a:spLocks noGrp="1"/>
          </p:cNvSpPr>
          <p:nvPr>
            <p:ph type="sldNum" sz="quarter" idx="12"/>
          </p:nvPr>
        </p:nvSpPr>
        <p:spPr/>
        <p:txBody>
          <a:bodyPr/>
          <a:lstStyle/>
          <a:p>
            <a:fld id="{F36FED86-94EF-254D-90EE-B810FE8299EE}" type="slidenum">
              <a:rPr lang="en-US" smtClean="0"/>
              <a:pPr/>
              <a:t>25</a:t>
            </a:fld>
            <a:endParaRPr lang="en-US"/>
          </a:p>
        </p:txBody>
      </p:sp>
    </p:spTree>
    <p:extLst>
      <p:ext uri="{BB962C8B-B14F-4D97-AF65-F5344CB8AC3E}">
        <p14:creationId xmlns:p14="http://schemas.microsoft.com/office/powerpoint/2010/main" val="4774928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1" name="Title 1"/>
          <p:cNvSpPr>
            <a:spLocks noGrp="1"/>
          </p:cNvSpPr>
          <p:nvPr>
            <p:ph type="title"/>
          </p:nvPr>
        </p:nvSpPr>
        <p:spPr/>
        <p:txBody>
          <a:bodyPr/>
          <a:lstStyle/>
          <a:p>
            <a:r>
              <a:rPr lang="en-US" altLang="ja-JP" dirty="0"/>
              <a:t>CIDR: C</a:t>
            </a:r>
            <a:r>
              <a:rPr lang="en-US" dirty="0"/>
              <a:t>lassless inter-domain routing</a:t>
            </a:r>
          </a:p>
        </p:txBody>
      </p:sp>
      <p:sp>
        <p:nvSpPr>
          <p:cNvPr id="138242" name="Content Placeholder 2"/>
          <p:cNvSpPr>
            <a:spLocks noGrp="1"/>
          </p:cNvSpPr>
          <p:nvPr>
            <p:ph idx="1"/>
          </p:nvPr>
        </p:nvSpPr>
        <p:spPr/>
        <p:txBody>
          <a:bodyPr/>
          <a:lstStyle/>
          <a:p>
            <a:r>
              <a:rPr lang="en-US" dirty="0"/>
              <a:t>Flexible division between network and host addresses</a:t>
            </a:r>
          </a:p>
          <a:p>
            <a:r>
              <a:rPr lang="en-US" dirty="0"/>
              <a:t>Offers a better tradeoff between size of the routing table and efficient use of the IP address space</a:t>
            </a:r>
          </a:p>
          <a:p>
            <a:endParaRPr lang="en-US" dirty="0"/>
          </a:p>
          <a:p>
            <a:endParaRPr lang="en-US" dirty="0"/>
          </a:p>
          <a:p>
            <a:endParaRPr lang="en-US" dirty="0"/>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26</a:t>
            </a:fld>
            <a:endParaRPr lang="en-US"/>
          </a:p>
        </p:txBody>
      </p:sp>
    </p:spTree>
    <p:extLst>
      <p:ext uri="{BB962C8B-B14F-4D97-AF65-F5344CB8AC3E}">
        <p14:creationId xmlns:p14="http://schemas.microsoft.com/office/powerpoint/2010/main" val="1552323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824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824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242"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2"/>
          <p:cNvSpPr>
            <a:spLocks noGrp="1" noChangeArrowheads="1"/>
          </p:cNvSpPr>
          <p:nvPr>
            <p:ph type="title"/>
          </p:nvPr>
        </p:nvSpPr>
        <p:spPr/>
        <p:txBody>
          <a:bodyPr/>
          <a:lstStyle/>
          <a:p>
            <a:r>
              <a:rPr lang="en-US" dirty="0"/>
              <a:t>Hierarchy in IP addressing</a:t>
            </a:r>
          </a:p>
        </p:txBody>
      </p:sp>
      <p:sp>
        <p:nvSpPr>
          <p:cNvPr id="124931" name="Rectangle 3"/>
          <p:cNvSpPr>
            <a:spLocks noGrp="1" noChangeArrowheads="1"/>
          </p:cNvSpPr>
          <p:nvPr>
            <p:ph idx="1"/>
          </p:nvPr>
        </p:nvSpPr>
        <p:spPr>
          <a:xfrm>
            <a:off x="685800" y="1600200"/>
            <a:ext cx="8153400" cy="4419600"/>
          </a:xfrm>
        </p:spPr>
        <p:txBody>
          <a:bodyPr/>
          <a:lstStyle/>
          <a:p>
            <a:r>
              <a:rPr lang="en-US" dirty="0"/>
              <a:t>32 bits are partitioned into a prefix and suffix components</a:t>
            </a:r>
          </a:p>
          <a:p>
            <a:r>
              <a:rPr lang="en-US" dirty="0"/>
              <a:t>Prefix is the </a:t>
            </a:r>
            <a:r>
              <a:rPr lang="en-US" dirty="0">
                <a:solidFill>
                  <a:srgbClr val="0000FF"/>
                </a:solidFill>
              </a:rPr>
              <a:t>network </a:t>
            </a:r>
            <a:r>
              <a:rPr lang="en-US" dirty="0"/>
              <a:t>component; suffix is the </a:t>
            </a:r>
            <a:r>
              <a:rPr lang="en-US" dirty="0">
                <a:solidFill>
                  <a:srgbClr val="0000FF"/>
                </a:solidFill>
              </a:rPr>
              <a:t>host </a:t>
            </a:r>
            <a:r>
              <a:rPr lang="en-US" dirty="0"/>
              <a:t>component</a:t>
            </a:r>
            <a:br>
              <a:rPr lang="en-US" dirty="0"/>
            </a:br>
            <a:endParaRPr lang="en-US" dirty="0"/>
          </a:p>
          <a:p>
            <a:endParaRPr lang="en-US" dirty="0"/>
          </a:p>
          <a:p>
            <a:endParaRPr lang="en-US" dirty="0"/>
          </a:p>
          <a:p>
            <a:endParaRPr lang="en-US" dirty="0"/>
          </a:p>
          <a:p>
            <a:r>
              <a:rPr lang="en-US" dirty="0">
                <a:solidFill>
                  <a:srgbClr val="0000FF"/>
                </a:solidFill>
              </a:rPr>
              <a:t>Inter-domain routing operates on network prefix</a:t>
            </a:r>
          </a:p>
        </p:txBody>
      </p:sp>
      <p:grpSp>
        <p:nvGrpSpPr>
          <p:cNvPr id="2" name="Group 1"/>
          <p:cNvGrpSpPr/>
          <p:nvPr/>
        </p:nvGrpSpPr>
        <p:grpSpPr>
          <a:xfrm>
            <a:off x="1324338" y="3429000"/>
            <a:ext cx="6495324" cy="1985166"/>
            <a:chOff x="762000" y="4343400"/>
            <a:chExt cx="7334250" cy="2352791"/>
          </a:xfrm>
        </p:grpSpPr>
        <p:grpSp>
          <p:nvGrpSpPr>
            <p:cNvPr id="124932" name="Group 4"/>
            <p:cNvGrpSpPr>
              <a:grpSpLocks/>
            </p:cNvGrpSpPr>
            <p:nvPr/>
          </p:nvGrpSpPr>
          <p:grpSpPr bwMode="auto">
            <a:xfrm>
              <a:off x="762000" y="5243513"/>
              <a:ext cx="7334250" cy="633412"/>
              <a:chOff x="428" y="893"/>
              <a:chExt cx="4620" cy="399"/>
            </a:xfrm>
          </p:grpSpPr>
          <p:grpSp>
            <p:nvGrpSpPr>
              <p:cNvPr id="124948" name="Group 5"/>
              <p:cNvGrpSpPr>
                <a:grpSpLocks/>
              </p:cNvGrpSpPr>
              <p:nvPr/>
            </p:nvGrpSpPr>
            <p:grpSpPr bwMode="auto">
              <a:xfrm>
                <a:off x="428" y="904"/>
                <a:ext cx="4616" cy="328"/>
                <a:chOff x="428" y="904"/>
                <a:chExt cx="4616" cy="328"/>
              </a:xfrm>
            </p:grpSpPr>
            <p:sp>
              <p:nvSpPr>
                <p:cNvPr id="932870" name="Rectangle 6"/>
                <p:cNvSpPr>
                  <a:spLocks noChangeArrowheads="1"/>
                </p:cNvSpPr>
                <p:nvPr/>
              </p:nvSpPr>
              <p:spPr bwMode="auto">
                <a:xfrm>
                  <a:off x="428" y="908"/>
                  <a:ext cx="4616" cy="320"/>
                </a:xfrm>
                <a:prstGeom prst="rect">
                  <a:avLst/>
                </a:prstGeom>
                <a:solidFill>
                  <a:schemeClr val="bg1"/>
                </a:solidFill>
                <a:ln w="12700">
                  <a:solidFill>
                    <a:schemeClr val="tx1"/>
                  </a:solidFill>
                  <a:miter lim="800000"/>
                  <a:headEnd/>
                  <a:tailEnd/>
                </a:ln>
                <a:effectLst>
                  <a:outerShdw blurRad="63500" dist="107763" dir="2700000" algn="ctr" rotWithShape="0">
                    <a:schemeClr val="bg2">
                      <a:alpha val="74998"/>
                    </a:schemeClr>
                  </a:outerShdw>
                </a:effectLst>
              </p:spPr>
              <p:txBody>
                <a:bodyPr wrap="none" anchor="ctr"/>
                <a:lstStyle/>
                <a:p>
                  <a:pPr>
                    <a:defRPr/>
                  </a:pPr>
                  <a:endParaRPr lang="en-US" sz="1600">
                    <a:ea typeface="+mn-ea"/>
                    <a:cs typeface="+mn-cs"/>
                  </a:endParaRPr>
                </a:p>
              </p:txBody>
            </p:sp>
            <p:sp>
              <p:nvSpPr>
                <p:cNvPr id="124954" name="Line 7"/>
                <p:cNvSpPr>
                  <a:spLocks noChangeShapeType="1"/>
                </p:cNvSpPr>
                <p:nvPr/>
              </p:nvSpPr>
              <p:spPr bwMode="auto">
                <a:xfrm>
                  <a:off x="2728" y="904"/>
                  <a:ext cx="0" cy="320"/>
                </a:xfrm>
                <a:prstGeom prst="line">
                  <a:avLst/>
                </a:prstGeom>
                <a:noFill/>
                <a:ln w="127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endParaRPr lang="en-US" sz="1600"/>
                </a:p>
              </p:txBody>
            </p:sp>
            <p:sp>
              <p:nvSpPr>
                <p:cNvPr id="124955" name="Line 8"/>
                <p:cNvSpPr>
                  <a:spLocks noChangeShapeType="1"/>
                </p:cNvSpPr>
                <p:nvPr/>
              </p:nvSpPr>
              <p:spPr bwMode="auto">
                <a:xfrm>
                  <a:off x="1592" y="904"/>
                  <a:ext cx="0" cy="328"/>
                </a:xfrm>
                <a:prstGeom prst="line">
                  <a:avLst/>
                </a:prstGeom>
                <a:noFill/>
                <a:ln w="127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endParaRPr lang="en-US" sz="1600"/>
                </a:p>
              </p:txBody>
            </p:sp>
            <p:sp>
              <p:nvSpPr>
                <p:cNvPr id="124956" name="Line 9"/>
                <p:cNvSpPr>
                  <a:spLocks noChangeShapeType="1"/>
                </p:cNvSpPr>
                <p:nvPr/>
              </p:nvSpPr>
              <p:spPr bwMode="auto">
                <a:xfrm>
                  <a:off x="3896" y="912"/>
                  <a:ext cx="0" cy="320"/>
                </a:xfrm>
                <a:prstGeom prst="line">
                  <a:avLst/>
                </a:prstGeom>
                <a:noFill/>
                <a:ln w="127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endParaRPr lang="en-US" sz="1600"/>
                </a:p>
              </p:txBody>
            </p:sp>
          </p:grpSp>
          <p:sp>
            <p:nvSpPr>
              <p:cNvPr id="124949" name="Rectangle 10"/>
              <p:cNvSpPr>
                <a:spLocks noChangeArrowheads="1"/>
              </p:cNvSpPr>
              <p:nvPr/>
            </p:nvSpPr>
            <p:spPr bwMode="auto">
              <a:xfrm>
                <a:off x="438" y="893"/>
                <a:ext cx="1144" cy="3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2075" tIns="46038" rIns="92075" bIns="46038">
                <a:spAutoFit/>
              </a:bodyPr>
              <a:lstStyle/>
              <a:p>
                <a:pPr algn="l" eaLnBrk="0" hangingPunct="0"/>
                <a:r>
                  <a:rPr lang="en-US" sz="2800" b="0" dirty="0">
                    <a:solidFill>
                      <a:srgbClr val="D3A600"/>
                    </a:solidFill>
                    <a:latin typeface="Times New Roman" charset="0"/>
                  </a:rPr>
                  <a:t>00001100</a:t>
                </a:r>
              </a:p>
            </p:txBody>
          </p:sp>
          <p:sp>
            <p:nvSpPr>
              <p:cNvPr id="124950" name="Rectangle 11"/>
              <p:cNvSpPr>
                <a:spLocks noChangeArrowheads="1"/>
              </p:cNvSpPr>
              <p:nvPr/>
            </p:nvSpPr>
            <p:spPr bwMode="auto">
              <a:xfrm>
                <a:off x="1606" y="893"/>
                <a:ext cx="1154" cy="3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2075" tIns="46038" rIns="92075" bIns="46038">
                <a:spAutoFit/>
              </a:bodyPr>
              <a:lstStyle/>
              <a:p>
                <a:pPr algn="l" eaLnBrk="0" hangingPunct="0"/>
                <a:r>
                  <a:rPr lang="en-US" sz="2800" b="0" dirty="0">
                    <a:solidFill>
                      <a:srgbClr val="D3A600"/>
                    </a:solidFill>
                    <a:latin typeface="Times New Roman" charset="0"/>
                  </a:rPr>
                  <a:t>00100010</a:t>
                </a:r>
              </a:p>
            </p:txBody>
          </p:sp>
          <p:sp>
            <p:nvSpPr>
              <p:cNvPr id="124951" name="Rectangle 12"/>
              <p:cNvSpPr>
                <a:spLocks noChangeArrowheads="1"/>
              </p:cNvSpPr>
              <p:nvPr/>
            </p:nvSpPr>
            <p:spPr bwMode="auto">
              <a:xfrm>
                <a:off x="2758" y="901"/>
                <a:ext cx="1125" cy="3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2075" tIns="46038" rIns="92075" bIns="46038">
                <a:spAutoFit/>
              </a:bodyPr>
              <a:lstStyle/>
              <a:p>
                <a:pPr algn="l" eaLnBrk="0" hangingPunct="0"/>
                <a:r>
                  <a:rPr lang="en-US" sz="2800" b="0" dirty="0">
                    <a:solidFill>
                      <a:srgbClr val="D3A600"/>
                    </a:solidFill>
                    <a:latin typeface="Times New Roman" charset="0"/>
                  </a:rPr>
                  <a:t>1001111</a:t>
                </a:r>
                <a:r>
                  <a:rPr lang="en-US" sz="2800" b="0" dirty="0">
                    <a:solidFill>
                      <a:srgbClr val="000090"/>
                    </a:solidFill>
                    <a:latin typeface="Times New Roman" charset="0"/>
                  </a:rPr>
                  <a:t>0</a:t>
                </a:r>
              </a:p>
            </p:txBody>
          </p:sp>
          <p:sp>
            <p:nvSpPr>
              <p:cNvPr id="124952" name="Rectangle 13"/>
              <p:cNvSpPr>
                <a:spLocks noChangeArrowheads="1"/>
              </p:cNvSpPr>
              <p:nvPr/>
            </p:nvSpPr>
            <p:spPr bwMode="auto">
              <a:xfrm>
                <a:off x="3894" y="901"/>
                <a:ext cx="1154" cy="3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2075" tIns="46038" rIns="92075" bIns="46038">
                <a:spAutoFit/>
              </a:bodyPr>
              <a:lstStyle/>
              <a:p>
                <a:pPr algn="l" eaLnBrk="0" hangingPunct="0"/>
                <a:r>
                  <a:rPr lang="en-US" sz="2800" b="0" dirty="0">
                    <a:solidFill>
                      <a:srgbClr val="000090"/>
                    </a:solidFill>
                    <a:latin typeface="Times New Roman" charset="0"/>
                  </a:rPr>
                  <a:t>00000101</a:t>
                </a:r>
              </a:p>
            </p:txBody>
          </p:sp>
        </p:grpSp>
        <p:sp>
          <p:nvSpPr>
            <p:cNvPr id="124933" name="Line 14"/>
            <p:cNvSpPr>
              <a:spLocks noChangeShapeType="1"/>
            </p:cNvSpPr>
            <p:nvPr/>
          </p:nvSpPr>
          <p:spPr bwMode="auto">
            <a:xfrm>
              <a:off x="777875" y="6019800"/>
              <a:ext cx="0" cy="533400"/>
            </a:xfrm>
            <a:prstGeom prst="line">
              <a:avLst/>
            </a:prstGeom>
            <a:noFill/>
            <a:ln w="508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endParaRPr lang="en-US" sz="1600"/>
            </a:p>
          </p:txBody>
        </p:sp>
        <p:sp>
          <p:nvSpPr>
            <p:cNvPr id="124934" name="Rectangle 15"/>
            <p:cNvSpPr>
              <a:spLocks noChangeArrowheads="1"/>
            </p:cNvSpPr>
            <p:nvPr/>
          </p:nvSpPr>
          <p:spPr bwMode="auto">
            <a:xfrm>
              <a:off x="2052628" y="6221224"/>
              <a:ext cx="2367538" cy="4384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2075" tIns="46038" rIns="92075" bIns="46038">
              <a:spAutoFit/>
            </a:bodyPr>
            <a:lstStyle/>
            <a:p>
              <a:pPr algn="l" eaLnBrk="0" hangingPunct="0"/>
              <a:r>
                <a:rPr lang="en-US" sz="1800" dirty="0">
                  <a:solidFill>
                    <a:srgbClr val="D3A600"/>
                  </a:solidFill>
                  <a:latin typeface="Arial" charset="0"/>
                </a:rPr>
                <a:t>Network (23 bits)</a:t>
              </a:r>
              <a:r>
                <a:rPr lang="en-US" b="0" dirty="0">
                  <a:solidFill>
                    <a:srgbClr val="D3A600"/>
                  </a:solidFill>
                  <a:latin typeface="Times New Roman" charset="0"/>
                </a:rPr>
                <a:t> </a:t>
              </a:r>
            </a:p>
          </p:txBody>
        </p:sp>
        <p:sp>
          <p:nvSpPr>
            <p:cNvPr id="124935" name="Line 16"/>
            <p:cNvSpPr>
              <a:spLocks noChangeShapeType="1"/>
            </p:cNvSpPr>
            <p:nvPr/>
          </p:nvSpPr>
          <p:spPr bwMode="auto">
            <a:xfrm flipH="1">
              <a:off x="777875" y="6242050"/>
              <a:ext cx="5157787" cy="19050"/>
            </a:xfrm>
            <a:prstGeom prst="line">
              <a:avLst/>
            </a:prstGeom>
            <a:noFill/>
            <a:ln w="50800">
              <a:solidFill>
                <a:schemeClr val="tx1"/>
              </a:solidFill>
              <a:round/>
              <a:headEnd type="stealth" w="med" len="med"/>
              <a:tailEnd type="stealth" w="med" len="med"/>
            </a:ln>
            <a:extLst>
              <a:ext uri="{909E8E84-426E-40dd-AFC4-6F175D3DCCD1}">
                <a14:hiddenFill xmlns="" xmlns:a14="http://schemas.microsoft.com/office/drawing/2010/main">
                  <a:noFill/>
                </a14:hiddenFill>
              </a:ext>
            </a:extLst>
          </p:spPr>
          <p:txBody>
            <a:bodyPr wrap="none" anchor="ctr"/>
            <a:lstStyle/>
            <a:p>
              <a:endParaRPr lang="en-US" sz="1600">
                <a:solidFill>
                  <a:srgbClr val="008000"/>
                </a:solidFill>
              </a:endParaRPr>
            </a:p>
          </p:txBody>
        </p:sp>
        <p:sp>
          <p:nvSpPr>
            <p:cNvPr id="124936" name="Line 17"/>
            <p:cNvSpPr>
              <a:spLocks noChangeShapeType="1"/>
            </p:cNvSpPr>
            <p:nvPr/>
          </p:nvSpPr>
          <p:spPr bwMode="auto">
            <a:xfrm>
              <a:off x="8089900" y="5994400"/>
              <a:ext cx="0" cy="533400"/>
            </a:xfrm>
            <a:prstGeom prst="line">
              <a:avLst/>
            </a:prstGeom>
            <a:noFill/>
            <a:ln w="508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endParaRPr lang="en-US" sz="1600"/>
            </a:p>
          </p:txBody>
        </p:sp>
        <p:sp>
          <p:nvSpPr>
            <p:cNvPr id="124937" name="Line 18"/>
            <p:cNvSpPr>
              <a:spLocks noChangeShapeType="1"/>
            </p:cNvSpPr>
            <p:nvPr/>
          </p:nvSpPr>
          <p:spPr bwMode="auto">
            <a:xfrm>
              <a:off x="5935662" y="5937250"/>
              <a:ext cx="0" cy="533400"/>
            </a:xfrm>
            <a:prstGeom prst="line">
              <a:avLst/>
            </a:prstGeom>
            <a:noFill/>
            <a:ln w="50800">
              <a:solidFill>
                <a:schemeClr val="tx1"/>
              </a:solidFill>
              <a:round/>
              <a:headEnd type="none" w="sm" len="sm"/>
              <a:tailEnd type="none" w="sm" len="sm"/>
            </a:ln>
            <a:extLst>
              <a:ext uri="{909E8E84-426E-40dd-AFC4-6F175D3DCCD1}">
                <a14:hiddenFill xmlns="" xmlns:a14="http://schemas.microsoft.com/office/drawing/2010/main">
                  <a:noFill/>
                </a14:hiddenFill>
              </a:ext>
            </a:extLst>
          </p:spPr>
          <p:txBody>
            <a:bodyPr wrap="none" anchor="ctr"/>
            <a:lstStyle/>
            <a:p>
              <a:endParaRPr lang="en-US" sz="1600"/>
            </a:p>
          </p:txBody>
        </p:sp>
        <p:sp>
          <p:nvSpPr>
            <p:cNvPr id="124938" name="Rectangle 19"/>
            <p:cNvSpPr>
              <a:spLocks noChangeArrowheads="1"/>
            </p:cNvSpPr>
            <p:nvPr/>
          </p:nvSpPr>
          <p:spPr bwMode="auto">
            <a:xfrm>
              <a:off x="6182638" y="6221225"/>
              <a:ext cx="1715936" cy="4749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2075" tIns="46038" rIns="92075" bIns="46038">
              <a:spAutoFit/>
            </a:bodyPr>
            <a:lstStyle/>
            <a:p>
              <a:pPr algn="l" eaLnBrk="0" hangingPunct="0"/>
              <a:r>
                <a:rPr lang="en-US" sz="1800" dirty="0">
                  <a:solidFill>
                    <a:srgbClr val="000090"/>
                  </a:solidFill>
                  <a:latin typeface="Arial" charset="0"/>
                </a:rPr>
                <a:t>Host (9 bits)</a:t>
              </a:r>
              <a:r>
                <a:rPr lang="en-US" b="0" dirty="0">
                  <a:solidFill>
                    <a:srgbClr val="000090"/>
                  </a:solidFill>
                  <a:latin typeface="Times New Roman" charset="0"/>
                </a:rPr>
                <a:t> </a:t>
              </a:r>
            </a:p>
          </p:txBody>
        </p:sp>
        <p:sp>
          <p:nvSpPr>
            <p:cNvPr id="124939" name="Line 20"/>
            <p:cNvSpPr>
              <a:spLocks noChangeShapeType="1"/>
            </p:cNvSpPr>
            <p:nvPr/>
          </p:nvSpPr>
          <p:spPr bwMode="auto">
            <a:xfrm>
              <a:off x="5965825" y="6242050"/>
              <a:ext cx="2120900" cy="19050"/>
            </a:xfrm>
            <a:prstGeom prst="line">
              <a:avLst/>
            </a:prstGeom>
            <a:noFill/>
            <a:ln w="50800">
              <a:solidFill>
                <a:schemeClr val="tx1"/>
              </a:solidFill>
              <a:round/>
              <a:headEnd type="stealth" w="med" len="med"/>
              <a:tailEnd type="stealth" w="med" len="med"/>
            </a:ln>
            <a:extLst>
              <a:ext uri="{909E8E84-426E-40dd-AFC4-6F175D3DCCD1}">
                <a14:hiddenFill xmlns="" xmlns:a14="http://schemas.microsoft.com/office/drawing/2010/main">
                  <a:noFill/>
                </a14:hiddenFill>
              </a:ext>
            </a:extLst>
          </p:spPr>
          <p:txBody>
            <a:bodyPr wrap="none" anchor="ctr"/>
            <a:lstStyle/>
            <a:p>
              <a:endParaRPr lang="en-US" sz="1600"/>
            </a:p>
          </p:txBody>
        </p:sp>
        <p:sp>
          <p:nvSpPr>
            <p:cNvPr id="124944" name="Line 25"/>
            <p:cNvSpPr>
              <a:spLocks noChangeShapeType="1"/>
            </p:cNvSpPr>
            <p:nvPr/>
          </p:nvSpPr>
          <p:spPr bwMode="auto">
            <a:xfrm>
              <a:off x="1685925" y="4433888"/>
              <a:ext cx="0" cy="747712"/>
            </a:xfrm>
            <a:prstGeom prst="line">
              <a:avLst/>
            </a:prstGeom>
            <a:noFill/>
            <a:ln w="9525">
              <a:solidFill>
                <a:schemeClr val="tx1"/>
              </a:solidFill>
              <a:round/>
              <a:headEnd/>
              <a:tailEnd type="triangle" w="med" len="lg"/>
            </a:ln>
            <a:extLst>
              <a:ext uri="{909E8E84-426E-40dd-AFC4-6F175D3DCCD1}">
                <a14:hiddenFill xmlns="" xmlns:a14="http://schemas.microsoft.com/office/drawing/2010/main">
                  <a:noFill/>
                </a14:hiddenFill>
              </a:ext>
            </a:extLst>
          </p:spPr>
          <p:txBody>
            <a:bodyPr/>
            <a:lstStyle/>
            <a:p>
              <a:endParaRPr lang="en-US" sz="1600"/>
            </a:p>
          </p:txBody>
        </p:sp>
        <p:sp>
          <p:nvSpPr>
            <p:cNvPr id="124945" name="Line 26"/>
            <p:cNvSpPr>
              <a:spLocks noChangeShapeType="1"/>
            </p:cNvSpPr>
            <p:nvPr/>
          </p:nvSpPr>
          <p:spPr bwMode="auto">
            <a:xfrm>
              <a:off x="3611562" y="4433888"/>
              <a:ext cx="0" cy="747712"/>
            </a:xfrm>
            <a:prstGeom prst="line">
              <a:avLst/>
            </a:prstGeom>
            <a:noFill/>
            <a:ln w="9525">
              <a:solidFill>
                <a:schemeClr val="tx1"/>
              </a:solidFill>
              <a:round/>
              <a:headEnd/>
              <a:tailEnd type="triangle" w="med" len="lg"/>
            </a:ln>
            <a:extLst>
              <a:ext uri="{909E8E84-426E-40dd-AFC4-6F175D3DCCD1}">
                <a14:hiddenFill xmlns="" xmlns:a14="http://schemas.microsoft.com/office/drawing/2010/main">
                  <a:noFill/>
                </a14:hiddenFill>
              </a:ext>
            </a:extLst>
          </p:spPr>
          <p:txBody>
            <a:bodyPr/>
            <a:lstStyle/>
            <a:p>
              <a:endParaRPr lang="en-US" sz="1600"/>
            </a:p>
          </p:txBody>
        </p:sp>
        <p:sp>
          <p:nvSpPr>
            <p:cNvPr id="124946" name="Line 27"/>
            <p:cNvSpPr>
              <a:spLocks noChangeShapeType="1"/>
            </p:cNvSpPr>
            <p:nvPr/>
          </p:nvSpPr>
          <p:spPr bwMode="auto">
            <a:xfrm>
              <a:off x="5384800" y="4433888"/>
              <a:ext cx="0" cy="747712"/>
            </a:xfrm>
            <a:prstGeom prst="line">
              <a:avLst/>
            </a:prstGeom>
            <a:noFill/>
            <a:ln w="9525">
              <a:solidFill>
                <a:schemeClr val="tx1"/>
              </a:solidFill>
              <a:round/>
              <a:headEnd/>
              <a:tailEnd type="triangle" w="med" len="lg"/>
            </a:ln>
            <a:extLst>
              <a:ext uri="{909E8E84-426E-40dd-AFC4-6F175D3DCCD1}">
                <a14:hiddenFill xmlns="" xmlns:a14="http://schemas.microsoft.com/office/drawing/2010/main">
                  <a:noFill/>
                </a14:hiddenFill>
              </a:ext>
            </a:extLst>
          </p:spPr>
          <p:txBody>
            <a:bodyPr/>
            <a:lstStyle/>
            <a:p>
              <a:endParaRPr lang="en-US" sz="1600"/>
            </a:p>
          </p:txBody>
        </p:sp>
        <p:sp>
          <p:nvSpPr>
            <p:cNvPr id="124947" name="Line 28"/>
            <p:cNvSpPr>
              <a:spLocks noChangeShapeType="1"/>
            </p:cNvSpPr>
            <p:nvPr/>
          </p:nvSpPr>
          <p:spPr bwMode="auto">
            <a:xfrm>
              <a:off x="7131050" y="4433888"/>
              <a:ext cx="0" cy="747712"/>
            </a:xfrm>
            <a:prstGeom prst="line">
              <a:avLst/>
            </a:prstGeom>
            <a:noFill/>
            <a:ln w="9525">
              <a:solidFill>
                <a:schemeClr val="tx1"/>
              </a:solidFill>
              <a:round/>
              <a:headEnd/>
              <a:tailEnd type="triangle" w="med" len="lg"/>
            </a:ln>
            <a:extLst>
              <a:ext uri="{909E8E84-426E-40dd-AFC4-6F175D3DCCD1}">
                <a14:hiddenFill xmlns="" xmlns:a14="http://schemas.microsoft.com/office/drawing/2010/main">
                  <a:noFill/>
                </a14:hiddenFill>
              </a:ext>
            </a:extLst>
          </p:spPr>
          <p:txBody>
            <a:bodyPr/>
            <a:lstStyle/>
            <a:p>
              <a:endParaRPr lang="en-US" sz="1600"/>
            </a:p>
          </p:txBody>
        </p:sp>
        <p:sp>
          <p:nvSpPr>
            <p:cNvPr id="124940" name="Text Box 21"/>
            <p:cNvSpPr txBox="1">
              <a:spLocks noChangeArrowheads="1"/>
            </p:cNvSpPr>
            <p:nvPr/>
          </p:nvSpPr>
          <p:spPr bwMode="auto">
            <a:xfrm>
              <a:off x="1404937" y="4343400"/>
              <a:ext cx="540434" cy="437727"/>
            </a:xfrm>
            <a:prstGeom prst="rect">
              <a:avLst/>
            </a:prstGeom>
            <a:solidFill>
              <a:schemeClr val="bg1"/>
            </a:solidFill>
            <a:ln>
              <a:noFill/>
            </a:ln>
          </p:spPr>
          <p:txBody>
            <a:bodyPr wrap="none">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sz="1800">
                  <a:latin typeface="Tahoma" charset="0"/>
                </a:rPr>
                <a:t>12</a:t>
              </a:r>
            </a:p>
          </p:txBody>
        </p:sp>
        <p:sp>
          <p:nvSpPr>
            <p:cNvPr id="124941" name="Text Box 22"/>
            <p:cNvSpPr txBox="1">
              <a:spLocks noChangeArrowheads="1"/>
            </p:cNvSpPr>
            <p:nvPr/>
          </p:nvSpPr>
          <p:spPr bwMode="auto">
            <a:xfrm>
              <a:off x="3306762" y="4343400"/>
              <a:ext cx="540434" cy="437727"/>
            </a:xfrm>
            <a:prstGeom prst="rect">
              <a:avLst/>
            </a:prstGeom>
            <a:solidFill>
              <a:schemeClr val="bg1"/>
            </a:solidFill>
            <a:ln>
              <a:noFill/>
            </a:ln>
          </p:spPr>
          <p:txBody>
            <a:bodyPr wrap="none">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sz="1800">
                  <a:latin typeface="Tahoma" charset="0"/>
                </a:rPr>
                <a:t>34</a:t>
              </a:r>
            </a:p>
          </p:txBody>
        </p:sp>
        <p:sp>
          <p:nvSpPr>
            <p:cNvPr id="124942" name="Text Box 23"/>
            <p:cNvSpPr txBox="1">
              <a:spLocks noChangeArrowheads="1"/>
            </p:cNvSpPr>
            <p:nvPr/>
          </p:nvSpPr>
          <p:spPr bwMode="auto">
            <a:xfrm>
              <a:off x="4991099" y="4343400"/>
              <a:ext cx="706393" cy="437727"/>
            </a:xfrm>
            <a:prstGeom prst="rect">
              <a:avLst/>
            </a:prstGeom>
            <a:solidFill>
              <a:schemeClr val="bg1"/>
            </a:solidFill>
            <a:ln>
              <a:noFill/>
            </a:ln>
          </p:spPr>
          <p:txBody>
            <a:bodyPr wrap="none">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sz="1800">
                  <a:latin typeface="Tahoma" charset="0"/>
                </a:rPr>
                <a:t>158</a:t>
              </a:r>
            </a:p>
          </p:txBody>
        </p:sp>
        <p:sp>
          <p:nvSpPr>
            <p:cNvPr id="124943" name="Text Box 24"/>
            <p:cNvSpPr txBox="1">
              <a:spLocks noChangeArrowheads="1"/>
            </p:cNvSpPr>
            <p:nvPr/>
          </p:nvSpPr>
          <p:spPr bwMode="auto">
            <a:xfrm>
              <a:off x="6942137" y="4343400"/>
              <a:ext cx="374475" cy="437727"/>
            </a:xfrm>
            <a:prstGeom prst="rect">
              <a:avLst/>
            </a:prstGeom>
            <a:solidFill>
              <a:schemeClr val="bg1"/>
            </a:solidFill>
            <a:ln>
              <a:noFill/>
            </a:ln>
          </p:spPr>
          <p:txBody>
            <a:bodyPr wrap="none">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sz="1800">
                  <a:latin typeface="Tahoma" charset="0"/>
                </a:rPr>
                <a:t>5</a:t>
              </a:r>
            </a:p>
          </p:txBody>
        </p:sp>
      </p:grpSp>
      <p:sp>
        <p:nvSpPr>
          <p:cNvPr id="5" name="Date Placeholder 4"/>
          <p:cNvSpPr>
            <a:spLocks noGrp="1"/>
          </p:cNvSpPr>
          <p:nvPr>
            <p:ph type="dt" sz="half" idx="10"/>
          </p:nvPr>
        </p:nvSpPr>
        <p:spPr/>
        <p:txBody>
          <a:bodyPr/>
          <a:lstStyle/>
          <a:p>
            <a:r>
              <a:rPr lang="en-US"/>
              <a:t>April 16,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7" name="Slide Number Placeholder 6"/>
          <p:cNvSpPr>
            <a:spLocks noGrp="1"/>
          </p:cNvSpPr>
          <p:nvPr>
            <p:ph type="sldNum" sz="quarter" idx="12"/>
          </p:nvPr>
        </p:nvSpPr>
        <p:spPr/>
        <p:txBody>
          <a:bodyPr/>
          <a:lstStyle/>
          <a:p>
            <a:fld id="{A190D881-957A-7944-A8D0-1584E528B88F}" type="slidenum">
              <a:rPr lang="en-US" smtClean="0"/>
              <a:pPr/>
              <a:t>27</a:t>
            </a:fld>
            <a:endParaRPr lang="en-US"/>
          </a:p>
        </p:txBody>
      </p:sp>
    </p:spTree>
    <p:extLst>
      <p:ext uri="{BB962C8B-B14F-4D97-AF65-F5344CB8AC3E}">
        <p14:creationId xmlns:p14="http://schemas.microsoft.com/office/powerpoint/2010/main" val="1058561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493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493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493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2"/>
          <p:cNvSpPr>
            <a:spLocks noGrp="1" noChangeArrowheads="1"/>
          </p:cNvSpPr>
          <p:nvPr>
            <p:ph type="title"/>
          </p:nvPr>
        </p:nvSpPr>
        <p:spPr/>
        <p:txBody>
          <a:bodyPr/>
          <a:lstStyle/>
          <a:p>
            <a:r>
              <a:rPr lang="en-US" dirty="0"/>
              <a:t>Administrative structure shapes Inter-domain routing</a:t>
            </a:r>
          </a:p>
        </p:txBody>
      </p:sp>
      <p:sp>
        <p:nvSpPr>
          <p:cNvPr id="1818627" name="Rectangle 3"/>
          <p:cNvSpPr>
            <a:spLocks noGrp="1" noChangeArrowheads="1"/>
          </p:cNvSpPr>
          <p:nvPr>
            <p:ph idx="1"/>
          </p:nvPr>
        </p:nvSpPr>
        <p:spPr/>
        <p:txBody>
          <a:bodyPr/>
          <a:lstStyle/>
          <a:p>
            <a:r>
              <a:rPr lang="en-US" dirty="0"/>
              <a:t>ASes want freedom to pick routes based on </a:t>
            </a:r>
            <a:r>
              <a:rPr lang="en-US" dirty="0">
                <a:solidFill>
                  <a:srgbClr val="0000FF"/>
                </a:solidFill>
              </a:rPr>
              <a:t>policy </a:t>
            </a:r>
          </a:p>
          <a:p>
            <a:r>
              <a:rPr lang="en-US" dirty="0"/>
              <a:t>ASes want </a:t>
            </a:r>
            <a:r>
              <a:rPr lang="en-US" dirty="0">
                <a:solidFill>
                  <a:srgbClr val="0000FF"/>
                </a:solidFill>
              </a:rPr>
              <a:t>autonomy</a:t>
            </a:r>
          </a:p>
          <a:p>
            <a:r>
              <a:rPr lang="en-US" dirty="0"/>
              <a:t>ASes want </a:t>
            </a:r>
            <a:r>
              <a:rPr lang="en-US" dirty="0">
                <a:solidFill>
                  <a:srgbClr val="0000FF"/>
                </a:solidFill>
              </a:rPr>
              <a:t>privacy</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28</a:t>
            </a:fld>
            <a:endParaRPr lang="en-US"/>
          </a:p>
        </p:txBody>
      </p:sp>
    </p:spTree>
    <p:extLst>
      <p:ext uri="{BB962C8B-B14F-4D97-AF65-F5344CB8AC3E}">
        <p14:creationId xmlns:p14="http://schemas.microsoft.com/office/powerpoint/2010/main" val="62042473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1862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1862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1862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8627"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4" name="Rectangle 28"/>
          <p:cNvSpPr>
            <a:spLocks noChangeArrowheads="1"/>
          </p:cNvSpPr>
          <p:nvPr/>
        </p:nvSpPr>
        <p:spPr bwMode="auto">
          <a:xfrm>
            <a:off x="76200" y="5029200"/>
            <a:ext cx="4495800" cy="1143000"/>
          </a:xfrm>
          <a:prstGeom prst="rect">
            <a:avLst/>
          </a:prstGeom>
          <a:solidFill>
            <a:srgbClr val="D3A600"/>
          </a:solidFill>
          <a:ln w="9525">
            <a:solidFill>
              <a:schemeClr val="tx1"/>
            </a:solidFill>
            <a:round/>
            <a:headEnd/>
            <a:tailEnd/>
          </a:ln>
        </p:spPr>
        <p:txBody>
          <a:bodyPr wrap="none" anchor="ctr"/>
          <a:lstStyle/>
          <a:p>
            <a:endParaRPr lang="en-US" sz="1800">
              <a:latin typeface="Arial" charset="0"/>
            </a:endParaRPr>
          </a:p>
        </p:txBody>
      </p:sp>
      <p:sp>
        <p:nvSpPr>
          <p:cNvPr id="45065" name="Title 1"/>
          <p:cNvSpPr>
            <a:spLocks noGrp="1"/>
          </p:cNvSpPr>
          <p:nvPr>
            <p:ph type="title"/>
          </p:nvPr>
        </p:nvSpPr>
        <p:spPr/>
        <p:txBody>
          <a:bodyPr/>
          <a:lstStyle/>
          <a:p>
            <a:r>
              <a:rPr lang="en-US" dirty="0"/>
              <a:t>Business relationships</a:t>
            </a:r>
          </a:p>
        </p:txBody>
      </p:sp>
      <p:grpSp>
        <p:nvGrpSpPr>
          <p:cNvPr id="4" name="Group 3"/>
          <p:cNvGrpSpPr/>
          <p:nvPr/>
        </p:nvGrpSpPr>
        <p:grpSpPr>
          <a:xfrm>
            <a:off x="762000" y="1633131"/>
            <a:ext cx="7848600" cy="2940457"/>
            <a:chOff x="762000" y="1633131"/>
            <a:chExt cx="7848600" cy="2940457"/>
          </a:xfrm>
        </p:grpSpPr>
        <p:sp>
          <p:nvSpPr>
            <p:cNvPr id="33" name="Cloud 32"/>
            <p:cNvSpPr>
              <a:spLocks noChangeAspect="1"/>
            </p:cNvSpPr>
            <p:nvPr/>
          </p:nvSpPr>
          <p:spPr bwMode="auto">
            <a:xfrm>
              <a:off x="1023073" y="3657600"/>
              <a:ext cx="1605103" cy="914400"/>
            </a:xfrm>
            <a:prstGeom prst="cloud">
              <a:avLst/>
            </a:prstGeom>
            <a:solidFill>
              <a:schemeClr val="tx1">
                <a:lumMod val="20000"/>
                <a:lumOff val="80000"/>
              </a:schemeClr>
            </a:solidFill>
            <a:ln w="9525" cap="flat" cmpd="sng" algn="ctr">
              <a:solidFill>
                <a:schemeClr val="accent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34" name="Cloud 33"/>
            <p:cNvSpPr>
              <a:spLocks noChangeAspect="1"/>
            </p:cNvSpPr>
            <p:nvPr/>
          </p:nvSpPr>
          <p:spPr bwMode="auto">
            <a:xfrm>
              <a:off x="3920261" y="3657600"/>
              <a:ext cx="1605103" cy="914400"/>
            </a:xfrm>
            <a:prstGeom prst="cloud">
              <a:avLst/>
            </a:prstGeom>
            <a:solidFill>
              <a:schemeClr val="tx1">
                <a:lumMod val="20000"/>
                <a:lumOff val="80000"/>
              </a:schemeClr>
            </a:solidFill>
            <a:ln w="9525" cap="flat" cmpd="sng" algn="ctr">
              <a:solidFill>
                <a:schemeClr val="accent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35" name="Cloud 34"/>
            <p:cNvSpPr>
              <a:spLocks noChangeAspect="1"/>
            </p:cNvSpPr>
            <p:nvPr/>
          </p:nvSpPr>
          <p:spPr bwMode="auto">
            <a:xfrm>
              <a:off x="6739661" y="3659188"/>
              <a:ext cx="1605103" cy="914400"/>
            </a:xfrm>
            <a:prstGeom prst="cloud">
              <a:avLst/>
            </a:prstGeom>
            <a:solidFill>
              <a:schemeClr val="tx1">
                <a:lumMod val="20000"/>
                <a:lumOff val="80000"/>
              </a:schemeClr>
            </a:solidFill>
            <a:ln w="9525" cap="flat" cmpd="sng" algn="ctr">
              <a:solidFill>
                <a:schemeClr val="accent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9" name="Cloud 28"/>
            <p:cNvSpPr/>
            <p:nvPr/>
          </p:nvSpPr>
          <p:spPr bwMode="auto">
            <a:xfrm>
              <a:off x="3617913" y="1640297"/>
              <a:ext cx="2209800" cy="1258886"/>
            </a:xfrm>
            <a:prstGeom prst="cloud">
              <a:avLst/>
            </a:prstGeom>
            <a:solidFill>
              <a:schemeClr val="tx1">
                <a:lumMod val="20000"/>
                <a:lumOff val="80000"/>
              </a:schemeClr>
            </a:solidFill>
            <a:ln w="9525" cap="flat" cmpd="sng" algn="ctr">
              <a:solidFill>
                <a:schemeClr val="accent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32" name="Cloud 31"/>
            <p:cNvSpPr/>
            <p:nvPr/>
          </p:nvSpPr>
          <p:spPr bwMode="auto">
            <a:xfrm>
              <a:off x="6400800" y="1633131"/>
              <a:ext cx="2209800" cy="1258886"/>
            </a:xfrm>
            <a:prstGeom prst="cloud">
              <a:avLst/>
            </a:prstGeom>
            <a:solidFill>
              <a:schemeClr val="tx1">
                <a:lumMod val="20000"/>
                <a:lumOff val="80000"/>
              </a:schemeClr>
            </a:solidFill>
            <a:ln w="9525" cap="flat" cmpd="sng" algn="ctr">
              <a:solidFill>
                <a:schemeClr val="accent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 name="Cloud 1"/>
            <p:cNvSpPr/>
            <p:nvPr/>
          </p:nvSpPr>
          <p:spPr bwMode="auto">
            <a:xfrm>
              <a:off x="762000" y="1636713"/>
              <a:ext cx="2209800" cy="1258886"/>
            </a:xfrm>
            <a:prstGeom prst="cloud">
              <a:avLst/>
            </a:prstGeom>
            <a:solidFill>
              <a:schemeClr val="tx1">
                <a:lumMod val="20000"/>
                <a:lumOff val="80000"/>
              </a:schemeClr>
            </a:solidFill>
            <a:ln w="9525" cap="flat" cmpd="sng" algn="ctr">
              <a:solidFill>
                <a:schemeClr val="accent2"/>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cxnSp>
          <p:nvCxnSpPr>
            <p:cNvPr id="45067" name="Straight Connector 11"/>
            <p:cNvCxnSpPr>
              <a:cxnSpLocks noChangeShapeType="1"/>
            </p:cNvCxnSpPr>
            <p:nvPr/>
          </p:nvCxnSpPr>
          <p:spPr bwMode="auto">
            <a:xfrm>
              <a:off x="2895600" y="2209800"/>
              <a:ext cx="685800" cy="1588"/>
            </a:xfrm>
            <a:prstGeom prst="line">
              <a:avLst/>
            </a:prstGeom>
            <a:noFill/>
            <a:ln w="50800">
              <a:solidFill>
                <a:schemeClr val="tx1"/>
              </a:solidFill>
              <a:round/>
              <a:headEnd type="oval" w="lg" len="lg"/>
              <a:tailEnd type="oval" w="lg" len="lg"/>
            </a:ln>
            <a:extLst>
              <a:ext uri="{909E8E84-426E-40dd-AFC4-6F175D3DCCD1}">
                <a14:hiddenFill xmlns="" xmlns:a14="http://schemas.microsoft.com/office/drawing/2010/main">
                  <a:noFill/>
                </a14:hiddenFill>
              </a:ext>
            </a:extLst>
          </p:spPr>
        </p:cxnSp>
        <p:cxnSp>
          <p:nvCxnSpPr>
            <p:cNvPr id="45068" name="Straight Connector 12"/>
            <p:cNvCxnSpPr>
              <a:cxnSpLocks noChangeShapeType="1"/>
            </p:cNvCxnSpPr>
            <p:nvPr/>
          </p:nvCxnSpPr>
          <p:spPr bwMode="auto">
            <a:xfrm>
              <a:off x="5715000" y="2209800"/>
              <a:ext cx="685800" cy="1588"/>
            </a:xfrm>
            <a:prstGeom prst="line">
              <a:avLst/>
            </a:prstGeom>
            <a:noFill/>
            <a:ln w="50800">
              <a:solidFill>
                <a:schemeClr val="tx1"/>
              </a:solidFill>
              <a:round/>
              <a:headEnd type="oval" w="lg" len="lg"/>
              <a:tailEnd type="oval" w="lg" len="lg"/>
            </a:ln>
            <a:extLst>
              <a:ext uri="{909E8E84-426E-40dd-AFC4-6F175D3DCCD1}">
                <a14:hiddenFill xmlns="" xmlns:a14="http://schemas.microsoft.com/office/drawing/2010/main">
                  <a:noFill/>
                </a14:hiddenFill>
              </a:ext>
            </a:extLst>
          </p:spPr>
        </p:cxnSp>
        <p:cxnSp>
          <p:nvCxnSpPr>
            <p:cNvPr id="45069" name="Straight Connector 13"/>
            <p:cNvCxnSpPr>
              <a:cxnSpLocks noChangeShapeType="1"/>
            </p:cNvCxnSpPr>
            <p:nvPr/>
          </p:nvCxnSpPr>
          <p:spPr bwMode="auto">
            <a:xfrm rot="5400000">
              <a:off x="1409701" y="3314700"/>
              <a:ext cx="838200" cy="3175"/>
            </a:xfrm>
            <a:prstGeom prst="line">
              <a:avLst/>
            </a:prstGeom>
            <a:noFill/>
            <a:ln w="50800">
              <a:solidFill>
                <a:schemeClr val="tx1"/>
              </a:solidFill>
              <a:round/>
              <a:headEnd type="diamond" w="lg" len="lg"/>
              <a:tailEnd type="triangle" w="lg" len="med"/>
            </a:ln>
            <a:extLst>
              <a:ext uri="{909E8E84-426E-40dd-AFC4-6F175D3DCCD1}">
                <a14:hiddenFill xmlns="" xmlns:a14="http://schemas.microsoft.com/office/drawing/2010/main">
                  <a:noFill/>
                </a14:hiddenFill>
              </a:ext>
            </a:extLst>
          </p:spPr>
        </p:cxnSp>
        <p:cxnSp>
          <p:nvCxnSpPr>
            <p:cNvPr id="45070" name="Straight Connector 15"/>
            <p:cNvCxnSpPr>
              <a:cxnSpLocks noChangeShapeType="1"/>
            </p:cNvCxnSpPr>
            <p:nvPr/>
          </p:nvCxnSpPr>
          <p:spPr bwMode="auto">
            <a:xfrm rot="5400000">
              <a:off x="4304507" y="3313906"/>
              <a:ext cx="838200" cy="1587"/>
            </a:xfrm>
            <a:prstGeom prst="line">
              <a:avLst/>
            </a:prstGeom>
            <a:noFill/>
            <a:ln w="50800">
              <a:solidFill>
                <a:schemeClr val="tx1"/>
              </a:solidFill>
              <a:round/>
              <a:headEnd type="diamond" w="lg" len="lg"/>
              <a:tailEnd type="triangle" w="lg" len="med"/>
            </a:ln>
            <a:extLst>
              <a:ext uri="{909E8E84-426E-40dd-AFC4-6F175D3DCCD1}">
                <a14:hiddenFill xmlns="" xmlns:a14="http://schemas.microsoft.com/office/drawing/2010/main">
                  <a:noFill/>
                </a14:hiddenFill>
              </a:ext>
            </a:extLst>
          </p:spPr>
        </p:cxnSp>
        <p:cxnSp>
          <p:nvCxnSpPr>
            <p:cNvPr id="45071" name="Straight Connector 16"/>
            <p:cNvCxnSpPr>
              <a:cxnSpLocks noChangeShapeType="1"/>
            </p:cNvCxnSpPr>
            <p:nvPr/>
          </p:nvCxnSpPr>
          <p:spPr bwMode="auto">
            <a:xfrm rot="5400000">
              <a:off x="7123907" y="3313906"/>
              <a:ext cx="838200" cy="1587"/>
            </a:xfrm>
            <a:prstGeom prst="line">
              <a:avLst/>
            </a:prstGeom>
            <a:noFill/>
            <a:ln w="50800">
              <a:solidFill>
                <a:schemeClr val="tx1"/>
              </a:solidFill>
              <a:round/>
              <a:headEnd type="diamond" w="lg" len="lg"/>
              <a:tailEnd type="triangle" w="lg" len="med"/>
            </a:ln>
            <a:extLst>
              <a:ext uri="{909E8E84-426E-40dd-AFC4-6F175D3DCCD1}">
                <a14:hiddenFill xmlns="" xmlns:a14="http://schemas.microsoft.com/office/drawing/2010/main">
                  <a:noFill/>
                </a14:hiddenFill>
              </a:ext>
            </a:extLst>
          </p:spPr>
        </p:cxnSp>
      </p:grpSp>
      <p:cxnSp>
        <p:nvCxnSpPr>
          <p:cNvPr id="45072" name="Straight Connector 20"/>
          <p:cNvCxnSpPr>
            <a:cxnSpLocks noChangeShapeType="1"/>
          </p:cNvCxnSpPr>
          <p:nvPr/>
        </p:nvCxnSpPr>
        <p:spPr bwMode="auto">
          <a:xfrm>
            <a:off x="1905000" y="5445126"/>
            <a:ext cx="990600" cy="1587"/>
          </a:xfrm>
          <a:prstGeom prst="line">
            <a:avLst/>
          </a:prstGeom>
          <a:noFill/>
          <a:ln w="50800">
            <a:solidFill>
              <a:schemeClr val="tx1"/>
            </a:solidFill>
            <a:round/>
            <a:headEnd type="diamond" w="med" len="med"/>
            <a:tailEnd type="triangle" w="med" len="med"/>
          </a:ln>
          <a:extLst>
            <a:ext uri="{909E8E84-426E-40dd-AFC4-6F175D3DCCD1}">
              <a14:hiddenFill xmlns="" xmlns:a14="http://schemas.microsoft.com/office/drawing/2010/main">
                <a:noFill/>
              </a14:hiddenFill>
            </a:ext>
          </a:extLst>
        </p:spPr>
      </p:cxnSp>
      <p:cxnSp>
        <p:nvCxnSpPr>
          <p:cNvPr id="45073" name="Straight Connector 22"/>
          <p:cNvCxnSpPr>
            <a:cxnSpLocks noChangeShapeType="1"/>
          </p:cNvCxnSpPr>
          <p:nvPr/>
        </p:nvCxnSpPr>
        <p:spPr bwMode="auto">
          <a:xfrm>
            <a:off x="1905000" y="5864225"/>
            <a:ext cx="912813" cy="1588"/>
          </a:xfrm>
          <a:prstGeom prst="line">
            <a:avLst/>
          </a:prstGeom>
          <a:noFill/>
          <a:ln w="50800">
            <a:solidFill>
              <a:schemeClr val="tx1"/>
            </a:solidFill>
            <a:round/>
            <a:headEnd type="oval" w="med" len="med"/>
            <a:tailEnd type="oval" w="med" len="med"/>
          </a:ln>
          <a:extLst>
            <a:ext uri="{909E8E84-426E-40dd-AFC4-6F175D3DCCD1}">
              <a14:hiddenFill xmlns="" xmlns:a14="http://schemas.microsoft.com/office/drawing/2010/main">
                <a:noFill/>
              </a14:hiddenFill>
            </a:ext>
          </a:extLst>
        </p:spPr>
      </p:cxnSp>
      <p:sp>
        <p:nvSpPr>
          <p:cNvPr id="25" name="TextBox 24"/>
          <p:cNvSpPr txBox="1"/>
          <p:nvPr/>
        </p:nvSpPr>
        <p:spPr>
          <a:xfrm>
            <a:off x="990600" y="5634038"/>
            <a:ext cx="835025" cy="461962"/>
          </a:xfrm>
          <a:prstGeom prst="rect">
            <a:avLst/>
          </a:prstGeom>
          <a:noFill/>
        </p:spPr>
        <p:txBody>
          <a:bodyPr wrap="none">
            <a:spAutoFit/>
          </a:bodyPr>
          <a:lstStyle/>
          <a:p>
            <a:pPr>
              <a:defRPr/>
            </a:pPr>
            <a:r>
              <a:rPr lang="en-US" sz="2400" dirty="0">
                <a:latin typeface="+mn-lt"/>
                <a:ea typeface="+mn-ea"/>
                <a:cs typeface="+mn-cs"/>
              </a:rPr>
              <a:t>peer</a:t>
            </a:r>
          </a:p>
        </p:txBody>
      </p:sp>
      <p:sp>
        <p:nvSpPr>
          <p:cNvPr id="26" name="TextBox 25"/>
          <p:cNvSpPr txBox="1"/>
          <p:nvPr/>
        </p:nvSpPr>
        <p:spPr>
          <a:xfrm>
            <a:off x="2898775" y="5634038"/>
            <a:ext cx="835025" cy="461962"/>
          </a:xfrm>
          <a:prstGeom prst="rect">
            <a:avLst/>
          </a:prstGeom>
          <a:noFill/>
        </p:spPr>
        <p:txBody>
          <a:bodyPr wrap="none">
            <a:spAutoFit/>
          </a:bodyPr>
          <a:lstStyle/>
          <a:p>
            <a:pPr>
              <a:defRPr/>
            </a:pPr>
            <a:r>
              <a:rPr lang="en-US" sz="2400" dirty="0">
                <a:latin typeface="+mn-lt"/>
                <a:ea typeface="+mn-ea"/>
                <a:cs typeface="+mn-cs"/>
              </a:rPr>
              <a:t>peer</a:t>
            </a:r>
          </a:p>
        </p:txBody>
      </p:sp>
      <p:sp>
        <p:nvSpPr>
          <p:cNvPr id="27" name="TextBox 26"/>
          <p:cNvSpPr txBox="1"/>
          <p:nvPr/>
        </p:nvSpPr>
        <p:spPr>
          <a:xfrm>
            <a:off x="412750" y="5214938"/>
            <a:ext cx="1416050" cy="461962"/>
          </a:xfrm>
          <a:prstGeom prst="rect">
            <a:avLst/>
          </a:prstGeom>
          <a:noFill/>
        </p:spPr>
        <p:txBody>
          <a:bodyPr wrap="none">
            <a:spAutoFit/>
          </a:bodyPr>
          <a:lstStyle/>
          <a:p>
            <a:pPr>
              <a:defRPr/>
            </a:pPr>
            <a:r>
              <a:rPr lang="en-US" sz="2400" dirty="0">
                <a:latin typeface="+mn-lt"/>
                <a:ea typeface="+mn-ea"/>
                <a:cs typeface="+mn-cs"/>
              </a:rPr>
              <a:t>provider</a:t>
            </a:r>
          </a:p>
        </p:txBody>
      </p:sp>
      <p:sp>
        <p:nvSpPr>
          <p:cNvPr id="28" name="TextBox 27"/>
          <p:cNvSpPr txBox="1"/>
          <p:nvPr/>
        </p:nvSpPr>
        <p:spPr>
          <a:xfrm>
            <a:off x="2849563" y="5214938"/>
            <a:ext cx="1570037" cy="461962"/>
          </a:xfrm>
          <a:prstGeom prst="rect">
            <a:avLst/>
          </a:prstGeom>
          <a:noFill/>
        </p:spPr>
        <p:txBody>
          <a:bodyPr wrap="none">
            <a:spAutoFit/>
          </a:bodyPr>
          <a:lstStyle/>
          <a:p>
            <a:pPr>
              <a:defRPr/>
            </a:pPr>
            <a:r>
              <a:rPr lang="en-US" sz="2400" dirty="0">
                <a:latin typeface="+mn-lt"/>
                <a:ea typeface="+mn-ea"/>
                <a:cs typeface="+mn-cs"/>
              </a:rPr>
              <a:t>customer</a:t>
            </a:r>
          </a:p>
        </p:txBody>
      </p:sp>
      <p:sp>
        <p:nvSpPr>
          <p:cNvPr id="30" name="TextBox 29"/>
          <p:cNvSpPr txBox="1"/>
          <p:nvPr/>
        </p:nvSpPr>
        <p:spPr>
          <a:xfrm>
            <a:off x="152400" y="4800600"/>
            <a:ext cx="3602038" cy="461963"/>
          </a:xfrm>
          <a:prstGeom prst="rect">
            <a:avLst/>
          </a:prstGeom>
          <a:solidFill>
            <a:srgbClr val="D3A600"/>
          </a:solidFill>
          <a:ln>
            <a:solidFill>
              <a:schemeClr val="tx1"/>
            </a:solidFill>
          </a:ln>
        </p:spPr>
        <p:txBody>
          <a:bodyPr wrap="none">
            <a:spAutoFit/>
          </a:bodyPr>
          <a:lstStyle/>
          <a:p>
            <a:pPr>
              <a:defRPr/>
            </a:pPr>
            <a:r>
              <a:rPr lang="en-US" sz="2400" b="0" i="1" dirty="0">
                <a:latin typeface="+mn-lt"/>
                <a:ea typeface="+mn-ea"/>
                <a:cs typeface="+mn-cs"/>
              </a:rPr>
              <a:t>Relations between ASes</a:t>
            </a:r>
          </a:p>
        </p:txBody>
      </p:sp>
      <p:sp>
        <p:nvSpPr>
          <p:cNvPr id="31" name="Rectangle 30"/>
          <p:cNvSpPr/>
          <p:nvPr/>
        </p:nvSpPr>
        <p:spPr bwMode="auto">
          <a:xfrm>
            <a:off x="4800600" y="5029200"/>
            <a:ext cx="4267200" cy="1143000"/>
          </a:xfrm>
          <a:prstGeom prst="rect">
            <a:avLst/>
          </a:prstGeom>
          <a:solidFill>
            <a:srgbClr val="D3A600"/>
          </a:solidFill>
          <a:ln w="9525" cap="flat" cmpd="sng" algn="ctr">
            <a:solidFill>
              <a:schemeClr val="tx1"/>
            </a:solidFill>
            <a:prstDash val="solid"/>
            <a:round/>
            <a:headEnd type="none" w="med" len="med"/>
            <a:tailEnd type="none" w="med" len="med"/>
          </a:ln>
          <a:effectLst/>
        </p:spPr>
        <p:txBody>
          <a:bodyPr wrap="none" anchor="ctr"/>
          <a:lstStyle/>
          <a:p>
            <a:pPr algn="l">
              <a:buFont typeface="Arial"/>
              <a:buChar char="•"/>
              <a:defRPr/>
            </a:pPr>
            <a:r>
              <a:rPr lang="en-US" sz="2400" dirty="0">
                <a:latin typeface="Arial" charset="0"/>
                <a:ea typeface="+mn-ea"/>
                <a:cs typeface="+mn-cs"/>
              </a:rPr>
              <a:t> Customers pay provider</a:t>
            </a:r>
          </a:p>
          <a:p>
            <a:pPr algn="l">
              <a:buFont typeface="Arial"/>
              <a:buChar char="•"/>
              <a:defRPr/>
            </a:pPr>
            <a:r>
              <a:rPr lang="en-US" sz="2400" dirty="0">
                <a:latin typeface="+mn-lt"/>
                <a:ea typeface="+mn-ea"/>
                <a:cs typeface="+mn-cs"/>
              </a:rPr>
              <a:t> Peers don’t pay each other</a:t>
            </a:r>
          </a:p>
        </p:txBody>
      </p:sp>
      <p:sp>
        <p:nvSpPr>
          <p:cNvPr id="38" name="TextBox 37"/>
          <p:cNvSpPr txBox="1"/>
          <p:nvPr/>
        </p:nvSpPr>
        <p:spPr>
          <a:xfrm>
            <a:off x="4876800" y="4800600"/>
            <a:ext cx="3130985" cy="461665"/>
          </a:xfrm>
          <a:prstGeom prst="rect">
            <a:avLst/>
          </a:prstGeom>
          <a:solidFill>
            <a:srgbClr val="D3A600"/>
          </a:solidFill>
          <a:ln>
            <a:solidFill>
              <a:schemeClr val="tx1"/>
            </a:solidFill>
          </a:ln>
        </p:spPr>
        <p:txBody>
          <a:bodyPr wrap="none">
            <a:spAutoFit/>
          </a:bodyPr>
          <a:lstStyle/>
          <a:p>
            <a:pPr>
              <a:defRPr/>
            </a:pPr>
            <a:r>
              <a:rPr lang="en-US" sz="2400" b="0" i="1" dirty="0">
                <a:latin typeface="+mn-lt"/>
                <a:ea typeface="+mn-ea"/>
                <a:cs typeface="+mn-cs"/>
              </a:rPr>
              <a:t>Business implications</a:t>
            </a:r>
          </a:p>
        </p:txBody>
      </p:sp>
      <p:sp>
        <p:nvSpPr>
          <p:cNvPr id="5" name="Date Placeholder 4"/>
          <p:cNvSpPr>
            <a:spLocks noGrp="1"/>
          </p:cNvSpPr>
          <p:nvPr>
            <p:ph type="dt" sz="half" idx="10"/>
          </p:nvPr>
        </p:nvSpPr>
        <p:spPr/>
        <p:txBody>
          <a:bodyPr/>
          <a:lstStyle/>
          <a:p>
            <a:r>
              <a:rPr lang="en-US"/>
              <a:t>April 16,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7" name="Slide Number Placeholder 6"/>
          <p:cNvSpPr>
            <a:spLocks noGrp="1"/>
          </p:cNvSpPr>
          <p:nvPr>
            <p:ph type="sldNum" sz="quarter" idx="12"/>
          </p:nvPr>
        </p:nvSpPr>
        <p:spPr/>
        <p:txBody>
          <a:bodyPr/>
          <a:lstStyle/>
          <a:p>
            <a:fld id="{9507A418-0CEB-9E4A-BA45-3B7D3D133EB9}" type="slidenum">
              <a:rPr lang="en-US" smtClean="0"/>
              <a:pPr/>
              <a:t>29</a:t>
            </a:fld>
            <a:endParaRPr lang="en-US"/>
          </a:p>
        </p:txBody>
      </p:sp>
    </p:spTree>
    <p:extLst>
      <p:ext uri="{BB962C8B-B14F-4D97-AF65-F5344CB8AC3E}">
        <p14:creationId xmlns:p14="http://schemas.microsoft.com/office/powerpoint/2010/main" val="14915902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BGP inspired by Distance-Vector with four differences</a:t>
            </a:r>
          </a:p>
        </p:txBody>
      </p:sp>
      <p:sp>
        <p:nvSpPr>
          <p:cNvPr id="3" name="Content Placeholder 2"/>
          <p:cNvSpPr>
            <a:spLocks noGrp="1"/>
          </p:cNvSpPr>
          <p:nvPr>
            <p:ph idx="1"/>
          </p:nvPr>
        </p:nvSpPr>
        <p:spPr/>
        <p:txBody>
          <a:bodyPr/>
          <a:lstStyle/>
          <a:p>
            <a:r>
              <a:rPr lang="en-US" dirty="0"/>
              <a:t>Shortest-path routes may not be picked to enforce policy</a:t>
            </a:r>
          </a:p>
          <a:p>
            <a:r>
              <a:rPr lang="en-US" dirty="0"/>
              <a:t>Path-Vector routing to avoid loops</a:t>
            </a:r>
          </a:p>
          <a:p>
            <a:r>
              <a:rPr lang="en-US" dirty="0"/>
              <a:t>Selective route advertisement may affect reachability</a:t>
            </a:r>
          </a:p>
          <a:p>
            <a:r>
              <a:rPr lang="en-US" dirty="0"/>
              <a:t>Routes may be aggregated for scalability</a:t>
            </a:r>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30</a:t>
            </a:fld>
            <a:endParaRPr lang="en-US"/>
          </a:p>
        </p:txBody>
      </p:sp>
    </p:spTree>
    <p:extLst>
      <p:ext uri="{BB962C8B-B14F-4D97-AF65-F5344CB8AC3E}">
        <p14:creationId xmlns:p14="http://schemas.microsoft.com/office/powerpoint/2010/main" val="1081629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14" name="Rectangle 2"/>
          <p:cNvSpPr>
            <a:spLocks noGrp="1" noChangeArrowheads="1"/>
          </p:cNvSpPr>
          <p:nvPr>
            <p:ph type="title"/>
          </p:nvPr>
        </p:nvSpPr>
        <p:spPr/>
        <p:txBody>
          <a:bodyPr/>
          <a:lstStyle/>
          <a:p>
            <a:r>
              <a:rPr lang="en-US" dirty="0"/>
              <a:t>BGP: Basic idea</a:t>
            </a:r>
          </a:p>
        </p:txBody>
      </p:sp>
      <p:sp>
        <p:nvSpPr>
          <p:cNvPr id="2" name="Content Placeholder 1"/>
          <p:cNvSpPr>
            <a:spLocks noGrp="1"/>
          </p:cNvSpPr>
          <p:nvPr>
            <p:ph idx="4294967295"/>
          </p:nvPr>
        </p:nvSpPr>
        <p:spPr>
          <a:xfrm>
            <a:off x="4876800" y="2895600"/>
            <a:ext cx="4267200" cy="1295400"/>
          </a:xfrm>
        </p:spPr>
        <p:txBody>
          <a:bodyPr/>
          <a:lstStyle/>
          <a:p>
            <a:pPr marL="0" indent="0" algn="ctr">
              <a:buNone/>
            </a:pPr>
            <a:r>
              <a:rPr lang="en-US" sz="2400" dirty="0"/>
              <a:t>Each AS </a:t>
            </a:r>
            <a:r>
              <a:rPr lang="en-US" sz="2400" dirty="0">
                <a:solidFill>
                  <a:srgbClr val="0000FF"/>
                </a:solidFill>
              </a:rPr>
              <a:t>selects</a:t>
            </a:r>
            <a:r>
              <a:rPr lang="en-US" sz="2400" dirty="0"/>
              <a:t> the </a:t>
            </a:r>
            <a:br>
              <a:rPr lang="en-US" sz="2400" dirty="0"/>
            </a:br>
            <a:r>
              <a:rPr lang="en-US" sz="2400" dirty="0"/>
              <a:t>“best” route it hears advertised for a prefix</a:t>
            </a:r>
          </a:p>
        </p:txBody>
      </p:sp>
      <p:sp>
        <p:nvSpPr>
          <p:cNvPr id="78" name="Curved Left Arrow 77"/>
          <p:cNvSpPr/>
          <p:nvPr/>
        </p:nvSpPr>
        <p:spPr bwMode="auto">
          <a:xfrm rot="16200000">
            <a:off x="4324350" y="1162050"/>
            <a:ext cx="609600" cy="3009900"/>
          </a:xfrm>
          <a:prstGeom prst="curvedLeftArrow">
            <a:avLst/>
          </a:prstGeom>
          <a:solidFill>
            <a:schemeClr val="tx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sp>
        <p:nvSpPr>
          <p:cNvPr id="79" name="Content Placeholder 1"/>
          <p:cNvSpPr txBox="1">
            <a:spLocks/>
          </p:cNvSpPr>
          <p:nvPr/>
        </p:nvSpPr>
        <p:spPr bwMode="auto">
          <a:xfrm>
            <a:off x="228600" y="2895600"/>
            <a:ext cx="3810000" cy="1295400"/>
          </a:xfrm>
          <a:prstGeom prst="rect">
            <a:avLst/>
          </a:prstGeom>
          <a:noFill/>
          <a:ln>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tx2"/>
              </a:buClr>
              <a:buSzPct val="70000"/>
              <a:buFont typeface="Wingdings" charset="0"/>
              <a:buChar char="l"/>
              <a:defRPr sz="2800">
                <a:solidFill>
                  <a:schemeClr val="tx1"/>
                </a:solidFill>
                <a:latin typeface="+mn-lt"/>
                <a:ea typeface="ＭＳ Ｐゴシック" charset="-128"/>
                <a:cs typeface="ＭＳ Ｐゴシック" charset="-128"/>
              </a:defRPr>
            </a:lvl1pPr>
            <a:lvl2pPr marL="692150" indent="-347663" algn="l" rtl="0" eaLnBrk="0" fontAlgn="base" hangingPunct="0">
              <a:spcBef>
                <a:spcPct val="20000"/>
              </a:spcBef>
              <a:spcAft>
                <a:spcPct val="0"/>
              </a:spcAft>
              <a:buClr>
                <a:schemeClr val="accent2"/>
              </a:buClr>
              <a:buSzPct val="70000"/>
              <a:buFont typeface="Wingdings" charset="0"/>
              <a:buChar char="l"/>
              <a:defRPr sz="2400">
                <a:solidFill>
                  <a:schemeClr val="tx1"/>
                </a:solidFill>
                <a:latin typeface="+mn-lt"/>
                <a:ea typeface="ＭＳ Ｐゴシック" charset="-128"/>
              </a:defRPr>
            </a:lvl2pPr>
            <a:lvl3pPr marL="987425" indent="-293688" algn="l" rtl="0" eaLnBrk="0" fontAlgn="base" hangingPunct="0">
              <a:spcBef>
                <a:spcPct val="20000"/>
              </a:spcBef>
              <a:spcAft>
                <a:spcPct val="0"/>
              </a:spcAft>
              <a:buClr>
                <a:schemeClr val="accent1"/>
              </a:buClr>
              <a:buSzPct val="70000"/>
              <a:buFont typeface="Wingdings" charset="0"/>
              <a:buChar char="l"/>
              <a:defRPr sz="2000">
                <a:solidFill>
                  <a:schemeClr val="tx1"/>
                </a:solidFill>
                <a:latin typeface="+mn-lt"/>
                <a:ea typeface="ＭＳ Ｐゴシック" charset="-128"/>
              </a:defRPr>
            </a:lvl3pPr>
            <a:lvl4pPr marL="1281113" indent="-292100" algn="l" rtl="0" eaLnBrk="0" fontAlgn="base" hangingPunct="0">
              <a:spcBef>
                <a:spcPct val="20000"/>
              </a:spcBef>
              <a:spcAft>
                <a:spcPct val="0"/>
              </a:spcAft>
              <a:buClr>
                <a:schemeClr val="tx2"/>
              </a:buClr>
              <a:buSzPct val="75000"/>
              <a:buFont typeface="Wingdings" charset="0"/>
              <a:buChar char="§"/>
              <a:defRPr>
                <a:solidFill>
                  <a:schemeClr val="tx1"/>
                </a:solidFill>
                <a:latin typeface="+mn-lt"/>
                <a:ea typeface="ＭＳ Ｐゴシック" charset="-128"/>
              </a:defRPr>
            </a:lvl4pPr>
            <a:lvl5pPr marL="1598613" indent="-315913" algn="l" rtl="0" eaLnBrk="0" fontAlgn="base" hangingPunct="0">
              <a:spcBef>
                <a:spcPct val="20000"/>
              </a:spcBef>
              <a:spcAft>
                <a:spcPct val="0"/>
              </a:spcAft>
              <a:buClr>
                <a:schemeClr val="folHlink"/>
              </a:buClr>
              <a:buSzPct val="80000"/>
              <a:buFont typeface="Wingdings" charset="0"/>
              <a:buChar char="§"/>
              <a:defRPr>
                <a:solidFill>
                  <a:schemeClr val="tx1"/>
                </a:solidFill>
                <a:latin typeface="+mn-lt"/>
                <a:ea typeface="ＭＳ Ｐゴシック" charset="-128"/>
              </a:defRPr>
            </a:lvl5pPr>
            <a:lvl6pPr marL="2055813" indent="-315913" algn="l" rtl="0" fontAlgn="base">
              <a:spcBef>
                <a:spcPct val="20000"/>
              </a:spcBef>
              <a:spcAft>
                <a:spcPct val="0"/>
              </a:spcAft>
              <a:buClr>
                <a:schemeClr val="folHlink"/>
              </a:buClr>
              <a:buSzPct val="80000"/>
              <a:buFont typeface="Wingdings" charset="2"/>
              <a:buChar char="§"/>
              <a:defRPr>
                <a:solidFill>
                  <a:schemeClr val="tx1"/>
                </a:solidFill>
                <a:latin typeface="+mn-lt"/>
                <a:ea typeface="ＭＳ Ｐゴシック" charset="-128"/>
              </a:defRPr>
            </a:lvl6pPr>
            <a:lvl7pPr marL="2513013" indent="-315913" algn="l" rtl="0" fontAlgn="base">
              <a:spcBef>
                <a:spcPct val="20000"/>
              </a:spcBef>
              <a:spcAft>
                <a:spcPct val="0"/>
              </a:spcAft>
              <a:buClr>
                <a:schemeClr val="folHlink"/>
              </a:buClr>
              <a:buSzPct val="80000"/>
              <a:buFont typeface="Wingdings" charset="2"/>
              <a:buChar char="§"/>
              <a:defRPr>
                <a:solidFill>
                  <a:schemeClr val="tx1"/>
                </a:solidFill>
                <a:latin typeface="+mn-lt"/>
                <a:ea typeface="ＭＳ Ｐゴシック" charset="-128"/>
              </a:defRPr>
            </a:lvl7pPr>
            <a:lvl8pPr marL="2970213" indent="-315913" algn="l" rtl="0" fontAlgn="base">
              <a:spcBef>
                <a:spcPct val="20000"/>
              </a:spcBef>
              <a:spcAft>
                <a:spcPct val="0"/>
              </a:spcAft>
              <a:buClr>
                <a:schemeClr val="folHlink"/>
              </a:buClr>
              <a:buSzPct val="80000"/>
              <a:buFont typeface="Wingdings" charset="2"/>
              <a:buChar char="§"/>
              <a:defRPr>
                <a:solidFill>
                  <a:schemeClr val="tx1"/>
                </a:solidFill>
                <a:latin typeface="+mn-lt"/>
                <a:ea typeface="ＭＳ Ｐゴシック" charset="-128"/>
              </a:defRPr>
            </a:lvl8pPr>
            <a:lvl9pPr marL="3427413" indent="-315913" algn="l" rtl="0" fontAlgn="base">
              <a:spcBef>
                <a:spcPct val="20000"/>
              </a:spcBef>
              <a:spcAft>
                <a:spcPct val="0"/>
              </a:spcAft>
              <a:buClr>
                <a:schemeClr val="folHlink"/>
              </a:buClr>
              <a:buSzPct val="80000"/>
              <a:buFont typeface="Wingdings" charset="2"/>
              <a:buChar char="§"/>
              <a:defRPr>
                <a:solidFill>
                  <a:schemeClr val="tx1"/>
                </a:solidFill>
                <a:latin typeface="+mn-lt"/>
                <a:ea typeface="ＭＳ Ｐゴシック" charset="-128"/>
              </a:defRPr>
            </a:lvl9pPr>
          </a:lstStyle>
          <a:p>
            <a:pPr marL="0" indent="0" algn="ctr">
              <a:buFont typeface="Wingdings" charset="0"/>
              <a:buNone/>
            </a:pPr>
            <a:r>
              <a:rPr lang="en-US" sz="2400" b="0" dirty="0">
                <a:solidFill>
                  <a:schemeClr val="accent2"/>
                </a:solidFill>
              </a:rPr>
              <a:t>An AS advertises </a:t>
            </a:r>
            <a:br>
              <a:rPr lang="en-US" sz="2400" b="0" dirty="0">
                <a:solidFill>
                  <a:schemeClr val="accent2"/>
                </a:solidFill>
              </a:rPr>
            </a:br>
            <a:r>
              <a:rPr lang="en-US" sz="2400" b="0" dirty="0">
                <a:solidFill>
                  <a:schemeClr val="accent2"/>
                </a:solidFill>
              </a:rPr>
              <a:t>(“exports”) </a:t>
            </a:r>
            <a:r>
              <a:rPr lang="en-US" sz="2400" b="0" dirty="0">
                <a:solidFill>
                  <a:srgbClr val="0000FF"/>
                </a:solidFill>
              </a:rPr>
              <a:t>its</a:t>
            </a:r>
            <a:r>
              <a:rPr lang="en-US" sz="2400" b="0" dirty="0">
                <a:solidFill>
                  <a:schemeClr val="accent2"/>
                </a:solidFill>
              </a:rPr>
              <a:t> best routes </a:t>
            </a:r>
            <a:br>
              <a:rPr lang="en-US" sz="2400" b="0" dirty="0">
                <a:solidFill>
                  <a:schemeClr val="accent2"/>
                </a:solidFill>
              </a:rPr>
            </a:br>
            <a:r>
              <a:rPr lang="en-US" sz="2400" b="0" dirty="0">
                <a:solidFill>
                  <a:schemeClr val="accent2"/>
                </a:solidFill>
              </a:rPr>
              <a:t>to one or more IP prefixes</a:t>
            </a:r>
          </a:p>
        </p:txBody>
      </p:sp>
      <p:sp>
        <p:nvSpPr>
          <p:cNvPr id="80" name="Curved Left Arrow 79"/>
          <p:cNvSpPr/>
          <p:nvPr/>
        </p:nvSpPr>
        <p:spPr bwMode="auto">
          <a:xfrm rot="5400000">
            <a:off x="4348550" y="2838450"/>
            <a:ext cx="609599" cy="3009900"/>
          </a:xfrm>
          <a:prstGeom prst="curvedLeftArrow">
            <a:avLst/>
          </a:prstGeom>
          <a:solidFill>
            <a:schemeClr val="tx1"/>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7" name="Slide Number Placeholder 6"/>
          <p:cNvSpPr>
            <a:spLocks noGrp="1"/>
          </p:cNvSpPr>
          <p:nvPr>
            <p:ph type="sldNum" sz="quarter" idx="12"/>
          </p:nvPr>
        </p:nvSpPr>
        <p:spPr/>
        <p:txBody>
          <a:bodyPr/>
          <a:lstStyle/>
          <a:p>
            <a:fld id="{9507A418-0CEB-9E4A-BA45-3B7D3D133EB9}" type="slidenum">
              <a:rPr lang="en-US" smtClean="0"/>
              <a:pPr/>
              <a:t>31</a:t>
            </a:fld>
            <a:endParaRPr lang="en-US"/>
          </a:p>
        </p:txBody>
      </p:sp>
    </p:spTree>
    <p:extLst>
      <p:ext uri="{BB962C8B-B14F-4D97-AF65-F5344CB8AC3E}">
        <p14:creationId xmlns:p14="http://schemas.microsoft.com/office/powerpoint/2010/main" val="514998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78" grpId="0" animBg="1"/>
      <p:bldP spid="79" grpId="0"/>
      <p:bldP spid="8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r>
              <a:rPr lang="en-US" altLang="zh-CN" dirty="0"/>
              <a:t>Policy dictates how routes are “selected” and “exported”</a:t>
            </a:r>
          </a:p>
        </p:txBody>
      </p:sp>
      <p:sp>
        <p:nvSpPr>
          <p:cNvPr id="2" name="Content Placeholder 1"/>
          <p:cNvSpPr>
            <a:spLocks noGrp="1"/>
          </p:cNvSpPr>
          <p:nvPr>
            <p:ph idx="4294967295"/>
          </p:nvPr>
        </p:nvSpPr>
        <p:spPr>
          <a:xfrm>
            <a:off x="952500" y="4505325"/>
            <a:ext cx="7239000" cy="1905000"/>
          </a:xfrm>
        </p:spPr>
        <p:txBody>
          <a:bodyPr/>
          <a:lstStyle/>
          <a:p>
            <a:pPr>
              <a:lnSpc>
                <a:spcPct val="90000"/>
              </a:lnSpc>
            </a:pPr>
            <a:r>
              <a:rPr lang="en-US" sz="2400" b="1" dirty="0">
                <a:solidFill>
                  <a:srgbClr val="0000FF"/>
                </a:solidFill>
              </a:rPr>
              <a:t>Selection</a:t>
            </a:r>
            <a:r>
              <a:rPr lang="en-US" sz="2400" dirty="0"/>
              <a:t>: Which path to use?</a:t>
            </a:r>
          </a:p>
          <a:p>
            <a:pPr lvl="1">
              <a:lnSpc>
                <a:spcPct val="90000"/>
              </a:lnSpc>
            </a:pPr>
            <a:r>
              <a:rPr lang="en-US" dirty="0"/>
              <a:t>Controls whether/how traffic leaves the network</a:t>
            </a:r>
          </a:p>
          <a:p>
            <a:pPr>
              <a:lnSpc>
                <a:spcPct val="90000"/>
              </a:lnSpc>
            </a:pPr>
            <a:r>
              <a:rPr lang="en-US" sz="2400" b="1" dirty="0">
                <a:solidFill>
                  <a:srgbClr val="0000FF"/>
                </a:solidFill>
              </a:rPr>
              <a:t>Export</a:t>
            </a:r>
            <a:r>
              <a:rPr lang="en-US" sz="2400" dirty="0"/>
              <a:t>: Which path to advertise?</a:t>
            </a:r>
          </a:p>
          <a:p>
            <a:pPr lvl="1">
              <a:lnSpc>
                <a:spcPct val="90000"/>
              </a:lnSpc>
            </a:pPr>
            <a:r>
              <a:rPr lang="en-US" dirty="0"/>
              <a:t>Controls whether/how traffic enters the network</a:t>
            </a:r>
          </a:p>
          <a:p>
            <a:pPr>
              <a:lnSpc>
                <a:spcPct val="90000"/>
              </a:lnSpc>
            </a:pPr>
            <a:endParaRPr lang="en-US" sz="2400" dirty="0"/>
          </a:p>
        </p:txBody>
      </p:sp>
      <p:grpSp>
        <p:nvGrpSpPr>
          <p:cNvPr id="8" name="Group 7"/>
          <p:cNvGrpSpPr/>
          <p:nvPr/>
        </p:nvGrpSpPr>
        <p:grpSpPr>
          <a:xfrm>
            <a:off x="7772400" y="2920304"/>
            <a:ext cx="1600200" cy="899221"/>
            <a:chOff x="7620000" y="3215579"/>
            <a:chExt cx="1600200" cy="899221"/>
          </a:xfrm>
          <a:effectLst/>
        </p:grpSpPr>
        <p:sp>
          <p:nvSpPr>
            <p:cNvPr id="53" name="Rounded Rectangular Callout 52"/>
            <p:cNvSpPr/>
            <p:nvPr/>
          </p:nvSpPr>
          <p:spPr bwMode="auto">
            <a:xfrm>
              <a:off x="7924800" y="3429000"/>
              <a:ext cx="990600" cy="685800"/>
            </a:xfrm>
            <a:prstGeom prst="wedgeRoundRectCallout">
              <a:avLst>
                <a:gd name="adj1" fmla="val -47205"/>
                <a:gd name="adj2" fmla="val 10694"/>
                <a:gd name="adj3" fmla="val 16667"/>
              </a:avLst>
            </a:prstGeom>
            <a:solidFill>
              <a:schemeClr val="tx1">
                <a:lumMod val="50000"/>
                <a:lumOff val="50000"/>
              </a:schemeClr>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0" i="0" u="none" strike="noStrike" cap="none" normalizeH="0" baseline="0">
                <a:ln>
                  <a:noFill/>
                </a:ln>
                <a:solidFill>
                  <a:schemeClr val="bg1"/>
                </a:solidFill>
                <a:effectLst/>
                <a:latin typeface="Courier New" charset="0"/>
              </a:endParaRPr>
            </a:p>
          </p:txBody>
        </p:sp>
        <p:sp>
          <p:nvSpPr>
            <p:cNvPr id="52" name="TextBox 51"/>
            <p:cNvSpPr txBox="1"/>
            <p:nvPr/>
          </p:nvSpPr>
          <p:spPr>
            <a:xfrm>
              <a:off x="7620000" y="3215579"/>
              <a:ext cx="1600200" cy="899221"/>
            </a:xfrm>
            <a:prstGeom prst="rect">
              <a:avLst/>
            </a:prstGeom>
            <a:noFill/>
          </p:spPr>
          <p:txBody>
            <a:bodyPr wrap="square" rtlCol="0">
              <a:spAutoFit/>
            </a:bodyPr>
            <a:lstStyle/>
            <a:p>
              <a:pPr algn="ctr">
                <a:lnSpc>
                  <a:spcPct val="90000"/>
                </a:lnSpc>
              </a:pPr>
              <a:endParaRPr lang="en-US" sz="1600" b="0" i="1" dirty="0">
                <a:solidFill>
                  <a:srgbClr val="FFFFFF"/>
                </a:solidFill>
                <a:latin typeface="+mn-lt"/>
              </a:endParaRPr>
            </a:p>
            <a:p>
              <a:pPr algn="ctr">
                <a:lnSpc>
                  <a:spcPct val="90000"/>
                </a:lnSpc>
              </a:pPr>
              <a:r>
                <a:rPr lang="en-US" sz="1400" dirty="0">
                  <a:solidFill>
                    <a:srgbClr val="FFFFFF"/>
                  </a:solidFill>
                  <a:latin typeface="+mn-lt"/>
                </a:rPr>
                <a:t>Can reach 128.3/16</a:t>
              </a:r>
            </a:p>
            <a:p>
              <a:pPr algn="ctr">
                <a:lnSpc>
                  <a:spcPct val="90000"/>
                </a:lnSpc>
              </a:pPr>
              <a:r>
                <a:rPr lang="en-US" sz="1400" dirty="0">
                  <a:solidFill>
                    <a:srgbClr val="FFFFFF"/>
                  </a:solidFill>
                  <a:latin typeface="+mn-lt"/>
                </a:rPr>
                <a:t>blah blah</a:t>
              </a:r>
            </a:p>
          </p:txBody>
        </p:sp>
      </p:grpSp>
      <p:sp>
        <p:nvSpPr>
          <p:cNvPr id="1979417" name="Text Box 25"/>
          <p:cNvSpPr txBox="1">
            <a:spLocks noChangeArrowheads="1"/>
          </p:cNvSpPr>
          <p:nvPr/>
        </p:nvSpPr>
        <p:spPr bwMode="auto">
          <a:xfrm>
            <a:off x="4937125" y="1447800"/>
            <a:ext cx="2463800" cy="466725"/>
          </a:xfrm>
          <a:prstGeom prst="rect">
            <a:avLst/>
          </a:prstGeom>
          <a:solidFill>
            <a:srgbClr val="FFFFFF"/>
          </a:solidFill>
          <a:ln w="9525" cap="rnd">
            <a:noFill/>
            <a:prstDash val="sysDot"/>
            <a:miter lim="800000"/>
            <a:headEnd/>
            <a:tailEnd/>
          </a:ln>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eaLnBrk="1" hangingPunct="1"/>
            <a:r>
              <a:rPr lang="en-US" altLang="zh-CN" sz="2400" dirty="0">
                <a:solidFill>
                  <a:srgbClr val="0000FF"/>
                </a:solidFill>
                <a:latin typeface="Arial" charset="0"/>
                <a:ea typeface="宋体" charset="0"/>
                <a:cs typeface="宋体" charset="0"/>
              </a:rPr>
              <a:t>Route selection</a:t>
            </a:r>
          </a:p>
        </p:txBody>
      </p:sp>
      <p:grpSp>
        <p:nvGrpSpPr>
          <p:cNvPr id="7" name="Group 6"/>
          <p:cNvGrpSpPr/>
          <p:nvPr/>
        </p:nvGrpSpPr>
        <p:grpSpPr>
          <a:xfrm>
            <a:off x="304800" y="2371725"/>
            <a:ext cx="7848600" cy="2286000"/>
            <a:chOff x="304800" y="2667000"/>
            <a:chExt cx="7848600" cy="2286000"/>
          </a:xfrm>
          <a:effectLst/>
        </p:grpSpPr>
        <p:sp>
          <p:nvSpPr>
            <p:cNvPr id="61454" name="Line 24"/>
            <p:cNvSpPr>
              <a:spLocks noChangeShapeType="1"/>
            </p:cNvSpPr>
            <p:nvPr/>
          </p:nvSpPr>
          <p:spPr bwMode="auto">
            <a:xfrm flipH="1" flipV="1">
              <a:off x="1601788" y="3049588"/>
              <a:ext cx="1141412" cy="150812"/>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p>
          </p:txBody>
        </p:sp>
        <p:grpSp>
          <p:nvGrpSpPr>
            <p:cNvPr id="5" name="Group 4"/>
            <p:cNvGrpSpPr/>
            <p:nvPr/>
          </p:nvGrpSpPr>
          <p:grpSpPr>
            <a:xfrm>
              <a:off x="304800" y="2667000"/>
              <a:ext cx="7848600" cy="2286000"/>
              <a:chOff x="304800" y="2667000"/>
              <a:chExt cx="7848600" cy="2286000"/>
            </a:xfrm>
          </p:grpSpPr>
          <p:sp>
            <p:nvSpPr>
              <p:cNvPr id="1979395" name="Cloud"/>
              <p:cNvSpPr>
                <a:spLocks noChangeAspect="1" noEditPoints="1" noChangeArrowheads="1"/>
              </p:cNvSpPr>
              <p:nvPr/>
            </p:nvSpPr>
            <p:spPr bwMode="auto">
              <a:xfrm>
                <a:off x="2057400" y="2667000"/>
                <a:ext cx="3962400" cy="1981200"/>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1" y="8613"/>
                      <a:pt x="-1" y="10137"/>
                    </a:cubicBezTo>
                    <a:cubicBezTo>
                      <a:pt x="-1" y="11192"/>
                      <a:pt x="409" y="12169"/>
                      <a:pt x="1074" y="12702"/>
                    </a:cubicBezTo>
                    <a:lnTo>
                      <a:pt x="1063" y="12668"/>
                    </a:lnTo>
                    <a:cubicBezTo>
                      <a:pt x="685" y="13217"/>
                      <a:pt x="474" y="13940"/>
                      <a:pt x="474" y="14690"/>
                    </a:cubicBezTo>
                    <a:cubicBezTo>
                      <a:pt x="475" y="16325"/>
                      <a:pt x="1451" y="17650"/>
                      <a:pt x="2655" y="17650"/>
                    </a:cubicBezTo>
                    <a:cubicBezTo>
                      <a:pt x="2739" y="17650"/>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1"/>
                      <a:pt x="16758" y="-1"/>
                    </a:cubicBezTo>
                    <a:cubicBezTo>
                      <a:pt x="16044" y="-1"/>
                      <a:pt x="15367" y="426"/>
                      <a:pt x="14905" y="1165"/>
                    </a:cubicBezTo>
                    <a:lnTo>
                      <a:pt x="14909" y="1170"/>
                    </a:lnTo>
                    <a:cubicBezTo>
                      <a:pt x="14497" y="432"/>
                      <a:pt x="13855" y="-1"/>
                      <a:pt x="13174" y="-1"/>
                    </a:cubicBezTo>
                    <a:cubicBezTo>
                      <a:pt x="12347" y="-1"/>
                      <a:pt x="11590" y="637"/>
                      <a:pt x="11221" y="1645"/>
                    </a:cubicBezTo>
                    <a:lnTo>
                      <a:pt x="11229" y="1694"/>
                    </a:lnTo>
                    <a:cubicBezTo>
                      <a:pt x="10730" y="1024"/>
                      <a:pt x="10058" y="649"/>
                      <a:pt x="9358" y="649"/>
                    </a:cubicBezTo>
                    <a:cubicBezTo>
                      <a:pt x="8372" y="649"/>
                      <a:pt x="7466" y="1391"/>
                      <a:pt x="7003" y="2578"/>
                    </a:cubicBezTo>
                    <a:lnTo>
                      <a:pt x="6995" y="2602"/>
                    </a:lnTo>
                    <a:cubicBezTo>
                      <a:pt x="6477" y="2189"/>
                      <a:pt x="5888" y="1971"/>
                      <a:pt x="5288" y="1971"/>
                    </a:cubicBezTo>
                    <a:cubicBezTo>
                      <a:pt x="3423" y="1972"/>
                      <a:pt x="1912" y="4029"/>
                      <a:pt x="1912" y="6567"/>
                    </a:cubicBezTo>
                    <a:cubicBezTo>
                      <a:pt x="1911"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chemeClr val="accent1"/>
              </a:solidFill>
              <a:ln w="9525">
                <a:solidFill>
                  <a:srgbClr val="000000"/>
                </a:solidFill>
                <a:miter lim="800000"/>
                <a:headEnd/>
                <a:tailEnd/>
              </a:ln>
              <a:effectLst/>
            </p:spPr>
            <p:txBody>
              <a:bodyPr/>
              <a:lstStyle/>
              <a:p>
                <a:pPr algn="ctr">
                  <a:defRPr/>
                </a:pPr>
                <a:endParaRPr lang="en-US" altLang="zh-CN" sz="1800" dirty="0">
                  <a:latin typeface="Arial" charset="0"/>
                  <a:ea typeface="宋体" charset="-122"/>
                  <a:cs typeface="宋体" charset="-122"/>
                </a:endParaRPr>
              </a:p>
              <a:p>
                <a:pPr algn="ctr">
                  <a:defRPr/>
                </a:pPr>
                <a:endParaRPr lang="en-US" altLang="zh-CN" sz="1800" dirty="0">
                  <a:latin typeface="Arial" charset="0"/>
                  <a:ea typeface="宋体" charset="-122"/>
                  <a:cs typeface="宋体" charset="-122"/>
                </a:endParaRPr>
              </a:p>
              <a:p>
                <a:pPr algn="ctr">
                  <a:defRPr/>
                </a:pPr>
                <a:r>
                  <a:rPr lang="en-US" altLang="zh-CN" sz="1800" dirty="0">
                    <a:latin typeface="Arial" charset="0"/>
                    <a:ea typeface="宋体" charset="-122"/>
                    <a:cs typeface="宋体" charset="-122"/>
                  </a:rPr>
                  <a:t>A</a:t>
                </a:r>
                <a:endParaRPr lang="zh-CN" altLang="en-US" sz="1800" dirty="0">
                  <a:latin typeface="Arial" charset="0"/>
                  <a:ea typeface="宋体" charset="-122"/>
                  <a:cs typeface="宋体" charset="-122"/>
                </a:endParaRPr>
              </a:p>
            </p:txBody>
          </p:sp>
          <p:sp>
            <p:nvSpPr>
              <p:cNvPr id="1979408" name="Cloud"/>
              <p:cNvSpPr>
                <a:spLocks noChangeAspect="1" noEditPoints="1" noChangeArrowheads="1"/>
              </p:cNvSpPr>
              <p:nvPr/>
            </p:nvSpPr>
            <p:spPr bwMode="auto">
              <a:xfrm>
                <a:off x="304800" y="2667000"/>
                <a:ext cx="1600200" cy="836613"/>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1" y="8613"/>
                      <a:pt x="-1" y="10137"/>
                    </a:cubicBezTo>
                    <a:cubicBezTo>
                      <a:pt x="-1" y="11192"/>
                      <a:pt x="409" y="12169"/>
                      <a:pt x="1074" y="12702"/>
                    </a:cubicBezTo>
                    <a:lnTo>
                      <a:pt x="1063" y="12668"/>
                    </a:lnTo>
                    <a:cubicBezTo>
                      <a:pt x="685" y="13217"/>
                      <a:pt x="474" y="13940"/>
                      <a:pt x="474" y="14690"/>
                    </a:cubicBezTo>
                    <a:cubicBezTo>
                      <a:pt x="475" y="16325"/>
                      <a:pt x="1451" y="17650"/>
                      <a:pt x="2655" y="17650"/>
                    </a:cubicBezTo>
                    <a:cubicBezTo>
                      <a:pt x="2739" y="17650"/>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1"/>
                      <a:pt x="16758" y="-1"/>
                    </a:cubicBezTo>
                    <a:cubicBezTo>
                      <a:pt x="16044" y="-1"/>
                      <a:pt x="15367" y="426"/>
                      <a:pt x="14905" y="1165"/>
                    </a:cubicBezTo>
                    <a:lnTo>
                      <a:pt x="14909" y="1170"/>
                    </a:lnTo>
                    <a:cubicBezTo>
                      <a:pt x="14497" y="432"/>
                      <a:pt x="13855" y="-1"/>
                      <a:pt x="13174" y="-1"/>
                    </a:cubicBezTo>
                    <a:cubicBezTo>
                      <a:pt x="12347" y="-1"/>
                      <a:pt x="11590" y="637"/>
                      <a:pt x="11221" y="1645"/>
                    </a:cubicBezTo>
                    <a:lnTo>
                      <a:pt x="11229" y="1694"/>
                    </a:lnTo>
                    <a:cubicBezTo>
                      <a:pt x="10730" y="1024"/>
                      <a:pt x="10058" y="649"/>
                      <a:pt x="9358" y="649"/>
                    </a:cubicBezTo>
                    <a:cubicBezTo>
                      <a:pt x="8372" y="649"/>
                      <a:pt x="7466" y="1391"/>
                      <a:pt x="7003" y="2578"/>
                    </a:cubicBezTo>
                    <a:lnTo>
                      <a:pt x="6995" y="2602"/>
                    </a:lnTo>
                    <a:cubicBezTo>
                      <a:pt x="6477" y="2189"/>
                      <a:pt x="5888" y="1971"/>
                      <a:pt x="5288" y="1971"/>
                    </a:cubicBezTo>
                    <a:cubicBezTo>
                      <a:pt x="3423" y="1972"/>
                      <a:pt x="1912" y="4029"/>
                      <a:pt x="1912" y="6567"/>
                    </a:cubicBezTo>
                    <a:cubicBezTo>
                      <a:pt x="1911"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chemeClr val="accent1"/>
              </a:solidFill>
              <a:ln w="9525">
                <a:solidFill>
                  <a:srgbClr val="000000"/>
                </a:solidFill>
                <a:miter lim="800000"/>
                <a:headEnd/>
                <a:tailEnd/>
              </a:ln>
              <a:effectLst/>
            </p:spPr>
            <p:txBody>
              <a:bodyPr/>
              <a:lstStyle/>
              <a:p>
                <a:pPr algn="ctr">
                  <a:defRPr/>
                </a:pPr>
                <a:r>
                  <a:rPr lang="en-US" altLang="zh-CN" sz="1800" dirty="0">
                    <a:latin typeface="Arial" charset="0"/>
                    <a:ea typeface="宋体" charset="-122"/>
                    <a:cs typeface="宋体" charset="-122"/>
                  </a:rPr>
                  <a:t>P</a:t>
                </a:r>
                <a:endParaRPr lang="zh-CN" altLang="en-US" sz="1800" dirty="0">
                  <a:latin typeface="Arial" charset="0"/>
                  <a:ea typeface="宋体" charset="-122"/>
                  <a:cs typeface="宋体" charset="-122"/>
                </a:endParaRPr>
              </a:p>
            </p:txBody>
          </p:sp>
          <p:sp>
            <p:nvSpPr>
              <p:cNvPr id="61447" name="Line 17"/>
              <p:cNvSpPr>
                <a:spLocks noChangeShapeType="1"/>
              </p:cNvSpPr>
              <p:nvPr/>
            </p:nvSpPr>
            <p:spPr bwMode="auto">
              <a:xfrm flipV="1">
                <a:off x="5562600" y="3201988"/>
                <a:ext cx="990600" cy="2286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p>
            </p:txBody>
          </p:sp>
          <p:sp>
            <p:nvSpPr>
              <p:cNvPr id="61448" name="Line 18"/>
              <p:cNvSpPr>
                <a:spLocks noChangeShapeType="1"/>
              </p:cNvSpPr>
              <p:nvPr/>
            </p:nvSpPr>
            <p:spPr bwMode="auto">
              <a:xfrm>
                <a:off x="5562600" y="3582988"/>
                <a:ext cx="1143000" cy="9144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p>
            </p:txBody>
          </p:sp>
          <p:sp>
            <p:nvSpPr>
              <p:cNvPr id="1979414" name="Cloud"/>
              <p:cNvSpPr>
                <a:spLocks noChangeAspect="1" noEditPoints="1" noChangeArrowheads="1"/>
              </p:cNvSpPr>
              <p:nvPr/>
            </p:nvSpPr>
            <p:spPr bwMode="auto">
              <a:xfrm>
                <a:off x="6477000" y="4116388"/>
                <a:ext cx="1600200" cy="836612"/>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1" y="8613"/>
                      <a:pt x="-1" y="10137"/>
                    </a:cubicBezTo>
                    <a:cubicBezTo>
                      <a:pt x="-1" y="11192"/>
                      <a:pt x="409" y="12169"/>
                      <a:pt x="1074" y="12702"/>
                    </a:cubicBezTo>
                    <a:lnTo>
                      <a:pt x="1063" y="12668"/>
                    </a:lnTo>
                    <a:cubicBezTo>
                      <a:pt x="685" y="13217"/>
                      <a:pt x="474" y="13940"/>
                      <a:pt x="474" y="14690"/>
                    </a:cubicBezTo>
                    <a:cubicBezTo>
                      <a:pt x="475" y="16325"/>
                      <a:pt x="1451" y="17650"/>
                      <a:pt x="2655" y="17650"/>
                    </a:cubicBezTo>
                    <a:cubicBezTo>
                      <a:pt x="2739" y="17650"/>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1"/>
                      <a:pt x="16758" y="-1"/>
                    </a:cubicBezTo>
                    <a:cubicBezTo>
                      <a:pt x="16044" y="-1"/>
                      <a:pt x="15367" y="426"/>
                      <a:pt x="14905" y="1165"/>
                    </a:cubicBezTo>
                    <a:lnTo>
                      <a:pt x="14909" y="1170"/>
                    </a:lnTo>
                    <a:cubicBezTo>
                      <a:pt x="14497" y="432"/>
                      <a:pt x="13855" y="-1"/>
                      <a:pt x="13174" y="-1"/>
                    </a:cubicBezTo>
                    <a:cubicBezTo>
                      <a:pt x="12347" y="-1"/>
                      <a:pt x="11590" y="637"/>
                      <a:pt x="11221" y="1645"/>
                    </a:cubicBezTo>
                    <a:lnTo>
                      <a:pt x="11229" y="1694"/>
                    </a:lnTo>
                    <a:cubicBezTo>
                      <a:pt x="10730" y="1024"/>
                      <a:pt x="10058" y="649"/>
                      <a:pt x="9358" y="649"/>
                    </a:cubicBezTo>
                    <a:cubicBezTo>
                      <a:pt x="8372" y="649"/>
                      <a:pt x="7466" y="1391"/>
                      <a:pt x="7003" y="2578"/>
                    </a:cubicBezTo>
                    <a:lnTo>
                      <a:pt x="6995" y="2602"/>
                    </a:lnTo>
                    <a:cubicBezTo>
                      <a:pt x="6477" y="2189"/>
                      <a:pt x="5888" y="1971"/>
                      <a:pt x="5288" y="1971"/>
                    </a:cubicBezTo>
                    <a:cubicBezTo>
                      <a:pt x="3423" y="1972"/>
                      <a:pt x="1912" y="4029"/>
                      <a:pt x="1912" y="6567"/>
                    </a:cubicBezTo>
                    <a:cubicBezTo>
                      <a:pt x="1911"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chemeClr val="accent1"/>
              </a:solidFill>
              <a:ln w="9525">
                <a:solidFill>
                  <a:srgbClr val="000000"/>
                </a:solidFill>
                <a:miter lim="800000"/>
                <a:headEnd/>
                <a:tailEnd/>
              </a:ln>
              <a:effectLst/>
            </p:spPr>
            <p:txBody>
              <a:bodyPr/>
              <a:lstStyle/>
              <a:p>
                <a:pPr algn="ctr">
                  <a:defRPr/>
                </a:pPr>
                <a:r>
                  <a:rPr lang="en-US" altLang="zh-CN" sz="1800" dirty="0">
                    <a:latin typeface="Arial" charset="0"/>
                    <a:ea typeface="宋体" charset="-122"/>
                    <a:cs typeface="宋体" charset="-122"/>
                  </a:rPr>
                  <a:t>C</a:t>
                </a:r>
                <a:endParaRPr lang="zh-CN" altLang="en-US" sz="1800" dirty="0">
                  <a:latin typeface="Arial" charset="0"/>
                  <a:ea typeface="宋体" charset="-122"/>
                  <a:cs typeface="宋体" charset="-122"/>
                </a:endParaRPr>
              </a:p>
            </p:txBody>
          </p:sp>
          <p:sp>
            <p:nvSpPr>
              <p:cNvPr id="1979415" name="Cloud"/>
              <p:cNvSpPr>
                <a:spLocks noChangeAspect="1" noEditPoints="1" noChangeArrowheads="1"/>
              </p:cNvSpPr>
              <p:nvPr/>
            </p:nvSpPr>
            <p:spPr bwMode="auto">
              <a:xfrm>
                <a:off x="6553200" y="2822575"/>
                <a:ext cx="1600200" cy="836613"/>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1" y="8613"/>
                      <a:pt x="-1" y="10137"/>
                    </a:cubicBezTo>
                    <a:cubicBezTo>
                      <a:pt x="-1" y="11192"/>
                      <a:pt x="409" y="12169"/>
                      <a:pt x="1074" y="12702"/>
                    </a:cubicBezTo>
                    <a:lnTo>
                      <a:pt x="1063" y="12668"/>
                    </a:lnTo>
                    <a:cubicBezTo>
                      <a:pt x="685" y="13217"/>
                      <a:pt x="474" y="13940"/>
                      <a:pt x="474" y="14690"/>
                    </a:cubicBezTo>
                    <a:cubicBezTo>
                      <a:pt x="475" y="16325"/>
                      <a:pt x="1451" y="17650"/>
                      <a:pt x="2655" y="17650"/>
                    </a:cubicBezTo>
                    <a:cubicBezTo>
                      <a:pt x="2739" y="17650"/>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1"/>
                      <a:pt x="16758" y="-1"/>
                    </a:cubicBezTo>
                    <a:cubicBezTo>
                      <a:pt x="16044" y="-1"/>
                      <a:pt x="15367" y="426"/>
                      <a:pt x="14905" y="1165"/>
                    </a:cubicBezTo>
                    <a:lnTo>
                      <a:pt x="14909" y="1170"/>
                    </a:lnTo>
                    <a:cubicBezTo>
                      <a:pt x="14497" y="432"/>
                      <a:pt x="13855" y="-1"/>
                      <a:pt x="13174" y="-1"/>
                    </a:cubicBezTo>
                    <a:cubicBezTo>
                      <a:pt x="12347" y="-1"/>
                      <a:pt x="11590" y="637"/>
                      <a:pt x="11221" y="1645"/>
                    </a:cubicBezTo>
                    <a:lnTo>
                      <a:pt x="11229" y="1694"/>
                    </a:lnTo>
                    <a:cubicBezTo>
                      <a:pt x="10730" y="1024"/>
                      <a:pt x="10058" y="649"/>
                      <a:pt x="9358" y="649"/>
                    </a:cubicBezTo>
                    <a:cubicBezTo>
                      <a:pt x="8372" y="649"/>
                      <a:pt x="7466" y="1391"/>
                      <a:pt x="7003" y="2578"/>
                    </a:cubicBezTo>
                    <a:lnTo>
                      <a:pt x="6995" y="2602"/>
                    </a:lnTo>
                    <a:cubicBezTo>
                      <a:pt x="6477" y="2189"/>
                      <a:pt x="5888" y="1971"/>
                      <a:pt x="5288" y="1971"/>
                    </a:cubicBezTo>
                    <a:cubicBezTo>
                      <a:pt x="3423" y="1972"/>
                      <a:pt x="1912" y="4029"/>
                      <a:pt x="1912" y="6567"/>
                    </a:cubicBezTo>
                    <a:cubicBezTo>
                      <a:pt x="1911"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chemeClr val="accent1"/>
              </a:solidFill>
              <a:ln w="9525">
                <a:solidFill>
                  <a:srgbClr val="000000"/>
                </a:solidFill>
                <a:miter lim="800000"/>
                <a:headEnd/>
                <a:tailEnd/>
              </a:ln>
              <a:effectLst/>
            </p:spPr>
            <p:txBody>
              <a:bodyPr/>
              <a:lstStyle/>
              <a:p>
                <a:pPr algn="ctr">
                  <a:defRPr/>
                </a:pPr>
                <a:endParaRPr lang="en-US" altLang="zh-CN" sz="1800" dirty="0">
                  <a:latin typeface="Arial" charset="0"/>
                  <a:ea typeface="宋体" charset="-122"/>
                  <a:cs typeface="宋体" charset="-122"/>
                </a:endParaRPr>
              </a:p>
              <a:p>
                <a:pPr algn="ctr">
                  <a:defRPr/>
                </a:pPr>
                <a:r>
                  <a:rPr lang="en-US" altLang="zh-CN" sz="1800" dirty="0">
                    <a:latin typeface="Arial" charset="0"/>
                    <a:ea typeface="宋体" charset="-122"/>
                    <a:cs typeface="宋体" charset="-122"/>
                  </a:rPr>
                  <a:t>B</a:t>
                </a:r>
                <a:endParaRPr lang="zh-CN" altLang="en-US" sz="1800" dirty="0">
                  <a:latin typeface="Arial" charset="0"/>
                  <a:ea typeface="宋体" charset="-122"/>
                  <a:cs typeface="宋体" charset="-122"/>
                </a:endParaRPr>
              </a:p>
            </p:txBody>
          </p:sp>
          <p:sp>
            <p:nvSpPr>
              <p:cNvPr id="1979432" name="Cloud"/>
              <p:cNvSpPr>
                <a:spLocks noChangeAspect="1" noEditPoints="1" noChangeArrowheads="1"/>
              </p:cNvSpPr>
              <p:nvPr/>
            </p:nvSpPr>
            <p:spPr bwMode="auto">
              <a:xfrm>
                <a:off x="304800" y="3886200"/>
                <a:ext cx="1600200" cy="836613"/>
              </a:xfrm>
              <a:custGeom>
                <a:avLst/>
                <a:gdLst>
                  <a:gd name="T0" fmla="*/ 67 w 21600"/>
                  <a:gd name="T1" fmla="*/ 10800 h 21600"/>
                  <a:gd name="T2" fmla="*/ 10800 w 21600"/>
                  <a:gd name="T3" fmla="*/ 21577 h 21600"/>
                  <a:gd name="T4" fmla="*/ 21582 w 21600"/>
                  <a:gd name="T5" fmla="*/ 10800 h 21600"/>
                  <a:gd name="T6" fmla="*/ 10800 w 21600"/>
                  <a:gd name="T7" fmla="*/ 1235 h 21600"/>
                  <a:gd name="T8" fmla="*/ 2977 w 21600"/>
                  <a:gd name="T9" fmla="*/ 3262 h 21600"/>
                  <a:gd name="T10" fmla="*/ 17087 w 21600"/>
                  <a:gd name="T11" fmla="*/ 17337 h 21600"/>
                </a:gdLst>
                <a:ahLst/>
                <a:cxnLst>
                  <a:cxn ang="0">
                    <a:pos x="T0" y="T1"/>
                  </a:cxn>
                  <a:cxn ang="0">
                    <a:pos x="T2" y="T3"/>
                  </a:cxn>
                  <a:cxn ang="0">
                    <a:pos x="T4" y="T5"/>
                  </a:cxn>
                  <a:cxn ang="0">
                    <a:pos x="T6" y="T7"/>
                  </a:cxn>
                </a:cxnLst>
                <a:rect l="T8" t="T9" r="T10" b="T11"/>
                <a:pathLst>
                  <a:path w="21600" h="21600" extrusionOk="0">
                    <a:moveTo>
                      <a:pt x="1949" y="7180"/>
                    </a:moveTo>
                    <a:cubicBezTo>
                      <a:pt x="841" y="7336"/>
                      <a:pt x="-1" y="8613"/>
                      <a:pt x="-1" y="10137"/>
                    </a:cubicBezTo>
                    <a:cubicBezTo>
                      <a:pt x="-1" y="11192"/>
                      <a:pt x="409" y="12169"/>
                      <a:pt x="1074" y="12702"/>
                    </a:cubicBezTo>
                    <a:lnTo>
                      <a:pt x="1063" y="12668"/>
                    </a:lnTo>
                    <a:cubicBezTo>
                      <a:pt x="685" y="13217"/>
                      <a:pt x="474" y="13940"/>
                      <a:pt x="474" y="14690"/>
                    </a:cubicBezTo>
                    <a:cubicBezTo>
                      <a:pt x="475" y="16325"/>
                      <a:pt x="1451" y="17650"/>
                      <a:pt x="2655" y="17650"/>
                    </a:cubicBezTo>
                    <a:cubicBezTo>
                      <a:pt x="2739" y="17650"/>
                      <a:pt x="2824" y="17643"/>
                      <a:pt x="2909" y="17629"/>
                    </a:cubicBezTo>
                    <a:lnTo>
                      <a:pt x="2897" y="17649"/>
                    </a:lnTo>
                    <a:cubicBezTo>
                      <a:pt x="3585" y="19288"/>
                      <a:pt x="4863" y="20299"/>
                      <a:pt x="6247" y="20299"/>
                    </a:cubicBezTo>
                    <a:cubicBezTo>
                      <a:pt x="6947" y="20299"/>
                      <a:pt x="7635" y="20039"/>
                      <a:pt x="8235" y="19546"/>
                    </a:cubicBezTo>
                    <a:lnTo>
                      <a:pt x="8229" y="19550"/>
                    </a:lnTo>
                    <a:cubicBezTo>
                      <a:pt x="8855" y="20829"/>
                      <a:pt x="9908" y="21596"/>
                      <a:pt x="11036" y="21596"/>
                    </a:cubicBezTo>
                    <a:cubicBezTo>
                      <a:pt x="12523" y="21596"/>
                      <a:pt x="13836" y="20267"/>
                      <a:pt x="14267" y="18324"/>
                    </a:cubicBezTo>
                    <a:lnTo>
                      <a:pt x="14270" y="18350"/>
                    </a:lnTo>
                    <a:cubicBezTo>
                      <a:pt x="14730" y="18740"/>
                      <a:pt x="15260" y="18946"/>
                      <a:pt x="15802" y="18946"/>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1"/>
                      <a:pt x="16758" y="-1"/>
                    </a:cubicBezTo>
                    <a:cubicBezTo>
                      <a:pt x="16044" y="-1"/>
                      <a:pt x="15367" y="426"/>
                      <a:pt x="14905" y="1165"/>
                    </a:cubicBezTo>
                    <a:lnTo>
                      <a:pt x="14909" y="1170"/>
                    </a:lnTo>
                    <a:cubicBezTo>
                      <a:pt x="14497" y="432"/>
                      <a:pt x="13855" y="-1"/>
                      <a:pt x="13174" y="-1"/>
                    </a:cubicBezTo>
                    <a:cubicBezTo>
                      <a:pt x="12347" y="-1"/>
                      <a:pt x="11590" y="637"/>
                      <a:pt x="11221" y="1645"/>
                    </a:cubicBezTo>
                    <a:lnTo>
                      <a:pt x="11229" y="1694"/>
                    </a:lnTo>
                    <a:cubicBezTo>
                      <a:pt x="10730" y="1024"/>
                      <a:pt x="10058" y="649"/>
                      <a:pt x="9358" y="649"/>
                    </a:cubicBezTo>
                    <a:cubicBezTo>
                      <a:pt x="8372" y="649"/>
                      <a:pt x="7466" y="1391"/>
                      <a:pt x="7003" y="2578"/>
                    </a:cubicBezTo>
                    <a:lnTo>
                      <a:pt x="6995" y="2602"/>
                    </a:lnTo>
                    <a:cubicBezTo>
                      <a:pt x="6477" y="2189"/>
                      <a:pt x="5888" y="1971"/>
                      <a:pt x="5288" y="1971"/>
                    </a:cubicBezTo>
                    <a:cubicBezTo>
                      <a:pt x="3423" y="1972"/>
                      <a:pt x="1912" y="4029"/>
                      <a:pt x="1912" y="6567"/>
                    </a:cubicBezTo>
                    <a:cubicBezTo>
                      <a:pt x="1911" y="6774"/>
                      <a:pt x="1922" y="6981"/>
                      <a:pt x="1942" y="7186"/>
                    </a:cubicBezTo>
                    <a:close/>
                  </a:path>
                  <a:path w="21600" h="21600" fill="none" extrusionOk="0">
                    <a:moveTo>
                      <a:pt x="1074" y="12702"/>
                    </a:moveTo>
                    <a:cubicBezTo>
                      <a:pt x="1407" y="12969"/>
                      <a:pt x="1786" y="13109"/>
                      <a:pt x="2172" y="13109"/>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chemeClr val="accent1"/>
              </a:solidFill>
              <a:ln w="9525">
                <a:solidFill>
                  <a:srgbClr val="000000"/>
                </a:solidFill>
                <a:miter lim="800000"/>
                <a:headEnd/>
                <a:tailEnd/>
              </a:ln>
              <a:effectLst/>
            </p:spPr>
            <p:txBody>
              <a:bodyPr/>
              <a:lstStyle/>
              <a:p>
                <a:pPr algn="ctr">
                  <a:defRPr/>
                </a:pPr>
                <a:r>
                  <a:rPr lang="en-US" altLang="zh-CN" sz="1800" dirty="0">
                    <a:latin typeface="Arial" charset="0"/>
                    <a:ea typeface="宋体" charset="-122"/>
                    <a:cs typeface="宋体" charset="-122"/>
                  </a:rPr>
                  <a:t>Q</a:t>
                </a:r>
                <a:endParaRPr lang="zh-CN" altLang="en-US" sz="1800" dirty="0">
                  <a:latin typeface="Arial" charset="0"/>
                  <a:ea typeface="宋体" charset="-122"/>
                  <a:cs typeface="宋体" charset="-122"/>
                </a:endParaRPr>
              </a:p>
            </p:txBody>
          </p:sp>
        </p:grpSp>
        <p:sp>
          <p:nvSpPr>
            <p:cNvPr id="61468" name="Line 41"/>
            <p:cNvSpPr>
              <a:spLocks noChangeShapeType="1"/>
            </p:cNvSpPr>
            <p:nvPr/>
          </p:nvSpPr>
          <p:spPr bwMode="auto">
            <a:xfrm flipH="1">
              <a:off x="1600200" y="4038600"/>
              <a:ext cx="1066800" cy="15240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endParaRPr lang="en-US"/>
            </a:p>
          </p:txBody>
        </p:sp>
      </p:grpSp>
      <p:sp>
        <p:nvSpPr>
          <p:cNvPr id="1979424" name="Line 32"/>
          <p:cNvSpPr>
            <a:spLocks noChangeShapeType="1"/>
          </p:cNvSpPr>
          <p:nvPr/>
        </p:nvSpPr>
        <p:spPr bwMode="auto">
          <a:xfrm flipH="1" flipV="1">
            <a:off x="1524000" y="2600325"/>
            <a:ext cx="1219200" cy="152400"/>
          </a:xfrm>
          <a:prstGeom prst="line">
            <a:avLst/>
          </a:prstGeom>
          <a:noFill/>
          <a:ln w="38100">
            <a:solidFill>
              <a:srgbClr val="008000"/>
            </a:solidFill>
            <a:round/>
            <a:headEnd/>
            <a:tailEnd type="triangle" w="med" len="med"/>
          </a:ln>
          <a:effectLst/>
          <a:extLst>
            <a:ext uri="{909E8E84-426E-40dd-AFC4-6F175D3DCCD1}">
              <a14:hiddenFill xmlns="" xmlns:a14="http://schemas.microsoft.com/office/drawing/2010/main">
                <a:noFill/>
              </a14:hiddenFill>
            </a:ext>
          </a:extLst>
        </p:spPr>
        <p:txBody>
          <a:bodyPr/>
          <a:lstStyle/>
          <a:p>
            <a:endParaRPr lang="en-US"/>
          </a:p>
        </p:txBody>
      </p:sp>
      <p:grpSp>
        <p:nvGrpSpPr>
          <p:cNvPr id="4" name="Group 47"/>
          <p:cNvGrpSpPr>
            <a:grpSpLocks/>
          </p:cNvGrpSpPr>
          <p:nvPr/>
        </p:nvGrpSpPr>
        <p:grpSpPr bwMode="auto">
          <a:xfrm>
            <a:off x="2057400" y="3514725"/>
            <a:ext cx="304800" cy="533400"/>
            <a:chOff x="1392" y="2688"/>
            <a:chExt cx="192" cy="336"/>
          </a:xfrm>
          <a:effectLst/>
        </p:grpSpPr>
        <p:sp>
          <p:nvSpPr>
            <p:cNvPr id="61476" name="Line 48"/>
            <p:cNvSpPr>
              <a:spLocks noChangeShapeType="1"/>
            </p:cNvSpPr>
            <p:nvPr/>
          </p:nvSpPr>
          <p:spPr bwMode="auto">
            <a:xfrm>
              <a:off x="1392" y="2736"/>
              <a:ext cx="192" cy="240"/>
            </a:xfrm>
            <a:prstGeom prst="line">
              <a:avLst/>
            </a:prstGeom>
            <a:noFill/>
            <a:ln w="76200">
              <a:solidFill>
                <a:srgbClr val="FF0000"/>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61477" name="Line 49"/>
            <p:cNvSpPr>
              <a:spLocks noChangeShapeType="1"/>
            </p:cNvSpPr>
            <p:nvPr/>
          </p:nvSpPr>
          <p:spPr bwMode="auto">
            <a:xfrm flipH="1">
              <a:off x="1440" y="2688"/>
              <a:ext cx="96" cy="336"/>
            </a:xfrm>
            <a:prstGeom prst="line">
              <a:avLst/>
            </a:prstGeom>
            <a:noFill/>
            <a:ln w="76200">
              <a:solidFill>
                <a:srgbClr val="FF0000"/>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sp>
        <p:nvSpPr>
          <p:cNvPr id="1979434" name="Line 42"/>
          <p:cNvSpPr>
            <a:spLocks noChangeShapeType="1"/>
          </p:cNvSpPr>
          <p:nvPr/>
        </p:nvSpPr>
        <p:spPr bwMode="auto">
          <a:xfrm flipH="1">
            <a:off x="2286000" y="3590925"/>
            <a:ext cx="457200" cy="76200"/>
          </a:xfrm>
          <a:prstGeom prst="line">
            <a:avLst/>
          </a:prstGeom>
          <a:noFill/>
          <a:ln w="38100">
            <a:solidFill>
              <a:srgbClr val="008000"/>
            </a:solidFill>
            <a:round/>
            <a:headEnd/>
            <a:tailEnd type="triangle" w="med" len="med"/>
          </a:ln>
          <a:effectLst/>
          <a:extLst>
            <a:ext uri="{909E8E84-426E-40dd-AFC4-6F175D3DCCD1}">
              <a14:hiddenFill xmlns="" xmlns:a14="http://schemas.microsoft.com/office/drawing/2010/main">
                <a:noFill/>
              </a14:hiddenFill>
            </a:ext>
          </a:extLst>
        </p:spPr>
        <p:txBody>
          <a:bodyPr/>
          <a:lstStyle/>
          <a:p>
            <a:endParaRPr lang="en-US"/>
          </a:p>
        </p:txBody>
      </p:sp>
      <p:sp>
        <p:nvSpPr>
          <p:cNvPr id="1979419" name="Freeform 27"/>
          <p:cNvSpPr>
            <a:spLocks/>
          </p:cNvSpPr>
          <p:nvPr/>
        </p:nvSpPr>
        <p:spPr bwMode="auto">
          <a:xfrm>
            <a:off x="5638800" y="2447925"/>
            <a:ext cx="2971800" cy="546100"/>
          </a:xfrm>
          <a:custGeom>
            <a:avLst/>
            <a:gdLst>
              <a:gd name="T0" fmla="*/ 2147483647 w 1872"/>
              <a:gd name="T1" fmla="*/ 846772500 h 344"/>
              <a:gd name="T2" fmla="*/ 2147483647 w 1872"/>
              <a:gd name="T3" fmla="*/ 725805000 h 344"/>
              <a:gd name="T4" fmla="*/ 2147483647 w 1872"/>
              <a:gd name="T5" fmla="*/ 0 h 344"/>
              <a:gd name="T6" fmla="*/ 0 w 1872"/>
              <a:gd name="T7" fmla="*/ 725805000 h 344"/>
              <a:gd name="T8" fmla="*/ 0 60000 65536"/>
              <a:gd name="T9" fmla="*/ 0 60000 65536"/>
              <a:gd name="T10" fmla="*/ 0 60000 65536"/>
              <a:gd name="T11" fmla="*/ 0 60000 65536"/>
              <a:gd name="T12" fmla="*/ 0 w 1872"/>
              <a:gd name="T13" fmla="*/ 0 h 344"/>
              <a:gd name="T14" fmla="*/ 1872 w 1872"/>
              <a:gd name="T15" fmla="*/ 344 h 344"/>
            </a:gdLst>
            <a:ahLst/>
            <a:cxnLst>
              <a:cxn ang="T8">
                <a:pos x="T0" y="T1"/>
              </a:cxn>
              <a:cxn ang="T9">
                <a:pos x="T2" y="T3"/>
              </a:cxn>
              <a:cxn ang="T10">
                <a:pos x="T4" y="T5"/>
              </a:cxn>
              <a:cxn ang="T11">
                <a:pos x="T6" y="T7"/>
              </a:cxn>
            </a:cxnLst>
            <a:rect l="T12" t="T13" r="T14" b="T15"/>
            <a:pathLst>
              <a:path w="1872" h="344">
                <a:moveTo>
                  <a:pt x="1824" y="336"/>
                </a:moveTo>
                <a:cubicBezTo>
                  <a:pt x="1848" y="340"/>
                  <a:pt x="1872" y="344"/>
                  <a:pt x="1728" y="288"/>
                </a:cubicBezTo>
                <a:cubicBezTo>
                  <a:pt x="1584" y="232"/>
                  <a:pt x="1248" y="0"/>
                  <a:pt x="960" y="0"/>
                </a:cubicBezTo>
                <a:cubicBezTo>
                  <a:pt x="672" y="0"/>
                  <a:pt x="336" y="144"/>
                  <a:pt x="0" y="288"/>
                </a:cubicBezTo>
              </a:path>
            </a:pathLst>
          </a:custGeom>
          <a:noFill/>
          <a:ln w="38100">
            <a:solidFill>
              <a:srgbClr val="008000"/>
            </a:solidFill>
            <a:round/>
            <a:headEnd/>
            <a:tailEnd type="triangle" w="med" len="med"/>
          </a:ln>
          <a:effectLst/>
          <a:extLst>
            <a:ext uri="{909E8E84-426E-40dd-AFC4-6F175D3DCCD1}">
              <a14:hiddenFill xmlns="" xmlns:a14="http://schemas.microsoft.com/office/drawing/2010/main">
                <a:solidFill>
                  <a:srgbClr val="FFFFFF"/>
                </a:solidFill>
              </a14:hiddenFill>
            </a:ext>
          </a:extLst>
        </p:spPr>
        <p:txBody>
          <a:bodyPr/>
          <a:lstStyle/>
          <a:p>
            <a:endParaRPr lang="en-US"/>
          </a:p>
        </p:txBody>
      </p:sp>
      <p:sp>
        <p:nvSpPr>
          <p:cNvPr id="1979420" name="Freeform 28"/>
          <p:cNvSpPr>
            <a:spLocks/>
          </p:cNvSpPr>
          <p:nvPr/>
        </p:nvSpPr>
        <p:spPr bwMode="auto">
          <a:xfrm>
            <a:off x="5486400" y="3362325"/>
            <a:ext cx="3048000" cy="1066800"/>
          </a:xfrm>
          <a:custGeom>
            <a:avLst/>
            <a:gdLst>
              <a:gd name="T0" fmla="*/ 2147483647 w 1872"/>
              <a:gd name="T1" fmla="*/ 987901250 h 576"/>
              <a:gd name="T2" fmla="*/ 2147483647 w 1872"/>
              <a:gd name="T3" fmla="*/ 1811152292 h 576"/>
              <a:gd name="T4" fmla="*/ 0 w 1872"/>
              <a:gd name="T5" fmla="*/ 0 h 576"/>
              <a:gd name="T6" fmla="*/ 0 60000 65536"/>
              <a:gd name="T7" fmla="*/ 0 60000 65536"/>
              <a:gd name="T8" fmla="*/ 0 60000 65536"/>
              <a:gd name="T9" fmla="*/ 0 w 1872"/>
              <a:gd name="T10" fmla="*/ 0 h 576"/>
              <a:gd name="T11" fmla="*/ 1872 w 1872"/>
              <a:gd name="T12" fmla="*/ 576 h 576"/>
            </a:gdLst>
            <a:ahLst/>
            <a:cxnLst>
              <a:cxn ang="T6">
                <a:pos x="T0" y="T1"/>
              </a:cxn>
              <a:cxn ang="T7">
                <a:pos x="T2" y="T3"/>
              </a:cxn>
              <a:cxn ang="T8">
                <a:pos x="T4" y="T5"/>
              </a:cxn>
            </a:cxnLst>
            <a:rect l="T9" t="T10" r="T11" b="T12"/>
            <a:pathLst>
              <a:path w="1872" h="576">
                <a:moveTo>
                  <a:pt x="1872" y="288"/>
                </a:moveTo>
                <a:cubicBezTo>
                  <a:pt x="1572" y="432"/>
                  <a:pt x="1272" y="576"/>
                  <a:pt x="960" y="528"/>
                </a:cubicBezTo>
                <a:cubicBezTo>
                  <a:pt x="648" y="480"/>
                  <a:pt x="324" y="240"/>
                  <a:pt x="0" y="0"/>
                </a:cubicBezTo>
              </a:path>
            </a:pathLst>
          </a:custGeom>
          <a:noFill/>
          <a:ln w="38100">
            <a:solidFill>
              <a:srgbClr val="0000FF"/>
            </a:solidFill>
            <a:round/>
            <a:headEnd/>
            <a:tailEnd type="triangle" w="med" len="med"/>
          </a:ln>
          <a:effectLst/>
          <a:extLst>
            <a:ext uri="{909E8E84-426E-40dd-AFC4-6F175D3DCCD1}">
              <a14:hiddenFill xmlns="" xmlns:a14="http://schemas.microsoft.com/office/drawing/2010/main">
                <a:solidFill>
                  <a:srgbClr val="FFFFFF"/>
                </a:solidFill>
              </a14:hiddenFill>
            </a:ext>
          </a:extLst>
        </p:spPr>
        <p:txBody>
          <a:bodyPr/>
          <a:lstStyle/>
          <a:p>
            <a:endParaRPr lang="en-US"/>
          </a:p>
        </p:txBody>
      </p:sp>
      <p:sp>
        <p:nvSpPr>
          <p:cNvPr id="1979418" name="Line 26"/>
          <p:cNvSpPr>
            <a:spLocks noChangeShapeType="1"/>
          </p:cNvSpPr>
          <p:nvPr/>
        </p:nvSpPr>
        <p:spPr bwMode="auto">
          <a:xfrm flipH="1">
            <a:off x="5486400" y="1838325"/>
            <a:ext cx="762000" cy="1143000"/>
          </a:xfrm>
          <a:prstGeom prst="line">
            <a:avLst/>
          </a:prstGeom>
          <a:noFill/>
          <a:ln w="28575" cap="rnd">
            <a:solidFill>
              <a:srgbClr val="FF0000"/>
            </a:solidFill>
            <a:prstDash val="sysDot"/>
            <a:round/>
            <a:headEnd/>
            <a:tailEnd type="triangle" w="med" len="med"/>
          </a:ln>
          <a:effectLst/>
          <a:extLst>
            <a:ext uri="{909E8E84-426E-40dd-AFC4-6F175D3DCCD1}">
              <a14:hiddenFill xmlns="" xmlns:a14="http://schemas.microsoft.com/office/drawing/2010/main">
                <a:noFill/>
              </a14:hiddenFill>
            </a:ext>
          </a:extLst>
        </p:spPr>
        <p:txBody>
          <a:bodyPr/>
          <a:lstStyle/>
          <a:p>
            <a:endParaRPr lang="en-US"/>
          </a:p>
        </p:txBody>
      </p:sp>
      <p:grpSp>
        <p:nvGrpSpPr>
          <p:cNvPr id="3" name="Group 36"/>
          <p:cNvGrpSpPr>
            <a:grpSpLocks/>
          </p:cNvGrpSpPr>
          <p:nvPr/>
        </p:nvGrpSpPr>
        <p:grpSpPr bwMode="auto">
          <a:xfrm>
            <a:off x="669925" y="1371600"/>
            <a:ext cx="2073275" cy="2066925"/>
            <a:chOff x="573" y="1578"/>
            <a:chExt cx="1306" cy="1302"/>
          </a:xfrm>
        </p:grpSpPr>
        <p:sp>
          <p:nvSpPr>
            <p:cNvPr id="61479" name="Line 38"/>
            <p:cNvSpPr>
              <a:spLocks noChangeShapeType="1"/>
            </p:cNvSpPr>
            <p:nvPr/>
          </p:nvSpPr>
          <p:spPr bwMode="auto">
            <a:xfrm>
              <a:off x="1344" y="1776"/>
              <a:ext cx="480" cy="672"/>
            </a:xfrm>
            <a:prstGeom prst="line">
              <a:avLst/>
            </a:prstGeom>
            <a:noFill/>
            <a:ln w="28575" cap="rnd">
              <a:solidFill>
                <a:srgbClr val="FF0000"/>
              </a:solidFill>
              <a:prstDash val="sysDot"/>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61480" name="Line 39"/>
            <p:cNvSpPr>
              <a:spLocks noChangeShapeType="1"/>
            </p:cNvSpPr>
            <p:nvPr/>
          </p:nvSpPr>
          <p:spPr bwMode="auto">
            <a:xfrm>
              <a:off x="1296" y="1776"/>
              <a:ext cx="384" cy="1104"/>
            </a:xfrm>
            <a:prstGeom prst="line">
              <a:avLst/>
            </a:prstGeom>
            <a:noFill/>
            <a:ln w="28575" cap="rnd">
              <a:solidFill>
                <a:srgbClr val="FF0000"/>
              </a:solidFill>
              <a:prstDash val="sysDot"/>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61478" name="Text Box 37"/>
            <p:cNvSpPr txBox="1">
              <a:spLocks noChangeArrowheads="1"/>
            </p:cNvSpPr>
            <p:nvPr/>
          </p:nvSpPr>
          <p:spPr bwMode="auto">
            <a:xfrm>
              <a:off x="573" y="1578"/>
              <a:ext cx="1306" cy="294"/>
            </a:xfrm>
            <a:prstGeom prst="rect">
              <a:avLst/>
            </a:prstGeom>
            <a:noFill/>
            <a:ln w="9525" cap="rnd">
              <a:noFill/>
              <a:prstDash val="sysDot"/>
              <a:miter lim="800000"/>
              <a:headEnd/>
              <a:tailEnd/>
            </a:ln>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eaLnBrk="1" hangingPunct="1"/>
              <a:r>
                <a:rPr lang="en-US" altLang="zh-CN" sz="2400" dirty="0">
                  <a:solidFill>
                    <a:srgbClr val="0000FF"/>
                  </a:solidFill>
                  <a:latin typeface="Arial" charset="0"/>
                  <a:ea typeface="宋体" charset="0"/>
                  <a:cs typeface="宋体" charset="0"/>
                </a:rPr>
                <a:t>Route export</a:t>
              </a:r>
            </a:p>
          </p:txBody>
        </p:sp>
      </p:grpSp>
      <p:sp>
        <p:nvSpPr>
          <p:cNvPr id="10" name="Freeform 9"/>
          <p:cNvSpPr/>
          <p:nvPr/>
        </p:nvSpPr>
        <p:spPr>
          <a:xfrm>
            <a:off x="1018158" y="2676525"/>
            <a:ext cx="7059042" cy="675826"/>
          </a:xfrm>
          <a:custGeom>
            <a:avLst/>
            <a:gdLst>
              <a:gd name="connsiteX0" fmla="*/ 0 w 7363842"/>
              <a:gd name="connsiteY0" fmla="*/ 229997 h 675826"/>
              <a:gd name="connsiteX1" fmla="*/ 2378048 w 7363842"/>
              <a:gd name="connsiteY1" fmla="*/ 581256 h 675826"/>
              <a:gd name="connsiteX2" fmla="*/ 5864050 w 7363842"/>
              <a:gd name="connsiteY2" fmla="*/ 327 h 675826"/>
              <a:gd name="connsiteX3" fmla="*/ 7363842 w 7363842"/>
              <a:gd name="connsiteY3" fmla="*/ 675826 h 675826"/>
            </a:gdLst>
            <a:ahLst/>
            <a:cxnLst>
              <a:cxn ang="0">
                <a:pos x="connsiteX0" y="connsiteY0"/>
              </a:cxn>
              <a:cxn ang="0">
                <a:pos x="connsiteX1" y="connsiteY1"/>
              </a:cxn>
              <a:cxn ang="0">
                <a:pos x="connsiteX2" y="connsiteY2"/>
              </a:cxn>
              <a:cxn ang="0">
                <a:pos x="connsiteX3" y="connsiteY3"/>
              </a:cxn>
            </a:cxnLst>
            <a:rect l="l" t="t" r="r" b="b"/>
            <a:pathLst>
              <a:path w="7363842" h="675826">
                <a:moveTo>
                  <a:pt x="0" y="229997"/>
                </a:moveTo>
                <a:cubicBezTo>
                  <a:pt x="700353" y="424765"/>
                  <a:pt x="1400706" y="619534"/>
                  <a:pt x="2378048" y="581256"/>
                </a:cubicBezTo>
                <a:cubicBezTo>
                  <a:pt x="3355390" y="542978"/>
                  <a:pt x="5033085" y="-15435"/>
                  <a:pt x="5864050" y="327"/>
                </a:cubicBezTo>
                <a:cubicBezTo>
                  <a:pt x="6695015" y="16089"/>
                  <a:pt x="7363842" y="675826"/>
                  <a:pt x="7363842" y="675826"/>
                </a:cubicBezTo>
              </a:path>
            </a:pathLst>
          </a:custGeom>
          <a:ln w="57150" cmpd="sng">
            <a:solidFill>
              <a:srgbClr val="D3A600"/>
            </a:solidFill>
            <a:prstDash val="dash"/>
            <a:headEnd type="none"/>
            <a:tailEnd type="triangle"/>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sp>
        <p:nvSpPr>
          <p:cNvPr id="9" name="Date Placeholder 8"/>
          <p:cNvSpPr>
            <a:spLocks noGrp="1"/>
          </p:cNvSpPr>
          <p:nvPr>
            <p:ph type="dt" sz="half" idx="10"/>
          </p:nvPr>
        </p:nvSpPr>
        <p:spPr/>
        <p:txBody>
          <a:bodyPr/>
          <a:lstStyle/>
          <a:p>
            <a:r>
              <a:rPr lang="en-US"/>
              <a:t>April 16, 2025</a:t>
            </a:r>
            <a:endParaRPr lang="en-US" sz="1050" b="0">
              <a:latin typeface="Times New Roman" charset="0"/>
            </a:endParaRPr>
          </a:p>
        </p:txBody>
      </p:sp>
      <p:sp>
        <p:nvSpPr>
          <p:cNvPr id="11" name="Footer Placeholder 10"/>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12" name="Slide Number Placeholder 11"/>
          <p:cNvSpPr>
            <a:spLocks noGrp="1"/>
          </p:cNvSpPr>
          <p:nvPr>
            <p:ph type="sldNum" sz="quarter" idx="12"/>
          </p:nvPr>
        </p:nvSpPr>
        <p:spPr/>
        <p:txBody>
          <a:bodyPr/>
          <a:lstStyle/>
          <a:p>
            <a:fld id="{9507A418-0CEB-9E4A-BA45-3B7D3D133EB9}" type="slidenum">
              <a:rPr lang="en-US" smtClean="0"/>
              <a:pPr/>
              <a:t>32</a:t>
            </a:fld>
            <a:endParaRPr lang="en-US"/>
          </a:p>
        </p:txBody>
      </p:sp>
    </p:spTree>
    <p:extLst>
      <p:ext uri="{BB962C8B-B14F-4D97-AF65-F5344CB8AC3E}">
        <p14:creationId xmlns:p14="http://schemas.microsoft.com/office/powerpoint/2010/main" val="536982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2" fill="hold" grpId="0" nodeType="clickEffect">
                                  <p:stCondLst>
                                    <p:cond delay="0"/>
                                  </p:stCondLst>
                                  <p:childTnLst>
                                    <p:set>
                                      <p:cBhvr>
                                        <p:cTn id="10" dur="1" fill="hold">
                                          <p:stCondLst>
                                            <p:cond delay="0"/>
                                          </p:stCondLst>
                                        </p:cTn>
                                        <p:tgtEl>
                                          <p:spTgt spid="1979419"/>
                                        </p:tgtEl>
                                        <p:attrNameLst>
                                          <p:attrName>style.visibility</p:attrName>
                                        </p:attrNameLst>
                                      </p:cBhvr>
                                      <p:to>
                                        <p:strVal val="visible"/>
                                      </p:to>
                                    </p:set>
                                    <p:animEffect transition="in" filter="wipe(right)">
                                      <p:cBhvr>
                                        <p:cTn id="11" dur="500"/>
                                        <p:tgtEl>
                                          <p:spTgt spid="1979419"/>
                                        </p:tgtEl>
                                      </p:cBhvr>
                                    </p:animEffect>
                                  </p:childTnLst>
                                </p:cTn>
                              </p:par>
                              <p:par>
                                <p:cTn id="12" presetID="22" presetClass="entr" presetSubtype="2" fill="hold" grpId="0" nodeType="withEffect">
                                  <p:stCondLst>
                                    <p:cond delay="0"/>
                                  </p:stCondLst>
                                  <p:childTnLst>
                                    <p:set>
                                      <p:cBhvr>
                                        <p:cTn id="13" dur="1" fill="hold">
                                          <p:stCondLst>
                                            <p:cond delay="0"/>
                                          </p:stCondLst>
                                        </p:cTn>
                                        <p:tgtEl>
                                          <p:spTgt spid="1979420"/>
                                        </p:tgtEl>
                                        <p:attrNameLst>
                                          <p:attrName>style.visibility</p:attrName>
                                        </p:attrNameLst>
                                      </p:cBhvr>
                                      <p:to>
                                        <p:strVal val="visible"/>
                                      </p:to>
                                    </p:set>
                                    <p:animEffect transition="in" filter="wipe(right)">
                                      <p:cBhvr>
                                        <p:cTn id="14" dur="500"/>
                                        <p:tgtEl>
                                          <p:spTgt spid="1979420"/>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794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794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2" presetClass="entr" presetSubtype="2" fill="hold" grpId="0" nodeType="clickEffect">
                                  <p:stCondLst>
                                    <p:cond delay="0"/>
                                  </p:stCondLst>
                                  <p:childTnLst>
                                    <p:set>
                                      <p:cBhvr>
                                        <p:cTn id="24" dur="1" fill="hold">
                                          <p:stCondLst>
                                            <p:cond delay="0"/>
                                          </p:stCondLst>
                                        </p:cTn>
                                        <p:tgtEl>
                                          <p:spTgt spid="1979424"/>
                                        </p:tgtEl>
                                        <p:attrNameLst>
                                          <p:attrName>style.visibility</p:attrName>
                                        </p:attrNameLst>
                                      </p:cBhvr>
                                      <p:to>
                                        <p:strVal val="visible"/>
                                      </p:to>
                                    </p:set>
                                    <p:animEffect transition="in" filter="wipe(right)">
                                      <p:cBhvr>
                                        <p:cTn id="25" dur="500"/>
                                        <p:tgtEl>
                                          <p:spTgt spid="1979424"/>
                                        </p:tgtEl>
                                      </p:cBhvr>
                                    </p:animEffect>
                                  </p:childTnLst>
                                </p:cTn>
                              </p:par>
                              <p:par>
                                <p:cTn id="26" presetID="22" presetClass="entr" presetSubtype="2" fill="hold" grpId="0" nodeType="withEffect">
                                  <p:stCondLst>
                                    <p:cond delay="0"/>
                                  </p:stCondLst>
                                  <p:childTnLst>
                                    <p:set>
                                      <p:cBhvr>
                                        <p:cTn id="27" dur="1" fill="hold">
                                          <p:stCondLst>
                                            <p:cond delay="0"/>
                                          </p:stCondLst>
                                        </p:cTn>
                                        <p:tgtEl>
                                          <p:spTgt spid="1979434"/>
                                        </p:tgtEl>
                                        <p:attrNameLst>
                                          <p:attrName>style.visibility</p:attrName>
                                        </p:attrNameLst>
                                      </p:cBhvr>
                                      <p:to>
                                        <p:strVal val="visible"/>
                                      </p:to>
                                    </p:set>
                                    <p:animEffect transition="in" filter="wipe(right)">
                                      <p:cBhvr>
                                        <p:cTn id="28" dur="500"/>
                                        <p:tgtEl>
                                          <p:spTgt spid="1979434"/>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gtEl>
                                        <p:attrNameLst>
                                          <p:attrName>style.visibility</p:attrName>
                                        </p:attrNameLst>
                                      </p:cBhvr>
                                      <p:to>
                                        <p:strVal val="visible"/>
                                      </p:to>
                                    </p:set>
                                  </p:childTnLst>
                                </p:cTn>
                              </p:par>
                            </p:childTnLst>
                          </p:cTn>
                        </p:par>
                        <p:par>
                          <p:cTn id="33" fill="hold">
                            <p:stCondLst>
                              <p:cond delay="0"/>
                            </p:stCondLst>
                            <p:childTnLst>
                              <p:par>
                                <p:cTn id="34" presetID="18" presetClass="entr" presetSubtype="12" fill="hold" nodeType="afterEffect">
                                  <p:stCondLst>
                                    <p:cond delay="100"/>
                                  </p:stCondLst>
                                  <p:childTnLst>
                                    <p:set>
                                      <p:cBhvr>
                                        <p:cTn id="35" dur="1" fill="hold">
                                          <p:stCondLst>
                                            <p:cond delay="0"/>
                                          </p:stCondLst>
                                        </p:cTn>
                                        <p:tgtEl>
                                          <p:spTgt spid="4"/>
                                        </p:tgtEl>
                                        <p:attrNameLst>
                                          <p:attrName>style.visibility</p:attrName>
                                        </p:attrNameLst>
                                      </p:cBhvr>
                                      <p:to>
                                        <p:strVal val="visible"/>
                                      </p:to>
                                    </p:set>
                                    <p:animEffect transition="in" filter="strips(downLeft)">
                                      <p:cBhvr>
                                        <p:cTn id="36" dur="5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1" dur="5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2">
                                            <p:txEl>
                                              <p:pRg st="0" end="0"/>
                                            </p:txEl>
                                          </p:spTgt>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2">
                                            <p:txEl>
                                              <p:pRg st="2" end="2"/>
                                            </p:txEl>
                                          </p:spTgt>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1979417" grpId="0" animBg="1"/>
      <p:bldP spid="1979424" grpId="0" animBg="1"/>
      <p:bldP spid="1979434" grpId="0" animBg="1"/>
      <p:bldP spid="1979419" grpId="0" animBg="1"/>
      <p:bldP spid="1979420" grpId="0" animBg="1"/>
      <p:bldP spid="1979418" grpId="0" animBg="1"/>
      <p:bldP spid="10"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Typical export policy</a:t>
            </a:r>
          </a:p>
        </p:txBody>
      </p:sp>
      <p:graphicFrame>
        <p:nvGraphicFramePr>
          <p:cNvPr id="5" name="Table 4"/>
          <p:cNvGraphicFramePr>
            <a:graphicFrameLocks noGrp="1"/>
          </p:cNvGraphicFramePr>
          <p:nvPr/>
        </p:nvGraphicFramePr>
        <p:xfrm>
          <a:off x="685800" y="1778001"/>
          <a:ext cx="7772400" cy="2993683"/>
        </p:xfrm>
        <a:graphic>
          <a:graphicData uri="http://schemas.openxmlformats.org/drawingml/2006/table">
            <a:tbl>
              <a:tblPr firstRow="1" bandRow="1">
                <a:tableStyleId>{284E427A-3D55-4303-BF80-6455036E1DE7}</a:tableStyleId>
              </a:tblPr>
              <a:tblGrid>
                <a:gridCol w="388620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tblGrid>
              <a:tr h="699476">
                <a:tc>
                  <a:txBody>
                    <a:bodyPr/>
                    <a:lstStyle/>
                    <a:p>
                      <a:pPr algn="ctr"/>
                      <a:r>
                        <a:rPr lang="en-US" sz="2400" dirty="0"/>
                        <a:t>Destination</a:t>
                      </a:r>
                      <a:r>
                        <a:rPr lang="en-US" sz="2400" baseline="0" dirty="0"/>
                        <a:t> prefix advertised by…</a:t>
                      </a:r>
                      <a:endParaRPr lang="en-US" sz="2400" dirty="0"/>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tx1"/>
                    </a:solidFill>
                  </a:tcPr>
                </a:tc>
                <a:tc>
                  <a:txBody>
                    <a:bodyPr/>
                    <a:lstStyle/>
                    <a:p>
                      <a:pPr algn="ctr"/>
                      <a:r>
                        <a:rPr lang="en-US" sz="2400" dirty="0"/>
                        <a:t>Export route to…</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010355">
                <a:tc>
                  <a:txBody>
                    <a:bodyPr/>
                    <a:lstStyle/>
                    <a:p>
                      <a:pPr algn="ctr"/>
                      <a:r>
                        <a:rPr lang="en-US" sz="2400" dirty="0">
                          <a:solidFill>
                            <a:schemeClr val="accent2"/>
                          </a:solidFill>
                        </a:rPr>
                        <a:t>Customer</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bg1"/>
                    </a:solidFill>
                  </a:tcPr>
                </a:tc>
                <a:tc>
                  <a:txBody>
                    <a:bodyPr/>
                    <a:lstStyle/>
                    <a:p>
                      <a:pPr algn="ctr"/>
                      <a:r>
                        <a:rPr lang="en-US" sz="2400" dirty="0">
                          <a:solidFill>
                            <a:schemeClr val="accent2"/>
                          </a:solidFill>
                        </a:rPr>
                        <a:t>Everyone</a:t>
                      </a:r>
                      <a:r>
                        <a:rPr lang="en-US" sz="2400" baseline="0" dirty="0">
                          <a:solidFill>
                            <a:schemeClr val="accent2"/>
                          </a:solidFill>
                        </a:rPr>
                        <a:t> </a:t>
                      </a:r>
                      <a:r>
                        <a:rPr lang="en-US" sz="2400" dirty="0">
                          <a:solidFill>
                            <a:schemeClr val="accent2"/>
                          </a:solidFill>
                        </a:rPr>
                        <a:t>(providers, peers, other customers)</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80184">
                <a:tc>
                  <a:txBody>
                    <a:bodyPr/>
                    <a:lstStyle/>
                    <a:p>
                      <a:pPr algn="ctr"/>
                      <a:r>
                        <a:rPr lang="en-US" sz="2400" dirty="0">
                          <a:solidFill>
                            <a:schemeClr val="accent2"/>
                          </a:solidFill>
                        </a:rPr>
                        <a:t>Peer</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bg1"/>
                    </a:solidFill>
                  </a:tcPr>
                </a:tc>
                <a:tc>
                  <a:txBody>
                    <a:bodyPr/>
                    <a:lstStyle/>
                    <a:p>
                      <a:pPr algn="ctr"/>
                      <a:r>
                        <a:rPr lang="en-US" sz="2400" dirty="0">
                          <a:solidFill>
                            <a:schemeClr val="accent2"/>
                          </a:solidFill>
                        </a:rPr>
                        <a:t>Customers</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80184">
                <a:tc>
                  <a:txBody>
                    <a:bodyPr/>
                    <a:lstStyle/>
                    <a:p>
                      <a:pPr algn="ctr"/>
                      <a:r>
                        <a:rPr lang="en-US" sz="2400" dirty="0">
                          <a:solidFill>
                            <a:schemeClr val="accent2"/>
                          </a:solidFill>
                        </a:rPr>
                        <a:t>Provider</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bg1"/>
                    </a:solidFill>
                  </a:tcPr>
                </a:tc>
                <a:tc>
                  <a:txBody>
                    <a:bodyPr/>
                    <a:lstStyle/>
                    <a:p>
                      <a:pPr algn="ctr"/>
                      <a:r>
                        <a:rPr lang="en-US" sz="2400" dirty="0">
                          <a:solidFill>
                            <a:schemeClr val="accent2"/>
                          </a:solidFill>
                        </a:rPr>
                        <a:t>Customers</a:t>
                      </a:r>
                    </a:p>
                  </a:txBody>
                  <a:tcPr anchor="ctr">
                    <a:lnL w="12700" cap="flat" cmpd="sng" algn="ctr">
                      <a:solidFill>
                        <a:scrgbClr r="0" g="0" b="0"/>
                      </a:solidFill>
                      <a:prstDash val="solid"/>
                      <a:round/>
                      <a:headEnd type="none" w="med" len="med"/>
                      <a:tailEnd type="none" w="med" len="med"/>
                    </a:lnL>
                    <a:lnR w="12700" cap="flat" cmpd="sng" algn="ctr">
                      <a:solidFill>
                        <a:scrgbClr r="0" g="0" b="0"/>
                      </a:solidFill>
                      <a:prstDash val="solid"/>
                      <a:round/>
                      <a:headEnd type="none" w="med" len="med"/>
                      <a:tailEnd type="none" w="med" len="med"/>
                    </a:lnR>
                    <a:lnT w="12700" cap="flat" cmpd="sng" algn="ctr">
                      <a:solidFill>
                        <a:scrgbClr r="0" g="0" b="0"/>
                      </a:solidFill>
                      <a:prstDash val="solid"/>
                      <a:round/>
                      <a:headEnd type="none" w="med" len="med"/>
                      <a:tailEnd type="none" w="med" len="med"/>
                    </a:lnT>
                    <a:lnB w="12700" cap="flat" cmpd="sng" algn="ctr">
                      <a:solidFill>
                        <a:scrgbClr r="0" g="0" b="0"/>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 name="Rounded Rectangle 5"/>
          <p:cNvSpPr/>
          <p:nvPr/>
        </p:nvSpPr>
        <p:spPr bwMode="auto">
          <a:xfrm>
            <a:off x="1143000" y="4953000"/>
            <a:ext cx="6858000" cy="914400"/>
          </a:xfrm>
          <a:prstGeom prst="roundRect">
            <a:avLst/>
          </a:prstGeom>
          <a:solidFill>
            <a:schemeClr val="tx1"/>
          </a:solidFill>
          <a:ln>
            <a:headEnd type="none" w="med" len="med"/>
            <a:tailEnd type="none" w="med" len="med"/>
          </a:ln>
        </p:spPr>
        <p:style>
          <a:lnRef idx="2">
            <a:schemeClr val="dk1">
              <a:shade val="50000"/>
            </a:schemeClr>
          </a:lnRef>
          <a:fillRef idx="1">
            <a:schemeClr val="dk1"/>
          </a:fillRef>
          <a:effectRef idx="0">
            <a:schemeClr val="dk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2400" b="0" i="0" u="none" strike="noStrike" cap="none" normalizeH="0" baseline="0" dirty="0">
                <a:ln>
                  <a:noFill/>
                </a:ln>
                <a:solidFill>
                  <a:schemeClr val="bg1"/>
                </a:solidFill>
                <a:effectLst/>
                <a:latin typeface="+mn-lt"/>
              </a:rPr>
              <a:t>We’ll refer to these as the “</a:t>
            </a:r>
            <a:r>
              <a:rPr kumimoji="0" lang="en-US" sz="2400" b="0" i="0" u="none" strike="noStrike" cap="none" normalizeH="0" baseline="0" dirty="0" err="1">
                <a:ln>
                  <a:noFill/>
                </a:ln>
                <a:solidFill>
                  <a:schemeClr val="bg1"/>
                </a:solidFill>
                <a:effectLst/>
                <a:latin typeface="+mn-lt"/>
              </a:rPr>
              <a:t>Gao</a:t>
            </a:r>
            <a:r>
              <a:rPr lang="en-US" sz="2400" b="0" dirty="0">
                <a:solidFill>
                  <a:schemeClr val="bg1"/>
                </a:solidFill>
                <a:latin typeface="+mn-lt"/>
              </a:rPr>
              <a:t>-Rexford” rules</a:t>
            </a:r>
          </a:p>
          <a:p>
            <a:pPr algn="ctr"/>
            <a:r>
              <a:rPr kumimoji="0" lang="en-US" sz="2400" b="0" i="0" u="none" strike="noStrike" cap="none" normalizeH="0" baseline="0" dirty="0">
                <a:ln>
                  <a:noFill/>
                </a:ln>
                <a:solidFill>
                  <a:schemeClr val="bg1"/>
                </a:solidFill>
                <a:effectLst/>
              </a:rPr>
              <a:t>(capture</a:t>
            </a:r>
            <a:r>
              <a:rPr kumimoji="0" lang="en-US" sz="2400" b="0" i="0" u="none" strike="noStrike" cap="none" normalizeH="0" dirty="0">
                <a:ln>
                  <a:noFill/>
                </a:ln>
                <a:solidFill>
                  <a:schemeClr val="bg1"/>
                </a:solidFill>
                <a:effectLst/>
              </a:rPr>
              <a:t> common </a:t>
            </a:r>
            <a:r>
              <a:rPr lang="en-US" sz="2400" b="0" dirty="0">
                <a:solidFill>
                  <a:srgbClr val="D3A600"/>
                </a:solidFill>
              </a:rPr>
              <a:t>– </a:t>
            </a:r>
            <a:r>
              <a:rPr kumimoji="0" lang="en-US" sz="2400" b="0" i="0" u="none" strike="noStrike" cap="none" normalizeH="0" dirty="0">
                <a:ln>
                  <a:noFill/>
                </a:ln>
                <a:solidFill>
                  <a:srgbClr val="D3A600"/>
                </a:solidFill>
                <a:effectLst/>
              </a:rPr>
              <a:t>but not required! </a:t>
            </a:r>
            <a:r>
              <a:rPr lang="en-US" sz="2400" b="0" dirty="0">
                <a:solidFill>
                  <a:srgbClr val="D3A600"/>
                </a:solidFill>
              </a:rPr>
              <a:t>–</a:t>
            </a:r>
            <a:r>
              <a:rPr kumimoji="0" lang="en-US" sz="2400" b="0" i="0" u="none" strike="noStrike" cap="none" normalizeH="0" dirty="0">
                <a:ln>
                  <a:noFill/>
                </a:ln>
                <a:solidFill>
                  <a:srgbClr val="FF0000"/>
                </a:solidFill>
                <a:effectLst/>
              </a:rPr>
              <a:t> </a:t>
            </a:r>
            <a:r>
              <a:rPr kumimoji="0" lang="en-US" sz="2400" b="0" i="0" u="none" strike="noStrike" cap="none" normalizeH="0" dirty="0">
                <a:ln>
                  <a:noFill/>
                </a:ln>
                <a:solidFill>
                  <a:srgbClr val="FFFFFF"/>
                </a:solidFill>
                <a:effectLst/>
              </a:rPr>
              <a:t>practice</a:t>
            </a:r>
            <a:r>
              <a:rPr kumimoji="0" lang="en-US" sz="2400" b="0" i="0" u="none" strike="noStrike" cap="none" normalizeH="0" dirty="0">
                <a:ln>
                  <a:noFill/>
                </a:ln>
                <a:solidFill>
                  <a:schemeClr val="bg1"/>
                </a:solidFill>
                <a:effectLst/>
              </a:rPr>
              <a:t>)</a:t>
            </a:r>
            <a:endParaRPr kumimoji="0" lang="en-US" sz="2400" b="0" i="0" u="none" strike="noStrike" cap="none" normalizeH="0" baseline="0" dirty="0">
              <a:ln>
                <a:noFill/>
              </a:ln>
              <a:solidFill>
                <a:schemeClr val="bg1"/>
              </a:solidFill>
              <a:effectLst/>
              <a:latin typeface="+mn-lt"/>
            </a:endParaRP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9507A418-0CEB-9E4A-BA45-3B7D3D133EB9}" type="slidenum">
              <a:rPr lang="en-US" smtClean="0"/>
              <a:pPr/>
              <a:t>33</a:t>
            </a:fld>
            <a:endParaRPr lang="en-US"/>
          </a:p>
        </p:txBody>
      </p:sp>
    </p:spTree>
    <p:extLst>
      <p:ext uri="{BB962C8B-B14F-4D97-AF65-F5344CB8AC3E}">
        <p14:creationId xmlns:p14="http://schemas.microsoft.com/office/powerpoint/2010/main" val="381259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Selection using attributes</a:t>
            </a:r>
          </a:p>
        </p:txBody>
      </p:sp>
      <p:sp>
        <p:nvSpPr>
          <p:cNvPr id="3" name="Content Placeholder 2"/>
          <p:cNvSpPr>
            <a:spLocks noGrp="1"/>
          </p:cNvSpPr>
          <p:nvPr>
            <p:ph idx="1"/>
          </p:nvPr>
        </p:nvSpPr>
        <p:spPr/>
        <p:txBody>
          <a:bodyPr/>
          <a:lstStyle/>
          <a:p>
            <a:r>
              <a:rPr lang="en-US"/>
              <a:t>Rules for route selection in priority order</a:t>
            </a:r>
            <a:endParaRPr lang="en-US" dirty="0"/>
          </a:p>
        </p:txBody>
      </p:sp>
      <p:graphicFrame>
        <p:nvGraphicFramePr>
          <p:cNvPr id="4" name="Table 3"/>
          <p:cNvGraphicFramePr>
            <a:graphicFrameLocks noGrp="1"/>
          </p:cNvGraphicFramePr>
          <p:nvPr/>
        </p:nvGraphicFramePr>
        <p:xfrm>
          <a:off x="1066800" y="2590800"/>
          <a:ext cx="7010400" cy="3403600"/>
        </p:xfrm>
        <a:graphic>
          <a:graphicData uri="http://schemas.openxmlformats.org/drawingml/2006/table">
            <a:tbl>
              <a:tblPr firstRow="1" bandRow="1">
                <a:tableStyleId>{08FB837D-C827-4EFA-A057-4D05807E0F7C}</a:tableStyleId>
              </a:tblPr>
              <a:tblGrid>
                <a:gridCol w="9906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505200">
                  <a:extLst>
                    <a:ext uri="{9D8B030D-6E8A-4147-A177-3AD203B41FA5}">
                      <a16:colId xmlns:a16="http://schemas.microsoft.com/office/drawing/2014/main" val="20002"/>
                    </a:ext>
                  </a:extLst>
                </a:gridCol>
              </a:tblGrid>
              <a:tr h="370840">
                <a:tc>
                  <a:txBody>
                    <a:bodyPr/>
                    <a:lstStyle/>
                    <a:p>
                      <a:r>
                        <a:rPr lang="en-US" sz="1800" dirty="0"/>
                        <a:t>Priority</a:t>
                      </a:r>
                    </a:p>
                  </a:txBody>
                  <a:tcPr>
                    <a:solidFill>
                      <a:schemeClr val="tx1"/>
                    </a:solidFill>
                  </a:tcPr>
                </a:tc>
                <a:tc>
                  <a:txBody>
                    <a:bodyPr/>
                    <a:lstStyle/>
                    <a:p>
                      <a:r>
                        <a:rPr lang="en-US" sz="1800" dirty="0"/>
                        <a:t>Rule</a:t>
                      </a:r>
                    </a:p>
                  </a:txBody>
                  <a:tcPr>
                    <a:solidFill>
                      <a:schemeClr val="tx1"/>
                    </a:solidFill>
                  </a:tcPr>
                </a:tc>
                <a:tc>
                  <a:txBody>
                    <a:bodyPr/>
                    <a:lstStyle/>
                    <a:p>
                      <a:r>
                        <a:rPr lang="en-US" sz="1800" dirty="0"/>
                        <a:t>Remarks</a:t>
                      </a:r>
                    </a:p>
                  </a:txBody>
                  <a:tcPr>
                    <a:solidFill>
                      <a:schemeClr val="tx1"/>
                    </a:solidFill>
                  </a:tcPr>
                </a:tc>
                <a:extLst>
                  <a:ext uri="{0D108BD9-81ED-4DB2-BD59-A6C34878D82A}">
                    <a16:rowId xmlns:a16="http://schemas.microsoft.com/office/drawing/2014/main" val="10000"/>
                  </a:ext>
                </a:extLst>
              </a:tr>
              <a:tr h="370840">
                <a:tc>
                  <a:txBody>
                    <a:bodyPr/>
                    <a:lstStyle/>
                    <a:p>
                      <a:r>
                        <a:rPr lang="en-US" sz="1800" dirty="0">
                          <a:solidFill>
                            <a:schemeClr val="accent2"/>
                          </a:solidFill>
                        </a:rPr>
                        <a:t>1</a:t>
                      </a:r>
                    </a:p>
                  </a:txBody>
                  <a:tcPr>
                    <a:solidFill>
                      <a:schemeClr val="bg1"/>
                    </a:solidFill>
                  </a:tcPr>
                </a:tc>
                <a:tc>
                  <a:txBody>
                    <a:bodyPr/>
                    <a:lstStyle/>
                    <a:p>
                      <a:r>
                        <a:rPr lang="en-US" sz="1800" dirty="0">
                          <a:solidFill>
                            <a:schemeClr val="accent2"/>
                          </a:solidFill>
                        </a:rPr>
                        <a:t>LOCAL PREF</a:t>
                      </a:r>
                    </a:p>
                  </a:txBody>
                  <a:tcPr>
                    <a:solidFill>
                      <a:schemeClr val="bg1"/>
                    </a:solidFill>
                  </a:tcPr>
                </a:tc>
                <a:tc>
                  <a:txBody>
                    <a:bodyPr/>
                    <a:lstStyle/>
                    <a:p>
                      <a:r>
                        <a:rPr lang="en-US" sz="1800" dirty="0">
                          <a:solidFill>
                            <a:schemeClr val="accent2"/>
                          </a:solidFill>
                        </a:rPr>
                        <a:t>Pick highest LOCAL</a:t>
                      </a:r>
                      <a:r>
                        <a:rPr lang="en-US" sz="1800" baseline="0" dirty="0">
                          <a:solidFill>
                            <a:schemeClr val="accent2"/>
                          </a:solidFill>
                        </a:rPr>
                        <a:t> PREF</a:t>
                      </a:r>
                      <a:endParaRPr lang="en-US" sz="1800" dirty="0">
                        <a:solidFill>
                          <a:schemeClr val="accent2"/>
                        </a:solidFill>
                      </a:endParaRPr>
                    </a:p>
                  </a:txBody>
                  <a:tcPr>
                    <a:solidFill>
                      <a:schemeClr val="bg1"/>
                    </a:solidFill>
                  </a:tcPr>
                </a:tc>
                <a:extLst>
                  <a:ext uri="{0D108BD9-81ED-4DB2-BD59-A6C34878D82A}">
                    <a16:rowId xmlns:a16="http://schemas.microsoft.com/office/drawing/2014/main" val="10001"/>
                  </a:ext>
                </a:extLst>
              </a:tr>
              <a:tr h="370840">
                <a:tc>
                  <a:txBody>
                    <a:bodyPr/>
                    <a:lstStyle/>
                    <a:p>
                      <a:r>
                        <a:rPr lang="en-US" sz="1800" dirty="0">
                          <a:solidFill>
                            <a:schemeClr val="accent2"/>
                          </a:solidFill>
                        </a:rPr>
                        <a:t>2</a:t>
                      </a:r>
                    </a:p>
                  </a:txBody>
                  <a:tcPr>
                    <a:solidFill>
                      <a:schemeClr val="bg1"/>
                    </a:solidFill>
                  </a:tcPr>
                </a:tc>
                <a:tc>
                  <a:txBody>
                    <a:bodyPr/>
                    <a:lstStyle/>
                    <a:p>
                      <a:r>
                        <a:rPr lang="en-US" sz="1800" dirty="0">
                          <a:solidFill>
                            <a:schemeClr val="accent2"/>
                          </a:solidFill>
                        </a:rPr>
                        <a:t>ASPATH</a:t>
                      </a:r>
                    </a:p>
                  </a:txBody>
                  <a:tcPr>
                    <a:solidFill>
                      <a:schemeClr val="bg1"/>
                    </a:solidFill>
                  </a:tcPr>
                </a:tc>
                <a:tc>
                  <a:txBody>
                    <a:bodyPr/>
                    <a:lstStyle/>
                    <a:p>
                      <a:r>
                        <a:rPr lang="en-US" sz="1800" dirty="0">
                          <a:solidFill>
                            <a:schemeClr val="accent2"/>
                          </a:solidFill>
                        </a:rPr>
                        <a:t>Pick shortest ASPATH</a:t>
                      </a:r>
                      <a:r>
                        <a:rPr lang="en-US" sz="1800" baseline="0" dirty="0">
                          <a:solidFill>
                            <a:schemeClr val="accent2"/>
                          </a:solidFill>
                        </a:rPr>
                        <a:t> length</a:t>
                      </a:r>
                      <a:endParaRPr lang="en-US" sz="1800" dirty="0">
                        <a:solidFill>
                          <a:schemeClr val="accent2"/>
                        </a:solidFill>
                      </a:endParaRPr>
                    </a:p>
                  </a:txBody>
                  <a:tcPr>
                    <a:solidFill>
                      <a:schemeClr val="bg1"/>
                    </a:solidFill>
                  </a:tcPr>
                </a:tc>
                <a:extLst>
                  <a:ext uri="{0D108BD9-81ED-4DB2-BD59-A6C34878D82A}">
                    <a16:rowId xmlns:a16="http://schemas.microsoft.com/office/drawing/2014/main" val="10002"/>
                  </a:ext>
                </a:extLst>
              </a:tr>
              <a:tr h="370840">
                <a:tc>
                  <a:txBody>
                    <a:bodyPr/>
                    <a:lstStyle/>
                    <a:p>
                      <a:r>
                        <a:rPr lang="en-US" sz="1800" dirty="0">
                          <a:solidFill>
                            <a:schemeClr val="accent2"/>
                          </a:solidFill>
                        </a:rPr>
                        <a:t>3</a:t>
                      </a:r>
                    </a:p>
                  </a:txBody>
                  <a:tcPr>
                    <a:solidFill>
                      <a:schemeClr val="bg1"/>
                    </a:solidFill>
                  </a:tcPr>
                </a:tc>
                <a:tc>
                  <a:txBody>
                    <a:bodyPr/>
                    <a:lstStyle/>
                    <a:p>
                      <a:r>
                        <a:rPr lang="en-US" sz="1800" dirty="0">
                          <a:solidFill>
                            <a:schemeClr val="accent2"/>
                          </a:solidFill>
                        </a:rPr>
                        <a:t>MED</a:t>
                      </a:r>
                    </a:p>
                  </a:txBody>
                  <a:tcPr>
                    <a:solidFill>
                      <a:schemeClr val="bg1"/>
                    </a:solidFill>
                  </a:tcPr>
                </a:tc>
                <a:tc>
                  <a:txBody>
                    <a:bodyPr/>
                    <a:lstStyle/>
                    <a:p>
                      <a:r>
                        <a:rPr lang="en-US" sz="1800" dirty="0">
                          <a:solidFill>
                            <a:schemeClr val="accent2"/>
                          </a:solidFill>
                        </a:rPr>
                        <a:t>Lowest MED preferred</a:t>
                      </a:r>
                    </a:p>
                  </a:txBody>
                  <a:tcPr>
                    <a:solidFill>
                      <a:schemeClr val="bg1"/>
                    </a:solidFill>
                  </a:tcPr>
                </a:tc>
                <a:extLst>
                  <a:ext uri="{0D108BD9-81ED-4DB2-BD59-A6C34878D82A}">
                    <a16:rowId xmlns:a16="http://schemas.microsoft.com/office/drawing/2014/main" val="10003"/>
                  </a:ext>
                </a:extLst>
              </a:tr>
              <a:tr h="370840">
                <a:tc>
                  <a:txBody>
                    <a:bodyPr/>
                    <a:lstStyle/>
                    <a:p>
                      <a:r>
                        <a:rPr lang="en-US" sz="1800" dirty="0">
                          <a:solidFill>
                            <a:schemeClr val="accent2"/>
                          </a:solidFill>
                        </a:rPr>
                        <a:t>4</a:t>
                      </a:r>
                    </a:p>
                  </a:txBody>
                  <a:tcPr>
                    <a:solidFill>
                      <a:schemeClr val="bg1"/>
                    </a:solidFill>
                  </a:tcPr>
                </a:tc>
                <a:tc>
                  <a:txBody>
                    <a:bodyPr/>
                    <a:lstStyle/>
                    <a:p>
                      <a:r>
                        <a:rPr lang="en-US" sz="1800" dirty="0" err="1">
                          <a:solidFill>
                            <a:schemeClr val="accent2"/>
                          </a:solidFill>
                        </a:rPr>
                        <a:t>eBGP</a:t>
                      </a:r>
                      <a:r>
                        <a:rPr lang="en-US" sz="1800" dirty="0">
                          <a:solidFill>
                            <a:schemeClr val="accent2"/>
                          </a:solidFill>
                        </a:rPr>
                        <a:t> &gt; </a:t>
                      </a:r>
                      <a:r>
                        <a:rPr lang="en-US" sz="1800" dirty="0" err="1">
                          <a:solidFill>
                            <a:schemeClr val="accent2"/>
                          </a:solidFill>
                        </a:rPr>
                        <a:t>iBGP</a:t>
                      </a:r>
                      <a:endParaRPr lang="en-US" sz="1800" dirty="0">
                        <a:solidFill>
                          <a:schemeClr val="accent2"/>
                        </a:solidFill>
                      </a:endParaRPr>
                    </a:p>
                  </a:txBody>
                  <a:tcPr>
                    <a:solidFill>
                      <a:schemeClr val="bg1"/>
                    </a:solidFill>
                  </a:tcPr>
                </a:tc>
                <a:tc>
                  <a:txBody>
                    <a:bodyPr/>
                    <a:lstStyle/>
                    <a:p>
                      <a:r>
                        <a:rPr lang="en-US" sz="1800" dirty="0">
                          <a:solidFill>
                            <a:schemeClr val="accent2"/>
                          </a:solidFill>
                        </a:rPr>
                        <a:t>Did AS learn route via </a:t>
                      </a:r>
                      <a:r>
                        <a:rPr lang="en-US" sz="1800" dirty="0" err="1">
                          <a:solidFill>
                            <a:schemeClr val="accent2"/>
                          </a:solidFill>
                        </a:rPr>
                        <a:t>eBGP</a:t>
                      </a:r>
                      <a:r>
                        <a:rPr lang="en-US" sz="1800" dirty="0">
                          <a:solidFill>
                            <a:schemeClr val="accent2"/>
                          </a:solidFill>
                        </a:rPr>
                        <a:t> (preferred)</a:t>
                      </a:r>
                      <a:r>
                        <a:rPr lang="en-US" sz="1800" baseline="0" dirty="0">
                          <a:solidFill>
                            <a:schemeClr val="accent2"/>
                          </a:solidFill>
                        </a:rPr>
                        <a:t> or </a:t>
                      </a:r>
                      <a:r>
                        <a:rPr lang="en-US" sz="1800" baseline="0" dirty="0" err="1">
                          <a:solidFill>
                            <a:schemeClr val="accent2"/>
                          </a:solidFill>
                        </a:rPr>
                        <a:t>iBGP</a:t>
                      </a:r>
                      <a:r>
                        <a:rPr lang="en-US" sz="1800" baseline="0" dirty="0">
                          <a:solidFill>
                            <a:schemeClr val="accent2"/>
                          </a:solidFill>
                        </a:rPr>
                        <a:t>?</a:t>
                      </a:r>
                      <a:endParaRPr lang="en-US" sz="1800" dirty="0">
                        <a:solidFill>
                          <a:schemeClr val="accent2"/>
                        </a:solidFill>
                      </a:endParaRPr>
                    </a:p>
                  </a:txBody>
                  <a:tcPr>
                    <a:solidFill>
                      <a:schemeClr val="bg1"/>
                    </a:solidFill>
                  </a:tcPr>
                </a:tc>
                <a:extLst>
                  <a:ext uri="{0D108BD9-81ED-4DB2-BD59-A6C34878D82A}">
                    <a16:rowId xmlns:a16="http://schemas.microsoft.com/office/drawing/2014/main" val="10004"/>
                  </a:ext>
                </a:extLst>
              </a:tr>
              <a:tr h="370840">
                <a:tc>
                  <a:txBody>
                    <a:bodyPr/>
                    <a:lstStyle/>
                    <a:p>
                      <a:r>
                        <a:rPr lang="en-US" sz="1800" dirty="0">
                          <a:solidFill>
                            <a:schemeClr val="accent2"/>
                          </a:solidFill>
                        </a:rPr>
                        <a:t>5</a:t>
                      </a:r>
                    </a:p>
                  </a:txBody>
                  <a:tcPr>
                    <a:solidFill>
                      <a:schemeClr val="bg1"/>
                    </a:solidFill>
                  </a:tcPr>
                </a:tc>
                <a:tc>
                  <a:txBody>
                    <a:bodyPr/>
                    <a:lstStyle/>
                    <a:p>
                      <a:r>
                        <a:rPr lang="en-US" sz="1800" dirty="0" err="1">
                          <a:solidFill>
                            <a:schemeClr val="accent2"/>
                          </a:solidFill>
                        </a:rPr>
                        <a:t>iBGP</a:t>
                      </a:r>
                      <a:r>
                        <a:rPr lang="en-US" sz="1800" dirty="0">
                          <a:solidFill>
                            <a:schemeClr val="accent2"/>
                          </a:solidFill>
                        </a:rPr>
                        <a:t> path</a:t>
                      </a:r>
                    </a:p>
                  </a:txBody>
                  <a:tcPr>
                    <a:solidFill>
                      <a:schemeClr val="bg1"/>
                    </a:solidFill>
                  </a:tcPr>
                </a:tc>
                <a:tc>
                  <a:txBody>
                    <a:bodyPr/>
                    <a:lstStyle/>
                    <a:p>
                      <a:r>
                        <a:rPr lang="en-US" sz="1800" dirty="0">
                          <a:solidFill>
                            <a:schemeClr val="accent2"/>
                          </a:solidFill>
                        </a:rPr>
                        <a:t>Lowest</a:t>
                      </a:r>
                      <a:r>
                        <a:rPr lang="en-US" sz="1800" baseline="0" dirty="0">
                          <a:solidFill>
                            <a:schemeClr val="accent2"/>
                          </a:solidFill>
                        </a:rPr>
                        <a:t> IGP cost to next hop (egress router) </a:t>
                      </a:r>
                      <a:endParaRPr lang="en-US" sz="1800" dirty="0">
                        <a:solidFill>
                          <a:schemeClr val="accent2"/>
                        </a:solidFill>
                      </a:endParaRPr>
                    </a:p>
                  </a:txBody>
                  <a:tcPr>
                    <a:solidFill>
                      <a:schemeClr val="bg1"/>
                    </a:solidFill>
                  </a:tcPr>
                </a:tc>
                <a:extLst>
                  <a:ext uri="{0D108BD9-81ED-4DB2-BD59-A6C34878D82A}">
                    <a16:rowId xmlns:a16="http://schemas.microsoft.com/office/drawing/2014/main" val="10005"/>
                  </a:ext>
                </a:extLst>
              </a:tr>
              <a:tr h="370840">
                <a:tc>
                  <a:txBody>
                    <a:bodyPr/>
                    <a:lstStyle/>
                    <a:p>
                      <a:r>
                        <a:rPr lang="en-US" sz="1800" dirty="0">
                          <a:solidFill>
                            <a:schemeClr val="accent2"/>
                          </a:solidFill>
                        </a:rPr>
                        <a:t>6</a:t>
                      </a:r>
                    </a:p>
                  </a:txBody>
                  <a:tcPr>
                    <a:solidFill>
                      <a:schemeClr val="bg1"/>
                    </a:solidFill>
                  </a:tcPr>
                </a:tc>
                <a:tc>
                  <a:txBody>
                    <a:bodyPr/>
                    <a:lstStyle/>
                    <a:p>
                      <a:r>
                        <a:rPr lang="en-US" sz="1800" dirty="0">
                          <a:solidFill>
                            <a:schemeClr val="accent2"/>
                          </a:solidFill>
                        </a:rPr>
                        <a:t>Router</a:t>
                      </a:r>
                      <a:r>
                        <a:rPr lang="en-US" sz="1800" baseline="0" dirty="0">
                          <a:solidFill>
                            <a:schemeClr val="accent2"/>
                          </a:solidFill>
                        </a:rPr>
                        <a:t> ID</a:t>
                      </a:r>
                      <a:endParaRPr lang="en-US" sz="1800" dirty="0">
                        <a:solidFill>
                          <a:schemeClr val="accent2"/>
                        </a:solidFill>
                      </a:endParaRPr>
                    </a:p>
                  </a:txBody>
                  <a:tcPr>
                    <a:solidFill>
                      <a:schemeClr val="bg1"/>
                    </a:solidFill>
                  </a:tcPr>
                </a:tc>
                <a:tc>
                  <a:txBody>
                    <a:bodyPr/>
                    <a:lstStyle/>
                    <a:p>
                      <a:r>
                        <a:rPr lang="en-US" sz="1800" dirty="0">
                          <a:solidFill>
                            <a:schemeClr val="accent2"/>
                          </a:solidFill>
                        </a:rPr>
                        <a:t>Smallest next-hop router’s</a:t>
                      </a:r>
                      <a:r>
                        <a:rPr lang="en-US" sz="1800" baseline="0" dirty="0">
                          <a:solidFill>
                            <a:schemeClr val="accent2"/>
                          </a:solidFill>
                        </a:rPr>
                        <a:t> IP address as tie-breaker</a:t>
                      </a:r>
                      <a:endParaRPr lang="en-US" sz="1800" dirty="0">
                        <a:solidFill>
                          <a:schemeClr val="accent2"/>
                        </a:solidFill>
                      </a:endParaRPr>
                    </a:p>
                  </a:txBody>
                  <a:tcPr>
                    <a:solidFill>
                      <a:schemeClr val="bg1"/>
                    </a:solidFill>
                  </a:tcPr>
                </a:tc>
                <a:extLst>
                  <a:ext uri="{0D108BD9-81ED-4DB2-BD59-A6C34878D82A}">
                    <a16:rowId xmlns:a16="http://schemas.microsoft.com/office/drawing/2014/main" val="10006"/>
                  </a:ext>
                </a:extLst>
              </a:tr>
            </a:tbl>
          </a:graphicData>
        </a:graphic>
      </p:graphicFrame>
      <p:sp>
        <p:nvSpPr>
          <p:cNvPr id="7" name="Date Placeholder 6"/>
          <p:cNvSpPr>
            <a:spLocks noGrp="1"/>
          </p:cNvSpPr>
          <p:nvPr>
            <p:ph type="dt" sz="half" idx="10"/>
          </p:nvPr>
        </p:nvSpPr>
        <p:spPr/>
        <p:txBody>
          <a:bodyPr/>
          <a:lstStyle/>
          <a:p>
            <a:r>
              <a:rPr lang="en-US"/>
              <a:t>April 16, 2025</a:t>
            </a:r>
            <a:endParaRPr lang="en-US" sz="1050" b="0">
              <a:latin typeface="Times New Roman" charset="0"/>
            </a:endParaRPr>
          </a:p>
        </p:txBody>
      </p:sp>
      <p:sp>
        <p:nvSpPr>
          <p:cNvPr id="8" name="Footer Placeholder 7"/>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9" name="Slide Number Placeholder 8"/>
          <p:cNvSpPr>
            <a:spLocks noGrp="1"/>
          </p:cNvSpPr>
          <p:nvPr>
            <p:ph type="sldNum" sz="quarter" idx="12"/>
          </p:nvPr>
        </p:nvSpPr>
        <p:spPr/>
        <p:txBody>
          <a:bodyPr/>
          <a:lstStyle/>
          <a:p>
            <a:fld id="{A190D881-957A-7944-A8D0-1584E528B88F}" type="slidenum">
              <a:rPr lang="en-US" smtClean="0"/>
              <a:pPr/>
              <a:t>34</a:t>
            </a:fld>
            <a:endParaRPr lang="en-US"/>
          </a:p>
        </p:txBody>
      </p:sp>
    </p:spTree>
    <p:extLst>
      <p:ext uri="{BB962C8B-B14F-4D97-AF65-F5344CB8AC3E}">
        <p14:creationId xmlns:p14="http://schemas.microsoft.com/office/powerpoint/2010/main" val="21793022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eBGP</a:t>
            </a:r>
            <a:r>
              <a:rPr lang="en-US" dirty="0"/>
              <a:t>, </a:t>
            </a:r>
            <a:r>
              <a:rPr lang="en-US" dirty="0" err="1"/>
              <a:t>iBGP</a:t>
            </a:r>
            <a:r>
              <a:rPr lang="en-US" dirty="0"/>
              <a:t>, and IGP</a:t>
            </a:r>
          </a:p>
        </p:txBody>
      </p:sp>
      <p:sp>
        <p:nvSpPr>
          <p:cNvPr id="3" name="Content Placeholder 2"/>
          <p:cNvSpPr>
            <a:spLocks noGrp="1"/>
          </p:cNvSpPr>
          <p:nvPr>
            <p:ph idx="1"/>
          </p:nvPr>
        </p:nvSpPr>
        <p:spPr/>
        <p:txBody>
          <a:bodyPr/>
          <a:lstStyle/>
          <a:p>
            <a:r>
              <a:rPr lang="en-US" dirty="0" err="1">
                <a:solidFill>
                  <a:srgbClr val="0000FF"/>
                </a:solidFill>
              </a:rPr>
              <a:t>eBGP</a:t>
            </a:r>
            <a:r>
              <a:rPr lang="en-US" dirty="0"/>
              <a:t>: BGP sessions between border routers in different ASes</a:t>
            </a:r>
          </a:p>
          <a:p>
            <a:pPr lvl="1"/>
            <a:r>
              <a:rPr lang="en-US" dirty="0"/>
              <a:t>Learn routes to external destinations</a:t>
            </a:r>
          </a:p>
          <a:p>
            <a:r>
              <a:rPr lang="en-US" dirty="0" err="1">
                <a:solidFill>
                  <a:srgbClr val="0000FF"/>
                </a:solidFill>
              </a:rPr>
              <a:t>iBGP</a:t>
            </a:r>
            <a:r>
              <a:rPr lang="en-US" dirty="0"/>
              <a:t>: BGP sessions between border routers and other routers within the same AS</a:t>
            </a:r>
          </a:p>
          <a:p>
            <a:pPr lvl="1"/>
            <a:r>
              <a:rPr lang="en-US" dirty="0"/>
              <a:t>Distribute externally learned routes internally</a:t>
            </a:r>
          </a:p>
          <a:p>
            <a:r>
              <a:rPr lang="en-US" dirty="0">
                <a:solidFill>
                  <a:srgbClr val="0000FF"/>
                </a:solidFill>
              </a:rPr>
              <a:t>IGP</a:t>
            </a:r>
            <a:r>
              <a:rPr lang="en-US" dirty="0"/>
              <a:t>: “Interior Gateway Protocol” = Intra-domain routing protocol</a:t>
            </a:r>
          </a:p>
          <a:p>
            <a:pPr lvl="1"/>
            <a:r>
              <a:rPr lang="en-US" dirty="0"/>
              <a:t>Provide internal reachability via shortest path</a:t>
            </a:r>
          </a:p>
          <a:p>
            <a:pPr lvl="1"/>
            <a:r>
              <a:rPr lang="en-US" dirty="0"/>
              <a:t>E.g., OSPF, RIP</a:t>
            </a:r>
          </a:p>
          <a:p>
            <a:endParaRPr lang="en-US" dirty="0"/>
          </a:p>
          <a:p>
            <a:pPr lvl="1"/>
            <a:endParaRPr lang="en-US" dirty="0"/>
          </a:p>
          <a:p>
            <a:pPr lvl="1"/>
            <a:endParaRPr lang="en-US" dirty="0"/>
          </a:p>
          <a:p>
            <a:pPr lvl="1"/>
            <a:endParaRPr lang="en-US" dirty="0"/>
          </a:p>
          <a:p>
            <a:pPr lvl="1"/>
            <a:endParaRPr lang="en-US" dirty="0"/>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35</a:t>
            </a:fld>
            <a:endParaRPr lang="en-US"/>
          </a:p>
        </p:txBody>
      </p:sp>
    </p:spTree>
    <p:extLst>
      <p:ext uri="{BB962C8B-B14F-4D97-AF65-F5344CB8AC3E}">
        <p14:creationId xmlns:p14="http://schemas.microsoft.com/office/powerpoint/2010/main" val="852854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6A70DC6-E321-8E46-B9FF-8F80D3D3017C}"/>
              </a:ext>
            </a:extLst>
          </p:cNvPr>
          <p:cNvSpPr>
            <a:spLocks noGrp="1"/>
          </p:cNvSpPr>
          <p:nvPr>
            <p:ph type="title"/>
          </p:nvPr>
        </p:nvSpPr>
        <p:spPr/>
        <p:txBody>
          <a:bodyPr/>
          <a:lstStyle/>
          <a:p>
            <a:r>
              <a:rPr lang="en-US" dirty="0"/>
              <a:t>5-minute break!</a:t>
            </a:r>
          </a:p>
        </p:txBody>
      </p:sp>
      <p:sp>
        <p:nvSpPr>
          <p:cNvPr id="8" name="Text Placeholder 7">
            <a:extLst>
              <a:ext uri="{FF2B5EF4-FFF2-40B4-BE49-F238E27FC236}">
                <a16:creationId xmlns:a16="http://schemas.microsoft.com/office/drawing/2014/main" id="{2F8CC887-B12B-564A-8F04-F2BE0B1C761A}"/>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A94AFD1C-FD1B-0544-9F2C-9D991D7AF3A0}"/>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E04CB75A-C321-F744-84A7-D74C50CD91F6}"/>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E0B82801-AABB-6D41-9F7A-92D483AAA2F1}"/>
              </a:ext>
            </a:extLst>
          </p:cNvPr>
          <p:cNvSpPr>
            <a:spLocks noGrp="1"/>
          </p:cNvSpPr>
          <p:nvPr>
            <p:ph type="sldNum" sz="quarter" idx="12"/>
          </p:nvPr>
        </p:nvSpPr>
        <p:spPr/>
        <p:txBody>
          <a:bodyPr/>
          <a:lstStyle/>
          <a:p>
            <a:fld id="{A190D881-957A-7944-A8D0-1584E528B88F}" type="slidenum">
              <a:rPr lang="en-US" smtClean="0"/>
              <a:pPr/>
              <a:t>36</a:t>
            </a:fld>
            <a:endParaRPr lang="en-US"/>
          </a:p>
        </p:txBody>
      </p:sp>
    </p:spTree>
    <p:extLst>
      <p:ext uri="{BB962C8B-B14F-4D97-AF65-F5344CB8AC3E}">
        <p14:creationId xmlns:p14="http://schemas.microsoft.com/office/powerpoint/2010/main" val="37501722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6B60A15-3C0B-964A-95A0-CFC10CD44435}"/>
              </a:ext>
            </a:extLst>
          </p:cNvPr>
          <p:cNvSpPr>
            <a:spLocks noGrp="1"/>
          </p:cNvSpPr>
          <p:nvPr>
            <p:ph type="title"/>
          </p:nvPr>
        </p:nvSpPr>
        <p:spPr/>
        <p:txBody>
          <a:bodyPr/>
          <a:lstStyle/>
          <a:p>
            <a:r>
              <a:rPr lang="en-US" dirty="0"/>
              <a:t>Announcements</a:t>
            </a:r>
          </a:p>
        </p:txBody>
      </p:sp>
      <p:sp>
        <p:nvSpPr>
          <p:cNvPr id="8" name="Content Placeholder 7">
            <a:extLst>
              <a:ext uri="{FF2B5EF4-FFF2-40B4-BE49-F238E27FC236}">
                <a16:creationId xmlns:a16="http://schemas.microsoft.com/office/drawing/2014/main" id="{E391D4D9-66A7-EF4A-BAF3-79C99B6D26B3}"/>
              </a:ext>
            </a:extLst>
          </p:cNvPr>
          <p:cNvSpPr>
            <a:spLocks noGrp="1"/>
          </p:cNvSpPr>
          <p:nvPr>
            <p:ph idx="1"/>
          </p:nvPr>
        </p:nvSpPr>
        <p:spPr/>
        <p:txBody>
          <a:bodyPr/>
          <a:lstStyle/>
          <a:p>
            <a:r>
              <a:rPr lang="en-US" dirty="0"/>
              <a:t>Teaching evaluations</a:t>
            </a:r>
          </a:p>
          <a:p>
            <a:pPr lvl="1"/>
            <a:r>
              <a:rPr lang="en-US" dirty="0"/>
              <a:t>Due by </a:t>
            </a:r>
            <a:r>
              <a:rPr lang="en-US" dirty="0">
                <a:solidFill>
                  <a:srgbClr val="0000FF"/>
                </a:solidFill>
              </a:rPr>
              <a:t>Apr 23</a:t>
            </a:r>
          </a:p>
          <a:p>
            <a:pPr lvl="1"/>
            <a:r>
              <a:rPr lang="en-US" dirty="0"/>
              <a:t>75% or higher completion rate will result in </a:t>
            </a:r>
            <a:r>
              <a:rPr lang="en-US" dirty="0">
                <a:solidFill>
                  <a:srgbClr val="0000FF"/>
                </a:solidFill>
              </a:rPr>
              <a:t>+1 on the final grade for everyone </a:t>
            </a:r>
            <a:r>
              <a:rPr lang="en-US" dirty="0"/>
              <a:t>(we are around </a:t>
            </a:r>
            <a:r>
              <a:rPr lang="en-US" b="1" dirty="0">
                <a:solidFill>
                  <a:srgbClr val="0000FF"/>
                </a:solidFill>
              </a:rPr>
              <a:t>10%</a:t>
            </a:r>
            <a:r>
              <a:rPr lang="en-US" dirty="0"/>
              <a:t>)</a:t>
            </a:r>
            <a:endParaRPr lang="en-US" b="1" dirty="0">
              <a:solidFill>
                <a:srgbClr val="0000FF"/>
              </a:solidFill>
            </a:endParaRPr>
          </a:p>
          <a:p>
            <a:r>
              <a:rPr lang="en-US" dirty="0"/>
              <a:t>By popular request, </a:t>
            </a:r>
            <a:r>
              <a:rPr lang="en-US" dirty="0">
                <a:solidFill>
                  <a:srgbClr val="0000FF"/>
                </a:solidFill>
              </a:rPr>
              <a:t>additional sample final exams </a:t>
            </a:r>
            <a:r>
              <a:rPr lang="en-US" dirty="0"/>
              <a:t>will be released this week!</a:t>
            </a:r>
          </a:p>
          <a:p>
            <a:r>
              <a:rPr lang="en-US" dirty="0"/>
              <a:t>NO office hours for me this week (SOSP)</a:t>
            </a:r>
          </a:p>
          <a:p>
            <a:endParaRPr lang="en-US" dirty="0"/>
          </a:p>
          <a:p>
            <a:r>
              <a:rPr lang="en-US" dirty="0"/>
              <a:t>Attend </a:t>
            </a:r>
            <a:r>
              <a:rPr lang="en-US" dirty="0">
                <a:solidFill>
                  <a:srgbClr val="0000FF"/>
                </a:solidFill>
              </a:rPr>
              <a:t>Vint Cerf</a:t>
            </a:r>
            <a:r>
              <a:rPr lang="en-US" dirty="0"/>
              <a:t> talk this Friday, 4/18 (130PM)</a:t>
            </a:r>
          </a:p>
          <a:p>
            <a:pPr lvl="1"/>
            <a:r>
              <a:rPr lang="en-US" dirty="0"/>
              <a:t>Chesebrough Auditorium, Chrysler Center</a:t>
            </a:r>
          </a:p>
        </p:txBody>
      </p:sp>
      <p:sp>
        <p:nvSpPr>
          <p:cNvPr id="4" name="Date Placeholder 3">
            <a:extLst>
              <a:ext uri="{FF2B5EF4-FFF2-40B4-BE49-F238E27FC236}">
                <a16:creationId xmlns:a16="http://schemas.microsoft.com/office/drawing/2014/main" id="{BBA29309-7423-C245-B09C-AD279FC1B6A7}"/>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74A0B767-231E-A942-A567-54C6916C7578}"/>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12EA1E4A-485B-C54D-88BE-4C108F6B4482}"/>
              </a:ext>
            </a:extLst>
          </p:cNvPr>
          <p:cNvSpPr>
            <a:spLocks noGrp="1"/>
          </p:cNvSpPr>
          <p:nvPr>
            <p:ph type="sldNum" sz="quarter" idx="12"/>
          </p:nvPr>
        </p:nvSpPr>
        <p:spPr/>
        <p:txBody>
          <a:bodyPr/>
          <a:lstStyle/>
          <a:p>
            <a:fld id="{81F2EB77-FB6C-2244-A076-ADF097535D48}" type="slidenum">
              <a:rPr lang="en-US" smtClean="0"/>
              <a:pPr/>
              <a:t>37</a:t>
            </a:fld>
            <a:endParaRPr lang="en-US"/>
          </a:p>
        </p:txBody>
      </p:sp>
    </p:spTree>
    <p:extLst>
      <p:ext uri="{BB962C8B-B14F-4D97-AF65-F5344CB8AC3E}">
        <p14:creationId xmlns:p14="http://schemas.microsoft.com/office/powerpoint/2010/main" val="15204827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5B313-4430-F985-7258-2BED8D0BE583}"/>
            </a:ext>
          </a:extLst>
        </p:cNvPr>
        <p:cNvGrpSpPr/>
        <p:nvPr/>
      </p:nvGrpSpPr>
      <p:grpSpPr>
        <a:xfrm>
          <a:off x="0" y="0"/>
          <a:ext cx="0" cy="0"/>
          <a:chOff x="0" y="0"/>
          <a:chExt cx="0" cy="0"/>
        </a:xfrm>
      </p:grpSpPr>
      <p:sp>
        <p:nvSpPr>
          <p:cNvPr id="1043458" name="Rectangle 2">
            <a:extLst>
              <a:ext uri="{FF2B5EF4-FFF2-40B4-BE49-F238E27FC236}">
                <a16:creationId xmlns:a16="http://schemas.microsoft.com/office/drawing/2014/main" id="{0B4CCBDA-0AA8-C28E-8C2F-FF3132BACF73}"/>
              </a:ext>
            </a:extLst>
          </p:cNvPr>
          <p:cNvSpPr>
            <a:spLocks noGrp="1" noChangeArrowheads="1"/>
          </p:cNvSpPr>
          <p:nvPr>
            <p:ph type="title"/>
          </p:nvPr>
        </p:nvSpPr>
        <p:spPr/>
        <p:txBody>
          <a:bodyPr/>
          <a:lstStyle/>
          <a:p>
            <a:r>
              <a:rPr lang="en-US"/>
              <a:t>Topics</a:t>
            </a:r>
            <a:endParaRPr lang="en-US" dirty="0"/>
          </a:p>
        </p:txBody>
      </p:sp>
      <p:sp>
        <p:nvSpPr>
          <p:cNvPr id="1043459" name="Rectangle 3">
            <a:extLst>
              <a:ext uri="{FF2B5EF4-FFF2-40B4-BE49-F238E27FC236}">
                <a16:creationId xmlns:a16="http://schemas.microsoft.com/office/drawing/2014/main" id="{F078FF9D-2C79-4473-9ECA-F81A948BD3FA}"/>
              </a:ext>
            </a:extLst>
          </p:cNvPr>
          <p:cNvSpPr>
            <a:spLocks noGrp="1" noChangeArrowheads="1"/>
          </p:cNvSpPr>
          <p:nvPr>
            <p:ph idx="1"/>
          </p:nvPr>
        </p:nvSpPr>
        <p:spPr/>
        <p:txBody>
          <a:bodyPr/>
          <a:lstStyle/>
          <a:p>
            <a:r>
              <a:rPr lang="en-US" dirty="0">
                <a:solidFill>
                  <a:schemeClr val="bg1">
                    <a:lumMod val="50000"/>
                  </a:schemeClr>
                </a:solidFill>
              </a:rPr>
              <a:t>Network layer (lectures 10–15)</a:t>
            </a:r>
          </a:p>
          <a:p>
            <a:pPr lvl="1"/>
            <a:r>
              <a:rPr lang="en-US" dirty="0">
                <a:solidFill>
                  <a:schemeClr val="bg1">
                    <a:lumMod val="50000"/>
                  </a:schemeClr>
                </a:solidFill>
              </a:rPr>
              <a:t>Addressing</a:t>
            </a:r>
          </a:p>
          <a:p>
            <a:pPr lvl="1"/>
            <a:r>
              <a:rPr lang="en-US" dirty="0">
                <a:solidFill>
                  <a:schemeClr val="bg1">
                    <a:lumMod val="50000"/>
                  </a:schemeClr>
                </a:solidFill>
              </a:rPr>
              <a:t>Data plane</a:t>
            </a:r>
          </a:p>
          <a:p>
            <a:pPr lvl="1"/>
            <a:r>
              <a:rPr lang="en-US" dirty="0">
                <a:solidFill>
                  <a:schemeClr val="bg1">
                    <a:lumMod val="50000"/>
                  </a:schemeClr>
                </a:solidFill>
              </a:rPr>
              <a:t>Intra-domain routing </a:t>
            </a:r>
          </a:p>
          <a:p>
            <a:pPr lvl="1"/>
            <a:r>
              <a:rPr lang="en-US" dirty="0">
                <a:solidFill>
                  <a:schemeClr val="bg1">
                    <a:lumMod val="50000"/>
                  </a:schemeClr>
                </a:solidFill>
              </a:rPr>
              <a:t>Inter-domain routing</a:t>
            </a:r>
          </a:p>
          <a:p>
            <a:r>
              <a:rPr lang="en-US" dirty="0"/>
              <a:t>SDN and programmable networks (lecture 16)</a:t>
            </a:r>
          </a:p>
          <a:p>
            <a:r>
              <a:rPr lang="en-US" dirty="0"/>
              <a:t>Link layer (lectures 17–19)</a:t>
            </a:r>
          </a:p>
          <a:p>
            <a:pPr lvl="1"/>
            <a:r>
              <a:rPr lang="en-US" dirty="0"/>
              <a:t>Ethernet</a:t>
            </a:r>
          </a:p>
          <a:p>
            <a:pPr lvl="1"/>
            <a:r>
              <a:rPr lang="en-US" dirty="0"/>
              <a:t>Wireless</a:t>
            </a:r>
          </a:p>
          <a:p>
            <a:r>
              <a:rPr lang="en-US" dirty="0"/>
              <a:t>Datacenter networking (lecture 20)</a:t>
            </a:r>
          </a:p>
        </p:txBody>
      </p:sp>
      <p:sp>
        <p:nvSpPr>
          <p:cNvPr id="4" name="Date Placeholder 3">
            <a:extLst>
              <a:ext uri="{FF2B5EF4-FFF2-40B4-BE49-F238E27FC236}">
                <a16:creationId xmlns:a16="http://schemas.microsoft.com/office/drawing/2014/main" id="{448A741D-39E5-3A12-37E8-7D5E6935CD43}"/>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4F145692-3FAC-29BD-7ED7-F006E74BF69A}"/>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FF2E7BEC-E78A-EB63-B272-7BFE61FDADC6}"/>
              </a:ext>
            </a:extLst>
          </p:cNvPr>
          <p:cNvSpPr>
            <a:spLocks noGrp="1"/>
          </p:cNvSpPr>
          <p:nvPr>
            <p:ph type="sldNum" sz="quarter" idx="12"/>
          </p:nvPr>
        </p:nvSpPr>
        <p:spPr/>
        <p:txBody>
          <a:bodyPr/>
          <a:lstStyle/>
          <a:p>
            <a:fld id="{A190D881-957A-7944-A8D0-1584E528B88F}" type="slidenum">
              <a:rPr lang="en-US" smtClean="0"/>
              <a:pPr/>
              <a:t>38</a:t>
            </a:fld>
            <a:endParaRPr lang="en-US"/>
          </a:p>
        </p:txBody>
      </p:sp>
    </p:spTree>
    <p:extLst>
      <p:ext uri="{BB962C8B-B14F-4D97-AF65-F5344CB8AC3E}">
        <p14:creationId xmlns:p14="http://schemas.microsoft.com/office/powerpoint/2010/main" val="24400669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Separate concerns with abstractions</a:t>
            </a:r>
          </a:p>
        </p:txBody>
      </p:sp>
      <p:sp>
        <p:nvSpPr>
          <p:cNvPr id="3" name="Content Placeholder 2"/>
          <p:cNvSpPr>
            <a:spLocks noGrp="1"/>
          </p:cNvSpPr>
          <p:nvPr>
            <p:ph idx="1"/>
          </p:nvPr>
        </p:nvSpPr>
        <p:spPr/>
        <p:txBody>
          <a:bodyPr/>
          <a:lstStyle/>
          <a:p>
            <a:r>
              <a:rPr lang="en-US" dirty="0"/>
              <a:t>Be compatible with low-level hardware/software</a:t>
            </a:r>
          </a:p>
          <a:p>
            <a:pPr lvl="1"/>
            <a:r>
              <a:rPr lang="en-US" dirty="0"/>
              <a:t>Need an </a:t>
            </a:r>
            <a:r>
              <a:rPr lang="en-US" dirty="0">
                <a:solidFill>
                  <a:srgbClr val="0000FF"/>
                </a:solidFill>
              </a:rPr>
              <a:t>abstraction for general forwarding model</a:t>
            </a:r>
          </a:p>
          <a:p>
            <a:r>
              <a:rPr lang="en-US" dirty="0"/>
              <a:t>Make decisions based on entire network</a:t>
            </a:r>
          </a:p>
          <a:p>
            <a:pPr lvl="1"/>
            <a:r>
              <a:rPr lang="en-US" dirty="0"/>
              <a:t>Need </a:t>
            </a:r>
            <a:r>
              <a:rPr lang="en-US" dirty="0">
                <a:solidFill>
                  <a:srgbClr val="0000FF"/>
                </a:solidFill>
              </a:rPr>
              <a:t>an abstraction for network state</a:t>
            </a:r>
          </a:p>
          <a:p>
            <a:r>
              <a:rPr lang="en-US" dirty="0"/>
              <a:t>Compute configuration of each physical device</a:t>
            </a:r>
          </a:p>
          <a:p>
            <a:pPr lvl="1"/>
            <a:r>
              <a:rPr lang="en-US" dirty="0"/>
              <a:t>Need </a:t>
            </a:r>
            <a:r>
              <a:rPr lang="en-US" dirty="0">
                <a:solidFill>
                  <a:srgbClr val="0000FF"/>
                </a:solidFill>
              </a:rPr>
              <a:t>an abstraction that simplifies configuration</a:t>
            </a:r>
          </a:p>
          <a:p>
            <a:pPr lvl="1"/>
            <a:endParaRPr lang="en-US" dirty="0"/>
          </a:p>
        </p:txBody>
      </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39</a:t>
            </a:fld>
            <a:endParaRPr lang="en-US"/>
          </a:p>
        </p:txBody>
      </p:sp>
    </p:spTree>
    <p:extLst>
      <p:ext uri="{BB962C8B-B14F-4D97-AF65-F5344CB8AC3E}">
        <p14:creationId xmlns:p14="http://schemas.microsoft.com/office/powerpoint/2010/main" val="3593021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idx="1"/>
          </p:nvPr>
        </p:nvSpPr>
        <p:spPr>
          <a:xfrm>
            <a:off x="685800" y="1600200"/>
            <a:ext cx="7924800" cy="966845"/>
          </a:xfrm>
        </p:spPr>
        <p:txBody>
          <a:bodyPr/>
          <a:lstStyle/>
          <a:p>
            <a:r>
              <a:rPr lang="en-US" dirty="0"/>
              <a:t>A distinct (typically remote) controller interacts with local control agents (CAs)</a:t>
            </a:r>
          </a:p>
        </p:txBody>
      </p:sp>
      <p:sp>
        <p:nvSpPr>
          <p:cNvPr id="6" name="Title 5"/>
          <p:cNvSpPr>
            <a:spLocks noGrp="1"/>
          </p:cNvSpPr>
          <p:nvPr>
            <p:ph type="title"/>
          </p:nvPr>
        </p:nvSpPr>
        <p:spPr/>
        <p:txBody>
          <a:bodyPr/>
          <a:lstStyle/>
          <a:p>
            <a:r>
              <a:rPr lang="en-US" dirty="0"/>
              <a:t>Logically centralized </a:t>
            </a:r>
            <a:br>
              <a:rPr lang="en-US" dirty="0"/>
            </a:br>
            <a:r>
              <a:rPr lang="en-US" dirty="0"/>
              <a:t>control plane</a:t>
            </a:r>
          </a:p>
        </p:txBody>
      </p:sp>
      <p:grpSp>
        <p:nvGrpSpPr>
          <p:cNvPr id="254" name="Group 37"/>
          <p:cNvGrpSpPr>
            <a:grpSpLocks noChangeAspect="1"/>
          </p:cNvGrpSpPr>
          <p:nvPr/>
        </p:nvGrpSpPr>
        <p:grpSpPr bwMode="auto">
          <a:xfrm>
            <a:off x="762000" y="5605384"/>
            <a:ext cx="1529905" cy="402607"/>
            <a:chOff x="885372" y="3276600"/>
            <a:chExt cx="1172028" cy="228600"/>
          </a:xfrm>
        </p:grpSpPr>
        <p:sp>
          <p:nvSpPr>
            <p:cNvPr id="255" name="Rectangle 254"/>
            <p:cNvSpPr/>
            <p:nvPr/>
          </p:nvSpPr>
          <p:spPr>
            <a:xfrm>
              <a:off x="885372" y="3276600"/>
              <a:ext cx="791633" cy="228600"/>
            </a:xfrm>
            <a:prstGeom prst="rect">
              <a:avLst/>
            </a:prstGeom>
            <a:solidFill>
              <a:schemeClr val="tx1">
                <a:lumMod val="50000"/>
                <a:lumOff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sz="900" dirty="0"/>
                <a:t>111010010</a:t>
              </a:r>
              <a:endParaRPr lang="en-US" dirty="0"/>
            </a:p>
          </p:txBody>
        </p:sp>
        <p:sp>
          <p:nvSpPr>
            <p:cNvPr id="256" name="Rectangle 255"/>
            <p:cNvSpPr/>
            <p:nvPr/>
          </p:nvSpPr>
          <p:spPr>
            <a:xfrm>
              <a:off x="1677005" y="3276600"/>
              <a:ext cx="380395" cy="228600"/>
            </a:xfrm>
            <a:prstGeom prst="rect">
              <a:avLst/>
            </a:prstGeom>
            <a:solidFill>
              <a:schemeClr val="accent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defRPr/>
              </a:pPr>
              <a:r>
                <a:rPr lang="en-US" sz="800" dirty="0">
                  <a:solidFill>
                    <a:schemeClr val="tx1"/>
                  </a:solidFill>
                </a:rPr>
                <a:t>MIT</a:t>
              </a:r>
            </a:p>
          </p:txBody>
        </p:sp>
      </p:grpSp>
      <p:graphicFrame>
        <p:nvGraphicFramePr>
          <p:cNvPr id="261" name="Table 260"/>
          <p:cNvGraphicFramePr>
            <a:graphicFrameLocks noGrp="1"/>
          </p:cNvGraphicFramePr>
          <p:nvPr/>
        </p:nvGraphicFramePr>
        <p:xfrm>
          <a:off x="2694150" y="4792585"/>
          <a:ext cx="771833" cy="685800"/>
        </p:xfrm>
        <a:graphic>
          <a:graphicData uri="http://schemas.openxmlformats.org/drawingml/2006/table">
            <a:tbl>
              <a:tblPr firstRow="1" bandRow="1">
                <a:tableStyleId>{125E5076-3810-47DD-B79F-674D7AD40C01}</a:tableStyleId>
              </a:tblPr>
              <a:tblGrid>
                <a:gridCol w="364220">
                  <a:extLst>
                    <a:ext uri="{9D8B030D-6E8A-4147-A177-3AD203B41FA5}">
                      <a16:colId xmlns:a16="http://schemas.microsoft.com/office/drawing/2014/main" val="20000"/>
                    </a:ext>
                  </a:extLst>
                </a:gridCol>
                <a:gridCol w="407613">
                  <a:extLst>
                    <a:ext uri="{9D8B030D-6E8A-4147-A177-3AD203B41FA5}">
                      <a16:colId xmlns:a16="http://schemas.microsoft.com/office/drawing/2014/main" val="20001"/>
                    </a:ext>
                  </a:extLst>
                </a:gridCol>
              </a:tblGrid>
              <a:tr h="163240">
                <a:tc>
                  <a:txBody>
                    <a:bodyPr/>
                    <a:lstStyle/>
                    <a:p>
                      <a:r>
                        <a:rPr lang="en-US" sz="500" dirty="0">
                          <a:solidFill>
                            <a:schemeClr val="bg1"/>
                          </a:solidFill>
                        </a:rPr>
                        <a:t>Dst</a:t>
                      </a:r>
                    </a:p>
                  </a:txBody>
                  <a:tcPr marL="42430" marR="42430" marT="21220" marB="21220">
                    <a:lnL w="12700" cap="flat" cmpd="sng" algn="ctr">
                      <a:solidFill>
                        <a:srgbClr val="000000"/>
                      </a:solidFill>
                      <a:prstDash val="solid"/>
                      <a:round/>
                      <a:headEnd type="none" w="med" len="med"/>
                      <a:tailEnd type="none" w="med" len="med"/>
                    </a:lnL>
                    <a:lnT w="12700" cap="flat" cmpd="sng" algn="ctr">
                      <a:solidFill>
                        <a:srgbClr val="000000"/>
                      </a:solidFill>
                      <a:prstDash val="solid"/>
                      <a:round/>
                      <a:headEnd type="none" w="med" len="med"/>
                      <a:tailEnd type="none" w="med" len="med"/>
                    </a:lnT>
                  </a:tcPr>
                </a:tc>
                <a:tc>
                  <a:txBody>
                    <a:bodyPr/>
                    <a:lstStyle/>
                    <a:p>
                      <a:r>
                        <a:rPr lang="en-US" sz="500" dirty="0">
                          <a:solidFill>
                            <a:srgbClr val="FFFFFF"/>
                          </a:solidFill>
                        </a:rPr>
                        <a:t>Next</a:t>
                      </a:r>
                      <a:r>
                        <a:rPr lang="en-US" sz="500" baseline="0" dirty="0">
                          <a:solidFill>
                            <a:srgbClr val="FFFFFF"/>
                          </a:solidFill>
                        </a:rPr>
                        <a:t> Hop</a:t>
                      </a:r>
                      <a:endParaRPr lang="en-US" sz="500" dirty="0">
                        <a:solidFill>
                          <a:srgbClr val="FFFFFF"/>
                        </a:solidFill>
                      </a:endParaRPr>
                    </a:p>
                  </a:txBody>
                  <a:tcPr marL="42430" marR="42430" marT="21220" marB="21220">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0000"/>
                  </a:ext>
                </a:extLst>
              </a:tr>
              <a:tr h="130640">
                <a:tc>
                  <a:txBody>
                    <a:bodyPr/>
                    <a:lstStyle/>
                    <a:p>
                      <a:r>
                        <a:rPr lang="en-US" sz="500" dirty="0">
                          <a:solidFill>
                            <a:schemeClr val="tx1"/>
                          </a:solidFill>
                        </a:rPr>
                        <a:t>UMICH</a:t>
                      </a:r>
                    </a:p>
                  </a:txBody>
                  <a:tcPr marL="42430" marR="42430" marT="21220" marB="21220">
                    <a:lnL w="12700" cap="flat" cmpd="sng" algn="ctr">
                      <a:solidFill>
                        <a:srgbClr val="000000"/>
                      </a:solidFill>
                      <a:prstDash val="solid"/>
                      <a:round/>
                      <a:headEnd type="none" w="med" len="med"/>
                      <a:tailEnd type="none" w="med" len="med"/>
                    </a:lnL>
                  </a:tcPr>
                </a:tc>
                <a:tc>
                  <a:txBody>
                    <a:bodyPr/>
                    <a:lstStyle/>
                    <a:p>
                      <a:r>
                        <a:rPr lang="en-US" sz="500" dirty="0">
                          <a:solidFill>
                            <a:schemeClr val="tx1"/>
                          </a:solidFill>
                        </a:rPr>
                        <a:t>0</a:t>
                      </a:r>
                    </a:p>
                  </a:txBody>
                  <a:tcPr marL="42430" marR="42430" marT="21220" marB="21220">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1"/>
                  </a:ext>
                </a:extLst>
              </a:tr>
              <a:tr h="130640">
                <a:tc>
                  <a:txBody>
                    <a:bodyPr/>
                    <a:lstStyle/>
                    <a:p>
                      <a:r>
                        <a:rPr lang="en-US" sz="500" dirty="0">
                          <a:solidFill>
                            <a:schemeClr val="tx1"/>
                          </a:solidFill>
                        </a:rPr>
                        <a:t>UCB</a:t>
                      </a:r>
                    </a:p>
                  </a:txBody>
                  <a:tcPr marL="42430" marR="42430" marT="21220" marB="21220">
                    <a:lnL w="12700" cap="flat" cmpd="sng" algn="ctr">
                      <a:solidFill>
                        <a:srgbClr val="000000"/>
                      </a:solidFill>
                      <a:prstDash val="solid"/>
                      <a:round/>
                      <a:headEnd type="none" w="med" len="med"/>
                      <a:tailEnd type="none" w="med" len="med"/>
                    </a:lnL>
                  </a:tcPr>
                </a:tc>
                <a:tc>
                  <a:txBody>
                    <a:bodyPr/>
                    <a:lstStyle/>
                    <a:p>
                      <a:r>
                        <a:rPr lang="en-US" sz="500" dirty="0">
                          <a:solidFill>
                            <a:schemeClr val="tx1"/>
                          </a:solidFill>
                        </a:rPr>
                        <a:t>0</a:t>
                      </a:r>
                    </a:p>
                  </a:txBody>
                  <a:tcPr marL="42430" marR="42430" marT="21220" marB="21220">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2"/>
                  </a:ext>
                </a:extLst>
              </a:tr>
              <a:tr h="130640">
                <a:tc>
                  <a:txBody>
                    <a:bodyPr/>
                    <a:lstStyle/>
                    <a:p>
                      <a:r>
                        <a:rPr lang="en-US" sz="500" b="0" dirty="0">
                          <a:solidFill>
                            <a:srgbClr val="333399"/>
                          </a:solidFill>
                        </a:rPr>
                        <a:t>MIT</a:t>
                      </a:r>
                    </a:p>
                  </a:txBody>
                  <a:tcPr marL="42430" marR="42430" marT="21220" marB="21220">
                    <a:lnL w="12700" cap="flat" cmpd="sng" algn="ctr">
                      <a:solidFill>
                        <a:srgbClr val="000000"/>
                      </a:solidFill>
                      <a:prstDash val="solid"/>
                      <a:round/>
                      <a:headEnd type="none" w="med" len="med"/>
                      <a:tailEnd type="none" w="med" len="med"/>
                    </a:lnL>
                  </a:tcPr>
                </a:tc>
                <a:tc>
                  <a:txBody>
                    <a:bodyPr/>
                    <a:lstStyle/>
                    <a:p>
                      <a:r>
                        <a:rPr lang="en-US" sz="500" b="0" dirty="0">
                          <a:solidFill>
                            <a:srgbClr val="333399"/>
                          </a:solidFill>
                        </a:rPr>
                        <a:t>0</a:t>
                      </a:r>
                    </a:p>
                  </a:txBody>
                  <a:tcPr marL="42430" marR="42430" marT="21220" marB="21220">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3"/>
                  </a:ext>
                </a:extLst>
              </a:tr>
              <a:tr h="130640">
                <a:tc>
                  <a:txBody>
                    <a:bodyPr/>
                    <a:lstStyle/>
                    <a:p>
                      <a:r>
                        <a:rPr lang="en-US" sz="500" dirty="0">
                          <a:solidFill>
                            <a:schemeClr val="tx1"/>
                          </a:solidFill>
                        </a:rPr>
                        <a:t>NYU</a:t>
                      </a:r>
                    </a:p>
                  </a:txBody>
                  <a:tcPr marL="42430" marR="42430" marT="21220" marB="21220">
                    <a:lnL w="12700" cap="flat" cmpd="sng" algn="ctr">
                      <a:solidFill>
                        <a:srgbClr val="000000"/>
                      </a:solidFill>
                      <a:prstDash val="solid"/>
                      <a:round/>
                      <a:headEnd type="none" w="med" len="med"/>
                      <a:tailEnd type="none" w="med" len="med"/>
                    </a:lnL>
                    <a:lnB w="12700" cap="flat" cmpd="sng" algn="ctr">
                      <a:solidFill>
                        <a:srgbClr val="000000"/>
                      </a:solidFill>
                      <a:prstDash val="solid"/>
                      <a:round/>
                      <a:headEnd type="none" w="med" len="med"/>
                      <a:tailEnd type="none" w="med" len="med"/>
                    </a:lnB>
                  </a:tcPr>
                </a:tc>
                <a:tc>
                  <a:txBody>
                    <a:bodyPr/>
                    <a:lstStyle/>
                    <a:p>
                      <a:r>
                        <a:rPr lang="en-US" sz="500" dirty="0">
                          <a:solidFill>
                            <a:schemeClr val="tx1"/>
                          </a:solidFill>
                        </a:rPr>
                        <a:t>0</a:t>
                      </a:r>
                    </a:p>
                  </a:txBody>
                  <a:tcPr marL="42430" marR="42430" marT="21220" marB="21220">
                    <a:lnR w="12700" cap="flat" cmpd="sng" algn="ctr">
                      <a:solidFill>
                        <a:srgbClr val="000000"/>
                      </a:solidFill>
                      <a:prstDash val="solid"/>
                      <a:round/>
                      <a:headEnd type="none" w="med" len="med"/>
                      <a:tailEnd type="none" w="med" len="med"/>
                    </a:lnR>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pSp>
        <p:nvGrpSpPr>
          <p:cNvPr id="8" name="Group 7"/>
          <p:cNvGrpSpPr/>
          <p:nvPr/>
        </p:nvGrpSpPr>
        <p:grpSpPr>
          <a:xfrm>
            <a:off x="2713528" y="4538235"/>
            <a:ext cx="3896475" cy="2167365"/>
            <a:chOff x="2713528" y="4538235"/>
            <a:chExt cx="3896475" cy="2167365"/>
          </a:xfrm>
        </p:grpSpPr>
        <p:sp>
          <p:nvSpPr>
            <p:cNvPr id="247" name="Cube 246"/>
            <p:cNvSpPr/>
            <p:nvPr/>
          </p:nvSpPr>
          <p:spPr bwMode="auto">
            <a:xfrm>
              <a:off x="3550194" y="4538235"/>
              <a:ext cx="637460" cy="382476"/>
            </a:xfrm>
            <a:prstGeom prst="cube">
              <a:avLst/>
            </a:prstGeom>
            <a:solidFill>
              <a:schemeClr val="tx1"/>
            </a:solidFill>
            <a:ln w="9525" cap="flat" cmpd="sng" algn="ctr">
              <a:solidFill>
                <a:srgbClr val="00009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sp>
          <p:nvSpPr>
            <p:cNvPr id="248" name="Cube 247"/>
            <p:cNvSpPr/>
            <p:nvPr/>
          </p:nvSpPr>
          <p:spPr bwMode="auto">
            <a:xfrm>
              <a:off x="5972543" y="4538235"/>
              <a:ext cx="637460" cy="382476"/>
            </a:xfrm>
            <a:prstGeom prst="cube">
              <a:avLst/>
            </a:prstGeom>
            <a:solidFill>
              <a:schemeClr val="tx1"/>
            </a:solidFill>
            <a:ln w="9525" cap="flat" cmpd="sng" algn="ctr">
              <a:solidFill>
                <a:srgbClr val="00009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sp>
          <p:nvSpPr>
            <p:cNvPr id="249" name="Cube 248"/>
            <p:cNvSpPr/>
            <p:nvPr/>
          </p:nvSpPr>
          <p:spPr bwMode="auto">
            <a:xfrm>
              <a:off x="4697623" y="5175696"/>
              <a:ext cx="637460" cy="382476"/>
            </a:xfrm>
            <a:prstGeom prst="cube">
              <a:avLst/>
            </a:prstGeom>
            <a:solidFill>
              <a:schemeClr val="tx1"/>
            </a:solidFill>
            <a:ln w="9525" cap="flat" cmpd="sng" algn="ctr">
              <a:solidFill>
                <a:srgbClr val="00009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cxnSp>
          <p:nvCxnSpPr>
            <p:cNvPr id="250" name="Straight Connector 249"/>
            <p:cNvCxnSpPr>
              <a:stCxn id="281" idx="1"/>
            </p:cNvCxnSpPr>
            <p:nvPr/>
          </p:nvCxnSpPr>
          <p:spPr bwMode="auto">
            <a:xfrm flipH="1" flipV="1">
              <a:off x="4060164" y="4761347"/>
              <a:ext cx="908379" cy="509968"/>
            </a:xfrm>
            <a:prstGeom prst="line">
              <a:avLst/>
            </a:prstGeom>
            <a:noFill/>
            <a:ln w="38100" cap="flat" cmpd="sng" algn="ctr">
              <a:solidFill>
                <a:srgbClr val="D3A600"/>
              </a:solidFill>
              <a:prstDash val="solid"/>
              <a:round/>
              <a:headEnd type="none" w="med" len="med"/>
              <a:tailEnd type="none" w="med" len="med"/>
            </a:ln>
            <a:effectLst/>
          </p:spPr>
        </p:cxnSp>
        <p:cxnSp>
          <p:nvCxnSpPr>
            <p:cNvPr id="251" name="Straight Connector 250"/>
            <p:cNvCxnSpPr>
              <a:stCxn id="269" idx="2"/>
              <a:endCxn id="281" idx="5"/>
            </p:cNvCxnSpPr>
            <p:nvPr/>
          </p:nvCxnSpPr>
          <p:spPr bwMode="auto">
            <a:xfrm flipH="1">
              <a:off x="5335083" y="4777283"/>
              <a:ext cx="637460" cy="541841"/>
            </a:xfrm>
            <a:prstGeom prst="line">
              <a:avLst/>
            </a:prstGeom>
            <a:noFill/>
            <a:ln w="38100" cap="flat" cmpd="sng" algn="ctr">
              <a:solidFill>
                <a:srgbClr val="D3A600"/>
              </a:solidFill>
              <a:prstDash val="solid"/>
              <a:round/>
              <a:headEnd type="none" w="med" len="med"/>
              <a:tailEnd type="none" w="med" len="med"/>
            </a:ln>
            <a:effectLst/>
          </p:spPr>
        </p:cxnSp>
        <p:cxnSp>
          <p:nvCxnSpPr>
            <p:cNvPr id="252" name="Straight Connector 251"/>
            <p:cNvCxnSpPr>
              <a:endCxn id="281" idx="3"/>
            </p:cNvCxnSpPr>
            <p:nvPr/>
          </p:nvCxnSpPr>
          <p:spPr bwMode="auto">
            <a:xfrm flipV="1">
              <a:off x="4421440" y="5558172"/>
              <a:ext cx="547104" cy="830819"/>
            </a:xfrm>
            <a:prstGeom prst="line">
              <a:avLst/>
            </a:prstGeom>
            <a:noFill/>
            <a:ln w="38100" cap="flat" cmpd="sng" algn="ctr">
              <a:solidFill>
                <a:srgbClr val="D3A600"/>
              </a:solidFill>
              <a:prstDash val="solid"/>
              <a:round/>
              <a:headEnd type="none" w="med" len="med"/>
              <a:tailEnd type="none" w="med" len="med"/>
            </a:ln>
            <a:effectLst/>
          </p:spPr>
        </p:cxnSp>
        <p:cxnSp>
          <p:nvCxnSpPr>
            <p:cNvPr id="253" name="Straight Connector 252"/>
            <p:cNvCxnSpPr/>
            <p:nvPr/>
          </p:nvCxnSpPr>
          <p:spPr bwMode="auto">
            <a:xfrm>
              <a:off x="4968543" y="5558172"/>
              <a:ext cx="621524" cy="749016"/>
            </a:xfrm>
            <a:prstGeom prst="line">
              <a:avLst/>
            </a:prstGeom>
            <a:noFill/>
            <a:ln w="38100" cap="flat" cmpd="sng" algn="ctr">
              <a:solidFill>
                <a:srgbClr val="D3A600"/>
              </a:solidFill>
              <a:prstDash val="solid"/>
              <a:round/>
              <a:headEnd type="none" w="med" len="med"/>
              <a:tailEnd type="none" w="med" len="med"/>
            </a:ln>
            <a:effectLst/>
          </p:spPr>
        </p:cxnSp>
        <p:sp>
          <p:nvSpPr>
            <p:cNvPr id="257" name="Cube 256"/>
            <p:cNvSpPr/>
            <p:nvPr/>
          </p:nvSpPr>
          <p:spPr bwMode="auto">
            <a:xfrm>
              <a:off x="4060162" y="6323124"/>
              <a:ext cx="637460" cy="382476"/>
            </a:xfrm>
            <a:prstGeom prst="cube">
              <a:avLst/>
            </a:prstGeom>
            <a:solidFill>
              <a:schemeClr val="tx1"/>
            </a:solidFill>
            <a:ln w="9525" cap="flat" cmpd="sng" algn="ctr">
              <a:solidFill>
                <a:srgbClr val="00009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sp>
          <p:nvSpPr>
            <p:cNvPr id="258" name="Cube 257"/>
            <p:cNvSpPr/>
            <p:nvPr/>
          </p:nvSpPr>
          <p:spPr bwMode="auto">
            <a:xfrm>
              <a:off x="5590067" y="6068140"/>
              <a:ext cx="637460" cy="382476"/>
            </a:xfrm>
            <a:prstGeom prst="cube">
              <a:avLst/>
            </a:prstGeom>
            <a:solidFill>
              <a:schemeClr val="tx1"/>
            </a:solidFill>
            <a:ln w="9525" cap="flat" cmpd="sng" algn="ctr">
              <a:solidFill>
                <a:srgbClr val="00009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sp>
          <p:nvSpPr>
            <p:cNvPr id="259" name="Cube 258"/>
            <p:cNvSpPr/>
            <p:nvPr/>
          </p:nvSpPr>
          <p:spPr bwMode="auto">
            <a:xfrm>
              <a:off x="2713528" y="5581849"/>
              <a:ext cx="637460" cy="382476"/>
            </a:xfrm>
            <a:prstGeom prst="cube">
              <a:avLst/>
            </a:prstGeom>
            <a:solidFill>
              <a:schemeClr val="tx1"/>
            </a:solidFill>
            <a:ln w="9525" cap="flat" cmpd="sng" algn="ctr">
              <a:solidFill>
                <a:srgbClr val="00009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2000" b="1" i="0" u="none" strike="noStrike" cap="none" normalizeH="0" baseline="0">
                <a:ln>
                  <a:noFill/>
                </a:ln>
                <a:solidFill>
                  <a:schemeClr val="tx1"/>
                </a:solidFill>
                <a:effectLst/>
                <a:latin typeface="Courier New" charset="0"/>
              </a:endParaRPr>
            </a:p>
          </p:txBody>
        </p:sp>
        <p:cxnSp>
          <p:nvCxnSpPr>
            <p:cNvPr id="260" name="Straight Connector 259"/>
            <p:cNvCxnSpPr>
              <a:stCxn id="267" idx="3"/>
            </p:cNvCxnSpPr>
            <p:nvPr/>
          </p:nvCxnSpPr>
          <p:spPr bwMode="auto">
            <a:xfrm flipH="1">
              <a:off x="3350988" y="4920711"/>
              <a:ext cx="470127" cy="804567"/>
            </a:xfrm>
            <a:prstGeom prst="line">
              <a:avLst/>
            </a:prstGeom>
            <a:noFill/>
            <a:ln w="38100" cap="flat" cmpd="sng" algn="ctr">
              <a:solidFill>
                <a:srgbClr val="D3A600"/>
              </a:solidFill>
              <a:prstDash val="solid"/>
              <a:round/>
              <a:headEnd type="none" w="med" len="med"/>
              <a:tailEnd type="none" w="med" len="med"/>
            </a:ln>
            <a:effectLst/>
          </p:spPr>
        </p:cxnSp>
        <p:cxnSp>
          <p:nvCxnSpPr>
            <p:cNvPr id="262" name="Straight Connector 261"/>
            <p:cNvCxnSpPr>
              <a:endCxn id="269" idx="3"/>
            </p:cNvCxnSpPr>
            <p:nvPr/>
          </p:nvCxnSpPr>
          <p:spPr bwMode="auto">
            <a:xfrm flipV="1">
              <a:off x="5956607" y="4920711"/>
              <a:ext cx="286857" cy="1147429"/>
            </a:xfrm>
            <a:prstGeom prst="line">
              <a:avLst/>
            </a:prstGeom>
            <a:noFill/>
            <a:ln w="38100" cap="flat" cmpd="sng" algn="ctr">
              <a:solidFill>
                <a:srgbClr val="D3A600"/>
              </a:solidFill>
              <a:prstDash val="solid"/>
              <a:round/>
              <a:headEnd type="none" w="med" len="med"/>
              <a:tailEnd type="none" w="med" len="med"/>
            </a:ln>
            <a:effectLst/>
          </p:spPr>
        </p:cxnSp>
      </p:grpSp>
      <p:graphicFrame>
        <p:nvGraphicFramePr>
          <p:cNvPr id="263" name="Table 262"/>
          <p:cNvGraphicFramePr>
            <a:graphicFrameLocks noGrp="1"/>
          </p:cNvGraphicFramePr>
          <p:nvPr/>
        </p:nvGraphicFramePr>
        <p:xfrm>
          <a:off x="5744829" y="5669727"/>
          <a:ext cx="411643" cy="365761"/>
        </p:xfrm>
        <a:graphic>
          <a:graphicData uri="http://schemas.openxmlformats.org/drawingml/2006/table">
            <a:tbl>
              <a:tblPr firstRow="1" bandRow="1">
                <a:tableStyleId>{125E5076-3810-47DD-B79F-674D7AD40C01}</a:tableStyleId>
              </a:tblPr>
              <a:tblGrid>
                <a:gridCol w="194250">
                  <a:extLst>
                    <a:ext uri="{9D8B030D-6E8A-4147-A177-3AD203B41FA5}">
                      <a16:colId xmlns:a16="http://schemas.microsoft.com/office/drawing/2014/main" val="20000"/>
                    </a:ext>
                  </a:extLst>
                </a:gridCol>
                <a:gridCol w="217393">
                  <a:extLst>
                    <a:ext uri="{9D8B030D-6E8A-4147-A177-3AD203B41FA5}">
                      <a16:colId xmlns:a16="http://schemas.microsoft.com/office/drawing/2014/main" val="20001"/>
                    </a:ext>
                  </a:extLst>
                </a:gridCol>
              </a:tblGrid>
              <a:tr h="87061">
                <a:tc>
                  <a:txBody>
                    <a:bodyPr/>
                    <a:lstStyle/>
                    <a:p>
                      <a:endParaRPr lang="en-US" sz="300" dirty="0">
                        <a:solidFill>
                          <a:schemeClr val="bg1"/>
                        </a:solidFill>
                      </a:endParaRPr>
                    </a:p>
                  </a:txBody>
                  <a:tcPr marL="22629" marR="22629" marT="11317" marB="11317">
                    <a:lnL w="12700" cap="flat" cmpd="sng" algn="ctr">
                      <a:solidFill>
                        <a:srgbClr val="000000"/>
                      </a:solidFill>
                      <a:prstDash val="solid"/>
                      <a:round/>
                      <a:headEnd type="none" w="med" len="med"/>
                      <a:tailEnd type="none" w="med" len="med"/>
                    </a:lnL>
                    <a:lnT w="12700" cap="flat" cmpd="sng" algn="ctr">
                      <a:solidFill>
                        <a:srgbClr val="000000"/>
                      </a:solidFill>
                      <a:prstDash val="solid"/>
                      <a:round/>
                      <a:headEnd type="none" w="med" len="med"/>
                      <a:tailEnd type="none" w="med" len="med"/>
                    </a:lnT>
                  </a:tcPr>
                </a:tc>
                <a:tc>
                  <a:txBody>
                    <a:bodyPr/>
                    <a:lstStyle/>
                    <a:p>
                      <a:endParaRPr lang="en-US" sz="300" dirty="0">
                        <a:solidFill>
                          <a:srgbClr val="FFFFFF"/>
                        </a:solidFill>
                      </a:endParaRPr>
                    </a:p>
                  </a:txBody>
                  <a:tcPr marL="22629" marR="22629" marT="11317" marB="11317">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0000"/>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1"/>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2"/>
                  </a:ext>
                </a:extLst>
              </a:tr>
              <a:tr h="69675">
                <a:tc>
                  <a:txBody>
                    <a:bodyPr/>
                    <a:lstStyle/>
                    <a:p>
                      <a:endParaRPr lang="en-US" sz="300" b="0" dirty="0">
                        <a:solidFill>
                          <a:srgbClr val="333399"/>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b="0" dirty="0">
                        <a:solidFill>
                          <a:srgbClr val="333399"/>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3"/>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lnB w="12700" cap="flat" cmpd="sng" algn="ctr">
                      <a:solidFill>
                        <a:srgbClr val="000000"/>
                      </a:solidFill>
                      <a:prstDash val="solid"/>
                      <a:round/>
                      <a:headEnd type="none" w="med" len="med"/>
                      <a:tailEnd type="none" w="med" len="med"/>
                    </a:lnB>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264" name="Table 263"/>
          <p:cNvGraphicFramePr>
            <a:graphicFrameLocks noGrp="1"/>
          </p:cNvGraphicFramePr>
          <p:nvPr/>
        </p:nvGraphicFramePr>
        <p:xfrm>
          <a:off x="4215619" y="5885259"/>
          <a:ext cx="411643" cy="365761"/>
        </p:xfrm>
        <a:graphic>
          <a:graphicData uri="http://schemas.openxmlformats.org/drawingml/2006/table">
            <a:tbl>
              <a:tblPr firstRow="1" bandRow="1">
                <a:tableStyleId>{125E5076-3810-47DD-B79F-674D7AD40C01}</a:tableStyleId>
              </a:tblPr>
              <a:tblGrid>
                <a:gridCol w="194250">
                  <a:extLst>
                    <a:ext uri="{9D8B030D-6E8A-4147-A177-3AD203B41FA5}">
                      <a16:colId xmlns:a16="http://schemas.microsoft.com/office/drawing/2014/main" val="20000"/>
                    </a:ext>
                  </a:extLst>
                </a:gridCol>
                <a:gridCol w="217393">
                  <a:extLst>
                    <a:ext uri="{9D8B030D-6E8A-4147-A177-3AD203B41FA5}">
                      <a16:colId xmlns:a16="http://schemas.microsoft.com/office/drawing/2014/main" val="20001"/>
                    </a:ext>
                  </a:extLst>
                </a:gridCol>
              </a:tblGrid>
              <a:tr h="87061">
                <a:tc>
                  <a:txBody>
                    <a:bodyPr/>
                    <a:lstStyle/>
                    <a:p>
                      <a:endParaRPr lang="en-US" sz="300" dirty="0">
                        <a:solidFill>
                          <a:schemeClr val="bg1"/>
                        </a:solidFill>
                      </a:endParaRPr>
                    </a:p>
                  </a:txBody>
                  <a:tcPr marL="22629" marR="22629" marT="11317" marB="11317">
                    <a:lnL w="12700" cap="flat" cmpd="sng" algn="ctr">
                      <a:solidFill>
                        <a:srgbClr val="000000"/>
                      </a:solidFill>
                      <a:prstDash val="solid"/>
                      <a:round/>
                      <a:headEnd type="none" w="med" len="med"/>
                      <a:tailEnd type="none" w="med" len="med"/>
                    </a:lnL>
                    <a:lnT w="12700" cap="flat" cmpd="sng" algn="ctr">
                      <a:solidFill>
                        <a:srgbClr val="000000"/>
                      </a:solidFill>
                      <a:prstDash val="solid"/>
                      <a:round/>
                      <a:headEnd type="none" w="med" len="med"/>
                      <a:tailEnd type="none" w="med" len="med"/>
                    </a:lnT>
                  </a:tcPr>
                </a:tc>
                <a:tc>
                  <a:txBody>
                    <a:bodyPr/>
                    <a:lstStyle/>
                    <a:p>
                      <a:endParaRPr lang="en-US" sz="300" dirty="0">
                        <a:solidFill>
                          <a:srgbClr val="FFFFFF"/>
                        </a:solidFill>
                      </a:endParaRPr>
                    </a:p>
                  </a:txBody>
                  <a:tcPr marL="22629" marR="22629" marT="11317" marB="11317">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0000"/>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1"/>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2"/>
                  </a:ext>
                </a:extLst>
              </a:tr>
              <a:tr h="69675">
                <a:tc>
                  <a:txBody>
                    <a:bodyPr/>
                    <a:lstStyle/>
                    <a:p>
                      <a:endParaRPr lang="en-US" sz="300" b="0" dirty="0">
                        <a:solidFill>
                          <a:srgbClr val="333399"/>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b="0" dirty="0">
                        <a:solidFill>
                          <a:srgbClr val="333399"/>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3"/>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lnB w="12700" cap="flat" cmpd="sng" algn="ctr">
                      <a:solidFill>
                        <a:srgbClr val="000000"/>
                      </a:solidFill>
                      <a:prstDash val="solid"/>
                      <a:round/>
                      <a:headEnd type="none" w="med" len="med"/>
                      <a:tailEnd type="none" w="med" len="med"/>
                    </a:lnB>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265" name="Table 264"/>
          <p:cNvGraphicFramePr>
            <a:graphicFrameLocks noGrp="1"/>
          </p:cNvGraphicFramePr>
          <p:nvPr/>
        </p:nvGraphicFramePr>
        <p:xfrm>
          <a:off x="6100035" y="4139822"/>
          <a:ext cx="411643" cy="365761"/>
        </p:xfrm>
        <a:graphic>
          <a:graphicData uri="http://schemas.openxmlformats.org/drawingml/2006/table">
            <a:tbl>
              <a:tblPr firstRow="1" bandRow="1">
                <a:tableStyleId>{125E5076-3810-47DD-B79F-674D7AD40C01}</a:tableStyleId>
              </a:tblPr>
              <a:tblGrid>
                <a:gridCol w="194250">
                  <a:extLst>
                    <a:ext uri="{9D8B030D-6E8A-4147-A177-3AD203B41FA5}">
                      <a16:colId xmlns:a16="http://schemas.microsoft.com/office/drawing/2014/main" val="20000"/>
                    </a:ext>
                  </a:extLst>
                </a:gridCol>
                <a:gridCol w="217393">
                  <a:extLst>
                    <a:ext uri="{9D8B030D-6E8A-4147-A177-3AD203B41FA5}">
                      <a16:colId xmlns:a16="http://schemas.microsoft.com/office/drawing/2014/main" val="20001"/>
                    </a:ext>
                  </a:extLst>
                </a:gridCol>
              </a:tblGrid>
              <a:tr h="87061">
                <a:tc>
                  <a:txBody>
                    <a:bodyPr/>
                    <a:lstStyle/>
                    <a:p>
                      <a:endParaRPr lang="en-US" sz="300" dirty="0">
                        <a:solidFill>
                          <a:schemeClr val="bg1"/>
                        </a:solidFill>
                      </a:endParaRPr>
                    </a:p>
                  </a:txBody>
                  <a:tcPr marL="22629" marR="22629" marT="11317" marB="11317">
                    <a:lnL w="12700" cap="flat" cmpd="sng" algn="ctr">
                      <a:solidFill>
                        <a:srgbClr val="000000"/>
                      </a:solidFill>
                      <a:prstDash val="solid"/>
                      <a:round/>
                      <a:headEnd type="none" w="med" len="med"/>
                      <a:tailEnd type="none" w="med" len="med"/>
                    </a:lnL>
                    <a:lnT w="12700" cap="flat" cmpd="sng" algn="ctr">
                      <a:solidFill>
                        <a:srgbClr val="000000"/>
                      </a:solidFill>
                      <a:prstDash val="solid"/>
                      <a:round/>
                      <a:headEnd type="none" w="med" len="med"/>
                      <a:tailEnd type="none" w="med" len="med"/>
                    </a:lnT>
                  </a:tcPr>
                </a:tc>
                <a:tc>
                  <a:txBody>
                    <a:bodyPr/>
                    <a:lstStyle/>
                    <a:p>
                      <a:endParaRPr lang="en-US" sz="300" dirty="0">
                        <a:solidFill>
                          <a:srgbClr val="FFFFFF"/>
                        </a:solidFill>
                      </a:endParaRPr>
                    </a:p>
                  </a:txBody>
                  <a:tcPr marL="22629" marR="22629" marT="11317" marB="11317">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0000"/>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1"/>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2"/>
                  </a:ext>
                </a:extLst>
              </a:tr>
              <a:tr h="69675">
                <a:tc>
                  <a:txBody>
                    <a:bodyPr/>
                    <a:lstStyle/>
                    <a:p>
                      <a:endParaRPr lang="en-US" sz="300" b="0" dirty="0">
                        <a:solidFill>
                          <a:srgbClr val="333399"/>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b="0" dirty="0">
                        <a:solidFill>
                          <a:srgbClr val="333399"/>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3"/>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lnB w="12700" cap="flat" cmpd="sng" algn="ctr">
                      <a:solidFill>
                        <a:srgbClr val="000000"/>
                      </a:solidFill>
                      <a:prstDash val="solid"/>
                      <a:round/>
                      <a:headEnd type="none" w="med" len="med"/>
                      <a:tailEnd type="none" w="med" len="med"/>
                    </a:lnB>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266" name="Table 265"/>
          <p:cNvGraphicFramePr>
            <a:graphicFrameLocks noGrp="1"/>
          </p:cNvGraphicFramePr>
          <p:nvPr/>
        </p:nvGraphicFramePr>
        <p:xfrm>
          <a:off x="4822743" y="4766064"/>
          <a:ext cx="411643" cy="365761"/>
        </p:xfrm>
        <a:graphic>
          <a:graphicData uri="http://schemas.openxmlformats.org/drawingml/2006/table">
            <a:tbl>
              <a:tblPr firstRow="1" bandRow="1">
                <a:tableStyleId>{125E5076-3810-47DD-B79F-674D7AD40C01}</a:tableStyleId>
              </a:tblPr>
              <a:tblGrid>
                <a:gridCol w="194250">
                  <a:extLst>
                    <a:ext uri="{9D8B030D-6E8A-4147-A177-3AD203B41FA5}">
                      <a16:colId xmlns:a16="http://schemas.microsoft.com/office/drawing/2014/main" val="20000"/>
                    </a:ext>
                  </a:extLst>
                </a:gridCol>
                <a:gridCol w="217393">
                  <a:extLst>
                    <a:ext uri="{9D8B030D-6E8A-4147-A177-3AD203B41FA5}">
                      <a16:colId xmlns:a16="http://schemas.microsoft.com/office/drawing/2014/main" val="20001"/>
                    </a:ext>
                  </a:extLst>
                </a:gridCol>
              </a:tblGrid>
              <a:tr h="87061">
                <a:tc>
                  <a:txBody>
                    <a:bodyPr/>
                    <a:lstStyle/>
                    <a:p>
                      <a:endParaRPr lang="en-US" sz="300" dirty="0">
                        <a:solidFill>
                          <a:schemeClr val="bg1"/>
                        </a:solidFill>
                      </a:endParaRPr>
                    </a:p>
                  </a:txBody>
                  <a:tcPr marL="22629" marR="22629" marT="11317" marB="11317">
                    <a:lnL w="12700" cap="flat" cmpd="sng" algn="ctr">
                      <a:solidFill>
                        <a:srgbClr val="000000"/>
                      </a:solidFill>
                      <a:prstDash val="solid"/>
                      <a:round/>
                      <a:headEnd type="none" w="med" len="med"/>
                      <a:tailEnd type="none" w="med" len="med"/>
                    </a:lnL>
                    <a:lnT w="12700" cap="flat" cmpd="sng" algn="ctr">
                      <a:solidFill>
                        <a:srgbClr val="000000"/>
                      </a:solidFill>
                      <a:prstDash val="solid"/>
                      <a:round/>
                      <a:headEnd type="none" w="med" len="med"/>
                      <a:tailEnd type="none" w="med" len="med"/>
                    </a:lnT>
                  </a:tcPr>
                </a:tc>
                <a:tc>
                  <a:txBody>
                    <a:bodyPr/>
                    <a:lstStyle/>
                    <a:p>
                      <a:endParaRPr lang="en-US" sz="300" dirty="0">
                        <a:solidFill>
                          <a:srgbClr val="FFFFFF"/>
                        </a:solidFill>
                      </a:endParaRPr>
                    </a:p>
                  </a:txBody>
                  <a:tcPr marL="22629" marR="22629" marT="11317" marB="11317">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0000"/>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1"/>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2"/>
                  </a:ext>
                </a:extLst>
              </a:tr>
              <a:tr h="69675">
                <a:tc>
                  <a:txBody>
                    <a:bodyPr/>
                    <a:lstStyle/>
                    <a:p>
                      <a:endParaRPr lang="en-US" sz="300" b="0" dirty="0">
                        <a:solidFill>
                          <a:srgbClr val="333399"/>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b="0" dirty="0">
                        <a:solidFill>
                          <a:srgbClr val="333399"/>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3"/>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lnB w="12700" cap="flat" cmpd="sng" algn="ctr">
                      <a:solidFill>
                        <a:srgbClr val="000000"/>
                      </a:solidFill>
                      <a:prstDash val="solid"/>
                      <a:round/>
                      <a:headEnd type="none" w="med" len="med"/>
                      <a:tailEnd type="none" w="med" len="med"/>
                    </a:lnB>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267" name="Table 266"/>
          <p:cNvGraphicFramePr>
            <a:graphicFrameLocks noGrp="1"/>
          </p:cNvGraphicFramePr>
          <p:nvPr/>
        </p:nvGraphicFramePr>
        <p:xfrm>
          <a:off x="3664684" y="4098432"/>
          <a:ext cx="411643" cy="365761"/>
        </p:xfrm>
        <a:graphic>
          <a:graphicData uri="http://schemas.openxmlformats.org/drawingml/2006/table">
            <a:tbl>
              <a:tblPr firstRow="1" bandRow="1">
                <a:tableStyleId>{125E5076-3810-47DD-B79F-674D7AD40C01}</a:tableStyleId>
              </a:tblPr>
              <a:tblGrid>
                <a:gridCol w="194250">
                  <a:extLst>
                    <a:ext uri="{9D8B030D-6E8A-4147-A177-3AD203B41FA5}">
                      <a16:colId xmlns:a16="http://schemas.microsoft.com/office/drawing/2014/main" val="20000"/>
                    </a:ext>
                  </a:extLst>
                </a:gridCol>
                <a:gridCol w="217393">
                  <a:extLst>
                    <a:ext uri="{9D8B030D-6E8A-4147-A177-3AD203B41FA5}">
                      <a16:colId xmlns:a16="http://schemas.microsoft.com/office/drawing/2014/main" val="20001"/>
                    </a:ext>
                  </a:extLst>
                </a:gridCol>
              </a:tblGrid>
              <a:tr h="87061">
                <a:tc>
                  <a:txBody>
                    <a:bodyPr/>
                    <a:lstStyle/>
                    <a:p>
                      <a:endParaRPr lang="en-US" sz="300" dirty="0">
                        <a:solidFill>
                          <a:schemeClr val="bg1"/>
                        </a:solidFill>
                      </a:endParaRPr>
                    </a:p>
                  </a:txBody>
                  <a:tcPr marL="22629" marR="22629" marT="11317" marB="11317">
                    <a:lnL w="12700" cap="flat" cmpd="sng" algn="ctr">
                      <a:solidFill>
                        <a:srgbClr val="000000"/>
                      </a:solidFill>
                      <a:prstDash val="solid"/>
                      <a:round/>
                      <a:headEnd type="none" w="med" len="med"/>
                      <a:tailEnd type="none" w="med" len="med"/>
                    </a:lnL>
                    <a:lnT w="12700" cap="flat" cmpd="sng" algn="ctr">
                      <a:solidFill>
                        <a:srgbClr val="000000"/>
                      </a:solidFill>
                      <a:prstDash val="solid"/>
                      <a:round/>
                      <a:headEnd type="none" w="med" len="med"/>
                      <a:tailEnd type="none" w="med" len="med"/>
                    </a:lnT>
                  </a:tcPr>
                </a:tc>
                <a:tc>
                  <a:txBody>
                    <a:bodyPr/>
                    <a:lstStyle/>
                    <a:p>
                      <a:endParaRPr lang="en-US" sz="300" dirty="0">
                        <a:solidFill>
                          <a:srgbClr val="FFFFFF"/>
                        </a:solidFill>
                      </a:endParaRPr>
                    </a:p>
                  </a:txBody>
                  <a:tcPr marL="22629" marR="22629" marT="11317" marB="11317">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tcPr>
                </a:tc>
                <a:extLst>
                  <a:ext uri="{0D108BD9-81ED-4DB2-BD59-A6C34878D82A}">
                    <a16:rowId xmlns:a16="http://schemas.microsoft.com/office/drawing/2014/main" val="10000"/>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1"/>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2"/>
                  </a:ext>
                </a:extLst>
              </a:tr>
              <a:tr h="69675">
                <a:tc>
                  <a:txBody>
                    <a:bodyPr/>
                    <a:lstStyle/>
                    <a:p>
                      <a:endParaRPr lang="en-US" sz="300" b="0" dirty="0">
                        <a:solidFill>
                          <a:srgbClr val="333399"/>
                        </a:solidFill>
                      </a:endParaRPr>
                    </a:p>
                  </a:txBody>
                  <a:tcPr marL="22629" marR="22629" marT="11317" marB="11317">
                    <a:lnL w="12700" cap="flat" cmpd="sng" algn="ctr">
                      <a:solidFill>
                        <a:srgbClr val="000000"/>
                      </a:solidFill>
                      <a:prstDash val="solid"/>
                      <a:round/>
                      <a:headEnd type="none" w="med" len="med"/>
                      <a:tailEnd type="none" w="med" len="med"/>
                    </a:lnL>
                  </a:tcPr>
                </a:tc>
                <a:tc>
                  <a:txBody>
                    <a:bodyPr/>
                    <a:lstStyle/>
                    <a:p>
                      <a:endParaRPr lang="en-US" sz="300" b="0" dirty="0">
                        <a:solidFill>
                          <a:srgbClr val="333399"/>
                        </a:solidFill>
                      </a:endParaRPr>
                    </a:p>
                  </a:txBody>
                  <a:tcPr marL="22629" marR="22629" marT="11317" marB="11317">
                    <a:lnR w="12700" cap="flat" cmpd="sng" algn="ctr">
                      <a:solidFill>
                        <a:srgbClr val="000000"/>
                      </a:solidFill>
                      <a:prstDash val="solid"/>
                      <a:round/>
                      <a:headEnd type="none" w="med" len="med"/>
                      <a:tailEnd type="none" w="med" len="med"/>
                    </a:lnR>
                  </a:tcPr>
                </a:tc>
                <a:extLst>
                  <a:ext uri="{0D108BD9-81ED-4DB2-BD59-A6C34878D82A}">
                    <a16:rowId xmlns:a16="http://schemas.microsoft.com/office/drawing/2014/main" val="10003"/>
                  </a:ext>
                </a:extLst>
              </a:tr>
              <a:tr h="69675">
                <a:tc>
                  <a:txBody>
                    <a:bodyPr/>
                    <a:lstStyle/>
                    <a:p>
                      <a:endParaRPr lang="en-US" sz="300" dirty="0">
                        <a:solidFill>
                          <a:schemeClr val="tx1"/>
                        </a:solidFill>
                      </a:endParaRPr>
                    </a:p>
                  </a:txBody>
                  <a:tcPr marL="22629" marR="22629" marT="11317" marB="11317">
                    <a:lnL w="12700" cap="flat" cmpd="sng" algn="ctr">
                      <a:solidFill>
                        <a:srgbClr val="000000"/>
                      </a:solidFill>
                      <a:prstDash val="solid"/>
                      <a:round/>
                      <a:headEnd type="none" w="med" len="med"/>
                      <a:tailEnd type="none" w="med" len="med"/>
                    </a:lnL>
                    <a:lnB w="12700" cap="flat" cmpd="sng" algn="ctr">
                      <a:solidFill>
                        <a:srgbClr val="000000"/>
                      </a:solidFill>
                      <a:prstDash val="solid"/>
                      <a:round/>
                      <a:headEnd type="none" w="med" len="med"/>
                      <a:tailEnd type="none" w="med" len="med"/>
                    </a:lnB>
                  </a:tcPr>
                </a:tc>
                <a:tc>
                  <a:txBody>
                    <a:bodyPr/>
                    <a:lstStyle/>
                    <a:p>
                      <a:endParaRPr lang="en-US" sz="300" dirty="0">
                        <a:solidFill>
                          <a:schemeClr val="tx1"/>
                        </a:solidFill>
                      </a:endParaRPr>
                    </a:p>
                  </a:txBody>
                  <a:tcPr marL="22629" marR="22629" marT="11317" marB="11317">
                    <a:lnR w="12700" cap="flat" cmpd="sng" algn="ctr">
                      <a:solidFill>
                        <a:srgbClr val="000000"/>
                      </a:solidFill>
                      <a:prstDash val="solid"/>
                      <a:round/>
                      <a:headEnd type="none" w="med" len="med"/>
                      <a:tailEnd type="none" w="med" len="med"/>
                    </a:lnR>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pSp>
        <p:nvGrpSpPr>
          <p:cNvPr id="9" name="Group 8"/>
          <p:cNvGrpSpPr/>
          <p:nvPr/>
        </p:nvGrpSpPr>
        <p:grpSpPr>
          <a:xfrm>
            <a:off x="2849378" y="2655191"/>
            <a:ext cx="3624775" cy="1084430"/>
            <a:chOff x="2849378" y="2655191"/>
            <a:chExt cx="3624775" cy="1084430"/>
          </a:xfrm>
        </p:grpSpPr>
        <p:sp>
          <p:nvSpPr>
            <p:cNvPr id="269" name="Oval 268"/>
            <p:cNvSpPr>
              <a:spLocks noChangeAspect="1"/>
            </p:cNvSpPr>
            <p:nvPr/>
          </p:nvSpPr>
          <p:spPr bwMode="auto">
            <a:xfrm>
              <a:off x="2849378" y="3371612"/>
              <a:ext cx="365760" cy="365760"/>
            </a:xfrm>
            <a:prstGeom prst="ellipse">
              <a:avLst/>
            </a:prstGeom>
            <a:solidFill>
              <a:schemeClr val="tx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70" name="Oval 269"/>
            <p:cNvSpPr>
              <a:spLocks noChangeAspect="1"/>
            </p:cNvSpPr>
            <p:nvPr/>
          </p:nvSpPr>
          <p:spPr bwMode="auto">
            <a:xfrm>
              <a:off x="3636353" y="2655191"/>
              <a:ext cx="365760" cy="365760"/>
            </a:xfrm>
            <a:prstGeom prst="ellipse">
              <a:avLst/>
            </a:prstGeom>
            <a:solidFill>
              <a:schemeClr val="tx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71" name="Oval 270"/>
            <p:cNvSpPr>
              <a:spLocks noChangeAspect="1"/>
            </p:cNvSpPr>
            <p:nvPr/>
          </p:nvSpPr>
          <p:spPr bwMode="auto">
            <a:xfrm>
              <a:off x="4196483" y="3373861"/>
              <a:ext cx="365760" cy="365760"/>
            </a:xfrm>
            <a:prstGeom prst="ellipse">
              <a:avLst/>
            </a:prstGeom>
            <a:solidFill>
              <a:schemeClr val="tx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76" name="Oval 275"/>
            <p:cNvSpPr>
              <a:spLocks noChangeAspect="1"/>
            </p:cNvSpPr>
            <p:nvPr/>
          </p:nvSpPr>
          <p:spPr bwMode="auto">
            <a:xfrm>
              <a:off x="4845684" y="2661695"/>
              <a:ext cx="365760" cy="365760"/>
            </a:xfrm>
            <a:prstGeom prst="ellipse">
              <a:avLst/>
            </a:prstGeom>
            <a:solidFill>
              <a:schemeClr val="tx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77" name="Oval 276"/>
            <p:cNvSpPr>
              <a:spLocks noChangeAspect="1"/>
            </p:cNvSpPr>
            <p:nvPr/>
          </p:nvSpPr>
          <p:spPr bwMode="auto">
            <a:xfrm>
              <a:off x="5734275" y="3371612"/>
              <a:ext cx="365760" cy="365760"/>
            </a:xfrm>
            <a:prstGeom prst="ellipse">
              <a:avLst/>
            </a:prstGeom>
            <a:solidFill>
              <a:schemeClr val="tx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78" name="Oval 277"/>
            <p:cNvSpPr>
              <a:spLocks noChangeAspect="1"/>
            </p:cNvSpPr>
            <p:nvPr/>
          </p:nvSpPr>
          <p:spPr bwMode="auto">
            <a:xfrm>
              <a:off x="6108393" y="2655191"/>
              <a:ext cx="365760" cy="365760"/>
            </a:xfrm>
            <a:prstGeom prst="ellipse">
              <a:avLst/>
            </a:prstGeom>
            <a:solidFill>
              <a:schemeClr val="tx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cxnSp>
          <p:nvCxnSpPr>
            <p:cNvPr id="279" name="Straight Connector 278"/>
            <p:cNvCxnSpPr/>
            <p:nvPr/>
          </p:nvCxnSpPr>
          <p:spPr bwMode="auto">
            <a:xfrm flipH="1">
              <a:off x="3161574" y="2967387"/>
              <a:ext cx="528343" cy="457789"/>
            </a:xfrm>
            <a:prstGeom prst="line">
              <a:avLst/>
            </a:prstGeom>
            <a:noFill/>
            <a:ln w="38100" cap="flat" cmpd="sng" algn="ctr">
              <a:solidFill>
                <a:srgbClr val="D3A600"/>
              </a:solidFill>
              <a:prstDash val="solid"/>
              <a:round/>
              <a:headEnd type="stealth" w="lg" len="lg"/>
              <a:tailEnd type="stealth" w="lg" len="lg"/>
            </a:ln>
            <a:effectLst/>
          </p:spPr>
        </p:cxnSp>
        <p:cxnSp>
          <p:nvCxnSpPr>
            <p:cNvPr id="280" name="Straight Connector 279"/>
            <p:cNvCxnSpPr/>
            <p:nvPr/>
          </p:nvCxnSpPr>
          <p:spPr bwMode="auto">
            <a:xfrm flipH="1" flipV="1">
              <a:off x="4002113" y="2838071"/>
              <a:ext cx="843571" cy="6504"/>
            </a:xfrm>
            <a:prstGeom prst="line">
              <a:avLst/>
            </a:prstGeom>
            <a:noFill/>
            <a:ln w="38100" cap="flat" cmpd="sng" algn="ctr">
              <a:solidFill>
                <a:srgbClr val="D3A600"/>
              </a:solidFill>
              <a:prstDash val="solid"/>
              <a:round/>
              <a:headEnd type="stealth" w="lg" len="lg"/>
              <a:tailEnd type="stealth" w="lg" len="lg"/>
            </a:ln>
            <a:effectLst/>
          </p:spPr>
        </p:cxnSp>
        <p:cxnSp>
          <p:nvCxnSpPr>
            <p:cNvPr id="281" name="Straight Connector 280"/>
            <p:cNvCxnSpPr/>
            <p:nvPr/>
          </p:nvCxnSpPr>
          <p:spPr bwMode="auto">
            <a:xfrm flipH="1">
              <a:off x="4508679" y="2973891"/>
              <a:ext cx="390569" cy="453534"/>
            </a:xfrm>
            <a:prstGeom prst="line">
              <a:avLst/>
            </a:prstGeom>
            <a:noFill/>
            <a:ln w="38100" cap="flat" cmpd="sng" algn="ctr">
              <a:solidFill>
                <a:srgbClr val="D3A600"/>
              </a:solidFill>
              <a:prstDash val="solid"/>
              <a:round/>
              <a:headEnd type="stealth" w="lg" len="lg"/>
              <a:tailEnd type="stealth" w="lg" len="lg"/>
            </a:ln>
            <a:effectLst/>
          </p:spPr>
        </p:cxnSp>
        <p:cxnSp>
          <p:nvCxnSpPr>
            <p:cNvPr id="282" name="Straight Connector 281"/>
            <p:cNvCxnSpPr/>
            <p:nvPr/>
          </p:nvCxnSpPr>
          <p:spPr bwMode="auto">
            <a:xfrm>
              <a:off x="5157880" y="2973891"/>
              <a:ext cx="629959" cy="451285"/>
            </a:xfrm>
            <a:prstGeom prst="line">
              <a:avLst/>
            </a:prstGeom>
            <a:noFill/>
            <a:ln w="38100" cap="flat" cmpd="sng" algn="ctr">
              <a:solidFill>
                <a:srgbClr val="D3A600"/>
              </a:solidFill>
              <a:prstDash val="solid"/>
              <a:round/>
              <a:headEnd type="stealth" w="lg" len="lg"/>
              <a:tailEnd type="stealth" w="lg" len="lg"/>
            </a:ln>
            <a:effectLst/>
          </p:spPr>
        </p:cxnSp>
        <p:cxnSp>
          <p:nvCxnSpPr>
            <p:cNvPr id="283" name="Straight Connector 282"/>
            <p:cNvCxnSpPr/>
            <p:nvPr/>
          </p:nvCxnSpPr>
          <p:spPr bwMode="auto">
            <a:xfrm flipH="1">
              <a:off x="6046471" y="2967387"/>
              <a:ext cx="115486" cy="457789"/>
            </a:xfrm>
            <a:prstGeom prst="line">
              <a:avLst/>
            </a:prstGeom>
            <a:noFill/>
            <a:ln w="38100" cap="flat" cmpd="sng" algn="ctr">
              <a:solidFill>
                <a:srgbClr val="D3A600"/>
              </a:solidFill>
              <a:prstDash val="solid"/>
              <a:round/>
              <a:headEnd type="stealth" w="lg" len="lg"/>
              <a:tailEnd type="stealth" w="lg" len="lg"/>
            </a:ln>
            <a:effectLst/>
          </p:spPr>
        </p:cxnSp>
        <p:cxnSp>
          <p:nvCxnSpPr>
            <p:cNvPr id="284" name="Straight Connector 283"/>
            <p:cNvCxnSpPr/>
            <p:nvPr/>
          </p:nvCxnSpPr>
          <p:spPr bwMode="auto">
            <a:xfrm flipV="1">
              <a:off x="5211444" y="2838071"/>
              <a:ext cx="896949" cy="6504"/>
            </a:xfrm>
            <a:prstGeom prst="line">
              <a:avLst/>
            </a:prstGeom>
            <a:noFill/>
            <a:ln w="38100" cap="flat" cmpd="sng" algn="ctr">
              <a:solidFill>
                <a:srgbClr val="D3A600"/>
              </a:solidFill>
              <a:prstDash val="solid"/>
              <a:round/>
              <a:headEnd type="stealth" w="lg" len="lg"/>
              <a:tailEnd type="stealth" w="lg" len="lg"/>
            </a:ln>
            <a:effectLst/>
          </p:spPr>
        </p:cxnSp>
      </p:grpSp>
      <p:cxnSp>
        <p:nvCxnSpPr>
          <p:cNvPr id="285" name="Straight Connector 284"/>
          <p:cNvCxnSpPr/>
          <p:nvPr/>
        </p:nvCxnSpPr>
        <p:spPr bwMode="auto">
          <a:xfrm>
            <a:off x="1752600" y="3886200"/>
            <a:ext cx="6858000" cy="0"/>
          </a:xfrm>
          <a:prstGeom prst="line">
            <a:avLst/>
          </a:prstGeom>
          <a:solidFill>
            <a:schemeClr val="accent1"/>
          </a:solidFill>
          <a:ln w="38100" cap="flat" cmpd="sng" algn="ctr">
            <a:solidFill>
              <a:schemeClr val="accent2"/>
            </a:solidFill>
            <a:prstDash val="sysDash"/>
            <a:round/>
            <a:headEnd type="none" w="med" len="med"/>
            <a:tailEnd type="none" w="med" len="med"/>
          </a:ln>
          <a:effectLst/>
        </p:spPr>
      </p:cxnSp>
      <p:sp>
        <p:nvSpPr>
          <p:cNvPr id="286" name="TextBox 285"/>
          <p:cNvSpPr txBox="1"/>
          <p:nvPr/>
        </p:nvSpPr>
        <p:spPr>
          <a:xfrm>
            <a:off x="7467600" y="3072825"/>
            <a:ext cx="914033" cy="584775"/>
          </a:xfrm>
          <a:prstGeom prst="rect">
            <a:avLst/>
          </a:prstGeom>
          <a:noFill/>
        </p:spPr>
        <p:txBody>
          <a:bodyPr wrap="none" rtlCol="0">
            <a:spAutoFit/>
          </a:bodyPr>
          <a:lstStyle/>
          <a:p>
            <a:pPr algn="ctr"/>
            <a:r>
              <a:rPr lang="en-US" dirty="0"/>
              <a:t>Control</a:t>
            </a:r>
          </a:p>
          <a:p>
            <a:pPr algn="ctr"/>
            <a:r>
              <a:rPr lang="en-US" dirty="0"/>
              <a:t>Plane</a:t>
            </a:r>
          </a:p>
        </p:txBody>
      </p:sp>
      <p:sp>
        <p:nvSpPr>
          <p:cNvPr id="287" name="TextBox 286"/>
          <p:cNvSpPr txBox="1"/>
          <p:nvPr/>
        </p:nvSpPr>
        <p:spPr>
          <a:xfrm>
            <a:off x="7558971" y="4038600"/>
            <a:ext cx="731290" cy="584775"/>
          </a:xfrm>
          <a:prstGeom prst="rect">
            <a:avLst/>
          </a:prstGeom>
          <a:noFill/>
        </p:spPr>
        <p:txBody>
          <a:bodyPr wrap="none" rtlCol="0">
            <a:spAutoFit/>
          </a:bodyPr>
          <a:lstStyle/>
          <a:p>
            <a:pPr algn="ctr"/>
            <a:r>
              <a:rPr lang="en-US" dirty="0"/>
              <a:t>Data</a:t>
            </a:r>
          </a:p>
          <a:p>
            <a:pPr algn="ctr"/>
            <a:r>
              <a:rPr lang="en-US" dirty="0"/>
              <a:t>Plane</a:t>
            </a:r>
          </a:p>
        </p:txBody>
      </p:sp>
      <p:sp>
        <p:nvSpPr>
          <p:cNvPr id="2" name="Oval 1"/>
          <p:cNvSpPr/>
          <p:nvPr/>
        </p:nvSpPr>
        <p:spPr bwMode="auto">
          <a:xfrm>
            <a:off x="2057400" y="2661695"/>
            <a:ext cx="5257800" cy="1075677"/>
          </a:xfrm>
          <a:prstGeom prst="ellipse">
            <a:avLst/>
          </a:prstGeom>
          <a:solidFill>
            <a:schemeClr val="tx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400" b="1" i="0" u="none" strike="noStrike" cap="none" normalizeH="0" baseline="0" dirty="0">
                <a:ln>
                  <a:noFill/>
                </a:ln>
                <a:solidFill>
                  <a:schemeClr val="bg1"/>
                </a:solidFill>
                <a:effectLst/>
                <a:latin typeface="Arial" charset="0"/>
              </a:rPr>
              <a:t>Remote Control</a:t>
            </a:r>
          </a:p>
        </p:txBody>
      </p:sp>
      <p:grpSp>
        <p:nvGrpSpPr>
          <p:cNvPr id="35" name="Group 34"/>
          <p:cNvGrpSpPr/>
          <p:nvPr/>
        </p:nvGrpSpPr>
        <p:grpSpPr>
          <a:xfrm>
            <a:off x="3080068" y="3581400"/>
            <a:ext cx="3259015" cy="2741724"/>
            <a:chOff x="3080068" y="3581400"/>
            <a:chExt cx="3259015" cy="2741724"/>
          </a:xfrm>
        </p:grpSpPr>
        <p:cxnSp>
          <p:nvCxnSpPr>
            <p:cNvPr id="14" name="Straight Connector 13"/>
            <p:cNvCxnSpPr>
              <a:stCxn id="259" idx="0"/>
            </p:cNvCxnSpPr>
            <p:nvPr/>
          </p:nvCxnSpPr>
          <p:spPr bwMode="auto">
            <a:xfrm flipV="1">
              <a:off x="3080068" y="3657600"/>
              <a:ext cx="270920" cy="1924249"/>
            </a:xfrm>
            <a:prstGeom prst="line">
              <a:avLst/>
            </a:prstGeom>
            <a:solidFill>
              <a:schemeClr val="accent1"/>
            </a:solidFill>
            <a:ln w="9525" cap="flat" cmpd="sng" algn="ctr">
              <a:solidFill>
                <a:schemeClr val="tx1"/>
              </a:solidFill>
              <a:prstDash val="dash"/>
              <a:round/>
              <a:headEnd type="stealth" w="lg" len="lg"/>
              <a:tailEnd type="stealth" w="lg" len="lg"/>
            </a:ln>
            <a:effectLst/>
          </p:spPr>
        </p:cxnSp>
        <p:cxnSp>
          <p:nvCxnSpPr>
            <p:cNvPr id="52" name="Straight Connector 51"/>
            <p:cNvCxnSpPr>
              <a:stCxn id="257" idx="0"/>
              <a:endCxn id="2" idx="4"/>
            </p:cNvCxnSpPr>
            <p:nvPr/>
          </p:nvCxnSpPr>
          <p:spPr bwMode="auto">
            <a:xfrm flipV="1">
              <a:off x="4426702" y="3737372"/>
              <a:ext cx="259598" cy="2585752"/>
            </a:xfrm>
            <a:prstGeom prst="line">
              <a:avLst/>
            </a:prstGeom>
            <a:solidFill>
              <a:schemeClr val="accent1"/>
            </a:solidFill>
            <a:ln w="9525" cap="flat" cmpd="sng" algn="ctr">
              <a:solidFill>
                <a:schemeClr val="tx1"/>
              </a:solidFill>
              <a:prstDash val="dash"/>
              <a:round/>
              <a:headEnd type="stealth" w="lg" len="lg"/>
              <a:tailEnd type="stealth" w="lg" len="lg"/>
            </a:ln>
            <a:effectLst/>
          </p:spPr>
        </p:cxnSp>
        <p:cxnSp>
          <p:nvCxnSpPr>
            <p:cNvPr id="56" name="Straight Connector 55"/>
            <p:cNvCxnSpPr>
              <a:stCxn id="249" idx="0"/>
            </p:cNvCxnSpPr>
            <p:nvPr/>
          </p:nvCxnSpPr>
          <p:spPr bwMode="auto">
            <a:xfrm flipH="1" flipV="1">
              <a:off x="5029200" y="3737372"/>
              <a:ext cx="34963" cy="1438324"/>
            </a:xfrm>
            <a:prstGeom prst="line">
              <a:avLst/>
            </a:prstGeom>
            <a:solidFill>
              <a:schemeClr val="accent1"/>
            </a:solidFill>
            <a:ln w="9525" cap="flat" cmpd="sng" algn="ctr">
              <a:solidFill>
                <a:schemeClr val="tx1"/>
              </a:solidFill>
              <a:prstDash val="dash"/>
              <a:round/>
              <a:headEnd type="stealth" w="lg" len="lg"/>
              <a:tailEnd type="stealth" w="lg" len="lg"/>
            </a:ln>
            <a:effectLst/>
          </p:spPr>
        </p:cxnSp>
        <p:cxnSp>
          <p:nvCxnSpPr>
            <p:cNvPr id="59" name="Straight Connector 58"/>
            <p:cNvCxnSpPr>
              <a:stCxn id="248" idx="0"/>
            </p:cNvCxnSpPr>
            <p:nvPr/>
          </p:nvCxnSpPr>
          <p:spPr bwMode="auto">
            <a:xfrm flipH="1" flipV="1">
              <a:off x="6243464" y="3581400"/>
              <a:ext cx="95619" cy="956835"/>
            </a:xfrm>
            <a:prstGeom prst="line">
              <a:avLst/>
            </a:prstGeom>
            <a:solidFill>
              <a:schemeClr val="accent1"/>
            </a:solidFill>
            <a:ln w="9525" cap="flat" cmpd="sng" algn="ctr">
              <a:solidFill>
                <a:schemeClr val="tx1"/>
              </a:solidFill>
              <a:prstDash val="dash"/>
              <a:round/>
              <a:headEnd type="stealth" w="lg" len="lg"/>
              <a:tailEnd type="stealth" w="lg" len="lg"/>
            </a:ln>
            <a:effectLst/>
          </p:spPr>
        </p:cxnSp>
        <p:cxnSp>
          <p:nvCxnSpPr>
            <p:cNvPr id="63" name="Straight Connector 62"/>
            <p:cNvCxnSpPr>
              <a:stCxn id="247" idx="0"/>
            </p:cNvCxnSpPr>
            <p:nvPr/>
          </p:nvCxnSpPr>
          <p:spPr bwMode="auto">
            <a:xfrm flipV="1">
              <a:off x="3916734" y="3737372"/>
              <a:ext cx="85379" cy="800863"/>
            </a:xfrm>
            <a:prstGeom prst="line">
              <a:avLst/>
            </a:prstGeom>
            <a:solidFill>
              <a:schemeClr val="accent1"/>
            </a:solidFill>
            <a:ln w="9525" cap="flat" cmpd="sng" algn="ctr">
              <a:solidFill>
                <a:schemeClr val="tx1"/>
              </a:solidFill>
              <a:prstDash val="dash"/>
              <a:round/>
              <a:headEnd type="stealth" w="lg" len="lg"/>
              <a:tailEnd type="stealth" w="lg" len="lg"/>
            </a:ln>
            <a:effectLst/>
          </p:spPr>
        </p:cxnSp>
        <p:cxnSp>
          <p:nvCxnSpPr>
            <p:cNvPr id="66" name="Straight Connector 65"/>
            <p:cNvCxnSpPr>
              <a:stCxn id="258" idx="0"/>
            </p:cNvCxnSpPr>
            <p:nvPr/>
          </p:nvCxnSpPr>
          <p:spPr bwMode="auto">
            <a:xfrm flipH="1" flipV="1">
              <a:off x="5590067" y="3657600"/>
              <a:ext cx="366540" cy="2410540"/>
            </a:xfrm>
            <a:prstGeom prst="line">
              <a:avLst/>
            </a:prstGeom>
            <a:solidFill>
              <a:schemeClr val="accent1"/>
            </a:solidFill>
            <a:ln w="9525" cap="flat" cmpd="sng" algn="ctr">
              <a:solidFill>
                <a:schemeClr val="tx1"/>
              </a:solidFill>
              <a:prstDash val="dash"/>
              <a:round/>
              <a:headEnd type="stealth" w="lg" len="lg"/>
              <a:tailEnd type="stealth" w="lg" len="lg"/>
            </a:ln>
            <a:effectLst/>
          </p:spPr>
        </p:cxnSp>
      </p:grpSp>
      <p:sp>
        <p:nvSpPr>
          <p:cNvPr id="36" name="Date Placeholder 35"/>
          <p:cNvSpPr>
            <a:spLocks noGrp="1"/>
          </p:cNvSpPr>
          <p:nvPr>
            <p:ph type="dt" sz="half" idx="10"/>
          </p:nvPr>
        </p:nvSpPr>
        <p:spPr/>
        <p:txBody>
          <a:bodyPr/>
          <a:lstStyle/>
          <a:p>
            <a:r>
              <a:rPr lang="en-US"/>
              <a:t>April 16, 2025</a:t>
            </a:r>
            <a:endParaRPr lang="en-US" sz="1050" b="0">
              <a:latin typeface="Times New Roman" charset="0"/>
            </a:endParaRPr>
          </a:p>
        </p:txBody>
      </p:sp>
      <p:sp>
        <p:nvSpPr>
          <p:cNvPr id="38" name="Slide Number Placeholder 37"/>
          <p:cNvSpPr>
            <a:spLocks noGrp="1"/>
          </p:cNvSpPr>
          <p:nvPr>
            <p:ph type="sldNum" sz="quarter" idx="12"/>
          </p:nvPr>
        </p:nvSpPr>
        <p:spPr/>
        <p:txBody>
          <a:bodyPr/>
          <a:lstStyle/>
          <a:p>
            <a:fld id="{A190D881-957A-7944-A8D0-1584E528B88F}" type="slidenum">
              <a:rPr lang="en-US" smtClean="0"/>
              <a:pPr/>
              <a:t>40</a:t>
            </a:fld>
            <a:endParaRPr lang="en-US"/>
          </a:p>
        </p:txBody>
      </p:sp>
      <p:sp>
        <p:nvSpPr>
          <p:cNvPr id="3" name="Footer Placeholder 2">
            <a:extLst>
              <a:ext uri="{FF2B5EF4-FFF2-40B4-BE49-F238E27FC236}">
                <a16:creationId xmlns:a16="http://schemas.microsoft.com/office/drawing/2014/main" id="{CAA0879A-E483-4344-9573-38943C0988D9}"/>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Tree>
    <p:extLst>
      <p:ext uri="{BB962C8B-B14F-4D97-AF65-F5344CB8AC3E}">
        <p14:creationId xmlns:p14="http://schemas.microsoft.com/office/powerpoint/2010/main" val="3121961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22" presetClass="entr" presetSubtype="4" fill="hold" nodeType="afterEffect">
                                  <p:stCondLst>
                                    <p:cond delay="0"/>
                                  </p:stCondLst>
                                  <p:childTnLst>
                                    <p:set>
                                      <p:cBhvr>
                                        <p:cTn id="9" dur="1" fill="hold">
                                          <p:stCondLst>
                                            <p:cond delay="0"/>
                                          </p:stCondLst>
                                        </p:cTn>
                                        <p:tgtEl>
                                          <p:spTgt spid="35"/>
                                        </p:tgtEl>
                                        <p:attrNameLst>
                                          <p:attrName>style.visibility</p:attrName>
                                        </p:attrNameLst>
                                      </p:cBhvr>
                                      <p:to>
                                        <p:strVal val="visible"/>
                                      </p:to>
                                    </p:set>
                                    <p:animEffect transition="in" filter="wipe(down)">
                                      <p:cBhvr>
                                        <p:cTn id="1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dirty="0"/>
              <a:t>SDN: Many challenges remain</a:t>
            </a:r>
          </a:p>
        </p:txBody>
      </p:sp>
      <p:sp>
        <p:nvSpPr>
          <p:cNvPr id="3" name="Content Placeholder 2"/>
          <p:cNvSpPr>
            <a:spLocks noGrp="1"/>
          </p:cNvSpPr>
          <p:nvPr>
            <p:ph idx="1"/>
          </p:nvPr>
        </p:nvSpPr>
        <p:spPr/>
        <p:txBody>
          <a:bodyPr/>
          <a:lstStyle/>
          <a:p>
            <a:r>
              <a:rPr lang="en-US" dirty="0"/>
              <a:t>Hardening the control plane: dependable, reliable, performance-scalable, secure distributed system</a:t>
            </a:r>
          </a:p>
          <a:p>
            <a:pPr lvl="1"/>
            <a:r>
              <a:rPr lang="en-US" dirty="0">
                <a:solidFill>
                  <a:srgbClr val="0000FF"/>
                </a:solidFill>
              </a:rPr>
              <a:t>Robustness to failures</a:t>
            </a:r>
            <a:r>
              <a:rPr lang="en-US" dirty="0"/>
              <a:t>: leverage strong theory of reliable distributed system for control plane</a:t>
            </a:r>
          </a:p>
          <a:p>
            <a:pPr lvl="1"/>
            <a:r>
              <a:rPr lang="en-US" dirty="0">
                <a:solidFill>
                  <a:srgbClr val="0000FF"/>
                </a:solidFill>
              </a:rPr>
              <a:t>Security</a:t>
            </a:r>
            <a:r>
              <a:rPr lang="en-US" dirty="0"/>
              <a:t>: “baked in” from day one? </a:t>
            </a:r>
          </a:p>
          <a:p>
            <a:r>
              <a:rPr lang="en-US" dirty="0"/>
              <a:t>Networks, protocols meeting mission-specific requirements</a:t>
            </a:r>
          </a:p>
          <a:p>
            <a:pPr lvl="1"/>
            <a:r>
              <a:rPr lang="en-US" dirty="0"/>
              <a:t>E.g., real-time, ultra-reliable, ultra-secure</a:t>
            </a:r>
          </a:p>
          <a:p>
            <a:r>
              <a:rPr lang="en-US" dirty="0">
                <a:solidFill>
                  <a:srgbClr val="0000FF"/>
                </a:solidFill>
              </a:rPr>
              <a:t>Internet-scaling </a:t>
            </a:r>
          </a:p>
          <a:p>
            <a:endParaRPr lang="en-US" dirty="0"/>
          </a:p>
          <a:p>
            <a:pPr lvl="1"/>
            <a:endParaRPr lang="en-US" dirty="0"/>
          </a:p>
          <a:p>
            <a:endParaRPr lang="en-US" dirty="0"/>
          </a:p>
        </p:txBody>
      </p:sp>
      <p:sp>
        <p:nvSpPr>
          <p:cNvPr id="11" name="Date Placeholder 10"/>
          <p:cNvSpPr>
            <a:spLocks noGrp="1"/>
          </p:cNvSpPr>
          <p:nvPr>
            <p:ph type="dt" sz="half" idx="10"/>
          </p:nvPr>
        </p:nvSpPr>
        <p:spPr/>
        <p:txBody>
          <a:bodyPr/>
          <a:lstStyle/>
          <a:p>
            <a:r>
              <a:rPr lang="en-US"/>
              <a:t>April 16, 2025</a:t>
            </a:r>
            <a:endParaRPr lang="en-US" sz="1050" b="0">
              <a:latin typeface="Times New Roman" charset="0"/>
            </a:endParaRPr>
          </a:p>
        </p:txBody>
      </p:sp>
      <p:sp>
        <p:nvSpPr>
          <p:cNvPr id="12" name="Footer Placeholder 11"/>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13" name="Slide Number Placeholder 12"/>
          <p:cNvSpPr>
            <a:spLocks noGrp="1"/>
          </p:cNvSpPr>
          <p:nvPr>
            <p:ph type="sldNum" sz="quarter" idx="12"/>
          </p:nvPr>
        </p:nvSpPr>
        <p:spPr/>
        <p:txBody>
          <a:bodyPr/>
          <a:lstStyle/>
          <a:p>
            <a:fld id="{A190D881-957A-7944-A8D0-1584E528B88F}" type="slidenum">
              <a:rPr lang="en-US" smtClean="0"/>
              <a:pPr/>
              <a:t>41</a:t>
            </a:fld>
            <a:endParaRPr lang="en-US"/>
          </a:p>
        </p:txBody>
      </p:sp>
    </p:spTree>
    <p:extLst>
      <p:ext uri="{BB962C8B-B14F-4D97-AF65-F5344CB8AC3E}">
        <p14:creationId xmlns:p14="http://schemas.microsoft.com/office/powerpoint/2010/main" val="36390470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49756-2E16-534A-97B9-9EFF1EE87C85}"/>
              </a:ext>
            </a:extLst>
          </p:cNvPr>
          <p:cNvSpPr>
            <a:spLocks noGrp="1"/>
          </p:cNvSpPr>
          <p:nvPr>
            <p:ph type="title"/>
          </p:nvPr>
        </p:nvSpPr>
        <p:spPr/>
        <p:txBody>
          <a:bodyPr/>
          <a:lstStyle/>
          <a:p>
            <a:r>
              <a:rPr lang="en-US" dirty="0"/>
              <a:t>Fixed-function data plane</a:t>
            </a:r>
          </a:p>
        </p:txBody>
      </p:sp>
      <p:sp>
        <p:nvSpPr>
          <p:cNvPr id="3" name="Content Placeholder 2">
            <a:extLst>
              <a:ext uri="{FF2B5EF4-FFF2-40B4-BE49-F238E27FC236}">
                <a16:creationId xmlns:a16="http://schemas.microsoft.com/office/drawing/2014/main" id="{EFC11E66-D3BB-B242-A1B5-D84DF239B3E1}"/>
              </a:ext>
            </a:extLst>
          </p:cNvPr>
          <p:cNvSpPr>
            <a:spLocks noGrp="1"/>
          </p:cNvSpPr>
          <p:nvPr>
            <p:ph idx="1"/>
          </p:nvPr>
        </p:nvSpPr>
        <p:spPr/>
        <p:txBody>
          <a:bodyPr/>
          <a:lstStyle/>
          <a:p>
            <a:r>
              <a:rPr lang="en-US" dirty="0"/>
              <a:t>Traditional switches are fixed-function</a:t>
            </a:r>
          </a:p>
          <a:p>
            <a:pPr lvl="1"/>
            <a:r>
              <a:rPr lang="en-US" dirty="0"/>
              <a:t>They can do whatever they can do at birth, but they cannot change!</a:t>
            </a:r>
          </a:p>
          <a:p>
            <a:pPr lvl="1"/>
            <a:r>
              <a:rPr lang="en-US" dirty="0">
                <a:solidFill>
                  <a:srgbClr val="0000FF"/>
                </a:solidFill>
              </a:rPr>
              <a:t>Bottom-up design</a:t>
            </a:r>
          </a:p>
          <a:p>
            <a:endParaRPr lang="en-US" dirty="0"/>
          </a:p>
          <a:p>
            <a:r>
              <a:rPr lang="en-US" dirty="0"/>
              <a:t>Even OpenFlow was designed to be a fixed protocol</a:t>
            </a:r>
          </a:p>
          <a:p>
            <a:pPr lvl="1"/>
            <a:r>
              <a:rPr lang="en-US" dirty="0"/>
              <a:t>With a fixed table format</a:t>
            </a:r>
          </a:p>
          <a:p>
            <a:pPr lvl="1"/>
            <a:r>
              <a:rPr lang="en-US" dirty="0"/>
              <a:t>Capable of doing limited things</a:t>
            </a:r>
          </a:p>
        </p:txBody>
      </p:sp>
      <p:sp>
        <p:nvSpPr>
          <p:cNvPr id="4" name="Date Placeholder 3">
            <a:extLst>
              <a:ext uri="{FF2B5EF4-FFF2-40B4-BE49-F238E27FC236}">
                <a16:creationId xmlns:a16="http://schemas.microsoft.com/office/drawing/2014/main" id="{857FDA5F-FA19-0146-A821-44A648D42A91}"/>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AA260FC1-30A8-6B45-BCE3-EBF420DF5526}"/>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810AD87E-2533-7048-ABBB-EEBB384CA834}"/>
              </a:ext>
            </a:extLst>
          </p:cNvPr>
          <p:cNvSpPr>
            <a:spLocks noGrp="1"/>
          </p:cNvSpPr>
          <p:nvPr>
            <p:ph type="sldNum" sz="quarter" idx="12"/>
          </p:nvPr>
        </p:nvSpPr>
        <p:spPr/>
        <p:txBody>
          <a:bodyPr/>
          <a:lstStyle/>
          <a:p>
            <a:fld id="{A190D881-957A-7944-A8D0-1584E528B88F}" type="slidenum">
              <a:rPr lang="en-US" smtClean="0"/>
              <a:pPr/>
              <a:t>42</a:t>
            </a:fld>
            <a:endParaRPr lang="en-US"/>
          </a:p>
        </p:txBody>
      </p:sp>
    </p:spTree>
    <p:extLst>
      <p:ext uri="{BB962C8B-B14F-4D97-AF65-F5344CB8AC3E}">
        <p14:creationId xmlns:p14="http://schemas.microsoft.com/office/powerpoint/2010/main" val="12663762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0C67F-C08E-914D-B688-0C8C9BE6A713}"/>
              </a:ext>
            </a:extLst>
          </p:cNvPr>
          <p:cNvSpPr>
            <a:spLocks noGrp="1"/>
          </p:cNvSpPr>
          <p:nvPr>
            <p:ph type="title"/>
          </p:nvPr>
        </p:nvSpPr>
        <p:spPr/>
        <p:txBody>
          <a:bodyPr/>
          <a:lstStyle/>
          <a:p>
            <a:r>
              <a:rPr lang="en-US" dirty="0"/>
              <a:t>Programmable data plane</a:t>
            </a:r>
          </a:p>
        </p:txBody>
      </p:sp>
      <p:sp>
        <p:nvSpPr>
          <p:cNvPr id="3" name="Content Placeholder 2">
            <a:extLst>
              <a:ext uri="{FF2B5EF4-FFF2-40B4-BE49-F238E27FC236}">
                <a16:creationId xmlns:a16="http://schemas.microsoft.com/office/drawing/2014/main" id="{C2D1B49C-2C42-6541-853A-8774DCB6CF09}"/>
              </a:ext>
            </a:extLst>
          </p:cNvPr>
          <p:cNvSpPr>
            <a:spLocks noGrp="1"/>
          </p:cNvSpPr>
          <p:nvPr>
            <p:ph idx="1"/>
          </p:nvPr>
        </p:nvSpPr>
        <p:spPr/>
        <p:txBody>
          <a:bodyPr/>
          <a:lstStyle/>
          <a:p>
            <a:r>
              <a:rPr lang="en-US" dirty="0">
                <a:solidFill>
                  <a:srgbClr val="0000FF"/>
                </a:solidFill>
              </a:rPr>
              <a:t>What if we could tell switches exactly what we want?</a:t>
            </a:r>
          </a:p>
          <a:p>
            <a:pPr lvl="1"/>
            <a:r>
              <a:rPr lang="en-US" dirty="0">
                <a:solidFill>
                  <a:schemeClr val="accent6"/>
                </a:solidFill>
              </a:rPr>
              <a:t>What table to keep?</a:t>
            </a:r>
          </a:p>
          <a:p>
            <a:pPr lvl="1"/>
            <a:r>
              <a:rPr lang="en-US" dirty="0">
                <a:solidFill>
                  <a:schemeClr val="accent6"/>
                </a:solidFill>
              </a:rPr>
              <a:t>What rules to use?</a:t>
            </a:r>
          </a:p>
          <a:p>
            <a:pPr lvl="1"/>
            <a:r>
              <a:rPr lang="en-US" dirty="0">
                <a:solidFill>
                  <a:schemeClr val="accent6"/>
                </a:solidFill>
              </a:rPr>
              <a:t>What data to keep track of?</a:t>
            </a:r>
          </a:p>
          <a:p>
            <a:pPr lvl="1"/>
            <a:r>
              <a:rPr lang="en-US" dirty="0">
                <a:solidFill>
                  <a:schemeClr val="accent6"/>
                </a:solidFill>
              </a:rPr>
              <a:t>…</a:t>
            </a:r>
          </a:p>
        </p:txBody>
      </p:sp>
      <p:sp>
        <p:nvSpPr>
          <p:cNvPr id="4" name="Date Placeholder 3">
            <a:extLst>
              <a:ext uri="{FF2B5EF4-FFF2-40B4-BE49-F238E27FC236}">
                <a16:creationId xmlns:a16="http://schemas.microsoft.com/office/drawing/2014/main" id="{760CC168-3CA2-0345-AAFC-8043CD8895F0}"/>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39CE9BD8-6330-3C4C-8336-73B219578AF2}"/>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BDB45DB9-F3EC-1149-93FF-34E0354CE8DB}"/>
              </a:ext>
            </a:extLst>
          </p:cNvPr>
          <p:cNvSpPr>
            <a:spLocks noGrp="1"/>
          </p:cNvSpPr>
          <p:nvPr>
            <p:ph type="sldNum" sz="quarter" idx="12"/>
          </p:nvPr>
        </p:nvSpPr>
        <p:spPr/>
        <p:txBody>
          <a:bodyPr/>
          <a:lstStyle/>
          <a:p>
            <a:fld id="{A190D881-957A-7944-A8D0-1584E528B88F}" type="slidenum">
              <a:rPr lang="en-US" smtClean="0"/>
              <a:pPr/>
              <a:t>43</a:t>
            </a:fld>
            <a:endParaRPr lang="en-US"/>
          </a:p>
        </p:txBody>
      </p:sp>
    </p:spTree>
    <p:extLst>
      <p:ext uri="{BB962C8B-B14F-4D97-AF65-F5344CB8AC3E}">
        <p14:creationId xmlns:p14="http://schemas.microsoft.com/office/powerpoint/2010/main" val="32212305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BD9E6-C04E-5F42-A584-A140DD4C36C6}"/>
              </a:ext>
            </a:extLst>
          </p:cNvPr>
          <p:cNvSpPr>
            <a:spLocks noGrp="1"/>
          </p:cNvSpPr>
          <p:nvPr>
            <p:ph type="title"/>
          </p:nvPr>
        </p:nvSpPr>
        <p:spPr/>
        <p:txBody>
          <a:bodyPr/>
          <a:lstStyle/>
          <a:p>
            <a:r>
              <a:rPr lang="en-US" dirty="0"/>
              <a:t>Top-down workflow</a:t>
            </a:r>
          </a:p>
        </p:txBody>
      </p:sp>
      <p:sp>
        <p:nvSpPr>
          <p:cNvPr id="3" name="Content Placeholder 2">
            <a:extLst>
              <a:ext uri="{FF2B5EF4-FFF2-40B4-BE49-F238E27FC236}">
                <a16:creationId xmlns:a16="http://schemas.microsoft.com/office/drawing/2014/main" id="{5FD7E6E1-DD2D-0C4E-9F87-317A4A3AE500}"/>
              </a:ext>
            </a:extLst>
          </p:cNvPr>
          <p:cNvSpPr>
            <a:spLocks noGrp="1"/>
          </p:cNvSpPr>
          <p:nvPr>
            <p:ph idx="1"/>
          </p:nvPr>
        </p:nvSpPr>
        <p:spPr/>
        <p:txBody>
          <a:bodyPr/>
          <a:lstStyle/>
          <a:p>
            <a:r>
              <a:rPr lang="en-US" dirty="0"/>
              <a:t>Precisely specify using a well-defined language</a:t>
            </a:r>
          </a:p>
          <a:p>
            <a:r>
              <a:rPr lang="en-US" dirty="0"/>
              <a:t>Compile it down to run on a standardized hardware (e.g., using P4)</a:t>
            </a:r>
          </a:p>
          <a:p>
            <a:r>
              <a:rPr lang="en-US" dirty="0"/>
              <a:t>Run at line speed</a:t>
            </a:r>
          </a:p>
          <a:p>
            <a:endParaRPr lang="en-US" dirty="0"/>
          </a:p>
        </p:txBody>
      </p:sp>
      <p:sp>
        <p:nvSpPr>
          <p:cNvPr id="4" name="Date Placeholder 3">
            <a:extLst>
              <a:ext uri="{FF2B5EF4-FFF2-40B4-BE49-F238E27FC236}">
                <a16:creationId xmlns:a16="http://schemas.microsoft.com/office/drawing/2014/main" id="{E89822DF-BADD-0A4A-955A-74E18D2322AA}"/>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14A6E7F1-D58A-0C45-A50D-3EE6A7280560}"/>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51E39902-7286-D74E-BFCD-0DA8E4654E92}"/>
              </a:ext>
            </a:extLst>
          </p:cNvPr>
          <p:cNvSpPr>
            <a:spLocks noGrp="1"/>
          </p:cNvSpPr>
          <p:nvPr>
            <p:ph type="sldNum" sz="quarter" idx="12"/>
          </p:nvPr>
        </p:nvSpPr>
        <p:spPr/>
        <p:txBody>
          <a:bodyPr/>
          <a:lstStyle/>
          <a:p>
            <a:fld id="{A190D881-957A-7944-A8D0-1584E528B88F}" type="slidenum">
              <a:rPr lang="en-US" smtClean="0"/>
              <a:pPr/>
              <a:t>44</a:t>
            </a:fld>
            <a:endParaRPr lang="en-US"/>
          </a:p>
        </p:txBody>
      </p:sp>
    </p:spTree>
    <p:extLst>
      <p:ext uri="{BB962C8B-B14F-4D97-AF65-F5344CB8AC3E}">
        <p14:creationId xmlns:p14="http://schemas.microsoft.com/office/powerpoint/2010/main" val="42218120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73D20-AFA4-2342-B863-27B85AFF53FA}"/>
              </a:ext>
            </a:extLst>
          </p:cNvPr>
          <p:cNvSpPr>
            <a:spLocks noGrp="1"/>
          </p:cNvSpPr>
          <p:nvPr>
            <p:ph type="title"/>
          </p:nvPr>
        </p:nvSpPr>
        <p:spPr/>
        <p:txBody>
          <a:bodyPr/>
          <a:lstStyle/>
          <a:p>
            <a:r>
              <a:rPr lang="en-US" dirty="0"/>
              <a:t>PISA: Protocol Independent Switch Architecture</a:t>
            </a:r>
          </a:p>
        </p:txBody>
      </p:sp>
      <p:sp>
        <p:nvSpPr>
          <p:cNvPr id="4" name="Date Placeholder 3">
            <a:extLst>
              <a:ext uri="{FF2B5EF4-FFF2-40B4-BE49-F238E27FC236}">
                <a16:creationId xmlns:a16="http://schemas.microsoft.com/office/drawing/2014/main" id="{7F98C468-9DF3-0446-A6F3-02099FE2136D}"/>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A766B7D7-2C0B-EB47-960D-A8E38E19C0B5}"/>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714DD27F-4CB7-3849-8C55-9F311916E50E}"/>
              </a:ext>
            </a:extLst>
          </p:cNvPr>
          <p:cNvSpPr>
            <a:spLocks noGrp="1"/>
          </p:cNvSpPr>
          <p:nvPr>
            <p:ph type="sldNum" sz="quarter" idx="12"/>
          </p:nvPr>
        </p:nvSpPr>
        <p:spPr/>
        <p:txBody>
          <a:bodyPr/>
          <a:lstStyle/>
          <a:p>
            <a:fld id="{A190D881-957A-7944-A8D0-1584E528B88F}" type="slidenum">
              <a:rPr lang="en-US" smtClean="0"/>
              <a:pPr/>
              <a:t>45</a:t>
            </a:fld>
            <a:endParaRPr lang="en-US"/>
          </a:p>
        </p:txBody>
      </p:sp>
      <p:grpSp>
        <p:nvGrpSpPr>
          <p:cNvPr id="265" name="Group 264">
            <a:extLst>
              <a:ext uri="{FF2B5EF4-FFF2-40B4-BE49-F238E27FC236}">
                <a16:creationId xmlns:a16="http://schemas.microsoft.com/office/drawing/2014/main" id="{4581CF4A-FEDA-F64A-BE84-4ACB4C92F601}"/>
              </a:ext>
            </a:extLst>
          </p:cNvPr>
          <p:cNvGrpSpPr/>
          <p:nvPr/>
        </p:nvGrpSpPr>
        <p:grpSpPr>
          <a:xfrm>
            <a:off x="7515907" y="3240058"/>
            <a:ext cx="552334" cy="519142"/>
            <a:chOff x="8131589" y="4009362"/>
            <a:chExt cx="552334" cy="692189"/>
          </a:xfrm>
        </p:grpSpPr>
        <p:grpSp>
          <p:nvGrpSpPr>
            <p:cNvPr id="266" name="Group 65">
              <a:extLst>
                <a:ext uri="{FF2B5EF4-FFF2-40B4-BE49-F238E27FC236}">
                  <a16:creationId xmlns:a16="http://schemas.microsoft.com/office/drawing/2014/main" id="{7939DBD5-C532-104B-8C23-A45920E79A31}"/>
                </a:ext>
              </a:extLst>
            </p:cNvPr>
            <p:cNvGrpSpPr/>
            <p:nvPr/>
          </p:nvGrpSpPr>
          <p:grpSpPr>
            <a:xfrm>
              <a:off x="8131589" y="4009362"/>
              <a:ext cx="551591" cy="228624"/>
              <a:chOff x="7660968" y="1751777"/>
              <a:chExt cx="1040580" cy="450645"/>
            </a:xfrm>
          </p:grpSpPr>
          <p:sp>
            <p:nvSpPr>
              <p:cNvPr id="271" name="Freeform 270">
                <a:extLst>
                  <a:ext uri="{FF2B5EF4-FFF2-40B4-BE49-F238E27FC236}">
                    <a16:creationId xmlns:a16="http://schemas.microsoft.com/office/drawing/2014/main" id="{DAB1DE14-6A37-9940-9FB0-558F0DE59D6C}"/>
                  </a:ext>
                </a:extLst>
              </p:cNvPr>
              <p:cNvSpPr/>
              <p:nvPr/>
            </p:nvSpPr>
            <p:spPr>
              <a:xfrm>
                <a:off x="7660968" y="1751777"/>
                <a:ext cx="1040580" cy="450645"/>
              </a:xfrm>
              <a:custGeom>
                <a:avLst/>
                <a:gdLst>
                  <a:gd name="connsiteX0" fmla="*/ 0 w 1040580"/>
                  <a:gd name="connsiteY0" fmla="*/ 0 h 450645"/>
                  <a:gd name="connsiteX1" fmla="*/ 1040580 w 1040580"/>
                  <a:gd name="connsiteY1" fmla="*/ 8193 h 450645"/>
                  <a:gd name="connsiteX2" fmla="*/ 1032387 w 1040580"/>
                  <a:gd name="connsiteY2" fmla="*/ 450645 h 450645"/>
                  <a:gd name="connsiteX3" fmla="*/ 16387 w 1040580"/>
                  <a:gd name="connsiteY3" fmla="*/ 442451 h 450645"/>
                </a:gdLst>
                <a:ahLst/>
                <a:cxnLst>
                  <a:cxn ang="0">
                    <a:pos x="connsiteX0" y="connsiteY0"/>
                  </a:cxn>
                  <a:cxn ang="0">
                    <a:pos x="connsiteX1" y="connsiteY1"/>
                  </a:cxn>
                  <a:cxn ang="0">
                    <a:pos x="connsiteX2" y="connsiteY2"/>
                  </a:cxn>
                  <a:cxn ang="0">
                    <a:pos x="connsiteX3" y="connsiteY3"/>
                  </a:cxn>
                </a:cxnLst>
                <a:rect l="l" t="t" r="r" b="b"/>
                <a:pathLst>
                  <a:path w="1040580" h="450645">
                    <a:moveTo>
                      <a:pt x="0" y="0"/>
                    </a:moveTo>
                    <a:lnTo>
                      <a:pt x="1040580" y="8193"/>
                    </a:lnTo>
                    <a:lnTo>
                      <a:pt x="1032387" y="450645"/>
                    </a:lnTo>
                    <a:lnTo>
                      <a:pt x="16387" y="442451"/>
                    </a:lnTo>
                  </a:path>
                </a:pathLst>
              </a:custGeom>
              <a:noFill/>
              <a:ln w="25400" cap="flat" cmpd="sng" algn="ctr">
                <a:solidFill>
                  <a:sysClr val="windowText" lastClr="0000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cxnSp>
            <p:nvCxnSpPr>
              <p:cNvPr id="272" name="Straight Connector 271">
                <a:extLst>
                  <a:ext uri="{FF2B5EF4-FFF2-40B4-BE49-F238E27FC236}">
                    <a16:creationId xmlns:a16="http://schemas.microsoft.com/office/drawing/2014/main" id="{9364A080-2EB8-0D46-91A3-41FCEE1B2286}"/>
                  </a:ext>
                </a:extLst>
              </p:cNvPr>
              <p:cNvCxnSpPr/>
              <p:nvPr/>
            </p:nvCxnSpPr>
            <p:spPr>
              <a:xfrm>
                <a:off x="8501629" y="1751777"/>
                <a:ext cx="0" cy="450645"/>
              </a:xfrm>
              <a:prstGeom prst="line">
                <a:avLst/>
              </a:prstGeom>
              <a:noFill/>
              <a:ln w="25400" cap="flat" cmpd="sng" algn="ctr">
                <a:solidFill>
                  <a:sysClr val="windowText" lastClr="000000"/>
                </a:solidFill>
                <a:prstDash val="solid"/>
                <a:miter lim="800000"/>
              </a:ln>
              <a:effectLst/>
            </p:spPr>
          </p:cxnSp>
          <p:cxnSp>
            <p:nvCxnSpPr>
              <p:cNvPr id="273" name="Straight Connector 272">
                <a:extLst>
                  <a:ext uri="{FF2B5EF4-FFF2-40B4-BE49-F238E27FC236}">
                    <a16:creationId xmlns:a16="http://schemas.microsoft.com/office/drawing/2014/main" id="{F1C1A9DA-7685-334B-8438-71E724F1C059}"/>
                  </a:ext>
                </a:extLst>
              </p:cNvPr>
              <p:cNvCxnSpPr/>
              <p:nvPr/>
            </p:nvCxnSpPr>
            <p:spPr>
              <a:xfrm>
                <a:off x="8268933" y="1751777"/>
                <a:ext cx="0" cy="450645"/>
              </a:xfrm>
              <a:prstGeom prst="line">
                <a:avLst/>
              </a:prstGeom>
              <a:noFill/>
              <a:ln w="25400" cap="flat" cmpd="sng" algn="ctr">
                <a:solidFill>
                  <a:sysClr val="windowText" lastClr="000000"/>
                </a:solidFill>
                <a:prstDash val="solid"/>
                <a:miter lim="800000"/>
              </a:ln>
              <a:effectLst/>
            </p:spPr>
          </p:cxnSp>
        </p:grpSp>
        <p:grpSp>
          <p:nvGrpSpPr>
            <p:cNvPr id="267" name="Group 70">
              <a:extLst>
                <a:ext uri="{FF2B5EF4-FFF2-40B4-BE49-F238E27FC236}">
                  <a16:creationId xmlns:a16="http://schemas.microsoft.com/office/drawing/2014/main" id="{414E6434-D0E4-E54E-9713-130260358E1E}"/>
                </a:ext>
              </a:extLst>
            </p:cNvPr>
            <p:cNvGrpSpPr/>
            <p:nvPr/>
          </p:nvGrpSpPr>
          <p:grpSpPr>
            <a:xfrm>
              <a:off x="8132332" y="4472927"/>
              <a:ext cx="551591" cy="228624"/>
              <a:chOff x="7660968" y="1751777"/>
              <a:chExt cx="1040580" cy="450645"/>
            </a:xfrm>
          </p:grpSpPr>
          <p:sp>
            <p:nvSpPr>
              <p:cNvPr id="268" name="Freeform 267">
                <a:extLst>
                  <a:ext uri="{FF2B5EF4-FFF2-40B4-BE49-F238E27FC236}">
                    <a16:creationId xmlns:a16="http://schemas.microsoft.com/office/drawing/2014/main" id="{E41BC9F9-5D2B-FB41-92B3-958E88A7F58B}"/>
                  </a:ext>
                </a:extLst>
              </p:cNvPr>
              <p:cNvSpPr/>
              <p:nvPr/>
            </p:nvSpPr>
            <p:spPr>
              <a:xfrm>
                <a:off x="7660968" y="1751777"/>
                <a:ext cx="1040580" cy="450645"/>
              </a:xfrm>
              <a:custGeom>
                <a:avLst/>
                <a:gdLst>
                  <a:gd name="connsiteX0" fmla="*/ 0 w 1040580"/>
                  <a:gd name="connsiteY0" fmla="*/ 0 h 450645"/>
                  <a:gd name="connsiteX1" fmla="*/ 1040580 w 1040580"/>
                  <a:gd name="connsiteY1" fmla="*/ 8193 h 450645"/>
                  <a:gd name="connsiteX2" fmla="*/ 1032387 w 1040580"/>
                  <a:gd name="connsiteY2" fmla="*/ 450645 h 450645"/>
                  <a:gd name="connsiteX3" fmla="*/ 16387 w 1040580"/>
                  <a:gd name="connsiteY3" fmla="*/ 442451 h 450645"/>
                </a:gdLst>
                <a:ahLst/>
                <a:cxnLst>
                  <a:cxn ang="0">
                    <a:pos x="connsiteX0" y="connsiteY0"/>
                  </a:cxn>
                  <a:cxn ang="0">
                    <a:pos x="connsiteX1" y="connsiteY1"/>
                  </a:cxn>
                  <a:cxn ang="0">
                    <a:pos x="connsiteX2" y="connsiteY2"/>
                  </a:cxn>
                  <a:cxn ang="0">
                    <a:pos x="connsiteX3" y="connsiteY3"/>
                  </a:cxn>
                </a:cxnLst>
                <a:rect l="l" t="t" r="r" b="b"/>
                <a:pathLst>
                  <a:path w="1040580" h="450645">
                    <a:moveTo>
                      <a:pt x="0" y="0"/>
                    </a:moveTo>
                    <a:lnTo>
                      <a:pt x="1040580" y="8193"/>
                    </a:lnTo>
                    <a:lnTo>
                      <a:pt x="1032387" y="450645"/>
                    </a:lnTo>
                    <a:lnTo>
                      <a:pt x="16387" y="442451"/>
                    </a:lnTo>
                  </a:path>
                </a:pathLst>
              </a:custGeom>
              <a:noFill/>
              <a:ln w="25400" cap="flat" cmpd="sng" algn="ctr">
                <a:solidFill>
                  <a:sysClr val="windowText" lastClr="0000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cxnSp>
            <p:nvCxnSpPr>
              <p:cNvPr id="269" name="Straight Connector 268">
                <a:extLst>
                  <a:ext uri="{FF2B5EF4-FFF2-40B4-BE49-F238E27FC236}">
                    <a16:creationId xmlns:a16="http://schemas.microsoft.com/office/drawing/2014/main" id="{31BD52F4-BFEC-AA44-868D-3B7FB95D3BF3}"/>
                  </a:ext>
                </a:extLst>
              </p:cNvPr>
              <p:cNvCxnSpPr/>
              <p:nvPr/>
            </p:nvCxnSpPr>
            <p:spPr>
              <a:xfrm>
                <a:off x="8501629" y="1751777"/>
                <a:ext cx="0" cy="450645"/>
              </a:xfrm>
              <a:prstGeom prst="line">
                <a:avLst/>
              </a:prstGeom>
              <a:noFill/>
              <a:ln w="25400" cap="flat" cmpd="sng" algn="ctr">
                <a:solidFill>
                  <a:sysClr val="windowText" lastClr="000000"/>
                </a:solidFill>
                <a:prstDash val="solid"/>
                <a:miter lim="800000"/>
              </a:ln>
              <a:effectLst/>
            </p:spPr>
          </p:cxnSp>
          <p:cxnSp>
            <p:nvCxnSpPr>
              <p:cNvPr id="270" name="Straight Connector 269">
                <a:extLst>
                  <a:ext uri="{FF2B5EF4-FFF2-40B4-BE49-F238E27FC236}">
                    <a16:creationId xmlns:a16="http://schemas.microsoft.com/office/drawing/2014/main" id="{031113B9-3EB0-114A-A5D7-558AF2BD9CD7}"/>
                  </a:ext>
                </a:extLst>
              </p:cNvPr>
              <p:cNvCxnSpPr/>
              <p:nvPr/>
            </p:nvCxnSpPr>
            <p:spPr>
              <a:xfrm>
                <a:off x="8268933" y="1751777"/>
                <a:ext cx="0" cy="450645"/>
              </a:xfrm>
              <a:prstGeom prst="line">
                <a:avLst/>
              </a:prstGeom>
              <a:noFill/>
              <a:ln w="25400" cap="flat" cmpd="sng" algn="ctr">
                <a:solidFill>
                  <a:sysClr val="windowText" lastClr="000000"/>
                </a:solidFill>
                <a:prstDash val="solid"/>
                <a:miter lim="800000"/>
              </a:ln>
              <a:effectLst/>
            </p:spPr>
          </p:cxnSp>
        </p:grpSp>
      </p:grpSp>
      <p:grpSp>
        <p:nvGrpSpPr>
          <p:cNvPr id="274" name="Group 273">
            <a:extLst>
              <a:ext uri="{FF2B5EF4-FFF2-40B4-BE49-F238E27FC236}">
                <a16:creationId xmlns:a16="http://schemas.microsoft.com/office/drawing/2014/main" id="{FAC22D4B-8EFD-8144-84C5-5F34E5AC9871}"/>
              </a:ext>
            </a:extLst>
          </p:cNvPr>
          <p:cNvGrpSpPr/>
          <p:nvPr/>
        </p:nvGrpSpPr>
        <p:grpSpPr>
          <a:xfrm>
            <a:off x="8097638" y="3246874"/>
            <a:ext cx="512735" cy="1191971"/>
            <a:chOff x="2488822" y="2403406"/>
            <a:chExt cx="529093" cy="1589294"/>
          </a:xfrm>
        </p:grpSpPr>
        <p:cxnSp>
          <p:nvCxnSpPr>
            <p:cNvPr id="275" name="Straight Arrow Connector 274">
              <a:extLst>
                <a:ext uri="{FF2B5EF4-FFF2-40B4-BE49-F238E27FC236}">
                  <a16:creationId xmlns:a16="http://schemas.microsoft.com/office/drawing/2014/main" id="{5AAEF7B5-9BEB-A844-8B8C-F7A9B9E83F84}"/>
                </a:ext>
              </a:extLst>
            </p:cNvPr>
            <p:cNvCxnSpPr/>
            <p:nvPr/>
          </p:nvCxnSpPr>
          <p:spPr>
            <a:xfrm flipV="1">
              <a:off x="2493656" y="2403406"/>
              <a:ext cx="522113" cy="0"/>
            </a:xfrm>
            <a:prstGeom prst="straightConnector1">
              <a:avLst/>
            </a:prstGeom>
            <a:noFill/>
            <a:ln w="25400" cap="flat" cmpd="sng" algn="ctr">
              <a:solidFill>
                <a:srgbClr val="D3A600"/>
              </a:solidFill>
              <a:prstDash val="solid"/>
              <a:miter lim="800000"/>
              <a:tailEnd type="stealth"/>
            </a:ln>
            <a:effectLst/>
          </p:spPr>
        </p:cxnSp>
        <p:cxnSp>
          <p:nvCxnSpPr>
            <p:cNvPr id="276" name="Straight Arrow Connector 275">
              <a:extLst>
                <a:ext uri="{FF2B5EF4-FFF2-40B4-BE49-F238E27FC236}">
                  <a16:creationId xmlns:a16="http://schemas.microsoft.com/office/drawing/2014/main" id="{B9D66C66-12AF-F641-B184-2F4EF61DAC8B}"/>
                </a:ext>
              </a:extLst>
            </p:cNvPr>
            <p:cNvCxnSpPr/>
            <p:nvPr/>
          </p:nvCxnSpPr>
          <p:spPr>
            <a:xfrm flipV="1">
              <a:off x="2490064" y="2555806"/>
              <a:ext cx="522113" cy="0"/>
            </a:xfrm>
            <a:prstGeom prst="straightConnector1">
              <a:avLst/>
            </a:prstGeom>
            <a:noFill/>
            <a:ln w="25400" cap="flat" cmpd="sng" algn="ctr">
              <a:solidFill>
                <a:srgbClr val="D3A600"/>
              </a:solidFill>
              <a:prstDash val="solid"/>
              <a:miter lim="800000"/>
              <a:tailEnd type="stealth"/>
            </a:ln>
            <a:effectLst/>
          </p:spPr>
        </p:cxnSp>
        <p:cxnSp>
          <p:nvCxnSpPr>
            <p:cNvPr id="277" name="Straight Arrow Connector 276">
              <a:extLst>
                <a:ext uri="{FF2B5EF4-FFF2-40B4-BE49-F238E27FC236}">
                  <a16:creationId xmlns:a16="http://schemas.microsoft.com/office/drawing/2014/main" id="{966F41F8-E497-3447-8261-3352DE0D5F7B}"/>
                </a:ext>
              </a:extLst>
            </p:cNvPr>
            <p:cNvCxnSpPr/>
            <p:nvPr/>
          </p:nvCxnSpPr>
          <p:spPr>
            <a:xfrm flipV="1">
              <a:off x="2493656" y="2717444"/>
              <a:ext cx="522113" cy="0"/>
            </a:xfrm>
            <a:prstGeom prst="straightConnector1">
              <a:avLst/>
            </a:prstGeom>
            <a:noFill/>
            <a:ln w="25400" cap="flat" cmpd="sng" algn="ctr">
              <a:solidFill>
                <a:srgbClr val="D3A600"/>
              </a:solidFill>
              <a:prstDash val="solid"/>
              <a:miter lim="800000"/>
              <a:tailEnd type="stealth"/>
            </a:ln>
            <a:effectLst/>
          </p:spPr>
        </p:cxnSp>
        <p:cxnSp>
          <p:nvCxnSpPr>
            <p:cNvPr id="278" name="Straight Arrow Connector 277">
              <a:extLst>
                <a:ext uri="{FF2B5EF4-FFF2-40B4-BE49-F238E27FC236}">
                  <a16:creationId xmlns:a16="http://schemas.microsoft.com/office/drawing/2014/main" id="{6B5B7A1F-B11B-7146-882C-256A77BE4E46}"/>
                </a:ext>
              </a:extLst>
            </p:cNvPr>
            <p:cNvCxnSpPr/>
            <p:nvPr/>
          </p:nvCxnSpPr>
          <p:spPr>
            <a:xfrm flipV="1">
              <a:off x="2493656" y="2871548"/>
              <a:ext cx="522113" cy="0"/>
            </a:xfrm>
            <a:prstGeom prst="straightConnector1">
              <a:avLst/>
            </a:prstGeom>
            <a:noFill/>
            <a:ln w="25400" cap="flat" cmpd="sng" algn="ctr">
              <a:solidFill>
                <a:srgbClr val="D3A600"/>
              </a:solidFill>
              <a:prstDash val="solid"/>
              <a:miter lim="800000"/>
              <a:tailEnd type="stealth"/>
            </a:ln>
            <a:effectLst/>
          </p:spPr>
        </p:cxnSp>
        <p:cxnSp>
          <p:nvCxnSpPr>
            <p:cNvPr id="279" name="Straight Arrow Connector 278">
              <a:extLst>
                <a:ext uri="{FF2B5EF4-FFF2-40B4-BE49-F238E27FC236}">
                  <a16:creationId xmlns:a16="http://schemas.microsoft.com/office/drawing/2014/main" id="{43F3EC19-C38A-B743-9E65-CA41BFA6AD31}"/>
                </a:ext>
              </a:extLst>
            </p:cNvPr>
            <p:cNvCxnSpPr/>
            <p:nvPr/>
          </p:nvCxnSpPr>
          <p:spPr>
            <a:xfrm flipV="1">
              <a:off x="2493656" y="3031695"/>
              <a:ext cx="522113" cy="0"/>
            </a:xfrm>
            <a:prstGeom prst="straightConnector1">
              <a:avLst/>
            </a:prstGeom>
            <a:noFill/>
            <a:ln w="25400" cap="flat" cmpd="sng" algn="ctr">
              <a:solidFill>
                <a:srgbClr val="D3A600"/>
              </a:solidFill>
              <a:prstDash val="solid"/>
              <a:miter lim="800000"/>
              <a:tailEnd type="stealth"/>
            </a:ln>
            <a:effectLst/>
          </p:spPr>
        </p:cxnSp>
        <p:cxnSp>
          <p:nvCxnSpPr>
            <p:cNvPr id="280" name="Straight Arrow Connector 279">
              <a:extLst>
                <a:ext uri="{FF2B5EF4-FFF2-40B4-BE49-F238E27FC236}">
                  <a16:creationId xmlns:a16="http://schemas.microsoft.com/office/drawing/2014/main" id="{58C96AE8-3B4B-8F4E-849D-73E50AF59C95}"/>
                </a:ext>
              </a:extLst>
            </p:cNvPr>
            <p:cNvCxnSpPr/>
            <p:nvPr/>
          </p:nvCxnSpPr>
          <p:spPr>
            <a:xfrm flipV="1">
              <a:off x="2494729" y="3190805"/>
              <a:ext cx="522113" cy="0"/>
            </a:xfrm>
            <a:prstGeom prst="straightConnector1">
              <a:avLst/>
            </a:prstGeom>
            <a:noFill/>
            <a:ln w="25400" cap="flat" cmpd="sng" algn="ctr">
              <a:solidFill>
                <a:srgbClr val="D3A600"/>
              </a:solidFill>
              <a:prstDash val="solid"/>
              <a:miter lim="800000"/>
              <a:tailEnd type="stealth"/>
            </a:ln>
            <a:effectLst/>
          </p:spPr>
        </p:cxnSp>
        <p:cxnSp>
          <p:nvCxnSpPr>
            <p:cNvPr id="281" name="Straight Arrow Connector 280">
              <a:extLst>
                <a:ext uri="{FF2B5EF4-FFF2-40B4-BE49-F238E27FC236}">
                  <a16:creationId xmlns:a16="http://schemas.microsoft.com/office/drawing/2014/main" id="{7A3A57FD-961B-474D-B711-EBA4FA9025ED}"/>
                </a:ext>
              </a:extLst>
            </p:cNvPr>
            <p:cNvCxnSpPr/>
            <p:nvPr/>
          </p:nvCxnSpPr>
          <p:spPr>
            <a:xfrm flipV="1">
              <a:off x="2493656" y="3352442"/>
              <a:ext cx="522113" cy="0"/>
            </a:xfrm>
            <a:prstGeom prst="straightConnector1">
              <a:avLst/>
            </a:prstGeom>
            <a:noFill/>
            <a:ln w="25400" cap="flat" cmpd="sng" algn="ctr">
              <a:solidFill>
                <a:srgbClr val="D3A600"/>
              </a:solidFill>
              <a:prstDash val="solid"/>
              <a:miter lim="800000"/>
              <a:tailEnd type="stealth"/>
            </a:ln>
            <a:effectLst/>
          </p:spPr>
        </p:cxnSp>
        <p:cxnSp>
          <p:nvCxnSpPr>
            <p:cNvPr id="282" name="Straight Arrow Connector 281">
              <a:extLst>
                <a:ext uri="{FF2B5EF4-FFF2-40B4-BE49-F238E27FC236}">
                  <a16:creationId xmlns:a16="http://schemas.microsoft.com/office/drawing/2014/main" id="{4CE5B4A6-84C2-434F-8224-DEBF4314B327}"/>
                </a:ext>
              </a:extLst>
            </p:cNvPr>
            <p:cNvCxnSpPr/>
            <p:nvPr/>
          </p:nvCxnSpPr>
          <p:spPr>
            <a:xfrm flipV="1">
              <a:off x="2494729" y="3512589"/>
              <a:ext cx="522113" cy="0"/>
            </a:xfrm>
            <a:prstGeom prst="straightConnector1">
              <a:avLst/>
            </a:prstGeom>
            <a:noFill/>
            <a:ln w="25400" cap="flat" cmpd="sng" algn="ctr">
              <a:solidFill>
                <a:srgbClr val="D3A600"/>
              </a:solidFill>
              <a:prstDash val="solid"/>
              <a:miter lim="800000"/>
              <a:tailEnd type="stealth"/>
            </a:ln>
            <a:effectLst/>
          </p:spPr>
        </p:cxnSp>
        <p:cxnSp>
          <p:nvCxnSpPr>
            <p:cNvPr id="283" name="Straight Arrow Connector 282">
              <a:extLst>
                <a:ext uri="{FF2B5EF4-FFF2-40B4-BE49-F238E27FC236}">
                  <a16:creationId xmlns:a16="http://schemas.microsoft.com/office/drawing/2014/main" id="{257E44E6-D626-A148-A6C9-BE9D1E42C721}"/>
                </a:ext>
              </a:extLst>
            </p:cNvPr>
            <p:cNvCxnSpPr/>
            <p:nvPr/>
          </p:nvCxnSpPr>
          <p:spPr>
            <a:xfrm flipV="1">
              <a:off x="2495802" y="3671699"/>
              <a:ext cx="522113" cy="0"/>
            </a:xfrm>
            <a:prstGeom prst="straightConnector1">
              <a:avLst/>
            </a:prstGeom>
            <a:noFill/>
            <a:ln w="25400" cap="flat" cmpd="sng" algn="ctr">
              <a:solidFill>
                <a:srgbClr val="D3A600"/>
              </a:solidFill>
              <a:prstDash val="solid"/>
              <a:miter lim="800000"/>
              <a:tailEnd type="stealth"/>
            </a:ln>
            <a:effectLst/>
          </p:spPr>
        </p:cxnSp>
        <p:cxnSp>
          <p:nvCxnSpPr>
            <p:cNvPr id="284" name="Straight Arrow Connector 283">
              <a:extLst>
                <a:ext uri="{FF2B5EF4-FFF2-40B4-BE49-F238E27FC236}">
                  <a16:creationId xmlns:a16="http://schemas.microsoft.com/office/drawing/2014/main" id="{4FC816EF-FBA0-3C4A-8028-6C4C16A3ECD4}"/>
                </a:ext>
              </a:extLst>
            </p:cNvPr>
            <p:cNvCxnSpPr/>
            <p:nvPr/>
          </p:nvCxnSpPr>
          <p:spPr>
            <a:xfrm flipV="1">
              <a:off x="2493656" y="3833590"/>
              <a:ext cx="522113" cy="0"/>
            </a:xfrm>
            <a:prstGeom prst="straightConnector1">
              <a:avLst/>
            </a:prstGeom>
            <a:noFill/>
            <a:ln w="25400" cap="flat" cmpd="sng" algn="ctr">
              <a:solidFill>
                <a:srgbClr val="D3A600"/>
              </a:solidFill>
              <a:prstDash val="solid"/>
              <a:miter lim="800000"/>
              <a:tailEnd type="stealth"/>
            </a:ln>
            <a:effectLst/>
          </p:spPr>
        </p:cxnSp>
        <p:cxnSp>
          <p:nvCxnSpPr>
            <p:cNvPr id="285" name="Straight Arrow Connector 284">
              <a:extLst>
                <a:ext uri="{FF2B5EF4-FFF2-40B4-BE49-F238E27FC236}">
                  <a16:creationId xmlns:a16="http://schemas.microsoft.com/office/drawing/2014/main" id="{0962BF2A-E1BF-D846-99C3-F552EEC4CD1F}"/>
                </a:ext>
              </a:extLst>
            </p:cNvPr>
            <p:cNvCxnSpPr/>
            <p:nvPr/>
          </p:nvCxnSpPr>
          <p:spPr>
            <a:xfrm flipV="1">
              <a:off x="2488822" y="3992700"/>
              <a:ext cx="522113" cy="0"/>
            </a:xfrm>
            <a:prstGeom prst="straightConnector1">
              <a:avLst/>
            </a:prstGeom>
            <a:noFill/>
            <a:ln w="25400" cap="flat" cmpd="sng" algn="ctr">
              <a:solidFill>
                <a:srgbClr val="D3A600"/>
              </a:solidFill>
              <a:prstDash val="solid"/>
              <a:miter lim="800000"/>
              <a:tailEnd type="stealth"/>
            </a:ln>
            <a:effectLst/>
          </p:spPr>
        </p:cxnSp>
      </p:grpSp>
      <p:grpSp>
        <p:nvGrpSpPr>
          <p:cNvPr id="286" name="Group 285">
            <a:extLst>
              <a:ext uri="{FF2B5EF4-FFF2-40B4-BE49-F238E27FC236}">
                <a16:creationId xmlns:a16="http://schemas.microsoft.com/office/drawing/2014/main" id="{7C0ECB59-933D-A840-8C2D-2A6A82B9952A}"/>
              </a:ext>
            </a:extLst>
          </p:cNvPr>
          <p:cNvGrpSpPr/>
          <p:nvPr/>
        </p:nvGrpSpPr>
        <p:grpSpPr>
          <a:xfrm>
            <a:off x="557347" y="3204129"/>
            <a:ext cx="381108" cy="1191971"/>
            <a:chOff x="2488822" y="2403406"/>
            <a:chExt cx="529093" cy="1589294"/>
          </a:xfrm>
        </p:grpSpPr>
        <p:cxnSp>
          <p:nvCxnSpPr>
            <p:cNvPr id="287" name="Straight Arrow Connector 286">
              <a:extLst>
                <a:ext uri="{FF2B5EF4-FFF2-40B4-BE49-F238E27FC236}">
                  <a16:creationId xmlns:a16="http://schemas.microsoft.com/office/drawing/2014/main" id="{BFAE8607-CDA8-2E4D-8EB8-7A8A64F0F707}"/>
                </a:ext>
              </a:extLst>
            </p:cNvPr>
            <p:cNvCxnSpPr/>
            <p:nvPr/>
          </p:nvCxnSpPr>
          <p:spPr>
            <a:xfrm flipV="1">
              <a:off x="2493656" y="2403406"/>
              <a:ext cx="522113" cy="0"/>
            </a:xfrm>
            <a:prstGeom prst="straightConnector1">
              <a:avLst/>
            </a:prstGeom>
            <a:noFill/>
            <a:ln w="25400" cap="flat" cmpd="sng" algn="ctr">
              <a:solidFill>
                <a:srgbClr val="0000FF"/>
              </a:solidFill>
              <a:prstDash val="solid"/>
              <a:miter lim="800000"/>
              <a:tailEnd type="stealth"/>
            </a:ln>
            <a:effectLst/>
          </p:spPr>
        </p:cxnSp>
        <p:cxnSp>
          <p:nvCxnSpPr>
            <p:cNvPr id="288" name="Straight Arrow Connector 287">
              <a:extLst>
                <a:ext uri="{FF2B5EF4-FFF2-40B4-BE49-F238E27FC236}">
                  <a16:creationId xmlns:a16="http://schemas.microsoft.com/office/drawing/2014/main" id="{4AF780E3-7340-A249-80DA-11B1DEDCDE19}"/>
                </a:ext>
              </a:extLst>
            </p:cNvPr>
            <p:cNvCxnSpPr/>
            <p:nvPr/>
          </p:nvCxnSpPr>
          <p:spPr>
            <a:xfrm flipV="1">
              <a:off x="2490064" y="2555806"/>
              <a:ext cx="522113" cy="0"/>
            </a:xfrm>
            <a:prstGeom prst="straightConnector1">
              <a:avLst/>
            </a:prstGeom>
            <a:noFill/>
            <a:ln w="25400" cap="flat" cmpd="sng" algn="ctr">
              <a:solidFill>
                <a:srgbClr val="0000FF"/>
              </a:solidFill>
              <a:prstDash val="solid"/>
              <a:miter lim="800000"/>
              <a:tailEnd type="stealth"/>
            </a:ln>
            <a:effectLst/>
          </p:spPr>
        </p:cxnSp>
        <p:cxnSp>
          <p:nvCxnSpPr>
            <p:cNvPr id="289" name="Straight Arrow Connector 288">
              <a:extLst>
                <a:ext uri="{FF2B5EF4-FFF2-40B4-BE49-F238E27FC236}">
                  <a16:creationId xmlns:a16="http://schemas.microsoft.com/office/drawing/2014/main" id="{8CE68E0C-414B-EC4E-AC83-C4F4B5E684DF}"/>
                </a:ext>
              </a:extLst>
            </p:cNvPr>
            <p:cNvCxnSpPr/>
            <p:nvPr/>
          </p:nvCxnSpPr>
          <p:spPr>
            <a:xfrm flipV="1">
              <a:off x="2493656" y="2717444"/>
              <a:ext cx="522113" cy="0"/>
            </a:xfrm>
            <a:prstGeom prst="straightConnector1">
              <a:avLst/>
            </a:prstGeom>
            <a:noFill/>
            <a:ln w="25400" cap="flat" cmpd="sng" algn="ctr">
              <a:solidFill>
                <a:srgbClr val="0000FF"/>
              </a:solidFill>
              <a:prstDash val="solid"/>
              <a:miter lim="800000"/>
              <a:tailEnd type="stealth"/>
            </a:ln>
            <a:effectLst/>
          </p:spPr>
        </p:cxnSp>
        <p:cxnSp>
          <p:nvCxnSpPr>
            <p:cNvPr id="290" name="Straight Arrow Connector 289">
              <a:extLst>
                <a:ext uri="{FF2B5EF4-FFF2-40B4-BE49-F238E27FC236}">
                  <a16:creationId xmlns:a16="http://schemas.microsoft.com/office/drawing/2014/main" id="{B27322BA-6D56-A84E-81E8-F2E6C4E8A532}"/>
                </a:ext>
              </a:extLst>
            </p:cNvPr>
            <p:cNvCxnSpPr/>
            <p:nvPr/>
          </p:nvCxnSpPr>
          <p:spPr>
            <a:xfrm flipV="1">
              <a:off x="2493656" y="2871548"/>
              <a:ext cx="522113" cy="0"/>
            </a:xfrm>
            <a:prstGeom prst="straightConnector1">
              <a:avLst/>
            </a:prstGeom>
            <a:noFill/>
            <a:ln w="25400" cap="flat" cmpd="sng" algn="ctr">
              <a:solidFill>
                <a:srgbClr val="0000FF"/>
              </a:solidFill>
              <a:prstDash val="solid"/>
              <a:miter lim="800000"/>
              <a:tailEnd type="stealth"/>
            </a:ln>
            <a:effectLst/>
          </p:spPr>
        </p:cxnSp>
        <p:cxnSp>
          <p:nvCxnSpPr>
            <p:cNvPr id="291" name="Straight Arrow Connector 290">
              <a:extLst>
                <a:ext uri="{FF2B5EF4-FFF2-40B4-BE49-F238E27FC236}">
                  <a16:creationId xmlns:a16="http://schemas.microsoft.com/office/drawing/2014/main" id="{7C523FFC-FF75-6E44-9722-3F966014EBF1}"/>
                </a:ext>
              </a:extLst>
            </p:cNvPr>
            <p:cNvCxnSpPr/>
            <p:nvPr/>
          </p:nvCxnSpPr>
          <p:spPr>
            <a:xfrm flipV="1">
              <a:off x="2493656" y="3031695"/>
              <a:ext cx="522113" cy="0"/>
            </a:xfrm>
            <a:prstGeom prst="straightConnector1">
              <a:avLst/>
            </a:prstGeom>
            <a:noFill/>
            <a:ln w="25400" cap="flat" cmpd="sng" algn="ctr">
              <a:solidFill>
                <a:srgbClr val="0000FF"/>
              </a:solidFill>
              <a:prstDash val="solid"/>
              <a:miter lim="800000"/>
              <a:tailEnd type="stealth"/>
            </a:ln>
            <a:effectLst/>
          </p:spPr>
        </p:cxnSp>
        <p:cxnSp>
          <p:nvCxnSpPr>
            <p:cNvPr id="292" name="Straight Arrow Connector 291">
              <a:extLst>
                <a:ext uri="{FF2B5EF4-FFF2-40B4-BE49-F238E27FC236}">
                  <a16:creationId xmlns:a16="http://schemas.microsoft.com/office/drawing/2014/main" id="{4EF6F981-4641-2B44-8393-93423E7FB990}"/>
                </a:ext>
              </a:extLst>
            </p:cNvPr>
            <p:cNvCxnSpPr/>
            <p:nvPr/>
          </p:nvCxnSpPr>
          <p:spPr>
            <a:xfrm flipV="1">
              <a:off x="2494729" y="3190805"/>
              <a:ext cx="522113" cy="0"/>
            </a:xfrm>
            <a:prstGeom prst="straightConnector1">
              <a:avLst/>
            </a:prstGeom>
            <a:noFill/>
            <a:ln w="25400" cap="flat" cmpd="sng" algn="ctr">
              <a:solidFill>
                <a:srgbClr val="0000FF"/>
              </a:solidFill>
              <a:prstDash val="solid"/>
              <a:miter lim="800000"/>
              <a:tailEnd type="stealth"/>
            </a:ln>
            <a:effectLst/>
          </p:spPr>
        </p:cxnSp>
        <p:cxnSp>
          <p:nvCxnSpPr>
            <p:cNvPr id="293" name="Straight Arrow Connector 292">
              <a:extLst>
                <a:ext uri="{FF2B5EF4-FFF2-40B4-BE49-F238E27FC236}">
                  <a16:creationId xmlns:a16="http://schemas.microsoft.com/office/drawing/2014/main" id="{ACD50277-FFFD-BA41-8E4C-0001865F15BD}"/>
                </a:ext>
              </a:extLst>
            </p:cNvPr>
            <p:cNvCxnSpPr/>
            <p:nvPr/>
          </p:nvCxnSpPr>
          <p:spPr>
            <a:xfrm flipV="1">
              <a:off x="2493656" y="3352442"/>
              <a:ext cx="522113" cy="0"/>
            </a:xfrm>
            <a:prstGeom prst="straightConnector1">
              <a:avLst/>
            </a:prstGeom>
            <a:noFill/>
            <a:ln w="25400" cap="flat" cmpd="sng" algn="ctr">
              <a:solidFill>
                <a:srgbClr val="0000FF"/>
              </a:solidFill>
              <a:prstDash val="solid"/>
              <a:miter lim="800000"/>
              <a:tailEnd type="stealth"/>
            </a:ln>
            <a:effectLst/>
          </p:spPr>
        </p:cxnSp>
        <p:cxnSp>
          <p:nvCxnSpPr>
            <p:cNvPr id="294" name="Straight Arrow Connector 293">
              <a:extLst>
                <a:ext uri="{FF2B5EF4-FFF2-40B4-BE49-F238E27FC236}">
                  <a16:creationId xmlns:a16="http://schemas.microsoft.com/office/drawing/2014/main" id="{AA100D99-1CD1-1644-8E37-459B990C68E5}"/>
                </a:ext>
              </a:extLst>
            </p:cNvPr>
            <p:cNvCxnSpPr/>
            <p:nvPr/>
          </p:nvCxnSpPr>
          <p:spPr>
            <a:xfrm flipV="1">
              <a:off x="2494729" y="3512589"/>
              <a:ext cx="522113" cy="0"/>
            </a:xfrm>
            <a:prstGeom prst="straightConnector1">
              <a:avLst/>
            </a:prstGeom>
            <a:noFill/>
            <a:ln w="25400" cap="flat" cmpd="sng" algn="ctr">
              <a:solidFill>
                <a:srgbClr val="0000FF"/>
              </a:solidFill>
              <a:prstDash val="solid"/>
              <a:miter lim="800000"/>
              <a:tailEnd type="stealth"/>
            </a:ln>
            <a:effectLst/>
          </p:spPr>
        </p:cxnSp>
        <p:cxnSp>
          <p:nvCxnSpPr>
            <p:cNvPr id="295" name="Straight Arrow Connector 294">
              <a:extLst>
                <a:ext uri="{FF2B5EF4-FFF2-40B4-BE49-F238E27FC236}">
                  <a16:creationId xmlns:a16="http://schemas.microsoft.com/office/drawing/2014/main" id="{446386D3-CF2B-F24C-A713-B6DF39901CA0}"/>
                </a:ext>
              </a:extLst>
            </p:cNvPr>
            <p:cNvCxnSpPr/>
            <p:nvPr/>
          </p:nvCxnSpPr>
          <p:spPr>
            <a:xfrm flipV="1">
              <a:off x="2495802" y="3671699"/>
              <a:ext cx="522113" cy="0"/>
            </a:xfrm>
            <a:prstGeom prst="straightConnector1">
              <a:avLst/>
            </a:prstGeom>
            <a:noFill/>
            <a:ln w="25400" cap="flat" cmpd="sng" algn="ctr">
              <a:solidFill>
                <a:srgbClr val="0000FF"/>
              </a:solidFill>
              <a:prstDash val="solid"/>
              <a:miter lim="800000"/>
              <a:tailEnd type="stealth"/>
            </a:ln>
            <a:effectLst/>
          </p:spPr>
        </p:cxnSp>
        <p:cxnSp>
          <p:nvCxnSpPr>
            <p:cNvPr id="296" name="Straight Arrow Connector 295">
              <a:extLst>
                <a:ext uri="{FF2B5EF4-FFF2-40B4-BE49-F238E27FC236}">
                  <a16:creationId xmlns:a16="http://schemas.microsoft.com/office/drawing/2014/main" id="{5D4F3344-912F-8243-9E53-6A7A206F26C0}"/>
                </a:ext>
              </a:extLst>
            </p:cNvPr>
            <p:cNvCxnSpPr/>
            <p:nvPr/>
          </p:nvCxnSpPr>
          <p:spPr>
            <a:xfrm flipV="1">
              <a:off x="2493656" y="3833590"/>
              <a:ext cx="522113" cy="0"/>
            </a:xfrm>
            <a:prstGeom prst="straightConnector1">
              <a:avLst/>
            </a:prstGeom>
            <a:noFill/>
            <a:ln w="25400" cap="flat" cmpd="sng" algn="ctr">
              <a:solidFill>
                <a:srgbClr val="0000FF"/>
              </a:solidFill>
              <a:prstDash val="solid"/>
              <a:miter lim="800000"/>
              <a:tailEnd type="stealth"/>
            </a:ln>
            <a:effectLst/>
          </p:spPr>
        </p:cxnSp>
        <p:cxnSp>
          <p:nvCxnSpPr>
            <p:cNvPr id="297" name="Straight Arrow Connector 296">
              <a:extLst>
                <a:ext uri="{FF2B5EF4-FFF2-40B4-BE49-F238E27FC236}">
                  <a16:creationId xmlns:a16="http://schemas.microsoft.com/office/drawing/2014/main" id="{782C482A-51C0-A047-9B65-CDB0D4C5CB8C}"/>
                </a:ext>
              </a:extLst>
            </p:cNvPr>
            <p:cNvCxnSpPr/>
            <p:nvPr/>
          </p:nvCxnSpPr>
          <p:spPr>
            <a:xfrm flipV="1">
              <a:off x="2488822" y="3992700"/>
              <a:ext cx="522113" cy="0"/>
            </a:xfrm>
            <a:prstGeom prst="straightConnector1">
              <a:avLst/>
            </a:prstGeom>
            <a:noFill/>
            <a:ln w="25400" cap="flat" cmpd="sng" algn="ctr">
              <a:solidFill>
                <a:srgbClr val="0000FF"/>
              </a:solidFill>
              <a:prstDash val="solid"/>
              <a:miter lim="800000"/>
              <a:tailEnd type="stealth"/>
            </a:ln>
            <a:effectLst/>
          </p:spPr>
        </p:cxnSp>
      </p:grpSp>
      <p:grpSp>
        <p:nvGrpSpPr>
          <p:cNvPr id="379" name="Group 378">
            <a:extLst>
              <a:ext uri="{FF2B5EF4-FFF2-40B4-BE49-F238E27FC236}">
                <a16:creationId xmlns:a16="http://schemas.microsoft.com/office/drawing/2014/main" id="{A7AAA9BB-3B2A-3140-AD48-52F2A09480ED}"/>
              </a:ext>
            </a:extLst>
          </p:cNvPr>
          <p:cNvGrpSpPr/>
          <p:nvPr/>
        </p:nvGrpSpPr>
        <p:grpSpPr>
          <a:xfrm>
            <a:off x="1761235" y="3002385"/>
            <a:ext cx="1124342" cy="1626876"/>
            <a:chOff x="1908358" y="3002385"/>
            <a:chExt cx="1124342" cy="1626876"/>
          </a:xfrm>
        </p:grpSpPr>
        <p:grpSp>
          <p:nvGrpSpPr>
            <p:cNvPr id="253" name="Group 252">
              <a:extLst>
                <a:ext uri="{FF2B5EF4-FFF2-40B4-BE49-F238E27FC236}">
                  <a16:creationId xmlns:a16="http://schemas.microsoft.com/office/drawing/2014/main" id="{144C7BA8-894B-C341-8D17-13E4BB23179D}"/>
                </a:ext>
              </a:extLst>
            </p:cNvPr>
            <p:cNvGrpSpPr/>
            <p:nvPr/>
          </p:nvGrpSpPr>
          <p:grpSpPr>
            <a:xfrm>
              <a:off x="1908358" y="3002385"/>
              <a:ext cx="1124342" cy="1626876"/>
              <a:chOff x="1485649" y="3204985"/>
              <a:chExt cx="1124341" cy="2169168"/>
            </a:xfrm>
          </p:grpSpPr>
          <p:sp>
            <p:nvSpPr>
              <p:cNvPr id="254" name="Rectangle 253">
                <a:extLst>
                  <a:ext uri="{FF2B5EF4-FFF2-40B4-BE49-F238E27FC236}">
                    <a16:creationId xmlns:a16="http://schemas.microsoft.com/office/drawing/2014/main" id="{6F368233-0518-D34E-9ADD-666E3FDEE62A}"/>
                  </a:ext>
                </a:extLst>
              </p:cNvPr>
              <p:cNvSpPr/>
              <p:nvPr/>
            </p:nvSpPr>
            <p:spPr>
              <a:xfrm>
                <a:off x="1492629" y="3216474"/>
                <a:ext cx="1117361" cy="2157679"/>
              </a:xfrm>
              <a:prstGeom prst="rect">
                <a:avLst/>
              </a:prstGeom>
              <a:solidFill>
                <a:srgbClr val="5B9BD5"/>
              </a:solidFill>
              <a:ln w="12700" cap="flat" cmpd="sng" algn="ctr">
                <a:solidFill>
                  <a:srgbClr val="5B9BD5">
                    <a:shade val="50000"/>
                  </a:srgbClr>
                </a:solidFill>
                <a:prstDash val="solid"/>
                <a:miter lim="800000"/>
              </a:ln>
              <a:effectLst/>
            </p:spPr>
            <p:txBody>
              <a:bodyPr lIns="81639" tIns="40820" rIns="81639" bIns="4082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2500" b="0" i="0" u="none" strike="noStrike" kern="0" cap="none" spc="0" normalizeH="0" baseline="0" noProof="0" dirty="0">
                  <a:ln>
                    <a:noFill/>
                  </a:ln>
                  <a:solidFill>
                    <a:prstClr val="black"/>
                  </a:solidFill>
                  <a:effectLst/>
                  <a:uLnTx/>
                  <a:uFillTx/>
                  <a:latin typeface="Calibri" panose="020F0502020204030204"/>
                  <a:ea typeface="+mn-ea"/>
                  <a:cs typeface="Arial" panose="020B0604020202020204" pitchFamily="34" charset="0"/>
                </a:endParaRPr>
              </a:p>
            </p:txBody>
          </p:sp>
          <p:sp>
            <p:nvSpPr>
              <p:cNvPr id="255" name="Rectangle 254">
                <a:extLst>
                  <a:ext uri="{FF2B5EF4-FFF2-40B4-BE49-F238E27FC236}">
                    <a16:creationId xmlns:a16="http://schemas.microsoft.com/office/drawing/2014/main" id="{9E1F675E-3C11-2C44-8778-15C0D93F5474}"/>
                  </a:ext>
                </a:extLst>
              </p:cNvPr>
              <p:cNvSpPr/>
              <p:nvPr/>
            </p:nvSpPr>
            <p:spPr>
              <a:xfrm>
                <a:off x="1485649" y="3204985"/>
                <a:ext cx="1124341" cy="2157680"/>
              </a:xfrm>
              <a:prstGeom prst="rect">
                <a:avLst/>
              </a:prstGeom>
              <a:solidFill>
                <a:srgbClr val="FFC000">
                  <a:alpha val="70000"/>
                </a:srgbClr>
              </a:solidFill>
              <a:ln w="12700" cap="flat" cmpd="sng" algn="ctr">
                <a:solidFill>
                  <a:srgbClr val="D3A6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grpSp>
        <p:grpSp>
          <p:nvGrpSpPr>
            <p:cNvPr id="298" name="Group 297">
              <a:extLst>
                <a:ext uri="{FF2B5EF4-FFF2-40B4-BE49-F238E27FC236}">
                  <a16:creationId xmlns:a16="http://schemas.microsoft.com/office/drawing/2014/main" id="{89CEA699-8429-EA42-8986-8FD6EE6A3813}"/>
                </a:ext>
              </a:extLst>
            </p:cNvPr>
            <p:cNvGrpSpPr/>
            <p:nvPr/>
          </p:nvGrpSpPr>
          <p:grpSpPr>
            <a:xfrm>
              <a:off x="2018711" y="3078910"/>
              <a:ext cx="909363" cy="1479832"/>
              <a:chOff x="2449931" y="225721"/>
              <a:chExt cx="909363" cy="1973109"/>
            </a:xfrm>
          </p:grpSpPr>
          <p:sp>
            <p:nvSpPr>
              <p:cNvPr id="299" name="Rectangle 298">
                <a:extLst>
                  <a:ext uri="{FF2B5EF4-FFF2-40B4-BE49-F238E27FC236}">
                    <a16:creationId xmlns:a16="http://schemas.microsoft.com/office/drawing/2014/main" id="{477AE534-107A-5B40-8CD1-C2241E2093D9}"/>
                  </a:ext>
                </a:extLst>
              </p:cNvPr>
              <p:cNvSpPr/>
              <p:nvPr/>
            </p:nvSpPr>
            <p:spPr>
              <a:xfrm>
                <a:off x="2449931" y="225721"/>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8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300" name="Rectangle 299">
                <a:extLst>
                  <a:ext uri="{FF2B5EF4-FFF2-40B4-BE49-F238E27FC236}">
                    <a16:creationId xmlns:a16="http://schemas.microsoft.com/office/drawing/2014/main" id="{FFB23DE5-71BA-A846-86CB-8D6AA310E357}"/>
                  </a:ext>
                </a:extLst>
              </p:cNvPr>
              <p:cNvSpPr/>
              <p:nvPr/>
            </p:nvSpPr>
            <p:spPr>
              <a:xfrm>
                <a:off x="2449931" y="56313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1" name="Rectangle 300">
                <a:extLst>
                  <a:ext uri="{FF2B5EF4-FFF2-40B4-BE49-F238E27FC236}">
                    <a16:creationId xmlns:a16="http://schemas.microsoft.com/office/drawing/2014/main" id="{D5468401-3F85-2E4A-9271-B0C636D26DFD}"/>
                  </a:ext>
                </a:extLst>
              </p:cNvPr>
              <p:cNvSpPr/>
              <p:nvPr/>
            </p:nvSpPr>
            <p:spPr>
              <a:xfrm>
                <a:off x="2449931" y="902860"/>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2" name="Rectangle 301">
                <a:extLst>
                  <a:ext uri="{FF2B5EF4-FFF2-40B4-BE49-F238E27FC236}">
                    <a16:creationId xmlns:a16="http://schemas.microsoft.com/office/drawing/2014/main" id="{713AE27E-8545-834C-9986-E55C6FB925AA}"/>
                  </a:ext>
                </a:extLst>
              </p:cNvPr>
              <p:cNvSpPr/>
              <p:nvPr/>
            </p:nvSpPr>
            <p:spPr>
              <a:xfrm>
                <a:off x="2449931" y="1244322"/>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3" name="Rectangle 302">
                <a:extLst>
                  <a:ext uri="{FF2B5EF4-FFF2-40B4-BE49-F238E27FC236}">
                    <a16:creationId xmlns:a16="http://schemas.microsoft.com/office/drawing/2014/main" id="{A4E8FBB3-708C-7A42-8F6C-A67D2D92E188}"/>
                  </a:ext>
                </a:extLst>
              </p:cNvPr>
              <p:cNvSpPr/>
              <p:nvPr/>
            </p:nvSpPr>
            <p:spPr>
              <a:xfrm>
                <a:off x="2449931" y="191914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4" name="Rectangle 303">
                <a:extLst>
                  <a:ext uri="{FF2B5EF4-FFF2-40B4-BE49-F238E27FC236}">
                    <a16:creationId xmlns:a16="http://schemas.microsoft.com/office/drawing/2014/main" id="{6CA6866A-E19D-1847-B4D9-D82999A377C0}"/>
                  </a:ext>
                </a:extLst>
              </p:cNvPr>
              <p:cNvSpPr/>
              <p:nvPr/>
            </p:nvSpPr>
            <p:spPr>
              <a:xfrm>
                <a:off x="2449931" y="1581733"/>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5" name="Trapezoid 304">
                <a:extLst>
                  <a:ext uri="{FF2B5EF4-FFF2-40B4-BE49-F238E27FC236}">
                    <a16:creationId xmlns:a16="http://schemas.microsoft.com/office/drawing/2014/main" id="{FB3E3F58-0025-2E4A-B215-5F9EF7C4AA7F}"/>
                  </a:ext>
                </a:extLst>
              </p:cNvPr>
              <p:cNvSpPr/>
              <p:nvPr/>
            </p:nvSpPr>
            <p:spPr>
              <a:xfrm rot="5400000">
                <a:off x="3080394" y="231171"/>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306" name="Trapezoid 305">
                <a:extLst>
                  <a:ext uri="{FF2B5EF4-FFF2-40B4-BE49-F238E27FC236}">
                    <a16:creationId xmlns:a16="http://schemas.microsoft.com/office/drawing/2014/main" id="{6DD38230-54D2-E14B-B4AB-0C741D526199}"/>
                  </a:ext>
                </a:extLst>
              </p:cNvPr>
              <p:cNvSpPr/>
              <p:nvPr/>
            </p:nvSpPr>
            <p:spPr>
              <a:xfrm rot="5400000">
                <a:off x="3085058" y="56858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7" name="Trapezoid 306">
                <a:extLst>
                  <a:ext uri="{FF2B5EF4-FFF2-40B4-BE49-F238E27FC236}">
                    <a16:creationId xmlns:a16="http://schemas.microsoft.com/office/drawing/2014/main" id="{CEADC2D8-0230-1C43-A58D-1BADADBF2648}"/>
                  </a:ext>
                </a:extLst>
              </p:cNvPr>
              <p:cNvSpPr/>
              <p:nvPr/>
            </p:nvSpPr>
            <p:spPr>
              <a:xfrm rot="5400000">
                <a:off x="3085058" y="908310"/>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8" name="Trapezoid 307">
                <a:extLst>
                  <a:ext uri="{FF2B5EF4-FFF2-40B4-BE49-F238E27FC236}">
                    <a16:creationId xmlns:a16="http://schemas.microsoft.com/office/drawing/2014/main" id="{572165D4-0F0D-A842-B62F-8DFDF7E43605}"/>
                  </a:ext>
                </a:extLst>
              </p:cNvPr>
              <p:cNvSpPr/>
              <p:nvPr/>
            </p:nvSpPr>
            <p:spPr>
              <a:xfrm rot="5400000">
                <a:off x="3080394" y="125872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09" name="Trapezoid 308">
                <a:extLst>
                  <a:ext uri="{FF2B5EF4-FFF2-40B4-BE49-F238E27FC236}">
                    <a16:creationId xmlns:a16="http://schemas.microsoft.com/office/drawing/2014/main" id="{41F932B5-A8D8-8444-938E-701067D2E175}"/>
                  </a:ext>
                </a:extLst>
              </p:cNvPr>
              <p:cNvSpPr/>
              <p:nvPr/>
            </p:nvSpPr>
            <p:spPr>
              <a:xfrm rot="5400000">
                <a:off x="3080394" y="158718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10" name="Trapezoid 309">
                <a:extLst>
                  <a:ext uri="{FF2B5EF4-FFF2-40B4-BE49-F238E27FC236}">
                    <a16:creationId xmlns:a16="http://schemas.microsoft.com/office/drawing/2014/main" id="{6D4E9633-2C74-1C4D-AB4D-BCC5338DB090}"/>
                  </a:ext>
                </a:extLst>
              </p:cNvPr>
              <p:cNvSpPr/>
              <p:nvPr/>
            </p:nvSpPr>
            <p:spPr>
              <a:xfrm rot="5400000">
                <a:off x="3080394" y="192459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grpSp>
      </p:grpSp>
      <p:sp>
        <p:nvSpPr>
          <p:cNvPr id="350" name="TextBox 349">
            <a:extLst>
              <a:ext uri="{FF2B5EF4-FFF2-40B4-BE49-F238E27FC236}">
                <a16:creationId xmlns:a16="http://schemas.microsoft.com/office/drawing/2014/main" id="{61820246-221C-7147-9056-9DD64E32C96F}"/>
              </a:ext>
            </a:extLst>
          </p:cNvPr>
          <p:cNvSpPr txBox="1"/>
          <p:nvPr/>
        </p:nvSpPr>
        <p:spPr>
          <a:xfrm>
            <a:off x="1704028" y="2733446"/>
            <a:ext cx="2008004" cy="313270"/>
          </a:xfrm>
          <a:prstGeom prst="rect">
            <a:avLst/>
          </a:prstGeom>
          <a:noFill/>
        </p:spPr>
        <p:txBody>
          <a:bodyPr wrap="square" lIns="81639" tIns="40820" rIns="81639" bIns="40820" rtlCol="0">
            <a:spAutoFit/>
          </a:bodyPr>
          <a:lstStyle/>
          <a:p>
            <a:pPr defTabSz="685800" fontAlgn="auto">
              <a:spcBef>
                <a:spcPts val="0"/>
              </a:spcBef>
              <a:spcAft>
                <a:spcPts val="0"/>
              </a:spcAft>
            </a:pPr>
            <a:r>
              <a:rPr lang="en-US" sz="1500" b="0" dirty="0">
                <a:solidFill>
                  <a:prstClr val="black"/>
                </a:solidFill>
                <a:latin typeface="Arial" panose="020B0604020202020204" pitchFamily="34" charset="0"/>
                <a:cs typeface="Arial" panose="020B0604020202020204" pitchFamily="34" charset="0"/>
              </a:rPr>
              <a:t>Match + Action</a:t>
            </a:r>
          </a:p>
        </p:txBody>
      </p:sp>
      <p:grpSp>
        <p:nvGrpSpPr>
          <p:cNvPr id="351" name="Group 350">
            <a:extLst>
              <a:ext uri="{FF2B5EF4-FFF2-40B4-BE49-F238E27FC236}">
                <a16:creationId xmlns:a16="http://schemas.microsoft.com/office/drawing/2014/main" id="{CB720349-39CE-A04E-A7B7-2BE20C4A7684}"/>
              </a:ext>
            </a:extLst>
          </p:cNvPr>
          <p:cNvGrpSpPr/>
          <p:nvPr/>
        </p:nvGrpSpPr>
        <p:grpSpPr>
          <a:xfrm>
            <a:off x="7516650" y="3935632"/>
            <a:ext cx="552334" cy="519142"/>
            <a:chOff x="8131589" y="4009362"/>
            <a:chExt cx="552334" cy="692189"/>
          </a:xfrm>
        </p:grpSpPr>
        <p:grpSp>
          <p:nvGrpSpPr>
            <p:cNvPr id="352" name="Group 65">
              <a:extLst>
                <a:ext uri="{FF2B5EF4-FFF2-40B4-BE49-F238E27FC236}">
                  <a16:creationId xmlns:a16="http://schemas.microsoft.com/office/drawing/2014/main" id="{581BE93C-8E42-4647-AF4B-3CE1CBFEC961}"/>
                </a:ext>
              </a:extLst>
            </p:cNvPr>
            <p:cNvGrpSpPr/>
            <p:nvPr/>
          </p:nvGrpSpPr>
          <p:grpSpPr>
            <a:xfrm>
              <a:off x="8131589" y="4009362"/>
              <a:ext cx="551591" cy="228624"/>
              <a:chOff x="7660968" y="1751777"/>
              <a:chExt cx="1040580" cy="450645"/>
            </a:xfrm>
          </p:grpSpPr>
          <p:sp>
            <p:nvSpPr>
              <p:cNvPr id="357" name="Freeform 356">
                <a:extLst>
                  <a:ext uri="{FF2B5EF4-FFF2-40B4-BE49-F238E27FC236}">
                    <a16:creationId xmlns:a16="http://schemas.microsoft.com/office/drawing/2014/main" id="{85C49E7B-A01D-954D-9E6E-A7DC0B98A36A}"/>
                  </a:ext>
                </a:extLst>
              </p:cNvPr>
              <p:cNvSpPr/>
              <p:nvPr/>
            </p:nvSpPr>
            <p:spPr>
              <a:xfrm>
                <a:off x="7660968" y="1751777"/>
                <a:ext cx="1040580" cy="450645"/>
              </a:xfrm>
              <a:custGeom>
                <a:avLst/>
                <a:gdLst>
                  <a:gd name="connsiteX0" fmla="*/ 0 w 1040580"/>
                  <a:gd name="connsiteY0" fmla="*/ 0 h 450645"/>
                  <a:gd name="connsiteX1" fmla="*/ 1040580 w 1040580"/>
                  <a:gd name="connsiteY1" fmla="*/ 8193 h 450645"/>
                  <a:gd name="connsiteX2" fmla="*/ 1032387 w 1040580"/>
                  <a:gd name="connsiteY2" fmla="*/ 450645 h 450645"/>
                  <a:gd name="connsiteX3" fmla="*/ 16387 w 1040580"/>
                  <a:gd name="connsiteY3" fmla="*/ 442451 h 450645"/>
                </a:gdLst>
                <a:ahLst/>
                <a:cxnLst>
                  <a:cxn ang="0">
                    <a:pos x="connsiteX0" y="connsiteY0"/>
                  </a:cxn>
                  <a:cxn ang="0">
                    <a:pos x="connsiteX1" y="connsiteY1"/>
                  </a:cxn>
                  <a:cxn ang="0">
                    <a:pos x="connsiteX2" y="connsiteY2"/>
                  </a:cxn>
                  <a:cxn ang="0">
                    <a:pos x="connsiteX3" y="connsiteY3"/>
                  </a:cxn>
                </a:cxnLst>
                <a:rect l="l" t="t" r="r" b="b"/>
                <a:pathLst>
                  <a:path w="1040580" h="450645">
                    <a:moveTo>
                      <a:pt x="0" y="0"/>
                    </a:moveTo>
                    <a:lnTo>
                      <a:pt x="1040580" y="8193"/>
                    </a:lnTo>
                    <a:lnTo>
                      <a:pt x="1032387" y="450645"/>
                    </a:lnTo>
                    <a:lnTo>
                      <a:pt x="16387" y="442451"/>
                    </a:lnTo>
                  </a:path>
                </a:pathLst>
              </a:custGeom>
              <a:noFill/>
              <a:ln w="25400" cap="flat" cmpd="sng" algn="ctr">
                <a:solidFill>
                  <a:sysClr val="windowText" lastClr="0000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cxnSp>
            <p:nvCxnSpPr>
              <p:cNvPr id="358" name="Straight Connector 357">
                <a:extLst>
                  <a:ext uri="{FF2B5EF4-FFF2-40B4-BE49-F238E27FC236}">
                    <a16:creationId xmlns:a16="http://schemas.microsoft.com/office/drawing/2014/main" id="{0FBC95AF-DA67-3845-9C0E-06F8D0EF9FCB}"/>
                  </a:ext>
                </a:extLst>
              </p:cNvPr>
              <p:cNvCxnSpPr/>
              <p:nvPr/>
            </p:nvCxnSpPr>
            <p:spPr>
              <a:xfrm>
                <a:off x="8501629" y="1751777"/>
                <a:ext cx="0" cy="450645"/>
              </a:xfrm>
              <a:prstGeom prst="line">
                <a:avLst/>
              </a:prstGeom>
              <a:noFill/>
              <a:ln w="25400" cap="flat" cmpd="sng" algn="ctr">
                <a:solidFill>
                  <a:sysClr val="windowText" lastClr="000000"/>
                </a:solidFill>
                <a:prstDash val="solid"/>
                <a:miter lim="800000"/>
              </a:ln>
              <a:effectLst/>
            </p:spPr>
          </p:cxnSp>
          <p:cxnSp>
            <p:nvCxnSpPr>
              <p:cNvPr id="359" name="Straight Connector 358">
                <a:extLst>
                  <a:ext uri="{FF2B5EF4-FFF2-40B4-BE49-F238E27FC236}">
                    <a16:creationId xmlns:a16="http://schemas.microsoft.com/office/drawing/2014/main" id="{91D65A84-7D19-4D44-995A-60D1C49A44F5}"/>
                  </a:ext>
                </a:extLst>
              </p:cNvPr>
              <p:cNvCxnSpPr/>
              <p:nvPr/>
            </p:nvCxnSpPr>
            <p:spPr>
              <a:xfrm>
                <a:off x="8268933" y="1751777"/>
                <a:ext cx="0" cy="450645"/>
              </a:xfrm>
              <a:prstGeom prst="line">
                <a:avLst/>
              </a:prstGeom>
              <a:noFill/>
              <a:ln w="25400" cap="flat" cmpd="sng" algn="ctr">
                <a:solidFill>
                  <a:sysClr val="windowText" lastClr="000000"/>
                </a:solidFill>
                <a:prstDash val="solid"/>
                <a:miter lim="800000"/>
              </a:ln>
              <a:effectLst/>
            </p:spPr>
          </p:cxnSp>
        </p:grpSp>
        <p:grpSp>
          <p:nvGrpSpPr>
            <p:cNvPr id="353" name="Group 70">
              <a:extLst>
                <a:ext uri="{FF2B5EF4-FFF2-40B4-BE49-F238E27FC236}">
                  <a16:creationId xmlns:a16="http://schemas.microsoft.com/office/drawing/2014/main" id="{6F1BA334-B1C7-F74E-B2C7-C0EC66D8F6B0}"/>
                </a:ext>
              </a:extLst>
            </p:cNvPr>
            <p:cNvGrpSpPr/>
            <p:nvPr/>
          </p:nvGrpSpPr>
          <p:grpSpPr>
            <a:xfrm>
              <a:off x="8132332" y="4472927"/>
              <a:ext cx="551591" cy="228624"/>
              <a:chOff x="7660968" y="1751777"/>
              <a:chExt cx="1040580" cy="450645"/>
            </a:xfrm>
          </p:grpSpPr>
          <p:sp>
            <p:nvSpPr>
              <p:cNvPr id="354" name="Freeform 353">
                <a:extLst>
                  <a:ext uri="{FF2B5EF4-FFF2-40B4-BE49-F238E27FC236}">
                    <a16:creationId xmlns:a16="http://schemas.microsoft.com/office/drawing/2014/main" id="{3D3161CF-CDD9-9349-9713-2F9EC7DD65A3}"/>
                  </a:ext>
                </a:extLst>
              </p:cNvPr>
              <p:cNvSpPr/>
              <p:nvPr/>
            </p:nvSpPr>
            <p:spPr>
              <a:xfrm>
                <a:off x="7660968" y="1751777"/>
                <a:ext cx="1040580" cy="450645"/>
              </a:xfrm>
              <a:custGeom>
                <a:avLst/>
                <a:gdLst>
                  <a:gd name="connsiteX0" fmla="*/ 0 w 1040580"/>
                  <a:gd name="connsiteY0" fmla="*/ 0 h 450645"/>
                  <a:gd name="connsiteX1" fmla="*/ 1040580 w 1040580"/>
                  <a:gd name="connsiteY1" fmla="*/ 8193 h 450645"/>
                  <a:gd name="connsiteX2" fmla="*/ 1032387 w 1040580"/>
                  <a:gd name="connsiteY2" fmla="*/ 450645 h 450645"/>
                  <a:gd name="connsiteX3" fmla="*/ 16387 w 1040580"/>
                  <a:gd name="connsiteY3" fmla="*/ 442451 h 450645"/>
                </a:gdLst>
                <a:ahLst/>
                <a:cxnLst>
                  <a:cxn ang="0">
                    <a:pos x="connsiteX0" y="connsiteY0"/>
                  </a:cxn>
                  <a:cxn ang="0">
                    <a:pos x="connsiteX1" y="connsiteY1"/>
                  </a:cxn>
                  <a:cxn ang="0">
                    <a:pos x="connsiteX2" y="connsiteY2"/>
                  </a:cxn>
                  <a:cxn ang="0">
                    <a:pos x="connsiteX3" y="connsiteY3"/>
                  </a:cxn>
                </a:cxnLst>
                <a:rect l="l" t="t" r="r" b="b"/>
                <a:pathLst>
                  <a:path w="1040580" h="450645">
                    <a:moveTo>
                      <a:pt x="0" y="0"/>
                    </a:moveTo>
                    <a:lnTo>
                      <a:pt x="1040580" y="8193"/>
                    </a:lnTo>
                    <a:lnTo>
                      <a:pt x="1032387" y="450645"/>
                    </a:lnTo>
                    <a:lnTo>
                      <a:pt x="16387" y="442451"/>
                    </a:lnTo>
                  </a:path>
                </a:pathLst>
              </a:custGeom>
              <a:noFill/>
              <a:ln w="25400" cap="flat" cmpd="sng" algn="ctr">
                <a:solidFill>
                  <a:sysClr val="windowText" lastClr="0000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cxnSp>
            <p:nvCxnSpPr>
              <p:cNvPr id="355" name="Straight Connector 354">
                <a:extLst>
                  <a:ext uri="{FF2B5EF4-FFF2-40B4-BE49-F238E27FC236}">
                    <a16:creationId xmlns:a16="http://schemas.microsoft.com/office/drawing/2014/main" id="{5D2A39C8-DA71-8440-82A6-1F90F2A5D37B}"/>
                  </a:ext>
                </a:extLst>
              </p:cNvPr>
              <p:cNvCxnSpPr/>
              <p:nvPr/>
            </p:nvCxnSpPr>
            <p:spPr>
              <a:xfrm>
                <a:off x="8501629" y="1751777"/>
                <a:ext cx="0" cy="450645"/>
              </a:xfrm>
              <a:prstGeom prst="line">
                <a:avLst/>
              </a:prstGeom>
              <a:noFill/>
              <a:ln w="25400" cap="flat" cmpd="sng" algn="ctr">
                <a:solidFill>
                  <a:sysClr val="windowText" lastClr="000000"/>
                </a:solidFill>
                <a:prstDash val="solid"/>
                <a:miter lim="800000"/>
              </a:ln>
              <a:effectLst/>
            </p:spPr>
          </p:cxnSp>
          <p:cxnSp>
            <p:nvCxnSpPr>
              <p:cNvPr id="356" name="Straight Connector 355">
                <a:extLst>
                  <a:ext uri="{FF2B5EF4-FFF2-40B4-BE49-F238E27FC236}">
                    <a16:creationId xmlns:a16="http://schemas.microsoft.com/office/drawing/2014/main" id="{60ABAA2D-B713-8946-BDD2-B86C6087AA76}"/>
                  </a:ext>
                </a:extLst>
              </p:cNvPr>
              <p:cNvCxnSpPr/>
              <p:nvPr/>
            </p:nvCxnSpPr>
            <p:spPr>
              <a:xfrm>
                <a:off x="8268933" y="1751777"/>
                <a:ext cx="0" cy="450645"/>
              </a:xfrm>
              <a:prstGeom prst="line">
                <a:avLst/>
              </a:prstGeom>
              <a:noFill/>
              <a:ln w="25400" cap="flat" cmpd="sng" algn="ctr">
                <a:solidFill>
                  <a:sysClr val="windowText" lastClr="000000"/>
                </a:solidFill>
                <a:prstDash val="solid"/>
                <a:miter lim="800000"/>
              </a:ln>
              <a:effectLst/>
            </p:spPr>
          </p:cxnSp>
        </p:grpSp>
      </p:grpSp>
      <p:cxnSp>
        <p:nvCxnSpPr>
          <p:cNvPr id="360" name="Straight Arrow Connector 359">
            <a:extLst>
              <a:ext uri="{FF2B5EF4-FFF2-40B4-BE49-F238E27FC236}">
                <a16:creationId xmlns:a16="http://schemas.microsoft.com/office/drawing/2014/main" id="{ECCE64D5-2FDA-2944-B52B-E15D99B92470}"/>
              </a:ext>
            </a:extLst>
          </p:cNvPr>
          <p:cNvCxnSpPr>
            <a:cxnSpLocks/>
            <a:endCxn id="255" idx="1"/>
          </p:cNvCxnSpPr>
          <p:nvPr/>
        </p:nvCxnSpPr>
        <p:spPr>
          <a:xfrm>
            <a:off x="1354116" y="3807275"/>
            <a:ext cx="407120" cy="4240"/>
          </a:xfrm>
          <a:prstGeom prst="straightConnector1">
            <a:avLst/>
          </a:prstGeom>
          <a:noFill/>
          <a:ln w="57150" cap="flat" cmpd="sng" algn="ctr">
            <a:solidFill>
              <a:srgbClr val="0000FF"/>
            </a:solidFill>
            <a:prstDash val="solid"/>
            <a:miter lim="800000"/>
            <a:tailEnd type="stealth"/>
          </a:ln>
          <a:effectLst/>
        </p:spPr>
      </p:cxnSp>
      <p:cxnSp>
        <p:nvCxnSpPr>
          <p:cNvPr id="361" name="Straight Arrow Connector 360">
            <a:extLst>
              <a:ext uri="{FF2B5EF4-FFF2-40B4-BE49-F238E27FC236}">
                <a16:creationId xmlns:a16="http://schemas.microsoft.com/office/drawing/2014/main" id="{B5DF6251-F7CA-554F-84CA-24AC74DF4D07}"/>
              </a:ext>
            </a:extLst>
          </p:cNvPr>
          <p:cNvCxnSpPr>
            <a:cxnSpLocks/>
          </p:cNvCxnSpPr>
          <p:nvPr/>
        </p:nvCxnSpPr>
        <p:spPr>
          <a:xfrm flipV="1">
            <a:off x="4301677" y="3822995"/>
            <a:ext cx="275612" cy="2418"/>
          </a:xfrm>
          <a:prstGeom prst="straightConnector1">
            <a:avLst/>
          </a:prstGeom>
          <a:noFill/>
          <a:ln w="57150" cap="flat" cmpd="sng" algn="ctr">
            <a:solidFill>
              <a:srgbClr val="0000FF"/>
            </a:solidFill>
            <a:prstDash val="solid"/>
            <a:miter lim="800000"/>
            <a:tailEnd type="stealth"/>
          </a:ln>
          <a:effectLst/>
        </p:spPr>
      </p:cxnSp>
      <p:cxnSp>
        <p:nvCxnSpPr>
          <p:cNvPr id="362" name="Straight Arrow Connector 361">
            <a:extLst>
              <a:ext uri="{FF2B5EF4-FFF2-40B4-BE49-F238E27FC236}">
                <a16:creationId xmlns:a16="http://schemas.microsoft.com/office/drawing/2014/main" id="{F3DF7373-78AD-8A42-BCA7-FFAF2AD53FE7}"/>
              </a:ext>
            </a:extLst>
          </p:cNvPr>
          <p:cNvCxnSpPr>
            <a:cxnSpLocks/>
          </p:cNvCxnSpPr>
          <p:nvPr/>
        </p:nvCxnSpPr>
        <p:spPr>
          <a:xfrm>
            <a:off x="5701630" y="3831612"/>
            <a:ext cx="280639" cy="344"/>
          </a:xfrm>
          <a:prstGeom prst="straightConnector1">
            <a:avLst/>
          </a:prstGeom>
          <a:noFill/>
          <a:ln w="57150" cap="flat" cmpd="sng" algn="ctr">
            <a:solidFill>
              <a:srgbClr val="0000FF"/>
            </a:solidFill>
            <a:prstDash val="solid"/>
            <a:miter lim="800000"/>
            <a:tailEnd type="stealth"/>
          </a:ln>
          <a:effectLst/>
        </p:spPr>
      </p:cxnSp>
      <p:cxnSp>
        <p:nvCxnSpPr>
          <p:cNvPr id="363" name="Straight Arrow Connector 362">
            <a:extLst>
              <a:ext uri="{FF2B5EF4-FFF2-40B4-BE49-F238E27FC236}">
                <a16:creationId xmlns:a16="http://schemas.microsoft.com/office/drawing/2014/main" id="{936E5FFB-5127-F141-B59C-EF58293B439B}"/>
              </a:ext>
            </a:extLst>
          </p:cNvPr>
          <p:cNvCxnSpPr>
            <a:cxnSpLocks/>
          </p:cNvCxnSpPr>
          <p:nvPr/>
        </p:nvCxnSpPr>
        <p:spPr>
          <a:xfrm>
            <a:off x="7106610" y="3831956"/>
            <a:ext cx="409297" cy="4765"/>
          </a:xfrm>
          <a:prstGeom prst="straightConnector1">
            <a:avLst/>
          </a:prstGeom>
          <a:noFill/>
          <a:ln w="57150" cap="flat" cmpd="sng" algn="ctr">
            <a:solidFill>
              <a:srgbClr val="0000FF"/>
            </a:solidFill>
            <a:prstDash val="solid"/>
            <a:miter lim="800000"/>
            <a:tailEnd type="stealth"/>
          </a:ln>
          <a:effectLst/>
        </p:spPr>
      </p:cxnSp>
      <p:cxnSp>
        <p:nvCxnSpPr>
          <p:cNvPr id="364" name="Straight Arrow Connector 363">
            <a:extLst>
              <a:ext uri="{FF2B5EF4-FFF2-40B4-BE49-F238E27FC236}">
                <a16:creationId xmlns:a16="http://schemas.microsoft.com/office/drawing/2014/main" id="{AA8C0C8D-BCF3-ED48-8FC7-6007DA070790}"/>
              </a:ext>
            </a:extLst>
          </p:cNvPr>
          <p:cNvCxnSpPr>
            <a:cxnSpLocks/>
            <a:stCxn id="255" idx="3"/>
          </p:cNvCxnSpPr>
          <p:nvPr/>
        </p:nvCxnSpPr>
        <p:spPr>
          <a:xfrm>
            <a:off x="2885577" y="3801949"/>
            <a:ext cx="291760" cy="5282"/>
          </a:xfrm>
          <a:prstGeom prst="straightConnector1">
            <a:avLst/>
          </a:prstGeom>
          <a:noFill/>
          <a:ln w="57150" cap="flat" cmpd="sng" algn="ctr">
            <a:solidFill>
              <a:srgbClr val="0000FF"/>
            </a:solidFill>
            <a:prstDash val="solid"/>
            <a:miter lim="800000"/>
            <a:tailEnd type="stealth"/>
          </a:ln>
          <a:effectLst/>
        </p:spPr>
      </p:cxnSp>
      <p:sp>
        <p:nvSpPr>
          <p:cNvPr id="365" name="TextBox 364">
            <a:extLst>
              <a:ext uri="{FF2B5EF4-FFF2-40B4-BE49-F238E27FC236}">
                <a16:creationId xmlns:a16="http://schemas.microsoft.com/office/drawing/2014/main" id="{E3781C4A-BFD2-5A4F-A50C-47C3D9254E9F}"/>
              </a:ext>
            </a:extLst>
          </p:cNvPr>
          <p:cNvSpPr txBox="1"/>
          <p:nvPr/>
        </p:nvSpPr>
        <p:spPr>
          <a:xfrm>
            <a:off x="1802578" y="3047438"/>
            <a:ext cx="671979" cy="253916"/>
          </a:xfrm>
          <a:prstGeom prst="rect">
            <a:avLst/>
          </a:prstGeom>
          <a:noFill/>
        </p:spPr>
        <p:txBody>
          <a:bodyPr wrap="none" rtlCol="0">
            <a:spAutoFit/>
          </a:bodyPr>
          <a:lstStyle/>
          <a:p>
            <a:pPr defTabSz="685800" fontAlgn="auto">
              <a:spcBef>
                <a:spcPts val="0"/>
              </a:spcBef>
              <a:spcAft>
                <a:spcPts val="0"/>
              </a:spcAft>
            </a:pPr>
            <a:r>
              <a:rPr lang="en-US" sz="1050" b="0" dirty="0">
                <a:solidFill>
                  <a:prstClr val="black"/>
                </a:solidFill>
                <a:latin typeface="Arial" panose="020B0604020202020204" pitchFamily="34" charset="0"/>
                <a:cs typeface="Arial" panose="020B0604020202020204" pitchFamily="34" charset="0"/>
              </a:rPr>
              <a:t>Memory</a:t>
            </a:r>
          </a:p>
        </p:txBody>
      </p:sp>
      <p:sp>
        <p:nvSpPr>
          <p:cNvPr id="366" name="TextBox 365">
            <a:extLst>
              <a:ext uri="{FF2B5EF4-FFF2-40B4-BE49-F238E27FC236}">
                <a16:creationId xmlns:a16="http://schemas.microsoft.com/office/drawing/2014/main" id="{A2C8030E-5F82-F64B-B8EB-44BC4DFDA52C}"/>
              </a:ext>
            </a:extLst>
          </p:cNvPr>
          <p:cNvSpPr txBox="1"/>
          <p:nvPr/>
        </p:nvSpPr>
        <p:spPr>
          <a:xfrm>
            <a:off x="2412647" y="3061185"/>
            <a:ext cx="447558" cy="253916"/>
          </a:xfrm>
          <a:prstGeom prst="rect">
            <a:avLst/>
          </a:prstGeom>
          <a:noFill/>
        </p:spPr>
        <p:txBody>
          <a:bodyPr wrap="none" rtlCol="0">
            <a:spAutoFit/>
          </a:bodyPr>
          <a:lstStyle/>
          <a:p>
            <a:pPr defTabSz="685800" fontAlgn="auto">
              <a:spcBef>
                <a:spcPts val="0"/>
              </a:spcBef>
              <a:spcAft>
                <a:spcPts val="0"/>
              </a:spcAft>
            </a:pPr>
            <a:r>
              <a:rPr lang="en-US" sz="1050" b="0" dirty="0">
                <a:solidFill>
                  <a:prstClr val="black"/>
                </a:solidFill>
                <a:latin typeface="Arial" panose="020B0604020202020204" pitchFamily="34" charset="0"/>
                <a:cs typeface="Arial" panose="020B0604020202020204" pitchFamily="34" charset="0"/>
              </a:rPr>
              <a:t>ALU</a:t>
            </a:r>
          </a:p>
        </p:txBody>
      </p:sp>
      <p:sp>
        <p:nvSpPr>
          <p:cNvPr id="367" name="Rectangle 366">
            <a:extLst>
              <a:ext uri="{FF2B5EF4-FFF2-40B4-BE49-F238E27FC236}">
                <a16:creationId xmlns:a16="http://schemas.microsoft.com/office/drawing/2014/main" id="{97479213-F216-3D40-BCC7-2B22D01BC952}"/>
              </a:ext>
            </a:extLst>
          </p:cNvPr>
          <p:cNvSpPr/>
          <p:nvPr/>
        </p:nvSpPr>
        <p:spPr>
          <a:xfrm rot="16200000">
            <a:off x="276364" y="3591605"/>
            <a:ext cx="1745942" cy="420688"/>
          </a:xfrm>
          <a:prstGeom prst="rect">
            <a:avLst/>
          </a:prstGeom>
          <a:solidFill>
            <a:srgbClr val="FFC000"/>
          </a:solidFill>
          <a:ln w="6350" cap="flat" cmpd="sng" algn="ctr">
            <a:solidFill>
              <a:sysClr val="windowText" lastClr="000000"/>
            </a:solidFill>
            <a:prstDash val="solid"/>
            <a:miter lim="800000"/>
          </a:ln>
          <a:effectLst/>
        </p:spPr>
        <p:txBody>
          <a:bodyPr lIns="116621" tIns="58311" rIns="116621" bIns="58311" rtlCol="0" anchor="ctr"/>
          <a:lstStyle/>
          <a:p>
            <a:pPr marL="0" marR="0" lvl="0" indent="0" algn="ctr" defTabSz="685800" eaLnBrk="1" fontAlgn="auto" latinLnBrk="0" hangingPunct="1">
              <a:lnSpc>
                <a:spcPts val="1425"/>
              </a:lnSpc>
              <a:spcBef>
                <a:spcPts val="0"/>
              </a:spcBef>
              <a:spcAft>
                <a:spcPts val="0"/>
              </a:spcAft>
              <a:buClrTx/>
              <a:buSzTx/>
              <a:buFontTx/>
              <a:buNone/>
              <a:tabLst/>
              <a:defRPr/>
            </a:pPr>
            <a:r>
              <a:rPr kumimoji="0" lang="en-US" sz="1400" i="0" u="none" strike="noStrike" kern="0" cap="none" spc="0" normalizeH="0" baseline="0" noProof="0" dirty="0">
                <a:ln>
                  <a:noFill/>
                </a:ln>
                <a:solidFill>
                  <a:schemeClr val="accent6"/>
                </a:solidFill>
                <a:effectLst/>
                <a:uLnTx/>
                <a:uFillTx/>
                <a:latin typeface="Arial" panose="020B0604020202020204" pitchFamily="34" charset="0"/>
                <a:ea typeface="+mn-ea"/>
                <a:cs typeface="Arial" panose="020B0604020202020204" pitchFamily="34" charset="0"/>
              </a:rPr>
              <a:t> Programmable</a:t>
            </a:r>
          </a:p>
          <a:p>
            <a:pPr marL="0" marR="0" lvl="0" indent="0" algn="ctr" defTabSz="685800" eaLnBrk="1" fontAlgn="auto" latinLnBrk="0" hangingPunct="1">
              <a:lnSpc>
                <a:spcPts val="1425"/>
              </a:lnSpc>
              <a:spcBef>
                <a:spcPts val="0"/>
              </a:spcBef>
              <a:spcAft>
                <a:spcPts val="0"/>
              </a:spcAft>
              <a:buClrTx/>
              <a:buSzTx/>
              <a:buFontTx/>
              <a:buNone/>
              <a:tabLst/>
              <a:defRPr/>
            </a:pPr>
            <a:r>
              <a:rPr kumimoji="0" lang="en-US" sz="1400" i="0" u="none" strike="noStrike" kern="0" cap="none" spc="0" normalizeH="0" baseline="0" noProof="0" dirty="0">
                <a:ln>
                  <a:noFill/>
                </a:ln>
                <a:solidFill>
                  <a:schemeClr val="accent6"/>
                </a:solidFill>
                <a:effectLst/>
                <a:uLnTx/>
                <a:uFillTx/>
                <a:latin typeface="Arial" panose="020B0604020202020204" pitchFamily="34" charset="0"/>
                <a:ea typeface="+mn-ea"/>
                <a:cs typeface="Arial" panose="020B0604020202020204" pitchFamily="34" charset="0"/>
              </a:rPr>
              <a:t>Parser</a:t>
            </a:r>
          </a:p>
        </p:txBody>
      </p:sp>
      <p:grpSp>
        <p:nvGrpSpPr>
          <p:cNvPr id="368" name="Group 367">
            <a:extLst>
              <a:ext uri="{FF2B5EF4-FFF2-40B4-BE49-F238E27FC236}">
                <a16:creationId xmlns:a16="http://schemas.microsoft.com/office/drawing/2014/main" id="{FCBBE7F0-419A-BC40-908F-72D60054A639}"/>
              </a:ext>
            </a:extLst>
          </p:cNvPr>
          <p:cNvGrpSpPr/>
          <p:nvPr/>
        </p:nvGrpSpPr>
        <p:grpSpPr>
          <a:xfrm>
            <a:off x="-76200" y="1868446"/>
            <a:ext cx="2462534" cy="1250655"/>
            <a:chOff x="-151249" y="1086858"/>
            <a:chExt cx="3283379" cy="1667540"/>
          </a:xfrm>
        </p:grpSpPr>
        <p:sp>
          <p:nvSpPr>
            <p:cNvPr id="369" name="TextBox 368">
              <a:extLst>
                <a:ext uri="{FF2B5EF4-FFF2-40B4-BE49-F238E27FC236}">
                  <a16:creationId xmlns:a16="http://schemas.microsoft.com/office/drawing/2014/main" id="{1EAC51B5-1895-4B45-A19B-97DDBDBB3BAE}"/>
                </a:ext>
              </a:extLst>
            </p:cNvPr>
            <p:cNvSpPr txBox="1"/>
            <p:nvPr/>
          </p:nvSpPr>
          <p:spPr>
            <a:xfrm>
              <a:off x="-151249" y="1086858"/>
              <a:ext cx="3283379" cy="697627"/>
            </a:xfrm>
            <a:prstGeom prst="rect">
              <a:avLst/>
            </a:prstGeom>
            <a:noFill/>
          </p:spPr>
          <p:txBody>
            <a:bodyPr wrap="square" rtlCol="0">
              <a:sp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Programmer declares which </a:t>
              </a:r>
            </a:p>
            <a:p>
              <a:pPr marL="0" marR="0" lvl="0" indent="0" algn="ctr" defTabSz="6858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headers are recognized</a:t>
              </a:r>
            </a:p>
          </p:txBody>
        </p:sp>
        <p:cxnSp>
          <p:nvCxnSpPr>
            <p:cNvPr id="370" name="Straight Arrow Connector 369">
              <a:extLst>
                <a:ext uri="{FF2B5EF4-FFF2-40B4-BE49-F238E27FC236}">
                  <a16:creationId xmlns:a16="http://schemas.microsoft.com/office/drawing/2014/main" id="{5D8D58C7-902A-D34A-B060-02551196B73D}"/>
                </a:ext>
              </a:extLst>
            </p:cNvPr>
            <p:cNvCxnSpPr>
              <a:cxnSpLocks/>
              <a:stCxn id="369" idx="2"/>
            </p:cNvCxnSpPr>
            <p:nvPr/>
          </p:nvCxnSpPr>
          <p:spPr>
            <a:xfrm>
              <a:off x="1490441" y="1784485"/>
              <a:ext cx="115107" cy="969913"/>
            </a:xfrm>
            <a:prstGeom prst="straightConnector1">
              <a:avLst/>
            </a:prstGeom>
            <a:noFill/>
            <a:ln w="6350" cap="flat" cmpd="sng" algn="ctr">
              <a:solidFill>
                <a:sysClr val="windowText" lastClr="000000"/>
              </a:solidFill>
              <a:prstDash val="solid"/>
              <a:miter lim="800000"/>
              <a:tailEnd type="triangle"/>
            </a:ln>
            <a:effectLst/>
          </p:spPr>
        </p:cxnSp>
      </p:grpSp>
      <p:grpSp>
        <p:nvGrpSpPr>
          <p:cNvPr id="371" name="Group 370">
            <a:extLst>
              <a:ext uri="{FF2B5EF4-FFF2-40B4-BE49-F238E27FC236}">
                <a16:creationId xmlns:a16="http://schemas.microsoft.com/office/drawing/2014/main" id="{340918D2-5EAE-9D4B-A398-263E0E5B3B85}"/>
              </a:ext>
            </a:extLst>
          </p:cNvPr>
          <p:cNvGrpSpPr/>
          <p:nvPr/>
        </p:nvGrpSpPr>
        <p:grpSpPr>
          <a:xfrm>
            <a:off x="1761244" y="1752600"/>
            <a:ext cx="5345375" cy="1066799"/>
            <a:chOff x="2298675" y="932397"/>
            <a:chExt cx="7127166" cy="1422399"/>
          </a:xfrm>
        </p:grpSpPr>
        <p:sp>
          <p:nvSpPr>
            <p:cNvPr id="372" name="Right Brace 371">
              <a:extLst>
                <a:ext uri="{FF2B5EF4-FFF2-40B4-BE49-F238E27FC236}">
                  <a16:creationId xmlns:a16="http://schemas.microsoft.com/office/drawing/2014/main" id="{AB4450D3-CA45-CE41-8C00-B295A6595E27}"/>
                </a:ext>
              </a:extLst>
            </p:cNvPr>
            <p:cNvSpPr/>
            <p:nvPr/>
          </p:nvSpPr>
          <p:spPr>
            <a:xfrm rot="16200000">
              <a:off x="5668154" y="-1402891"/>
              <a:ext cx="388208" cy="7127166"/>
            </a:xfrm>
            <a:prstGeom prst="rightBrace">
              <a:avLst>
                <a:gd name="adj1" fmla="val 109281"/>
                <a:gd name="adj2" fmla="val 48982"/>
              </a:avLst>
            </a:prstGeom>
            <a:noFill/>
            <a:ln w="12700" cap="flat" cmpd="sng" algn="ctr">
              <a:solidFill>
                <a:srgbClr val="0000FF"/>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sp>
          <p:nvSpPr>
            <p:cNvPr id="373" name="TextBox 372">
              <a:extLst>
                <a:ext uri="{FF2B5EF4-FFF2-40B4-BE49-F238E27FC236}">
                  <a16:creationId xmlns:a16="http://schemas.microsoft.com/office/drawing/2014/main" id="{5DF9CDB5-08FB-1441-8D69-E50E977DD21F}"/>
                </a:ext>
              </a:extLst>
            </p:cNvPr>
            <p:cNvSpPr txBox="1"/>
            <p:nvPr/>
          </p:nvSpPr>
          <p:spPr>
            <a:xfrm>
              <a:off x="2990578" y="932397"/>
              <a:ext cx="5589565" cy="697627"/>
            </a:xfrm>
            <a:prstGeom prst="rect">
              <a:avLst/>
            </a:prstGeom>
            <a:noFill/>
          </p:spPr>
          <p:txBody>
            <a:bodyPr wrap="none" rtlCol="0">
              <a:sp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Programmer declares what</a:t>
              </a:r>
            </a:p>
            <a:p>
              <a:pPr marL="0" marR="0" lvl="0" indent="0" algn="ctr" defTabSz="6858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tables are needed and how packets are processed</a:t>
              </a:r>
            </a:p>
          </p:txBody>
        </p:sp>
        <p:cxnSp>
          <p:nvCxnSpPr>
            <p:cNvPr id="374" name="Straight Arrow Connector 373">
              <a:extLst>
                <a:ext uri="{FF2B5EF4-FFF2-40B4-BE49-F238E27FC236}">
                  <a16:creationId xmlns:a16="http://schemas.microsoft.com/office/drawing/2014/main" id="{1556FE78-6372-D541-8994-5708C3D36D91}"/>
                </a:ext>
              </a:extLst>
            </p:cNvPr>
            <p:cNvCxnSpPr>
              <a:stCxn id="373" idx="2"/>
              <a:endCxn id="372" idx="1"/>
            </p:cNvCxnSpPr>
            <p:nvPr/>
          </p:nvCxnSpPr>
          <p:spPr>
            <a:xfrm>
              <a:off x="5785360" y="1630024"/>
              <a:ext cx="4345" cy="336565"/>
            </a:xfrm>
            <a:prstGeom prst="straightConnector1">
              <a:avLst/>
            </a:prstGeom>
            <a:noFill/>
            <a:ln w="6350" cap="flat" cmpd="sng" algn="ctr">
              <a:solidFill>
                <a:sysClr val="windowText" lastClr="000000"/>
              </a:solidFill>
              <a:prstDash val="solid"/>
              <a:miter lim="800000"/>
              <a:tailEnd type="triangle"/>
            </a:ln>
            <a:effectLst/>
          </p:spPr>
        </p:cxnSp>
      </p:grpSp>
      <p:sp>
        <p:nvSpPr>
          <p:cNvPr id="375" name="TextBox 374">
            <a:extLst>
              <a:ext uri="{FF2B5EF4-FFF2-40B4-BE49-F238E27FC236}">
                <a16:creationId xmlns:a16="http://schemas.microsoft.com/office/drawing/2014/main" id="{1B75A47D-B5E7-9E42-AF50-DE313BB2B5BC}"/>
              </a:ext>
            </a:extLst>
          </p:cNvPr>
          <p:cNvSpPr txBox="1"/>
          <p:nvPr/>
        </p:nvSpPr>
        <p:spPr>
          <a:xfrm>
            <a:off x="481970" y="5296240"/>
            <a:ext cx="8180060" cy="415498"/>
          </a:xfrm>
          <a:prstGeom prst="rect">
            <a:avLst/>
          </a:prstGeom>
          <a:noFill/>
        </p:spPr>
        <p:txBody>
          <a:bodyPr wrap="none" rtlCol="0">
            <a:spAutoFit/>
          </a:bodyPr>
          <a:lstStyle/>
          <a:p>
            <a:pPr defTabSz="685800" fontAlgn="auto">
              <a:spcBef>
                <a:spcPts val="0"/>
              </a:spcBef>
              <a:spcAft>
                <a:spcPts val="0"/>
              </a:spcAft>
            </a:pPr>
            <a:r>
              <a:rPr lang="en-US" sz="2100" dirty="0">
                <a:solidFill>
                  <a:srgbClr val="0000FF"/>
                </a:solidFill>
                <a:latin typeface="Arial" panose="020B0604020202020204" pitchFamily="34" charset="0"/>
                <a:cs typeface="Arial" panose="020B0604020202020204" pitchFamily="34" charset="0"/>
              </a:rPr>
              <a:t>All stages </a:t>
            </a:r>
            <a:r>
              <a:rPr lang="en-US" sz="2100">
                <a:solidFill>
                  <a:srgbClr val="0000FF"/>
                </a:solidFill>
                <a:latin typeface="Arial" panose="020B0604020202020204" pitchFamily="34" charset="0"/>
                <a:cs typeface="Arial" panose="020B0604020202020204" pitchFamily="34" charset="0"/>
              </a:rPr>
              <a:t>are identical – makes PISA a good “compiler target”</a:t>
            </a:r>
          </a:p>
        </p:txBody>
      </p:sp>
      <p:grpSp>
        <p:nvGrpSpPr>
          <p:cNvPr id="380" name="Group 379">
            <a:extLst>
              <a:ext uri="{FF2B5EF4-FFF2-40B4-BE49-F238E27FC236}">
                <a16:creationId xmlns:a16="http://schemas.microsoft.com/office/drawing/2014/main" id="{2B1F38EF-72E9-A64F-9252-D55671487842}"/>
              </a:ext>
            </a:extLst>
          </p:cNvPr>
          <p:cNvGrpSpPr/>
          <p:nvPr/>
        </p:nvGrpSpPr>
        <p:grpSpPr>
          <a:xfrm>
            <a:off x="3156893" y="2994713"/>
            <a:ext cx="1124342" cy="1626876"/>
            <a:chOff x="1908358" y="3002385"/>
            <a:chExt cx="1124342" cy="1626876"/>
          </a:xfrm>
        </p:grpSpPr>
        <p:grpSp>
          <p:nvGrpSpPr>
            <p:cNvPr id="381" name="Group 380">
              <a:extLst>
                <a:ext uri="{FF2B5EF4-FFF2-40B4-BE49-F238E27FC236}">
                  <a16:creationId xmlns:a16="http://schemas.microsoft.com/office/drawing/2014/main" id="{2D0D6C45-5EB4-9646-B764-8A0A3E58B82E}"/>
                </a:ext>
              </a:extLst>
            </p:cNvPr>
            <p:cNvGrpSpPr/>
            <p:nvPr/>
          </p:nvGrpSpPr>
          <p:grpSpPr>
            <a:xfrm>
              <a:off x="1908358" y="3002385"/>
              <a:ext cx="1124342" cy="1626876"/>
              <a:chOff x="1485649" y="3204985"/>
              <a:chExt cx="1124341" cy="2169168"/>
            </a:xfrm>
          </p:grpSpPr>
          <p:sp>
            <p:nvSpPr>
              <p:cNvPr id="395" name="Rectangle 394">
                <a:extLst>
                  <a:ext uri="{FF2B5EF4-FFF2-40B4-BE49-F238E27FC236}">
                    <a16:creationId xmlns:a16="http://schemas.microsoft.com/office/drawing/2014/main" id="{2634C318-DCD5-A245-A57B-662CD258A3B4}"/>
                  </a:ext>
                </a:extLst>
              </p:cNvPr>
              <p:cNvSpPr/>
              <p:nvPr/>
            </p:nvSpPr>
            <p:spPr>
              <a:xfrm>
                <a:off x="1492629" y="3216474"/>
                <a:ext cx="1117361" cy="2157679"/>
              </a:xfrm>
              <a:prstGeom prst="rect">
                <a:avLst/>
              </a:prstGeom>
              <a:solidFill>
                <a:srgbClr val="5B9BD5"/>
              </a:solidFill>
              <a:ln w="12700" cap="flat" cmpd="sng" algn="ctr">
                <a:solidFill>
                  <a:srgbClr val="5B9BD5">
                    <a:shade val="50000"/>
                  </a:srgbClr>
                </a:solidFill>
                <a:prstDash val="solid"/>
                <a:miter lim="800000"/>
              </a:ln>
              <a:effectLst/>
            </p:spPr>
            <p:txBody>
              <a:bodyPr lIns="81639" tIns="40820" rIns="81639" bIns="4082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2500" b="0" i="0" u="none" strike="noStrike" kern="0" cap="none" spc="0" normalizeH="0" baseline="0" noProof="0" dirty="0">
                  <a:ln>
                    <a:noFill/>
                  </a:ln>
                  <a:solidFill>
                    <a:prstClr val="black"/>
                  </a:solidFill>
                  <a:effectLst/>
                  <a:uLnTx/>
                  <a:uFillTx/>
                  <a:latin typeface="Calibri" panose="020F0502020204030204"/>
                  <a:ea typeface="+mn-ea"/>
                  <a:cs typeface="Arial" panose="020B0604020202020204" pitchFamily="34" charset="0"/>
                </a:endParaRPr>
              </a:p>
            </p:txBody>
          </p:sp>
          <p:sp>
            <p:nvSpPr>
              <p:cNvPr id="396" name="Rectangle 395">
                <a:extLst>
                  <a:ext uri="{FF2B5EF4-FFF2-40B4-BE49-F238E27FC236}">
                    <a16:creationId xmlns:a16="http://schemas.microsoft.com/office/drawing/2014/main" id="{45977883-DD27-E74B-9161-3828E5062E7B}"/>
                  </a:ext>
                </a:extLst>
              </p:cNvPr>
              <p:cNvSpPr/>
              <p:nvPr/>
            </p:nvSpPr>
            <p:spPr>
              <a:xfrm>
                <a:off x="1485649" y="3204985"/>
                <a:ext cx="1124341" cy="2157680"/>
              </a:xfrm>
              <a:prstGeom prst="rect">
                <a:avLst/>
              </a:prstGeom>
              <a:solidFill>
                <a:srgbClr val="FFCB05">
                  <a:alpha val="70000"/>
                </a:srgbClr>
              </a:solidFill>
              <a:ln w="12700" cap="flat" cmpd="sng" algn="ctr">
                <a:solidFill>
                  <a:srgbClr val="D3A6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grpSp>
        <p:grpSp>
          <p:nvGrpSpPr>
            <p:cNvPr id="382" name="Group 381">
              <a:extLst>
                <a:ext uri="{FF2B5EF4-FFF2-40B4-BE49-F238E27FC236}">
                  <a16:creationId xmlns:a16="http://schemas.microsoft.com/office/drawing/2014/main" id="{AFA2340D-8F97-5448-BEF4-6B3D906B93C5}"/>
                </a:ext>
              </a:extLst>
            </p:cNvPr>
            <p:cNvGrpSpPr/>
            <p:nvPr/>
          </p:nvGrpSpPr>
          <p:grpSpPr>
            <a:xfrm>
              <a:off x="2018711" y="3078910"/>
              <a:ext cx="909363" cy="1479832"/>
              <a:chOff x="2449931" y="225721"/>
              <a:chExt cx="909363" cy="1973109"/>
            </a:xfrm>
          </p:grpSpPr>
          <p:sp>
            <p:nvSpPr>
              <p:cNvPr id="383" name="Rectangle 382">
                <a:extLst>
                  <a:ext uri="{FF2B5EF4-FFF2-40B4-BE49-F238E27FC236}">
                    <a16:creationId xmlns:a16="http://schemas.microsoft.com/office/drawing/2014/main" id="{66213FE3-583C-1249-94EA-1B9BCE0F3F42}"/>
                  </a:ext>
                </a:extLst>
              </p:cNvPr>
              <p:cNvSpPr/>
              <p:nvPr/>
            </p:nvSpPr>
            <p:spPr>
              <a:xfrm>
                <a:off x="2449931" y="225721"/>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8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384" name="Rectangle 383">
                <a:extLst>
                  <a:ext uri="{FF2B5EF4-FFF2-40B4-BE49-F238E27FC236}">
                    <a16:creationId xmlns:a16="http://schemas.microsoft.com/office/drawing/2014/main" id="{69732217-70CC-9F41-B5A4-1D0705F5EE22}"/>
                  </a:ext>
                </a:extLst>
              </p:cNvPr>
              <p:cNvSpPr/>
              <p:nvPr/>
            </p:nvSpPr>
            <p:spPr>
              <a:xfrm>
                <a:off x="2449931" y="56313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85" name="Rectangle 384">
                <a:extLst>
                  <a:ext uri="{FF2B5EF4-FFF2-40B4-BE49-F238E27FC236}">
                    <a16:creationId xmlns:a16="http://schemas.microsoft.com/office/drawing/2014/main" id="{74A4C1D1-0AE3-BE41-AB55-D376EAA09CE6}"/>
                  </a:ext>
                </a:extLst>
              </p:cNvPr>
              <p:cNvSpPr/>
              <p:nvPr/>
            </p:nvSpPr>
            <p:spPr>
              <a:xfrm>
                <a:off x="2449931" y="902860"/>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86" name="Rectangle 385">
                <a:extLst>
                  <a:ext uri="{FF2B5EF4-FFF2-40B4-BE49-F238E27FC236}">
                    <a16:creationId xmlns:a16="http://schemas.microsoft.com/office/drawing/2014/main" id="{4E00C405-C950-1D46-A22E-C139EDF82E52}"/>
                  </a:ext>
                </a:extLst>
              </p:cNvPr>
              <p:cNvSpPr/>
              <p:nvPr/>
            </p:nvSpPr>
            <p:spPr>
              <a:xfrm>
                <a:off x="2449931" y="1244322"/>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87" name="Rectangle 386">
                <a:extLst>
                  <a:ext uri="{FF2B5EF4-FFF2-40B4-BE49-F238E27FC236}">
                    <a16:creationId xmlns:a16="http://schemas.microsoft.com/office/drawing/2014/main" id="{1D05405C-3054-C24B-BCE8-8FAD5CB7DD56}"/>
                  </a:ext>
                </a:extLst>
              </p:cNvPr>
              <p:cNvSpPr/>
              <p:nvPr/>
            </p:nvSpPr>
            <p:spPr>
              <a:xfrm>
                <a:off x="2449931" y="191914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88" name="Rectangle 387">
                <a:extLst>
                  <a:ext uri="{FF2B5EF4-FFF2-40B4-BE49-F238E27FC236}">
                    <a16:creationId xmlns:a16="http://schemas.microsoft.com/office/drawing/2014/main" id="{416C83FC-98BB-A14A-BB53-28120BB904DF}"/>
                  </a:ext>
                </a:extLst>
              </p:cNvPr>
              <p:cNvSpPr/>
              <p:nvPr/>
            </p:nvSpPr>
            <p:spPr>
              <a:xfrm>
                <a:off x="2449931" y="1581733"/>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89" name="Trapezoid 388">
                <a:extLst>
                  <a:ext uri="{FF2B5EF4-FFF2-40B4-BE49-F238E27FC236}">
                    <a16:creationId xmlns:a16="http://schemas.microsoft.com/office/drawing/2014/main" id="{0260F25A-E0DE-D748-92E1-82D752692129}"/>
                  </a:ext>
                </a:extLst>
              </p:cNvPr>
              <p:cNvSpPr/>
              <p:nvPr/>
            </p:nvSpPr>
            <p:spPr>
              <a:xfrm rot="5400000">
                <a:off x="3080394" y="231171"/>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390" name="Trapezoid 389">
                <a:extLst>
                  <a:ext uri="{FF2B5EF4-FFF2-40B4-BE49-F238E27FC236}">
                    <a16:creationId xmlns:a16="http://schemas.microsoft.com/office/drawing/2014/main" id="{41F6E46A-6D49-7A45-9F49-765386EB1206}"/>
                  </a:ext>
                </a:extLst>
              </p:cNvPr>
              <p:cNvSpPr/>
              <p:nvPr/>
            </p:nvSpPr>
            <p:spPr>
              <a:xfrm rot="5400000">
                <a:off x="3085058" y="56858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91" name="Trapezoid 390">
                <a:extLst>
                  <a:ext uri="{FF2B5EF4-FFF2-40B4-BE49-F238E27FC236}">
                    <a16:creationId xmlns:a16="http://schemas.microsoft.com/office/drawing/2014/main" id="{13A27BC4-DC66-F545-8B8C-5A5C3EE3CB47}"/>
                  </a:ext>
                </a:extLst>
              </p:cNvPr>
              <p:cNvSpPr/>
              <p:nvPr/>
            </p:nvSpPr>
            <p:spPr>
              <a:xfrm rot="5400000">
                <a:off x="3085058" y="908310"/>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92" name="Trapezoid 391">
                <a:extLst>
                  <a:ext uri="{FF2B5EF4-FFF2-40B4-BE49-F238E27FC236}">
                    <a16:creationId xmlns:a16="http://schemas.microsoft.com/office/drawing/2014/main" id="{01E0F7CF-8D66-AA43-A4C1-1BABD4213500}"/>
                  </a:ext>
                </a:extLst>
              </p:cNvPr>
              <p:cNvSpPr/>
              <p:nvPr/>
            </p:nvSpPr>
            <p:spPr>
              <a:xfrm rot="5400000">
                <a:off x="3080394" y="125872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93" name="Trapezoid 392">
                <a:extLst>
                  <a:ext uri="{FF2B5EF4-FFF2-40B4-BE49-F238E27FC236}">
                    <a16:creationId xmlns:a16="http://schemas.microsoft.com/office/drawing/2014/main" id="{4CEF48A4-ADFD-7544-98C0-143EA4447E5A}"/>
                  </a:ext>
                </a:extLst>
              </p:cNvPr>
              <p:cNvSpPr/>
              <p:nvPr/>
            </p:nvSpPr>
            <p:spPr>
              <a:xfrm rot="5400000">
                <a:off x="3080394" y="158718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394" name="Trapezoid 393">
                <a:extLst>
                  <a:ext uri="{FF2B5EF4-FFF2-40B4-BE49-F238E27FC236}">
                    <a16:creationId xmlns:a16="http://schemas.microsoft.com/office/drawing/2014/main" id="{3DC5273D-81F4-804B-955F-7E6504CB57F2}"/>
                  </a:ext>
                </a:extLst>
              </p:cNvPr>
              <p:cNvSpPr/>
              <p:nvPr/>
            </p:nvSpPr>
            <p:spPr>
              <a:xfrm rot="5400000">
                <a:off x="3080394" y="192459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grpSp>
      </p:grpSp>
      <p:grpSp>
        <p:nvGrpSpPr>
          <p:cNvPr id="397" name="Group 396">
            <a:extLst>
              <a:ext uri="{FF2B5EF4-FFF2-40B4-BE49-F238E27FC236}">
                <a16:creationId xmlns:a16="http://schemas.microsoft.com/office/drawing/2014/main" id="{721ACFE1-61B7-6348-801E-57AE443AD4EA}"/>
              </a:ext>
            </a:extLst>
          </p:cNvPr>
          <p:cNvGrpSpPr/>
          <p:nvPr/>
        </p:nvGrpSpPr>
        <p:grpSpPr>
          <a:xfrm>
            <a:off x="4568036" y="2982689"/>
            <a:ext cx="1124342" cy="1626876"/>
            <a:chOff x="1908358" y="3002385"/>
            <a:chExt cx="1124342" cy="1626876"/>
          </a:xfrm>
        </p:grpSpPr>
        <p:grpSp>
          <p:nvGrpSpPr>
            <p:cNvPr id="398" name="Group 397">
              <a:extLst>
                <a:ext uri="{FF2B5EF4-FFF2-40B4-BE49-F238E27FC236}">
                  <a16:creationId xmlns:a16="http://schemas.microsoft.com/office/drawing/2014/main" id="{E7DECBC4-B4DE-6B45-A74D-D1A797EFBE85}"/>
                </a:ext>
              </a:extLst>
            </p:cNvPr>
            <p:cNvGrpSpPr/>
            <p:nvPr/>
          </p:nvGrpSpPr>
          <p:grpSpPr>
            <a:xfrm>
              <a:off x="1908358" y="3002385"/>
              <a:ext cx="1124342" cy="1626876"/>
              <a:chOff x="1485649" y="3204985"/>
              <a:chExt cx="1124341" cy="2169168"/>
            </a:xfrm>
          </p:grpSpPr>
          <p:sp>
            <p:nvSpPr>
              <p:cNvPr id="412" name="Rectangle 411">
                <a:extLst>
                  <a:ext uri="{FF2B5EF4-FFF2-40B4-BE49-F238E27FC236}">
                    <a16:creationId xmlns:a16="http://schemas.microsoft.com/office/drawing/2014/main" id="{05772F61-4438-4E4C-93A2-54D060FABF65}"/>
                  </a:ext>
                </a:extLst>
              </p:cNvPr>
              <p:cNvSpPr/>
              <p:nvPr/>
            </p:nvSpPr>
            <p:spPr>
              <a:xfrm>
                <a:off x="1492629" y="3216474"/>
                <a:ext cx="1117361" cy="2157679"/>
              </a:xfrm>
              <a:prstGeom prst="rect">
                <a:avLst/>
              </a:prstGeom>
              <a:solidFill>
                <a:srgbClr val="5B9BD5"/>
              </a:solidFill>
              <a:ln w="12700" cap="flat" cmpd="sng" algn="ctr">
                <a:solidFill>
                  <a:srgbClr val="5B9BD5">
                    <a:shade val="50000"/>
                  </a:srgbClr>
                </a:solidFill>
                <a:prstDash val="solid"/>
                <a:miter lim="800000"/>
              </a:ln>
              <a:effectLst/>
            </p:spPr>
            <p:txBody>
              <a:bodyPr lIns="81639" tIns="40820" rIns="81639" bIns="4082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2500" b="0" i="0" u="none" strike="noStrike" kern="0" cap="none" spc="0" normalizeH="0" baseline="0" noProof="0" dirty="0">
                  <a:ln>
                    <a:noFill/>
                  </a:ln>
                  <a:solidFill>
                    <a:prstClr val="black"/>
                  </a:solidFill>
                  <a:effectLst/>
                  <a:uLnTx/>
                  <a:uFillTx/>
                  <a:latin typeface="Calibri" panose="020F0502020204030204"/>
                  <a:ea typeface="+mn-ea"/>
                  <a:cs typeface="Arial" panose="020B0604020202020204" pitchFamily="34" charset="0"/>
                </a:endParaRPr>
              </a:p>
            </p:txBody>
          </p:sp>
          <p:sp>
            <p:nvSpPr>
              <p:cNvPr id="413" name="Rectangle 412">
                <a:extLst>
                  <a:ext uri="{FF2B5EF4-FFF2-40B4-BE49-F238E27FC236}">
                    <a16:creationId xmlns:a16="http://schemas.microsoft.com/office/drawing/2014/main" id="{481C7B6B-7017-C94E-A58E-4D08869C8F9A}"/>
                  </a:ext>
                </a:extLst>
              </p:cNvPr>
              <p:cNvSpPr/>
              <p:nvPr/>
            </p:nvSpPr>
            <p:spPr>
              <a:xfrm>
                <a:off x="1485649" y="3204985"/>
                <a:ext cx="1124341" cy="2157680"/>
              </a:xfrm>
              <a:prstGeom prst="rect">
                <a:avLst/>
              </a:prstGeom>
              <a:solidFill>
                <a:srgbClr val="FFCB05">
                  <a:alpha val="70000"/>
                </a:srgbClr>
              </a:solidFill>
              <a:ln w="12700" cap="flat" cmpd="sng" algn="ctr">
                <a:solidFill>
                  <a:srgbClr val="D3A6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grpSp>
        <p:grpSp>
          <p:nvGrpSpPr>
            <p:cNvPr id="399" name="Group 398">
              <a:extLst>
                <a:ext uri="{FF2B5EF4-FFF2-40B4-BE49-F238E27FC236}">
                  <a16:creationId xmlns:a16="http://schemas.microsoft.com/office/drawing/2014/main" id="{271A345F-4B03-2D4B-8C1B-1B37FD4FA691}"/>
                </a:ext>
              </a:extLst>
            </p:cNvPr>
            <p:cNvGrpSpPr/>
            <p:nvPr/>
          </p:nvGrpSpPr>
          <p:grpSpPr>
            <a:xfrm>
              <a:off x="2018711" y="3078910"/>
              <a:ext cx="909363" cy="1479832"/>
              <a:chOff x="2449931" y="225721"/>
              <a:chExt cx="909363" cy="1973109"/>
            </a:xfrm>
          </p:grpSpPr>
          <p:sp>
            <p:nvSpPr>
              <p:cNvPr id="400" name="Rectangle 399">
                <a:extLst>
                  <a:ext uri="{FF2B5EF4-FFF2-40B4-BE49-F238E27FC236}">
                    <a16:creationId xmlns:a16="http://schemas.microsoft.com/office/drawing/2014/main" id="{E6A43E5E-DA8C-0E4A-A9CD-0D1274B8038B}"/>
                  </a:ext>
                </a:extLst>
              </p:cNvPr>
              <p:cNvSpPr/>
              <p:nvPr/>
            </p:nvSpPr>
            <p:spPr>
              <a:xfrm>
                <a:off x="2449931" y="225721"/>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8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401" name="Rectangle 400">
                <a:extLst>
                  <a:ext uri="{FF2B5EF4-FFF2-40B4-BE49-F238E27FC236}">
                    <a16:creationId xmlns:a16="http://schemas.microsoft.com/office/drawing/2014/main" id="{4A2DE725-DE5F-C548-9968-C7C6497467A5}"/>
                  </a:ext>
                </a:extLst>
              </p:cNvPr>
              <p:cNvSpPr/>
              <p:nvPr/>
            </p:nvSpPr>
            <p:spPr>
              <a:xfrm>
                <a:off x="2449931" y="56313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02" name="Rectangle 401">
                <a:extLst>
                  <a:ext uri="{FF2B5EF4-FFF2-40B4-BE49-F238E27FC236}">
                    <a16:creationId xmlns:a16="http://schemas.microsoft.com/office/drawing/2014/main" id="{9750A9E0-CB9C-3146-A442-97EF20841996}"/>
                  </a:ext>
                </a:extLst>
              </p:cNvPr>
              <p:cNvSpPr/>
              <p:nvPr/>
            </p:nvSpPr>
            <p:spPr>
              <a:xfrm>
                <a:off x="2449931" y="902860"/>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03" name="Rectangle 402">
                <a:extLst>
                  <a:ext uri="{FF2B5EF4-FFF2-40B4-BE49-F238E27FC236}">
                    <a16:creationId xmlns:a16="http://schemas.microsoft.com/office/drawing/2014/main" id="{22E28DA6-1E31-454E-8637-0283A0DA227D}"/>
                  </a:ext>
                </a:extLst>
              </p:cNvPr>
              <p:cNvSpPr/>
              <p:nvPr/>
            </p:nvSpPr>
            <p:spPr>
              <a:xfrm>
                <a:off x="2449931" y="1244322"/>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04" name="Rectangle 403">
                <a:extLst>
                  <a:ext uri="{FF2B5EF4-FFF2-40B4-BE49-F238E27FC236}">
                    <a16:creationId xmlns:a16="http://schemas.microsoft.com/office/drawing/2014/main" id="{4BC69B4C-DD0F-5E4A-A6FA-29B3DA2C7A3A}"/>
                  </a:ext>
                </a:extLst>
              </p:cNvPr>
              <p:cNvSpPr/>
              <p:nvPr/>
            </p:nvSpPr>
            <p:spPr>
              <a:xfrm>
                <a:off x="2449931" y="191914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05" name="Rectangle 404">
                <a:extLst>
                  <a:ext uri="{FF2B5EF4-FFF2-40B4-BE49-F238E27FC236}">
                    <a16:creationId xmlns:a16="http://schemas.microsoft.com/office/drawing/2014/main" id="{FB0359FA-ECC8-6549-BE7E-223528115C11}"/>
                  </a:ext>
                </a:extLst>
              </p:cNvPr>
              <p:cNvSpPr/>
              <p:nvPr/>
            </p:nvSpPr>
            <p:spPr>
              <a:xfrm>
                <a:off x="2449931" y="1581733"/>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06" name="Trapezoid 405">
                <a:extLst>
                  <a:ext uri="{FF2B5EF4-FFF2-40B4-BE49-F238E27FC236}">
                    <a16:creationId xmlns:a16="http://schemas.microsoft.com/office/drawing/2014/main" id="{BAA17843-2D6E-B64D-BBC7-3F62AF783159}"/>
                  </a:ext>
                </a:extLst>
              </p:cNvPr>
              <p:cNvSpPr/>
              <p:nvPr/>
            </p:nvSpPr>
            <p:spPr>
              <a:xfrm rot="5400000">
                <a:off x="3080394" y="231171"/>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407" name="Trapezoid 406">
                <a:extLst>
                  <a:ext uri="{FF2B5EF4-FFF2-40B4-BE49-F238E27FC236}">
                    <a16:creationId xmlns:a16="http://schemas.microsoft.com/office/drawing/2014/main" id="{59919433-5B66-C74F-B1D4-3017BDE2EC4F}"/>
                  </a:ext>
                </a:extLst>
              </p:cNvPr>
              <p:cNvSpPr/>
              <p:nvPr/>
            </p:nvSpPr>
            <p:spPr>
              <a:xfrm rot="5400000">
                <a:off x="3085058" y="56858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08" name="Trapezoid 407">
                <a:extLst>
                  <a:ext uri="{FF2B5EF4-FFF2-40B4-BE49-F238E27FC236}">
                    <a16:creationId xmlns:a16="http://schemas.microsoft.com/office/drawing/2014/main" id="{ADC641F2-03C4-634C-9CF6-8E4CBBAD513A}"/>
                  </a:ext>
                </a:extLst>
              </p:cNvPr>
              <p:cNvSpPr/>
              <p:nvPr/>
            </p:nvSpPr>
            <p:spPr>
              <a:xfrm rot="5400000">
                <a:off x="3085058" y="908310"/>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09" name="Trapezoid 408">
                <a:extLst>
                  <a:ext uri="{FF2B5EF4-FFF2-40B4-BE49-F238E27FC236}">
                    <a16:creationId xmlns:a16="http://schemas.microsoft.com/office/drawing/2014/main" id="{A3E65B3A-49ED-964F-8AAF-9F2AB91AD581}"/>
                  </a:ext>
                </a:extLst>
              </p:cNvPr>
              <p:cNvSpPr/>
              <p:nvPr/>
            </p:nvSpPr>
            <p:spPr>
              <a:xfrm rot="5400000">
                <a:off x="3080394" y="125872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10" name="Trapezoid 409">
                <a:extLst>
                  <a:ext uri="{FF2B5EF4-FFF2-40B4-BE49-F238E27FC236}">
                    <a16:creationId xmlns:a16="http://schemas.microsoft.com/office/drawing/2014/main" id="{8334A7A6-D014-CD47-9F8E-C36E9F46C5A6}"/>
                  </a:ext>
                </a:extLst>
              </p:cNvPr>
              <p:cNvSpPr/>
              <p:nvPr/>
            </p:nvSpPr>
            <p:spPr>
              <a:xfrm rot="5400000">
                <a:off x="3080394" y="158718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11" name="Trapezoid 410">
                <a:extLst>
                  <a:ext uri="{FF2B5EF4-FFF2-40B4-BE49-F238E27FC236}">
                    <a16:creationId xmlns:a16="http://schemas.microsoft.com/office/drawing/2014/main" id="{53B7947B-ED5E-C649-B8BD-E5F596A796D3}"/>
                  </a:ext>
                </a:extLst>
              </p:cNvPr>
              <p:cNvSpPr/>
              <p:nvPr/>
            </p:nvSpPr>
            <p:spPr>
              <a:xfrm rot="5400000">
                <a:off x="3080394" y="192459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grpSp>
      </p:grpSp>
      <p:grpSp>
        <p:nvGrpSpPr>
          <p:cNvPr id="414" name="Group 413">
            <a:extLst>
              <a:ext uri="{FF2B5EF4-FFF2-40B4-BE49-F238E27FC236}">
                <a16:creationId xmlns:a16="http://schemas.microsoft.com/office/drawing/2014/main" id="{F948BDC4-26C7-E846-B9D1-2E39AEAF5DD9}"/>
              </a:ext>
            </a:extLst>
          </p:cNvPr>
          <p:cNvGrpSpPr/>
          <p:nvPr/>
        </p:nvGrpSpPr>
        <p:grpSpPr>
          <a:xfrm>
            <a:off x="5981873" y="2982689"/>
            <a:ext cx="1124342" cy="1626876"/>
            <a:chOff x="1908358" y="3002385"/>
            <a:chExt cx="1124342" cy="1626876"/>
          </a:xfrm>
        </p:grpSpPr>
        <p:grpSp>
          <p:nvGrpSpPr>
            <p:cNvPr id="415" name="Group 414">
              <a:extLst>
                <a:ext uri="{FF2B5EF4-FFF2-40B4-BE49-F238E27FC236}">
                  <a16:creationId xmlns:a16="http://schemas.microsoft.com/office/drawing/2014/main" id="{A927E1FC-3BE2-FA4C-A0D9-39ABE954EB73}"/>
                </a:ext>
              </a:extLst>
            </p:cNvPr>
            <p:cNvGrpSpPr/>
            <p:nvPr/>
          </p:nvGrpSpPr>
          <p:grpSpPr>
            <a:xfrm>
              <a:off x="1908358" y="3002385"/>
              <a:ext cx="1124342" cy="1626876"/>
              <a:chOff x="1485649" y="3204985"/>
              <a:chExt cx="1124341" cy="2169168"/>
            </a:xfrm>
          </p:grpSpPr>
          <p:sp>
            <p:nvSpPr>
              <p:cNvPr id="429" name="Rectangle 428">
                <a:extLst>
                  <a:ext uri="{FF2B5EF4-FFF2-40B4-BE49-F238E27FC236}">
                    <a16:creationId xmlns:a16="http://schemas.microsoft.com/office/drawing/2014/main" id="{DB2760C1-F7B2-084A-BC06-0AAC71262DF6}"/>
                  </a:ext>
                </a:extLst>
              </p:cNvPr>
              <p:cNvSpPr/>
              <p:nvPr/>
            </p:nvSpPr>
            <p:spPr>
              <a:xfrm>
                <a:off x="1492629" y="3216474"/>
                <a:ext cx="1117361" cy="2157679"/>
              </a:xfrm>
              <a:prstGeom prst="rect">
                <a:avLst/>
              </a:prstGeom>
              <a:solidFill>
                <a:srgbClr val="5B9BD5"/>
              </a:solidFill>
              <a:ln w="12700" cap="flat" cmpd="sng" algn="ctr">
                <a:solidFill>
                  <a:srgbClr val="5B9BD5">
                    <a:shade val="50000"/>
                  </a:srgbClr>
                </a:solidFill>
                <a:prstDash val="solid"/>
                <a:miter lim="800000"/>
              </a:ln>
              <a:effectLst/>
            </p:spPr>
            <p:txBody>
              <a:bodyPr lIns="81639" tIns="40820" rIns="81639" bIns="4082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2500" b="0" i="0" u="none" strike="noStrike" kern="0" cap="none" spc="0" normalizeH="0" baseline="0" noProof="0" dirty="0">
                  <a:ln>
                    <a:noFill/>
                  </a:ln>
                  <a:solidFill>
                    <a:prstClr val="black"/>
                  </a:solidFill>
                  <a:effectLst/>
                  <a:uLnTx/>
                  <a:uFillTx/>
                  <a:latin typeface="Calibri" panose="020F0502020204030204"/>
                  <a:ea typeface="+mn-ea"/>
                  <a:cs typeface="Arial" panose="020B0604020202020204" pitchFamily="34" charset="0"/>
                </a:endParaRPr>
              </a:p>
            </p:txBody>
          </p:sp>
          <p:sp>
            <p:nvSpPr>
              <p:cNvPr id="430" name="Rectangle 429">
                <a:extLst>
                  <a:ext uri="{FF2B5EF4-FFF2-40B4-BE49-F238E27FC236}">
                    <a16:creationId xmlns:a16="http://schemas.microsoft.com/office/drawing/2014/main" id="{37BA4E89-79FD-BE4C-98CC-E38B641E9819}"/>
                  </a:ext>
                </a:extLst>
              </p:cNvPr>
              <p:cNvSpPr/>
              <p:nvPr/>
            </p:nvSpPr>
            <p:spPr>
              <a:xfrm>
                <a:off x="1485649" y="3204985"/>
                <a:ext cx="1124341" cy="2157680"/>
              </a:xfrm>
              <a:prstGeom prst="rect">
                <a:avLst/>
              </a:prstGeom>
              <a:solidFill>
                <a:srgbClr val="FFCB05">
                  <a:alpha val="70000"/>
                </a:srgbClr>
              </a:solidFill>
              <a:ln w="12700" cap="flat" cmpd="sng" algn="ctr">
                <a:solidFill>
                  <a:srgbClr val="D3A600"/>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black"/>
                  </a:solidFill>
                  <a:effectLst/>
                  <a:uLnTx/>
                  <a:uFillTx/>
                  <a:latin typeface="Calibri" panose="020F0502020204030204"/>
                  <a:ea typeface="+mn-ea"/>
                  <a:cs typeface="Arial" panose="020B0604020202020204" pitchFamily="34" charset="0"/>
                </a:endParaRPr>
              </a:p>
            </p:txBody>
          </p:sp>
        </p:grpSp>
        <p:grpSp>
          <p:nvGrpSpPr>
            <p:cNvPr id="416" name="Group 415">
              <a:extLst>
                <a:ext uri="{FF2B5EF4-FFF2-40B4-BE49-F238E27FC236}">
                  <a16:creationId xmlns:a16="http://schemas.microsoft.com/office/drawing/2014/main" id="{96D83746-B821-4340-A872-76266EC61235}"/>
                </a:ext>
              </a:extLst>
            </p:cNvPr>
            <p:cNvGrpSpPr/>
            <p:nvPr/>
          </p:nvGrpSpPr>
          <p:grpSpPr>
            <a:xfrm>
              <a:off x="2018711" y="3078910"/>
              <a:ext cx="909363" cy="1479832"/>
              <a:chOff x="2449931" y="225721"/>
              <a:chExt cx="909363" cy="1973109"/>
            </a:xfrm>
          </p:grpSpPr>
          <p:sp>
            <p:nvSpPr>
              <p:cNvPr id="417" name="Rectangle 416">
                <a:extLst>
                  <a:ext uri="{FF2B5EF4-FFF2-40B4-BE49-F238E27FC236}">
                    <a16:creationId xmlns:a16="http://schemas.microsoft.com/office/drawing/2014/main" id="{E556A61E-8899-8742-910B-51AA99482F95}"/>
                  </a:ext>
                </a:extLst>
              </p:cNvPr>
              <p:cNvSpPr/>
              <p:nvPr/>
            </p:nvSpPr>
            <p:spPr>
              <a:xfrm>
                <a:off x="2449931" y="225721"/>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8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418" name="Rectangle 417">
                <a:extLst>
                  <a:ext uri="{FF2B5EF4-FFF2-40B4-BE49-F238E27FC236}">
                    <a16:creationId xmlns:a16="http://schemas.microsoft.com/office/drawing/2014/main" id="{D85F684A-8934-9748-B2E7-68D0A9DE858B}"/>
                  </a:ext>
                </a:extLst>
              </p:cNvPr>
              <p:cNvSpPr/>
              <p:nvPr/>
            </p:nvSpPr>
            <p:spPr>
              <a:xfrm>
                <a:off x="2449931" y="56313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19" name="Rectangle 418">
                <a:extLst>
                  <a:ext uri="{FF2B5EF4-FFF2-40B4-BE49-F238E27FC236}">
                    <a16:creationId xmlns:a16="http://schemas.microsoft.com/office/drawing/2014/main" id="{1A381042-922F-DC49-A541-E5F341B0698F}"/>
                  </a:ext>
                </a:extLst>
              </p:cNvPr>
              <p:cNvSpPr/>
              <p:nvPr/>
            </p:nvSpPr>
            <p:spPr>
              <a:xfrm>
                <a:off x="2449931" y="902860"/>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0" name="Rectangle 419">
                <a:extLst>
                  <a:ext uri="{FF2B5EF4-FFF2-40B4-BE49-F238E27FC236}">
                    <a16:creationId xmlns:a16="http://schemas.microsoft.com/office/drawing/2014/main" id="{0DF595AB-CA69-5440-AB83-69A89D67A806}"/>
                  </a:ext>
                </a:extLst>
              </p:cNvPr>
              <p:cNvSpPr/>
              <p:nvPr/>
            </p:nvSpPr>
            <p:spPr>
              <a:xfrm>
                <a:off x="2449931" y="1244322"/>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1" name="Rectangle 420">
                <a:extLst>
                  <a:ext uri="{FF2B5EF4-FFF2-40B4-BE49-F238E27FC236}">
                    <a16:creationId xmlns:a16="http://schemas.microsoft.com/office/drawing/2014/main" id="{FA1ADBCF-4F4E-BC43-8A48-848C36A0DC73}"/>
                  </a:ext>
                </a:extLst>
              </p:cNvPr>
              <p:cNvSpPr/>
              <p:nvPr/>
            </p:nvSpPr>
            <p:spPr>
              <a:xfrm>
                <a:off x="2449931" y="1919144"/>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2" name="Rectangle 421">
                <a:extLst>
                  <a:ext uri="{FF2B5EF4-FFF2-40B4-BE49-F238E27FC236}">
                    <a16:creationId xmlns:a16="http://schemas.microsoft.com/office/drawing/2014/main" id="{550C3071-10C1-2449-A0B5-D75B0F766BD2}"/>
                  </a:ext>
                </a:extLst>
              </p:cNvPr>
              <p:cNvSpPr/>
              <p:nvPr/>
            </p:nvSpPr>
            <p:spPr>
              <a:xfrm>
                <a:off x="2449931" y="1581733"/>
                <a:ext cx="527194" cy="279686"/>
              </a:xfrm>
              <a:prstGeom prst="rect">
                <a:avLst/>
              </a:prstGeom>
              <a:solidFill>
                <a:schemeClr val="bg1"/>
              </a:solidFill>
              <a:ln w="12700" cap="flat" cmpd="sng" algn="ctr">
                <a:solidFill>
                  <a:schemeClr val="tx1"/>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3" name="Trapezoid 422">
                <a:extLst>
                  <a:ext uri="{FF2B5EF4-FFF2-40B4-BE49-F238E27FC236}">
                    <a16:creationId xmlns:a16="http://schemas.microsoft.com/office/drawing/2014/main" id="{B0E7ABFF-93BC-AC48-AE19-43A6BFCEC8E3}"/>
                  </a:ext>
                </a:extLst>
              </p:cNvPr>
              <p:cNvSpPr/>
              <p:nvPr/>
            </p:nvSpPr>
            <p:spPr>
              <a:xfrm rot="5400000">
                <a:off x="3080394" y="231171"/>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dirty="0">
                  <a:ln>
                    <a:noFill/>
                  </a:ln>
                  <a:solidFill>
                    <a:prstClr val="white"/>
                  </a:solidFill>
                  <a:effectLst/>
                  <a:uLnTx/>
                  <a:uFillTx/>
                  <a:latin typeface="Calibri" panose="020F0502020204030204"/>
                  <a:ea typeface="+mn-ea"/>
                  <a:cs typeface="Arial" panose="020B0604020202020204" pitchFamily="34" charset="0"/>
                </a:endParaRPr>
              </a:p>
            </p:txBody>
          </p:sp>
          <p:sp>
            <p:nvSpPr>
              <p:cNvPr id="424" name="Trapezoid 423">
                <a:extLst>
                  <a:ext uri="{FF2B5EF4-FFF2-40B4-BE49-F238E27FC236}">
                    <a16:creationId xmlns:a16="http://schemas.microsoft.com/office/drawing/2014/main" id="{84E6191D-7CAC-C240-B34E-714AA4A676BC}"/>
                  </a:ext>
                </a:extLst>
              </p:cNvPr>
              <p:cNvSpPr/>
              <p:nvPr/>
            </p:nvSpPr>
            <p:spPr>
              <a:xfrm rot="5400000">
                <a:off x="3085058" y="56858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5" name="Trapezoid 424">
                <a:extLst>
                  <a:ext uri="{FF2B5EF4-FFF2-40B4-BE49-F238E27FC236}">
                    <a16:creationId xmlns:a16="http://schemas.microsoft.com/office/drawing/2014/main" id="{A6082EB5-4B43-734D-ACF5-A2FC683F4A87}"/>
                  </a:ext>
                </a:extLst>
              </p:cNvPr>
              <p:cNvSpPr/>
              <p:nvPr/>
            </p:nvSpPr>
            <p:spPr>
              <a:xfrm rot="5400000">
                <a:off x="3085058" y="908310"/>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6" name="Trapezoid 425">
                <a:extLst>
                  <a:ext uri="{FF2B5EF4-FFF2-40B4-BE49-F238E27FC236}">
                    <a16:creationId xmlns:a16="http://schemas.microsoft.com/office/drawing/2014/main" id="{C410E377-3307-DE4C-BAC3-9377E44F5E17}"/>
                  </a:ext>
                </a:extLst>
              </p:cNvPr>
              <p:cNvSpPr/>
              <p:nvPr/>
            </p:nvSpPr>
            <p:spPr>
              <a:xfrm rot="5400000">
                <a:off x="3080394" y="125872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7" name="Trapezoid 426">
                <a:extLst>
                  <a:ext uri="{FF2B5EF4-FFF2-40B4-BE49-F238E27FC236}">
                    <a16:creationId xmlns:a16="http://schemas.microsoft.com/office/drawing/2014/main" id="{785804E5-77DB-FE49-B0DA-819DE38718F8}"/>
                  </a:ext>
                </a:extLst>
              </p:cNvPr>
              <p:cNvSpPr/>
              <p:nvPr/>
            </p:nvSpPr>
            <p:spPr>
              <a:xfrm rot="5400000">
                <a:off x="3080394" y="1587183"/>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sp>
            <p:nvSpPr>
              <p:cNvPr id="428" name="Trapezoid 427">
                <a:extLst>
                  <a:ext uri="{FF2B5EF4-FFF2-40B4-BE49-F238E27FC236}">
                    <a16:creationId xmlns:a16="http://schemas.microsoft.com/office/drawing/2014/main" id="{8000D2D7-8954-1548-86A6-ACBA9BBE80A1}"/>
                  </a:ext>
                </a:extLst>
              </p:cNvPr>
              <p:cNvSpPr/>
              <p:nvPr/>
            </p:nvSpPr>
            <p:spPr>
              <a:xfrm rot="5400000">
                <a:off x="3080394" y="1924594"/>
                <a:ext cx="279686" cy="268786"/>
              </a:xfrm>
              <a:prstGeom prst="trapezoid">
                <a:avLst>
                  <a:gd name="adj" fmla="val 30807"/>
                </a:avLst>
              </a:prstGeom>
              <a:solidFill>
                <a:schemeClr val="tx1">
                  <a:lumMod val="20000"/>
                  <a:lumOff val="80000"/>
                </a:schemeClr>
              </a:solidFill>
              <a:ln w="6350" cap="flat" cmpd="sng" algn="ctr">
                <a:solidFill>
                  <a:schemeClr val="tx2"/>
                </a:solidFill>
                <a:prstDash val="solid"/>
                <a:miter lim="800000"/>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125" b="0" i="0" u="none" strike="noStrike" kern="0" cap="none" spc="0" normalizeH="0" baseline="0" noProof="0">
                  <a:ln>
                    <a:noFill/>
                  </a:ln>
                  <a:solidFill>
                    <a:prstClr val="white"/>
                  </a:solidFill>
                  <a:effectLst/>
                  <a:uLnTx/>
                  <a:uFillTx/>
                  <a:latin typeface="Calibri" panose="020F0502020204030204"/>
                  <a:ea typeface="+mn-ea"/>
                  <a:cs typeface="Arial" panose="020B0604020202020204" pitchFamily="34" charset="0"/>
                </a:endParaRPr>
              </a:p>
            </p:txBody>
          </p:sp>
        </p:grpSp>
      </p:grpSp>
    </p:spTree>
    <p:extLst>
      <p:ext uri="{BB962C8B-B14F-4D97-AF65-F5344CB8AC3E}">
        <p14:creationId xmlns:p14="http://schemas.microsoft.com/office/powerpoint/2010/main" val="488149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68"/>
                                        </p:tgtEl>
                                        <p:attrNameLst>
                                          <p:attrName>style.visibility</p:attrName>
                                        </p:attrNameLst>
                                      </p:cBhvr>
                                      <p:to>
                                        <p:strVal val="visible"/>
                                      </p:to>
                                    </p:set>
                                    <p:animEffect transition="in" filter="wipe(up)">
                                      <p:cBhvr>
                                        <p:cTn id="17" dur="500"/>
                                        <p:tgtEl>
                                          <p:spTgt spid="3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371"/>
                                        </p:tgtEl>
                                        <p:attrNameLst>
                                          <p:attrName>style.visibility</p:attrName>
                                        </p:attrNameLst>
                                      </p:cBhvr>
                                      <p:to>
                                        <p:strVal val="visible"/>
                                      </p:to>
                                    </p:set>
                                    <p:animEffect transition="in" filter="wipe(up)">
                                      <p:cBhvr>
                                        <p:cTn id="22" dur="500"/>
                                        <p:tgtEl>
                                          <p:spTgt spid="371"/>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0" grpId="0"/>
      <p:bldP spid="365" grpId="0"/>
      <p:bldP spid="366" grpId="0"/>
      <p:bldP spid="37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87320-8830-B290-0975-2317B61A29FA}"/>
            </a:ext>
          </a:extLst>
        </p:cNvPr>
        <p:cNvGrpSpPr/>
        <p:nvPr/>
      </p:nvGrpSpPr>
      <p:grpSpPr>
        <a:xfrm>
          <a:off x="0" y="0"/>
          <a:ext cx="0" cy="0"/>
          <a:chOff x="0" y="0"/>
          <a:chExt cx="0" cy="0"/>
        </a:xfrm>
      </p:grpSpPr>
      <p:sp>
        <p:nvSpPr>
          <p:cNvPr id="1043458" name="Rectangle 2">
            <a:extLst>
              <a:ext uri="{FF2B5EF4-FFF2-40B4-BE49-F238E27FC236}">
                <a16:creationId xmlns:a16="http://schemas.microsoft.com/office/drawing/2014/main" id="{9E25E791-BAF0-DC6C-B00D-FB1EA6B00516}"/>
              </a:ext>
            </a:extLst>
          </p:cNvPr>
          <p:cNvSpPr>
            <a:spLocks noGrp="1" noChangeArrowheads="1"/>
          </p:cNvSpPr>
          <p:nvPr>
            <p:ph type="title"/>
          </p:nvPr>
        </p:nvSpPr>
        <p:spPr/>
        <p:txBody>
          <a:bodyPr/>
          <a:lstStyle/>
          <a:p>
            <a:r>
              <a:rPr lang="en-US"/>
              <a:t>Topics</a:t>
            </a:r>
            <a:endParaRPr lang="en-US" dirty="0"/>
          </a:p>
        </p:txBody>
      </p:sp>
      <p:sp>
        <p:nvSpPr>
          <p:cNvPr id="1043459" name="Rectangle 3">
            <a:extLst>
              <a:ext uri="{FF2B5EF4-FFF2-40B4-BE49-F238E27FC236}">
                <a16:creationId xmlns:a16="http://schemas.microsoft.com/office/drawing/2014/main" id="{4FAFDFEB-C385-3CAB-E637-598BDEFE0AD9}"/>
              </a:ext>
            </a:extLst>
          </p:cNvPr>
          <p:cNvSpPr>
            <a:spLocks noGrp="1" noChangeArrowheads="1"/>
          </p:cNvSpPr>
          <p:nvPr>
            <p:ph idx="1"/>
          </p:nvPr>
        </p:nvSpPr>
        <p:spPr/>
        <p:txBody>
          <a:bodyPr/>
          <a:lstStyle/>
          <a:p>
            <a:r>
              <a:rPr lang="en-US" dirty="0">
                <a:solidFill>
                  <a:schemeClr val="bg1">
                    <a:lumMod val="50000"/>
                  </a:schemeClr>
                </a:solidFill>
              </a:rPr>
              <a:t>Network layer (lectures 10–15)</a:t>
            </a:r>
          </a:p>
          <a:p>
            <a:pPr lvl="1"/>
            <a:r>
              <a:rPr lang="en-US" dirty="0">
                <a:solidFill>
                  <a:schemeClr val="bg1">
                    <a:lumMod val="50000"/>
                  </a:schemeClr>
                </a:solidFill>
              </a:rPr>
              <a:t>Addressing</a:t>
            </a:r>
          </a:p>
          <a:p>
            <a:pPr lvl="1"/>
            <a:r>
              <a:rPr lang="en-US" dirty="0">
                <a:solidFill>
                  <a:schemeClr val="bg1">
                    <a:lumMod val="50000"/>
                  </a:schemeClr>
                </a:solidFill>
              </a:rPr>
              <a:t>Data plane</a:t>
            </a:r>
          </a:p>
          <a:p>
            <a:pPr lvl="1"/>
            <a:r>
              <a:rPr lang="en-US" dirty="0">
                <a:solidFill>
                  <a:schemeClr val="bg1">
                    <a:lumMod val="50000"/>
                  </a:schemeClr>
                </a:solidFill>
              </a:rPr>
              <a:t>Intra-domain routing </a:t>
            </a:r>
          </a:p>
          <a:p>
            <a:pPr lvl="1"/>
            <a:r>
              <a:rPr lang="en-US" dirty="0">
                <a:solidFill>
                  <a:schemeClr val="bg1">
                    <a:lumMod val="50000"/>
                  </a:schemeClr>
                </a:solidFill>
              </a:rPr>
              <a:t>Inter-domain routing</a:t>
            </a:r>
          </a:p>
          <a:p>
            <a:r>
              <a:rPr lang="en-US" dirty="0">
                <a:solidFill>
                  <a:schemeClr val="bg1">
                    <a:lumMod val="50000"/>
                  </a:schemeClr>
                </a:solidFill>
              </a:rPr>
              <a:t>SDN and programmable networks (lecture 16)</a:t>
            </a:r>
          </a:p>
          <a:p>
            <a:r>
              <a:rPr lang="en-US" dirty="0"/>
              <a:t>Link layer (lectures 17–19)</a:t>
            </a:r>
          </a:p>
          <a:p>
            <a:pPr lvl="1"/>
            <a:r>
              <a:rPr lang="en-US" dirty="0"/>
              <a:t>Ethernet</a:t>
            </a:r>
          </a:p>
          <a:p>
            <a:pPr lvl="1"/>
            <a:r>
              <a:rPr lang="en-US" dirty="0"/>
              <a:t>Wireless</a:t>
            </a:r>
          </a:p>
          <a:p>
            <a:r>
              <a:rPr lang="en-US" dirty="0"/>
              <a:t>Datacenter networking (lecture 20)</a:t>
            </a:r>
          </a:p>
        </p:txBody>
      </p:sp>
      <p:sp>
        <p:nvSpPr>
          <p:cNvPr id="4" name="Date Placeholder 3">
            <a:extLst>
              <a:ext uri="{FF2B5EF4-FFF2-40B4-BE49-F238E27FC236}">
                <a16:creationId xmlns:a16="http://schemas.microsoft.com/office/drawing/2014/main" id="{8D2DECB2-2685-1E40-E8A2-9B1F18BADFF4}"/>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01BEEB72-E55E-F6BD-A76C-F89AB8A50840}"/>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F612EA21-C03C-5EB3-8880-36573DA199D4}"/>
              </a:ext>
            </a:extLst>
          </p:cNvPr>
          <p:cNvSpPr>
            <a:spLocks noGrp="1"/>
          </p:cNvSpPr>
          <p:nvPr>
            <p:ph type="sldNum" sz="quarter" idx="12"/>
          </p:nvPr>
        </p:nvSpPr>
        <p:spPr/>
        <p:txBody>
          <a:bodyPr/>
          <a:lstStyle/>
          <a:p>
            <a:fld id="{A190D881-957A-7944-A8D0-1584E528B88F}" type="slidenum">
              <a:rPr lang="en-US" smtClean="0"/>
              <a:pPr/>
              <a:t>46</a:t>
            </a:fld>
            <a:endParaRPr lang="en-US"/>
          </a:p>
        </p:txBody>
      </p:sp>
    </p:spTree>
    <p:extLst>
      <p:ext uri="{BB962C8B-B14F-4D97-AF65-F5344CB8AC3E}">
        <p14:creationId xmlns:p14="http://schemas.microsoft.com/office/powerpoint/2010/main" val="23735571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link layer</a:t>
            </a:r>
          </a:p>
        </p:txBody>
      </p:sp>
      <p:sp>
        <p:nvSpPr>
          <p:cNvPr id="3" name="Content Placeholder 2"/>
          <p:cNvSpPr>
            <a:spLocks noGrp="1"/>
          </p:cNvSpPr>
          <p:nvPr>
            <p:ph idx="1"/>
          </p:nvPr>
        </p:nvSpPr>
        <p:spPr/>
        <p:txBody>
          <a:bodyPr/>
          <a:lstStyle/>
          <a:p>
            <a:r>
              <a:rPr lang="en-US" dirty="0"/>
              <a:t>Provides four primary services</a:t>
            </a:r>
          </a:p>
          <a:p>
            <a:pPr lvl="1"/>
            <a:r>
              <a:rPr lang="en-US" dirty="0">
                <a:solidFill>
                  <a:srgbClr val="0000FF"/>
                </a:solidFill>
              </a:rPr>
              <a:t>Framing</a:t>
            </a:r>
          </a:p>
          <a:p>
            <a:pPr lvl="2"/>
            <a:r>
              <a:rPr lang="en-US" dirty="0"/>
              <a:t>Encapsulates network layer data</a:t>
            </a:r>
          </a:p>
          <a:p>
            <a:pPr lvl="1"/>
            <a:r>
              <a:rPr lang="en-US" dirty="0">
                <a:solidFill>
                  <a:srgbClr val="0000FF"/>
                </a:solidFill>
              </a:rPr>
              <a:t>Link access</a:t>
            </a:r>
          </a:p>
          <a:p>
            <a:pPr lvl="2"/>
            <a:r>
              <a:rPr lang="en-US" dirty="0"/>
              <a:t>Medium access control (MAC) protocol defines when to transmit frames</a:t>
            </a:r>
          </a:p>
          <a:p>
            <a:pPr lvl="1"/>
            <a:r>
              <a:rPr lang="en-US" dirty="0">
                <a:solidFill>
                  <a:srgbClr val="0000FF"/>
                </a:solidFill>
              </a:rPr>
              <a:t>Reliable delivery</a:t>
            </a:r>
          </a:p>
          <a:p>
            <a:pPr lvl="2"/>
            <a:r>
              <a:rPr lang="en-US" dirty="0"/>
              <a:t>Primarily for mediums with high error rates (e.g., wireless)</a:t>
            </a:r>
          </a:p>
          <a:p>
            <a:pPr lvl="1"/>
            <a:r>
              <a:rPr lang="en-US" dirty="0">
                <a:solidFill>
                  <a:srgbClr val="0000FF"/>
                </a:solidFill>
              </a:rPr>
              <a:t>Error detection and correction</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47</a:t>
            </a:fld>
            <a:endParaRPr lang="en-US"/>
          </a:p>
        </p:txBody>
      </p:sp>
    </p:spTree>
    <p:extLst>
      <p:ext uri="{BB962C8B-B14F-4D97-AF65-F5344CB8AC3E}">
        <p14:creationId xmlns:p14="http://schemas.microsoft.com/office/powerpoint/2010/main" val="398189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p:txBody>
          <a:bodyPr/>
          <a:lstStyle/>
          <a:p>
            <a:r>
              <a:rPr lang="en-US" dirty="0"/>
              <a:t>Point-to-point vs. broadcast medium</a:t>
            </a:r>
          </a:p>
        </p:txBody>
      </p:sp>
      <p:sp>
        <p:nvSpPr>
          <p:cNvPr id="957443" name="Rectangle 3"/>
          <p:cNvSpPr>
            <a:spLocks noGrp="1" noChangeArrowheads="1"/>
          </p:cNvSpPr>
          <p:nvPr>
            <p:ph idx="1"/>
          </p:nvPr>
        </p:nvSpPr>
        <p:spPr/>
        <p:txBody>
          <a:bodyPr/>
          <a:lstStyle/>
          <a:p>
            <a:r>
              <a:rPr lang="en-US" dirty="0">
                <a:solidFill>
                  <a:srgbClr val="0000FF"/>
                </a:solidFill>
              </a:rPr>
              <a:t>Point-to-point</a:t>
            </a:r>
            <a:r>
              <a:rPr lang="en-US" dirty="0"/>
              <a:t>: dedicated pairwise communication</a:t>
            </a:r>
          </a:p>
          <a:p>
            <a:pPr lvl="1"/>
            <a:r>
              <a:rPr lang="en-US" dirty="0"/>
              <a:t>E.g., long-distance fiber link</a:t>
            </a:r>
          </a:p>
          <a:p>
            <a:pPr lvl="1"/>
            <a:r>
              <a:rPr lang="en-US" dirty="0"/>
              <a:t>E.g., Point-to-point link b/n Ethernet switch and host</a:t>
            </a:r>
          </a:p>
          <a:p>
            <a:r>
              <a:rPr lang="en-US" dirty="0">
                <a:solidFill>
                  <a:srgbClr val="0000FF"/>
                </a:solidFill>
              </a:rPr>
              <a:t>Broadcast</a:t>
            </a:r>
            <a:r>
              <a:rPr lang="en-US" dirty="0"/>
              <a:t>: shared wire or medium</a:t>
            </a:r>
          </a:p>
          <a:p>
            <a:pPr lvl="1"/>
            <a:r>
              <a:rPr lang="en-US" dirty="0"/>
              <a:t>Traditional Ethernet (pre ~2000)</a:t>
            </a:r>
          </a:p>
          <a:p>
            <a:pPr lvl="1"/>
            <a:r>
              <a:rPr lang="en-US" dirty="0"/>
              <a:t>802.11 wireless LAN</a:t>
            </a:r>
          </a:p>
          <a:p>
            <a:endParaRPr lang="en-US" dirty="0"/>
          </a:p>
          <a:p>
            <a:endParaRPr lang="en-US" dirty="0"/>
          </a:p>
          <a:p>
            <a:endParaRPr lang="en-US" dirty="0"/>
          </a:p>
          <a:p>
            <a:endParaRPr lang="en-US" dirty="0"/>
          </a:p>
        </p:txBody>
      </p:sp>
      <p:sp>
        <p:nvSpPr>
          <p:cNvPr id="5" name="Date Placeholder 4"/>
          <p:cNvSpPr>
            <a:spLocks noGrp="1"/>
          </p:cNvSpPr>
          <p:nvPr>
            <p:ph type="dt" sz="half" idx="10"/>
          </p:nvPr>
        </p:nvSpPr>
        <p:spPr/>
        <p:txBody>
          <a:bodyPr/>
          <a:lstStyle/>
          <a:p>
            <a:r>
              <a:rPr lang="en-US"/>
              <a:t>April 16,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7" name="Slide Number Placeholder 6"/>
          <p:cNvSpPr>
            <a:spLocks noGrp="1"/>
          </p:cNvSpPr>
          <p:nvPr>
            <p:ph type="sldNum" sz="quarter" idx="12"/>
          </p:nvPr>
        </p:nvSpPr>
        <p:spPr/>
        <p:txBody>
          <a:bodyPr/>
          <a:lstStyle/>
          <a:p>
            <a:fld id="{A190D881-957A-7944-A8D0-1584E528B88F}" type="slidenum">
              <a:rPr lang="en-US" smtClean="0"/>
              <a:pPr/>
              <a:t>48</a:t>
            </a:fld>
            <a:endParaRPr lang="en-US"/>
          </a:p>
        </p:txBody>
      </p:sp>
    </p:spTree>
    <p:extLst>
      <p:ext uri="{BB962C8B-B14F-4D97-AF65-F5344CB8AC3E}">
        <p14:creationId xmlns:p14="http://schemas.microsoft.com/office/powerpoint/2010/main" val="170557775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5744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5744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5744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5744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5744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5744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7443"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Rectangle 2"/>
          <p:cNvSpPr>
            <a:spLocks noGrp="1" noChangeArrowheads="1"/>
          </p:cNvSpPr>
          <p:nvPr>
            <p:ph type="title"/>
          </p:nvPr>
        </p:nvSpPr>
        <p:spPr/>
        <p:txBody>
          <a:bodyPr/>
          <a:lstStyle/>
          <a:p>
            <a:r>
              <a:rPr lang="en-US" dirty="0"/>
              <a:t>Random access MAC protocols</a:t>
            </a:r>
          </a:p>
        </p:txBody>
      </p:sp>
      <p:sp>
        <p:nvSpPr>
          <p:cNvPr id="965635" name="Rectangle 3"/>
          <p:cNvSpPr>
            <a:spLocks noGrp="1" noChangeArrowheads="1"/>
          </p:cNvSpPr>
          <p:nvPr>
            <p:ph idx="1"/>
          </p:nvPr>
        </p:nvSpPr>
        <p:spPr/>
        <p:txBody>
          <a:bodyPr/>
          <a:lstStyle/>
          <a:p>
            <a:r>
              <a:rPr lang="en-US" dirty="0"/>
              <a:t>When node has packet to send</a:t>
            </a:r>
          </a:p>
          <a:p>
            <a:pPr lvl="1"/>
            <a:r>
              <a:rPr lang="en-US" dirty="0"/>
              <a:t>Transmit at full channel data rate </a:t>
            </a:r>
            <a:r>
              <a:rPr lang="en-US" b="1" dirty="0"/>
              <a:t>w/o</a:t>
            </a:r>
            <a:r>
              <a:rPr lang="en-US" dirty="0"/>
              <a:t> coordination</a:t>
            </a:r>
          </a:p>
          <a:p>
            <a:r>
              <a:rPr lang="en-US" dirty="0"/>
              <a:t>Two or more transmitting nodes </a:t>
            </a:r>
            <a:r>
              <a:rPr lang="en-US" dirty="0">
                <a:sym typeface="Symbol" charset="0"/>
              </a:rPr>
              <a:t></a:t>
            </a:r>
            <a:r>
              <a:rPr lang="en-US" dirty="0"/>
              <a:t> </a:t>
            </a:r>
            <a:r>
              <a:rPr lang="en-US" dirty="0">
                <a:solidFill>
                  <a:srgbClr val="0000FF"/>
                </a:solidFill>
              </a:rPr>
              <a:t>collision</a:t>
            </a:r>
          </a:p>
          <a:p>
            <a:pPr lvl="1"/>
            <a:r>
              <a:rPr lang="en-US" dirty="0"/>
              <a:t>Data lost</a:t>
            </a:r>
          </a:p>
          <a:p>
            <a:r>
              <a:rPr lang="en-US" dirty="0"/>
              <a:t>Random access MAC protocol specifies</a:t>
            </a:r>
          </a:p>
          <a:p>
            <a:pPr lvl="1"/>
            <a:r>
              <a:rPr lang="en-US" dirty="0"/>
              <a:t>How to </a:t>
            </a:r>
            <a:r>
              <a:rPr lang="en-US" dirty="0">
                <a:solidFill>
                  <a:srgbClr val="0000FF"/>
                </a:solidFill>
              </a:rPr>
              <a:t>detect</a:t>
            </a:r>
            <a:r>
              <a:rPr lang="en-US" dirty="0"/>
              <a:t> and </a:t>
            </a:r>
            <a:r>
              <a:rPr lang="en-US" dirty="0">
                <a:solidFill>
                  <a:srgbClr val="0000FF"/>
                </a:solidFill>
              </a:rPr>
              <a:t>recover</a:t>
            </a:r>
            <a:r>
              <a:rPr lang="en-US" dirty="0"/>
              <a:t> from collisions </a:t>
            </a:r>
          </a:p>
          <a:p>
            <a:r>
              <a:rPr lang="en-US" dirty="0"/>
              <a:t>Examples </a:t>
            </a:r>
          </a:p>
          <a:p>
            <a:pPr lvl="1"/>
            <a:r>
              <a:rPr lang="en-US" dirty="0"/>
              <a:t>ALOHA and Slotted ALOHA</a:t>
            </a:r>
          </a:p>
          <a:p>
            <a:pPr lvl="1"/>
            <a:r>
              <a:rPr lang="en-US" dirty="0">
                <a:solidFill>
                  <a:srgbClr val="0000FF"/>
                </a:solidFill>
              </a:rPr>
              <a:t>CSMA</a:t>
            </a:r>
            <a:r>
              <a:rPr lang="en-US" dirty="0"/>
              <a:t>, </a:t>
            </a:r>
            <a:r>
              <a:rPr lang="en-US" dirty="0">
                <a:solidFill>
                  <a:srgbClr val="0000FF"/>
                </a:solidFill>
              </a:rPr>
              <a:t>CSMA/CD</a:t>
            </a:r>
            <a:r>
              <a:rPr lang="en-US" dirty="0"/>
              <a:t>, CSMA/CA (wireless)</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49</a:t>
            </a:fld>
            <a:endParaRPr lang="en-US"/>
          </a:p>
        </p:txBody>
      </p:sp>
    </p:spTree>
    <p:extLst>
      <p:ext uri="{BB962C8B-B14F-4D97-AF65-F5344CB8AC3E}">
        <p14:creationId xmlns:p14="http://schemas.microsoft.com/office/powerpoint/2010/main" val="17252629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6563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65635">
                                            <p:txEl>
                                              <p:pRg st="1" end="1"/>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6563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65635">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6563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65635">
                                            <p:txEl>
                                              <p:pRg st="5" end="5"/>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65635">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65635">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6563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5635"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7" name="Rectangle 2"/>
          <p:cNvSpPr>
            <a:spLocks noGrp="1" noChangeArrowheads="1"/>
          </p:cNvSpPr>
          <p:nvPr>
            <p:ph type="title"/>
          </p:nvPr>
        </p:nvSpPr>
        <p:spPr/>
        <p:txBody>
          <a:bodyPr/>
          <a:lstStyle/>
          <a:p>
            <a:r>
              <a:rPr lang="en-US"/>
              <a:t>CSMA (Carrier Sense Multiple Access)</a:t>
            </a:r>
          </a:p>
        </p:txBody>
      </p:sp>
      <p:sp>
        <p:nvSpPr>
          <p:cNvPr id="973827" name="Rectangle 3"/>
          <p:cNvSpPr>
            <a:spLocks noGrp="1" noChangeArrowheads="1"/>
          </p:cNvSpPr>
          <p:nvPr>
            <p:ph idx="1"/>
          </p:nvPr>
        </p:nvSpPr>
        <p:spPr/>
        <p:txBody>
          <a:bodyPr/>
          <a:lstStyle/>
          <a:p>
            <a:r>
              <a:rPr lang="en-US" dirty="0"/>
              <a:t>CSMA: </a:t>
            </a:r>
            <a:r>
              <a:rPr lang="en-US" dirty="0">
                <a:solidFill>
                  <a:srgbClr val="0000FF"/>
                </a:solidFill>
              </a:rPr>
              <a:t>listen before transmit</a:t>
            </a:r>
          </a:p>
          <a:p>
            <a:pPr lvl="1"/>
            <a:r>
              <a:rPr lang="en-US" dirty="0"/>
              <a:t>If channel sensed idle: transmit entire frame</a:t>
            </a:r>
          </a:p>
          <a:p>
            <a:pPr lvl="1"/>
            <a:r>
              <a:rPr lang="en-US" dirty="0"/>
              <a:t>If channel sensed busy, defer transmission </a:t>
            </a:r>
          </a:p>
          <a:p>
            <a:r>
              <a:rPr lang="en-US" dirty="0"/>
              <a:t>Human analogy: don’t interrupt others!</a:t>
            </a:r>
          </a:p>
          <a:p>
            <a:r>
              <a:rPr lang="en-US" dirty="0"/>
              <a:t>Does not eliminate all collisions</a:t>
            </a:r>
          </a:p>
          <a:p>
            <a:pPr lvl="1"/>
            <a:r>
              <a:rPr lang="en-US" dirty="0"/>
              <a:t>Why?</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50</a:t>
            </a:fld>
            <a:endParaRPr lang="en-US"/>
          </a:p>
        </p:txBody>
      </p:sp>
    </p:spTree>
    <p:extLst>
      <p:ext uri="{BB962C8B-B14F-4D97-AF65-F5344CB8AC3E}">
        <p14:creationId xmlns:p14="http://schemas.microsoft.com/office/powerpoint/2010/main" val="164335006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7382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7382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7382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7382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7382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7382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3827"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3" name="Rectangle 2"/>
          <p:cNvSpPr>
            <a:spLocks noGrp="1" noChangeArrowheads="1"/>
          </p:cNvSpPr>
          <p:nvPr>
            <p:ph type="title"/>
          </p:nvPr>
        </p:nvSpPr>
        <p:spPr/>
        <p:txBody>
          <a:bodyPr/>
          <a:lstStyle/>
          <a:p>
            <a:r>
              <a:rPr lang="en-US"/>
              <a:t>CSMA/CD (Collision Detection)</a:t>
            </a:r>
          </a:p>
        </p:txBody>
      </p:sp>
      <p:sp>
        <p:nvSpPr>
          <p:cNvPr id="977923" name="Rectangle 3"/>
          <p:cNvSpPr>
            <a:spLocks noGrp="1" noChangeArrowheads="1"/>
          </p:cNvSpPr>
          <p:nvPr>
            <p:ph idx="1"/>
          </p:nvPr>
        </p:nvSpPr>
        <p:spPr/>
        <p:txBody>
          <a:bodyPr/>
          <a:lstStyle/>
          <a:p>
            <a:r>
              <a:rPr lang="en-US" dirty="0"/>
              <a:t>CSMA/CD: carrier sensing, deferral as in CSMA</a:t>
            </a:r>
          </a:p>
          <a:p>
            <a:pPr lvl="1"/>
            <a:r>
              <a:rPr lang="en-US" dirty="0"/>
              <a:t>Collisions detected within short time</a:t>
            </a:r>
          </a:p>
          <a:p>
            <a:pPr lvl="1"/>
            <a:r>
              <a:rPr lang="en-US" dirty="0"/>
              <a:t>Colliding transmissions aborted, reducing wastage </a:t>
            </a:r>
          </a:p>
          <a:p>
            <a:r>
              <a:rPr lang="en-US" dirty="0"/>
              <a:t>Collision detection easy in wired (broadcast) LANs</a:t>
            </a:r>
          </a:p>
          <a:p>
            <a:pPr lvl="1"/>
            <a:r>
              <a:rPr lang="en-US" dirty="0"/>
              <a:t>Compare transmitted, received signals</a:t>
            </a:r>
          </a:p>
          <a:p>
            <a:r>
              <a:rPr lang="en-US" dirty="0"/>
              <a:t>Collision detection difficult in wireless LANs</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51</a:t>
            </a:fld>
            <a:endParaRPr lang="en-US"/>
          </a:p>
        </p:txBody>
      </p:sp>
    </p:spTree>
    <p:extLst>
      <p:ext uri="{BB962C8B-B14F-4D97-AF65-F5344CB8AC3E}">
        <p14:creationId xmlns:p14="http://schemas.microsoft.com/office/powerpoint/2010/main" val="155106694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7792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7792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7792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7792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77923">
                                            <p:txEl>
                                              <p:pRg st="4" end="4"/>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7792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7923"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9" name="Rectangle 2"/>
          <p:cNvSpPr>
            <a:spLocks noGrp="1" noChangeArrowheads="1"/>
          </p:cNvSpPr>
          <p:nvPr>
            <p:ph type="title"/>
          </p:nvPr>
        </p:nvSpPr>
        <p:spPr/>
        <p:txBody>
          <a:bodyPr/>
          <a:lstStyle/>
          <a:p>
            <a:r>
              <a:rPr lang="en-US" dirty="0"/>
              <a:t>Limits on CSMA/CD network length</a:t>
            </a:r>
          </a:p>
        </p:txBody>
      </p:sp>
      <p:sp>
        <p:nvSpPr>
          <p:cNvPr id="943107" name="Rectangle 3"/>
          <p:cNvSpPr>
            <a:spLocks noGrp="1" noChangeArrowheads="1"/>
          </p:cNvSpPr>
          <p:nvPr>
            <p:ph idx="1"/>
          </p:nvPr>
        </p:nvSpPr>
        <p:spPr>
          <a:xfrm>
            <a:off x="685800" y="3004456"/>
            <a:ext cx="7924800" cy="3015343"/>
          </a:xfrm>
        </p:spPr>
        <p:txBody>
          <a:bodyPr/>
          <a:lstStyle/>
          <a:p>
            <a:r>
              <a:rPr lang="en-US" dirty="0"/>
              <a:t>Latency depends on physical length of link</a:t>
            </a:r>
          </a:p>
          <a:p>
            <a:pPr lvl="1"/>
            <a:r>
              <a:rPr lang="en-US" dirty="0"/>
              <a:t>Time to propagate a frame from one end to other</a:t>
            </a:r>
          </a:p>
          <a:p>
            <a:r>
              <a:rPr lang="en-US" dirty="0"/>
              <a:t> Suppose A sends a frame at time </a:t>
            </a:r>
            <a:r>
              <a:rPr lang="en-US" b="1" dirty="0"/>
              <a:t>t</a:t>
            </a:r>
          </a:p>
          <a:p>
            <a:pPr lvl="1"/>
            <a:r>
              <a:rPr lang="en-US" dirty="0"/>
              <a:t>And B sees an idle line at a time just before </a:t>
            </a:r>
            <a:r>
              <a:rPr lang="en-US" b="1" dirty="0"/>
              <a:t>t + d</a:t>
            </a:r>
          </a:p>
          <a:p>
            <a:pPr lvl="1"/>
            <a:r>
              <a:rPr lang="en-US" dirty="0"/>
              <a:t>… so B happily starts transmitting a frame</a:t>
            </a:r>
          </a:p>
          <a:p>
            <a:r>
              <a:rPr lang="en-US" dirty="0"/>
              <a:t>B detects a collision, and sends jamming signal</a:t>
            </a:r>
          </a:p>
          <a:p>
            <a:pPr lvl="1"/>
            <a:r>
              <a:rPr lang="en-US" dirty="0"/>
              <a:t>But A cannot see collision until </a:t>
            </a:r>
            <a:r>
              <a:rPr lang="en-US" b="1" dirty="0"/>
              <a:t>t + 2d</a:t>
            </a:r>
          </a:p>
        </p:txBody>
      </p:sp>
      <p:grpSp>
        <p:nvGrpSpPr>
          <p:cNvPr id="6" name="Group 5"/>
          <p:cNvGrpSpPr>
            <a:grpSpLocks noChangeAspect="1"/>
          </p:cNvGrpSpPr>
          <p:nvPr/>
        </p:nvGrpSpPr>
        <p:grpSpPr>
          <a:xfrm>
            <a:off x="914400" y="1410746"/>
            <a:ext cx="7354389" cy="1362047"/>
            <a:chOff x="517525" y="1201738"/>
            <a:chExt cx="8554585" cy="1584325"/>
          </a:xfrm>
        </p:grpSpPr>
        <p:pic>
          <p:nvPicPr>
            <p:cNvPr id="96261" name="Picture 4" descr="j019538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91413" y="1431925"/>
              <a:ext cx="1316037" cy="13446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96262" name="Picture 5" descr="j029202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7850" y="1316038"/>
              <a:ext cx="1549400" cy="14700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6263" name="Rectangle 6"/>
            <p:cNvSpPr>
              <a:spLocks noChangeArrowheads="1"/>
            </p:cNvSpPr>
            <p:nvPr/>
          </p:nvSpPr>
          <p:spPr bwMode="auto">
            <a:xfrm>
              <a:off x="2074863" y="1970089"/>
              <a:ext cx="5568950" cy="87311"/>
            </a:xfrm>
            <a:prstGeom prst="rect">
              <a:avLst/>
            </a:prstGeom>
            <a:solidFill>
              <a:srgbClr val="0000FF"/>
            </a:solidFill>
            <a:ln>
              <a:solidFill>
                <a:srgbClr val="0000FF"/>
              </a:solidFill>
            </a:ln>
            <a:extLst>
              <a:ext uri="{91240B29-F687-4f45-9708-019B960494DF}">
                <a14:hiddenLine xmlns="" xmlns:a14="http://schemas.microsoft.com/office/drawing/2010/main" w="38100">
                  <a:solidFill>
                    <a:srgbClr val="000000"/>
                  </a:solidFill>
                  <a:miter lim="800000"/>
                  <a:headEnd/>
                  <a:tailEnd/>
                </a14:hiddenLine>
              </a:ext>
            </a:extLst>
          </p:spPr>
          <p:txBody>
            <a:bodyPr wrap="none" anchor="ctr"/>
            <a:lstStyle/>
            <a:p>
              <a:endParaRPr lang="en-US"/>
            </a:p>
          </p:txBody>
        </p:sp>
        <p:sp>
          <p:nvSpPr>
            <p:cNvPr id="96266" name="Text Box 13"/>
            <p:cNvSpPr txBox="1">
              <a:spLocks noChangeArrowheads="1"/>
            </p:cNvSpPr>
            <p:nvPr/>
          </p:nvSpPr>
          <p:spPr bwMode="auto">
            <a:xfrm>
              <a:off x="4030663" y="1547813"/>
              <a:ext cx="1285875"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latency</a:t>
              </a:r>
              <a:r>
                <a:rPr lang="en-US" i="1">
                  <a:latin typeface="Helvetica" charset="0"/>
                </a:rPr>
                <a:t> d</a:t>
              </a:r>
              <a:endParaRPr lang="en-US">
                <a:latin typeface="Helvetica" charset="0"/>
              </a:endParaRPr>
            </a:p>
          </p:txBody>
        </p:sp>
        <p:sp>
          <p:nvSpPr>
            <p:cNvPr id="96267" name="Text Box 14"/>
            <p:cNvSpPr txBox="1">
              <a:spLocks noChangeArrowheads="1"/>
            </p:cNvSpPr>
            <p:nvPr/>
          </p:nvSpPr>
          <p:spPr bwMode="auto">
            <a:xfrm>
              <a:off x="517525" y="1265238"/>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i="1">
                  <a:latin typeface="Helvetica" charset="0"/>
                </a:rPr>
                <a:t>A</a:t>
              </a:r>
              <a:endParaRPr lang="en-US">
                <a:latin typeface="Helvetica" charset="0"/>
              </a:endParaRPr>
            </a:p>
          </p:txBody>
        </p:sp>
        <p:sp>
          <p:nvSpPr>
            <p:cNvPr id="96268" name="Text Box 15"/>
            <p:cNvSpPr txBox="1">
              <a:spLocks noChangeArrowheads="1"/>
            </p:cNvSpPr>
            <p:nvPr/>
          </p:nvSpPr>
          <p:spPr bwMode="auto">
            <a:xfrm>
              <a:off x="8703810" y="1201738"/>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i="1">
                  <a:latin typeface="Helvetica" charset="0"/>
                </a:rPr>
                <a:t>B</a:t>
              </a:r>
              <a:endParaRPr lang="en-US">
                <a:latin typeface="Helvetica" charset="0"/>
              </a:endParaRPr>
            </a:p>
          </p:txBody>
        </p:sp>
      </p:grpSp>
      <p:sp>
        <p:nvSpPr>
          <p:cNvPr id="7" name="Date Placeholder 6"/>
          <p:cNvSpPr>
            <a:spLocks noGrp="1"/>
          </p:cNvSpPr>
          <p:nvPr>
            <p:ph type="dt" sz="half" idx="10"/>
          </p:nvPr>
        </p:nvSpPr>
        <p:spPr/>
        <p:txBody>
          <a:bodyPr/>
          <a:lstStyle/>
          <a:p>
            <a:r>
              <a:rPr lang="en-US"/>
              <a:t>April 16, 2025</a:t>
            </a:r>
            <a:endParaRPr lang="en-US" sz="1050" b="0">
              <a:latin typeface="Times New Roman" charset="0"/>
            </a:endParaRPr>
          </a:p>
        </p:txBody>
      </p:sp>
      <p:sp>
        <p:nvSpPr>
          <p:cNvPr id="8" name="Footer Placeholder 7"/>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9" name="Slide Number Placeholder 8"/>
          <p:cNvSpPr>
            <a:spLocks noGrp="1"/>
          </p:cNvSpPr>
          <p:nvPr>
            <p:ph type="sldNum" sz="quarter" idx="12"/>
          </p:nvPr>
        </p:nvSpPr>
        <p:spPr/>
        <p:txBody>
          <a:bodyPr/>
          <a:lstStyle/>
          <a:p>
            <a:fld id="{A190D881-957A-7944-A8D0-1584E528B88F}" type="slidenum">
              <a:rPr lang="en-US" smtClean="0"/>
              <a:pPr/>
              <a:t>52</a:t>
            </a:fld>
            <a:endParaRPr lang="en-US"/>
          </a:p>
        </p:txBody>
      </p:sp>
    </p:spTree>
    <p:extLst>
      <p:ext uri="{BB962C8B-B14F-4D97-AF65-F5344CB8AC3E}">
        <p14:creationId xmlns:p14="http://schemas.microsoft.com/office/powerpoint/2010/main" val="290749990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4310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43107">
                                            <p:txEl>
                                              <p:pRg st="1" end="1"/>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43107">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43107">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43107">
                                            <p:txEl>
                                              <p:pRg st="4" end="4"/>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43107">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4310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3107"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2"/>
          <p:cNvSpPr>
            <a:spLocks noGrp="1" noChangeArrowheads="1"/>
          </p:cNvSpPr>
          <p:nvPr>
            <p:ph type="title"/>
          </p:nvPr>
        </p:nvSpPr>
        <p:spPr/>
        <p:txBody>
          <a:bodyPr/>
          <a:lstStyle/>
          <a:p>
            <a:r>
              <a:rPr lang="en-US" dirty="0"/>
              <a:t>Limits on CSMA/CD network length</a:t>
            </a:r>
          </a:p>
        </p:txBody>
      </p:sp>
      <p:sp>
        <p:nvSpPr>
          <p:cNvPr id="945155" name="Rectangle 3"/>
          <p:cNvSpPr>
            <a:spLocks noGrp="1" noChangeArrowheads="1"/>
          </p:cNvSpPr>
          <p:nvPr>
            <p:ph idx="1"/>
          </p:nvPr>
        </p:nvSpPr>
        <p:spPr>
          <a:xfrm>
            <a:off x="685800" y="3017520"/>
            <a:ext cx="7924800" cy="3002280"/>
          </a:xfrm>
        </p:spPr>
        <p:txBody>
          <a:bodyPr/>
          <a:lstStyle/>
          <a:p>
            <a:r>
              <a:rPr lang="en-US" dirty="0"/>
              <a:t>A needs to wait for time </a:t>
            </a:r>
            <a:r>
              <a:rPr lang="en-US" b="1" dirty="0"/>
              <a:t>2d</a:t>
            </a:r>
            <a:r>
              <a:rPr lang="en-US" dirty="0"/>
              <a:t> to detect collision</a:t>
            </a:r>
          </a:p>
          <a:p>
            <a:pPr lvl="1"/>
            <a:r>
              <a:rPr lang="en-US" dirty="0"/>
              <a:t>So, A should keep transmitting during this period</a:t>
            </a:r>
          </a:p>
          <a:p>
            <a:pPr lvl="1"/>
            <a:r>
              <a:rPr lang="en-US" dirty="0"/>
              <a:t>AND keep an eye out for a possible collision</a:t>
            </a:r>
          </a:p>
          <a:p>
            <a:r>
              <a:rPr lang="en-US" dirty="0"/>
              <a:t>Imposes restrictions; e.g., for 10 Mbps Ethernet</a:t>
            </a:r>
          </a:p>
          <a:p>
            <a:pPr lvl="1"/>
            <a:r>
              <a:rPr lang="en-US" dirty="0">
                <a:solidFill>
                  <a:srgbClr val="0000FF"/>
                </a:solidFill>
              </a:rPr>
              <a:t>Maximum length</a:t>
            </a:r>
            <a:r>
              <a:rPr lang="en-US" dirty="0"/>
              <a:t> of the wire: 2,500 meters</a:t>
            </a:r>
          </a:p>
          <a:p>
            <a:pPr lvl="1"/>
            <a:r>
              <a:rPr lang="en-US" dirty="0">
                <a:solidFill>
                  <a:srgbClr val="0000FF"/>
                </a:solidFill>
              </a:rPr>
              <a:t>Minimum length</a:t>
            </a:r>
            <a:r>
              <a:rPr lang="en-US" dirty="0"/>
              <a:t> of a frame: 512 bits (64 bytes)</a:t>
            </a:r>
          </a:p>
        </p:txBody>
      </p:sp>
      <p:grpSp>
        <p:nvGrpSpPr>
          <p:cNvPr id="10" name="Group 9"/>
          <p:cNvGrpSpPr>
            <a:grpSpLocks noChangeAspect="1"/>
          </p:cNvGrpSpPr>
          <p:nvPr/>
        </p:nvGrpSpPr>
        <p:grpSpPr>
          <a:xfrm>
            <a:off x="914400" y="1410746"/>
            <a:ext cx="7354389" cy="1362047"/>
            <a:chOff x="517525" y="1201738"/>
            <a:chExt cx="8554585" cy="1584325"/>
          </a:xfrm>
        </p:grpSpPr>
        <p:pic>
          <p:nvPicPr>
            <p:cNvPr id="11" name="Picture 4" descr="j019538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91413" y="1431925"/>
              <a:ext cx="1316037" cy="13446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12" name="Picture 5" descr="j029202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7850" y="1316038"/>
              <a:ext cx="1549400" cy="14700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3" name="Rectangle 6"/>
            <p:cNvSpPr>
              <a:spLocks noChangeArrowheads="1"/>
            </p:cNvSpPr>
            <p:nvPr/>
          </p:nvSpPr>
          <p:spPr bwMode="auto">
            <a:xfrm>
              <a:off x="2074863" y="1970089"/>
              <a:ext cx="5568950" cy="87311"/>
            </a:xfrm>
            <a:prstGeom prst="rect">
              <a:avLst/>
            </a:prstGeom>
            <a:solidFill>
              <a:srgbClr val="0000FF"/>
            </a:solidFill>
            <a:ln>
              <a:solidFill>
                <a:srgbClr val="0000FF"/>
              </a:solidFill>
            </a:ln>
            <a:extLst>
              <a:ext uri="{91240B29-F687-4f45-9708-019B960494DF}">
                <a14:hiddenLine xmlns="" xmlns:a14="http://schemas.microsoft.com/office/drawing/2010/main" w="38100">
                  <a:solidFill>
                    <a:srgbClr val="000000"/>
                  </a:solidFill>
                  <a:miter lim="800000"/>
                  <a:headEnd/>
                  <a:tailEnd/>
                </a14:hiddenLine>
              </a:ext>
            </a:extLst>
          </p:spPr>
          <p:txBody>
            <a:bodyPr wrap="none" anchor="ctr"/>
            <a:lstStyle/>
            <a:p>
              <a:endParaRPr lang="en-US"/>
            </a:p>
          </p:txBody>
        </p:sp>
        <p:sp>
          <p:nvSpPr>
            <p:cNvPr id="14" name="Text Box 13"/>
            <p:cNvSpPr txBox="1">
              <a:spLocks noChangeArrowheads="1"/>
            </p:cNvSpPr>
            <p:nvPr/>
          </p:nvSpPr>
          <p:spPr bwMode="auto">
            <a:xfrm>
              <a:off x="4030663" y="1547813"/>
              <a:ext cx="1285875"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latency</a:t>
              </a:r>
              <a:r>
                <a:rPr lang="en-US" i="1">
                  <a:latin typeface="Helvetica" charset="0"/>
                </a:rPr>
                <a:t> d</a:t>
              </a:r>
              <a:endParaRPr lang="en-US">
                <a:latin typeface="Helvetica" charset="0"/>
              </a:endParaRPr>
            </a:p>
          </p:txBody>
        </p:sp>
        <p:sp>
          <p:nvSpPr>
            <p:cNvPr id="15" name="Text Box 14"/>
            <p:cNvSpPr txBox="1">
              <a:spLocks noChangeArrowheads="1"/>
            </p:cNvSpPr>
            <p:nvPr/>
          </p:nvSpPr>
          <p:spPr bwMode="auto">
            <a:xfrm>
              <a:off x="517525" y="1265238"/>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i="1">
                  <a:latin typeface="Helvetica" charset="0"/>
                </a:rPr>
                <a:t>A</a:t>
              </a:r>
              <a:endParaRPr lang="en-US">
                <a:latin typeface="Helvetica" charset="0"/>
              </a:endParaRPr>
            </a:p>
          </p:txBody>
        </p:sp>
        <p:sp>
          <p:nvSpPr>
            <p:cNvPr id="16" name="Text Box 15"/>
            <p:cNvSpPr txBox="1">
              <a:spLocks noChangeArrowheads="1"/>
            </p:cNvSpPr>
            <p:nvPr/>
          </p:nvSpPr>
          <p:spPr bwMode="auto">
            <a:xfrm>
              <a:off x="8703810" y="1201738"/>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i="1">
                  <a:latin typeface="Helvetica" charset="0"/>
                </a:rPr>
                <a:t>B</a:t>
              </a:r>
              <a:endParaRPr lang="en-US">
                <a:latin typeface="Helvetica" charset="0"/>
              </a:endParaRPr>
            </a:p>
          </p:txBody>
        </p:sp>
      </p:grpSp>
      <p:sp>
        <p:nvSpPr>
          <p:cNvPr id="6" name="Date Placeholder 5"/>
          <p:cNvSpPr>
            <a:spLocks noGrp="1"/>
          </p:cNvSpPr>
          <p:nvPr>
            <p:ph type="dt" sz="half" idx="10"/>
          </p:nvPr>
        </p:nvSpPr>
        <p:spPr/>
        <p:txBody>
          <a:bodyPr/>
          <a:lstStyle/>
          <a:p>
            <a:r>
              <a:rPr lang="en-US"/>
              <a:t>April 16, 2025</a:t>
            </a:r>
            <a:endParaRPr lang="en-US" sz="1050" b="0">
              <a:latin typeface="Times New Roman" charset="0"/>
            </a:endParaRPr>
          </a:p>
        </p:txBody>
      </p:sp>
      <p:sp>
        <p:nvSpPr>
          <p:cNvPr id="7" name="Footer Placeholder 6"/>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8" name="Slide Number Placeholder 7"/>
          <p:cNvSpPr>
            <a:spLocks noGrp="1"/>
          </p:cNvSpPr>
          <p:nvPr>
            <p:ph type="sldNum" sz="quarter" idx="12"/>
          </p:nvPr>
        </p:nvSpPr>
        <p:spPr/>
        <p:txBody>
          <a:bodyPr/>
          <a:lstStyle/>
          <a:p>
            <a:fld id="{A190D881-957A-7944-A8D0-1584E528B88F}" type="slidenum">
              <a:rPr lang="en-US" smtClean="0"/>
              <a:pPr/>
              <a:t>53</a:t>
            </a:fld>
            <a:endParaRPr lang="en-US"/>
          </a:p>
        </p:txBody>
      </p:sp>
    </p:spTree>
    <p:extLst>
      <p:ext uri="{BB962C8B-B14F-4D97-AF65-F5344CB8AC3E}">
        <p14:creationId xmlns:p14="http://schemas.microsoft.com/office/powerpoint/2010/main" val="113910876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45155">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45155">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4515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5155"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5" name="Rectangle 2"/>
          <p:cNvSpPr>
            <a:spLocks noGrp="1" noChangeArrowheads="1"/>
          </p:cNvSpPr>
          <p:nvPr>
            <p:ph type="title"/>
          </p:nvPr>
        </p:nvSpPr>
        <p:spPr/>
        <p:txBody>
          <a:bodyPr/>
          <a:lstStyle/>
          <a:p>
            <a:r>
              <a:rPr lang="en-US" dirty="0"/>
              <a:t>Why switched Ethernet?</a:t>
            </a:r>
          </a:p>
        </p:txBody>
      </p:sp>
      <p:sp>
        <p:nvSpPr>
          <p:cNvPr id="4" name="Content Placeholder 3"/>
          <p:cNvSpPr>
            <a:spLocks noGrp="1"/>
          </p:cNvSpPr>
          <p:nvPr>
            <p:ph sz="half" idx="1"/>
          </p:nvPr>
        </p:nvSpPr>
        <p:spPr/>
        <p:txBody>
          <a:bodyPr/>
          <a:lstStyle/>
          <a:p>
            <a:r>
              <a:rPr lang="en-US" sz="2400" dirty="0">
                <a:solidFill>
                  <a:srgbClr val="0000FF"/>
                </a:solidFill>
              </a:rPr>
              <a:t>Enables concurrent communication</a:t>
            </a:r>
          </a:p>
          <a:p>
            <a:pPr lvl="1"/>
            <a:r>
              <a:rPr lang="en-US" sz="2000" dirty="0"/>
              <a:t>Host A can talk to C, while B talks to D</a:t>
            </a:r>
          </a:p>
          <a:p>
            <a:pPr lvl="1"/>
            <a:r>
              <a:rPr lang="en-US" sz="2000" dirty="0"/>
              <a:t>No collisions and no need for CSMA/CD</a:t>
            </a:r>
          </a:p>
          <a:p>
            <a:pPr lvl="1"/>
            <a:r>
              <a:rPr lang="en-US" sz="2000" dirty="0"/>
              <a:t>No constraints on link lengths, etc.</a:t>
            </a:r>
            <a:endParaRPr lang="en-US" sz="2400" dirty="0"/>
          </a:p>
        </p:txBody>
      </p:sp>
      <p:grpSp>
        <p:nvGrpSpPr>
          <p:cNvPr id="28" name="Group 27"/>
          <p:cNvGrpSpPr/>
          <p:nvPr/>
        </p:nvGrpSpPr>
        <p:grpSpPr>
          <a:xfrm>
            <a:off x="4873490" y="1723874"/>
            <a:ext cx="3344862" cy="3196500"/>
            <a:chOff x="2535238" y="1240544"/>
            <a:chExt cx="3344862" cy="3196500"/>
          </a:xfrm>
        </p:grpSpPr>
        <p:graphicFrame>
          <p:nvGraphicFramePr>
            <p:cNvPr id="29" name="Object 28"/>
            <p:cNvGraphicFramePr>
              <a:graphicFrameLocks noChangeAspect="1"/>
            </p:cNvGraphicFramePr>
            <p:nvPr/>
          </p:nvGraphicFramePr>
          <p:xfrm>
            <a:off x="3952875" y="1728769"/>
            <a:ext cx="512763" cy="447675"/>
          </p:xfrm>
          <a:graphic>
            <a:graphicData uri="http://schemas.openxmlformats.org/presentationml/2006/ole">
              <mc:AlternateContent xmlns:mc="http://schemas.openxmlformats.org/markup-compatibility/2006">
                <mc:Choice xmlns:v="urn:schemas-microsoft-com:vml" Requires="v">
                  <p:oleObj name="Clip" r:id="rId3" imgW="1307948" imgH="1084823" progId="MS_ClipArt_Gallery.2">
                    <p:embed/>
                  </p:oleObj>
                </mc:Choice>
                <mc:Fallback>
                  <p:oleObj name="Clip" r:id="rId3"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52875" y="1728769"/>
                          <a:ext cx="512763" cy="4476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30" name="Object 29"/>
            <p:cNvGraphicFramePr>
              <a:graphicFrameLocks noChangeAspect="1"/>
            </p:cNvGraphicFramePr>
            <p:nvPr/>
          </p:nvGraphicFramePr>
          <p:xfrm>
            <a:off x="3983038" y="3989369"/>
            <a:ext cx="512762" cy="447675"/>
          </p:xfrm>
          <a:graphic>
            <a:graphicData uri="http://schemas.openxmlformats.org/presentationml/2006/ole">
              <mc:AlternateContent xmlns:mc="http://schemas.openxmlformats.org/markup-compatibility/2006">
                <mc:Choice xmlns:v="urn:schemas-microsoft-com:vml" Requires="v">
                  <p:oleObj name="Clip" r:id="rId3" imgW="1307948" imgH="1084823" progId="MS_ClipArt_Gallery.2">
                    <p:embed/>
                  </p:oleObj>
                </mc:Choice>
                <mc:Fallback>
                  <p:oleObj name="Clip" r:id="rId3"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83038" y="3989369"/>
                          <a:ext cx="512762" cy="4476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31" name="Object 30"/>
            <p:cNvGraphicFramePr>
              <a:graphicFrameLocks noChangeAspect="1"/>
            </p:cNvGraphicFramePr>
            <p:nvPr/>
          </p:nvGraphicFramePr>
          <p:xfrm>
            <a:off x="5367338" y="2757469"/>
            <a:ext cx="512762" cy="447675"/>
          </p:xfrm>
          <a:graphic>
            <a:graphicData uri="http://schemas.openxmlformats.org/presentationml/2006/ole">
              <mc:AlternateContent xmlns:mc="http://schemas.openxmlformats.org/markup-compatibility/2006">
                <mc:Choice xmlns:v="urn:schemas-microsoft-com:vml" Requires="v">
                  <p:oleObj name="Clip" r:id="rId3" imgW="1307948" imgH="1084823" progId="MS_ClipArt_Gallery.2">
                    <p:embed/>
                  </p:oleObj>
                </mc:Choice>
                <mc:Fallback>
                  <p:oleObj name="Clip" r:id="rId3"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67338" y="2757469"/>
                          <a:ext cx="512762" cy="4476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32" name="Object 31"/>
            <p:cNvGraphicFramePr>
              <a:graphicFrameLocks noChangeAspect="1"/>
            </p:cNvGraphicFramePr>
            <p:nvPr/>
          </p:nvGraphicFramePr>
          <p:xfrm>
            <a:off x="2535238" y="2768582"/>
            <a:ext cx="512762" cy="447675"/>
          </p:xfrm>
          <a:graphic>
            <a:graphicData uri="http://schemas.openxmlformats.org/presentationml/2006/ole">
              <mc:AlternateContent xmlns:mc="http://schemas.openxmlformats.org/markup-compatibility/2006">
                <mc:Choice xmlns:v="urn:schemas-microsoft-com:vml" Requires="v">
                  <p:oleObj name="Clip" r:id="rId5" imgW="1307948" imgH="1084823" progId="MS_ClipArt_Gallery.2">
                    <p:embed/>
                  </p:oleObj>
                </mc:Choice>
                <mc:Fallback>
                  <p:oleObj name="Clip" r:id="rId5"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5238" y="2768582"/>
                          <a:ext cx="512762" cy="44767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3" name="Rectangle 9"/>
            <p:cNvSpPr>
              <a:spLocks noChangeArrowheads="1"/>
            </p:cNvSpPr>
            <p:nvPr/>
          </p:nvSpPr>
          <p:spPr bwMode="auto">
            <a:xfrm>
              <a:off x="3017838" y="2911457"/>
              <a:ext cx="153987" cy="131762"/>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34" name="Rectangle 10"/>
            <p:cNvSpPr>
              <a:spLocks noChangeArrowheads="1"/>
            </p:cNvSpPr>
            <p:nvPr/>
          </p:nvSpPr>
          <p:spPr bwMode="auto">
            <a:xfrm>
              <a:off x="5273675" y="2911457"/>
              <a:ext cx="153988" cy="131762"/>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35" name="Rectangle 11"/>
            <p:cNvSpPr>
              <a:spLocks noChangeArrowheads="1"/>
            </p:cNvSpPr>
            <p:nvPr/>
          </p:nvSpPr>
          <p:spPr bwMode="auto">
            <a:xfrm>
              <a:off x="4194175" y="2168507"/>
              <a:ext cx="120650" cy="207962"/>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36" name="Rectangle 12"/>
            <p:cNvSpPr>
              <a:spLocks noChangeArrowheads="1"/>
            </p:cNvSpPr>
            <p:nvPr/>
          </p:nvSpPr>
          <p:spPr bwMode="auto">
            <a:xfrm>
              <a:off x="4202113" y="3795694"/>
              <a:ext cx="120650" cy="207963"/>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37" name="Line 13"/>
            <p:cNvSpPr>
              <a:spLocks noChangeShapeType="1"/>
            </p:cNvSpPr>
            <p:nvPr/>
          </p:nvSpPr>
          <p:spPr bwMode="auto">
            <a:xfrm>
              <a:off x="3171825" y="2967019"/>
              <a:ext cx="842963" cy="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8" name="Line 14"/>
            <p:cNvSpPr>
              <a:spLocks noChangeShapeType="1"/>
            </p:cNvSpPr>
            <p:nvPr/>
          </p:nvSpPr>
          <p:spPr bwMode="auto">
            <a:xfrm>
              <a:off x="4240213" y="2379644"/>
              <a:ext cx="0" cy="487363"/>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39" name="Line 15"/>
            <p:cNvSpPr>
              <a:spLocks noChangeShapeType="1"/>
            </p:cNvSpPr>
            <p:nvPr/>
          </p:nvSpPr>
          <p:spPr bwMode="auto">
            <a:xfrm flipH="1">
              <a:off x="4403725" y="2967019"/>
              <a:ext cx="852488" cy="0"/>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40" name="Line 16"/>
            <p:cNvSpPr>
              <a:spLocks noChangeShapeType="1"/>
            </p:cNvSpPr>
            <p:nvPr/>
          </p:nvSpPr>
          <p:spPr bwMode="auto">
            <a:xfrm flipV="1">
              <a:off x="4240213" y="3087669"/>
              <a:ext cx="11112" cy="687388"/>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wrap="none"/>
            <a:lstStyle/>
            <a:p>
              <a:endParaRPr lang="en-US"/>
            </a:p>
          </p:txBody>
        </p:sp>
        <p:sp>
          <p:nvSpPr>
            <p:cNvPr id="41" name="Text Box 17"/>
            <p:cNvSpPr txBox="1">
              <a:spLocks noChangeArrowheads="1"/>
            </p:cNvSpPr>
            <p:nvPr/>
          </p:nvSpPr>
          <p:spPr bwMode="auto">
            <a:xfrm>
              <a:off x="2989978" y="3244127"/>
              <a:ext cx="1112279" cy="7078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dirty="0">
                  <a:latin typeface="+mn-lt"/>
                </a:rPr>
                <a:t>Ethernet</a:t>
              </a:r>
              <a:br>
                <a:rPr lang="en-US" dirty="0">
                  <a:latin typeface="+mn-lt"/>
                </a:rPr>
              </a:br>
              <a:r>
                <a:rPr lang="en-US" dirty="0">
                  <a:latin typeface="+mn-lt"/>
                </a:rPr>
                <a:t>switch</a:t>
              </a:r>
            </a:p>
          </p:txBody>
        </p:sp>
        <p:sp>
          <p:nvSpPr>
            <p:cNvPr id="42" name="Line 18"/>
            <p:cNvSpPr>
              <a:spLocks noChangeShapeType="1"/>
            </p:cNvSpPr>
            <p:nvPr/>
          </p:nvSpPr>
          <p:spPr bwMode="auto">
            <a:xfrm flipV="1">
              <a:off x="3625850" y="3111482"/>
              <a:ext cx="355600" cy="231775"/>
            </a:xfrm>
            <a:prstGeom prst="line">
              <a:avLst/>
            </a:prstGeom>
            <a:noFill/>
            <a:ln w="9525">
              <a:solidFill>
                <a:schemeClr val="tx1"/>
              </a:solidFill>
              <a:round/>
              <a:headEnd/>
              <a:tailEnd type="triangle" w="med" len="med"/>
            </a:ln>
            <a:extLst>
              <a:ext uri="{909E8E84-426E-40dd-AFC4-6F175D3DCCD1}">
                <a14:hiddenFill xmlns="" xmlns:a14="http://schemas.microsoft.com/office/drawing/2010/main">
                  <a:noFill/>
                </a14:hiddenFill>
              </a:ext>
            </a:extLst>
          </p:spPr>
          <p:txBody>
            <a:bodyPr wrap="none"/>
            <a:lstStyle/>
            <a:p>
              <a:endParaRPr lang="en-US"/>
            </a:p>
          </p:txBody>
        </p:sp>
        <p:sp>
          <p:nvSpPr>
            <p:cNvPr id="43" name="Text Box 19"/>
            <p:cNvSpPr txBox="1">
              <a:spLocks noChangeArrowheads="1"/>
            </p:cNvSpPr>
            <p:nvPr/>
          </p:nvSpPr>
          <p:spPr bwMode="auto">
            <a:xfrm>
              <a:off x="2584319" y="2290244"/>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A</a:t>
              </a:r>
            </a:p>
          </p:txBody>
        </p:sp>
        <p:sp>
          <p:nvSpPr>
            <p:cNvPr id="44" name="Text Box 20"/>
            <p:cNvSpPr txBox="1">
              <a:spLocks noChangeArrowheads="1"/>
            </p:cNvSpPr>
            <p:nvPr/>
          </p:nvSpPr>
          <p:spPr bwMode="auto">
            <a:xfrm>
              <a:off x="4075610" y="1240544"/>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B</a:t>
              </a:r>
            </a:p>
          </p:txBody>
        </p:sp>
        <p:sp>
          <p:nvSpPr>
            <p:cNvPr id="45" name="Text Box 21"/>
            <p:cNvSpPr txBox="1">
              <a:spLocks noChangeArrowheads="1"/>
            </p:cNvSpPr>
            <p:nvPr/>
          </p:nvSpPr>
          <p:spPr bwMode="auto">
            <a:xfrm>
              <a:off x="5470299" y="2289153"/>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C</a:t>
              </a:r>
            </a:p>
          </p:txBody>
        </p:sp>
        <p:sp>
          <p:nvSpPr>
            <p:cNvPr id="46" name="Text Box 22"/>
            <p:cNvSpPr txBox="1">
              <a:spLocks noChangeArrowheads="1"/>
            </p:cNvSpPr>
            <p:nvPr/>
          </p:nvSpPr>
          <p:spPr bwMode="auto">
            <a:xfrm>
              <a:off x="4532313" y="3936982"/>
              <a:ext cx="368300"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38100">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D</a:t>
              </a:r>
            </a:p>
          </p:txBody>
        </p:sp>
        <p:pic>
          <p:nvPicPr>
            <p:cNvPr id="47" name="Picture 46"/>
            <p:cNvPicPr>
              <a:picLocks noChangeAspect="1"/>
            </p:cNvPicPr>
            <p:nvPr/>
          </p:nvPicPr>
          <p:blipFill>
            <a:blip r:embed="rId6">
              <a:duotone>
                <a:schemeClr val="accent2">
                  <a:shade val="45000"/>
                  <a:satMod val="135000"/>
                </a:schemeClr>
                <a:prstClr val="white"/>
              </a:duotone>
            </a:blip>
            <a:stretch>
              <a:fillRect/>
            </a:stretch>
          </p:blipFill>
          <p:spPr>
            <a:xfrm>
              <a:off x="4006237" y="2745465"/>
              <a:ext cx="459679" cy="459679"/>
            </a:xfrm>
            <a:prstGeom prst="rect">
              <a:avLst/>
            </a:prstGeom>
          </p:spPr>
        </p:pic>
      </p:grpSp>
      <p:sp>
        <p:nvSpPr>
          <p:cNvPr id="7" name="Date Placeholder 6"/>
          <p:cNvSpPr>
            <a:spLocks noGrp="1"/>
          </p:cNvSpPr>
          <p:nvPr>
            <p:ph type="dt" sz="half" idx="10"/>
          </p:nvPr>
        </p:nvSpPr>
        <p:spPr/>
        <p:txBody>
          <a:bodyPr/>
          <a:lstStyle/>
          <a:p>
            <a:r>
              <a:rPr lang="en-US"/>
              <a:t>April 16, 2025</a:t>
            </a:r>
            <a:endParaRPr lang="en-US" sz="1050" b="0">
              <a:latin typeface="Times New Roman" charset="0"/>
            </a:endParaRPr>
          </a:p>
        </p:txBody>
      </p:sp>
      <p:sp>
        <p:nvSpPr>
          <p:cNvPr id="8" name="Footer Placeholder 7"/>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9" name="Slide Number Placeholder 8"/>
          <p:cNvSpPr>
            <a:spLocks noGrp="1"/>
          </p:cNvSpPr>
          <p:nvPr>
            <p:ph type="sldNum" sz="quarter" idx="12"/>
          </p:nvPr>
        </p:nvSpPr>
        <p:spPr/>
        <p:txBody>
          <a:bodyPr/>
          <a:lstStyle/>
          <a:p>
            <a:fld id="{F36FED86-94EF-254D-90EE-B810FE8299EE}" type="slidenum">
              <a:rPr lang="en-US" smtClean="0"/>
              <a:pPr/>
              <a:t>54</a:t>
            </a:fld>
            <a:endParaRPr lang="en-US"/>
          </a:p>
        </p:txBody>
      </p:sp>
    </p:spTree>
    <p:extLst>
      <p:ext uri="{BB962C8B-B14F-4D97-AF65-F5344CB8AC3E}">
        <p14:creationId xmlns:p14="http://schemas.microsoft.com/office/powerpoint/2010/main" val="11448640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7" name="Rectangle 2"/>
          <p:cNvSpPr>
            <a:spLocks noGrp="1" noChangeArrowheads="1"/>
          </p:cNvSpPr>
          <p:nvPr>
            <p:ph type="title"/>
          </p:nvPr>
        </p:nvSpPr>
        <p:spPr/>
        <p:txBody>
          <a:bodyPr/>
          <a:lstStyle/>
          <a:p>
            <a:r>
              <a:rPr lang="en-US"/>
              <a:t>Ethernet switches are “self learning”</a:t>
            </a:r>
            <a:endParaRPr lang="en-US" dirty="0"/>
          </a:p>
        </p:txBody>
      </p:sp>
      <p:sp>
        <p:nvSpPr>
          <p:cNvPr id="66568" name="Rectangle 3"/>
          <p:cNvSpPr>
            <a:spLocks noGrp="1" noChangeArrowheads="1"/>
          </p:cNvSpPr>
          <p:nvPr>
            <p:ph idx="1"/>
          </p:nvPr>
        </p:nvSpPr>
        <p:spPr/>
        <p:txBody>
          <a:bodyPr/>
          <a:lstStyle/>
          <a:p>
            <a:r>
              <a:rPr lang="en-US" dirty="0"/>
              <a:t>When a packet arrives:</a:t>
            </a:r>
          </a:p>
          <a:p>
            <a:pPr lvl="1"/>
            <a:r>
              <a:rPr lang="en-US" dirty="0"/>
              <a:t>Inspect source MAC address, associate with incoming port</a:t>
            </a:r>
          </a:p>
          <a:p>
            <a:pPr lvl="1"/>
            <a:r>
              <a:rPr lang="en-US" dirty="0"/>
              <a:t>Store mapping in the switch table</a:t>
            </a:r>
          </a:p>
          <a:p>
            <a:pPr lvl="1"/>
            <a:r>
              <a:rPr lang="en-US" dirty="0"/>
              <a:t>Use </a:t>
            </a:r>
            <a:r>
              <a:rPr lang="en-US" dirty="0">
                <a:solidFill>
                  <a:srgbClr val="0000FF"/>
                </a:solidFill>
              </a:rPr>
              <a:t>time-to-live</a:t>
            </a:r>
            <a:r>
              <a:rPr lang="en-US" dirty="0"/>
              <a:t> field to eventually forget mapping</a:t>
            </a:r>
          </a:p>
        </p:txBody>
      </p:sp>
      <p:sp>
        <p:nvSpPr>
          <p:cNvPr id="66569" name="Rectangle 4"/>
          <p:cNvSpPr>
            <a:spLocks noChangeArrowheads="1"/>
          </p:cNvSpPr>
          <p:nvPr/>
        </p:nvSpPr>
        <p:spPr bwMode="auto">
          <a:xfrm>
            <a:off x="3975100" y="5227638"/>
            <a:ext cx="355600" cy="88900"/>
          </a:xfrm>
          <a:prstGeom prst="rect">
            <a:avLst/>
          </a:prstGeom>
          <a:solidFill>
            <a:srgbClr val="CC99FF"/>
          </a:solidFill>
          <a:ln w="9525">
            <a:miter lim="800000"/>
            <a:headEnd/>
            <a:tailEnd/>
          </a:ln>
          <a:scene3d>
            <a:camera prst="legacyObliqueTopRight"/>
            <a:lightRig rig="legacyFlat3" dir="l"/>
          </a:scene3d>
          <a:sp3d extrusionH="430200" prstMaterial="legacyMatte">
            <a:bevelT w="13500" h="13500" prst="angle"/>
            <a:bevelB w="13500" h="13500" prst="angle"/>
            <a:extrusionClr>
              <a:srgbClr val="CC99FF"/>
            </a:extrusionClr>
          </a:sp3d>
        </p:spPr>
        <p:txBody>
          <a:bodyPr wrap="none" anchor="ctr">
            <a:flatTx/>
          </a:bodyPr>
          <a:lstStyle/>
          <a:p>
            <a:endParaRPr lang="en-US"/>
          </a:p>
        </p:txBody>
      </p:sp>
      <p:graphicFrame>
        <p:nvGraphicFramePr>
          <p:cNvPr id="66562" name="Object 2"/>
          <p:cNvGraphicFramePr>
            <a:graphicFrameLocks noChangeAspect="1"/>
          </p:cNvGraphicFramePr>
          <p:nvPr/>
        </p:nvGraphicFramePr>
        <p:xfrm>
          <a:off x="3968750" y="3946525"/>
          <a:ext cx="512763" cy="447675"/>
        </p:xfrm>
        <a:graphic>
          <a:graphicData uri="http://schemas.openxmlformats.org/presentationml/2006/ole">
            <mc:AlternateContent xmlns:mc="http://schemas.openxmlformats.org/markup-compatibility/2006">
              <mc:Choice xmlns:v="urn:schemas-microsoft-com:vml" Requires="v">
                <p:oleObj name="Clip" r:id="rId3" imgW="1307948" imgH="1084823" progId="MS_ClipArt_Gallery.2">
                  <p:embed/>
                </p:oleObj>
              </mc:Choice>
              <mc:Fallback>
                <p:oleObj name="Clip" r:id="rId3"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68750" y="3946525"/>
                        <a:ext cx="512763" cy="4476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3998913" y="6207125"/>
          <a:ext cx="512762" cy="447675"/>
        </p:xfrm>
        <a:graphic>
          <a:graphicData uri="http://schemas.openxmlformats.org/presentationml/2006/ole">
            <mc:AlternateContent xmlns:mc="http://schemas.openxmlformats.org/markup-compatibility/2006">
              <mc:Choice xmlns:v="urn:schemas-microsoft-com:vml" Requires="v">
                <p:oleObj name="Clip" r:id="rId3" imgW="1307948" imgH="1084823" progId="MS_ClipArt_Gallery.2">
                  <p:embed/>
                </p:oleObj>
              </mc:Choice>
              <mc:Fallback>
                <p:oleObj name="Clip" r:id="rId3"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8913" y="6207125"/>
                        <a:ext cx="512762" cy="4476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4" name="Object 4"/>
          <p:cNvGraphicFramePr>
            <a:graphicFrameLocks noChangeAspect="1"/>
          </p:cNvGraphicFramePr>
          <p:nvPr/>
        </p:nvGraphicFramePr>
        <p:xfrm>
          <a:off x="5383213" y="4975225"/>
          <a:ext cx="512762" cy="447675"/>
        </p:xfrm>
        <a:graphic>
          <a:graphicData uri="http://schemas.openxmlformats.org/presentationml/2006/ole">
            <mc:AlternateContent xmlns:mc="http://schemas.openxmlformats.org/markup-compatibility/2006">
              <mc:Choice xmlns:v="urn:schemas-microsoft-com:vml" Requires="v">
                <p:oleObj name="Clip" r:id="rId3" imgW="1307948" imgH="1084823" progId="MS_ClipArt_Gallery.2">
                  <p:embed/>
                </p:oleObj>
              </mc:Choice>
              <mc:Fallback>
                <p:oleObj name="Clip" r:id="rId3"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83213" y="4975225"/>
                        <a:ext cx="512762" cy="4476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5" name="Object 5"/>
          <p:cNvGraphicFramePr>
            <a:graphicFrameLocks noChangeAspect="1"/>
          </p:cNvGraphicFramePr>
          <p:nvPr/>
        </p:nvGraphicFramePr>
        <p:xfrm>
          <a:off x="2551113" y="4986338"/>
          <a:ext cx="512762" cy="447675"/>
        </p:xfrm>
        <a:graphic>
          <a:graphicData uri="http://schemas.openxmlformats.org/presentationml/2006/ole">
            <mc:AlternateContent xmlns:mc="http://schemas.openxmlformats.org/markup-compatibility/2006">
              <mc:Choice xmlns:v="urn:schemas-microsoft-com:vml" Requires="v">
                <p:oleObj name="Clip" r:id="rId5" imgW="1307948" imgH="1084823" progId="MS_ClipArt_Gallery.2">
                  <p:embed/>
                </p:oleObj>
              </mc:Choice>
              <mc:Fallback>
                <p:oleObj name="Clip" r:id="rId5" imgW="1307948" imgH="1084823" progId="MS_ClipArt_Gallery.2">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51113" y="4986338"/>
                        <a:ext cx="512762" cy="447675"/>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70" name="Rectangle 9"/>
          <p:cNvSpPr>
            <a:spLocks noChangeArrowheads="1"/>
          </p:cNvSpPr>
          <p:nvPr/>
        </p:nvSpPr>
        <p:spPr bwMode="auto">
          <a:xfrm>
            <a:off x="3033713" y="5129213"/>
            <a:ext cx="153987" cy="131762"/>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66571" name="Rectangle 10"/>
          <p:cNvSpPr>
            <a:spLocks noChangeArrowheads="1"/>
          </p:cNvSpPr>
          <p:nvPr/>
        </p:nvSpPr>
        <p:spPr bwMode="auto">
          <a:xfrm>
            <a:off x="5289550" y="5129213"/>
            <a:ext cx="153988" cy="131762"/>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66572" name="Rectangle 11"/>
          <p:cNvSpPr>
            <a:spLocks noChangeArrowheads="1"/>
          </p:cNvSpPr>
          <p:nvPr/>
        </p:nvSpPr>
        <p:spPr bwMode="auto">
          <a:xfrm>
            <a:off x="4210050" y="4386263"/>
            <a:ext cx="120650" cy="207962"/>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66573" name="Rectangle 12"/>
          <p:cNvSpPr>
            <a:spLocks noChangeArrowheads="1"/>
          </p:cNvSpPr>
          <p:nvPr/>
        </p:nvSpPr>
        <p:spPr bwMode="auto">
          <a:xfrm>
            <a:off x="4217988" y="6013450"/>
            <a:ext cx="120650" cy="207963"/>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66574" name="Line 13"/>
          <p:cNvSpPr>
            <a:spLocks noChangeShapeType="1"/>
          </p:cNvSpPr>
          <p:nvPr/>
        </p:nvSpPr>
        <p:spPr bwMode="auto">
          <a:xfrm>
            <a:off x="3187700" y="5184775"/>
            <a:ext cx="842963"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6575" name="Line 14"/>
          <p:cNvSpPr>
            <a:spLocks noChangeShapeType="1"/>
          </p:cNvSpPr>
          <p:nvPr/>
        </p:nvSpPr>
        <p:spPr bwMode="auto">
          <a:xfrm>
            <a:off x="4256088" y="4597400"/>
            <a:ext cx="0" cy="487363"/>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6576" name="Line 15"/>
          <p:cNvSpPr>
            <a:spLocks noChangeShapeType="1"/>
          </p:cNvSpPr>
          <p:nvPr/>
        </p:nvSpPr>
        <p:spPr bwMode="auto">
          <a:xfrm flipH="1">
            <a:off x="4419600" y="5184775"/>
            <a:ext cx="852488" cy="0"/>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6577" name="Line 16"/>
          <p:cNvSpPr>
            <a:spLocks noChangeShapeType="1"/>
          </p:cNvSpPr>
          <p:nvPr/>
        </p:nvSpPr>
        <p:spPr bwMode="auto">
          <a:xfrm flipV="1">
            <a:off x="4256088" y="5305425"/>
            <a:ext cx="11112" cy="687388"/>
          </a:xfrm>
          <a:prstGeom prst="line">
            <a:avLst/>
          </a:prstGeom>
          <a:noFill/>
          <a:ln w="9525">
            <a:solidFill>
              <a:schemeClr val="tx1"/>
            </a:solidFill>
            <a:round/>
            <a:headEnd/>
            <a:tailEnd/>
          </a:ln>
          <a:extLst>
            <a:ext uri="{909E8E84-426E-40dd-AFC4-6F175D3DCCD1}">
              <a14:hiddenFill xmlns:a14="http://schemas.microsoft.com/office/drawing/2010/main" xmlns="">
                <a:noFill/>
              </a14:hiddenFill>
            </a:ext>
          </a:extLst>
        </p:spPr>
        <p:txBody>
          <a:bodyPr wrap="none"/>
          <a:lstStyle/>
          <a:p>
            <a:endParaRPr lang="en-US"/>
          </a:p>
        </p:txBody>
      </p:sp>
      <p:sp>
        <p:nvSpPr>
          <p:cNvPr id="66578" name="Text Box 17"/>
          <p:cNvSpPr txBox="1">
            <a:spLocks noChangeArrowheads="1"/>
          </p:cNvSpPr>
          <p:nvPr/>
        </p:nvSpPr>
        <p:spPr bwMode="auto">
          <a:xfrm>
            <a:off x="2090738" y="4926013"/>
            <a:ext cx="3683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A</a:t>
            </a:r>
          </a:p>
        </p:txBody>
      </p:sp>
      <p:sp>
        <p:nvSpPr>
          <p:cNvPr id="66579" name="Text Box 18"/>
          <p:cNvSpPr txBox="1">
            <a:spLocks noChangeArrowheads="1"/>
          </p:cNvSpPr>
          <p:nvPr/>
        </p:nvSpPr>
        <p:spPr bwMode="auto">
          <a:xfrm>
            <a:off x="4587875" y="3889375"/>
            <a:ext cx="3683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38100">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B</a:t>
            </a:r>
          </a:p>
        </p:txBody>
      </p:sp>
      <p:sp>
        <p:nvSpPr>
          <p:cNvPr id="66580" name="Text Box 19"/>
          <p:cNvSpPr txBox="1">
            <a:spLocks noChangeArrowheads="1"/>
          </p:cNvSpPr>
          <p:nvPr/>
        </p:nvSpPr>
        <p:spPr bwMode="auto">
          <a:xfrm>
            <a:off x="6008688" y="4964113"/>
            <a:ext cx="3683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38100">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a:latin typeface="Helvetica" charset="0"/>
              </a:rPr>
              <a:t>C</a:t>
            </a:r>
          </a:p>
        </p:txBody>
      </p:sp>
      <p:sp>
        <p:nvSpPr>
          <p:cNvPr id="66581" name="Text Box 20"/>
          <p:cNvSpPr txBox="1">
            <a:spLocks noChangeArrowheads="1"/>
          </p:cNvSpPr>
          <p:nvPr/>
        </p:nvSpPr>
        <p:spPr bwMode="auto">
          <a:xfrm>
            <a:off x="4548188" y="6154738"/>
            <a:ext cx="368300" cy="3968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38100">
                <a:solidFill>
                  <a:srgbClr val="000000"/>
                </a:solidFill>
                <a:miter lim="800000"/>
                <a:headEnd/>
                <a:tailEnd/>
              </a14:hiddenLine>
            </a:ext>
          </a:extLst>
        </p:spPr>
        <p:txBody>
          <a:bodyPr>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dirty="0">
                <a:latin typeface="Helvetica" charset="0"/>
              </a:rPr>
              <a:t>D</a:t>
            </a:r>
          </a:p>
        </p:txBody>
      </p:sp>
      <p:sp>
        <p:nvSpPr>
          <p:cNvPr id="66582" name="Rectangle 21"/>
          <p:cNvSpPr>
            <a:spLocks noChangeArrowheads="1"/>
          </p:cNvSpPr>
          <p:nvPr/>
        </p:nvSpPr>
        <p:spPr bwMode="auto">
          <a:xfrm>
            <a:off x="3421063" y="4927600"/>
            <a:ext cx="460375" cy="153988"/>
          </a:xfrm>
          <a:prstGeom prst="rect">
            <a:avLst/>
          </a:prstGeom>
          <a:solidFill>
            <a:srgbClr val="99CCFF"/>
          </a:solidFill>
          <a:ln>
            <a:noFill/>
          </a:ln>
          <a:extLst>
            <a:ext uri="{91240B29-F687-4f45-9708-019B960494DF}">
              <a14:hiddenLine xmlns:a14="http://schemas.microsoft.com/office/drawing/2010/main" xmlns="" w="38100">
                <a:solidFill>
                  <a:srgbClr val="000000"/>
                </a:solidFill>
                <a:miter lim="800000"/>
                <a:headEnd/>
                <a:tailEnd/>
              </a14:hiddenLine>
            </a:ext>
          </a:extLst>
        </p:spPr>
        <p:txBody>
          <a:bodyPr wrap="none" anchor="ctr"/>
          <a:lstStyle/>
          <a:p>
            <a:endParaRPr lang="en-US"/>
          </a:p>
        </p:txBody>
      </p:sp>
      <p:sp>
        <p:nvSpPr>
          <p:cNvPr id="66583" name="Rectangle 22"/>
          <p:cNvSpPr>
            <a:spLocks noChangeArrowheads="1"/>
          </p:cNvSpPr>
          <p:nvPr/>
        </p:nvSpPr>
        <p:spPr bwMode="auto">
          <a:xfrm>
            <a:off x="3727450" y="4927600"/>
            <a:ext cx="153988" cy="153988"/>
          </a:xfrm>
          <a:prstGeom prst="rect">
            <a:avLst/>
          </a:prstGeom>
          <a:solidFill>
            <a:srgbClr val="0000FF"/>
          </a:solidFill>
          <a:ln>
            <a:noFill/>
          </a:ln>
          <a:extLst>
            <a:ext uri="{91240B29-F687-4f45-9708-019B960494DF}">
              <a14:hiddenLine xmlns:a14="http://schemas.microsoft.com/office/drawing/2010/main" xmlns="" w="38100">
                <a:solidFill>
                  <a:srgbClr val="000000"/>
                </a:solidFill>
                <a:miter lim="800000"/>
                <a:headEnd/>
                <a:tailEnd/>
              </a14:hiddenLine>
            </a:ext>
          </a:extLst>
        </p:spPr>
        <p:txBody>
          <a:bodyPr wrap="none" anchor="ctr"/>
          <a:lstStyle/>
          <a:p>
            <a:endParaRPr lang="en-US"/>
          </a:p>
        </p:txBody>
      </p:sp>
      <p:sp>
        <p:nvSpPr>
          <p:cNvPr id="66584" name="Text Box 23"/>
          <p:cNvSpPr txBox="1">
            <a:spLocks noChangeArrowheads="1"/>
          </p:cNvSpPr>
          <p:nvPr/>
        </p:nvSpPr>
        <p:spPr bwMode="auto">
          <a:xfrm>
            <a:off x="457200" y="3886200"/>
            <a:ext cx="2814638" cy="707886"/>
          </a:xfrm>
          <a:prstGeom prst="rect">
            <a:avLst/>
          </a:prstGeom>
          <a:noFill/>
          <a:ln w="38100">
            <a:solidFill>
              <a:srgbClr val="D3A600"/>
            </a:solidFill>
            <a:miter lim="800000"/>
            <a:headEnd/>
            <a:tailEnd/>
          </a:ln>
          <a:extLst>
            <a:ext uri="{909E8E84-426E-40dd-AFC4-6F175D3DCCD1}">
              <a14:hiddenFill xmlns:a14="http://schemas.microsoft.com/office/drawing/2010/main" xmlns="">
                <a:solidFill>
                  <a:srgbClr val="FFFFFF"/>
                </a:solidFill>
              </a14:hiddenFill>
            </a:ext>
          </a:extLst>
        </p:spPr>
        <p:txBody>
          <a:bodyPr>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eaLnBrk="1" hangingPunct="1"/>
            <a:r>
              <a:rPr lang="en-US" dirty="0">
                <a:latin typeface="Helvetica" charset="0"/>
              </a:rPr>
              <a:t>Packet tells switch how to reach A.</a:t>
            </a:r>
          </a:p>
        </p:txBody>
      </p:sp>
      <p:sp>
        <p:nvSpPr>
          <p:cNvPr id="66585" name="Line 24"/>
          <p:cNvSpPr>
            <a:spLocks noChangeShapeType="1"/>
          </p:cNvSpPr>
          <p:nvPr/>
        </p:nvSpPr>
        <p:spPr bwMode="auto">
          <a:xfrm>
            <a:off x="3227388" y="4695825"/>
            <a:ext cx="692150" cy="0"/>
          </a:xfrm>
          <a:prstGeom prst="line">
            <a:avLst/>
          </a:prstGeom>
          <a:noFill/>
          <a:ln w="38100">
            <a:solidFill>
              <a:srgbClr val="0000FF"/>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p>
        </p:txBody>
      </p:sp>
      <p:sp>
        <p:nvSpPr>
          <p:cNvPr id="7" name="Date Placeholder 6"/>
          <p:cNvSpPr>
            <a:spLocks noGrp="1"/>
          </p:cNvSpPr>
          <p:nvPr>
            <p:ph type="dt" sz="half" idx="10"/>
          </p:nvPr>
        </p:nvSpPr>
        <p:spPr/>
        <p:txBody>
          <a:bodyPr/>
          <a:lstStyle/>
          <a:p>
            <a:r>
              <a:rPr lang="en-US"/>
              <a:t>April 16, 2025</a:t>
            </a:r>
            <a:endParaRPr lang="en-US" sz="1050" b="0">
              <a:latin typeface="Times New Roman" charset="0"/>
            </a:endParaRPr>
          </a:p>
        </p:txBody>
      </p:sp>
      <p:sp>
        <p:nvSpPr>
          <p:cNvPr id="9" name="Slide Number Placeholder 8"/>
          <p:cNvSpPr>
            <a:spLocks noGrp="1"/>
          </p:cNvSpPr>
          <p:nvPr>
            <p:ph type="sldNum" sz="quarter" idx="12"/>
          </p:nvPr>
        </p:nvSpPr>
        <p:spPr/>
        <p:txBody>
          <a:bodyPr/>
          <a:lstStyle/>
          <a:p>
            <a:fld id="{A190D881-957A-7944-A8D0-1584E528B88F}" type="slidenum">
              <a:rPr lang="en-US" smtClean="0"/>
              <a:pPr/>
              <a:t>55</a:t>
            </a:fld>
            <a:endParaRPr lang="en-US"/>
          </a:p>
        </p:txBody>
      </p:sp>
      <p:sp>
        <p:nvSpPr>
          <p:cNvPr id="2" name="Footer Placeholder 1">
            <a:extLst>
              <a:ext uri="{FF2B5EF4-FFF2-40B4-BE49-F238E27FC236}">
                <a16:creationId xmlns:a16="http://schemas.microsoft.com/office/drawing/2014/main" id="{D9E9787D-A36B-A8BB-21DD-9B9753C574F7}"/>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Tree>
    <p:extLst>
      <p:ext uri="{BB962C8B-B14F-4D97-AF65-F5344CB8AC3E}">
        <p14:creationId xmlns:p14="http://schemas.microsoft.com/office/powerpoint/2010/main" val="1778694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656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56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656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56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8"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ARP and DHCP</a:t>
            </a:r>
            <a:endParaRPr lang="en-US" dirty="0"/>
          </a:p>
        </p:txBody>
      </p:sp>
      <p:sp>
        <p:nvSpPr>
          <p:cNvPr id="3" name="Content Placeholder 2"/>
          <p:cNvSpPr>
            <a:spLocks noGrp="1"/>
          </p:cNvSpPr>
          <p:nvPr>
            <p:ph idx="1"/>
          </p:nvPr>
        </p:nvSpPr>
        <p:spPr/>
        <p:txBody>
          <a:bodyPr/>
          <a:lstStyle/>
          <a:p>
            <a:r>
              <a:rPr lang="en-US" dirty="0"/>
              <a:t>Link layer discovery protocols</a:t>
            </a:r>
          </a:p>
          <a:p>
            <a:pPr lvl="1"/>
            <a:r>
              <a:rPr lang="en-US" dirty="0"/>
              <a:t>ARP </a:t>
            </a:r>
            <a:r>
              <a:rPr lang="en-US" dirty="0">
                <a:sym typeface="Wingdings"/>
              </a:rPr>
              <a:t> </a:t>
            </a:r>
            <a:r>
              <a:rPr lang="en-US" dirty="0"/>
              <a:t>Address Resolution Protocol</a:t>
            </a:r>
          </a:p>
          <a:p>
            <a:pPr lvl="1"/>
            <a:r>
              <a:rPr lang="en-US" dirty="0"/>
              <a:t>DHCP </a:t>
            </a:r>
            <a:r>
              <a:rPr lang="en-US" dirty="0">
                <a:sym typeface="Wingdings"/>
              </a:rPr>
              <a:t> </a:t>
            </a:r>
            <a:r>
              <a:rPr lang="en-US" dirty="0"/>
              <a:t>Dynamic Host Configuration Protocol</a:t>
            </a:r>
          </a:p>
          <a:p>
            <a:pPr lvl="1"/>
            <a:r>
              <a:rPr lang="en-US" dirty="0"/>
              <a:t>Confined to a single local-area network (LAN) </a:t>
            </a:r>
          </a:p>
          <a:p>
            <a:pPr lvl="1"/>
            <a:r>
              <a:rPr lang="en-US" dirty="0"/>
              <a:t>Rely on broadcast capability </a:t>
            </a:r>
          </a:p>
          <a:p>
            <a:endParaRPr lang="en-US" dirty="0"/>
          </a:p>
          <a:p>
            <a:pPr lvl="1"/>
            <a:endParaRPr lang="en-US" dirty="0"/>
          </a:p>
        </p:txBody>
      </p:sp>
      <p:sp>
        <p:nvSpPr>
          <p:cNvPr id="17" name="Date Placeholder 16"/>
          <p:cNvSpPr>
            <a:spLocks noGrp="1"/>
          </p:cNvSpPr>
          <p:nvPr>
            <p:ph type="dt" sz="half" idx="10"/>
          </p:nvPr>
        </p:nvSpPr>
        <p:spPr/>
        <p:txBody>
          <a:bodyPr/>
          <a:lstStyle/>
          <a:p>
            <a:r>
              <a:rPr lang="en-US"/>
              <a:t>April 16, 2025</a:t>
            </a:r>
            <a:endParaRPr lang="en-US" sz="1050" b="0">
              <a:latin typeface="Times New Roman" charset="0"/>
            </a:endParaRPr>
          </a:p>
        </p:txBody>
      </p:sp>
      <p:sp>
        <p:nvSpPr>
          <p:cNvPr id="19" name="Slide Number Placeholder 18"/>
          <p:cNvSpPr>
            <a:spLocks noGrp="1"/>
          </p:cNvSpPr>
          <p:nvPr>
            <p:ph type="sldNum" sz="quarter" idx="12"/>
          </p:nvPr>
        </p:nvSpPr>
        <p:spPr/>
        <p:txBody>
          <a:bodyPr/>
          <a:lstStyle/>
          <a:p>
            <a:fld id="{A190D881-957A-7944-A8D0-1584E528B88F}" type="slidenum">
              <a:rPr lang="en-US" smtClean="0"/>
              <a:pPr/>
              <a:t>56</a:t>
            </a:fld>
            <a:endParaRPr lang="en-US"/>
          </a:p>
        </p:txBody>
      </p:sp>
      <p:sp>
        <p:nvSpPr>
          <p:cNvPr id="15" name="Footer Placeholder 14"/>
          <p:cNvSpPr>
            <a:spLocks noGrp="1"/>
          </p:cNvSpPr>
          <p:nvPr>
            <p:ph type="ftr" sz="quarter" idx="11"/>
          </p:nvPr>
        </p:nvSpPr>
        <p:spPr/>
        <p:txBody>
          <a:bodyPr/>
          <a:lstStyle/>
          <a:p>
            <a:r>
              <a:rPr lang="en-US"/>
              <a:t>EECS 489 – Final Review</a:t>
            </a:r>
            <a:endParaRPr lang="en-US" sz="1050" b="0">
              <a:latin typeface="Times New Roman" charset="0"/>
            </a:endParaRPr>
          </a:p>
        </p:txBody>
      </p:sp>
    </p:spTree>
    <p:extLst>
      <p:ext uri="{BB962C8B-B14F-4D97-AF65-F5344CB8AC3E}">
        <p14:creationId xmlns:p14="http://schemas.microsoft.com/office/powerpoint/2010/main" val="4214771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2"/>
          <p:cNvSpPr>
            <a:spLocks noGrp="1" noChangeArrowheads="1"/>
          </p:cNvSpPr>
          <p:nvPr>
            <p:ph type="title"/>
          </p:nvPr>
        </p:nvSpPr>
        <p:spPr/>
        <p:txBody>
          <a:bodyPr/>
          <a:lstStyle/>
          <a:p>
            <a:r>
              <a:rPr lang="en-US" dirty="0"/>
              <a:t>Key ideas in both ARP and DHCP</a:t>
            </a:r>
          </a:p>
        </p:txBody>
      </p:sp>
      <p:sp>
        <p:nvSpPr>
          <p:cNvPr id="926723" name="Rectangle 3"/>
          <p:cNvSpPr>
            <a:spLocks noGrp="1" noChangeArrowheads="1"/>
          </p:cNvSpPr>
          <p:nvPr>
            <p:ph idx="1"/>
          </p:nvPr>
        </p:nvSpPr>
        <p:spPr/>
        <p:txBody>
          <a:bodyPr/>
          <a:lstStyle/>
          <a:p>
            <a:r>
              <a:rPr lang="en-US" dirty="0">
                <a:solidFill>
                  <a:srgbClr val="0000FF"/>
                </a:solidFill>
              </a:rPr>
              <a:t>Broadcasting</a:t>
            </a:r>
            <a:r>
              <a:rPr lang="en-US" dirty="0"/>
              <a:t>: Can use broadcast to make contact</a:t>
            </a:r>
          </a:p>
          <a:p>
            <a:pPr lvl="1"/>
            <a:r>
              <a:rPr lang="en-US" dirty="0"/>
              <a:t>Scalable because of limited size</a:t>
            </a:r>
          </a:p>
          <a:p>
            <a:r>
              <a:rPr lang="en-US" dirty="0">
                <a:solidFill>
                  <a:srgbClr val="0000FF"/>
                </a:solidFill>
              </a:rPr>
              <a:t>Caching</a:t>
            </a:r>
            <a:r>
              <a:rPr lang="en-US" dirty="0"/>
              <a:t>: remember the past for a while</a:t>
            </a:r>
          </a:p>
          <a:p>
            <a:pPr lvl="1"/>
            <a:r>
              <a:rPr lang="en-US" dirty="0"/>
              <a:t>Store the information you learn to reduce overhead</a:t>
            </a:r>
          </a:p>
          <a:p>
            <a:r>
              <a:rPr lang="en-US" dirty="0">
                <a:solidFill>
                  <a:srgbClr val="0000FF"/>
                </a:solidFill>
              </a:rPr>
              <a:t>Soft state</a:t>
            </a:r>
            <a:r>
              <a:rPr lang="en-US" dirty="0"/>
              <a:t>: eventually forget the past</a:t>
            </a:r>
          </a:p>
          <a:p>
            <a:pPr lvl="1"/>
            <a:r>
              <a:rPr lang="en-US" dirty="0"/>
              <a:t>Associate a time-to-live field with the information</a:t>
            </a:r>
          </a:p>
          <a:p>
            <a:pPr lvl="1"/>
            <a:r>
              <a:rPr lang="en-US" dirty="0"/>
              <a:t>… and either refresh or discard the information</a:t>
            </a:r>
          </a:p>
          <a:p>
            <a:pPr lvl="1"/>
            <a:r>
              <a:rPr lang="en-US" dirty="0"/>
              <a:t>Key for robustness in the face of unpredictable change</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57</a:t>
            </a:fld>
            <a:endParaRPr lang="en-US"/>
          </a:p>
        </p:txBody>
      </p:sp>
    </p:spTree>
    <p:extLst>
      <p:ext uri="{BB962C8B-B14F-4D97-AF65-F5344CB8AC3E}">
        <p14:creationId xmlns:p14="http://schemas.microsoft.com/office/powerpoint/2010/main" val="281872081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672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6723">
                                            <p:txEl>
                                              <p:pRg st="1" end="1"/>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2672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6723">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2672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2672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2672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267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6723"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2"/>
          <p:cNvSpPr>
            <a:spLocks noGrp="1" noChangeArrowheads="1"/>
          </p:cNvSpPr>
          <p:nvPr>
            <p:ph type="title"/>
          </p:nvPr>
        </p:nvSpPr>
        <p:spPr/>
        <p:txBody>
          <a:bodyPr/>
          <a:lstStyle/>
          <a:p>
            <a:r>
              <a:rPr lang="en-US" dirty="0"/>
              <a:t>Wireless link characteristics</a:t>
            </a:r>
          </a:p>
        </p:txBody>
      </p:sp>
      <p:sp>
        <p:nvSpPr>
          <p:cNvPr id="13317" name="Rectangle 3"/>
          <p:cNvSpPr>
            <a:spLocks noGrp="1" noChangeArrowheads="1"/>
          </p:cNvSpPr>
          <p:nvPr>
            <p:ph idx="1"/>
          </p:nvPr>
        </p:nvSpPr>
        <p:spPr/>
        <p:txBody>
          <a:bodyPr/>
          <a:lstStyle/>
          <a:p>
            <a:r>
              <a:rPr lang="en-US" dirty="0"/>
              <a:t>Three important differences from wired link …</a:t>
            </a:r>
          </a:p>
          <a:p>
            <a:pPr lvl="1"/>
            <a:r>
              <a:rPr lang="en-US" dirty="0">
                <a:solidFill>
                  <a:srgbClr val="0000FF"/>
                </a:solidFill>
              </a:rPr>
              <a:t>Decreased signal strength</a:t>
            </a:r>
            <a:r>
              <a:rPr lang="en-US" dirty="0"/>
              <a:t>: Radio signal attenuates as it propagates through matter (path loss)</a:t>
            </a:r>
          </a:p>
          <a:p>
            <a:pPr lvl="1"/>
            <a:r>
              <a:rPr lang="en-US" dirty="0">
                <a:solidFill>
                  <a:srgbClr val="0000FF"/>
                </a:solidFill>
              </a:rPr>
              <a:t>Multipath propagation</a:t>
            </a:r>
            <a:r>
              <a:rPr lang="en-US" dirty="0"/>
              <a:t>: Radio signal reflects off objects ground, arriving at destination at slightly different times</a:t>
            </a:r>
          </a:p>
          <a:p>
            <a:pPr lvl="1"/>
            <a:r>
              <a:rPr lang="en-US" dirty="0">
                <a:solidFill>
                  <a:srgbClr val="0000FF"/>
                </a:solidFill>
              </a:rPr>
              <a:t>Interference from other sources</a:t>
            </a:r>
            <a:r>
              <a:rPr lang="en-US" dirty="0"/>
              <a:t>: Standardized wireless network frequencies (e.g., 2.4 GHz) shared by other devices (e.g., phone); devices (motors) interfere as well</a:t>
            </a:r>
          </a:p>
          <a:p>
            <a:pPr lvl="1"/>
            <a:endParaRPr lang="en-US" dirty="0"/>
          </a:p>
        </p:txBody>
      </p:sp>
      <p:sp>
        <p:nvSpPr>
          <p:cNvPr id="4" name="Slide Number Placeholder 3">
            <a:extLst>
              <a:ext uri="{FF2B5EF4-FFF2-40B4-BE49-F238E27FC236}">
                <a16:creationId xmlns:a16="http://schemas.microsoft.com/office/drawing/2014/main" id="{8BAD4ADA-A602-F84E-A7DA-25B283A7AF47}"/>
              </a:ext>
            </a:extLst>
          </p:cNvPr>
          <p:cNvSpPr>
            <a:spLocks noGrp="1"/>
          </p:cNvSpPr>
          <p:nvPr>
            <p:ph type="sldNum" sz="quarter" idx="12"/>
          </p:nvPr>
        </p:nvSpPr>
        <p:spPr/>
        <p:txBody>
          <a:bodyPr/>
          <a:lstStyle/>
          <a:p>
            <a:fld id="{A190D881-957A-7944-A8D0-1584E528B88F}" type="slidenum">
              <a:rPr lang="en-US" smtClean="0"/>
              <a:pPr/>
              <a:t>58</a:t>
            </a:fld>
            <a:endParaRPr lang="en-US"/>
          </a:p>
        </p:txBody>
      </p:sp>
      <p:sp>
        <p:nvSpPr>
          <p:cNvPr id="2" name="Date Placeholder 1">
            <a:extLst>
              <a:ext uri="{FF2B5EF4-FFF2-40B4-BE49-F238E27FC236}">
                <a16:creationId xmlns:a16="http://schemas.microsoft.com/office/drawing/2014/main" id="{68305E22-013F-2912-E66C-8CDED682ECAC}"/>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3" name="Footer Placeholder 2">
            <a:extLst>
              <a:ext uri="{FF2B5EF4-FFF2-40B4-BE49-F238E27FC236}">
                <a16:creationId xmlns:a16="http://schemas.microsoft.com/office/drawing/2014/main" id="{70A3506A-234F-9D05-D8CB-B005F65D67CB}"/>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Tree>
    <p:extLst>
      <p:ext uri="{BB962C8B-B14F-4D97-AF65-F5344CB8AC3E}">
        <p14:creationId xmlns:p14="http://schemas.microsoft.com/office/powerpoint/2010/main" val="6196931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Hidden terminal problem</a:t>
            </a:r>
          </a:p>
        </p:txBody>
      </p:sp>
      <p:sp>
        <p:nvSpPr>
          <p:cNvPr id="7" name="Content Placeholder 6"/>
          <p:cNvSpPr>
            <a:spLocks noGrp="1"/>
          </p:cNvSpPr>
          <p:nvPr>
            <p:ph sz="half" idx="1"/>
          </p:nvPr>
        </p:nvSpPr>
        <p:spPr/>
        <p:txBody>
          <a:bodyPr/>
          <a:lstStyle/>
          <a:p>
            <a:pPr marL="177800" indent="-177800">
              <a:lnSpc>
                <a:spcPct val="90000"/>
              </a:lnSpc>
              <a:buClr>
                <a:srgbClr val="000099"/>
              </a:buClr>
              <a:buSzPct val="100000"/>
              <a:buFont typeface="Arial" charset="0"/>
              <a:buChar char="•"/>
              <a:defRPr/>
            </a:pPr>
            <a:r>
              <a:rPr lang="en-US" sz="2400" dirty="0">
                <a:ea typeface="Arial" charset="0"/>
                <a:cs typeface="Arial" charset="0"/>
              </a:rPr>
              <a:t>B, A hear each other</a:t>
            </a:r>
          </a:p>
          <a:p>
            <a:pPr marL="177800" indent="-177800">
              <a:lnSpc>
                <a:spcPct val="90000"/>
              </a:lnSpc>
              <a:buClr>
                <a:srgbClr val="000099"/>
              </a:buClr>
              <a:buSzPct val="100000"/>
              <a:buFont typeface="Arial" charset="0"/>
              <a:buChar char="•"/>
              <a:defRPr/>
            </a:pPr>
            <a:r>
              <a:rPr lang="en-US" sz="2400" dirty="0">
                <a:ea typeface="Arial" charset="0"/>
                <a:cs typeface="Arial" charset="0"/>
              </a:rPr>
              <a:t>B, C hear each other</a:t>
            </a:r>
          </a:p>
          <a:p>
            <a:pPr marL="177800" indent="-177800">
              <a:lnSpc>
                <a:spcPct val="90000"/>
              </a:lnSpc>
              <a:buClr>
                <a:srgbClr val="000099"/>
              </a:buClr>
              <a:buSzPct val="100000"/>
              <a:buFont typeface="Arial" charset="0"/>
              <a:buChar char="•"/>
              <a:defRPr/>
            </a:pPr>
            <a:r>
              <a:rPr lang="en-US" sz="2400" dirty="0">
                <a:ea typeface="Arial" charset="0"/>
                <a:cs typeface="Arial" charset="0"/>
              </a:rPr>
              <a:t>A, C can not hear each other</a:t>
            </a:r>
          </a:p>
          <a:p>
            <a:pPr marL="177800" indent="-177800">
              <a:lnSpc>
                <a:spcPct val="90000"/>
              </a:lnSpc>
              <a:buClr>
                <a:srgbClr val="000099"/>
              </a:buClr>
              <a:buSzPct val="100000"/>
              <a:buFont typeface="Arial" charset="0"/>
              <a:buChar char="•"/>
              <a:defRPr/>
            </a:pPr>
            <a:r>
              <a:rPr lang="en-US" sz="2400" dirty="0">
                <a:ea typeface="Arial" charset="0"/>
                <a:cs typeface="Arial" charset="0"/>
              </a:rPr>
              <a:t>Hence, A, C are unaware of their interference at B</a:t>
            </a:r>
          </a:p>
          <a:p>
            <a:endParaRPr lang="en-US" dirty="0"/>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59</a:t>
            </a:fld>
            <a:endParaRPr lang="en-US"/>
          </a:p>
        </p:txBody>
      </p:sp>
      <p:grpSp>
        <p:nvGrpSpPr>
          <p:cNvPr id="9" name="Group 8"/>
          <p:cNvGrpSpPr/>
          <p:nvPr/>
        </p:nvGrpSpPr>
        <p:grpSpPr>
          <a:xfrm>
            <a:off x="5029200" y="1600200"/>
            <a:ext cx="3203575" cy="1828495"/>
            <a:chOff x="698500" y="2413000"/>
            <a:chExt cx="3203575" cy="1828495"/>
          </a:xfrm>
        </p:grpSpPr>
        <p:grpSp>
          <p:nvGrpSpPr>
            <p:cNvPr id="10" name="Group 356"/>
            <p:cNvGrpSpPr>
              <a:grpSpLocks/>
            </p:cNvGrpSpPr>
            <p:nvPr/>
          </p:nvGrpSpPr>
          <p:grpSpPr bwMode="auto">
            <a:xfrm>
              <a:off x="2163763" y="2570163"/>
              <a:ext cx="627062" cy="642937"/>
              <a:chOff x="313" y="1497"/>
              <a:chExt cx="1152" cy="1014"/>
            </a:xfrm>
          </p:grpSpPr>
          <p:pic>
            <p:nvPicPr>
              <p:cNvPr id="23" name="Picture 354" descr="laptop_stylized_smal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 y="1727"/>
                <a:ext cx="1152" cy="7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4" name="Picture 355" descr="antenna_styliz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 y="1497"/>
                <a:ext cx="1113"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11" name="Freeform 7"/>
            <p:cNvSpPr>
              <a:spLocks/>
            </p:cNvSpPr>
            <p:nvPr/>
          </p:nvSpPr>
          <p:spPr bwMode="auto">
            <a:xfrm>
              <a:off x="698500" y="2413000"/>
              <a:ext cx="2020888" cy="1085850"/>
            </a:xfrm>
            <a:custGeom>
              <a:avLst/>
              <a:gdLst>
                <a:gd name="T0" fmla="*/ 2147483647 w 1273"/>
                <a:gd name="T1" fmla="*/ 2147483647 h 684"/>
                <a:gd name="T2" fmla="*/ 2147483647 w 1273"/>
                <a:gd name="T3" fmla="*/ 0 h 684"/>
                <a:gd name="T4" fmla="*/ 2147483647 w 1273"/>
                <a:gd name="T5" fmla="*/ 2147483647 h 684"/>
                <a:gd name="T6" fmla="*/ 2147483647 w 1273"/>
                <a:gd name="T7" fmla="*/ 2147483647 h 684"/>
                <a:gd name="T8" fmla="*/ 2147483647 w 1273"/>
                <a:gd name="T9" fmla="*/ 2147483647 h 684"/>
                <a:gd name="T10" fmla="*/ 2147483647 w 1273"/>
                <a:gd name="T11" fmla="*/ 2147483647 h 684"/>
                <a:gd name="T12" fmla="*/ 2147483647 w 1273"/>
                <a:gd name="T13" fmla="*/ 2147483647 h 684"/>
                <a:gd name="T14" fmla="*/ 2147483647 w 1273"/>
                <a:gd name="T15" fmla="*/ 2147483647 h 684"/>
                <a:gd name="T16" fmla="*/ 2147483647 w 1273"/>
                <a:gd name="T17" fmla="*/ 2147483647 h 684"/>
                <a:gd name="T18" fmla="*/ 0 w 1273"/>
                <a:gd name="T19" fmla="*/ 2147483647 h 68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273" h="684">
                  <a:moveTo>
                    <a:pt x="9" y="675"/>
                  </a:moveTo>
                  <a:lnTo>
                    <a:pt x="316" y="0"/>
                  </a:lnTo>
                  <a:lnTo>
                    <a:pt x="461" y="228"/>
                  </a:lnTo>
                  <a:lnTo>
                    <a:pt x="510" y="119"/>
                  </a:lnTo>
                  <a:lnTo>
                    <a:pt x="631" y="467"/>
                  </a:lnTo>
                  <a:lnTo>
                    <a:pt x="667" y="391"/>
                  </a:lnTo>
                  <a:lnTo>
                    <a:pt x="739" y="464"/>
                  </a:lnTo>
                  <a:lnTo>
                    <a:pt x="1058" y="57"/>
                  </a:lnTo>
                  <a:lnTo>
                    <a:pt x="1273" y="684"/>
                  </a:lnTo>
                  <a:lnTo>
                    <a:pt x="0" y="674"/>
                  </a:lnTo>
                </a:path>
              </a:pathLst>
            </a:custGeom>
            <a:gradFill rotWithShape="1">
              <a:gsLst>
                <a:gs pos="0">
                  <a:srgbClr val="FFFFFF"/>
                </a:gs>
                <a:gs pos="100000">
                  <a:srgbClr val="00CC66"/>
                </a:gs>
              </a:gsLst>
              <a:lin ang="5400000" scaled="1"/>
            </a:gradFill>
            <a:ln w="9525" cap="flat" cmpd="sng">
              <a:solidFill>
                <a:schemeClr val="tx1"/>
              </a:solidFill>
              <a:prstDash val="solid"/>
              <a:round/>
              <a:headEnd/>
              <a:tailEn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lstStyle/>
            <a:p>
              <a:endParaRPr lang="en-US" dirty="0"/>
            </a:p>
          </p:txBody>
        </p:sp>
        <p:sp>
          <p:nvSpPr>
            <p:cNvPr id="12" name="Line 26"/>
            <p:cNvSpPr>
              <a:spLocks noChangeShapeType="1"/>
            </p:cNvSpPr>
            <p:nvPr/>
          </p:nvSpPr>
          <p:spPr bwMode="auto">
            <a:xfrm flipV="1">
              <a:off x="2019027" y="3627437"/>
              <a:ext cx="951186" cy="331787"/>
            </a:xfrm>
            <a:prstGeom prst="line">
              <a:avLst/>
            </a:prstGeom>
            <a:noFill/>
            <a:ln w="38100">
              <a:solidFill>
                <a:srgbClr val="0000FF"/>
              </a:solidFill>
              <a:round/>
              <a:headEnd type="triangle" w="med" len="me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dirty="0">
                <a:cs typeface="+mn-cs"/>
              </a:endParaRPr>
            </a:p>
          </p:txBody>
        </p:sp>
        <p:sp>
          <p:nvSpPr>
            <p:cNvPr id="13" name="Line 27"/>
            <p:cNvSpPr>
              <a:spLocks noChangeShapeType="1"/>
            </p:cNvSpPr>
            <p:nvPr/>
          </p:nvSpPr>
          <p:spPr bwMode="auto">
            <a:xfrm>
              <a:off x="2644775" y="3148013"/>
              <a:ext cx="407988" cy="322262"/>
            </a:xfrm>
            <a:prstGeom prst="line">
              <a:avLst/>
            </a:prstGeom>
            <a:noFill/>
            <a:ln w="38100">
              <a:solidFill>
                <a:srgbClr val="0000FF"/>
              </a:solidFill>
              <a:round/>
              <a:headEnd type="triangle" w="med" len="me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dirty="0">
                <a:cs typeface="+mn-cs"/>
              </a:endParaRPr>
            </a:p>
          </p:txBody>
        </p:sp>
        <p:sp>
          <p:nvSpPr>
            <p:cNvPr id="14" name="Text Box 28"/>
            <p:cNvSpPr txBox="1">
              <a:spLocks noChangeArrowheads="1"/>
            </p:cNvSpPr>
            <p:nvPr/>
          </p:nvSpPr>
          <p:spPr bwMode="auto">
            <a:xfrm>
              <a:off x="1090613" y="3798888"/>
              <a:ext cx="350837" cy="36671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dirty="0">
                  <a:latin typeface="Arial" charset="0"/>
                  <a:cs typeface="Arial" charset="0"/>
                </a:rPr>
                <a:t>A</a:t>
              </a:r>
            </a:p>
          </p:txBody>
        </p:sp>
        <p:sp>
          <p:nvSpPr>
            <p:cNvPr id="15" name="Text Box 29"/>
            <p:cNvSpPr txBox="1">
              <a:spLocks noChangeArrowheads="1"/>
            </p:cNvSpPr>
            <p:nvPr/>
          </p:nvSpPr>
          <p:spPr bwMode="auto">
            <a:xfrm>
              <a:off x="3563938" y="3292475"/>
              <a:ext cx="338137" cy="3698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dirty="0">
                  <a:latin typeface="Arial" charset="0"/>
                  <a:cs typeface="Arial" charset="0"/>
                </a:rPr>
                <a:t>B</a:t>
              </a:r>
            </a:p>
          </p:txBody>
        </p:sp>
        <p:sp>
          <p:nvSpPr>
            <p:cNvPr id="16" name="Text Box 30"/>
            <p:cNvSpPr txBox="1">
              <a:spLocks noChangeArrowheads="1"/>
            </p:cNvSpPr>
            <p:nvPr/>
          </p:nvSpPr>
          <p:spPr bwMode="auto">
            <a:xfrm>
              <a:off x="2741613" y="2587625"/>
              <a:ext cx="350837" cy="36988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dirty="0">
                  <a:latin typeface="Arial" charset="0"/>
                  <a:cs typeface="Arial" charset="0"/>
                </a:rPr>
                <a:t>C</a:t>
              </a:r>
            </a:p>
          </p:txBody>
        </p:sp>
        <p:grpSp>
          <p:nvGrpSpPr>
            <p:cNvPr id="17" name="Group 356"/>
            <p:cNvGrpSpPr>
              <a:grpSpLocks/>
            </p:cNvGrpSpPr>
            <p:nvPr/>
          </p:nvGrpSpPr>
          <p:grpSpPr bwMode="auto">
            <a:xfrm>
              <a:off x="2925763" y="3119438"/>
              <a:ext cx="627062" cy="642937"/>
              <a:chOff x="313" y="1497"/>
              <a:chExt cx="1152" cy="1014"/>
            </a:xfrm>
          </p:grpSpPr>
          <p:pic>
            <p:nvPicPr>
              <p:cNvPr id="21" name="Picture 354" descr="laptop_stylized_smal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 y="1727"/>
                <a:ext cx="1152" cy="7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2" name="Picture 355" descr="antenna_styliz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 y="1497"/>
                <a:ext cx="1113"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grpSp>
          <p:nvGrpSpPr>
            <p:cNvPr id="18" name="Group 356"/>
            <p:cNvGrpSpPr>
              <a:grpSpLocks/>
            </p:cNvGrpSpPr>
            <p:nvPr/>
          </p:nvGrpSpPr>
          <p:grpSpPr bwMode="auto">
            <a:xfrm>
              <a:off x="1401763" y="3260725"/>
              <a:ext cx="627062" cy="980770"/>
              <a:chOff x="313" y="1497"/>
              <a:chExt cx="1152" cy="1543"/>
            </a:xfrm>
          </p:grpSpPr>
          <p:pic>
            <p:nvPicPr>
              <p:cNvPr id="19" name="Picture 354" descr="laptop_stylized_smal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 y="2256"/>
                <a:ext cx="1152" cy="7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 name="Picture 355" descr="antenna_styliz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 y="1497"/>
                <a:ext cx="1113"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grpSp>
      <p:grpSp>
        <p:nvGrpSpPr>
          <p:cNvPr id="25" name="Group 24"/>
          <p:cNvGrpSpPr/>
          <p:nvPr/>
        </p:nvGrpSpPr>
        <p:grpSpPr>
          <a:xfrm>
            <a:off x="4738884" y="3738562"/>
            <a:ext cx="3659188" cy="2263775"/>
            <a:chOff x="4943475" y="2124075"/>
            <a:chExt cx="3659188" cy="2263775"/>
          </a:xfrm>
        </p:grpSpPr>
        <p:sp>
          <p:nvSpPr>
            <p:cNvPr id="26" name="Text Box 47"/>
            <p:cNvSpPr txBox="1">
              <a:spLocks noChangeArrowheads="1"/>
            </p:cNvSpPr>
            <p:nvPr/>
          </p:nvSpPr>
          <p:spPr bwMode="auto">
            <a:xfrm>
              <a:off x="4943475" y="2292350"/>
              <a:ext cx="332142" cy="338554"/>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dirty="0">
                  <a:solidFill>
                    <a:srgbClr val="0000FF"/>
                  </a:solidFill>
                  <a:latin typeface="Arial" charset="0"/>
                  <a:cs typeface="Arial" charset="0"/>
                </a:rPr>
                <a:t>A</a:t>
              </a:r>
            </a:p>
          </p:txBody>
        </p:sp>
        <p:sp>
          <p:nvSpPr>
            <p:cNvPr id="27" name="Text Box 48"/>
            <p:cNvSpPr txBox="1">
              <a:spLocks noChangeArrowheads="1"/>
            </p:cNvSpPr>
            <p:nvPr/>
          </p:nvSpPr>
          <p:spPr bwMode="auto">
            <a:xfrm>
              <a:off x="6853238" y="2289175"/>
              <a:ext cx="328612" cy="36671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dirty="0">
                  <a:latin typeface="Arial" charset="0"/>
                  <a:cs typeface="Arial" charset="0"/>
                </a:rPr>
                <a:t>B</a:t>
              </a:r>
            </a:p>
          </p:txBody>
        </p:sp>
        <p:sp>
          <p:nvSpPr>
            <p:cNvPr id="28" name="Text Box 49"/>
            <p:cNvSpPr txBox="1">
              <a:spLocks noChangeArrowheads="1"/>
            </p:cNvSpPr>
            <p:nvPr/>
          </p:nvSpPr>
          <p:spPr bwMode="auto">
            <a:xfrm>
              <a:off x="8034338" y="2332038"/>
              <a:ext cx="350837" cy="36988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dirty="0">
                  <a:latin typeface="Arial" charset="0"/>
                  <a:cs typeface="Arial" charset="0"/>
                </a:rPr>
                <a:t>C</a:t>
              </a:r>
            </a:p>
          </p:txBody>
        </p:sp>
        <p:sp>
          <p:nvSpPr>
            <p:cNvPr id="29" name="Text Box 55"/>
            <p:cNvSpPr txBox="1">
              <a:spLocks noChangeArrowheads="1"/>
            </p:cNvSpPr>
            <p:nvPr/>
          </p:nvSpPr>
          <p:spPr bwMode="auto">
            <a:xfrm>
              <a:off x="5016500" y="3119438"/>
              <a:ext cx="1069524" cy="52322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sz="1400" dirty="0">
                  <a:solidFill>
                    <a:srgbClr val="0000FF"/>
                  </a:solidFill>
                  <a:latin typeface="Arial" charset="0"/>
                  <a:cs typeface="Arial" charset="0"/>
                </a:rPr>
                <a:t>A</a:t>
              </a:r>
              <a:r>
                <a:rPr lang="ja-JP" altLang="en-US" sz="1400" dirty="0">
                  <a:solidFill>
                    <a:srgbClr val="0000FF"/>
                  </a:solidFill>
                  <a:latin typeface="Arial" charset="0"/>
                  <a:cs typeface="Arial" charset="0"/>
                </a:rPr>
                <a:t>’</a:t>
              </a:r>
              <a:r>
                <a:rPr lang="en-US" sz="1400" dirty="0">
                  <a:solidFill>
                    <a:srgbClr val="0000FF"/>
                  </a:solidFill>
                  <a:latin typeface="Arial" charset="0"/>
                  <a:cs typeface="Arial" charset="0"/>
                </a:rPr>
                <a:t>s signal</a:t>
              </a:r>
            </a:p>
            <a:p>
              <a:pPr>
                <a:defRPr/>
              </a:pPr>
              <a:r>
                <a:rPr lang="en-US" sz="1400" dirty="0">
                  <a:solidFill>
                    <a:srgbClr val="0000FF"/>
                  </a:solidFill>
                  <a:latin typeface="Arial" charset="0"/>
                  <a:cs typeface="Arial" charset="0"/>
                </a:rPr>
                <a:t>strength</a:t>
              </a:r>
            </a:p>
          </p:txBody>
        </p:sp>
        <p:sp>
          <p:nvSpPr>
            <p:cNvPr id="30" name="Line 60"/>
            <p:cNvSpPr>
              <a:spLocks noChangeShapeType="1"/>
            </p:cNvSpPr>
            <p:nvPr/>
          </p:nvSpPr>
          <p:spPr bwMode="auto">
            <a:xfrm>
              <a:off x="5078413" y="4148138"/>
              <a:ext cx="3263900" cy="0"/>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dirty="0">
                <a:cs typeface="+mn-cs"/>
              </a:endParaRPr>
            </a:p>
          </p:txBody>
        </p:sp>
        <p:sp>
          <p:nvSpPr>
            <p:cNvPr id="31" name="Line 61"/>
            <p:cNvSpPr>
              <a:spLocks noChangeShapeType="1"/>
            </p:cNvSpPr>
            <p:nvPr/>
          </p:nvSpPr>
          <p:spPr bwMode="auto">
            <a:xfrm>
              <a:off x="5024438" y="2968625"/>
              <a:ext cx="0" cy="1138238"/>
            </a:xfrm>
            <a:prstGeom prst="line">
              <a:avLst/>
            </a:prstGeom>
            <a:noFill/>
            <a:ln w="9525">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dirty="0">
                <a:cs typeface="+mn-cs"/>
              </a:endParaRPr>
            </a:p>
          </p:txBody>
        </p:sp>
        <p:sp>
          <p:nvSpPr>
            <p:cNvPr id="32" name="Freeform 62"/>
            <p:cNvSpPr>
              <a:spLocks/>
            </p:cNvSpPr>
            <p:nvPr/>
          </p:nvSpPr>
          <p:spPr bwMode="auto">
            <a:xfrm>
              <a:off x="5106988" y="3024188"/>
              <a:ext cx="2995612" cy="1081087"/>
            </a:xfrm>
            <a:custGeom>
              <a:avLst/>
              <a:gdLst>
                <a:gd name="T0" fmla="*/ 0 w 1887"/>
                <a:gd name="T1" fmla="*/ 0 h 681"/>
                <a:gd name="T2" fmla="*/ 2147483647 w 1887"/>
                <a:gd name="T3" fmla="*/ 2147483647 h 681"/>
                <a:gd name="T4" fmla="*/ 2147483647 w 1887"/>
                <a:gd name="T5" fmla="*/ 2147483647 h 681"/>
                <a:gd name="T6" fmla="*/ 2147483647 w 1887"/>
                <a:gd name="T7" fmla="*/ 2147483647 h 68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887" h="681">
                  <a:moveTo>
                    <a:pt x="0" y="0"/>
                  </a:moveTo>
                  <a:cubicBezTo>
                    <a:pt x="161" y="25"/>
                    <a:pt x="737" y="52"/>
                    <a:pt x="966" y="151"/>
                  </a:cubicBezTo>
                  <a:cubicBezTo>
                    <a:pt x="1195" y="250"/>
                    <a:pt x="1220" y="507"/>
                    <a:pt x="1373" y="594"/>
                  </a:cubicBezTo>
                  <a:cubicBezTo>
                    <a:pt x="1526" y="681"/>
                    <a:pt x="1780" y="657"/>
                    <a:pt x="1887" y="673"/>
                  </a:cubicBezTo>
                </a:path>
              </a:pathLst>
            </a:custGeom>
            <a:noFill/>
            <a:ln w="38100" cap="flat" cmpd="sng">
              <a:solidFill>
                <a:srgbClr val="0000FF"/>
              </a:solidFill>
              <a:prstDash val="solid"/>
              <a:round/>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lstStyle/>
            <a:p>
              <a:endParaRPr lang="en-US" dirty="0"/>
            </a:p>
          </p:txBody>
        </p:sp>
        <p:sp>
          <p:nvSpPr>
            <p:cNvPr id="33" name="Text Box 63"/>
            <p:cNvSpPr txBox="1">
              <a:spLocks noChangeArrowheads="1"/>
            </p:cNvSpPr>
            <p:nvPr/>
          </p:nvSpPr>
          <p:spPr bwMode="auto">
            <a:xfrm>
              <a:off x="6362700" y="4111625"/>
              <a:ext cx="593725" cy="27622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sz="1200" dirty="0">
                  <a:latin typeface="Arial" charset="0"/>
                  <a:cs typeface="Arial" charset="0"/>
                </a:rPr>
                <a:t>space</a:t>
              </a:r>
            </a:p>
          </p:txBody>
        </p:sp>
        <p:sp>
          <p:nvSpPr>
            <p:cNvPr id="34" name="Freeform 65"/>
            <p:cNvSpPr>
              <a:spLocks/>
            </p:cNvSpPr>
            <p:nvPr/>
          </p:nvSpPr>
          <p:spPr bwMode="auto">
            <a:xfrm flipH="1">
              <a:off x="5202238" y="2994025"/>
              <a:ext cx="2995612" cy="1081088"/>
            </a:xfrm>
            <a:custGeom>
              <a:avLst/>
              <a:gdLst>
                <a:gd name="T0" fmla="*/ 0 w 1887"/>
                <a:gd name="T1" fmla="*/ 0 h 681"/>
                <a:gd name="T2" fmla="*/ 2147483647 w 1887"/>
                <a:gd name="T3" fmla="*/ 2147483647 h 681"/>
                <a:gd name="T4" fmla="*/ 2147483647 w 1887"/>
                <a:gd name="T5" fmla="*/ 2147483647 h 681"/>
                <a:gd name="T6" fmla="*/ 2147483647 w 1887"/>
                <a:gd name="T7" fmla="*/ 2147483647 h 68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887" h="681">
                  <a:moveTo>
                    <a:pt x="0" y="0"/>
                  </a:moveTo>
                  <a:cubicBezTo>
                    <a:pt x="161" y="25"/>
                    <a:pt x="737" y="52"/>
                    <a:pt x="966" y="151"/>
                  </a:cubicBezTo>
                  <a:cubicBezTo>
                    <a:pt x="1195" y="250"/>
                    <a:pt x="1220" y="507"/>
                    <a:pt x="1373" y="594"/>
                  </a:cubicBezTo>
                  <a:cubicBezTo>
                    <a:pt x="1526" y="681"/>
                    <a:pt x="1780" y="657"/>
                    <a:pt x="1887" y="673"/>
                  </a:cubicBezTo>
                </a:path>
              </a:pathLst>
            </a:custGeom>
            <a:noFill/>
            <a:ln w="38100" cap="flat" cmpd="sng">
              <a:solidFill>
                <a:schemeClr val="accent2"/>
              </a:solidFill>
              <a:prstDash val="solid"/>
              <a:round/>
              <a:headEnd/>
              <a:tailE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lstStyle/>
            <a:p>
              <a:endParaRPr lang="en-US" dirty="0"/>
            </a:p>
          </p:txBody>
        </p:sp>
        <p:sp>
          <p:nvSpPr>
            <p:cNvPr id="35" name="Text Box 66"/>
            <p:cNvSpPr txBox="1">
              <a:spLocks noChangeArrowheads="1"/>
            </p:cNvSpPr>
            <p:nvPr/>
          </p:nvSpPr>
          <p:spPr bwMode="auto">
            <a:xfrm>
              <a:off x="7643813" y="3048000"/>
              <a:ext cx="958850" cy="523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a:solidFill>
                    <a:schemeClr val="tx1"/>
                  </a:solidFill>
                  <a:latin typeface="Comic Sans MS" charset="0"/>
                  <a:ea typeface="ＭＳ Ｐゴシック" charset="0"/>
                </a:defRPr>
              </a:lvl1pPr>
              <a:lvl2pPr marL="742950" indent="-285750">
                <a:defRPr>
                  <a:solidFill>
                    <a:schemeClr val="tx1"/>
                  </a:solidFill>
                  <a:latin typeface="Comic Sans MS" charset="0"/>
                  <a:ea typeface="ＭＳ Ｐゴシック" charset="0"/>
                </a:defRPr>
              </a:lvl2pPr>
              <a:lvl3pPr marL="1143000" indent="-228600">
                <a:defRPr>
                  <a:solidFill>
                    <a:schemeClr val="tx1"/>
                  </a:solidFill>
                  <a:latin typeface="Comic Sans MS" charset="0"/>
                  <a:ea typeface="ＭＳ Ｐゴシック" charset="0"/>
                </a:defRPr>
              </a:lvl3pPr>
              <a:lvl4pPr marL="1600200" indent="-228600">
                <a:defRPr>
                  <a:solidFill>
                    <a:schemeClr val="tx1"/>
                  </a:solidFill>
                  <a:latin typeface="Comic Sans MS" charset="0"/>
                  <a:ea typeface="ＭＳ Ｐゴシック" charset="0"/>
                </a:defRPr>
              </a:lvl4pPr>
              <a:lvl5pPr marL="2057400" indent="-228600">
                <a:defRPr>
                  <a:solidFill>
                    <a:schemeClr val="tx1"/>
                  </a:solidFill>
                  <a:latin typeface="Comic Sans MS" charset="0"/>
                  <a:ea typeface="ＭＳ Ｐゴシック" charset="0"/>
                </a:defRPr>
              </a:lvl5pPr>
              <a:lvl6pPr marL="2514600" indent="-228600" eaLnBrk="0" fontAlgn="base" hangingPunct="0">
                <a:spcBef>
                  <a:spcPct val="0"/>
                </a:spcBef>
                <a:spcAft>
                  <a:spcPct val="0"/>
                </a:spcAft>
                <a:defRPr>
                  <a:solidFill>
                    <a:schemeClr val="tx1"/>
                  </a:solidFill>
                  <a:latin typeface="Comic Sans MS" charset="0"/>
                  <a:ea typeface="ＭＳ Ｐゴシック" charset="0"/>
                </a:defRPr>
              </a:lvl6pPr>
              <a:lvl7pPr marL="2971800" indent="-228600" eaLnBrk="0" fontAlgn="base" hangingPunct="0">
                <a:spcBef>
                  <a:spcPct val="0"/>
                </a:spcBef>
                <a:spcAft>
                  <a:spcPct val="0"/>
                </a:spcAft>
                <a:defRPr>
                  <a:solidFill>
                    <a:schemeClr val="tx1"/>
                  </a:solidFill>
                  <a:latin typeface="Comic Sans MS" charset="0"/>
                  <a:ea typeface="ＭＳ Ｐゴシック" charset="0"/>
                </a:defRPr>
              </a:lvl7pPr>
              <a:lvl8pPr marL="3429000" indent="-228600" eaLnBrk="0" fontAlgn="base" hangingPunct="0">
                <a:spcBef>
                  <a:spcPct val="0"/>
                </a:spcBef>
                <a:spcAft>
                  <a:spcPct val="0"/>
                </a:spcAft>
                <a:defRPr>
                  <a:solidFill>
                    <a:schemeClr val="tx1"/>
                  </a:solidFill>
                  <a:latin typeface="Comic Sans MS" charset="0"/>
                  <a:ea typeface="ＭＳ Ｐゴシック" charset="0"/>
                </a:defRPr>
              </a:lvl8pPr>
              <a:lvl9pPr marL="3886200" indent="-228600" eaLnBrk="0" fontAlgn="base" hangingPunct="0">
                <a:spcBef>
                  <a:spcPct val="0"/>
                </a:spcBef>
                <a:spcAft>
                  <a:spcPct val="0"/>
                </a:spcAft>
                <a:defRPr>
                  <a:solidFill>
                    <a:schemeClr val="tx1"/>
                  </a:solidFill>
                  <a:latin typeface="Comic Sans MS" charset="0"/>
                  <a:ea typeface="ＭＳ Ｐゴシック" charset="0"/>
                </a:defRPr>
              </a:lvl9pPr>
            </a:lstStyle>
            <a:p>
              <a:pPr>
                <a:defRPr/>
              </a:pPr>
              <a:r>
                <a:rPr lang="en-US" sz="1400" dirty="0">
                  <a:solidFill>
                    <a:schemeClr val="accent2"/>
                  </a:solidFill>
                  <a:latin typeface="Arial" charset="0"/>
                  <a:cs typeface="Arial" charset="0"/>
                </a:rPr>
                <a:t>C</a:t>
              </a:r>
              <a:r>
                <a:rPr lang="ja-JP" altLang="en-US" sz="1400">
                  <a:solidFill>
                    <a:schemeClr val="accent2"/>
                  </a:solidFill>
                  <a:latin typeface="Arial" charset="0"/>
                  <a:cs typeface="Arial" charset="0"/>
                </a:rPr>
                <a:t>’</a:t>
              </a:r>
              <a:r>
                <a:rPr lang="en-US" sz="1400" dirty="0">
                  <a:solidFill>
                    <a:schemeClr val="accent2"/>
                  </a:solidFill>
                  <a:latin typeface="Arial" charset="0"/>
                  <a:cs typeface="Arial" charset="0"/>
                </a:rPr>
                <a:t>s signal</a:t>
              </a:r>
            </a:p>
            <a:p>
              <a:pPr>
                <a:defRPr/>
              </a:pPr>
              <a:r>
                <a:rPr lang="en-US" sz="1400" dirty="0">
                  <a:solidFill>
                    <a:schemeClr val="accent2"/>
                  </a:solidFill>
                  <a:latin typeface="Arial" charset="0"/>
                  <a:cs typeface="Arial" charset="0"/>
                </a:rPr>
                <a:t>strength</a:t>
              </a:r>
            </a:p>
          </p:txBody>
        </p:sp>
        <p:sp>
          <p:nvSpPr>
            <p:cNvPr id="36" name="Line 67"/>
            <p:cNvSpPr>
              <a:spLocks noChangeShapeType="1"/>
            </p:cNvSpPr>
            <p:nvPr/>
          </p:nvSpPr>
          <p:spPr bwMode="auto">
            <a:xfrm flipH="1">
              <a:off x="5403850" y="2855913"/>
              <a:ext cx="26988" cy="1263650"/>
            </a:xfrm>
            <a:prstGeom prst="line">
              <a:avLst/>
            </a:prstGeom>
            <a:noFill/>
            <a:ln w="9525">
              <a:solidFill>
                <a:schemeClr val="tx1"/>
              </a:solidFill>
              <a:prstDash val="sysDot"/>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dirty="0">
                <a:cs typeface="+mn-cs"/>
              </a:endParaRPr>
            </a:p>
          </p:txBody>
        </p:sp>
        <p:sp>
          <p:nvSpPr>
            <p:cNvPr id="37" name="Line 68"/>
            <p:cNvSpPr>
              <a:spLocks noChangeShapeType="1"/>
            </p:cNvSpPr>
            <p:nvPr/>
          </p:nvSpPr>
          <p:spPr bwMode="auto">
            <a:xfrm>
              <a:off x="6624638" y="2924175"/>
              <a:ext cx="0" cy="1208088"/>
            </a:xfrm>
            <a:prstGeom prst="line">
              <a:avLst/>
            </a:prstGeom>
            <a:noFill/>
            <a:ln w="9525">
              <a:solidFill>
                <a:schemeClr val="tx1"/>
              </a:solidFill>
              <a:prstDash val="sysDot"/>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dirty="0">
                <a:cs typeface="+mn-cs"/>
              </a:endParaRPr>
            </a:p>
          </p:txBody>
        </p:sp>
        <p:sp>
          <p:nvSpPr>
            <p:cNvPr id="38" name="Line 69"/>
            <p:cNvSpPr>
              <a:spLocks noChangeShapeType="1"/>
            </p:cNvSpPr>
            <p:nvPr/>
          </p:nvSpPr>
          <p:spPr bwMode="auto">
            <a:xfrm>
              <a:off x="7705725" y="2908300"/>
              <a:ext cx="0" cy="1181100"/>
            </a:xfrm>
            <a:prstGeom prst="line">
              <a:avLst/>
            </a:prstGeom>
            <a:noFill/>
            <a:ln w="9525">
              <a:solidFill>
                <a:schemeClr val="tx1"/>
              </a:solidFill>
              <a:prstDash val="sysDot"/>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a:defRPr/>
              </a:pPr>
              <a:endParaRPr lang="en-US" dirty="0">
                <a:cs typeface="+mn-cs"/>
              </a:endParaRPr>
            </a:p>
          </p:txBody>
        </p:sp>
        <p:grpSp>
          <p:nvGrpSpPr>
            <p:cNvPr id="39" name="Group 356"/>
            <p:cNvGrpSpPr>
              <a:grpSpLocks/>
            </p:cNvGrpSpPr>
            <p:nvPr/>
          </p:nvGrpSpPr>
          <p:grpSpPr bwMode="auto">
            <a:xfrm>
              <a:off x="5130800" y="2154238"/>
              <a:ext cx="627063" cy="642937"/>
              <a:chOff x="313" y="1497"/>
              <a:chExt cx="1152" cy="1014"/>
            </a:xfrm>
          </p:grpSpPr>
          <p:pic>
            <p:nvPicPr>
              <p:cNvPr id="46" name="Picture 354" descr="laptop_stylized_smal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 y="1727"/>
                <a:ext cx="1152" cy="7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47" name="Picture 355" descr="antenna_styliz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 y="1497"/>
                <a:ext cx="1113"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grpSp>
          <p:nvGrpSpPr>
            <p:cNvPr id="40" name="Group 356"/>
            <p:cNvGrpSpPr>
              <a:grpSpLocks/>
            </p:cNvGrpSpPr>
            <p:nvPr/>
          </p:nvGrpSpPr>
          <p:grpSpPr bwMode="auto">
            <a:xfrm>
              <a:off x="6319838" y="2193925"/>
              <a:ext cx="627062" cy="644525"/>
              <a:chOff x="313" y="1497"/>
              <a:chExt cx="1152" cy="1014"/>
            </a:xfrm>
          </p:grpSpPr>
          <p:pic>
            <p:nvPicPr>
              <p:cNvPr id="44" name="Picture 354" descr="laptop_stylized_smal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 y="1727"/>
                <a:ext cx="1152" cy="7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45" name="Picture 355" descr="antenna_styliz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 y="1497"/>
                <a:ext cx="1113"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grpSp>
          <p:nvGrpSpPr>
            <p:cNvPr id="41" name="Group 356"/>
            <p:cNvGrpSpPr>
              <a:grpSpLocks/>
            </p:cNvGrpSpPr>
            <p:nvPr/>
          </p:nvGrpSpPr>
          <p:grpSpPr bwMode="auto">
            <a:xfrm>
              <a:off x="7396163" y="2124075"/>
              <a:ext cx="627062" cy="642938"/>
              <a:chOff x="313" y="1497"/>
              <a:chExt cx="1152" cy="1014"/>
            </a:xfrm>
          </p:grpSpPr>
          <p:pic>
            <p:nvPicPr>
              <p:cNvPr id="42" name="Picture 354" descr="laptop_stylized_smal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 y="1727"/>
                <a:ext cx="1152" cy="7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43" name="Picture 355" descr="antenna_styliz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 y="1497"/>
                <a:ext cx="1113"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grpSp>
    </p:spTree>
    <p:extLst>
      <p:ext uri="{BB962C8B-B14F-4D97-AF65-F5344CB8AC3E}">
        <p14:creationId xmlns:p14="http://schemas.microsoft.com/office/powerpoint/2010/main" val="1789826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p:txBody>
          <a:bodyPr/>
          <a:lstStyle/>
          <a:p>
            <a:r>
              <a:rPr lang="en-US" dirty="0"/>
              <a:t>CSMA/CA</a:t>
            </a:r>
          </a:p>
        </p:txBody>
      </p:sp>
      <p:sp>
        <p:nvSpPr>
          <p:cNvPr id="1080323" name="Rectangle 3"/>
          <p:cNvSpPr>
            <a:spLocks noGrp="1" noChangeArrowheads="1"/>
          </p:cNvSpPr>
          <p:nvPr>
            <p:ph idx="1"/>
          </p:nvPr>
        </p:nvSpPr>
        <p:spPr>
          <a:xfrm>
            <a:off x="685800" y="3262313"/>
            <a:ext cx="7924800" cy="2757487"/>
          </a:xfrm>
        </p:spPr>
        <p:txBody>
          <a:bodyPr/>
          <a:lstStyle/>
          <a:p>
            <a:r>
              <a:rPr lang="en-US" dirty="0"/>
              <a:t>Before every data transmission </a:t>
            </a:r>
          </a:p>
          <a:p>
            <a:pPr lvl="1"/>
            <a:r>
              <a:rPr lang="en-US" dirty="0"/>
              <a:t>Sender sends a Request to Send (RTS) frame with the length of transmission and the destination</a:t>
            </a:r>
          </a:p>
          <a:p>
            <a:pPr lvl="1"/>
            <a:r>
              <a:rPr lang="en-US" dirty="0"/>
              <a:t>Receiver respond with a Clear to Send (CTS) frame</a:t>
            </a:r>
          </a:p>
          <a:p>
            <a:pPr lvl="1"/>
            <a:r>
              <a:rPr lang="en-US" dirty="0"/>
              <a:t>Sender sends data</a:t>
            </a:r>
          </a:p>
          <a:p>
            <a:pPr lvl="1"/>
            <a:r>
              <a:rPr lang="en-US" dirty="0"/>
              <a:t>Receiver sends an ACK</a:t>
            </a:r>
          </a:p>
          <a:p>
            <a:r>
              <a:rPr lang="en-US" dirty="0"/>
              <a:t>If sender doesn’</a:t>
            </a:r>
            <a:r>
              <a:rPr lang="en-US" altLang="ja-JP" dirty="0"/>
              <a:t>t get a CTS back, it assumes collision </a:t>
            </a:r>
            <a:endParaRPr lang="en-US" dirty="0"/>
          </a:p>
        </p:txBody>
      </p:sp>
      <p:sp>
        <p:nvSpPr>
          <p:cNvPr id="32773" name="Line 4"/>
          <p:cNvSpPr>
            <a:spLocks noChangeShapeType="1"/>
          </p:cNvSpPr>
          <p:nvPr/>
        </p:nvSpPr>
        <p:spPr bwMode="auto">
          <a:xfrm flipH="1">
            <a:off x="1090612" y="1828800"/>
            <a:ext cx="0" cy="14478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74" name="Line 5"/>
          <p:cNvSpPr>
            <a:spLocks noChangeShapeType="1"/>
          </p:cNvSpPr>
          <p:nvPr/>
        </p:nvSpPr>
        <p:spPr bwMode="auto">
          <a:xfrm>
            <a:off x="3605212" y="1905000"/>
            <a:ext cx="0" cy="14478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75" name="Line 6"/>
          <p:cNvSpPr>
            <a:spLocks noChangeShapeType="1"/>
          </p:cNvSpPr>
          <p:nvPr/>
        </p:nvSpPr>
        <p:spPr bwMode="auto">
          <a:xfrm>
            <a:off x="5662612" y="1905000"/>
            <a:ext cx="0" cy="14478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76" name="Text Box 7"/>
          <p:cNvSpPr txBox="1">
            <a:spLocks noChangeArrowheads="1"/>
          </p:cNvSpPr>
          <p:nvPr/>
        </p:nvSpPr>
        <p:spPr bwMode="auto">
          <a:xfrm>
            <a:off x="672034" y="1495425"/>
            <a:ext cx="876844"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latin typeface="Arial" charset="0"/>
                <a:ea typeface="Arial" charset="0"/>
                <a:cs typeface="Arial" charset="0"/>
              </a:rPr>
              <a:t>Sender</a:t>
            </a:r>
          </a:p>
        </p:txBody>
      </p:sp>
      <p:sp>
        <p:nvSpPr>
          <p:cNvPr id="32777" name="Text Box 8"/>
          <p:cNvSpPr txBox="1">
            <a:spLocks noChangeArrowheads="1"/>
          </p:cNvSpPr>
          <p:nvPr/>
        </p:nvSpPr>
        <p:spPr bwMode="auto">
          <a:xfrm>
            <a:off x="3146172" y="1495425"/>
            <a:ext cx="1037144"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latin typeface="Arial" charset="0"/>
                <a:ea typeface="Arial" charset="0"/>
                <a:cs typeface="Arial" charset="0"/>
              </a:rPr>
              <a:t>Receiver</a:t>
            </a:r>
          </a:p>
        </p:txBody>
      </p:sp>
      <p:sp>
        <p:nvSpPr>
          <p:cNvPr id="32778" name="Text Box 9"/>
          <p:cNvSpPr txBox="1">
            <a:spLocks noChangeArrowheads="1"/>
          </p:cNvSpPr>
          <p:nvPr/>
        </p:nvSpPr>
        <p:spPr bwMode="auto">
          <a:xfrm>
            <a:off x="4863306" y="1371600"/>
            <a:ext cx="1641476" cy="5822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latin typeface="Arial" charset="0"/>
                <a:ea typeface="Arial" charset="0"/>
                <a:cs typeface="Arial" charset="0"/>
              </a:rPr>
              <a:t>Other node in </a:t>
            </a:r>
          </a:p>
          <a:p>
            <a:pPr algn="ctr"/>
            <a:r>
              <a:rPr lang="en-US" sz="1600" dirty="0">
                <a:latin typeface="Arial" charset="0"/>
                <a:ea typeface="Arial" charset="0"/>
                <a:cs typeface="Arial" charset="0"/>
              </a:rPr>
              <a:t>sender</a:t>
            </a:r>
            <a:r>
              <a:rPr lang="ja-JP" altLang="en-US" sz="1600" dirty="0">
                <a:latin typeface="Arial" charset="0"/>
                <a:ea typeface="Arial" charset="0"/>
                <a:cs typeface="Arial" charset="0"/>
              </a:rPr>
              <a:t>’</a:t>
            </a:r>
            <a:r>
              <a:rPr lang="en-US" altLang="ja-JP" sz="1600" dirty="0">
                <a:latin typeface="Arial" charset="0"/>
                <a:ea typeface="Arial" charset="0"/>
                <a:cs typeface="Arial" charset="0"/>
              </a:rPr>
              <a:t>s range</a:t>
            </a:r>
            <a:endParaRPr lang="en-US" sz="1600" dirty="0">
              <a:latin typeface="Arial" charset="0"/>
              <a:ea typeface="Arial" charset="0"/>
              <a:cs typeface="Arial" charset="0"/>
            </a:endParaRPr>
          </a:p>
        </p:txBody>
      </p:sp>
      <p:grpSp>
        <p:nvGrpSpPr>
          <p:cNvPr id="2" name="Group 10"/>
          <p:cNvGrpSpPr>
            <a:grpSpLocks/>
          </p:cNvGrpSpPr>
          <p:nvPr/>
        </p:nvGrpSpPr>
        <p:grpSpPr bwMode="auto">
          <a:xfrm>
            <a:off x="504825" y="1752600"/>
            <a:ext cx="5157787" cy="457200"/>
            <a:chOff x="927" y="1104"/>
            <a:chExt cx="3249" cy="288"/>
          </a:xfrm>
        </p:grpSpPr>
        <p:sp>
          <p:nvSpPr>
            <p:cNvPr id="32792" name="Line 11"/>
            <p:cNvSpPr>
              <a:spLocks noChangeShapeType="1"/>
            </p:cNvSpPr>
            <p:nvPr/>
          </p:nvSpPr>
          <p:spPr bwMode="auto">
            <a:xfrm>
              <a:off x="1306" y="1200"/>
              <a:ext cx="2870" cy="192"/>
            </a:xfrm>
            <a:prstGeom prst="line">
              <a:avLst/>
            </a:prstGeom>
            <a:noFill/>
            <a:ln w="25400">
              <a:solidFill>
                <a:srgbClr val="D3A600"/>
              </a:solidFill>
              <a:round/>
              <a:headEnd/>
              <a:tailEnd type="triangle" w="med" len="me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93" name="Line 12"/>
            <p:cNvSpPr>
              <a:spLocks noChangeShapeType="1"/>
            </p:cNvSpPr>
            <p:nvPr/>
          </p:nvSpPr>
          <p:spPr bwMode="auto">
            <a:xfrm>
              <a:off x="1296" y="1200"/>
              <a:ext cx="1584" cy="192"/>
            </a:xfrm>
            <a:prstGeom prst="line">
              <a:avLst/>
            </a:prstGeom>
            <a:noFill/>
            <a:ln w="25400">
              <a:solidFill>
                <a:srgbClr val="D3A600"/>
              </a:solidFill>
              <a:round/>
              <a:headEnd/>
              <a:tailEnd type="triangle" w="med" len="me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94" name="Text Box 13"/>
            <p:cNvSpPr txBox="1">
              <a:spLocks noChangeArrowheads="1"/>
            </p:cNvSpPr>
            <p:nvPr/>
          </p:nvSpPr>
          <p:spPr bwMode="auto">
            <a:xfrm>
              <a:off x="927" y="1104"/>
              <a:ext cx="370" cy="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solidFill>
                    <a:srgbClr val="D3A600"/>
                  </a:solidFill>
                  <a:latin typeface="Arial" charset="0"/>
                  <a:ea typeface="Arial" charset="0"/>
                  <a:cs typeface="Arial" charset="0"/>
                </a:rPr>
                <a:t>RTS</a:t>
              </a:r>
            </a:p>
          </p:txBody>
        </p:sp>
      </p:grpSp>
      <p:grpSp>
        <p:nvGrpSpPr>
          <p:cNvPr id="3" name="Group 14"/>
          <p:cNvGrpSpPr>
            <a:grpSpLocks/>
          </p:cNvGrpSpPr>
          <p:nvPr/>
        </p:nvGrpSpPr>
        <p:grpSpPr bwMode="auto">
          <a:xfrm>
            <a:off x="481012" y="2819400"/>
            <a:ext cx="5181600" cy="398463"/>
            <a:chOff x="912" y="1776"/>
            <a:chExt cx="3264" cy="251"/>
          </a:xfrm>
        </p:grpSpPr>
        <p:sp>
          <p:nvSpPr>
            <p:cNvPr id="32789" name="Line 15"/>
            <p:cNvSpPr>
              <a:spLocks noChangeShapeType="1"/>
            </p:cNvSpPr>
            <p:nvPr/>
          </p:nvSpPr>
          <p:spPr bwMode="auto">
            <a:xfrm flipH="1">
              <a:off x="1296" y="1776"/>
              <a:ext cx="1584" cy="144"/>
            </a:xfrm>
            <a:prstGeom prst="line">
              <a:avLst/>
            </a:prstGeom>
            <a:noFill/>
            <a:ln w="25400">
              <a:solidFill>
                <a:srgbClr val="0000FF"/>
              </a:solidFill>
              <a:round/>
              <a:headEnd/>
              <a:tailEnd type="triangle" w="med" len="me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90" name="Line 16"/>
            <p:cNvSpPr>
              <a:spLocks noChangeShapeType="1"/>
            </p:cNvSpPr>
            <p:nvPr/>
          </p:nvSpPr>
          <p:spPr bwMode="auto">
            <a:xfrm>
              <a:off x="2880" y="1776"/>
              <a:ext cx="1296" cy="96"/>
            </a:xfrm>
            <a:prstGeom prst="line">
              <a:avLst/>
            </a:prstGeom>
            <a:noFill/>
            <a:ln w="25400">
              <a:solidFill>
                <a:srgbClr val="0000FF"/>
              </a:solidFill>
              <a:prstDash val="sysDash"/>
              <a:round/>
              <a:headEnd/>
              <a:tailEnd type="triangle" w="med" len="me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91" name="Text Box 17"/>
            <p:cNvSpPr txBox="1">
              <a:spLocks noChangeArrowheads="1"/>
            </p:cNvSpPr>
            <p:nvPr/>
          </p:nvSpPr>
          <p:spPr bwMode="auto">
            <a:xfrm>
              <a:off x="912" y="1815"/>
              <a:ext cx="394"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5400">
                  <a:solidFill>
                    <a:srgbClr val="000000"/>
                  </a:solidFill>
                  <a:prstDash val="sysDash"/>
                  <a:round/>
                  <a:headEnd/>
                  <a:tailEnd type="triangle" w="med" len="me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solidFill>
                    <a:srgbClr val="0000FF"/>
                  </a:solidFill>
                  <a:latin typeface="Arial" charset="0"/>
                  <a:ea typeface="Arial" charset="0"/>
                  <a:cs typeface="Arial" charset="0"/>
                </a:rPr>
                <a:t>ACK</a:t>
              </a:r>
            </a:p>
          </p:txBody>
        </p:sp>
      </p:grpSp>
      <p:grpSp>
        <p:nvGrpSpPr>
          <p:cNvPr id="4" name="Group 18"/>
          <p:cNvGrpSpPr>
            <a:grpSpLocks/>
          </p:cNvGrpSpPr>
          <p:nvPr/>
        </p:nvGrpSpPr>
        <p:grpSpPr bwMode="auto">
          <a:xfrm>
            <a:off x="457200" y="2362200"/>
            <a:ext cx="3148013" cy="381000"/>
            <a:chOff x="897" y="1488"/>
            <a:chExt cx="1983" cy="240"/>
          </a:xfrm>
        </p:grpSpPr>
        <p:sp>
          <p:nvSpPr>
            <p:cNvPr id="32787" name="Line 19"/>
            <p:cNvSpPr>
              <a:spLocks noChangeShapeType="1"/>
            </p:cNvSpPr>
            <p:nvPr/>
          </p:nvSpPr>
          <p:spPr bwMode="auto">
            <a:xfrm>
              <a:off x="1296" y="1536"/>
              <a:ext cx="1584" cy="192"/>
            </a:xfrm>
            <a:prstGeom prst="line">
              <a:avLst/>
            </a:prstGeom>
            <a:noFill/>
            <a:ln w="25400">
              <a:solidFill>
                <a:schemeClr val="accent2"/>
              </a:solidFill>
              <a:round/>
              <a:headEnd/>
              <a:tailEnd type="triangle" w="med" len="med"/>
            </a:ln>
            <a:extLst>
              <a:ext uri="{909E8E84-426E-40DD-AFC4-6F175D3DCCD1}">
                <a14:hiddenFill xmlns:a14="http://schemas.microsoft.com/office/drawing/2010/main">
                  <a:noFill/>
                </a14:hiddenFill>
              </a:ext>
            </a:extLst>
          </p:spPr>
          <p:txBody>
            <a:bodyPr lIns="90488" tIns="44450" rIns="90488" bIns="44450"/>
            <a:lstStyle/>
            <a:p>
              <a:endParaRPr lang="en-US">
                <a:solidFill>
                  <a:schemeClr val="accent2"/>
                </a:solidFill>
                <a:ea typeface="Arial" charset="0"/>
                <a:cs typeface="Arial" charset="0"/>
              </a:endParaRPr>
            </a:p>
          </p:txBody>
        </p:sp>
        <p:sp>
          <p:nvSpPr>
            <p:cNvPr id="32788" name="Text Box 20"/>
            <p:cNvSpPr txBox="1">
              <a:spLocks noChangeArrowheads="1"/>
            </p:cNvSpPr>
            <p:nvPr/>
          </p:nvSpPr>
          <p:spPr bwMode="auto">
            <a:xfrm>
              <a:off x="897" y="1488"/>
              <a:ext cx="395"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solidFill>
                    <a:schemeClr val="accent2"/>
                  </a:solidFill>
                  <a:latin typeface="Arial" charset="0"/>
                  <a:ea typeface="Arial" charset="0"/>
                  <a:cs typeface="Arial" charset="0"/>
                </a:rPr>
                <a:t>Data</a:t>
              </a:r>
            </a:p>
          </p:txBody>
        </p:sp>
      </p:grpSp>
      <p:grpSp>
        <p:nvGrpSpPr>
          <p:cNvPr id="5" name="Group 21"/>
          <p:cNvGrpSpPr>
            <a:grpSpLocks/>
          </p:cNvGrpSpPr>
          <p:nvPr/>
        </p:nvGrpSpPr>
        <p:grpSpPr bwMode="auto">
          <a:xfrm>
            <a:off x="481012" y="2133600"/>
            <a:ext cx="5181600" cy="381000"/>
            <a:chOff x="912" y="1344"/>
            <a:chExt cx="3264" cy="240"/>
          </a:xfrm>
        </p:grpSpPr>
        <p:grpSp>
          <p:nvGrpSpPr>
            <p:cNvPr id="32783" name="Group 22"/>
            <p:cNvGrpSpPr>
              <a:grpSpLocks/>
            </p:cNvGrpSpPr>
            <p:nvPr/>
          </p:nvGrpSpPr>
          <p:grpSpPr bwMode="auto">
            <a:xfrm>
              <a:off x="912" y="1344"/>
              <a:ext cx="1968" cy="210"/>
              <a:chOff x="912" y="1344"/>
              <a:chExt cx="1968" cy="210"/>
            </a:xfrm>
          </p:grpSpPr>
          <p:sp>
            <p:nvSpPr>
              <p:cNvPr id="32785" name="Line 23"/>
              <p:cNvSpPr>
                <a:spLocks noChangeShapeType="1"/>
              </p:cNvSpPr>
              <p:nvPr/>
            </p:nvSpPr>
            <p:spPr bwMode="auto">
              <a:xfrm flipH="1">
                <a:off x="1296" y="1440"/>
                <a:ext cx="1584" cy="48"/>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32786" name="Text Box 24"/>
              <p:cNvSpPr txBox="1">
                <a:spLocks noChangeArrowheads="1"/>
              </p:cNvSpPr>
              <p:nvPr/>
            </p:nvSpPr>
            <p:spPr bwMode="auto">
              <a:xfrm>
                <a:off x="912" y="1344"/>
                <a:ext cx="370" cy="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latin typeface="Arial" charset="0"/>
                    <a:ea typeface="Arial" charset="0"/>
                    <a:cs typeface="Arial" charset="0"/>
                  </a:rPr>
                  <a:t>CTS</a:t>
                </a:r>
              </a:p>
            </p:txBody>
          </p:sp>
        </p:grpSp>
        <p:sp>
          <p:nvSpPr>
            <p:cNvPr id="32784" name="Line 25"/>
            <p:cNvSpPr>
              <a:spLocks noChangeShapeType="1"/>
            </p:cNvSpPr>
            <p:nvPr/>
          </p:nvSpPr>
          <p:spPr bwMode="auto">
            <a:xfrm>
              <a:off x="2880" y="1440"/>
              <a:ext cx="1296" cy="144"/>
            </a:xfrm>
            <a:prstGeom prst="line">
              <a:avLst/>
            </a:prstGeom>
            <a:noFill/>
            <a:ln w="28575">
              <a:solidFill>
                <a:schemeClr val="tx1"/>
              </a:solidFill>
              <a:prstDash val="sys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ea typeface="Arial" charset="0"/>
                <a:cs typeface="Arial" charset="0"/>
              </a:endParaRPr>
            </a:p>
          </p:txBody>
        </p:sp>
      </p:grpSp>
      <p:sp>
        <p:nvSpPr>
          <p:cNvPr id="10" name="Slide Number Placeholder 9"/>
          <p:cNvSpPr>
            <a:spLocks noGrp="1"/>
          </p:cNvSpPr>
          <p:nvPr>
            <p:ph type="sldNum" sz="quarter" idx="12"/>
          </p:nvPr>
        </p:nvSpPr>
        <p:spPr/>
        <p:txBody>
          <a:bodyPr/>
          <a:lstStyle/>
          <a:p>
            <a:fld id="{A190D881-957A-7944-A8D0-1584E528B88F}" type="slidenum">
              <a:rPr lang="en-US" smtClean="0"/>
              <a:pPr/>
              <a:t>60</a:t>
            </a:fld>
            <a:endParaRPr lang="en-US" dirty="0"/>
          </a:p>
        </p:txBody>
      </p:sp>
      <p:sp>
        <p:nvSpPr>
          <p:cNvPr id="7" name="Footer Placeholder 6">
            <a:extLst>
              <a:ext uri="{FF2B5EF4-FFF2-40B4-BE49-F238E27FC236}">
                <a16:creationId xmlns:a16="http://schemas.microsoft.com/office/drawing/2014/main" id="{6ED25473-8F75-E14F-ADDF-D5A03BF7871D}"/>
              </a:ext>
            </a:extLst>
          </p:cNvPr>
          <p:cNvSpPr>
            <a:spLocks noGrp="1"/>
          </p:cNvSpPr>
          <p:nvPr>
            <p:ph type="ftr" sz="quarter" idx="11"/>
          </p:nvPr>
        </p:nvSpPr>
        <p:spPr/>
        <p:txBody>
          <a:bodyPr/>
          <a:lstStyle/>
          <a:p>
            <a:r>
              <a:rPr lang="en-US"/>
              <a:t>EECS 489 – Final Review</a:t>
            </a:r>
            <a:endParaRPr lang="en-US" sz="1050" b="0" dirty="0">
              <a:latin typeface="Times New Roman" charset="0"/>
            </a:endParaRPr>
          </a:p>
        </p:txBody>
      </p:sp>
      <p:sp>
        <p:nvSpPr>
          <p:cNvPr id="28" name="Line 6">
            <a:extLst>
              <a:ext uri="{FF2B5EF4-FFF2-40B4-BE49-F238E27FC236}">
                <a16:creationId xmlns:a16="http://schemas.microsoft.com/office/drawing/2014/main" id="{60CFDF30-62B3-0748-8985-225304D46A03}"/>
              </a:ext>
            </a:extLst>
          </p:cNvPr>
          <p:cNvSpPr>
            <a:spLocks noChangeShapeType="1"/>
          </p:cNvSpPr>
          <p:nvPr/>
        </p:nvSpPr>
        <p:spPr bwMode="auto">
          <a:xfrm>
            <a:off x="7696200" y="1902372"/>
            <a:ext cx="0" cy="14478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
        <p:nvSpPr>
          <p:cNvPr id="29" name="Text Box 9">
            <a:extLst>
              <a:ext uri="{FF2B5EF4-FFF2-40B4-BE49-F238E27FC236}">
                <a16:creationId xmlns:a16="http://schemas.microsoft.com/office/drawing/2014/main" id="{AFC8F4BA-BE6C-8D4F-B899-891CD4D9DF5D}"/>
              </a:ext>
            </a:extLst>
          </p:cNvPr>
          <p:cNvSpPr txBox="1">
            <a:spLocks noChangeArrowheads="1"/>
          </p:cNvSpPr>
          <p:nvPr/>
        </p:nvSpPr>
        <p:spPr bwMode="auto">
          <a:xfrm>
            <a:off x="6865042" y="1339850"/>
            <a:ext cx="1662316" cy="5822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lgn="r" eaLnBrk="0" hangingPunct="0">
              <a:defRPr sz="2000" b="1">
                <a:solidFill>
                  <a:schemeClr val="tx1"/>
                </a:solidFill>
                <a:latin typeface="Courier New" pitchFamily="49" charset="0"/>
                <a:ea typeface="MS PGothic" pitchFamily="34" charset="-128"/>
              </a:defRPr>
            </a:lvl1pPr>
            <a:lvl2pPr marL="742950" indent="-285750" algn="r" eaLnBrk="0" hangingPunct="0">
              <a:defRPr sz="2000" b="1">
                <a:solidFill>
                  <a:schemeClr val="tx1"/>
                </a:solidFill>
                <a:latin typeface="Courier New" pitchFamily="49" charset="0"/>
                <a:ea typeface="MS PGothic" pitchFamily="34" charset="-128"/>
              </a:defRPr>
            </a:lvl2pPr>
            <a:lvl3pPr marL="1143000" indent="-228600" algn="r" eaLnBrk="0" hangingPunct="0">
              <a:defRPr sz="2000" b="1">
                <a:solidFill>
                  <a:schemeClr val="tx1"/>
                </a:solidFill>
                <a:latin typeface="Courier New" pitchFamily="49" charset="0"/>
                <a:ea typeface="MS PGothic" pitchFamily="34" charset="-128"/>
              </a:defRPr>
            </a:lvl3pPr>
            <a:lvl4pPr marL="1600200" indent="-228600" algn="r" eaLnBrk="0" hangingPunct="0">
              <a:defRPr sz="2000" b="1">
                <a:solidFill>
                  <a:schemeClr val="tx1"/>
                </a:solidFill>
                <a:latin typeface="Courier New" pitchFamily="49" charset="0"/>
                <a:ea typeface="MS PGothic" pitchFamily="34" charset="-128"/>
              </a:defRPr>
            </a:lvl4pPr>
            <a:lvl5pPr marL="2057400" indent="-228600" algn="r" eaLnBrk="0" hangingPunct="0">
              <a:defRPr sz="2000" b="1">
                <a:solidFill>
                  <a:schemeClr val="tx1"/>
                </a:solidFill>
                <a:latin typeface="Courier New" pitchFamily="49" charset="0"/>
                <a:ea typeface="MS PGothic" pitchFamily="34" charset="-128"/>
              </a:defRPr>
            </a:lvl5pPr>
            <a:lvl6pPr marL="25146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6pPr>
            <a:lvl7pPr marL="29718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7pPr>
            <a:lvl8pPr marL="34290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8pPr>
            <a:lvl9pPr marL="3886200" indent="-228600" algn="r" eaLnBrk="0" fontAlgn="base" hangingPunct="0">
              <a:spcBef>
                <a:spcPct val="0"/>
              </a:spcBef>
              <a:spcAft>
                <a:spcPct val="0"/>
              </a:spcAft>
              <a:defRPr sz="2000" b="1">
                <a:solidFill>
                  <a:schemeClr val="tx1"/>
                </a:solidFill>
                <a:latin typeface="Courier New" pitchFamily="49" charset="0"/>
                <a:ea typeface="MS PGothic" pitchFamily="34" charset="-128"/>
              </a:defRPr>
            </a:lvl9pPr>
          </a:lstStyle>
          <a:p>
            <a:pPr algn="ctr"/>
            <a:r>
              <a:rPr lang="en-US" sz="1600" dirty="0">
                <a:latin typeface="Arial" charset="0"/>
                <a:ea typeface="Arial" charset="0"/>
                <a:cs typeface="Arial" charset="0"/>
              </a:rPr>
              <a:t>Node outside</a:t>
            </a:r>
          </a:p>
          <a:p>
            <a:pPr algn="ctr"/>
            <a:r>
              <a:rPr lang="en-US" sz="1600" dirty="0">
                <a:latin typeface="Arial" charset="0"/>
                <a:ea typeface="Arial" charset="0"/>
                <a:cs typeface="Arial" charset="0"/>
              </a:rPr>
              <a:t>sender</a:t>
            </a:r>
            <a:r>
              <a:rPr lang="ja-JP" altLang="en-US" sz="1600" dirty="0">
                <a:latin typeface="Arial" charset="0"/>
                <a:ea typeface="Arial" charset="0"/>
                <a:cs typeface="Arial" charset="0"/>
              </a:rPr>
              <a:t>’</a:t>
            </a:r>
            <a:r>
              <a:rPr lang="en-US" altLang="ja-JP" sz="1600" dirty="0">
                <a:latin typeface="Arial" charset="0"/>
                <a:ea typeface="Arial" charset="0"/>
                <a:cs typeface="Arial" charset="0"/>
              </a:rPr>
              <a:t>s range</a:t>
            </a:r>
            <a:endParaRPr lang="en-US" sz="1600" dirty="0">
              <a:latin typeface="Arial" charset="0"/>
              <a:ea typeface="Arial" charset="0"/>
              <a:cs typeface="Arial" charset="0"/>
            </a:endParaRPr>
          </a:p>
        </p:txBody>
      </p:sp>
      <p:sp>
        <p:nvSpPr>
          <p:cNvPr id="30" name="Line 25">
            <a:extLst>
              <a:ext uri="{FF2B5EF4-FFF2-40B4-BE49-F238E27FC236}">
                <a16:creationId xmlns:a16="http://schemas.microsoft.com/office/drawing/2014/main" id="{FD186BFC-0281-A94C-8E7D-374F4A65DA5B}"/>
              </a:ext>
            </a:extLst>
          </p:cNvPr>
          <p:cNvSpPr>
            <a:spLocks noChangeShapeType="1"/>
          </p:cNvSpPr>
          <p:nvPr/>
        </p:nvSpPr>
        <p:spPr bwMode="auto">
          <a:xfrm>
            <a:off x="3605212" y="2283386"/>
            <a:ext cx="4090988" cy="245501"/>
          </a:xfrm>
          <a:prstGeom prst="line">
            <a:avLst/>
          </a:prstGeom>
          <a:noFill/>
          <a:ln w="28575">
            <a:solidFill>
              <a:schemeClr val="tx1"/>
            </a:solidFill>
            <a:prstDash val="sysDash"/>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ea typeface="Arial" charset="0"/>
              <a:cs typeface="Arial" charset="0"/>
            </a:endParaRPr>
          </a:p>
        </p:txBody>
      </p:sp>
      <p:sp>
        <p:nvSpPr>
          <p:cNvPr id="31" name="Line 16">
            <a:extLst>
              <a:ext uri="{FF2B5EF4-FFF2-40B4-BE49-F238E27FC236}">
                <a16:creationId xmlns:a16="http://schemas.microsoft.com/office/drawing/2014/main" id="{E2D87EC3-CDDF-784E-B0AB-35778B0D81BC}"/>
              </a:ext>
            </a:extLst>
          </p:cNvPr>
          <p:cNvSpPr>
            <a:spLocks noChangeShapeType="1"/>
          </p:cNvSpPr>
          <p:nvPr/>
        </p:nvSpPr>
        <p:spPr bwMode="auto">
          <a:xfrm>
            <a:off x="3589338" y="2816786"/>
            <a:ext cx="4106862" cy="169301"/>
          </a:xfrm>
          <a:prstGeom prst="line">
            <a:avLst/>
          </a:prstGeom>
          <a:noFill/>
          <a:ln w="25400">
            <a:solidFill>
              <a:srgbClr val="0000FF"/>
            </a:solidFill>
            <a:prstDash val="sysDash"/>
            <a:round/>
            <a:headEnd/>
            <a:tailEnd type="triangle" w="med" len="med"/>
          </a:ln>
          <a:extLst>
            <a:ext uri="{909E8E84-426E-40DD-AFC4-6F175D3DCCD1}">
              <a14:hiddenFill xmlns:a14="http://schemas.microsoft.com/office/drawing/2010/main">
                <a:noFill/>
              </a14:hiddenFill>
            </a:ext>
          </a:extLst>
        </p:spPr>
        <p:txBody>
          <a:bodyPr lIns="90488" tIns="44450" rIns="90488" bIns="44450"/>
          <a:lstStyle/>
          <a:p>
            <a:endParaRPr lang="en-US">
              <a:ea typeface="Arial" charset="0"/>
              <a:cs typeface="Arial" charset="0"/>
            </a:endParaRPr>
          </a:p>
        </p:txBody>
      </p:sp>
    </p:spTree>
    <p:extLst>
      <p:ext uri="{BB962C8B-B14F-4D97-AF65-F5344CB8AC3E}">
        <p14:creationId xmlns:p14="http://schemas.microsoft.com/office/powerpoint/2010/main" val="306903151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80323">
                                            <p:txEl>
                                              <p:pRg st="1" end="1"/>
                                            </p:txEl>
                                          </p:spTgt>
                                        </p:tgtEl>
                                        <p:attrNameLst>
                                          <p:attrName>style.visibility</p:attrName>
                                        </p:attrNameLst>
                                      </p:cBhvr>
                                      <p:to>
                                        <p:strVal val="visible"/>
                                      </p:to>
                                    </p:set>
                                  </p:childTnLst>
                                </p:cTn>
                              </p:par>
                              <p:par>
                                <p:cTn id="7" presetID="9" presetClass="entr" presetSubtype="0" fill="hold" nodeType="withEffect">
                                  <p:stCondLst>
                                    <p:cond delay="0"/>
                                  </p:stCondLst>
                                  <p:childTnLst>
                                    <p:set>
                                      <p:cBhvr>
                                        <p:cTn id="8" dur="1" fill="hold">
                                          <p:stCondLst>
                                            <p:cond delay="0"/>
                                          </p:stCondLst>
                                        </p:cTn>
                                        <p:tgtEl>
                                          <p:spTgt spid="2"/>
                                        </p:tgtEl>
                                        <p:attrNameLst>
                                          <p:attrName>style.visibility</p:attrName>
                                        </p:attrNameLst>
                                      </p:cBhvr>
                                      <p:to>
                                        <p:strVal val="visible"/>
                                      </p:to>
                                    </p:set>
                                    <p:animEffect transition="in" filter="dissolve">
                                      <p:cBhvr>
                                        <p:cTn id="9" dur="500"/>
                                        <p:tgtEl>
                                          <p:spTgt spid="2"/>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80323">
                                            <p:txEl>
                                              <p:pRg st="2" end="2"/>
                                            </p:txEl>
                                          </p:spTgt>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080323">
                                            <p:txEl>
                                              <p:pRg st="3" end="3"/>
                                            </p:txEl>
                                          </p:spTgt>
                                        </p:tgtEl>
                                        <p:attrNameLst>
                                          <p:attrName>style.visibility</p:attrName>
                                        </p:attrNameLst>
                                      </p:cBhvr>
                                      <p:to>
                                        <p:strVal val="visible"/>
                                      </p:to>
                                    </p:set>
                                  </p:childTnLst>
                                </p:cTn>
                              </p:par>
                              <p:par>
                                <p:cTn id="22" presetID="9" presetClass="entr" presetSubtype="0" fill="hold" nodeType="withEffect">
                                  <p:stCondLst>
                                    <p:cond delay="0"/>
                                  </p:stCondLst>
                                  <p:childTnLst>
                                    <p:set>
                                      <p:cBhvr>
                                        <p:cTn id="23" dur="1" fill="hold">
                                          <p:stCondLst>
                                            <p:cond delay="0"/>
                                          </p:stCondLst>
                                        </p:cTn>
                                        <p:tgtEl>
                                          <p:spTgt spid="4"/>
                                        </p:tgtEl>
                                        <p:attrNameLst>
                                          <p:attrName>style.visibility</p:attrName>
                                        </p:attrNameLst>
                                      </p:cBhvr>
                                      <p:to>
                                        <p:strVal val="visible"/>
                                      </p:to>
                                    </p:set>
                                    <p:animEffect transition="in" filter="dissolve">
                                      <p:cBhvr>
                                        <p:cTn id="24" dur="500"/>
                                        <p:tgtEl>
                                          <p:spTgt spid="4"/>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80323">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08032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0323" grpId="0" uiExpand="1" build="p"/>
      <p:bldP spid="30" grpId="0" animBg="1"/>
      <p:bldP spid="31"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79CBD-97E9-996B-FDA6-ECA0BD395A52}"/>
            </a:ext>
          </a:extLst>
        </p:cNvPr>
        <p:cNvGrpSpPr/>
        <p:nvPr/>
      </p:nvGrpSpPr>
      <p:grpSpPr>
        <a:xfrm>
          <a:off x="0" y="0"/>
          <a:ext cx="0" cy="0"/>
          <a:chOff x="0" y="0"/>
          <a:chExt cx="0" cy="0"/>
        </a:xfrm>
      </p:grpSpPr>
      <p:sp>
        <p:nvSpPr>
          <p:cNvPr id="1043458" name="Rectangle 2">
            <a:extLst>
              <a:ext uri="{FF2B5EF4-FFF2-40B4-BE49-F238E27FC236}">
                <a16:creationId xmlns:a16="http://schemas.microsoft.com/office/drawing/2014/main" id="{B8E70F31-57F3-1834-8B80-E3FDC891557D}"/>
              </a:ext>
            </a:extLst>
          </p:cNvPr>
          <p:cNvSpPr>
            <a:spLocks noGrp="1" noChangeArrowheads="1"/>
          </p:cNvSpPr>
          <p:nvPr>
            <p:ph type="title"/>
          </p:nvPr>
        </p:nvSpPr>
        <p:spPr/>
        <p:txBody>
          <a:bodyPr/>
          <a:lstStyle/>
          <a:p>
            <a:r>
              <a:rPr lang="en-US"/>
              <a:t>Topics</a:t>
            </a:r>
            <a:endParaRPr lang="en-US" dirty="0"/>
          </a:p>
        </p:txBody>
      </p:sp>
      <p:sp>
        <p:nvSpPr>
          <p:cNvPr id="1043459" name="Rectangle 3">
            <a:extLst>
              <a:ext uri="{FF2B5EF4-FFF2-40B4-BE49-F238E27FC236}">
                <a16:creationId xmlns:a16="http://schemas.microsoft.com/office/drawing/2014/main" id="{9F8C053D-FC17-C6B0-78EE-81A3DF91416A}"/>
              </a:ext>
            </a:extLst>
          </p:cNvPr>
          <p:cNvSpPr>
            <a:spLocks noGrp="1" noChangeArrowheads="1"/>
          </p:cNvSpPr>
          <p:nvPr>
            <p:ph idx="1"/>
          </p:nvPr>
        </p:nvSpPr>
        <p:spPr/>
        <p:txBody>
          <a:bodyPr/>
          <a:lstStyle/>
          <a:p>
            <a:r>
              <a:rPr lang="en-US" dirty="0">
                <a:solidFill>
                  <a:schemeClr val="bg1">
                    <a:lumMod val="50000"/>
                  </a:schemeClr>
                </a:solidFill>
              </a:rPr>
              <a:t>Network layer (lectures 10–15)</a:t>
            </a:r>
          </a:p>
          <a:p>
            <a:pPr lvl="1"/>
            <a:r>
              <a:rPr lang="en-US" dirty="0">
                <a:solidFill>
                  <a:schemeClr val="bg1">
                    <a:lumMod val="50000"/>
                  </a:schemeClr>
                </a:solidFill>
              </a:rPr>
              <a:t>Addressing</a:t>
            </a:r>
          </a:p>
          <a:p>
            <a:pPr lvl="1"/>
            <a:r>
              <a:rPr lang="en-US" dirty="0">
                <a:solidFill>
                  <a:schemeClr val="bg1">
                    <a:lumMod val="50000"/>
                  </a:schemeClr>
                </a:solidFill>
              </a:rPr>
              <a:t>Data plane</a:t>
            </a:r>
          </a:p>
          <a:p>
            <a:pPr lvl="1"/>
            <a:r>
              <a:rPr lang="en-US" dirty="0">
                <a:solidFill>
                  <a:schemeClr val="bg1">
                    <a:lumMod val="50000"/>
                  </a:schemeClr>
                </a:solidFill>
              </a:rPr>
              <a:t>Intra-domain routing </a:t>
            </a:r>
          </a:p>
          <a:p>
            <a:pPr lvl="1"/>
            <a:r>
              <a:rPr lang="en-US" dirty="0">
                <a:solidFill>
                  <a:schemeClr val="bg1">
                    <a:lumMod val="50000"/>
                  </a:schemeClr>
                </a:solidFill>
              </a:rPr>
              <a:t>Inter-domain routing</a:t>
            </a:r>
          </a:p>
          <a:p>
            <a:r>
              <a:rPr lang="en-US" dirty="0">
                <a:solidFill>
                  <a:schemeClr val="bg1">
                    <a:lumMod val="50000"/>
                  </a:schemeClr>
                </a:solidFill>
              </a:rPr>
              <a:t>SDN and programmable networks (lecture 16)</a:t>
            </a:r>
          </a:p>
          <a:p>
            <a:r>
              <a:rPr lang="en-US" dirty="0">
                <a:solidFill>
                  <a:schemeClr val="bg1">
                    <a:lumMod val="50000"/>
                  </a:schemeClr>
                </a:solidFill>
              </a:rPr>
              <a:t>Link layer (lectures 17–19)</a:t>
            </a:r>
          </a:p>
          <a:p>
            <a:pPr lvl="1"/>
            <a:r>
              <a:rPr lang="en-US" dirty="0">
                <a:solidFill>
                  <a:schemeClr val="bg1">
                    <a:lumMod val="50000"/>
                  </a:schemeClr>
                </a:solidFill>
              </a:rPr>
              <a:t>Ethernet</a:t>
            </a:r>
          </a:p>
          <a:p>
            <a:pPr lvl="1"/>
            <a:r>
              <a:rPr lang="en-US" dirty="0">
                <a:solidFill>
                  <a:schemeClr val="bg1">
                    <a:lumMod val="50000"/>
                  </a:schemeClr>
                </a:solidFill>
              </a:rPr>
              <a:t>Wireless</a:t>
            </a:r>
          </a:p>
          <a:p>
            <a:r>
              <a:rPr lang="en-US" dirty="0"/>
              <a:t>Datacenter networking (lecture 20)</a:t>
            </a:r>
          </a:p>
        </p:txBody>
      </p:sp>
      <p:sp>
        <p:nvSpPr>
          <p:cNvPr id="4" name="Date Placeholder 3">
            <a:extLst>
              <a:ext uri="{FF2B5EF4-FFF2-40B4-BE49-F238E27FC236}">
                <a16:creationId xmlns:a16="http://schemas.microsoft.com/office/drawing/2014/main" id="{DA732432-AAF1-6CF8-673A-E60BD4581206}"/>
              </a:ext>
            </a:extLst>
          </p:cNvPr>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a:extLst>
              <a:ext uri="{FF2B5EF4-FFF2-40B4-BE49-F238E27FC236}">
                <a16:creationId xmlns:a16="http://schemas.microsoft.com/office/drawing/2014/main" id="{04DC0A24-4B79-4A82-F973-ED2A93F55B45}"/>
              </a:ext>
            </a:extLst>
          </p:cNvPr>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a:extLst>
              <a:ext uri="{FF2B5EF4-FFF2-40B4-BE49-F238E27FC236}">
                <a16:creationId xmlns:a16="http://schemas.microsoft.com/office/drawing/2014/main" id="{2BD1FC5F-521B-DDD0-6FD5-482E8E4E7F74}"/>
              </a:ext>
            </a:extLst>
          </p:cNvPr>
          <p:cNvSpPr>
            <a:spLocks noGrp="1"/>
          </p:cNvSpPr>
          <p:nvPr>
            <p:ph type="sldNum" sz="quarter" idx="12"/>
          </p:nvPr>
        </p:nvSpPr>
        <p:spPr/>
        <p:txBody>
          <a:bodyPr/>
          <a:lstStyle/>
          <a:p>
            <a:fld id="{A190D881-957A-7944-A8D0-1584E528B88F}" type="slidenum">
              <a:rPr lang="en-US" smtClean="0"/>
              <a:pPr/>
              <a:t>61</a:t>
            </a:fld>
            <a:endParaRPr lang="en-US"/>
          </a:p>
        </p:txBody>
      </p:sp>
    </p:spTree>
    <p:extLst>
      <p:ext uri="{BB962C8B-B14F-4D97-AF65-F5344CB8AC3E}">
        <p14:creationId xmlns:p14="http://schemas.microsoft.com/office/powerpoint/2010/main" val="39047605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Title 1"/>
          <p:cNvSpPr>
            <a:spLocks noGrp="1"/>
          </p:cNvSpPr>
          <p:nvPr>
            <p:ph type="title"/>
          </p:nvPr>
        </p:nvSpPr>
        <p:spPr/>
        <p:txBody>
          <a:bodyPr/>
          <a:lstStyle/>
          <a:p>
            <a:r>
              <a:rPr lang="en-US" dirty="0"/>
              <a:t>Datacenter applications</a:t>
            </a:r>
          </a:p>
        </p:txBody>
      </p:sp>
      <p:sp>
        <p:nvSpPr>
          <p:cNvPr id="25602" name="Content Placeholder 2"/>
          <p:cNvSpPr>
            <a:spLocks noGrp="1"/>
          </p:cNvSpPr>
          <p:nvPr>
            <p:ph idx="1"/>
          </p:nvPr>
        </p:nvSpPr>
        <p:spPr/>
        <p:txBody>
          <a:bodyPr/>
          <a:lstStyle/>
          <a:p>
            <a:r>
              <a:rPr lang="en-US" dirty="0"/>
              <a:t>Common theme: </a:t>
            </a:r>
            <a:r>
              <a:rPr lang="en-US" dirty="0">
                <a:solidFill>
                  <a:srgbClr val="0000FF"/>
                </a:solidFill>
              </a:rPr>
              <a:t>parallelism</a:t>
            </a:r>
          </a:p>
          <a:p>
            <a:pPr lvl="1"/>
            <a:r>
              <a:rPr lang="en-US" dirty="0"/>
              <a:t>Applications decomposed into tasks</a:t>
            </a:r>
          </a:p>
          <a:p>
            <a:pPr lvl="1"/>
            <a:r>
              <a:rPr lang="en-US" dirty="0"/>
              <a:t>Running in parallel on different machines</a:t>
            </a:r>
          </a:p>
          <a:p>
            <a:r>
              <a:rPr lang="en-US" dirty="0"/>
              <a:t>Two common paradigms</a:t>
            </a:r>
          </a:p>
          <a:p>
            <a:pPr lvl="1"/>
            <a:r>
              <a:rPr lang="en-US" dirty="0"/>
              <a:t>Partition-Aggregate</a:t>
            </a:r>
          </a:p>
          <a:p>
            <a:pPr lvl="1"/>
            <a:r>
              <a:rPr lang="en-US" dirty="0"/>
              <a:t>Map-Reduce </a:t>
            </a:r>
          </a:p>
        </p:txBody>
      </p:sp>
      <p:sp>
        <p:nvSpPr>
          <p:cNvPr id="2" name="Date Placeholder 1"/>
          <p:cNvSpPr>
            <a:spLocks noGrp="1"/>
          </p:cNvSpPr>
          <p:nvPr>
            <p:ph type="dt" sz="half" idx="10"/>
          </p:nvPr>
        </p:nvSpPr>
        <p:spPr/>
        <p:txBody>
          <a:bodyPr/>
          <a:lstStyle/>
          <a:p>
            <a:r>
              <a:rPr lang="en-US"/>
              <a:t>April 16, 2025</a:t>
            </a:r>
            <a:endParaRPr lang="en-US" sz="1050" b="0">
              <a:latin typeface="Times New Roman" charset="0"/>
            </a:endParaRPr>
          </a:p>
        </p:txBody>
      </p:sp>
      <p:sp>
        <p:nvSpPr>
          <p:cNvPr id="3" name="Footer Placeholder 2"/>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4" name="Slide Number Placeholder 3"/>
          <p:cNvSpPr>
            <a:spLocks noGrp="1"/>
          </p:cNvSpPr>
          <p:nvPr>
            <p:ph type="sldNum" sz="quarter" idx="12"/>
          </p:nvPr>
        </p:nvSpPr>
        <p:spPr/>
        <p:txBody>
          <a:bodyPr/>
          <a:lstStyle/>
          <a:p>
            <a:fld id="{A190D881-957A-7944-A8D0-1584E528B88F}" type="slidenum">
              <a:rPr lang="en-US" smtClean="0"/>
              <a:pPr/>
              <a:t>62</a:t>
            </a:fld>
            <a:endParaRPr lang="en-US"/>
          </a:p>
        </p:txBody>
      </p:sp>
    </p:spTree>
    <p:extLst>
      <p:ext uri="{BB962C8B-B14F-4D97-AF65-F5344CB8AC3E}">
        <p14:creationId xmlns:p14="http://schemas.microsoft.com/office/powerpoint/2010/main" val="1675862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60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60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60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60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60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60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2" grpId="0"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Datacenter traffic characteristics</a:t>
            </a:r>
          </a:p>
        </p:txBody>
      </p:sp>
      <p:sp>
        <p:nvSpPr>
          <p:cNvPr id="6" name="Content Placeholder 5"/>
          <p:cNvSpPr>
            <a:spLocks noGrp="1"/>
          </p:cNvSpPr>
          <p:nvPr>
            <p:ph idx="1"/>
          </p:nvPr>
        </p:nvSpPr>
        <p:spPr/>
        <p:txBody>
          <a:bodyPr/>
          <a:lstStyle/>
          <a:p>
            <a:r>
              <a:rPr lang="en-US" dirty="0"/>
              <a:t>Two key characteristics</a:t>
            </a:r>
          </a:p>
          <a:p>
            <a:pPr lvl="1"/>
            <a:r>
              <a:rPr lang="en-US" dirty="0"/>
              <a:t>Most flows are small</a:t>
            </a:r>
          </a:p>
          <a:p>
            <a:pPr lvl="1"/>
            <a:r>
              <a:rPr lang="en-US" dirty="0"/>
              <a:t>Most bytes come from large flows</a:t>
            </a:r>
          </a:p>
          <a:p>
            <a:r>
              <a:rPr lang="en-US" dirty="0"/>
              <a:t>Applications want</a:t>
            </a:r>
          </a:p>
          <a:p>
            <a:pPr lvl="1"/>
            <a:r>
              <a:rPr lang="en-US" dirty="0">
                <a:solidFill>
                  <a:srgbClr val="0000FF"/>
                </a:solidFill>
              </a:rPr>
              <a:t>High bandwidth</a:t>
            </a:r>
            <a:r>
              <a:rPr lang="en-US" dirty="0"/>
              <a:t> (large flows)</a:t>
            </a:r>
          </a:p>
          <a:p>
            <a:pPr lvl="1"/>
            <a:r>
              <a:rPr lang="en-US" dirty="0">
                <a:solidFill>
                  <a:srgbClr val="0000FF"/>
                </a:solidFill>
              </a:rPr>
              <a:t>Low latency</a:t>
            </a:r>
            <a:r>
              <a:rPr lang="en-US" dirty="0"/>
              <a:t> (small flows)</a:t>
            </a:r>
          </a:p>
          <a:p>
            <a:pPr lvl="1"/>
            <a:endParaRPr lang="en-US" dirty="0"/>
          </a:p>
        </p:txBody>
      </p:sp>
      <p:sp>
        <p:nvSpPr>
          <p:cNvPr id="3" name="Date Placeholder 2"/>
          <p:cNvSpPr>
            <a:spLocks noGrp="1"/>
          </p:cNvSpPr>
          <p:nvPr>
            <p:ph type="dt" sz="half" idx="10"/>
          </p:nvPr>
        </p:nvSpPr>
        <p:spPr/>
        <p:txBody>
          <a:bodyPr/>
          <a:lstStyle/>
          <a:p>
            <a:r>
              <a:rPr lang="en-US"/>
              <a:t>April 16, 2025</a:t>
            </a:r>
            <a:endParaRPr lang="en-US" sz="1050" b="0">
              <a:latin typeface="Times New Roman" charset="0"/>
            </a:endParaRPr>
          </a:p>
        </p:txBody>
      </p:sp>
      <p:sp>
        <p:nvSpPr>
          <p:cNvPr id="4" name="Footer Placeholder 3"/>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5" name="Slide Number Placeholder 4"/>
          <p:cNvSpPr>
            <a:spLocks noGrp="1"/>
          </p:cNvSpPr>
          <p:nvPr>
            <p:ph type="sldNum" sz="quarter" idx="12"/>
          </p:nvPr>
        </p:nvSpPr>
        <p:spPr/>
        <p:txBody>
          <a:bodyPr/>
          <a:lstStyle/>
          <a:p>
            <a:fld id="{9507A418-0CEB-9E4A-BA45-3B7D3D133EB9}" type="slidenum">
              <a:rPr lang="en-US" smtClean="0"/>
              <a:pPr/>
              <a:t>63</a:t>
            </a:fld>
            <a:endParaRPr lang="en-US"/>
          </a:p>
        </p:txBody>
      </p:sp>
    </p:spTree>
    <p:extLst>
      <p:ext uri="{BB962C8B-B14F-4D97-AF65-F5344CB8AC3E}">
        <p14:creationId xmlns:p14="http://schemas.microsoft.com/office/powerpoint/2010/main" val="1775757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Datacenter networking stack</a:t>
            </a:r>
          </a:p>
        </p:txBody>
      </p:sp>
      <p:sp>
        <p:nvSpPr>
          <p:cNvPr id="3" name="Content Placeholder 2"/>
          <p:cNvSpPr>
            <a:spLocks noGrp="1"/>
          </p:cNvSpPr>
          <p:nvPr>
            <p:ph idx="1"/>
          </p:nvPr>
        </p:nvSpPr>
        <p:spPr/>
        <p:txBody>
          <a:bodyPr/>
          <a:lstStyle/>
          <a:p>
            <a:r>
              <a:rPr lang="en-US" dirty="0"/>
              <a:t>Networking in modern datacenters</a:t>
            </a:r>
          </a:p>
          <a:p>
            <a:pPr lvl="1"/>
            <a:r>
              <a:rPr lang="en-US" dirty="0"/>
              <a:t>L2/L3 design</a:t>
            </a:r>
          </a:p>
          <a:p>
            <a:pPr lvl="2"/>
            <a:r>
              <a:rPr lang="en-US" dirty="0"/>
              <a:t>Addressing / routing / forwarding in the Fat-Tree</a:t>
            </a:r>
          </a:p>
          <a:p>
            <a:pPr lvl="1"/>
            <a:r>
              <a:rPr lang="en-US" dirty="0"/>
              <a:t>L4 design</a:t>
            </a:r>
          </a:p>
          <a:p>
            <a:pPr lvl="2"/>
            <a:r>
              <a:rPr lang="en-US" dirty="0"/>
              <a:t>Transport protocol design (w/ Fat-Tree)</a:t>
            </a:r>
          </a:p>
          <a:p>
            <a:pPr lvl="1"/>
            <a:r>
              <a:rPr lang="en-US" dirty="0"/>
              <a:t>L7 design</a:t>
            </a:r>
          </a:p>
          <a:p>
            <a:pPr lvl="2"/>
            <a:r>
              <a:rPr lang="en-US" dirty="0"/>
              <a:t>Exploiting application-level information (w/ Fat-Tree)</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64</a:t>
            </a:fld>
            <a:endParaRPr lang="en-US"/>
          </a:p>
        </p:txBody>
      </p:sp>
    </p:spTree>
    <p:extLst>
      <p:ext uri="{BB962C8B-B14F-4D97-AF65-F5344CB8AC3E}">
        <p14:creationId xmlns:p14="http://schemas.microsoft.com/office/powerpoint/2010/main" val="15651032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p:cNvGrpSpPr/>
          <p:nvPr/>
        </p:nvGrpSpPr>
        <p:grpSpPr>
          <a:xfrm>
            <a:off x="789099" y="1417638"/>
            <a:ext cx="7545766" cy="4611236"/>
            <a:chOff x="9276" y="915023"/>
            <a:chExt cx="9022668" cy="5097981"/>
          </a:xfrm>
        </p:grpSpPr>
        <p:pic>
          <p:nvPicPr>
            <p:cNvPr id="17" name="Picture 16"/>
            <p:cNvPicPr>
              <a:picLocks noChangeAspect="1"/>
            </p:cNvPicPr>
            <p:nvPr/>
          </p:nvPicPr>
          <p:blipFill>
            <a:blip r:embed="rId2"/>
            <a:stretch>
              <a:fillRect/>
            </a:stretch>
          </p:blipFill>
          <p:spPr>
            <a:xfrm>
              <a:off x="9276" y="915023"/>
              <a:ext cx="9022668" cy="5097981"/>
            </a:xfrm>
            <a:prstGeom prst="rect">
              <a:avLst/>
            </a:prstGeom>
          </p:spPr>
        </p:pic>
        <p:sp>
          <p:nvSpPr>
            <p:cNvPr id="18" name="Rectangle 17"/>
            <p:cNvSpPr/>
            <p:nvPr/>
          </p:nvSpPr>
          <p:spPr>
            <a:xfrm>
              <a:off x="2347265" y="1876481"/>
              <a:ext cx="4728615" cy="130208"/>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Rectangle 18"/>
            <p:cNvSpPr/>
            <p:nvPr/>
          </p:nvSpPr>
          <p:spPr>
            <a:xfrm>
              <a:off x="354300" y="3802655"/>
              <a:ext cx="447129" cy="130208"/>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Rectangle 19"/>
            <p:cNvSpPr/>
            <p:nvPr/>
          </p:nvSpPr>
          <p:spPr>
            <a:xfrm>
              <a:off x="5364596" y="3789025"/>
              <a:ext cx="447129" cy="130208"/>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Rectangle 20"/>
            <p:cNvSpPr/>
            <p:nvPr/>
          </p:nvSpPr>
          <p:spPr>
            <a:xfrm>
              <a:off x="4826534" y="4583834"/>
              <a:ext cx="447129" cy="130208"/>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Rectangle 21"/>
            <p:cNvSpPr/>
            <p:nvPr/>
          </p:nvSpPr>
          <p:spPr>
            <a:xfrm>
              <a:off x="1563615" y="4723905"/>
              <a:ext cx="447129" cy="130208"/>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p:txBody>
          <a:bodyPr/>
          <a:lstStyle/>
          <a:p>
            <a:r>
              <a:rPr lang="en-US" dirty="0"/>
              <a:t>Using multiple paths well</a:t>
            </a:r>
          </a:p>
        </p:txBody>
      </p:sp>
      <p:sp>
        <p:nvSpPr>
          <p:cNvPr id="5" name="Freeform 4"/>
          <p:cNvSpPr/>
          <p:nvPr/>
        </p:nvSpPr>
        <p:spPr>
          <a:xfrm>
            <a:off x="1122002" y="2724707"/>
            <a:ext cx="4746927" cy="2724706"/>
          </a:xfrm>
          <a:custGeom>
            <a:avLst/>
            <a:gdLst>
              <a:gd name="connsiteX0" fmla="*/ 0 w 4746927"/>
              <a:gd name="connsiteY0" fmla="*/ 2724706 h 2724706"/>
              <a:gd name="connsiteX1" fmla="*/ 172616 w 4746927"/>
              <a:gd name="connsiteY1" fmla="*/ 2441139 h 2724706"/>
              <a:gd name="connsiteX2" fmla="*/ 197275 w 4746927"/>
              <a:gd name="connsiteY2" fmla="*/ 1602768 h 2724706"/>
              <a:gd name="connsiteX3" fmla="*/ 1849452 w 4746927"/>
              <a:gd name="connsiteY3" fmla="*/ 0 h 2724706"/>
              <a:gd name="connsiteX4" fmla="*/ 4068795 w 4746927"/>
              <a:gd name="connsiteY4" fmla="*/ 1541123 h 2724706"/>
              <a:gd name="connsiteX5" fmla="*/ 4685279 w 4746927"/>
              <a:gd name="connsiteY5" fmla="*/ 2145244 h 2724706"/>
              <a:gd name="connsiteX6" fmla="*/ 4746927 w 4746927"/>
              <a:gd name="connsiteY6" fmla="*/ 2650732 h 2724706"/>
              <a:gd name="connsiteX7" fmla="*/ 4746927 w 4746927"/>
              <a:gd name="connsiteY7" fmla="*/ 2650732 h 272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6927" h="2724706">
                <a:moveTo>
                  <a:pt x="0" y="2724706"/>
                </a:moveTo>
                <a:lnTo>
                  <a:pt x="172616" y="2441139"/>
                </a:lnTo>
                <a:lnTo>
                  <a:pt x="197275" y="1602768"/>
                </a:lnTo>
                <a:lnTo>
                  <a:pt x="1849452" y="0"/>
                </a:lnTo>
                <a:lnTo>
                  <a:pt x="4068795" y="1541123"/>
                </a:lnTo>
                <a:lnTo>
                  <a:pt x="4685279" y="2145244"/>
                </a:lnTo>
                <a:lnTo>
                  <a:pt x="4746927" y="2650732"/>
                </a:lnTo>
                <a:lnTo>
                  <a:pt x="4746927" y="2650732"/>
                </a:lnTo>
              </a:path>
            </a:pathLst>
          </a:cu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 name="Freeform 5"/>
          <p:cNvSpPr/>
          <p:nvPr/>
        </p:nvSpPr>
        <p:spPr>
          <a:xfrm>
            <a:off x="1208309" y="2626075"/>
            <a:ext cx="4734597" cy="2860325"/>
          </a:xfrm>
          <a:custGeom>
            <a:avLst/>
            <a:gdLst>
              <a:gd name="connsiteX0" fmla="*/ 0 w 4734597"/>
              <a:gd name="connsiteY0" fmla="*/ 2774022 h 2860325"/>
              <a:gd name="connsiteX1" fmla="*/ 197275 w 4734597"/>
              <a:gd name="connsiteY1" fmla="*/ 2305521 h 2860325"/>
              <a:gd name="connsiteX2" fmla="*/ 283582 w 4734597"/>
              <a:gd name="connsiteY2" fmla="*/ 1689071 h 2860325"/>
              <a:gd name="connsiteX3" fmla="*/ 2946794 w 4734597"/>
              <a:gd name="connsiteY3" fmla="*/ 0 h 2860325"/>
              <a:gd name="connsiteX4" fmla="*/ 3982487 w 4734597"/>
              <a:gd name="connsiteY4" fmla="*/ 1504136 h 2860325"/>
              <a:gd name="connsiteX5" fmla="*/ 4672949 w 4734597"/>
              <a:gd name="connsiteY5" fmla="*/ 2182231 h 2860325"/>
              <a:gd name="connsiteX6" fmla="*/ 4734597 w 4734597"/>
              <a:gd name="connsiteY6" fmla="*/ 2860325 h 2860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34597" h="2860325">
                <a:moveTo>
                  <a:pt x="0" y="2774022"/>
                </a:moveTo>
                <a:lnTo>
                  <a:pt x="197275" y="2305521"/>
                </a:lnTo>
                <a:lnTo>
                  <a:pt x="283582" y="1689071"/>
                </a:lnTo>
                <a:lnTo>
                  <a:pt x="2946794" y="0"/>
                </a:lnTo>
                <a:lnTo>
                  <a:pt x="3982487" y="1504136"/>
                </a:lnTo>
                <a:lnTo>
                  <a:pt x="4672949" y="2182231"/>
                </a:lnTo>
                <a:lnTo>
                  <a:pt x="4734597" y="2860325"/>
                </a:lnTo>
              </a:path>
            </a:pathLst>
          </a:cu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7" name="Freeform 6"/>
          <p:cNvSpPr/>
          <p:nvPr/>
        </p:nvSpPr>
        <p:spPr>
          <a:xfrm>
            <a:off x="1282287" y="2576759"/>
            <a:ext cx="4771587" cy="2884983"/>
          </a:xfrm>
          <a:custGeom>
            <a:avLst/>
            <a:gdLst>
              <a:gd name="connsiteX0" fmla="*/ 0 w 4771587"/>
              <a:gd name="connsiteY0" fmla="*/ 2884983 h 2884983"/>
              <a:gd name="connsiteX1" fmla="*/ 209604 w 4771587"/>
              <a:gd name="connsiteY1" fmla="*/ 2453468 h 2884983"/>
              <a:gd name="connsiteX2" fmla="*/ 875407 w 4771587"/>
              <a:gd name="connsiteY2" fmla="*/ 1812361 h 2884983"/>
              <a:gd name="connsiteX3" fmla="*/ 4056465 w 4771587"/>
              <a:gd name="connsiteY3" fmla="*/ 0 h 2884983"/>
              <a:gd name="connsiteX4" fmla="*/ 4771587 w 4771587"/>
              <a:gd name="connsiteY4" fmla="*/ 1615097 h 2884983"/>
              <a:gd name="connsiteX5" fmla="*/ 4771587 w 4771587"/>
              <a:gd name="connsiteY5" fmla="*/ 2330179 h 2884983"/>
              <a:gd name="connsiteX6" fmla="*/ 4709938 w 4771587"/>
              <a:gd name="connsiteY6" fmla="*/ 2811009 h 2884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71587" h="2884983">
                <a:moveTo>
                  <a:pt x="0" y="2884983"/>
                </a:moveTo>
                <a:lnTo>
                  <a:pt x="209604" y="2453468"/>
                </a:lnTo>
                <a:lnTo>
                  <a:pt x="875407" y="1812361"/>
                </a:lnTo>
                <a:lnTo>
                  <a:pt x="4056465" y="0"/>
                </a:lnTo>
                <a:lnTo>
                  <a:pt x="4771587" y="1615097"/>
                </a:lnTo>
                <a:lnTo>
                  <a:pt x="4771587" y="2330179"/>
                </a:lnTo>
                <a:lnTo>
                  <a:pt x="4709938" y="2811009"/>
                </a:lnTo>
              </a:path>
            </a:pathLst>
          </a:cu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Freeform 7"/>
          <p:cNvSpPr/>
          <p:nvPr/>
        </p:nvSpPr>
        <p:spPr>
          <a:xfrm>
            <a:off x="1368595" y="2737036"/>
            <a:ext cx="5079828" cy="2700048"/>
          </a:xfrm>
          <a:custGeom>
            <a:avLst/>
            <a:gdLst>
              <a:gd name="connsiteX0" fmla="*/ 0 w 5079828"/>
              <a:gd name="connsiteY0" fmla="*/ 2700048 h 2700048"/>
              <a:gd name="connsiteX1" fmla="*/ 184945 w 5079828"/>
              <a:gd name="connsiteY1" fmla="*/ 2305520 h 2700048"/>
              <a:gd name="connsiteX2" fmla="*/ 924726 w 5079828"/>
              <a:gd name="connsiteY2" fmla="*/ 1664413 h 2700048"/>
              <a:gd name="connsiteX3" fmla="*/ 5079828 w 5079828"/>
              <a:gd name="connsiteY3" fmla="*/ 0 h 2700048"/>
              <a:gd name="connsiteX4" fmla="*/ 4771586 w 5079828"/>
              <a:gd name="connsiteY4" fmla="*/ 1479478 h 2700048"/>
              <a:gd name="connsiteX5" fmla="*/ 4734597 w 5079828"/>
              <a:gd name="connsiteY5" fmla="*/ 2219217 h 2700048"/>
              <a:gd name="connsiteX6" fmla="*/ 4660619 w 5079828"/>
              <a:gd name="connsiteY6" fmla="*/ 2663061 h 2700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079828" h="2700048">
                <a:moveTo>
                  <a:pt x="0" y="2700048"/>
                </a:moveTo>
                <a:lnTo>
                  <a:pt x="184945" y="2305520"/>
                </a:lnTo>
                <a:lnTo>
                  <a:pt x="924726" y="1664413"/>
                </a:lnTo>
                <a:lnTo>
                  <a:pt x="5079828" y="0"/>
                </a:lnTo>
                <a:lnTo>
                  <a:pt x="4771586" y="1479478"/>
                </a:lnTo>
                <a:lnTo>
                  <a:pt x="4734597" y="2219217"/>
                </a:lnTo>
                <a:lnTo>
                  <a:pt x="4660619" y="2663061"/>
                </a:lnTo>
              </a:path>
            </a:pathLst>
          </a:cu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 name="Date Placeholder 2"/>
          <p:cNvSpPr>
            <a:spLocks noGrp="1"/>
          </p:cNvSpPr>
          <p:nvPr>
            <p:ph type="dt" sz="half" idx="10"/>
          </p:nvPr>
        </p:nvSpPr>
        <p:spPr/>
        <p:txBody>
          <a:bodyPr/>
          <a:lstStyle/>
          <a:p>
            <a:r>
              <a:rPr lang="en-US"/>
              <a:t>April 16, 2025</a:t>
            </a:r>
            <a:endParaRPr lang="en-US" sz="1050" b="0">
              <a:latin typeface="Times New Roman" charset="0"/>
            </a:endParaRPr>
          </a:p>
        </p:txBody>
      </p:sp>
      <p:sp>
        <p:nvSpPr>
          <p:cNvPr id="4" name="Footer Placeholder 3"/>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9" name="Slide Number Placeholder 8"/>
          <p:cNvSpPr>
            <a:spLocks noGrp="1"/>
          </p:cNvSpPr>
          <p:nvPr>
            <p:ph type="sldNum" sz="quarter" idx="12"/>
          </p:nvPr>
        </p:nvSpPr>
        <p:spPr/>
        <p:txBody>
          <a:bodyPr/>
          <a:lstStyle/>
          <a:p>
            <a:fld id="{A190D881-957A-7944-A8D0-1584E528B88F}" type="slidenum">
              <a:rPr lang="en-US" smtClean="0"/>
              <a:pPr/>
              <a:t>65</a:t>
            </a:fld>
            <a:endParaRPr lang="en-US"/>
          </a:p>
        </p:txBody>
      </p:sp>
    </p:spTree>
    <p:extLst>
      <p:ext uri="{BB962C8B-B14F-4D97-AF65-F5344CB8AC3E}">
        <p14:creationId xmlns:p14="http://schemas.microsoft.com/office/powerpoint/2010/main" val="1162441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L2/L3 highlights</a:t>
            </a:r>
          </a:p>
        </p:txBody>
      </p:sp>
      <p:sp>
        <p:nvSpPr>
          <p:cNvPr id="3" name="Content Placeholder 2"/>
          <p:cNvSpPr>
            <a:spLocks noGrp="1"/>
          </p:cNvSpPr>
          <p:nvPr>
            <p:ph idx="1"/>
          </p:nvPr>
        </p:nvSpPr>
        <p:spPr/>
        <p:txBody>
          <a:bodyPr/>
          <a:lstStyle/>
          <a:p>
            <a:r>
              <a:rPr lang="en-US" dirty="0"/>
              <a:t>Load balancing while forwarding</a:t>
            </a:r>
          </a:p>
          <a:p>
            <a:pPr lvl="1"/>
            <a:r>
              <a:rPr lang="en-US" dirty="0"/>
              <a:t>Per-packet</a:t>
            </a:r>
          </a:p>
          <a:p>
            <a:pPr lvl="1"/>
            <a:r>
              <a:rPr lang="en-US" dirty="0"/>
              <a:t>Per-flow</a:t>
            </a:r>
          </a:p>
          <a:p>
            <a:r>
              <a:rPr lang="en-US" dirty="0"/>
              <a:t>Hard-coded addressing or via indirection</a:t>
            </a:r>
          </a:p>
          <a:p>
            <a:r>
              <a:rPr lang="en-US" dirty="0"/>
              <a:t>Modified LS/DV or source routing</a:t>
            </a:r>
          </a:p>
          <a:p>
            <a:endParaRPr lang="en-US" dirty="0"/>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66</a:t>
            </a:fld>
            <a:endParaRPr lang="en-US"/>
          </a:p>
        </p:txBody>
      </p:sp>
    </p:spTree>
    <p:extLst>
      <p:ext uri="{BB962C8B-B14F-4D97-AF65-F5344CB8AC3E}">
        <p14:creationId xmlns:p14="http://schemas.microsoft.com/office/powerpoint/2010/main" val="1097833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L4 highlights</a:t>
            </a:r>
          </a:p>
        </p:txBody>
      </p:sp>
      <p:sp>
        <p:nvSpPr>
          <p:cNvPr id="3" name="Content Placeholder 2"/>
          <p:cNvSpPr>
            <a:spLocks noGrp="1"/>
          </p:cNvSpPr>
          <p:nvPr>
            <p:ph idx="1"/>
          </p:nvPr>
        </p:nvSpPr>
        <p:spPr/>
        <p:txBody>
          <a:bodyPr/>
          <a:lstStyle/>
          <a:p>
            <a:r>
              <a:rPr lang="en-US" dirty="0"/>
              <a:t>Tension between high throughput and low latency requirements</a:t>
            </a:r>
          </a:p>
          <a:p>
            <a:pPr lvl="1"/>
            <a:r>
              <a:rPr lang="en-US" dirty="0"/>
              <a:t>Deep queues vs shallow queues</a:t>
            </a:r>
          </a:p>
          <a:p>
            <a:r>
              <a:rPr lang="en-US" dirty="0"/>
              <a:t>DCTCP</a:t>
            </a:r>
          </a:p>
          <a:p>
            <a:pPr lvl="1"/>
            <a:r>
              <a:rPr lang="en-US" dirty="0"/>
              <a:t>React early, quickly, and with certainty using ECN</a:t>
            </a:r>
          </a:p>
          <a:p>
            <a:pPr lvl="1"/>
            <a:r>
              <a:rPr lang="en-US" dirty="0"/>
              <a:t>React in </a:t>
            </a:r>
            <a:r>
              <a:rPr lang="en-US" dirty="0">
                <a:solidFill>
                  <a:srgbClr val="0000FF"/>
                </a:solidFill>
              </a:rPr>
              <a:t>proportion to the extent of congestion</a:t>
            </a:r>
            <a:r>
              <a:rPr lang="en-US" dirty="0"/>
              <a:t>, not its presence</a:t>
            </a:r>
          </a:p>
          <a:p>
            <a:pPr lvl="1"/>
            <a:endParaRPr lang="en-US" dirty="0"/>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67</a:t>
            </a:fld>
            <a:endParaRPr lang="en-US"/>
          </a:p>
        </p:txBody>
      </p:sp>
    </p:spTree>
    <p:extLst>
      <p:ext uri="{BB962C8B-B14F-4D97-AF65-F5344CB8AC3E}">
        <p14:creationId xmlns:p14="http://schemas.microsoft.com/office/powerpoint/2010/main" val="109413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L7 highlights</a:t>
            </a:r>
          </a:p>
        </p:txBody>
      </p:sp>
      <p:sp>
        <p:nvSpPr>
          <p:cNvPr id="3" name="Content Placeholder 2"/>
          <p:cNvSpPr>
            <a:spLocks noGrp="1"/>
          </p:cNvSpPr>
          <p:nvPr>
            <p:ph idx="1"/>
          </p:nvPr>
        </p:nvSpPr>
        <p:spPr/>
        <p:txBody>
          <a:bodyPr/>
          <a:lstStyle/>
          <a:p>
            <a:r>
              <a:rPr lang="en-US" dirty="0"/>
              <a:t>What do applications care about?</a:t>
            </a:r>
          </a:p>
          <a:p>
            <a:pPr lvl="1"/>
            <a:r>
              <a:rPr lang="en-US" dirty="0"/>
              <a:t>Flow completion time (FCT)</a:t>
            </a:r>
          </a:p>
          <a:p>
            <a:pPr lvl="1"/>
            <a:r>
              <a:rPr lang="en-US" dirty="0"/>
              <a:t>Coflow completion time (CCT)</a:t>
            </a:r>
          </a:p>
          <a:p>
            <a:pPr lvl="2"/>
            <a:r>
              <a:rPr lang="en-US" dirty="0"/>
              <a:t>A coflow is a collection of flows with a shared application-level objective</a:t>
            </a:r>
          </a:p>
          <a:p>
            <a:pPr lvl="1"/>
            <a:r>
              <a:rPr lang="en-US" dirty="0"/>
              <a:t>We should strive to optimize as close an objective as possible to the application</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68</a:t>
            </a:fld>
            <a:endParaRPr lang="en-US"/>
          </a:p>
        </p:txBody>
      </p:sp>
    </p:spTree>
    <p:extLst>
      <p:ext uri="{BB962C8B-B14F-4D97-AF65-F5344CB8AC3E}">
        <p14:creationId xmlns:p14="http://schemas.microsoft.com/office/powerpoint/2010/main" val="15372087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dirty="0">
                <a:solidFill>
                  <a:srgbClr val="0000FF"/>
                </a:solidFill>
              </a:rPr>
              <a:t>THANK YOU SO MUCH!!!</a:t>
            </a:r>
          </a:p>
        </p:txBody>
      </p:sp>
      <p:sp>
        <p:nvSpPr>
          <p:cNvPr id="4" name="Date Placeholder 3"/>
          <p:cNvSpPr>
            <a:spLocks noGrp="1"/>
          </p:cNvSpPr>
          <p:nvPr>
            <p:ph type="dt" sz="half" idx="10"/>
          </p:nvPr>
        </p:nvSpPr>
        <p:spPr/>
        <p:txBody>
          <a:bodyPr/>
          <a:lstStyle/>
          <a:p>
            <a:r>
              <a:rPr lang="en-US"/>
              <a:t>April 16,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Final Review</a:t>
            </a:r>
            <a:endParaRPr lang="en-US" sz="1050" b="0">
              <a:latin typeface="Times New Roman" charset="0"/>
            </a:endParaRPr>
          </a:p>
        </p:txBody>
      </p:sp>
      <p:sp>
        <p:nvSpPr>
          <p:cNvPr id="6" name="Slide Number Placeholder 5"/>
          <p:cNvSpPr>
            <a:spLocks noGrp="1"/>
          </p:cNvSpPr>
          <p:nvPr>
            <p:ph type="sldNum" sz="quarter" idx="12"/>
          </p:nvPr>
        </p:nvSpPr>
        <p:spPr/>
        <p:txBody>
          <a:bodyPr/>
          <a:lstStyle/>
          <a:p>
            <a:fld id="{A190D881-957A-7944-A8D0-1584E528B88F}" type="slidenum">
              <a:rPr lang="en-US" smtClean="0"/>
              <a:pPr/>
              <a:t>69</a:t>
            </a:fld>
            <a:endParaRPr lang="en-US"/>
          </a:p>
        </p:txBody>
      </p:sp>
    </p:spTree>
    <p:extLst>
      <p:ext uri="{BB962C8B-B14F-4D97-AF65-F5344CB8AC3E}">
        <p14:creationId xmlns:p14="http://schemas.microsoft.com/office/powerpoint/2010/main" val="124938130"/>
      </p:ext>
    </p:extLst>
  </p:cSld>
  <p:clrMapOvr>
    <a:masterClrMapping/>
  </p:clrMapOvr>
</p:sld>
</file>

<file path=ppt/theme/theme1.xml><?xml version="1.0" encoding="utf-8"?>
<a:theme xmlns:a="http://schemas.openxmlformats.org/drawingml/2006/main" name="dbllineb">
  <a:themeElements>
    <a:clrScheme name="">
      <a:dk1>
        <a:srgbClr val="333399"/>
      </a:dk1>
      <a:lt1>
        <a:srgbClr val="FFFFFF"/>
      </a:lt1>
      <a:dk2>
        <a:srgbClr val="CC0000"/>
      </a:dk2>
      <a:lt2>
        <a:srgbClr val="CECECE"/>
      </a:lt2>
      <a:accent1>
        <a:srgbClr val="EBEBEB"/>
      </a:accent1>
      <a:accent2>
        <a:srgbClr val="232323"/>
      </a:accent2>
      <a:accent3>
        <a:srgbClr val="FFFFFF"/>
      </a:accent3>
      <a:accent4>
        <a:srgbClr val="2A2A82"/>
      </a:accent4>
      <a:accent5>
        <a:srgbClr val="F3F3F3"/>
      </a:accent5>
      <a:accent6>
        <a:srgbClr val="1F1F1F"/>
      </a:accent6>
      <a:hlink>
        <a:srgbClr val="9C9C9C"/>
      </a:hlink>
      <a:folHlink>
        <a:srgbClr val="676767"/>
      </a:folHlink>
    </a:clrScheme>
    <a:fontScheme name="dbllineb">
      <a:majorFont>
        <a:latin typeface="Arial Black"/>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lnDef>
  </a:objectDefaults>
  <a:extraClrSchemeLst>
    <a:extraClrScheme>
      <a:clrScheme name="dbllineb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bllineb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bllineb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bllineb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bllineb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bllineb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bllineb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c:\msoffice\powerpnt\template\bwovrhd\dbllineb.ppt</Template>
  <TotalTime>1490458254</TotalTime>
  <Pages>7</Pages>
  <Words>3950</Words>
  <Application>Microsoft Macintosh PowerPoint</Application>
  <PresentationFormat>On-screen Show (4:3)</PresentationFormat>
  <Paragraphs>906</Paragraphs>
  <Slides>69</Slides>
  <Notes>28</Notes>
  <HiddenSlides>0</HiddenSlides>
  <MMClips>0</MMClips>
  <ScaleCrop>false</ScaleCrop>
  <HeadingPairs>
    <vt:vector size="8" baseType="variant">
      <vt:variant>
        <vt:lpstr>Fonts Used</vt:lpstr>
      </vt:variant>
      <vt:variant>
        <vt:i4>15</vt:i4>
      </vt:variant>
      <vt:variant>
        <vt:lpstr>Theme</vt:lpstr>
      </vt:variant>
      <vt:variant>
        <vt:i4>1</vt:i4>
      </vt:variant>
      <vt:variant>
        <vt:lpstr>Embedded OLE Servers</vt:lpstr>
      </vt:variant>
      <vt:variant>
        <vt:i4>1</vt:i4>
      </vt:variant>
      <vt:variant>
        <vt:lpstr>Slide Titles</vt:lpstr>
      </vt:variant>
      <vt:variant>
        <vt:i4>69</vt:i4>
      </vt:variant>
    </vt:vector>
  </HeadingPairs>
  <TitlesOfParts>
    <vt:vector size="86" baseType="lpstr">
      <vt:lpstr>ＭＳ Ｐゴシック</vt:lpstr>
      <vt:lpstr>宋体</vt:lpstr>
      <vt:lpstr>Arial</vt:lpstr>
      <vt:lpstr>Arial Black</vt:lpstr>
      <vt:lpstr>Calibri</vt:lpstr>
      <vt:lpstr>Courier New</vt:lpstr>
      <vt:lpstr>Gill Sans</vt:lpstr>
      <vt:lpstr>Helvetica</vt:lpstr>
      <vt:lpstr>Monaco</vt:lpstr>
      <vt:lpstr>Monotype Sorts</vt:lpstr>
      <vt:lpstr>Palatino Linotype</vt:lpstr>
      <vt:lpstr>Symbol</vt:lpstr>
      <vt:lpstr>Tahoma</vt:lpstr>
      <vt:lpstr>Times New Roman</vt:lpstr>
      <vt:lpstr>Wingdings</vt:lpstr>
      <vt:lpstr>dbllineb</vt:lpstr>
      <vt:lpstr>Clip</vt:lpstr>
      <vt:lpstr>EECS 489 Computer Networks  Winter 2025</vt:lpstr>
      <vt:lpstr>Logistics</vt:lpstr>
      <vt:lpstr>Format</vt:lpstr>
      <vt:lpstr>What’s covered in the final?</vt:lpstr>
      <vt:lpstr>The networking stack</vt:lpstr>
      <vt:lpstr>Topics</vt:lpstr>
      <vt:lpstr>What information do we need in the IP header?</vt:lpstr>
      <vt:lpstr>IPv4 and IPv6 header comparison</vt:lpstr>
      <vt:lpstr>What’s inside a router?</vt:lpstr>
      <vt:lpstr>Input linecards</vt:lpstr>
      <vt:lpstr>Longest prefix matching</vt:lpstr>
      <vt:lpstr>Tree structure</vt:lpstr>
      <vt:lpstr>Output linecards</vt:lpstr>
      <vt:lpstr>Max-Min fairness</vt:lpstr>
      <vt:lpstr>Example</vt:lpstr>
      <vt:lpstr>Max-Min fairness</vt:lpstr>
      <vt:lpstr>Topics</vt:lpstr>
      <vt:lpstr>Routing: Local vs. global view</vt:lpstr>
      <vt:lpstr>“Valid” routing state</vt:lpstr>
      <vt:lpstr>Necessary and sufficient condition</vt:lpstr>
      <vt:lpstr>Least-cost routes</vt:lpstr>
      <vt:lpstr>Intra-domain routing</vt:lpstr>
      <vt:lpstr>Similarities between LS and DV routing</vt:lpstr>
      <vt:lpstr>Comparison of LS and DV routing</vt:lpstr>
      <vt:lpstr>Addressing is key to scalable inter-domain routing</vt:lpstr>
      <vt:lpstr>CIDR: Classless inter-domain routing</vt:lpstr>
      <vt:lpstr>Hierarchy in IP addressing</vt:lpstr>
      <vt:lpstr>Administrative structure shapes Inter-domain routing</vt:lpstr>
      <vt:lpstr>Business relationships</vt:lpstr>
      <vt:lpstr>BGP inspired by Distance-Vector with four differences</vt:lpstr>
      <vt:lpstr>BGP: Basic idea</vt:lpstr>
      <vt:lpstr>Policy dictates how routes are “selected” and “exported”</vt:lpstr>
      <vt:lpstr>Typical export policy</vt:lpstr>
      <vt:lpstr>Selection using attributes</vt:lpstr>
      <vt:lpstr>eBGP, iBGP, and IGP</vt:lpstr>
      <vt:lpstr>5-minute break!</vt:lpstr>
      <vt:lpstr>Announcements</vt:lpstr>
      <vt:lpstr>Topics</vt:lpstr>
      <vt:lpstr>Separate concerns with abstractions</vt:lpstr>
      <vt:lpstr>Logically centralized  control plane</vt:lpstr>
      <vt:lpstr>SDN: Many challenges remain</vt:lpstr>
      <vt:lpstr>Fixed-function data plane</vt:lpstr>
      <vt:lpstr>Programmable data plane</vt:lpstr>
      <vt:lpstr>Top-down workflow</vt:lpstr>
      <vt:lpstr>PISA: Protocol Independent Switch Architecture</vt:lpstr>
      <vt:lpstr>Topics</vt:lpstr>
      <vt:lpstr>Data link layer</vt:lpstr>
      <vt:lpstr>Point-to-point vs. broadcast medium</vt:lpstr>
      <vt:lpstr>Random access MAC protocols</vt:lpstr>
      <vt:lpstr>CSMA (Carrier Sense Multiple Access)</vt:lpstr>
      <vt:lpstr>CSMA/CD (Collision Detection)</vt:lpstr>
      <vt:lpstr>Limits on CSMA/CD network length</vt:lpstr>
      <vt:lpstr>Limits on CSMA/CD network length</vt:lpstr>
      <vt:lpstr>Why switched Ethernet?</vt:lpstr>
      <vt:lpstr>Ethernet switches are “self learning”</vt:lpstr>
      <vt:lpstr>ARP and DHCP</vt:lpstr>
      <vt:lpstr>Key ideas in both ARP and DHCP</vt:lpstr>
      <vt:lpstr>Wireless link characteristics</vt:lpstr>
      <vt:lpstr>Hidden terminal problem</vt:lpstr>
      <vt:lpstr>CSMA/CA</vt:lpstr>
      <vt:lpstr>Topics</vt:lpstr>
      <vt:lpstr>Datacenter applications</vt:lpstr>
      <vt:lpstr>Datacenter traffic characteristics</vt:lpstr>
      <vt:lpstr>Datacenter networking stack</vt:lpstr>
      <vt:lpstr>Using multiple paths well</vt:lpstr>
      <vt:lpstr>L2/L3 highlights</vt:lpstr>
      <vt:lpstr>L4 highlights</vt:lpstr>
      <vt:lpstr>L7 highlights</vt:lpstr>
      <vt:lpstr>Summary</vt:lpstr>
    </vt:vector>
  </TitlesOfParts>
  <Manager/>
  <Company>UC Riverside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CS153: Lecture 3 - Processes</dc:title>
  <dc:subject/>
  <dc:creator>Harsha V. Madhyastha</dc:creator>
  <cp:keywords/>
  <dc:description/>
  <cp:lastModifiedBy>Chowdhury, Mosharaf</cp:lastModifiedBy>
  <cp:revision>1309</cp:revision>
  <cp:lastPrinted>1999-09-08T17:25:07Z</cp:lastPrinted>
  <dcterms:created xsi:type="dcterms:W3CDTF">2014-01-14T18:15:50Z</dcterms:created>
  <dcterms:modified xsi:type="dcterms:W3CDTF">2025-04-16T13:41:25Z</dcterms:modified>
  <cp:category/>
</cp:coreProperties>
</file>