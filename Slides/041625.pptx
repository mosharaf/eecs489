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258" r:id="rId2"/>
    <p:sldId id="663" r:id="rId3"/>
    <p:sldId id="667" r:id="rId4"/>
    <p:sldId id="668" r:id="rId5"/>
    <p:sldId id="520" r:id="rId6"/>
    <p:sldId id="662" r:id="rId7"/>
    <p:sldId id="583" r:id="rId8"/>
    <p:sldId id="655" r:id="rId9"/>
    <p:sldId id="586" r:id="rId10"/>
    <p:sldId id="656" r:id="rId11"/>
    <p:sldId id="657" r:id="rId12"/>
    <p:sldId id="524" r:id="rId13"/>
    <p:sldId id="658" r:id="rId14"/>
    <p:sldId id="659" r:id="rId15"/>
    <p:sldId id="660" r:id="rId16"/>
    <p:sldId id="661" r:id="rId17"/>
    <p:sldId id="602" r:id="rId18"/>
    <p:sldId id="672" r:id="rId19"/>
    <p:sldId id="604" r:id="rId20"/>
    <p:sldId id="605" r:id="rId21"/>
    <p:sldId id="527" r:id="rId22"/>
    <p:sldId id="528" r:id="rId23"/>
    <p:sldId id="529" r:id="rId24"/>
    <p:sldId id="531" r:id="rId25"/>
    <p:sldId id="530" r:id="rId26"/>
    <p:sldId id="532" r:id="rId27"/>
    <p:sldId id="534" r:id="rId28"/>
    <p:sldId id="609" r:id="rId29"/>
    <p:sldId id="535" r:id="rId30"/>
    <p:sldId id="611" r:id="rId31"/>
    <p:sldId id="612" r:id="rId32"/>
    <p:sldId id="613" r:id="rId33"/>
    <p:sldId id="614" r:id="rId34"/>
    <p:sldId id="540" r:id="rId35"/>
    <p:sldId id="541" r:id="rId36"/>
    <p:sldId id="615" r:id="rId37"/>
    <p:sldId id="542" r:id="rId38"/>
    <p:sldId id="625" r:id="rId39"/>
    <p:sldId id="582" r:id="rId40"/>
    <p:sldId id="673" r:id="rId41"/>
    <p:sldId id="548" r:id="rId42"/>
    <p:sldId id="549" r:id="rId43"/>
    <p:sldId id="550" r:id="rId44"/>
    <p:sldId id="551" r:id="rId45"/>
    <p:sldId id="619" r:id="rId46"/>
    <p:sldId id="620" r:id="rId47"/>
    <p:sldId id="621" r:id="rId48"/>
    <p:sldId id="622" r:id="rId49"/>
    <p:sldId id="674" r:id="rId50"/>
    <p:sldId id="554" r:id="rId51"/>
    <p:sldId id="555" r:id="rId52"/>
    <p:sldId id="556" r:id="rId53"/>
    <p:sldId id="557" r:id="rId54"/>
    <p:sldId id="558" r:id="rId55"/>
    <p:sldId id="525" r:id="rId56"/>
    <p:sldId id="526" r:id="rId57"/>
    <p:sldId id="559" r:id="rId58"/>
    <p:sldId id="560" r:id="rId59"/>
    <p:sldId id="562" r:id="rId60"/>
    <p:sldId id="563" r:id="rId61"/>
    <p:sldId id="564" r:id="rId62"/>
    <p:sldId id="566" r:id="rId63"/>
    <p:sldId id="581" r:id="rId64"/>
    <p:sldId id="675" r:id="rId65"/>
    <p:sldId id="568" r:id="rId66"/>
    <p:sldId id="569" r:id="rId67"/>
    <p:sldId id="571" r:id="rId68"/>
    <p:sldId id="575" r:id="rId69"/>
    <p:sldId id="576" r:id="rId70"/>
    <p:sldId id="577" r:id="rId71"/>
    <p:sldId id="578" r:id="rId72"/>
    <p:sldId id="512" r:id="rId73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17"/>
    <p:restoredTop sz="94648"/>
  </p:normalViewPr>
  <p:slideViewPr>
    <p:cSldViewPr>
      <p:cViewPr varScale="1">
        <p:scale>
          <a:sx n="112" d="100"/>
          <a:sy n="112" d="100"/>
        </p:scale>
        <p:origin x="3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29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E274BE9-847F-CE4B-BF62-3669DAE04580}" type="slidenum">
              <a:rPr lang="en-US" sz="1300" b="0">
                <a:latin typeface="Times New Roman" charset="0"/>
              </a:rPr>
              <a:pPr eaLnBrk="1" hangingPunct="1"/>
              <a:t>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Why go up? Why not stay down in the lower levels?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034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2204167-EFB0-2D48-A5F0-063C27AB3381}" type="slidenum">
              <a:rPr lang="en-US" sz="1300" b="0">
                <a:latin typeface="Times New Roman" charset="0"/>
              </a:rPr>
              <a:pPr eaLnBrk="1" hangingPunct="1"/>
              <a:t>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9613"/>
            <a:ext cx="4841875" cy="3630612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8850" y="4576763"/>
            <a:ext cx="5345113" cy="4340225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34" tIns="47567" rIns="95134" bIns="47567"/>
          <a:lstStyle/>
          <a:p>
            <a:endParaRPr lang="en-GB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35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D30E7F-23DC-AB44-B0E5-C01BC33DA8FF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Idea: build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tree to help with match. When a new packet comes in, walk the tree to determine the correct port.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Each level in the tree: one bit.  Root: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all wild cards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698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If you don’t get full demand, no one gets more than you</a:t>
            </a:r>
            <a:r>
              <a:rPr lang="en-US" altLang="zh-CN" dirty="0">
                <a:solidFill>
                  <a:srgbClr val="0000FF"/>
                </a:solidFill>
              </a:rPr>
              <a:t>.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65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7EF65C0-C774-5649-A5FC-3864B06236AB}" type="slidenum">
              <a:rPr lang="en-US" sz="1300" b="0">
                <a:latin typeface="Times New Roman" charset="0"/>
              </a:rPr>
              <a:pPr eaLnBrk="1" hangingPunct="1"/>
              <a:t>16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158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r>
              <a:rPr lang="en-US" dirty="0"/>
              <a:t>What could go wrong?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</p:spPr>
        <p:txBody>
          <a:bodyPr lIns="86493" tIns="43247" rIns="86493" bIns="43247"/>
          <a:lstStyle/>
          <a:p>
            <a:pPr>
              <a:defRPr/>
            </a:pPr>
            <a:fld id="{9EEA0328-C956-B249-A6D4-A0E7BBC7B378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38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5010" y="8684684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DF86D6B3-6172-344F-AF2E-101ACF88B5E5}" type="slidenum">
              <a:rPr lang="en-US">
                <a:latin typeface="Times New Roman" charset="0"/>
              </a:rPr>
              <a:pPr/>
              <a:t>24</a:t>
            </a:fld>
            <a:endParaRPr lang="en-US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0186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5010" y="8684684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42B0DAA6-02FB-6E4A-B752-815ED524F531}" type="slidenum">
              <a:rPr lang="en-US">
                <a:latin typeface="Times New Roman" charset="0"/>
              </a:rPr>
              <a:pPr/>
              <a:t>25</a:t>
            </a:fld>
            <a:endParaRPr lang="en-US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1631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B0C462F0-F4EF-5244-A49E-6CE8D6940A21}" type="slidenum">
              <a:rPr lang="en-US" sz="1300" b="0">
                <a:latin typeface="Times New Roman" charset="0"/>
              </a:rPr>
              <a:pPr eaLnBrk="1" hangingPunct="1"/>
              <a:t>28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053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C4775AA-6F91-DB45-94C9-1927444BC962}" type="slidenum">
              <a:rPr lang="en-US" sz="1300" b="0">
                <a:latin typeface="Times New Roman" charset="0"/>
              </a:rPr>
              <a:pPr eaLnBrk="1" hangingPunct="1"/>
              <a:t>29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364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32177F9-D46C-9E47-A59B-29E08ABE9F97}" type="slidenum">
              <a:rPr lang="en-US" sz="1300" b="0">
                <a:latin typeface="Times New Roman" charset="0"/>
              </a:rPr>
              <a:pPr eaLnBrk="1" hangingPunct="1"/>
              <a:t>33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Arrows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are routing message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286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6217817-1DE6-EC4D-9339-BD283CA19325}" type="slidenum">
              <a:rPr lang="en-US" sz="1300" b="0">
                <a:latin typeface="Times New Roman" charset="0"/>
              </a:rPr>
              <a:pPr eaLnBrk="1" hangingPunct="1"/>
              <a:t>34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zh-CN" dirty="0">
              <a:ea typeface="宋体" charset="0"/>
              <a:cs typeface="宋体" charset="0"/>
            </a:endParaRPr>
          </a:p>
          <a:p>
            <a:r>
              <a:rPr lang="en-US" altLang="zh-CN" dirty="0">
                <a:ea typeface="宋体" charset="0"/>
                <a:cs typeface="宋体" charset="0"/>
              </a:rPr>
              <a:t>Arrows:</a:t>
            </a:r>
            <a:r>
              <a:rPr lang="en-US" altLang="zh-CN" baseline="0" dirty="0">
                <a:ea typeface="宋体" charset="0"/>
                <a:cs typeface="宋体" charset="0"/>
              </a:rPr>
              <a:t> routing messages!</a:t>
            </a:r>
            <a:endParaRPr lang="en-US" altLang="zh-CN" dirty="0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685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E609E-E8D3-7341-9173-2B1EA0EA0FF7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48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8E2CB00-C86A-A747-9BDC-DD3376311CB6}" type="slidenum">
              <a:rPr lang="en-US" sz="1300" b="0">
                <a:latin typeface="Times New Roman" charset="0"/>
              </a:rPr>
              <a:pPr eaLnBrk="1" hangingPunct="1"/>
              <a:t>51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5577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14CD15E-08C5-BE42-912D-322759A8C347}" type="slidenum">
              <a:rPr lang="en-US" sz="1300" b="0">
                <a:latin typeface="Times New Roman" charset="0"/>
              </a:rPr>
              <a:pPr eaLnBrk="1" hangingPunct="1"/>
              <a:t>52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550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81ECA61-3AE7-2C4E-AD4F-E208908BE981}" type="slidenum">
              <a:rPr lang="en-US" sz="1300" b="0">
                <a:latin typeface="Times New Roman" charset="0"/>
              </a:rPr>
              <a:pPr eaLnBrk="1" hangingPunct="1"/>
              <a:t>53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91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A2B8162-AD91-4E41-87FA-46E55C0794C5}" type="slidenum">
              <a:rPr lang="en-US" sz="1300" b="0">
                <a:latin typeface="Times New Roman" charset="0"/>
              </a:rPr>
              <a:pPr eaLnBrk="1" hangingPunct="1"/>
              <a:t>54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wireless: because reception while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</a:t>
            </a:r>
            <a:r>
              <a:rPr lang="en-US" baseline="0" dirty="0" err="1">
                <a:ea typeface="ＭＳ Ｐゴシック" charset="0"/>
                <a:cs typeface="ＭＳ Ｐゴシック" charset="0"/>
              </a:rPr>
              <a:t>tx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is difficult . broadcast isn’t perfect so collisions local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200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C130659-87AF-CE4D-B5EA-54D55326E82A}" type="slidenum">
              <a:rPr lang="en-US" sz="1300" b="0">
                <a:latin typeface="Times New Roman" charset="0"/>
              </a:rPr>
              <a:pPr eaLnBrk="1" hangingPunct="1"/>
              <a:t>55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8361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10B4C87-43F1-8447-99DD-FB94C86AE74F}" type="slidenum">
              <a:rPr lang="en-US" sz="1300" b="0">
                <a:latin typeface="Times New Roman" charset="0"/>
              </a:rPr>
              <a:pPr eaLnBrk="1" hangingPunct="1"/>
              <a:t>56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sz="2100" b="1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60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57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137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32342D-A5EE-634E-BBD6-118AB66A94E6}" type="slidenum">
              <a:rPr lang="en-US" sz="1200" b="0">
                <a:latin typeface="Times New Roman" charset="0"/>
              </a:rPr>
              <a:pPr eaLnBrk="1" hangingPunct="1"/>
              <a:t>58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3306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053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A3C8062-490D-8343-A3E5-312490AFF82B}" type="slidenum">
              <a:rPr lang="en-US" sz="1200" b="0">
                <a:latin typeface="Times New Roman" charset="0"/>
              </a:rPr>
              <a:pPr eaLnBrk="1" hangingPunct="1"/>
              <a:t>60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9083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F701F30-FBFD-DB45-AF66-8CDAFD7ECFEC}" type="slidenum">
              <a:rPr lang="en-US" smtClean="0">
                <a:latin typeface="Times New Roman" charset="0"/>
              </a:rPr>
              <a:pPr>
                <a:defRPr/>
              </a:pPr>
              <a:t>61</a:t>
            </a:fld>
            <a:endParaRPr lang="en-US" dirty="0">
              <a:latin typeface="Times New Roman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3744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defTabSz="957263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 algn="r" defTabSz="957263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 algn="r" defTabSz="957263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 algn="r" defTabSz="957263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 algn="r" defTabSz="957263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 eaLnBrk="1" hangingPunct="1"/>
            <a:fld id="{D3E02E9D-6A4F-4CD9-95CC-5E495CE0D39D}" type="slidenum">
              <a:rPr lang="en-US" sz="1300" b="0" smtClean="0">
                <a:latin typeface="Times New Roman" pitchFamily="18" charset="0"/>
              </a:rPr>
              <a:pPr eaLnBrk="1" hangingPunct="1"/>
              <a:t>63</a:t>
            </a:fld>
            <a:endParaRPr lang="en-US" sz="1300" b="0">
              <a:latin typeface="Times New Roman" pitchFamily="18" charset="0"/>
            </a:endParaRPr>
          </a:p>
        </p:txBody>
      </p:sp>
      <p:sp>
        <p:nvSpPr>
          <p:cNvPr id="129027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38" tIns="47869" rIns="95738" bIns="47869" anchor="b"/>
          <a:lstStyle>
            <a:lvl1pPr algn="r" defTabSz="957263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 algn="r" defTabSz="957263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 algn="r" defTabSz="957263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 algn="r" defTabSz="957263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 algn="r" defTabSz="957263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 eaLnBrk="1" hangingPunct="1"/>
            <a:fld id="{C3545A94-B8A9-4FD7-9026-7BA0DA2A648D}" type="slidenum">
              <a:rPr lang="en-US" sz="1300" b="0">
                <a:latin typeface="Times New Roman" pitchFamily="18" charset="0"/>
              </a:rPr>
              <a:pPr eaLnBrk="1" hangingPunct="1"/>
              <a:t>63</a:t>
            </a:fld>
            <a:endParaRPr lang="en-US" sz="1300" b="0">
              <a:latin typeface="Times New Roman" pitchFamily="18" charset="0"/>
            </a:endParaRPr>
          </a:p>
        </p:txBody>
      </p:sp>
      <p:sp>
        <p:nvSpPr>
          <p:cNvPr id="1290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29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235" tIns="47617" rIns="95235" bIns="47617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712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80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April 16,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Final Review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You’re ONLY allowed </a:t>
            </a:r>
            <a:r>
              <a:rPr lang="en-US" b="1" dirty="0">
                <a:solidFill>
                  <a:srgbClr val="0000FF"/>
                </a:solidFill>
              </a:rPr>
              <a:t>two</a:t>
            </a:r>
            <a:r>
              <a:rPr lang="en-US" dirty="0">
                <a:solidFill>
                  <a:srgbClr val="0000FF"/>
                </a:solidFill>
              </a:rPr>
              <a:t> double-sided 8.5in x 11in note sheet</a:t>
            </a:r>
          </a:p>
          <a:p>
            <a:pPr lvl="1"/>
            <a:r>
              <a:rPr lang="en-US" dirty="0"/>
              <a:t>Basic calculators are allowed but you won’t need it</a:t>
            </a:r>
          </a:p>
          <a:p>
            <a:pPr lvl="1"/>
            <a:endParaRPr lang="en-US" dirty="0"/>
          </a:p>
          <a:p>
            <a:r>
              <a:rPr lang="en-US" dirty="0"/>
              <a:t>General guidelines from the midterm still apply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6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BB3E78-E627-7948-AAAC-604D1F94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9A3222-879E-E54F-89D9-86FE8F7AD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~75-minute in-person exam</a:t>
            </a:r>
          </a:p>
          <a:p>
            <a:pPr lvl="1"/>
            <a:r>
              <a:rPr lang="en-US" dirty="0"/>
              <a:t>Tuesday, Apr. 29 from 1:30PM - 3:30PM</a:t>
            </a:r>
          </a:p>
          <a:p>
            <a:pPr lvl="2"/>
            <a:r>
              <a:rPr lang="en-US" dirty="0"/>
              <a:t>Room assignments: </a:t>
            </a:r>
            <a:r>
              <a:rPr lang="en-US" dirty="0">
                <a:solidFill>
                  <a:srgbClr val="0000FF"/>
                </a:solidFill>
              </a:rPr>
              <a:t>TBA</a:t>
            </a:r>
          </a:p>
          <a:p>
            <a:pPr lvl="1"/>
            <a:r>
              <a:rPr lang="en-US" dirty="0"/>
              <a:t>SSD accommodations</a:t>
            </a:r>
          </a:p>
          <a:p>
            <a:pPr lvl="2"/>
            <a:r>
              <a:rPr lang="en-US" dirty="0"/>
              <a:t>Tuesday, Apr. 29 from 10:30AM at LBME 1130</a:t>
            </a:r>
          </a:p>
          <a:p>
            <a:pPr lvl="1"/>
            <a:r>
              <a:rPr lang="en-US" dirty="0"/>
              <a:t>Other conflicts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Email us ASAP</a:t>
            </a:r>
            <a:r>
              <a:rPr lang="en-US" dirty="0"/>
              <a:t> to potentially start earlier on Tuesday, Apr. 29 from 10:30AM at LBME 1130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MUST be confirmed first</a:t>
            </a:r>
          </a:p>
          <a:p>
            <a:pPr lvl="2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21341-A460-814B-9BB6-AA2FFEAD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C4D87-790C-C47C-DD8C-F0E81F6F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2017A-3137-1B96-9528-ECEF46CC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63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CC1D-1C57-2156-3E03-CC48E54E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covered in the final?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D1DAE-EDB2-0150-3599-EB0F18E39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Lectures:</a:t>
            </a:r>
            <a:r>
              <a:rPr lang="en-US" dirty="0"/>
              <a:t> 10—20</a:t>
            </a:r>
          </a:p>
          <a:p>
            <a:r>
              <a:rPr lang="en-US" dirty="0">
                <a:solidFill>
                  <a:srgbClr val="0000FF"/>
                </a:solidFill>
              </a:rPr>
              <a:t>Assignments:</a:t>
            </a:r>
            <a:r>
              <a:rPr lang="en-US" dirty="0"/>
              <a:t> 2—4</a:t>
            </a:r>
          </a:p>
          <a:p>
            <a:r>
              <a:rPr lang="en-US" dirty="0">
                <a:solidFill>
                  <a:srgbClr val="0000FF"/>
                </a:solidFill>
              </a:rPr>
              <a:t>Discussion sections</a:t>
            </a:r>
            <a:r>
              <a:rPr lang="en-US">
                <a:solidFill>
                  <a:srgbClr val="0000FF"/>
                </a:solidFill>
              </a:rPr>
              <a:t>:</a:t>
            </a:r>
            <a:r>
              <a:rPr lang="en-US"/>
              <a:t> 4—10</a:t>
            </a:r>
            <a:endParaRPr lang="en-US" dirty="0"/>
          </a:p>
          <a:p>
            <a:endParaRPr lang="en-US" dirty="0"/>
          </a:p>
          <a:p>
            <a:r>
              <a:rPr lang="en-US" dirty="0"/>
              <a:t>What about content in the midterm? Is the final cumulative?</a:t>
            </a:r>
          </a:p>
          <a:p>
            <a:pPr lvl="1"/>
            <a:r>
              <a:rPr lang="en-US" dirty="0"/>
              <a:t>Since we are progressively going down the network stack, there will be questions that require knowledge from the first half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1090D-6B58-497A-5729-235530AA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C920F-1DD3-889E-5CFA-CFAED8E4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A4C9C-CC51-DC0E-6DAB-56625C7E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9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networking stack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924800" cy="1181099"/>
          </a:xfrm>
        </p:spPr>
        <p:txBody>
          <a:bodyPr/>
          <a:lstStyle/>
          <a:p>
            <a:r>
              <a:rPr lang="en-US" dirty="0"/>
              <a:t>Lower three layers implemented everywhere</a:t>
            </a:r>
          </a:p>
          <a:p>
            <a:r>
              <a:rPr lang="en-US" dirty="0"/>
              <a:t>Top two layers implemented only at hosts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17399" y="3441700"/>
            <a:ext cx="2200603" cy="2577900"/>
            <a:chOff x="817399" y="3441700"/>
            <a:chExt cx="2200603" cy="2577900"/>
          </a:xfrm>
        </p:grpSpPr>
        <p:sp>
          <p:nvSpPr>
            <p:cNvPr id="29699" name="Rectangle 4"/>
            <p:cNvSpPr>
              <a:spLocks noChangeArrowheads="1"/>
            </p:cNvSpPr>
            <p:nvPr/>
          </p:nvSpPr>
          <p:spPr bwMode="auto">
            <a:xfrm>
              <a:off x="1066800" y="3822700"/>
              <a:ext cx="1703388" cy="38100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00" name="Text Box 5"/>
            <p:cNvSpPr txBox="1">
              <a:spLocks noChangeArrowheads="1"/>
            </p:cNvSpPr>
            <p:nvPr/>
          </p:nvSpPr>
          <p:spPr bwMode="auto">
            <a:xfrm>
              <a:off x="1233488" y="3806825"/>
              <a:ext cx="1367955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Transport</a:t>
              </a:r>
            </a:p>
          </p:txBody>
        </p:sp>
        <p:sp>
          <p:nvSpPr>
            <p:cNvPr id="29701" name="Rectangle 6"/>
            <p:cNvSpPr>
              <a:spLocks noChangeArrowheads="1"/>
            </p:cNvSpPr>
            <p:nvPr/>
          </p:nvSpPr>
          <p:spPr bwMode="auto">
            <a:xfrm>
              <a:off x="1066800" y="4203700"/>
              <a:ext cx="1703388" cy="381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9702" name="Text Box 7"/>
            <p:cNvSpPr txBox="1">
              <a:spLocks noChangeArrowheads="1"/>
            </p:cNvSpPr>
            <p:nvPr/>
          </p:nvSpPr>
          <p:spPr bwMode="auto">
            <a:xfrm>
              <a:off x="1325563" y="4187825"/>
              <a:ext cx="1196113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dirty="0">
                  <a:latin typeface="Arial" charset="0"/>
                  <a:ea typeface="Arial" charset="0"/>
                  <a:cs typeface="Arial" charset="0"/>
                </a:rPr>
                <a:t>Network</a:t>
              </a:r>
            </a:p>
          </p:txBody>
        </p:sp>
        <p:sp>
          <p:nvSpPr>
            <p:cNvPr id="29703" name="Rectangle 8"/>
            <p:cNvSpPr>
              <a:spLocks noChangeArrowheads="1"/>
            </p:cNvSpPr>
            <p:nvPr/>
          </p:nvSpPr>
          <p:spPr bwMode="auto">
            <a:xfrm>
              <a:off x="1066800" y="4584700"/>
              <a:ext cx="1703388" cy="381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9704" name="Text Box 9"/>
            <p:cNvSpPr txBox="1">
              <a:spLocks noChangeArrowheads="1"/>
            </p:cNvSpPr>
            <p:nvPr/>
          </p:nvSpPr>
          <p:spPr bwMode="auto">
            <a:xfrm>
              <a:off x="1331913" y="4568825"/>
              <a:ext cx="1181685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latin typeface="Arial" charset="0"/>
                  <a:ea typeface="Arial" charset="0"/>
                  <a:cs typeface="Arial" charset="0"/>
                </a:rPr>
                <a:t>Datalink</a:t>
              </a:r>
            </a:p>
          </p:txBody>
        </p:sp>
        <p:sp>
          <p:nvSpPr>
            <p:cNvPr id="29705" name="Rectangle 10"/>
            <p:cNvSpPr>
              <a:spLocks noChangeArrowheads="1"/>
            </p:cNvSpPr>
            <p:nvPr/>
          </p:nvSpPr>
          <p:spPr bwMode="auto">
            <a:xfrm>
              <a:off x="1066800" y="4965700"/>
              <a:ext cx="1703388" cy="381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9706" name="Text Box 11"/>
            <p:cNvSpPr txBox="1">
              <a:spLocks noChangeArrowheads="1"/>
            </p:cNvSpPr>
            <p:nvPr/>
          </p:nvSpPr>
          <p:spPr bwMode="auto">
            <a:xfrm>
              <a:off x="1311275" y="4949825"/>
              <a:ext cx="1224967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latin typeface="Arial" charset="0"/>
                  <a:ea typeface="Arial" charset="0"/>
                  <a:cs typeface="Arial" charset="0"/>
                </a:rPr>
                <a:t>Physical</a:t>
              </a:r>
            </a:p>
          </p:txBody>
        </p:sp>
        <p:sp>
          <p:nvSpPr>
            <p:cNvPr id="29732" name="Rectangle 34"/>
            <p:cNvSpPr>
              <a:spLocks noChangeArrowheads="1"/>
            </p:cNvSpPr>
            <p:nvPr/>
          </p:nvSpPr>
          <p:spPr bwMode="auto">
            <a:xfrm>
              <a:off x="1066800" y="3441700"/>
              <a:ext cx="1703388" cy="38100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3" name="Text Box 35"/>
            <p:cNvSpPr txBox="1">
              <a:spLocks noChangeArrowheads="1"/>
            </p:cNvSpPr>
            <p:nvPr/>
          </p:nvSpPr>
          <p:spPr bwMode="auto">
            <a:xfrm>
              <a:off x="1143000" y="3441700"/>
              <a:ext cx="15811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29729" name="Text Box 39"/>
            <p:cNvSpPr txBox="1">
              <a:spLocks noChangeArrowheads="1"/>
            </p:cNvSpPr>
            <p:nvPr/>
          </p:nvSpPr>
          <p:spPr bwMode="auto">
            <a:xfrm>
              <a:off x="817399" y="5499100"/>
              <a:ext cx="2200603" cy="52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29" tIns="44373" rIns="90329" bIns="44373">
              <a:spAutoFit/>
            </a:bodyPr>
            <a:lstStyle>
              <a:lvl1pPr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0000FF"/>
                  </a:solidFill>
                  <a:latin typeface="Arial" charset="0"/>
                  <a:ea typeface="Arial" charset="0"/>
                  <a:cs typeface="Arial" charset="0"/>
                </a:rPr>
                <a:t>End system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229187" y="3441700"/>
            <a:ext cx="2200603" cy="2577900"/>
            <a:chOff x="6229187" y="3441700"/>
            <a:chExt cx="2200603" cy="2577900"/>
          </a:xfrm>
        </p:grpSpPr>
        <p:sp>
          <p:nvSpPr>
            <p:cNvPr id="29707" name="Rectangle 12"/>
            <p:cNvSpPr>
              <a:spLocks noChangeArrowheads="1"/>
            </p:cNvSpPr>
            <p:nvPr/>
          </p:nvSpPr>
          <p:spPr bwMode="auto">
            <a:xfrm>
              <a:off x="6477000" y="3822700"/>
              <a:ext cx="1703388" cy="38100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08" name="Text Box 13"/>
            <p:cNvSpPr txBox="1">
              <a:spLocks noChangeArrowheads="1"/>
            </p:cNvSpPr>
            <p:nvPr/>
          </p:nvSpPr>
          <p:spPr bwMode="auto">
            <a:xfrm>
              <a:off x="6643688" y="3806825"/>
              <a:ext cx="1367955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Transport</a:t>
              </a:r>
            </a:p>
          </p:txBody>
        </p:sp>
        <p:sp>
          <p:nvSpPr>
            <p:cNvPr id="29709" name="Rectangle 14"/>
            <p:cNvSpPr>
              <a:spLocks noChangeArrowheads="1"/>
            </p:cNvSpPr>
            <p:nvPr/>
          </p:nvSpPr>
          <p:spPr bwMode="auto">
            <a:xfrm>
              <a:off x="6477000" y="4203700"/>
              <a:ext cx="1703388" cy="381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9710" name="Text Box 15"/>
            <p:cNvSpPr txBox="1">
              <a:spLocks noChangeArrowheads="1"/>
            </p:cNvSpPr>
            <p:nvPr/>
          </p:nvSpPr>
          <p:spPr bwMode="auto">
            <a:xfrm>
              <a:off x="6735763" y="4187825"/>
              <a:ext cx="1196113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latin typeface="Arial" charset="0"/>
                  <a:ea typeface="Arial" charset="0"/>
                  <a:cs typeface="Arial" charset="0"/>
                </a:rPr>
                <a:t>Network</a:t>
              </a:r>
            </a:p>
          </p:txBody>
        </p:sp>
        <p:sp>
          <p:nvSpPr>
            <p:cNvPr id="29711" name="Rectangle 16"/>
            <p:cNvSpPr>
              <a:spLocks noChangeArrowheads="1"/>
            </p:cNvSpPr>
            <p:nvPr/>
          </p:nvSpPr>
          <p:spPr bwMode="auto">
            <a:xfrm>
              <a:off x="6477000" y="4584700"/>
              <a:ext cx="1703388" cy="381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9712" name="Text Box 17"/>
            <p:cNvSpPr txBox="1">
              <a:spLocks noChangeArrowheads="1"/>
            </p:cNvSpPr>
            <p:nvPr/>
          </p:nvSpPr>
          <p:spPr bwMode="auto">
            <a:xfrm>
              <a:off x="6742113" y="4568825"/>
              <a:ext cx="1181685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latin typeface="Arial" charset="0"/>
                  <a:ea typeface="Arial" charset="0"/>
                  <a:cs typeface="Arial" charset="0"/>
                </a:rPr>
                <a:t>Datalink</a:t>
              </a:r>
            </a:p>
          </p:txBody>
        </p:sp>
        <p:sp>
          <p:nvSpPr>
            <p:cNvPr id="29713" name="Rectangle 18"/>
            <p:cNvSpPr>
              <a:spLocks noChangeArrowheads="1"/>
            </p:cNvSpPr>
            <p:nvPr/>
          </p:nvSpPr>
          <p:spPr bwMode="auto">
            <a:xfrm>
              <a:off x="6477000" y="4965700"/>
              <a:ext cx="1703388" cy="381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9714" name="Text Box 19"/>
            <p:cNvSpPr txBox="1">
              <a:spLocks noChangeArrowheads="1"/>
            </p:cNvSpPr>
            <p:nvPr/>
          </p:nvSpPr>
          <p:spPr bwMode="auto">
            <a:xfrm>
              <a:off x="6721475" y="4949825"/>
              <a:ext cx="1224967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latin typeface="Arial" charset="0"/>
                  <a:ea typeface="Arial" charset="0"/>
                  <a:cs typeface="Arial" charset="0"/>
                </a:rPr>
                <a:t>Physical</a:t>
              </a:r>
            </a:p>
          </p:txBody>
        </p:sp>
        <p:sp>
          <p:nvSpPr>
            <p:cNvPr id="29734" name="Rectangle 36"/>
            <p:cNvSpPr>
              <a:spLocks noChangeArrowheads="1"/>
            </p:cNvSpPr>
            <p:nvPr/>
          </p:nvSpPr>
          <p:spPr bwMode="auto">
            <a:xfrm>
              <a:off x="6477000" y="3441700"/>
              <a:ext cx="1703388" cy="38100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5" name="Text Box 37"/>
            <p:cNvSpPr txBox="1">
              <a:spLocks noChangeArrowheads="1"/>
            </p:cNvSpPr>
            <p:nvPr/>
          </p:nvSpPr>
          <p:spPr bwMode="auto">
            <a:xfrm>
              <a:off x="6510338" y="3441700"/>
              <a:ext cx="15811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29730" name="Text Box 40"/>
            <p:cNvSpPr txBox="1">
              <a:spLocks noChangeArrowheads="1"/>
            </p:cNvSpPr>
            <p:nvPr/>
          </p:nvSpPr>
          <p:spPr bwMode="auto">
            <a:xfrm>
              <a:off x="6229187" y="5499100"/>
              <a:ext cx="2200603" cy="52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29" tIns="44373" rIns="90329" bIns="44373">
              <a:spAutoFit/>
            </a:bodyPr>
            <a:lstStyle>
              <a:lvl1pPr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>
                  <a:solidFill>
                    <a:srgbClr val="0000FF"/>
                  </a:solidFill>
                  <a:latin typeface="Arial" charset="0"/>
                  <a:ea typeface="Arial" charset="0"/>
                  <a:cs typeface="Arial" charset="0"/>
                </a:rPr>
                <a:t>End system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770188" y="3632200"/>
            <a:ext cx="3740150" cy="2387400"/>
            <a:chOff x="2770188" y="3632200"/>
            <a:chExt cx="3740150" cy="2387400"/>
          </a:xfrm>
        </p:grpSpPr>
        <p:sp>
          <p:nvSpPr>
            <p:cNvPr id="29715" name="Rectangle 20"/>
            <p:cNvSpPr>
              <a:spLocks noChangeArrowheads="1"/>
            </p:cNvSpPr>
            <p:nvPr/>
          </p:nvSpPr>
          <p:spPr bwMode="auto">
            <a:xfrm>
              <a:off x="3706813" y="4203700"/>
              <a:ext cx="1703387" cy="381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9716" name="Text Box 21"/>
            <p:cNvSpPr txBox="1">
              <a:spLocks noChangeArrowheads="1"/>
            </p:cNvSpPr>
            <p:nvPr/>
          </p:nvSpPr>
          <p:spPr bwMode="auto">
            <a:xfrm>
              <a:off x="3965575" y="4187825"/>
              <a:ext cx="1196113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latin typeface="Arial" charset="0"/>
                  <a:ea typeface="Arial" charset="0"/>
                  <a:cs typeface="Arial" charset="0"/>
                </a:rPr>
                <a:t>Network</a:t>
              </a:r>
            </a:p>
          </p:txBody>
        </p:sp>
        <p:sp>
          <p:nvSpPr>
            <p:cNvPr id="29717" name="Rectangle 22"/>
            <p:cNvSpPr>
              <a:spLocks noChangeArrowheads="1"/>
            </p:cNvSpPr>
            <p:nvPr/>
          </p:nvSpPr>
          <p:spPr bwMode="auto">
            <a:xfrm>
              <a:off x="3706813" y="4584700"/>
              <a:ext cx="1703387" cy="381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9718" name="Text Box 23"/>
            <p:cNvSpPr txBox="1">
              <a:spLocks noChangeArrowheads="1"/>
            </p:cNvSpPr>
            <p:nvPr/>
          </p:nvSpPr>
          <p:spPr bwMode="auto">
            <a:xfrm>
              <a:off x="3971925" y="4568825"/>
              <a:ext cx="1181685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latin typeface="Arial" charset="0"/>
                  <a:ea typeface="Arial" charset="0"/>
                  <a:cs typeface="Arial" charset="0"/>
                </a:rPr>
                <a:t>Datalink</a:t>
              </a:r>
            </a:p>
          </p:txBody>
        </p:sp>
        <p:sp>
          <p:nvSpPr>
            <p:cNvPr id="29719" name="Rectangle 24"/>
            <p:cNvSpPr>
              <a:spLocks noChangeArrowheads="1"/>
            </p:cNvSpPr>
            <p:nvPr/>
          </p:nvSpPr>
          <p:spPr bwMode="auto">
            <a:xfrm>
              <a:off x="3706813" y="4965700"/>
              <a:ext cx="1703387" cy="381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5" tIns="45713" rIns="91425" bIns="45713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9720" name="Text Box 25"/>
            <p:cNvSpPr txBox="1">
              <a:spLocks noChangeArrowheads="1"/>
            </p:cNvSpPr>
            <p:nvPr/>
          </p:nvSpPr>
          <p:spPr bwMode="auto">
            <a:xfrm>
              <a:off x="3951288" y="4949825"/>
              <a:ext cx="1224967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16" tIns="45709" rIns="91416" bIns="45709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latin typeface="Arial" charset="0"/>
                  <a:ea typeface="Arial" charset="0"/>
                  <a:cs typeface="Arial" charset="0"/>
                </a:rPr>
                <a:t>Physical</a:t>
              </a:r>
            </a:p>
          </p:txBody>
        </p:sp>
        <p:cxnSp>
          <p:nvCxnSpPr>
            <p:cNvPr id="29721" name="AutoShape 26"/>
            <p:cNvCxnSpPr>
              <a:cxnSpLocks noChangeShapeType="1"/>
              <a:stCxn id="29705" idx="3"/>
              <a:endCxn id="29719" idx="1"/>
            </p:cNvCxnSpPr>
            <p:nvPr/>
          </p:nvCxnSpPr>
          <p:spPr bwMode="auto">
            <a:xfrm>
              <a:off x="2782888" y="5156200"/>
              <a:ext cx="91122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9722" name="AutoShape 27"/>
            <p:cNvCxnSpPr>
              <a:cxnSpLocks noChangeShapeType="1"/>
              <a:stCxn id="29703" idx="3"/>
              <a:endCxn id="29717" idx="1"/>
            </p:cNvCxnSpPr>
            <p:nvPr/>
          </p:nvCxnSpPr>
          <p:spPr bwMode="auto">
            <a:xfrm>
              <a:off x="2782888" y="4775200"/>
              <a:ext cx="91122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9723" name="AutoShape 28"/>
            <p:cNvCxnSpPr>
              <a:cxnSpLocks noChangeShapeType="1"/>
              <a:stCxn id="29701" idx="3"/>
              <a:endCxn id="29715" idx="1"/>
            </p:cNvCxnSpPr>
            <p:nvPr/>
          </p:nvCxnSpPr>
          <p:spPr bwMode="auto">
            <a:xfrm>
              <a:off x="2782888" y="4394200"/>
              <a:ext cx="91122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9724" name="AutoShape 29"/>
            <p:cNvCxnSpPr>
              <a:cxnSpLocks noChangeShapeType="1"/>
              <a:stCxn id="29719" idx="3"/>
              <a:endCxn id="29713" idx="1"/>
            </p:cNvCxnSpPr>
            <p:nvPr/>
          </p:nvCxnSpPr>
          <p:spPr bwMode="auto">
            <a:xfrm>
              <a:off x="5422900" y="5156200"/>
              <a:ext cx="104140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9725" name="AutoShape 30"/>
            <p:cNvCxnSpPr>
              <a:cxnSpLocks noChangeShapeType="1"/>
              <a:stCxn id="29717" idx="3"/>
              <a:endCxn id="29711" idx="1"/>
            </p:cNvCxnSpPr>
            <p:nvPr/>
          </p:nvCxnSpPr>
          <p:spPr bwMode="auto">
            <a:xfrm>
              <a:off x="5422900" y="4775200"/>
              <a:ext cx="104140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9726" name="AutoShape 31"/>
            <p:cNvCxnSpPr>
              <a:cxnSpLocks noChangeShapeType="1"/>
              <a:stCxn id="29715" idx="3"/>
              <a:endCxn id="29709" idx="1"/>
            </p:cNvCxnSpPr>
            <p:nvPr/>
          </p:nvCxnSpPr>
          <p:spPr bwMode="auto">
            <a:xfrm>
              <a:off x="5422900" y="4394200"/>
              <a:ext cx="104140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9727" name="AutoShape 32"/>
            <p:cNvCxnSpPr>
              <a:cxnSpLocks noChangeShapeType="1"/>
              <a:stCxn id="29699" idx="3"/>
              <a:endCxn id="29707" idx="1"/>
            </p:cNvCxnSpPr>
            <p:nvPr/>
          </p:nvCxnSpPr>
          <p:spPr bwMode="auto">
            <a:xfrm>
              <a:off x="2782888" y="4013200"/>
              <a:ext cx="3681412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9736" name="AutoShape 38"/>
            <p:cNvCxnSpPr>
              <a:cxnSpLocks noChangeShapeType="1"/>
              <a:stCxn id="29732" idx="3"/>
              <a:endCxn id="29735" idx="1"/>
            </p:cNvCxnSpPr>
            <p:nvPr/>
          </p:nvCxnSpPr>
          <p:spPr bwMode="auto">
            <a:xfrm>
              <a:off x="2770188" y="3632200"/>
              <a:ext cx="3740150" cy="95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29731" name="Text Box 41"/>
            <p:cNvSpPr txBox="1">
              <a:spLocks noChangeArrowheads="1"/>
            </p:cNvSpPr>
            <p:nvPr/>
          </p:nvSpPr>
          <p:spPr bwMode="auto">
            <a:xfrm>
              <a:off x="3887818" y="5499100"/>
              <a:ext cx="1339790" cy="52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29" tIns="44373" rIns="90329" bIns="44373">
              <a:spAutoFit/>
            </a:bodyPr>
            <a:lstStyle>
              <a:lvl1pPr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defTabSz="912813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>
                  <a:solidFill>
                    <a:srgbClr val="0000FF"/>
                  </a:solidFill>
                  <a:latin typeface="Arial" charset="0"/>
                  <a:ea typeface="Arial" charset="0"/>
                  <a:cs typeface="Arial" charset="0"/>
                </a:rPr>
                <a:t>Switch</a:t>
              </a: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17767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4E4C2-16C9-8758-AA61-439EDA48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>
            <a:extLst>
              <a:ext uri="{FF2B5EF4-FFF2-40B4-BE49-F238E27FC236}">
                <a16:creationId xmlns:a16="http://schemas.microsoft.com/office/drawing/2014/main" id="{01AE6C6B-D575-179A-B979-A3411414B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>
            <a:extLst>
              <a:ext uri="{FF2B5EF4-FFF2-40B4-BE49-F238E27FC236}">
                <a16:creationId xmlns:a16="http://schemas.microsoft.com/office/drawing/2014/main" id="{C633FFD3-B7D4-B671-A131-0677AA833B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layer (lectures 10–15)</a:t>
            </a:r>
          </a:p>
          <a:p>
            <a:pPr lvl="1"/>
            <a:r>
              <a:rPr lang="en-US" dirty="0"/>
              <a:t>Addressing</a:t>
            </a:r>
          </a:p>
          <a:p>
            <a:pPr lvl="1"/>
            <a:r>
              <a:rPr lang="en-US" dirty="0"/>
              <a:t>Data plane</a:t>
            </a:r>
          </a:p>
          <a:p>
            <a:pPr lvl="1"/>
            <a:r>
              <a:rPr lang="en-US" dirty="0"/>
              <a:t>Intra-domain routing </a:t>
            </a:r>
          </a:p>
          <a:p>
            <a:pPr lvl="1"/>
            <a:r>
              <a:rPr lang="en-US" dirty="0"/>
              <a:t>Inter-domain routing</a:t>
            </a:r>
          </a:p>
          <a:p>
            <a:r>
              <a:rPr lang="en-US" dirty="0"/>
              <a:t>SDN and programmable networks (lecture 16)</a:t>
            </a:r>
          </a:p>
          <a:p>
            <a:r>
              <a:rPr lang="en-US" dirty="0"/>
              <a:t>Link layer (lectures 17–19)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r>
              <a:rPr lang="en-US" dirty="0"/>
              <a:t>Wireless</a:t>
            </a:r>
          </a:p>
          <a:p>
            <a:r>
              <a:rPr lang="en-US" dirty="0"/>
              <a:t>Datacenter networking (lecture 20)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A953D-A21E-E8E5-E468-BFAEA7004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C77F7-ADA6-3AA6-26BB-457B706F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33F63-DCCA-2791-C33A-706E23FA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2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the IP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the IP header as an interface</a:t>
            </a:r>
          </a:p>
          <a:p>
            <a:pPr lvl="1"/>
            <a:r>
              <a:rPr lang="en-US" dirty="0"/>
              <a:t>Between the source and destination end-systems</a:t>
            </a:r>
          </a:p>
          <a:p>
            <a:pPr lvl="1"/>
            <a:r>
              <a:rPr lang="en-US" dirty="0"/>
              <a:t>Between the source and network (routers)</a:t>
            </a:r>
          </a:p>
          <a:p>
            <a:r>
              <a:rPr lang="en-US" dirty="0"/>
              <a:t>Designing an interface</a:t>
            </a:r>
          </a:p>
          <a:p>
            <a:pPr lvl="1"/>
            <a:r>
              <a:rPr lang="en-US" dirty="0"/>
              <a:t>What task(s) are we trying to accomplish?</a:t>
            </a:r>
          </a:p>
          <a:p>
            <a:pPr lvl="1"/>
            <a:r>
              <a:rPr lang="en-US" dirty="0"/>
              <a:t>What information is needed to do it?</a:t>
            </a:r>
          </a:p>
          <a:p>
            <a:r>
              <a:rPr lang="en-US" dirty="0"/>
              <a:t>Header reflects information needed for basic tasks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information do we need?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Loops: </a:t>
            </a:r>
            <a:r>
              <a:rPr lang="en-US" dirty="0">
                <a:solidFill>
                  <a:srgbClr val="0000FF"/>
                </a:solidFill>
              </a:rPr>
              <a:t>TTL (8 bits)</a:t>
            </a:r>
          </a:p>
          <a:p>
            <a:pPr lvl="1"/>
            <a:r>
              <a:rPr lang="en-US" dirty="0"/>
              <a:t>Corruption: </a:t>
            </a:r>
            <a:r>
              <a:rPr lang="en-US" dirty="0">
                <a:solidFill>
                  <a:srgbClr val="0000FF"/>
                </a:solidFill>
              </a:rPr>
              <a:t>checksum (16 bits)</a:t>
            </a:r>
          </a:p>
          <a:p>
            <a:pPr lvl="1"/>
            <a:r>
              <a:rPr lang="en-US" dirty="0"/>
              <a:t>Packet too large: </a:t>
            </a:r>
            <a:r>
              <a:rPr lang="en-US" dirty="0">
                <a:solidFill>
                  <a:srgbClr val="0000FF"/>
                </a:solidFill>
              </a:rPr>
              <a:t>fragmentation fields (32 bits)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IPv4 and IPv6 header comparison</a:t>
            </a:r>
            <a:endParaRPr lang="en-US" dirty="0"/>
          </a:p>
        </p:txBody>
      </p:sp>
      <p:graphicFrame>
        <p:nvGraphicFramePr>
          <p:cNvPr id="34819" name="Group 3"/>
          <p:cNvGraphicFramePr>
            <a:graphicFrameLocks noGrp="1"/>
          </p:cNvGraphicFramePr>
          <p:nvPr/>
        </p:nvGraphicFramePr>
        <p:xfrm>
          <a:off x="90488" y="1905000"/>
          <a:ext cx="4557711" cy="3276599"/>
        </p:xfrm>
        <a:graphic>
          <a:graphicData uri="http://schemas.openxmlformats.org/drawingml/2006/table">
            <a:tbl>
              <a:tblPr/>
              <a:tblGrid>
                <a:gridCol w="77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2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65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0556"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IHL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Type of Service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Total Length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556"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Identification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Flags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Fragment Offset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 gridSpan="2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Time to Live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Protocol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Header Checksum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55">
                <a:tc gridSpan="6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Source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986">
                <a:tc gridSpan="6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Destination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21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Options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Padding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849" name="Group 33"/>
          <p:cNvGraphicFramePr>
            <a:graphicFrameLocks noGrp="1"/>
          </p:cNvGraphicFramePr>
          <p:nvPr/>
        </p:nvGraphicFramePr>
        <p:xfrm>
          <a:off x="4724400" y="1905000"/>
          <a:ext cx="4343400" cy="457200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41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5825"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Traffic Class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Flow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Label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688"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Payload Length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Next Header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Hop Limit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7163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128-bit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Source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7325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128-bit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Destination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869" name="Rectangle 53"/>
          <p:cNvSpPr>
            <a:spLocks noChangeArrowheads="1"/>
          </p:cNvSpPr>
          <p:nvPr/>
        </p:nvSpPr>
        <p:spPr bwMode="gray">
          <a:xfrm>
            <a:off x="1752600" y="1447800"/>
            <a:ext cx="763588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algn="ctr"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IPv4</a:t>
            </a:r>
          </a:p>
        </p:txBody>
      </p:sp>
      <p:sp>
        <p:nvSpPr>
          <p:cNvPr id="34870" name="Rectangle 54"/>
          <p:cNvSpPr>
            <a:spLocks noChangeArrowheads="1"/>
          </p:cNvSpPr>
          <p:nvPr/>
        </p:nvSpPr>
        <p:spPr bwMode="gray">
          <a:xfrm>
            <a:off x="5334000" y="1371600"/>
            <a:ext cx="25146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defRPr/>
            </a:pPr>
            <a:r>
              <a:rPr lang="en-US" sz="2400" b="0" dirty="0">
                <a:latin typeface="Arial" charset="0"/>
                <a:cs typeface="Arial" charset="0"/>
              </a:rPr>
              <a:t>IPv6</a:t>
            </a:r>
            <a:endParaRPr lang="en-US" sz="2400" b="0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4871" name="AutoShape 55"/>
          <p:cNvSpPr>
            <a:spLocks noChangeArrowheads="1"/>
          </p:cNvSpPr>
          <p:nvPr/>
        </p:nvSpPr>
        <p:spPr bwMode="auto">
          <a:xfrm>
            <a:off x="381000" y="5334000"/>
            <a:ext cx="328613" cy="2286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2" name="AutoShape 56"/>
          <p:cNvSpPr>
            <a:spLocks noChangeArrowheads="1"/>
          </p:cNvSpPr>
          <p:nvPr/>
        </p:nvSpPr>
        <p:spPr bwMode="auto">
          <a:xfrm>
            <a:off x="381000" y="5664200"/>
            <a:ext cx="328613" cy="228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3" name="AutoShape 57"/>
          <p:cNvSpPr>
            <a:spLocks noChangeArrowheads="1"/>
          </p:cNvSpPr>
          <p:nvPr/>
        </p:nvSpPr>
        <p:spPr bwMode="auto">
          <a:xfrm>
            <a:off x="381000" y="5994400"/>
            <a:ext cx="328613" cy="228600"/>
          </a:xfrm>
          <a:prstGeom prst="roundRect">
            <a:avLst>
              <a:gd name="adj" fmla="val 16667"/>
            </a:avLst>
          </a:prstGeom>
          <a:solidFill>
            <a:schemeClr val="tx1">
              <a:lumMod val="20000"/>
              <a:lumOff val="80000"/>
            </a:schemeClr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4" name="AutoShape 58"/>
          <p:cNvSpPr>
            <a:spLocks noChangeArrowheads="1"/>
          </p:cNvSpPr>
          <p:nvPr/>
        </p:nvSpPr>
        <p:spPr bwMode="auto">
          <a:xfrm>
            <a:off x="381000" y="6324600"/>
            <a:ext cx="328613" cy="2286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92218" name="Text Box 59"/>
          <p:cNvSpPr txBox="1">
            <a:spLocks noChangeArrowheads="1"/>
          </p:cNvSpPr>
          <p:nvPr/>
        </p:nvSpPr>
        <p:spPr bwMode="auto">
          <a:xfrm>
            <a:off x="785814" y="5326063"/>
            <a:ext cx="3100386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124" tIns="41061" rIns="82124" bIns="41061" anchorCtr="1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US" sz="1400" dirty="0">
                <a:latin typeface="Arial" charset="0"/>
              </a:rPr>
              <a:t>Field </a:t>
            </a:r>
            <a:r>
              <a:rPr lang="en-GB" sz="1400" dirty="0">
                <a:latin typeface="Arial" charset="0"/>
              </a:rPr>
              <a:t>name </a:t>
            </a:r>
            <a:r>
              <a:rPr lang="en-US" sz="1400" dirty="0">
                <a:latin typeface="Arial" charset="0"/>
              </a:rPr>
              <a:t>kept from IPv4 to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US" sz="1400" dirty="0">
                <a:latin typeface="Arial" charset="0"/>
              </a:rPr>
              <a:t>Fields not kept in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GB" sz="1400" dirty="0">
                <a:latin typeface="Arial" charset="0"/>
              </a:rPr>
              <a:t>Name &amp; position changed in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GB" sz="1400" dirty="0">
                <a:latin typeface="Arial" charset="0"/>
              </a:rPr>
              <a:t>New field in IPv6</a:t>
            </a:r>
            <a:endParaRPr lang="en-US" sz="1400" dirty="0">
              <a:latin typeface="Arial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68920-E566-8BA6-0392-02CDA5AAE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C2D72-6611-8C34-015A-40BD5C54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30A7AE-DD5F-4B66-A0F6-DE5F53D1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920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inside a router?</a:t>
            </a:r>
            <a:endParaRPr lang="en-US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82460" y="1600200"/>
            <a:ext cx="6799338" cy="51054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32" tIns="44374" rIns="90332" bIns="44374" anchor="ctr"/>
          <a:lstStyle/>
          <a:p>
            <a:pPr algn="ctr" defTabSz="912813"/>
            <a:endParaRPr lang="en-US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735065" y="3307018"/>
            <a:ext cx="1288721" cy="49369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735065" y="4095906"/>
            <a:ext cx="1288721" cy="49114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735065" y="5968879"/>
            <a:ext cx="1288721" cy="49114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6421896" y="3307018"/>
            <a:ext cx="1288721" cy="49369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6421896" y="4095906"/>
            <a:ext cx="1288721" cy="49114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6421896" y="5967607"/>
            <a:ext cx="1288721" cy="49369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591698" y="3453344"/>
            <a:ext cx="2131229" cy="2761108"/>
          </a:xfrm>
          <a:prstGeom prst="rect">
            <a:avLst/>
          </a:prstGeom>
          <a:solidFill>
            <a:srgbClr val="D3A6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pPr algn="ctr"/>
            <a:endParaRPr lang="en-US">
              <a:latin typeface="Palatino Linotype" charset="0"/>
            </a:endParaRPr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914401" y="3552591"/>
            <a:ext cx="82066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>
            <a:off x="914401" y="4244777"/>
            <a:ext cx="82066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914401" y="6214453"/>
            <a:ext cx="82066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7710617" y="6313701"/>
            <a:ext cx="82378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7710617" y="4341479"/>
            <a:ext cx="82378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>
            <a:off x="7710617" y="3552591"/>
            <a:ext cx="82378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1206407" y="2864564"/>
            <a:ext cx="2298793" cy="33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b="1" dirty="0">
                <a:latin typeface="Arial" charset="0"/>
              </a:rPr>
              <a:t>Linecard</a:t>
            </a:r>
            <a:r>
              <a:rPr lang="en-US" sz="1600" dirty="0">
                <a:latin typeface="Arial" charset="0"/>
              </a:rPr>
              <a:t>s (input)</a:t>
            </a:r>
            <a:endParaRPr lang="en-US" sz="1600" b="1" dirty="0">
              <a:latin typeface="Arial" charset="0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2234328" y="4723199"/>
            <a:ext cx="118575" cy="9670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1" name="Oval 24"/>
          <p:cNvSpPr>
            <a:spLocks noChangeArrowheads="1"/>
          </p:cNvSpPr>
          <p:nvPr/>
        </p:nvSpPr>
        <p:spPr bwMode="auto">
          <a:xfrm>
            <a:off x="2235887" y="5130367"/>
            <a:ext cx="115456" cy="9924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2" name="Oval 25"/>
          <p:cNvSpPr>
            <a:spLocks noChangeArrowheads="1"/>
          </p:cNvSpPr>
          <p:nvPr/>
        </p:nvSpPr>
        <p:spPr bwMode="auto">
          <a:xfrm>
            <a:off x="2235887" y="5522267"/>
            <a:ext cx="115456" cy="9924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3" name="Oval 26"/>
          <p:cNvSpPr>
            <a:spLocks noChangeArrowheads="1"/>
          </p:cNvSpPr>
          <p:nvPr/>
        </p:nvSpPr>
        <p:spPr bwMode="auto">
          <a:xfrm>
            <a:off x="7008530" y="4858074"/>
            <a:ext cx="118575" cy="9924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4" name="Oval 27"/>
          <p:cNvSpPr>
            <a:spLocks noChangeArrowheads="1"/>
          </p:cNvSpPr>
          <p:nvPr/>
        </p:nvSpPr>
        <p:spPr bwMode="auto">
          <a:xfrm>
            <a:off x="7008530" y="5252518"/>
            <a:ext cx="118575" cy="9924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5" name="Oval 28"/>
          <p:cNvSpPr>
            <a:spLocks noChangeArrowheads="1"/>
          </p:cNvSpPr>
          <p:nvPr/>
        </p:nvSpPr>
        <p:spPr bwMode="auto">
          <a:xfrm>
            <a:off x="7008530" y="5644417"/>
            <a:ext cx="118575" cy="9924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cxnSp>
        <p:nvCxnSpPr>
          <p:cNvPr id="26" name="AutoShape 29"/>
          <p:cNvCxnSpPr>
            <a:cxnSpLocks noChangeShapeType="1"/>
            <a:stCxn id="5" idx="3"/>
          </p:cNvCxnSpPr>
          <p:nvPr/>
        </p:nvCxnSpPr>
        <p:spPr bwMode="auto">
          <a:xfrm>
            <a:off x="3023786" y="3553864"/>
            <a:ext cx="557614" cy="408536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7" name="AutoShape 30"/>
          <p:cNvCxnSpPr>
            <a:cxnSpLocks noChangeShapeType="1"/>
            <a:stCxn id="6" idx="3"/>
          </p:cNvCxnSpPr>
          <p:nvPr/>
        </p:nvCxnSpPr>
        <p:spPr bwMode="auto">
          <a:xfrm>
            <a:off x="3023786" y="4341480"/>
            <a:ext cx="557614" cy="295196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AutoShape 31"/>
          <p:cNvCxnSpPr>
            <a:cxnSpLocks noChangeShapeType="1"/>
            <a:stCxn id="7" idx="3"/>
          </p:cNvCxnSpPr>
          <p:nvPr/>
        </p:nvCxnSpPr>
        <p:spPr bwMode="auto">
          <a:xfrm flipV="1">
            <a:off x="3023786" y="5522268"/>
            <a:ext cx="557614" cy="69218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" name="AutoShape 32"/>
          <p:cNvCxnSpPr>
            <a:cxnSpLocks noChangeShapeType="1"/>
            <a:endCxn id="8" idx="1"/>
          </p:cNvCxnSpPr>
          <p:nvPr/>
        </p:nvCxnSpPr>
        <p:spPr bwMode="auto">
          <a:xfrm flipV="1">
            <a:off x="5722927" y="3553864"/>
            <a:ext cx="698969" cy="404694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AutoShape 33"/>
          <p:cNvCxnSpPr>
            <a:cxnSpLocks noChangeShapeType="1"/>
            <a:endCxn id="9" idx="1"/>
          </p:cNvCxnSpPr>
          <p:nvPr/>
        </p:nvCxnSpPr>
        <p:spPr bwMode="auto">
          <a:xfrm flipV="1">
            <a:off x="5718964" y="4341479"/>
            <a:ext cx="702932" cy="234364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1" name="AutoShape 34"/>
          <p:cNvCxnSpPr>
            <a:cxnSpLocks noChangeShapeType="1"/>
            <a:endCxn id="10" idx="1"/>
          </p:cNvCxnSpPr>
          <p:nvPr/>
        </p:nvCxnSpPr>
        <p:spPr bwMode="auto">
          <a:xfrm>
            <a:off x="5728479" y="5404030"/>
            <a:ext cx="693417" cy="81042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2" name="Text Box 35"/>
          <p:cNvSpPr txBox="1">
            <a:spLocks noChangeArrowheads="1"/>
          </p:cNvSpPr>
          <p:nvPr/>
        </p:nvSpPr>
        <p:spPr bwMode="auto">
          <a:xfrm>
            <a:off x="3828775" y="4387144"/>
            <a:ext cx="1567943" cy="920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Interconnect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(Switching)</a:t>
            </a:r>
          </a:p>
          <a:p>
            <a:pPr algn="ctr"/>
            <a:r>
              <a:rPr lang="en-US" sz="1800" dirty="0">
                <a:latin typeface="+mn-lt"/>
              </a:rPr>
              <a:t>Fabric</a:t>
            </a:r>
          </a:p>
        </p:txBody>
      </p:sp>
      <p:sp>
        <p:nvSpPr>
          <p:cNvPr id="40" name="Rectangle 11"/>
          <p:cNvSpPr>
            <a:spLocks noChangeArrowheads="1"/>
          </p:cNvSpPr>
          <p:nvPr/>
        </p:nvSpPr>
        <p:spPr bwMode="auto">
          <a:xfrm>
            <a:off x="3810000" y="1905000"/>
            <a:ext cx="17526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sz="1800" dirty="0">
                <a:latin typeface="+mn-lt"/>
              </a:rPr>
              <a:t>Route/Control 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Processor</a:t>
            </a:r>
          </a:p>
        </p:txBody>
      </p:sp>
      <p:sp>
        <p:nvSpPr>
          <p:cNvPr id="47" name="Text Box 22"/>
          <p:cNvSpPr txBox="1">
            <a:spLocks noChangeArrowheads="1"/>
          </p:cNvSpPr>
          <p:nvPr/>
        </p:nvSpPr>
        <p:spPr bwMode="auto">
          <a:xfrm>
            <a:off x="5930807" y="2864564"/>
            <a:ext cx="2298793" cy="33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b="1" dirty="0">
                <a:latin typeface="Arial" charset="0"/>
              </a:rPr>
              <a:t>Linecard</a:t>
            </a:r>
            <a:r>
              <a:rPr lang="en-US" sz="1600" dirty="0">
                <a:latin typeface="Arial" charset="0"/>
              </a:rPr>
              <a:t>s (output)</a:t>
            </a:r>
            <a:endParaRPr lang="en-US" sz="1600" b="1" dirty="0">
              <a:latin typeface="Arial" charset="0"/>
            </a:endParaRPr>
          </a:p>
        </p:txBody>
      </p:sp>
      <p:cxnSp>
        <p:nvCxnSpPr>
          <p:cNvPr id="48" name="Straight Connector 47"/>
          <p:cNvCxnSpPr/>
          <p:nvPr/>
        </p:nvCxnSpPr>
        <p:spPr bwMode="auto">
          <a:xfrm>
            <a:off x="304800" y="2667000"/>
            <a:ext cx="86868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D3A6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298403" y="1917412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3A600"/>
                </a:solidFill>
              </a:rPr>
              <a:t>Control Plane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8403" y="2768025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3A600"/>
                </a:solidFill>
              </a:rPr>
              <a:t>Data Plane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0C39458-3A2F-614C-9745-33D7147A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3D1631DF-4F1C-FD46-8454-BE9E26D6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26308F-101A-3289-7E13-03815DB04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322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linecards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challenge is processing speeds</a:t>
            </a:r>
          </a:p>
          <a:p>
            <a:r>
              <a:rPr lang="en-US" dirty="0"/>
              <a:t>Tasks involved:</a:t>
            </a:r>
          </a:p>
          <a:p>
            <a:pPr lvl="1"/>
            <a:r>
              <a:rPr lang="en-US" dirty="0"/>
              <a:t>Update packet header (easy) </a:t>
            </a:r>
          </a:p>
          <a:p>
            <a:pPr lvl="1"/>
            <a:r>
              <a:rPr lang="en-US" dirty="0"/>
              <a:t>LPM lookup on destination address (harder)</a:t>
            </a:r>
          </a:p>
          <a:p>
            <a:r>
              <a:rPr lang="en-US" dirty="0"/>
              <a:t>Mostly implemented with specialized hardware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6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prefix matching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914400" y="2392362"/>
            <a:ext cx="7221880" cy="2103438"/>
            <a:chOff x="933450" y="2514600"/>
            <a:chExt cx="7220322" cy="2088887"/>
          </a:xfrm>
        </p:grpSpPr>
        <p:sp>
          <p:nvSpPr>
            <p:cNvPr id="8" name="Oval 13"/>
            <p:cNvSpPr>
              <a:spLocks noChangeArrowheads="1"/>
            </p:cNvSpPr>
            <p:nvPr/>
          </p:nvSpPr>
          <p:spPr bwMode="auto">
            <a:xfrm>
              <a:off x="28956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9" name="Oval 14"/>
            <p:cNvSpPr>
              <a:spLocks noChangeArrowheads="1"/>
            </p:cNvSpPr>
            <p:nvPr/>
          </p:nvSpPr>
          <p:spPr bwMode="auto">
            <a:xfrm>
              <a:off x="11430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b="0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0" name="Oval 15"/>
            <p:cNvSpPr>
              <a:spLocks noChangeArrowheads="1"/>
            </p:cNvSpPr>
            <p:nvPr/>
          </p:nvSpPr>
          <p:spPr bwMode="auto">
            <a:xfrm>
              <a:off x="48768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1" name="Oval 16"/>
            <p:cNvSpPr>
              <a:spLocks noChangeArrowheads="1"/>
            </p:cNvSpPr>
            <p:nvPr/>
          </p:nvSpPr>
          <p:spPr bwMode="auto">
            <a:xfrm>
              <a:off x="67056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933450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110000**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14625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110001**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1100****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6571034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1101****</a:t>
              </a:r>
            </a:p>
          </p:txBody>
        </p:sp>
        <p:cxnSp>
          <p:nvCxnSpPr>
            <p:cNvPr id="16" name="AutoShape 13"/>
            <p:cNvCxnSpPr>
              <a:cxnSpLocks noChangeShapeType="1"/>
            </p:cNvCxnSpPr>
            <p:nvPr/>
          </p:nvCxnSpPr>
          <p:spPr bwMode="auto">
            <a:xfrm rot="10800000" flipV="1">
              <a:off x="1790700" y="2808288"/>
              <a:ext cx="1763713" cy="1143000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7" name="AutoShape 14"/>
            <p:cNvCxnSpPr>
              <a:cxnSpLocks noChangeShapeType="1"/>
            </p:cNvCxnSpPr>
            <p:nvPr/>
          </p:nvCxnSpPr>
          <p:spPr bwMode="auto">
            <a:xfrm rot="5400000">
              <a:off x="3567907" y="2985293"/>
              <a:ext cx="838200" cy="11160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" name="AutoShape 15"/>
            <p:cNvCxnSpPr>
              <a:cxnSpLocks noChangeShapeType="1"/>
            </p:cNvCxnSpPr>
            <p:nvPr/>
          </p:nvCxnSpPr>
          <p:spPr bwMode="auto">
            <a:xfrm>
              <a:off x="5764213" y="2808288"/>
              <a:ext cx="1589087" cy="1143000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4691857" y="3156744"/>
              <a:ext cx="838200" cy="750887"/>
            </a:xfrm>
            <a:prstGeom prst="bentConnector3">
              <a:avLst>
                <a:gd name="adj1" fmla="val 51514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20" name="Oval 25"/>
            <p:cNvSpPr>
              <a:spLocks noChangeArrowheads="1"/>
            </p:cNvSpPr>
            <p:nvPr/>
          </p:nvSpPr>
          <p:spPr bwMode="auto">
            <a:xfrm>
              <a:off x="3505200" y="2514600"/>
              <a:ext cx="2209800" cy="609600"/>
            </a:xfrm>
            <a:prstGeom prst="ellipse">
              <a:avLst/>
            </a:prstGeom>
            <a:solidFill>
              <a:srgbClr val="D3A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  <a:latin typeface="+mn-lt"/>
                </a:rPr>
                <a:t>ISP Router</a:t>
              </a:r>
            </a:p>
          </p:txBody>
        </p:sp>
      </p:grpSp>
      <p:cxnSp>
        <p:nvCxnSpPr>
          <p:cNvPr id="21" name="Straight Connector 29"/>
          <p:cNvCxnSpPr>
            <a:cxnSpLocks noChangeShapeType="1"/>
          </p:cNvCxnSpPr>
          <p:nvPr/>
        </p:nvCxnSpPr>
        <p:spPr bwMode="auto">
          <a:xfrm rot="5400000">
            <a:off x="4479131" y="2277268"/>
            <a:ext cx="228600" cy="1588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925637" y="23161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2437" y="30019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8437" y="3044825"/>
            <a:ext cx="8382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6637" y="23161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531" y="5112603"/>
            <a:ext cx="8262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rgbClr val="0000FF"/>
                </a:solidFill>
                <a:latin typeface="+mn-lt"/>
              </a:rPr>
              <a:t>Send to the port with the longest prefix match</a:t>
            </a:r>
          </a:p>
        </p:txBody>
      </p:sp>
    </p:spTree>
    <p:extLst>
      <p:ext uri="{BB962C8B-B14F-4D97-AF65-F5344CB8AC3E}">
        <p14:creationId xmlns:p14="http://schemas.microsoft.com/office/powerpoint/2010/main" val="181865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structure</a:t>
            </a:r>
          </a:p>
        </p:txBody>
      </p:sp>
      <p:sp>
        <p:nvSpPr>
          <p:cNvPr id="34" name="Oval 6"/>
          <p:cNvSpPr>
            <a:spLocks noChangeArrowheads="1"/>
          </p:cNvSpPr>
          <p:nvPr/>
        </p:nvSpPr>
        <p:spPr bwMode="auto">
          <a:xfrm>
            <a:off x="1147763" y="4230688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00*</a:t>
            </a:r>
          </a:p>
        </p:txBody>
      </p:sp>
      <p:sp>
        <p:nvSpPr>
          <p:cNvPr id="35" name="Oval 7"/>
          <p:cNvSpPr>
            <a:spLocks noChangeArrowheads="1"/>
          </p:cNvSpPr>
          <p:nvPr/>
        </p:nvSpPr>
        <p:spPr bwMode="auto">
          <a:xfrm>
            <a:off x="381000" y="5037138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000</a:t>
            </a:r>
          </a:p>
        </p:txBody>
      </p:sp>
      <p:sp>
        <p:nvSpPr>
          <p:cNvPr id="36" name="Oval 8"/>
          <p:cNvSpPr>
            <a:spLocks noChangeArrowheads="1"/>
          </p:cNvSpPr>
          <p:nvPr/>
        </p:nvSpPr>
        <p:spPr bwMode="auto">
          <a:xfrm>
            <a:off x="1800225" y="5075238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001</a:t>
            </a:r>
          </a:p>
        </p:txBody>
      </p:sp>
      <p:sp>
        <p:nvSpPr>
          <p:cNvPr id="37" name="Line 10"/>
          <p:cNvSpPr>
            <a:spLocks noChangeShapeType="1"/>
          </p:cNvSpPr>
          <p:nvPr/>
        </p:nvSpPr>
        <p:spPr bwMode="auto">
          <a:xfrm>
            <a:off x="1571625" y="4576763"/>
            <a:ext cx="422275" cy="498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8" name="Line 11"/>
          <p:cNvSpPr>
            <a:spLocks noChangeShapeType="1"/>
          </p:cNvSpPr>
          <p:nvPr/>
        </p:nvSpPr>
        <p:spPr bwMode="auto">
          <a:xfrm flipH="1">
            <a:off x="765175" y="4576763"/>
            <a:ext cx="422275" cy="498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609600" y="44608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1657350" y="44608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2590800" y="4267200"/>
            <a:ext cx="1919287" cy="1266825"/>
            <a:chOff x="685800" y="4230688"/>
            <a:chExt cx="1919287" cy="1266825"/>
          </a:xfrm>
        </p:grpSpPr>
        <p:sp>
          <p:nvSpPr>
            <p:cNvPr id="49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01*</a:t>
              </a:r>
            </a:p>
          </p:txBody>
        </p:sp>
        <p:sp>
          <p:nvSpPr>
            <p:cNvPr id="50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010</a:t>
              </a:r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011</a:t>
              </a:r>
            </a:p>
          </p:txBody>
        </p:sp>
        <p:sp>
          <p:nvSpPr>
            <p:cNvPr id="52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53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54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996113" y="4267200"/>
            <a:ext cx="1919287" cy="1266825"/>
            <a:chOff x="685800" y="4230688"/>
            <a:chExt cx="1919287" cy="1266825"/>
          </a:xfrm>
        </p:grpSpPr>
        <p:sp>
          <p:nvSpPr>
            <p:cNvPr id="57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11*</a:t>
              </a:r>
            </a:p>
          </p:txBody>
        </p:sp>
        <p:sp>
          <p:nvSpPr>
            <p:cNvPr id="58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110</a:t>
              </a:r>
            </a:p>
          </p:txBody>
        </p:sp>
        <p:sp>
          <p:nvSpPr>
            <p:cNvPr id="59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111</a:t>
              </a:r>
            </a:p>
          </p:txBody>
        </p:sp>
        <p:sp>
          <p:nvSpPr>
            <p:cNvPr id="60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2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800600" y="4267200"/>
            <a:ext cx="1919287" cy="1266825"/>
            <a:chOff x="685800" y="4230688"/>
            <a:chExt cx="1919287" cy="1266825"/>
          </a:xfrm>
        </p:grpSpPr>
        <p:sp>
          <p:nvSpPr>
            <p:cNvPr id="65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10*</a:t>
              </a:r>
            </a:p>
          </p:txBody>
        </p:sp>
        <p:sp>
          <p:nvSpPr>
            <p:cNvPr id="66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100</a:t>
              </a:r>
            </a:p>
          </p:txBody>
        </p:sp>
        <p:sp>
          <p:nvSpPr>
            <p:cNvPr id="67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101</a:t>
              </a:r>
            </a:p>
          </p:txBody>
        </p:sp>
        <p:sp>
          <p:nvSpPr>
            <p:cNvPr id="68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9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70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71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sp>
        <p:nvSpPr>
          <p:cNvPr id="72" name="Oval 6"/>
          <p:cNvSpPr>
            <a:spLocks noChangeArrowheads="1"/>
          </p:cNvSpPr>
          <p:nvPr/>
        </p:nvSpPr>
        <p:spPr bwMode="auto">
          <a:xfrm>
            <a:off x="2290763" y="3429000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0**</a:t>
            </a:r>
          </a:p>
        </p:txBody>
      </p:sp>
      <p:sp>
        <p:nvSpPr>
          <p:cNvPr id="75" name="Line 10"/>
          <p:cNvSpPr>
            <a:spLocks noChangeShapeType="1"/>
          </p:cNvSpPr>
          <p:nvPr/>
        </p:nvSpPr>
        <p:spPr bwMode="auto">
          <a:xfrm>
            <a:off x="2714625" y="3775075"/>
            <a:ext cx="714375" cy="644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6" name="Line 11"/>
          <p:cNvSpPr>
            <a:spLocks noChangeShapeType="1"/>
          </p:cNvSpPr>
          <p:nvPr/>
        </p:nvSpPr>
        <p:spPr bwMode="auto">
          <a:xfrm flipH="1">
            <a:off x="1600200" y="3775075"/>
            <a:ext cx="730250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7" name="Text Box 19"/>
          <p:cNvSpPr txBox="1">
            <a:spLocks noChangeArrowheads="1"/>
          </p:cNvSpPr>
          <p:nvPr/>
        </p:nvSpPr>
        <p:spPr bwMode="auto">
          <a:xfrm>
            <a:off x="167640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78" name="Text Box 20"/>
          <p:cNvSpPr txBox="1">
            <a:spLocks noChangeArrowheads="1"/>
          </p:cNvSpPr>
          <p:nvPr/>
        </p:nvSpPr>
        <p:spPr bwMode="auto">
          <a:xfrm>
            <a:off x="294005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79" name="Oval 6"/>
          <p:cNvSpPr>
            <a:spLocks noChangeArrowheads="1"/>
          </p:cNvSpPr>
          <p:nvPr/>
        </p:nvSpPr>
        <p:spPr bwMode="auto">
          <a:xfrm>
            <a:off x="6772276" y="3429000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1**</a:t>
            </a:r>
          </a:p>
        </p:txBody>
      </p:sp>
      <p:sp>
        <p:nvSpPr>
          <p:cNvPr id="82" name="Line 10"/>
          <p:cNvSpPr>
            <a:spLocks noChangeShapeType="1"/>
          </p:cNvSpPr>
          <p:nvPr/>
        </p:nvSpPr>
        <p:spPr bwMode="auto">
          <a:xfrm>
            <a:off x="7196138" y="3775075"/>
            <a:ext cx="652462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3" name="Line 11"/>
          <p:cNvSpPr>
            <a:spLocks noChangeShapeType="1"/>
          </p:cNvSpPr>
          <p:nvPr/>
        </p:nvSpPr>
        <p:spPr bwMode="auto">
          <a:xfrm flipH="1">
            <a:off x="5943599" y="3775075"/>
            <a:ext cx="868363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4" name="Text Box 19"/>
          <p:cNvSpPr txBox="1">
            <a:spLocks noChangeArrowheads="1"/>
          </p:cNvSpPr>
          <p:nvPr/>
        </p:nvSpPr>
        <p:spPr bwMode="auto">
          <a:xfrm>
            <a:off x="609600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85" name="Text Box 20"/>
          <p:cNvSpPr txBox="1">
            <a:spLocks noChangeArrowheads="1"/>
          </p:cNvSpPr>
          <p:nvPr/>
        </p:nvSpPr>
        <p:spPr bwMode="auto">
          <a:xfrm>
            <a:off x="743585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86" name="Oval 6"/>
          <p:cNvSpPr>
            <a:spLocks noChangeArrowheads="1"/>
          </p:cNvSpPr>
          <p:nvPr/>
        </p:nvSpPr>
        <p:spPr bwMode="auto">
          <a:xfrm>
            <a:off x="4424363" y="2209800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***</a:t>
            </a:r>
          </a:p>
        </p:txBody>
      </p:sp>
      <p:sp>
        <p:nvSpPr>
          <p:cNvPr id="89" name="Line 10"/>
          <p:cNvSpPr>
            <a:spLocks noChangeShapeType="1"/>
          </p:cNvSpPr>
          <p:nvPr/>
        </p:nvSpPr>
        <p:spPr bwMode="auto">
          <a:xfrm>
            <a:off x="4848225" y="2555875"/>
            <a:ext cx="2009775" cy="949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0" name="Line 11"/>
          <p:cNvSpPr>
            <a:spLocks noChangeShapeType="1"/>
          </p:cNvSpPr>
          <p:nvPr/>
        </p:nvSpPr>
        <p:spPr bwMode="auto">
          <a:xfrm flipH="1">
            <a:off x="2743200" y="2555875"/>
            <a:ext cx="1720850" cy="1025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1" name="Text Box 19"/>
          <p:cNvSpPr txBox="1">
            <a:spLocks noChangeArrowheads="1"/>
          </p:cNvSpPr>
          <p:nvPr/>
        </p:nvSpPr>
        <p:spPr bwMode="auto">
          <a:xfrm>
            <a:off x="3200400" y="25749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92" name="Text Box 20"/>
          <p:cNvSpPr txBox="1">
            <a:spLocks noChangeArrowheads="1"/>
          </p:cNvSpPr>
          <p:nvPr/>
        </p:nvSpPr>
        <p:spPr bwMode="auto">
          <a:xfrm>
            <a:off x="5943600" y="2590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1191161"/>
            <a:ext cx="327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b="0" dirty="0"/>
          </a:p>
          <a:p>
            <a:r>
              <a:rPr lang="en-US" b="0" dirty="0">
                <a:latin typeface="Monaco"/>
                <a:cs typeface="Monaco"/>
              </a:rPr>
              <a:t>  000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1</a:t>
            </a:r>
          </a:p>
          <a:p>
            <a:r>
              <a:rPr lang="en-US" b="0" dirty="0">
                <a:latin typeface="Monaco"/>
                <a:cs typeface="Monaco"/>
              </a:rPr>
              <a:t>  001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2</a:t>
            </a:r>
          </a:p>
          <a:p>
            <a:r>
              <a:rPr lang="en-US" b="0" dirty="0">
                <a:latin typeface="Monaco"/>
                <a:cs typeface="Monaco"/>
              </a:rPr>
              <a:t>  0**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3</a:t>
            </a:r>
          </a:p>
          <a:p>
            <a:r>
              <a:rPr lang="en-US" b="0" dirty="0">
                <a:latin typeface="Monaco"/>
                <a:cs typeface="Monaco"/>
              </a:rPr>
              <a:t>  1**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0531" y="5812264"/>
            <a:ext cx="8262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chemeClr val="accent2"/>
                </a:solidFill>
                <a:latin typeface="+mn-lt"/>
              </a:rPr>
              <a:t>Record port associated with latest match, and only override when it matches another prefix during walk down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C6A66-3E77-ED42-94AA-73BBEB9A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linecards</a:t>
            </a:r>
          </a:p>
        </p:txBody>
      </p:sp>
      <p:sp>
        <p:nvSpPr>
          <p:cNvPr id="71" name="Content Placeholder 7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Packet classification</a:t>
            </a:r>
            <a:r>
              <a:rPr lang="en-US" dirty="0"/>
              <a:t>: map packets to flows</a:t>
            </a:r>
          </a:p>
          <a:p>
            <a:r>
              <a:rPr lang="en-US" dirty="0">
                <a:solidFill>
                  <a:srgbClr val="0000FF"/>
                </a:solidFill>
              </a:rPr>
              <a:t>Buffer management</a:t>
            </a:r>
            <a:r>
              <a:rPr lang="en-US" dirty="0"/>
              <a:t>: decide when and which packet to drop</a:t>
            </a:r>
          </a:p>
          <a:p>
            <a:r>
              <a:rPr lang="en-US" dirty="0">
                <a:solidFill>
                  <a:srgbClr val="0000FF"/>
                </a:solidFill>
              </a:rPr>
              <a:t>Scheduler</a:t>
            </a:r>
            <a:r>
              <a:rPr lang="en-US" dirty="0"/>
              <a:t>: decide when and which packet to transmit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895600" y="4159418"/>
            <a:ext cx="3424238" cy="212883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32" tIns="44374" rIns="90332" bIns="44374" anchor="ctr"/>
          <a:lstStyle/>
          <a:p>
            <a:pPr algn="ctr" defTabSz="912813"/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037013" y="4388018"/>
            <a:ext cx="1065212" cy="1444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5283200" y="4767430"/>
            <a:ext cx="911225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4191000" y="4615019"/>
            <a:ext cx="779463" cy="152400"/>
            <a:chOff x="3636" y="2064"/>
            <a:chExt cx="493" cy="96"/>
          </a:xfrm>
          <a:effectLst/>
        </p:grpSpPr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3696" y="2064"/>
              <a:ext cx="432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4128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3984" y="20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3840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3636" y="2064"/>
              <a:ext cx="1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3636" y="2160"/>
              <a:ext cx="1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</p:grp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5249438" y="4870306"/>
            <a:ext cx="988739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Scheduler</a:t>
            </a:r>
          </a:p>
        </p:txBody>
      </p:sp>
      <p:sp>
        <p:nvSpPr>
          <p:cNvPr id="42" name="Text Box 41"/>
          <p:cNvSpPr txBox="1">
            <a:spLocks noChangeArrowheads="1"/>
          </p:cNvSpPr>
          <p:nvPr/>
        </p:nvSpPr>
        <p:spPr bwMode="auto">
          <a:xfrm>
            <a:off x="4308660" y="4388018"/>
            <a:ext cx="650505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flow 1</a:t>
            </a:r>
          </a:p>
        </p:txBody>
      </p:sp>
      <p:sp>
        <p:nvSpPr>
          <p:cNvPr id="51" name="Text Box 50"/>
          <p:cNvSpPr txBox="1">
            <a:spLocks noChangeArrowheads="1"/>
          </p:cNvSpPr>
          <p:nvPr/>
        </p:nvSpPr>
        <p:spPr bwMode="auto">
          <a:xfrm>
            <a:off x="4327710" y="4845218"/>
            <a:ext cx="650505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flow 2</a:t>
            </a:r>
          </a:p>
        </p:txBody>
      </p:sp>
      <p:grpSp>
        <p:nvGrpSpPr>
          <p:cNvPr id="52" name="Group 51"/>
          <p:cNvGrpSpPr>
            <a:grpSpLocks/>
          </p:cNvGrpSpPr>
          <p:nvPr/>
        </p:nvGrpSpPr>
        <p:grpSpPr bwMode="auto">
          <a:xfrm>
            <a:off x="4208463" y="5602444"/>
            <a:ext cx="781050" cy="152400"/>
            <a:chOff x="3636" y="2064"/>
            <a:chExt cx="493" cy="96"/>
          </a:xfrm>
          <a:effectLst/>
        </p:grpSpPr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3696" y="2064"/>
              <a:ext cx="432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54" name="Line 53"/>
            <p:cNvSpPr>
              <a:spLocks noChangeShapeType="1"/>
            </p:cNvSpPr>
            <p:nvPr/>
          </p:nvSpPr>
          <p:spPr bwMode="auto">
            <a:xfrm>
              <a:off x="4128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>
              <a:off x="3984" y="20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>
              <a:off x="3840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3636" y="2064"/>
              <a:ext cx="10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>
              <a:off x="3636" y="2160"/>
              <a:ext cx="1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</p:grpSp>
      <p:sp>
        <p:nvSpPr>
          <p:cNvPr id="59" name="Text Box 58"/>
          <p:cNvSpPr txBox="1">
            <a:spLocks noChangeArrowheads="1"/>
          </p:cNvSpPr>
          <p:nvPr/>
        </p:nvSpPr>
        <p:spPr bwMode="auto">
          <a:xfrm>
            <a:off x="4328364" y="5361436"/>
            <a:ext cx="649153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flow n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3013075" y="4767430"/>
            <a:ext cx="862013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1" name="Text Box 60"/>
          <p:cNvSpPr txBox="1">
            <a:spLocks noChangeArrowheads="1"/>
          </p:cNvSpPr>
          <p:nvPr/>
        </p:nvSpPr>
        <p:spPr bwMode="auto">
          <a:xfrm>
            <a:off x="2981432" y="4870306"/>
            <a:ext cx="919811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Classifier</a:t>
            </a:r>
          </a:p>
        </p:txBody>
      </p:sp>
      <p:sp>
        <p:nvSpPr>
          <p:cNvPr id="63" name="Line 62"/>
          <p:cNvSpPr>
            <a:spLocks noChangeShapeType="1"/>
          </p:cNvSpPr>
          <p:nvPr/>
        </p:nvSpPr>
        <p:spPr bwMode="auto">
          <a:xfrm flipV="1">
            <a:off x="3886200" y="4691230"/>
            <a:ext cx="304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4" name="Line 63"/>
          <p:cNvSpPr>
            <a:spLocks noChangeShapeType="1"/>
          </p:cNvSpPr>
          <p:nvPr/>
        </p:nvSpPr>
        <p:spPr bwMode="auto">
          <a:xfrm>
            <a:off x="3886200" y="4996030"/>
            <a:ext cx="3048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5" name="Line 64"/>
          <p:cNvSpPr>
            <a:spLocks noChangeShapeType="1"/>
          </p:cNvSpPr>
          <p:nvPr/>
        </p:nvSpPr>
        <p:spPr bwMode="auto">
          <a:xfrm>
            <a:off x="3886200" y="4996030"/>
            <a:ext cx="304800" cy="684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6" name="Line 65"/>
          <p:cNvSpPr>
            <a:spLocks noChangeShapeType="1"/>
          </p:cNvSpPr>
          <p:nvPr/>
        </p:nvSpPr>
        <p:spPr bwMode="auto">
          <a:xfrm>
            <a:off x="4978400" y="4700755"/>
            <a:ext cx="295275" cy="276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7" name="Line 66"/>
          <p:cNvSpPr>
            <a:spLocks noChangeShapeType="1"/>
          </p:cNvSpPr>
          <p:nvPr/>
        </p:nvSpPr>
        <p:spPr bwMode="auto">
          <a:xfrm flipV="1">
            <a:off x="5026025" y="5043655"/>
            <a:ext cx="258763" cy="104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8" name="Line 67"/>
          <p:cNvSpPr>
            <a:spLocks noChangeShapeType="1"/>
          </p:cNvSpPr>
          <p:nvPr/>
        </p:nvSpPr>
        <p:spPr bwMode="auto">
          <a:xfrm flipV="1">
            <a:off x="4999038" y="5148430"/>
            <a:ext cx="255587" cy="522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9" name="Line 68"/>
          <p:cNvSpPr>
            <a:spLocks noChangeShapeType="1"/>
          </p:cNvSpPr>
          <p:nvPr/>
        </p:nvSpPr>
        <p:spPr bwMode="auto">
          <a:xfrm>
            <a:off x="6205538" y="5019842"/>
            <a:ext cx="419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70" name="Text Box 69"/>
          <p:cNvSpPr txBox="1">
            <a:spLocks noChangeArrowheads="1"/>
          </p:cNvSpPr>
          <p:nvPr/>
        </p:nvSpPr>
        <p:spPr bwMode="auto">
          <a:xfrm>
            <a:off x="3840956" y="5804098"/>
            <a:ext cx="1533525" cy="520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Buffer management</a:t>
            </a:r>
            <a:endParaRPr lang="en-US" sz="1400" b="0" dirty="0">
              <a:ln w="0"/>
              <a:solidFill>
                <a:schemeClr val="accent2"/>
              </a:solidFill>
              <a:latin typeface="+mn-lt"/>
            </a:endParaRPr>
          </a:p>
        </p:txBody>
      </p:sp>
      <p:grpSp>
        <p:nvGrpSpPr>
          <p:cNvPr id="72" name="Group 71"/>
          <p:cNvGrpSpPr>
            <a:grpSpLocks/>
          </p:cNvGrpSpPr>
          <p:nvPr/>
        </p:nvGrpSpPr>
        <p:grpSpPr bwMode="auto">
          <a:xfrm>
            <a:off x="4191000" y="5096031"/>
            <a:ext cx="779463" cy="152400"/>
            <a:chOff x="3636" y="2064"/>
            <a:chExt cx="493" cy="96"/>
          </a:xfrm>
          <a:effectLst/>
        </p:grpSpPr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3696" y="2064"/>
              <a:ext cx="432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74" name="Line 35"/>
            <p:cNvSpPr>
              <a:spLocks noChangeShapeType="1"/>
            </p:cNvSpPr>
            <p:nvPr/>
          </p:nvSpPr>
          <p:spPr bwMode="auto">
            <a:xfrm>
              <a:off x="4128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75" name="Line 36"/>
            <p:cNvSpPr>
              <a:spLocks noChangeShapeType="1"/>
            </p:cNvSpPr>
            <p:nvPr/>
          </p:nvSpPr>
          <p:spPr bwMode="auto">
            <a:xfrm>
              <a:off x="3984" y="20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76" name="Line 37"/>
            <p:cNvSpPr>
              <a:spLocks noChangeShapeType="1"/>
            </p:cNvSpPr>
            <p:nvPr/>
          </p:nvSpPr>
          <p:spPr bwMode="auto">
            <a:xfrm>
              <a:off x="3840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3636" y="2064"/>
              <a:ext cx="1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78" name="Line 39"/>
            <p:cNvSpPr>
              <a:spLocks noChangeShapeType="1"/>
            </p:cNvSpPr>
            <p:nvPr/>
          </p:nvSpPr>
          <p:spPr bwMode="auto">
            <a:xfrm>
              <a:off x="3636" y="2160"/>
              <a:ext cx="1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</p:grpSp>
      <p:sp>
        <p:nvSpPr>
          <p:cNvPr id="84" name="Line 68"/>
          <p:cNvSpPr>
            <a:spLocks noChangeShapeType="1"/>
          </p:cNvSpPr>
          <p:nvPr/>
        </p:nvSpPr>
        <p:spPr bwMode="auto">
          <a:xfrm>
            <a:off x="2593975" y="5019842"/>
            <a:ext cx="419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85" name="Date Placeholder 8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6" name="Footer Placeholder 8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7" name="Slide Number Placeholder 8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71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Max-Min fairness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set of bandwidth demands </a:t>
            </a:r>
            <a:r>
              <a:rPr lang="en-US" dirty="0" err="1">
                <a:solidFill>
                  <a:srgbClr val="0000FF"/>
                </a:solidFill>
              </a:rPr>
              <a:t>r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/>
              <a:t> and total bandwidth </a:t>
            </a:r>
            <a:r>
              <a:rPr lang="en-US" dirty="0">
                <a:solidFill>
                  <a:srgbClr val="0000FF"/>
                </a:solidFill>
              </a:rPr>
              <a:t>C</a:t>
            </a:r>
            <a:r>
              <a:rPr lang="en-US" dirty="0"/>
              <a:t>, max-min bandwidth allocations are: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a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  = min(f, </a:t>
            </a:r>
            <a:r>
              <a:rPr lang="en-US" dirty="0" err="1">
                <a:solidFill>
                  <a:srgbClr val="0000FF"/>
                </a:solidFill>
              </a:rPr>
              <a:t>r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lvl="1"/>
            <a:r>
              <a:rPr lang="en-US" dirty="0"/>
              <a:t>where </a:t>
            </a:r>
            <a:r>
              <a:rPr lang="en-US" dirty="0">
                <a:solidFill>
                  <a:srgbClr val="0000FF"/>
                </a:solidFill>
              </a:rPr>
              <a:t>f</a:t>
            </a:r>
            <a:r>
              <a:rPr lang="en-US" dirty="0"/>
              <a:t> is the unique value such that </a:t>
            </a:r>
            <a:r>
              <a:rPr lang="en-US" dirty="0">
                <a:solidFill>
                  <a:srgbClr val="0000FF"/>
                </a:solidFill>
              </a:rPr>
              <a:t>Sum(</a:t>
            </a:r>
            <a:r>
              <a:rPr lang="en-US" dirty="0" err="1">
                <a:solidFill>
                  <a:srgbClr val="0000FF"/>
                </a:solidFill>
              </a:rPr>
              <a:t>a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) = C</a:t>
            </a:r>
          </a:p>
          <a:p>
            <a:pPr lvl="3"/>
            <a:endParaRPr lang="en-US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819400" y="4419600"/>
            <a:ext cx="2805113" cy="1146175"/>
            <a:chOff x="1488" y="2112"/>
            <a:chExt cx="1767" cy="722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488" y="2112"/>
              <a:ext cx="2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FF0000"/>
                  </a:solidFill>
                  <a:latin typeface="Arial" charset="0"/>
                  <a:ea typeface="Arial" charset="0"/>
                </a:rPr>
                <a:t>r</a:t>
              </a:r>
              <a:r>
                <a:rPr lang="en-US" sz="1800" b="0" baseline="-25000" dirty="0">
                  <a:solidFill>
                    <a:srgbClr val="FF0000"/>
                  </a:solidFill>
                  <a:latin typeface="Arial" charset="0"/>
                  <a:ea typeface="Arial" charset="0"/>
                </a:rPr>
                <a:t>1</a:t>
              </a:r>
              <a:endParaRPr lang="en-US" sz="1800" b="0" baseline="-25000" dirty="0">
                <a:latin typeface="Arial" charset="0"/>
                <a:ea typeface="Arial" charset="0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488" y="2361"/>
              <a:ext cx="2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008000"/>
                  </a:solidFill>
                  <a:latin typeface="Arial" charset="0"/>
                  <a:ea typeface="Arial" charset="0"/>
                </a:rPr>
                <a:t>r</a:t>
              </a:r>
              <a:r>
                <a:rPr lang="en-US" sz="1800" b="0" baseline="-25000" dirty="0">
                  <a:solidFill>
                    <a:srgbClr val="008000"/>
                  </a:solidFill>
                  <a:latin typeface="Arial" charset="0"/>
                  <a:ea typeface="Arial" charset="0"/>
                </a:rPr>
                <a:t>2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488" y="2601"/>
              <a:ext cx="2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r</a:t>
              </a:r>
              <a:r>
                <a:rPr lang="en-US" sz="1800" b="0" baseline="-2500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3</a:t>
              </a: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2736" y="2580"/>
              <a:ext cx="33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2736" y="2496"/>
              <a:ext cx="336" cy="0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736" y="2404"/>
              <a:ext cx="336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3058" y="2400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008000"/>
                  </a:solidFill>
                  <a:latin typeface="Arial" charset="0"/>
                  <a:ea typeface="Arial" charset="0"/>
                </a:rPr>
                <a:t>?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3058" y="2256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FF0000"/>
                  </a:solidFill>
                  <a:latin typeface="Arial" charset="0"/>
                  <a:ea typeface="Arial" charset="0"/>
                </a:rPr>
                <a:t>?</a:t>
              </a:r>
              <a:endParaRPr lang="en-US" sz="1800" b="0" dirty="0">
                <a:latin typeface="Arial" charset="0"/>
                <a:ea typeface="Arial" charset="0"/>
              </a:endParaRP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058" y="2523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?</a:t>
              </a: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2688" y="2352"/>
              <a:ext cx="96" cy="288"/>
            </a:xfrm>
            <a:prstGeom prst="ellipse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2064" y="2352"/>
              <a:ext cx="672" cy="288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2064" y="2352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2064" y="2640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2016" y="2352"/>
              <a:ext cx="96" cy="2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1692" y="2256"/>
              <a:ext cx="384" cy="19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1692" y="2496"/>
              <a:ext cx="384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V="1">
              <a:off x="1680" y="2544"/>
              <a:ext cx="384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2111" y="2359"/>
              <a:ext cx="6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 b="0" dirty="0">
                  <a:latin typeface="Arial" charset="0"/>
                  <a:ea typeface="Arial" charset="0"/>
                </a:rPr>
                <a:t>C bits/s</a:t>
              </a:r>
              <a:endParaRPr lang="en-US" b="0" dirty="0">
                <a:latin typeface="Arial" charset="0"/>
                <a:ea typeface="Arial" charset="0"/>
              </a:endParaRPr>
            </a:p>
          </p:txBody>
        </p:sp>
      </p:grp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8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32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= 10; r</a:t>
            </a:r>
            <a:r>
              <a:rPr lang="en-US" baseline="-25000" dirty="0"/>
              <a:t>1</a:t>
            </a:r>
            <a:r>
              <a:rPr lang="en-US" dirty="0"/>
              <a:t> = 8, r</a:t>
            </a:r>
            <a:r>
              <a:rPr lang="en-US" baseline="-25000" dirty="0"/>
              <a:t>2</a:t>
            </a:r>
            <a:r>
              <a:rPr lang="en-US" dirty="0"/>
              <a:t> = 6, r</a:t>
            </a:r>
            <a:r>
              <a:rPr lang="en-US" baseline="-25000" dirty="0"/>
              <a:t>3</a:t>
            </a:r>
            <a:r>
              <a:rPr lang="en-US" dirty="0"/>
              <a:t> = 2; N = 3</a:t>
            </a:r>
          </a:p>
          <a:p>
            <a:r>
              <a:rPr lang="en-US" dirty="0"/>
              <a:t>C/3 = 3.33 </a:t>
            </a:r>
            <a:r>
              <a:rPr lang="en-US" dirty="0">
                <a:sym typeface="Symbol" charset="0"/>
              </a:rPr>
              <a:t></a:t>
            </a:r>
            <a:endParaRPr lang="en-US" dirty="0">
              <a:sym typeface="Wingdings" charset="0"/>
            </a:endParaRPr>
          </a:p>
          <a:p>
            <a:pPr lvl="1"/>
            <a:r>
              <a:rPr lang="en-US" dirty="0">
                <a:sym typeface="Wingdings" charset="0"/>
              </a:rPr>
              <a:t>r</a:t>
            </a:r>
            <a:r>
              <a:rPr lang="en-US" baseline="-25000" dirty="0">
                <a:sym typeface="Wingdings" charset="0"/>
              </a:rPr>
              <a:t>3</a:t>
            </a:r>
            <a:r>
              <a:rPr lang="en-US" dirty="0">
                <a:sym typeface="Wingdings" charset="0"/>
              </a:rPr>
              <a:t> needs only 2</a:t>
            </a:r>
          </a:p>
          <a:p>
            <a:pPr lvl="2"/>
            <a:r>
              <a:rPr lang="en-US" dirty="0">
                <a:sym typeface="Wingdings" charset="0"/>
              </a:rPr>
              <a:t>Can service all of r</a:t>
            </a:r>
            <a:r>
              <a:rPr lang="en-US" baseline="-25000" dirty="0">
                <a:sym typeface="Wingdings" charset="0"/>
              </a:rPr>
              <a:t>3</a:t>
            </a:r>
          </a:p>
          <a:p>
            <a:pPr lvl="1"/>
            <a:r>
              <a:rPr lang="en-US" dirty="0">
                <a:sym typeface="Wingdings" charset="0"/>
              </a:rPr>
              <a:t>Remove r</a:t>
            </a:r>
            <a:r>
              <a:rPr lang="en-US" baseline="-25000" dirty="0">
                <a:sym typeface="Wingdings" charset="0"/>
              </a:rPr>
              <a:t>3</a:t>
            </a:r>
            <a:r>
              <a:rPr lang="en-US" dirty="0">
                <a:sym typeface="Wingdings" charset="0"/>
              </a:rPr>
              <a:t> from the accounting: C = C – r</a:t>
            </a:r>
            <a:r>
              <a:rPr lang="en-US" baseline="-25000" dirty="0">
                <a:sym typeface="Wingdings" charset="0"/>
              </a:rPr>
              <a:t>3</a:t>
            </a:r>
            <a:r>
              <a:rPr lang="en-US" dirty="0">
                <a:sym typeface="Wingdings" charset="0"/>
              </a:rPr>
              <a:t> = 8; N = 2</a:t>
            </a:r>
          </a:p>
          <a:p>
            <a:r>
              <a:rPr lang="en-US" dirty="0">
                <a:sym typeface="Wingdings" charset="0"/>
              </a:rPr>
              <a:t>C/2 = 4 </a:t>
            </a:r>
            <a:r>
              <a:rPr lang="en-US" dirty="0">
                <a:sym typeface="Symbol" charset="0"/>
              </a:rPr>
              <a:t></a:t>
            </a:r>
            <a:endParaRPr lang="en-US" dirty="0">
              <a:sym typeface="Wingdings" charset="0"/>
            </a:endParaRPr>
          </a:p>
          <a:p>
            <a:pPr lvl="1"/>
            <a:r>
              <a:rPr lang="en-US" dirty="0">
                <a:sym typeface="Wingdings" charset="0"/>
              </a:rPr>
              <a:t>Can’t service all of r</a:t>
            </a:r>
            <a:r>
              <a:rPr lang="en-US" baseline="-25000" dirty="0">
                <a:sym typeface="Wingdings" charset="0"/>
              </a:rPr>
              <a:t>1</a:t>
            </a:r>
            <a:r>
              <a:rPr lang="en-US" dirty="0">
                <a:sym typeface="Wingdings" charset="0"/>
              </a:rPr>
              <a:t> or r</a:t>
            </a:r>
            <a:r>
              <a:rPr lang="en-US" baseline="-25000" dirty="0">
                <a:sym typeface="Wingdings" charset="0"/>
              </a:rPr>
              <a:t>2</a:t>
            </a:r>
          </a:p>
          <a:p>
            <a:pPr lvl="1"/>
            <a:r>
              <a:rPr lang="en-US" dirty="0">
                <a:sym typeface="Wingdings" charset="0"/>
              </a:rPr>
              <a:t>So hold them to the remaining fair share: f = 4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05000" y="5410200"/>
            <a:ext cx="4876800" cy="1295400"/>
            <a:chOff x="1488" y="2016"/>
            <a:chExt cx="3072" cy="816"/>
          </a:xfrm>
        </p:grpSpPr>
        <p:sp>
          <p:nvSpPr>
            <p:cNvPr id="73734" name="Text Box 5"/>
            <p:cNvSpPr txBox="1">
              <a:spLocks noChangeArrowheads="1"/>
            </p:cNvSpPr>
            <p:nvPr/>
          </p:nvSpPr>
          <p:spPr bwMode="auto">
            <a:xfrm>
              <a:off x="1488" y="2112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rgbClr val="FF0000"/>
                  </a:solidFill>
                  <a:latin typeface="Arial" charset="0"/>
                  <a:ea typeface="Arial" charset="0"/>
                </a:rPr>
                <a:t>8</a:t>
              </a:r>
              <a:endParaRPr lang="en-US" sz="1800" b="0">
                <a:latin typeface="Arial" charset="0"/>
                <a:ea typeface="Arial" charset="0"/>
              </a:endParaRPr>
            </a:p>
          </p:txBody>
        </p:sp>
        <p:sp>
          <p:nvSpPr>
            <p:cNvPr id="73735" name="Text Box 6"/>
            <p:cNvSpPr txBox="1">
              <a:spLocks noChangeArrowheads="1"/>
            </p:cNvSpPr>
            <p:nvPr/>
          </p:nvSpPr>
          <p:spPr bwMode="auto">
            <a:xfrm>
              <a:off x="1488" y="2361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rgbClr val="66CCFF"/>
                  </a:solidFill>
                  <a:latin typeface="Arial" charset="0"/>
                  <a:ea typeface="Arial" charset="0"/>
                </a:rPr>
                <a:t>6</a:t>
              </a:r>
            </a:p>
          </p:txBody>
        </p:sp>
        <p:sp>
          <p:nvSpPr>
            <p:cNvPr id="73736" name="Text Box 7"/>
            <p:cNvSpPr txBox="1">
              <a:spLocks noChangeArrowheads="1"/>
            </p:cNvSpPr>
            <p:nvPr/>
          </p:nvSpPr>
          <p:spPr bwMode="auto">
            <a:xfrm>
              <a:off x="1488" y="2601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chemeClr val="accent2"/>
                  </a:solidFill>
                  <a:latin typeface="Arial" charset="0"/>
                  <a:ea typeface="Arial" charset="0"/>
                </a:rPr>
                <a:t>2</a:t>
              </a:r>
              <a:endParaRPr lang="en-US" sz="1800" b="0">
                <a:latin typeface="Arial" charset="0"/>
                <a:ea typeface="Arial" charset="0"/>
              </a:endParaRPr>
            </a:p>
          </p:txBody>
        </p:sp>
        <p:sp>
          <p:nvSpPr>
            <p:cNvPr id="73737" name="Line 8"/>
            <p:cNvSpPr>
              <a:spLocks noChangeShapeType="1"/>
            </p:cNvSpPr>
            <p:nvPr/>
          </p:nvSpPr>
          <p:spPr bwMode="auto">
            <a:xfrm>
              <a:off x="2736" y="2580"/>
              <a:ext cx="33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38" name="Line 9"/>
            <p:cNvSpPr>
              <a:spLocks noChangeShapeType="1"/>
            </p:cNvSpPr>
            <p:nvPr/>
          </p:nvSpPr>
          <p:spPr bwMode="auto">
            <a:xfrm>
              <a:off x="2736" y="2496"/>
              <a:ext cx="336" cy="0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39" name="Line 10"/>
            <p:cNvSpPr>
              <a:spLocks noChangeShapeType="1"/>
            </p:cNvSpPr>
            <p:nvPr/>
          </p:nvSpPr>
          <p:spPr bwMode="auto">
            <a:xfrm>
              <a:off x="2736" y="2404"/>
              <a:ext cx="336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0" name="Text Box 11"/>
            <p:cNvSpPr txBox="1">
              <a:spLocks noChangeArrowheads="1"/>
            </p:cNvSpPr>
            <p:nvPr/>
          </p:nvSpPr>
          <p:spPr bwMode="auto">
            <a:xfrm>
              <a:off x="3051" y="2400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rgbClr val="66CCFF"/>
                  </a:solidFill>
                  <a:latin typeface="Arial" charset="0"/>
                  <a:ea typeface="Arial" charset="0"/>
                </a:rPr>
                <a:t>4</a:t>
              </a:r>
            </a:p>
          </p:txBody>
        </p:sp>
        <p:sp>
          <p:nvSpPr>
            <p:cNvPr id="73741" name="Text Box 12"/>
            <p:cNvSpPr txBox="1">
              <a:spLocks noChangeArrowheads="1"/>
            </p:cNvSpPr>
            <p:nvPr/>
          </p:nvSpPr>
          <p:spPr bwMode="auto">
            <a:xfrm>
              <a:off x="3060" y="225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rgbClr val="FF0000"/>
                  </a:solidFill>
                  <a:latin typeface="Arial" charset="0"/>
                  <a:ea typeface="Arial" charset="0"/>
                </a:rPr>
                <a:t>4</a:t>
              </a:r>
              <a:endParaRPr lang="en-US" sz="1800" b="0">
                <a:latin typeface="Arial" charset="0"/>
                <a:ea typeface="Arial" charset="0"/>
              </a:endParaRPr>
            </a:p>
          </p:txBody>
        </p:sp>
        <p:sp>
          <p:nvSpPr>
            <p:cNvPr id="73742" name="Text Box 13"/>
            <p:cNvSpPr txBox="1">
              <a:spLocks noChangeArrowheads="1"/>
            </p:cNvSpPr>
            <p:nvPr/>
          </p:nvSpPr>
          <p:spPr bwMode="auto">
            <a:xfrm>
              <a:off x="3060" y="2523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chemeClr val="accent2"/>
                  </a:solidFill>
                  <a:latin typeface="Arial" charset="0"/>
                  <a:ea typeface="Arial" charset="0"/>
                </a:rPr>
                <a:t>2</a:t>
              </a:r>
              <a:endParaRPr lang="en-US" sz="1800" b="0">
                <a:latin typeface="Arial" charset="0"/>
                <a:ea typeface="Arial" charset="0"/>
              </a:endParaRPr>
            </a:p>
          </p:txBody>
        </p:sp>
        <p:sp>
          <p:nvSpPr>
            <p:cNvPr id="73743" name="Text Box 14"/>
            <p:cNvSpPr txBox="1">
              <a:spLocks noChangeArrowheads="1"/>
            </p:cNvSpPr>
            <p:nvPr/>
          </p:nvSpPr>
          <p:spPr bwMode="auto">
            <a:xfrm>
              <a:off x="3592" y="2034"/>
              <a:ext cx="968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i="1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f </a:t>
              </a:r>
              <a:r>
                <a:rPr lang="en-US" sz="1800" b="0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= 4:  </a:t>
              </a:r>
            </a:p>
            <a:p>
              <a:pPr algn="l"/>
              <a:r>
                <a:rPr lang="en-US" sz="1800" b="0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min(8, 4) = 4 </a:t>
              </a:r>
            </a:p>
            <a:p>
              <a:pPr algn="l"/>
              <a:r>
                <a:rPr lang="en-US" sz="1800" b="0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min(6, 4) = 4 </a:t>
              </a:r>
            </a:p>
            <a:p>
              <a:pPr algn="l"/>
              <a:r>
                <a:rPr lang="en-US" sz="1800" b="0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min(2, 4) = 2</a:t>
              </a:r>
              <a:r>
                <a:rPr lang="en-US" sz="1600" b="0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 </a:t>
              </a:r>
            </a:p>
          </p:txBody>
        </p:sp>
        <p:sp>
          <p:nvSpPr>
            <p:cNvPr id="73744" name="Oval 15"/>
            <p:cNvSpPr>
              <a:spLocks noChangeArrowheads="1"/>
            </p:cNvSpPr>
            <p:nvPr/>
          </p:nvSpPr>
          <p:spPr bwMode="auto">
            <a:xfrm>
              <a:off x="2688" y="2352"/>
              <a:ext cx="96" cy="288"/>
            </a:xfrm>
            <a:prstGeom prst="ellipse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5" name="Rectangle 16"/>
            <p:cNvSpPr>
              <a:spLocks noChangeArrowheads="1"/>
            </p:cNvSpPr>
            <p:nvPr/>
          </p:nvSpPr>
          <p:spPr bwMode="auto">
            <a:xfrm>
              <a:off x="2064" y="2352"/>
              <a:ext cx="672" cy="288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6" name="Line 17"/>
            <p:cNvSpPr>
              <a:spLocks noChangeShapeType="1"/>
            </p:cNvSpPr>
            <p:nvPr/>
          </p:nvSpPr>
          <p:spPr bwMode="auto">
            <a:xfrm>
              <a:off x="2064" y="2352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7" name="Line 18"/>
            <p:cNvSpPr>
              <a:spLocks noChangeShapeType="1"/>
            </p:cNvSpPr>
            <p:nvPr/>
          </p:nvSpPr>
          <p:spPr bwMode="auto">
            <a:xfrm>
              <a:off x="2064" y="2640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8" name="Oval 19"/>
            <p:cNvSpPr>
              <a:spLocks noChangeArrowheads="1"/>
            </p:cNvSpPr>
            <p:nvPr/>
          </p:nvSpPr>
          <p:spPr bwMode="auto">
            <a:xfrm>
              <a:off x="2016" y="2352"/>
              <a:ext cx="96" cy="2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9" name="Line 20"/>
            <p:cNvSpPr>
              <a:spLocks noChangeShapeType="1"/>
            </p:cNvSpPr>
            <p:nvPr/>
          </p:nvSpPr>
          <p:spPr bwMode="auto">
            <a:xfrm>
              <a:off x="1692" y="2256"/>
              <a:ext cx="384" cy="19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50" name="Line 21"/>
            <p:cNvSpPr>
              <a:spLocks noChangeShapeType="1"/>
            </p:cNvSpPr>
            <p:nvPr/>
          </p:nvSpPr>
          <p:spPr bwMode="auto">
            <a:xfrm>
              <a:off x="1692" y="2496"/>
              <a:ext cx="384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51" name="Line 22"/>
            <p:cNvSpPr>
              <a:spLocks noChangeShapeType="1"/>
            </p:cNvSpPr>
            <p:nvPr/>
          </p:nvSpPr>
          <p:spPr bwMode="auto">
            <a:xfrm flipV="1">
              <a:off x="1680" y="2544"/>
              <a:ext cx="384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52" name="Text Box 23"/>
            <p:cNvSpPr txBox="1">
              <a:spLocks noChangeArrowheads="1"/>
            </p:cNvSpPr>
            <p:nvPr/>
          </p:nvSpPr>
          <p:spPr bwMode="auto">
            <a:xfrm>
              <a:off x="2271" y="2159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 b="0">
                  <a:latin typeface="Arial" charset="0"/>
                  <a:ea typeface="Arial" charset="0"/>
                </a:rPr>
                <a:t>10</a:t>
              </a:r>
              <a:endParaRPr lang="en-US" b="0">
                <a:latin typeface="Arial" charset="0"/>
                <a:ea typeface="Arial" charset="0"/>
              </a:endParaRPr>
            </a:p>
          </p:txBody>
        </p:sp>
        <p:sp>
          <p:nvSpPr>
            <p:cNvPr id="73753" name="Rectangle 24"/>
            <p:cNvSpPr>
              <a:spLocks noChangeArrowheads="1"/>
            </p:cNvSpPr>
            <p:nvPr/>
          </p:nvSpPr>
          <p:spPr bwMode="auto">
            <a:xfrm>
              <a:off x="3552" y="2016"/>
              <a:ext cx="1008" cy="81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86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Max-Min fairness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set of bandwidth demands </a:t>
            </a:r>
            <a:r>
              <a:rPr lang="en-US" dirty="0" err="1">
                <a:solidFill>
                  <a:srgbClr val="0000FF"/>
                </a:solidFill>
              </a:rPr>
              <a:t>r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/>
              <a:t> and total bandwidth </a:t>
            </a:r>
            <a:r>
              <a:rPr lang="en-US" dirty="0">
                <a:solidFill>
                  <a:srgbClr val="0000FF"/>
                </a:solidFill>
              </a:rPr>
              <a:t>C</a:t>
            </a:r>
            <a:r>
              <a:rPr lang="en-US" dirty="0"/>
              <a:t>, max-min bandwidth allocations are: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a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  = min(f, </a:t>
            </a:r>
            <a:r>
              <a:rPr lang="en-US" dirty="0" err="1">
                <a:solidFill>
                  <a:srgbClr val="0000FF"/>
                </a:solidFill>
              </a:rPr>
              <a:t>r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lvl="1"/>
            <a:r>
              <a:rPr lang="en-US" dirty="0"/>
              <a:t>where </a:t>
            </a:r>
            <a:r>
              <a:rPr lang="en-US" dirty="0">
                <a:solidFill>
                  <a:srgbClr val="0000FF"/>
                </a:solidFill>
              </a:rPr>
              <a:t>f</a:t>
            </a:r>
            <a:r>
              <a:rPr lang="en-US" dirty="0"/>
              <a:t> is the unique value such that </a:t>
            </a:r>
            <a:r>
              <a:rPr lang="en-US" dirty="0">
                <a:solidFill>
                  <a:srgbClr val="0000FF"/>
                </a:solidFill>
              </a:rPr>
              <a:t>Sum(</a:t>
            </a:r>
            <a:r>
              <a:rPr lang="en-US" dirty="0" err="1">
                <a:solidFill>
                  <a:srgbClr val="0000FF"/>
                </a:solidFill>
              </a:rPr>
              <a:t>a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) = C</a:t>
            </a:r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If you don’t get full demand, no one gets more than you</a:t>
            </a:r>
          </a:p>
          <a:p>
            <a:r>
              <a:rPr lang="en-US" dirty="0"/>
              <a:t>This is what round-robin service gives if all packets are the same size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7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6D70-B7B3-01BB-F8E1-5E2C27A00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>
            <a:extLst>
              <a:ext uri="{FF2B5EF4-FFF2-40B4-BE49-F238E27FC236}">
                <a16:creationId xmlns:a16="http://schemas.microsoft.com/office/drawing/2014/main" id="{8BEA2581-7A81-C90F-795C-EA0382699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>
            <a:extLst>
              <a:ext uri="{FF2B5EF4-FFF2-40B4-BE49-F238E27FC236}">
                <a16:creationId xmlns:a16="http://schemas.microsoft.com/office/drawing/2014/main" id="{A6F444C3-CF06-00D2-2ADB-CA0C1764FE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Network layer (lectures 10–15)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Addressing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plane</a:t>
            </a:r>
          </a:p>
          <a:p>
            <a:pPr lvl="1"/>
            <a:r>
              <a:rPr lang="en-US" dirty="0"/>
              <a:t>Intra-domain routing </a:t>
            </a:r>
          </a:p>
          <a:p>
            <a:pPr lvl="1"/>
            <a:r>
              <a:rPr lang="en-US" dirty="0"/>
              <a:t>Inter-domain routing</a:t>
            </a:r>
          </a:p>
          <a:p>
            <a:r>
              <a:rPr lang="en-US" dirty="0"/>
              <a:t>SDN and programmable networks (lecture 16)</a:t>
            </a:r>
          </a:p>
          <a:p>
            <a:r>
              <a:rPr lang="en-US" dirty="0"/>
              <a:t>Link layer (lectures 17–19)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r>
              <a:rPr lang="en-US" dirty="0"/>
              <a:t>Wireless</a:t>
            </a:r>
          </a:p>
          <a:p>
            <a:r>
              <a:rPr lang="en-US" dirty="0"/>
              <a:t>Datacenter networking (lecture 20)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07AED-37A9-5E74-57FC-1E4CC895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BFE86-7E5C-5DA9-E7C3-6DFDE4D3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FAC5A-ABE7-AEF4-E367-F89B8E48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50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Routing: Local vs. global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Local</a:t>
            </a:r>
            <a:r>
              <a:rPr lang="en-US" dirty="0"/>
              <a:t> routing state is the forwarding table in a single router</a:t>
            </a:r>
          </a:p>
          <a:p>
            <a:pPr lvl="1"/>
            <a:r>
              <a:rPr lang="en-US" dirty="0"/>
              <a:t>By itself, the state in a single router cannot be evaluated </a:t>
            </a:r>
          </a:p>
          <a:p>
            <a:pPr lvl="1"/>
            <a:r>
              <a:rPr lang="en-US" dirty="0"/>
              <a:t>It must be evaluated in terms of the global context</a:t>
            </a:r>
          </a:p>
          <a:p>
            <a:r>
              <a:rPr lang="en-US" i="1" dirty="0"/>
              <a:t>Global</a:t>
            </a:r>
            <a:r>
              <a:rPr lang="en-US" dirty="0"/>
              <a:t> state refers to the collection of forwarding tables in each of the routers</a:t>
            </a:r>
          </a:p>
          <a:p>
            <a:pPr lvl="1"/>
            <a:r>
              <a:rPr lang="en-US" dirty="0"/>
              <a:t>Global state determines which paths packets take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0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“Valid” routing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state is “valid” if it produces forwarding decisions that always deliver packets to their destinations</a:t>
            </a:r>
          </a:p>
          <a:p>
            <a:r>
              <a:rPr lang="en-US" dirty="0"/>
              <a:t>Goal of routing protocols: compute valid state</a:t>
            </a:r>
          </a:p>
          <a:p>
            <a:pPr lvl="1"/>
            <a:r>
              <a:rPr lang="en-US" dirty="0"/>
              <a:t>How can we tell if routing state if valid?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0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and sufficient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routing state is valid </a:t>
            </a:r>
            <a:r>
              <a:rPr lang="en-US" i="1" dirty="0">
                <a:solidFill>
                  <a:srgbClr val="0000FF"/>
                </a:solidFill>
              </a:rPr>
              <a:t>if and only if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There are no dead ends (other than destination)</a:t>
            </a:r>
          </a:p>
          <a:p>
            <a:pPr lvl="1"/>
            <a:r>
              <a:rPr lang="en-US" dirty="0"/>
              <a:t>There are no loops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dead end</a:t>
            </a:r>
            <a:r>
              <a:rPr lang="en-US" dirty="0"/>
              <a:t> is when there is no outgoing link (next-hop)</a:t>
            </a:r>
          </a:p>
          <a:p>
            <a:pPr lvl="1"/>
            <a:r>
              <a:rPr lang="en-US" dirty="0"/>
              <a:t>A packet arrives, but the forwarding decision does not yield any outgoing link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loop</a:t>
            </a:r>
            <a:r>
              <a:rPr lang="en-US" dirty="0"/>
              <a:t> is when a packet cycles around the same set of nodes forever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2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Least-cost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Least-cost routes provide an easy way to avoid loops</a:t>
            </a:r>
          </a:p>
          <a:p>
            <a:pPr lvl="1"/>
            <a:r>
              <a:rPr lang="en-US" dirty="0"/>
              <a:t>No reasonable cost metric is minimized by traversing a loop</a:t>
            </a:r>
          </a:p>
          <a:p>
            <a:r>
              <a:rPr lang="en-US" dirty="0"/>
              <a:t>Least-cost paths form a spanning tree for each destination rooted at that destination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9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Intra-domain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Link-state (LS) routing protocol</a:t>
            </a:r>
          </a:p>
          <a:p>
            <a:pPr lvl="1"/>
            <a:r>
              <a:rPr lang="en-US" dirty="0"/>
              <a:t>Dijkstra’s algorithm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Broadcast neighbors’ info to everyone</a:t>
            </a:r>
          </a:p>
          <a:p>
            <a:r>
              <a:rPr lang="en-US" dirty="0"/>
              <a:t>Distance vector (DV) routing protocol</a:t>
            </a:r>
          </a:p>
          <a:p>
            <a:pPr lvl="1"/>
            <a:r>
              <a:rPr lang="en-US" dirty="0"/>
              <a:t>Bellman-Ford algorithm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Gossip to neighbors about everyone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Similarities between LS and DV routing</a:t>
            </a:r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are shortest-path based routing</a:t>
            </a:r>
          </a:p>
          <a:p>
            <a:pPr lvl="1"/>
            <a:r>
              <a:rPr lang="en-US" dirty="0"/>
              <a:t>Minimizing cost metric (link weights) a common optimization goal</a:t>
            </a:r>
          </a:p>
          <a:p>
            <a:pPr lvl="2"/>
            <a:r>
              <a:rPr lang="en-US" dirty="0"/>
              <a:t>Routers share a common view as to what makes a path “good” and how to measure the “goodness” of a path</a:t>
            </a:r>
          </a:p>
          <a:p>
            <a:r>
              <a:rPr lang="en-US" dirty="0"/>
              <a:t>Due to shared goal, commonly used inside an organization</a:t>
            </a:r>
          </a:p>
          <a:p>
            <a:pPr lvl="1"/>
            <a:r>
              <a:rPr lang="en-US" dirty="0"/>
              <a:t>RIP and OSPF are mostly used for </a:t>
            </a:r>
            <a:r>
              <a:rPr lang="en-US" dirty="0">
                <a:solidFill>
                  <a:srgbClr val="0000FF"/>
                </a:solidFill>
              </a:rPr>
              <a:t>intra</a:t>
            </a:r>
            <a:r>
              <a:rPr lang="en-US" dirty="0"/>
              <a:t>-domain routing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2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of LS and DV routing</a:t>
            </a: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Messaging complexity</a:t>
            </a:r>
          </a:p>
          <a:p>
            <a:r>
              <a:rPr lang="en-US" dirty="0"/>
              <a:t>LS: with N nodes, E links,         O(NE) messages sent  </a:t>
            </a:r>
          </a:p>
          <a:p>
            <a:r>
              <a:rPr lang="en-US" dirty="0"/>
              <a:t>DV: exchange between neighbors only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Speed of convergence</a:t>
            </a:r>
          </a:p>
          <a:p>
            <a:r>
              <a:rPr lang="en-US" dirty="0"/>
              <a:t>LS: relatively fast</a:t>
            </a:r>
          </a:p>
          <a:p>
            <a:r>
              <a:rPr lang="en-US" dirty="0"/>
              <a:t>DV: convergence time varies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Count-to-infinity</a:t>
            </a:r>
            <a:r>
              <a:rPr lang="en-US" dirty="0"/>
              <a:t> problem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Robustness: what happens if router malfunctions?</a:t>
            </a:r>
          </a:p>
          <a:p>
            <a:r>
              <a:rPr lang="en-US" dirty="0"/>
              <a:t>LS: </a:t>
            </a:r>
          </a:p>
          <a:p>
            <a:pPr lvl="1"/>
            <a:r>
              <a:rPr lang="en-US" dirty="0"/>
              <a:t>Node can advertise incorrect </a:t>
            </a:r>
            <a:r>
              <a:rPr lang="en-US" dirty="0">
                <a:solidFill>
                  <a:srgbClr val="0000FF"/>
                </a:solidFill>
              </a:rPr>
              <a:t>link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Each node computes its </a:t>
            </a:r>
            <a:r>
              <a:rPr lang="en-US" i="1" dirty="0"/>
              <a:t>own</a:t>
            </a:r>
            <a:r>
              <a:rPr lang="en-US" dirty="0"/>
              <a:t> table</a:t>
            </a:r>
          </a:p>
          <a:p>
            <a:r>
              <a:rPr lang="en-US" dirty="0"/>
              <a:t>DV:</a:t>
            </a:r>
          </a:p>
          <a:p>
            <a:pPr lvl="1"/>
            <a:r>
              <a:rPr lang="en-US" dirty="0"/>
              <a:t>Node can advertise incorrect </a:t>
            </a:r>
            <a:r>
              <a:rPr lang="en-US" dirty="0">
                <a:solidFill>
                  <a:srgbClr val="0000FF"/>
                </a:solidFill>
              </a:rPr>
              <a:t>path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Each node’s table used by others (</a:t>
            </a:r>
            <a:r>
              <a:rPr lang="en-US" dirty="0">
                <a:solidFill>
                  <a:srgbClr val="0000FF"/>
                </a:solidFill>
              </a:rPr>
              <a:t>errors propagate</a:t>
            </a:r>
            <a:r>
              <a:rPr lang="en-US" dirty="0"/>
              <a:t>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2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is key to scalable inter-domain routing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FF"/>
                </a:solidFill>
              </a:rPr>
              <a:t>Ability to aggregate</a:t>
            </a:r>
            <a:r>
              <a:rPr lang="en-US" dirty="0"/>
              <a:t> addresses is crucial for</a:t>
            </a:r>
          </a:p>
          <a:p>
            <a:pPr lvl="1"/>
            <a:r>
              <a:rPr lang="en-US" dirty="0"/>
              <a:t>State: Small forwarding tables at routers</a:t>
            </a:r>
          </a:p>
          <a:p>
            <a:pPr lvl="2"/>
            <a:r>
              <a:rPr lang="en-US" dirty="0"/>
              <a:t>Much less than the number of hosts</a:t>
            </a:r>
          </a:p>
          <a:p>
            <a:pPr lvl="1"/>
            <a:r>
              <a:rPr lang="en-US" dirty="0"/>
              <a:t>Churn: Limited rate of change in routing tables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92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CIDR: C</a:t>
            </a:r>
            <a:r>
              <a:rPr lang="en-US" dirty="0"/>
              <a:t>lassless inter-domain routing</a:t>
            </a:r>
          </a:p>
        </p:txBody>
      </p:sp>
      <p:sp>
        <p:nvSpPr>
          <p:cNvPr id="1382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Flexible division between network and host addresses</a:t>
            </a:r>
          </a:p>
          <a:p>
            <a:r>
              <a:rPr lang="en-US" dirty="0"/>
              <a:t>Offers a better tradeoff between size of the routing table and efficient use of the IP address space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2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in IP addressing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153400" cy="4419600"/>
          </a:xfrm>
        </p:spPr>
        <p:txBody>
          <a:bodyPr/>
          <a:lstStyle/>
          <a:p>
            <a:r>
              <a:rPr lang="en-US" dirty="0"/>
              <a:t>32 bits are partitioned into a prefix and suffix components</a:t>
            </a:r>
          </a:p>
          <a:p>
            <a:r>
              <a:rPr lang="en-US" dirty="0"/>
              <a:t>Prefix is the </a:t>
            </a:r>
            <a:r>
              <a:rPr lang="en-US" dirty="0">
                <a:solidFill>
                  <a:srgbClr val="0000FF"/>
                </a:solidFill>
              </a:rPr>
              <a:t>network </a:t>
            </a:r>
            <a:r>
              <a:rPr lang="en-US" dirty="0"/>
              <a:t>component; suffix is the </a:t>
            </a:r>
            <a:r>
              <a:rPr lang="en-US" dirty="0">
                <a:solidFill>
                  <a:srgbClr val="0000FF"/>
                </a:solidFill>
              </a:rPr>
              <a:t>host </a:t>
            </a:r>
            <a:r>
              <a:rPr lang="en-US" dirty="0"/>
              <a:t>component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Inter-domain routing operates on network prefix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324338" y="3429000"/>
            <a:ext cx="6495324" cy="1985166"/>
            <a:chOff x="762000" y="4343400"/>
            <a:chExt cx="7334250" cy="2352791"/>
          </a:xfrm>
        </p:grpSpPr>
        <p:grpSp>
          <p:nvGrpSpPr>
            <p:cNvPr id="124932" name="Group 4"/>
            <p:cNvGrpSpPr>
              <a:grpSpLocks/>
            </p:cNvGrpSpPr>
            <p:nvPr/>
          </p:nvGrpSpPr>
          <p:grpSpPr bwMode="auto">
            <a:xfrm>
              <a:off x="762000" y="5243513"/>
              <a:ext cx="7334250" cy="633412"/>
              <a:chOff x="428" y="893"/>
              <a:chExt cx="4620" cy="399"/>
            </a:xfrm>
          </p:grpSpPr>
          <p:grpSp>
            <p:nvGrpSpPr>
              <p:cNvPr id="124948" name="Group 5"/>
              <p:cNvGrpSpPr>
                <a:grpSpLocks/>
              </p:cNvGrpSpPr>
              <p:nvPr/>
            </p:nvGrpSpPr>
            <p:grpSpPr bwMode="auto">
              <a:xfrm>
                <a:off x="428" y="904"/>
                <a:ext cx="4616" cy="328"/>
                <a:chOff x="428" y="904"/>
                <a:chExt cx="4616" cy="328"/>
              </a:xfrm>
            </p:grpSpPr>
            <p:sp>
              <p:nvSpPr>
                <p:cNvPr id="932870" name="Rectangle 6"/>
                <p:cNvSpPr>
                  <a:spLocks noChangeArrowheads="1"/>
                </p:cNvSpPr>
                <p:nvPr/>
              </p:nvSpPr>
              <p:spPr bwMode="auto">
                <a:xfrm>
                  <a:off x="428" y="908"/>
                  <a:ext cx="4616" cy="32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600">
                    <a:ea typeface="+mn-ea"/>
                    <a:cs typeface="+mn-cs"/>
                  </a:endParaRPr>
                </a:p>
              </p:txBody>
            </p:sp>
            <p:sp>
              <p:nvSpPr>
                <p:cNvPr id="124954" name="Line 7"/>
                <p:cNvSpPr>
                  <a:spLocks noChangeShapeType="1"/>
                </p:cNvSpPr>
                <p:nvPr/>
              </p:nvSpPr>
              <p:spPr bwMode="auto">
                <a:xfrm>
                  <a:off x="2728" y="904"/>
                  <a:ext cx="0" cy="3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  <p:sp>
              <p:nvSpPr>
                <p:cNvPr id="124955" name="Line 8"/>
                <p:cNvSpPr>
                  <a:spLocks noChangeShapeType="1"/>
                </p:cNvSpPr>
                <p:nvPr/>
              </p:nvSpPr>
              <p:spPr bwMode="auto">
                <a:xfrm>
                  <a:off x="1592" y="904"/>
                  <a:ext cx="0" cy="3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  <p:sp>
              <p:nvSpPr>
                <p:cNvPr id="124956" name="Line 9"/>
                <p:cNvSpPr>
                  <a:spLocks noChangeShapeType="1"/>
                </p:cNvSpPr>
                <p:nvPr/>
              </p:nvSpPr>
              <p:spPr bwMode="auto">
                <a:xfrm>
                  <a:off x="3896" y="912"/>
                  <a:ext cx="0" cy="3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</p:grpSp>
          <p:sp>
            <p:nvSpPr>
              <p:cNvPr id="124949" name="Rectangle 10"/>
              <p:cNvSpPr>
                <a:spLocks noChangeArrowheads="1"/>
              </p:cNvSpPr>
              <p:nvPr/>
            </p:nvSpPr>
            <p:spPr bwMode="auto">
              <a:xfrm>
                <a:off x="438" y="893"/>
                <a:ext cx="114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00001100</a:t>
                </a:r>
              </a:p>
            </p:txBody>
          </p:sp>
          <p:sp>
            <p:nvSpPr>
              <p:cNvPr id="124950" name="Rectangle 11"/>
              <p:cNvSpPr>
                <a:spLocks noChangeArrowheads="1"/>
              </p:cNvSpPr>
              <p:nvPr/>
            </p:nvSpPr>
            <p:spPr bwMode="auto">
              <a:xfrm>
                <a:off x="1606" y="893"/>
                <a:ext cx="115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00100010</a:t>
                </a:r>
              </a:p>
            </p:txBody>
          </p:sp>
          <p:sp>
            <p:nvSpPr>
              <p:cNvPr id="124951" name="Rectangle 12"/>
              <p:cNvSpPr>
                <a:spLocks noChangeArrowheads="1"/>
              </p:cNvSpPr>
              <p:nvPr/>
            </p:nvSpPr>
            <p:spPr bwMode="auto">
              <a:xfrm>
                <a:off x="2758" y="901"/>
                <a:ext cx="1125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1001111</a:t>
                </a:r>
                <a:r>
                  <a:rPr lang="en-US" sz="2800" b="0" dirty="0">
                    <a:solidFill>
                      <a:srgbClr val="000090"/>
                    </a:solidFill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24952" name="Rectangle 13"/>
              <p:cNvSpPr>
                <a:spLocks noChangeArrowheads="1"/>
              </p:cNvSpPr>
              <p:nvPr/>
            </p:nvSpPr>
            <p:spPr bwMode="auto">
              <a:xfrm>
                <a:off x="3894" y="901"/>
                <a:ext cx="115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000090"/>
                    </a:solidFill>
                    <a:latin typeface="Times New Roman" charset="0"/>
                  </a:rPr>
                  <a:t>00000101</a:t>
                </a:r>
              </a:p>
            </p:txBody>
          </p:sp>
        </p:grpSp>
        <p:sp>
          <p:nvSpPr>
            <p:cNvPr id="124933" name="Line 14"/>
            <p:cNvSpPr>
              <a:spLocks noChangeShapeType="1"/>
            </p:cNvSpPr>
            <p:nvPr/>
          </p:nvSpPr>
          <p:spPr bwMode="auto">
            <a:xfrm>
              <a:off x="777875" y="601980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4" name="Rectangle 15"/>
            <p:cNvSpPr>
              <a:spLocks noChangeArrowheads="1"/>
            </p:cNvSpPr>
            <p:nvPr/>
          </p:nvSpPr>
          <p:spPr bwMode="auto">
            <a:xfrm>
              <a:off x="2052628" y="6221224"/>
              <a:ext cx="2367538" cy="438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rgbClr val="D3A600"/>
                  </a:solidFill>
                  <a:latin typeface="Arial" charset="0"/>
                </a:rPr>
                <a:t>Network (23 bits)</a:t>
              </a:r>
              <a:r>
                <a:rPr lang="en-US" b="0" dirty="0">
                  <a:solidFill>
                    <a:srgbClr val="D3A600"/>
                  </a:solidFill>
                  <a:latin typeface="Times New Roman" charset="0"/>
                </a:rPr>
                <a:t> </a:t>
              </a:r>
            </a:p>
          </p:txBody>
        </p:sp>
        <p:sp>
          <p:nvSpPr>
            <p:cNvPr id="124935" name="Line 16"/>
            <p:cNvSpPr>
              <a:spLocks noChangeShapeType="1"/>
            </p:cNvSpPr>
            <p:nvPr/>
          </p:nvSpPr>
          <p:spPr bwMode="auto">
            <a:xfrm flipH="1">
              <a:off x="777875" y="6242050"/>
              <a:ext cx="5157787" cy="190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solidFill>
                  <a:srgbClr val="008000"/>
                </a:solidFill>
              </a:endParaRPr>
            </a:p>
          </p:txBody>
        </p:sp>
        <p:sp>
          <p:nvSpPr>
            <p:cNvPr id="124936" name="Line 17"/>
            <p:cNvSpPr>
              <a:spLocks noChangeShapeType="1"/>
            </p:cNvSpPr>
            <p:nvPr/>
          </p:nvSpPr>
          <p:spPr bwMode="auto">
            <a:xfrm>
              <a:off x="8089900" y="599440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7" name="Line 18"/>
            <p:cNvSpPr>
              <a:spLocks noChangeShapeType="1"/>
            </p:cNvSpPr>
            <p:nvPr/>
          </p:nvSpPr>
          <p:spPr bwMode="auto">
            <a:xfrm>
              <a:off x="5935662" y="593725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8" name="Rectangle 19"/>
            <p:cNvSpPr>
              <a:spLocks noChangeArrowheads="1"/>
            </p:cNvSpPr>
            <p:nvPr/>
          </p:nvSpPr>
          <p:spPr bwMode="auto">
            <a:xfrm>
              <a:off x="6182638" y="6221225"/>
              <a:ext cx="1715936" cy="474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rgbClr val="000090"/>
                  </a:solidFill>
                  <a:latin typeface="Arial" charset="0"/>
                </a:rPr>
                <a:t>Host (9 bits)</a:t>
              </a:r>
              <a:r>
                <a:rPr lang="en-US" b="0" dirty="0">
                  <a:solidFill>
                    <a:srgbClr val="000090"/>
                  </a:solidFill>
                  <a:latin typeface="Times New Roman" charset="0"/>
                </a:rPr>
                <a:t> </a:t>
              </a:r>
            </a:p>
          </p:txBody>
        </p:sp>
        <p:sp>
          <p:nvSpPr>
            <p:cNvPr id="124939" name="Line 20"/>
            <p:cNvSpPr>
              <a:spLocks noChangeShapeType="1"/>
            </p:cNvSpPr>
            <p:nvPr/>
          </p:nvSpPr>
          <p:spPr bwMode="auto">
            <a:xfrm>
              <a:off x="5965825" y="6242050"/>
              <a:ext cx="2120900" cy="190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44" name="Line 25"/>
            <p:cNvSpPr>
              <a:spLocks noChangeShapeType="1"/>
            </p:cNvSpPr>
            <p:nvPr/>
          </p:nvSpPr>
          <p:spPr bwMode="auto">
            <a:xfrm>
              <a:off x="1685925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5" name="Line 26"/>
            <p:cNvSpPr>
              <a:spLocks noChangeShapeType="1"/>
            </p:cNvSpPr>
            <p:nvPr/>
          </p:nvSpPr>
          <p:spPr bwMode="auto">
            <a:xfrm>
              <a:off x="3611562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6" name="Line 27"/>
            <p:cNvSpPr>
              <a:spLocks noChangeShapeType="1"/>
            </p:cNvSpPr>
            <p:nvPr/>
          </p:nvSpPr>
          <p:spPr bwMode="auto">
            <a:xfrm>
              <a:off x="5384800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7" name="Line 28"/>
            <p:cNvSpPr>
              <a:spLocks noChangeShapeType="1"/>
            </p:cNvSpPr>
            <p:nvPr/>
          </p:nvSpPr>
          <p:spPr bwMode="auto">
            <a:xfrm>
              <a:off x="7131050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0" name="Text Box 21"/>
            <p:cNvSpPr txBox="1">
              <a:spLocks noChangeArrowheads="1"/>
            </p:cNvSpPr>
            <p:nvPr/>
          </p:nvSpPr>
          <p:spPr bwMode="auto">
            <a:xfrm>
              <a:off x="1404937" y="4343400"/>
              <a:ext cx="540434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12</a:t>
              </a:r>
            </a:p>
          </p:txBody>
        </p:sp>
        <p:sp>
          <p:nvSpPr>
            <p:cNvPr id="124941" name="Text Box 22"/>
            <p:cNvSpPr txBox="1">
              <a:spLocks noChangeArrowheads="1"/>
            </p:cNvSpPr>
            <p:nvPr/>
          </p:nvSpPr>
          <p:spPr bwMode="auto">
            <a:xfrm>
              <a:off x="3306762" y="4343400"/>
              <a:ext cx="540434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34</a:t>
              </a:r>
            </a:p>
          </p:txBody>
        </p:sp>
        <p:sp>
          <p:nvSpPr>
            <p:cNvPr id="124942" name="Text Box 23"/>
            <p:cNvSpPr txBox="1">
              <a:spLocks noChangeArrowheads="1"/>
            </p:cNvSpPr>
            <p:nvPr/>
          </p:nvSpPr>
          <p:spPr bwMode="auto">
            <a:xfrm>
              <a:off x="4991099" y="4343400"/>
              <a:ext cx="706393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158</a:t>
              </a:r>
            </a:p>
          </p:txBody>
        </p:sp>
        <p:sp>
          <p:nvSpPr>
            <p:cNvPr id="124943" name="Text Box 24"/>
            <p:cNvSpPr txBox="1">
              <a:spLocks noChangeArrowheads="1"/>
            </p:cNvSpPr>
            <p:nvPr/>
          </p:nvSpPr>
          <p:spPr bwMode="auto">
            <a:xfrm>
              <a:off x="6942137" y="4343400"/>
              <a:ext cx="374475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5</a:t>
              </a: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6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structure shapes Inter-domain routing</a:t>
            </a:r>
          </a:p>
        </p:txBody>
      </p:sp>
      <p:sp>
        <p:nvSpPr>
          <p:cNvPr id="181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ASes want freedom to pick routes based on </a:t>
            </a:r>
            <a:r>
              <a:rPr lang="en-US" dirty="0">
                <a:solidFill>
                  <a:srgbClr val="0000FF"/>
                </a:solidFill>
              </a:rPr>
              <a:t>policy 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autonomy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privacy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2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862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4" name="Rectangle 28"/>
          <p:cNvSpPr>
            <a:spLocks noChangeArrowheads="1"/>
          </p:cNvSpPr>
          <p:nvPr/>
        </p:nvSpPr>
        <p:spPr bwMode="auto">
          <a:xfrm>
            <a:off x="76200" y="5029200"/>
            <a:ext cx="4495800" cy="1143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45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relationships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2000" y="1633131"/>
            <a:ext cx="7848600" cy="2940457"/>
            <a:chOff x="762000" y="1633131"/>
            <a:chExt cx="7848600" cy="2940457"/>
          </a:xfrm>
        </p:grpSpPr>
        <p:sp>
          <p:nvSpPr>
            <p:cNvPr id="33" name="Cloud 32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Cloud 33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Cloud 34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Cloud 28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Cloud 31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" name="Cloud 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45067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8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9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0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1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5072" name="Straight Connector 20"/>
          <p:cNvCxnSpPr>
            <a:cxnSpLocks noChangeShapeType="1"/>
          </p:cNvCxnSpPr>
          <p:nvPr/>
        </p:nvCxnSpPr>
        <p:spPr bwMode="auto">
          <a:xfrm>
            <a:off x="1905000" y="5445126"/>
            <a:ext cx="990600" cy="15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Straight Connector 22"/>
          <p:cNvCxnSpPr>
            <a:cxnSpLocks noChangeShapeType="1"/>
          </p:cNvCxnSpPr>
          <p:nvPr/>
        </p:nvCxnSpPr>
        <p:spPr bwMode="auto">
          <a:xfrm>
            <a:off x="1905000" y="5864225"/>
            <a:ext cx="912813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990600" y="5634038"/>
            <a:ext cx="835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775" y="5634038"/>
            <a:ext cx="835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750" y="5214938"/>
            <a:ext cx="141605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9563" y="5214938"/>
            <a:ext cx="1570037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4800600"/>
            <a:ext cx="3602038" cy="461963"/>
          </a:xfrm>
          <a:prstGeom prst="rect">
            <a:avLst/>
          </a:prstGeom>
          <a:solidFill>
            <a:srgbClr val="D3A60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i="1" dirty="0">
                <a:latin typeface="+mn-lt"/>
                <a:ea typeface="+mn-ea"/>
                <a:cs typeface="+mn-cs"/>
              </a:rPr>
              <a:t>Relations between ASes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4800600" y="5029200"/>
            <a:ext cx="4267200" cy="11430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l">
              <a:buFont typeface="Arial"/>
              <a:buChar char="•"/>
              <a:defRPr/>
            </a:pPr>
            <a:r>
              <a:rPr lang="en-US" sz="2400" dirty="0">
                <a:latin typeface="Arial" charset="0"/>
                <a:ea typeface="+mn-ea"/>
                <a:cs typeface="+mn-cs"/>
              </a:rPr>
              <a:t> Customers pay provider</a:t>
            </a:r>
          </a:p>
          <a:p>
            <a:pPr algn="l">
              <a:buFont typeface="Arial"/>
              <a:buChar char="•"/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 Peers don’t pay each other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800" y="4800600"/>
            <a:ext cx="3130985" cy="461665"/>
          </a:xfrm>
          <a:prstGeom prst="rect">
            <a:avLst/>
          </a:prstGeom>
          <a:solidFill>
            <a:srgbClr val="D3A60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i="1" dirty="0">
                <a:latin typeface="+mn-lt"/>
                <a:ea typeface="+mn-ea"/>
                <a:cs typeface="+mn-cs"/>
              </a:rPr>
              <a:t>Business implications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90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follows the money!</a:t>
            </a: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371600" y="2590800"/>
            <a:ext cx="6400800" cy="2398043"/>
            <a:chOff x="762000" y="1633131"/>
            <a:chExt cx="7848600" cy="2940457"/>
          </a:xfrm>
        </p:grpSpPr>
        <p:sp>
          <p:nvSpPr>
            <p:cNvPr id="7" name="Cloud 6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Cloud 7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loud 8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Cloud 9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Cloud 10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Cloud 1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3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" name="Cloud 17"/>
          <p:cNvSpPr/>
          <p:nvPr/>
        </p:nvSpPr>
        <p:spPr bwMode="auto">
          <a:xfrm>
            <a:off x="2590800" y="1295400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Straight Connector 13"/>
          <p:cNvCxnSpPr>
            <a:cxnSpLocks noChangeShapeType="1"/>
          </p:cNvCxnSpPr>
          <p:nvPr/>
        </p:nvCxnSpPr>
        <p:spPr bwMode="auto">
          <a:xfrm flipH="1">
            <a:off x="2381159" y="2116102"/>
            <a:ext cx="438241" cy="68358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064904" y="2884729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1758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1758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8238" y="15240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127195" y="1463189"/>
            <a:ext cx="2016805" cy="731222"/>
            <a:chOff x="7127195" y="1463189"/>
            <a:chExt cx="2016805" cy="731222"/>
          </a:xfrm>
        </p:grpSpPr>
        <p:cxnSp>
          <p:nvCxnSpPr>
            <p:cNvPr id="30" name="Straight Connector 16"/>
            <p:cNvCxnSpPr>
              <a:cxnSpLocks noChangeShapeType="1"/>
            </p:cNvCxnSpPr>
            <p:nvPr/>
          </p:nvCxnSpPr>
          <p:spPr bwMode="auto">
            <a:xfrm>
              <a:off x="7851314" y="1647855"/>
              <a:ext cx="533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7355795" y="1463189"/>
              <a:ext cx="4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46395" y="1463189"/>
              <a:ext cx="492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Cu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27195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58784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cxnSp>
          <p:nvCxnSpPr>
            <p:cNvPr id="35" name="Straight Connector 11"/>
            <p:cNvCxnSpPr>
              <a:cxnSpLocks noChangeShapeType="1"/>
            </p:cNvCxnSpPr>
            <p:nvPr/>
          </p:nvCxnSpPr>
          <p:spPr bwMode="auto">
            <a:xfrm>
              <a:off x="7940401" y="2009745"/>
              <a:ext cx="355226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7" name="Freeform 32"/>
          <p:cNvSpPr>
            <a:spLocks noChangeArrowheads="1"/>
          </p:cNvSpPr>
          <p:nvPr/>
        </p:nvSpPr>
        <p:spPr bwMode="auto">
          <a:xfrm>
            <a:off x="2418319" y="3319392"/>
            <a:ext cx="2019086" cy="1100208"/>
          </a:xfrm>
          <a:custGeom>
            <a:avLst/>
            <a:gdLst>
              <a:gd name="T0" fmla="*/ 51301 w 2597454"/>
              <a:gd name="T1" fmla="*/ 1416579 h 1565160"/>
              <a:gd name="T2" fmla="*/ 70540 w 2597454"/>
              <a:gd name="T3" fmla="*/ 476063 h 1565160"/>
              <a:gd name="T4" fmla="*/ 474540 w 2597454"/>
              <a:gd name="T5" fmla="*/ 92890 h 1565160"/>
              <a:gd name="T6" fmla="*/ 1936639 w 2597454"/>
              <a:gd name="T7" fmla="*/ 40640 h 1565160"/>
              <a:gd name="T8" fmla="*/ 2494546 w 2597454"/>
              <a:gd name="T9" fmla="*/ 336728 h 1565160"/>
              <a:gd name="T10" fmla="*/ 2552260 w 2597454"/>
              <a:gd name="T11" fmla="*/ 1399162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38" name="Freeform 33"/>
          <p:cNvSpPr>
            <a:spLocks noChangeArrowheads="1"/>
          </p:cNvSpPr>
          <p:nvPr/>
        </p:nvSpPr>
        <p:spPr bwMode="auto">
          <a:xfrm>
            <a:off x="4904777" y="3293588"/>
            <a:ext cx="1846982" cy="1100208"/>
          </a:xfrm>
          <a:custGeom>
            <a:avLst/>
            <a:gdLst>
              <a:gd name="T0" fmla="*/ 51301 w 2597454"/>
              <a:gd name="T1" fmla="*/ 1416579 h 1565160"/>
              <a:gd name="T2" fmla="*/ 70540 w 2597454"/>
              <a:gd name="T3" fmla="*/ 476063 h 1565160"/>
              <a:gd name="T4" fmla="*/ 474540 w 2597454"/>
              <a:gd name="T5" fmla="*/ 92890 h 1565160"/>
              <a:gd name="T6" fmla="*/ 1936639 w 2597454"/>
              <a:gd name="T7" fmla="*/ 40640 h 1565160"/>
              <a:gd name="T8" fmla="*/ 2494546 w 2597454"/>
              <a:gd name="T9" fmla="*/ 336728 h 1565160"/>
              <a:gd name="T10" fmla="*/ 2552260 w 2597454"/>
              <a:gd name="T11" fmla="*/ 1399162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cxnSp>
        <p:nvCxnSpPr>
          <p:cNvPr id="39" name="Straight Arrow Connector 41"/>
          <p:cNvCxnSpPr>
            <a:cxnSpLocks noChangeShapeType="1"/>
          </p:cNvCxnSpPr>
          <p:nvPr/>
        </p:nvCxnSpPr>
        <p:spPr bwMode="auto">
          <a:xfrm>
            <a:off x="533400" y="5262563"/>
            <a:ext cx="1295400" cy="1587"/>
          </a:xfrm>
          <a:prstGeom prst="straightConnector1">
            <a:avLst/>
          </a:pr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1946275" y="5033963"/>
            <a:ext cx="206057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traffic allowed</a:t>
            </a:r>
          </a:p>
        </p:txBody>
      </p:sp>
      <p:sp>
        <p:nvSpPr>
          <p:cNvPr id="41" name="Freeform 31"/>
          <p:cNvSpPr>
            <a:spLocks noChangeArrowheads="1"/>
          </p:cNvSpPr>
          <p:nvPr/>
        </p:nvSpPr>
        <p:spPr bwMode="auto">
          <a:xfrm>
            <a:off x="1667142" y="2830078"/>
            <a:ext cx="5802594" cy="1438012"/>
          </a:xfrm>
          <a:custGeom>
            <a:avLst/>
            <a:gdLst>
              <a:gd name="T0" fmla="*/ 311566 w 2597454"/>
              <a:gd name="T1" fmla="*/ 2420048 h 1565160"/>
              <a:gd name="T2" fmla="*/ 428409 w 2597454"/>
              <a:gd name="T3" fmla="*/ 813294 h 1565160"/>
              <a:gd name="T4" fmla="*/ 2882020 w 2597454"/>
              <a:gd name="T5" fmla="*/ 158690 h 1565160"/>
              <a:gd name="T6" fmla="*/ 11761761 w 2597454"/>
              <a:gd name="T7" fmla="*/ 69427 h 1565160"/>
              <a:gd name="T8" fmla="*/ 15150088 w 2597454"/>
              <a:gd name="T9" fmla="*/ 575258 h 1565160"/>
              <a:gd name="T10" fmla="*/ 15500602 w 2597454"/>
              <a:gd name="T11" fmla="*/ 2390294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FF3300"/>
            </a:solidFill>
            <a:prstDash val="dash"/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cxnSp>
        <p:nvCxnSpPr>
          <p:cNvPr id="42" name="Straight Arrow Connector 42"/>
          <p:cNvCxnSpPr>
            <a:cxnSpLocks noChangeShapeType="1"/>
          </p:cNvCxnSpPr>
          <p:nvPr/>
        </p:nvCxnSpPr>
        <p:spPr bwMode="auto">
          <a:xfrm>
            <a:off x="4343400" y="5262563"/>
            <a:ext cx="1295400" cy="1587"/>
          </a:xfrm>
          <a:prstGeom prst="straightConnector1">
            <a:avLst/>
          </a:prstGeom>
          <a:noFill/>
          <a:ln w="50800">
            <a:solidFill>
              <a:srgbClr val="FF3300"/>
            </a:solidFill>
            <a:prstDash val="dash"/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3" name="TextBox 42"/>
          <p:cNvSpPr txBox="1"/>
          <p:nvPr/>
        </p:nvSpPr>
        <p:spPr>
          <a:xfrm>
            <a:off x="5807075" y="5029200"/>
            <a:ext cx="257333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traffic </a:t>
            </a:r>
            <a:r>
              <a:rPr lang="en-US" sz="2400" b="0" u="sng" dirty="0">
                <a:latin typeface="+mn-lt"/>
                <a:ea typeface="+mn-ea"/>
                <a:cs typeface="+mn-cs"/>
              </a:rPr>
              <a:t>not</a:t>
            </a:r>
            <a:r>
              <a:rPr lang="en-US" sz="2400" b="0" dirty="0">
                <a:latin typeface="+mn-lt"/>
                <a:ea typeface="+mn-ea"/>
                <a:cs typeface="+mn-cs"/>
              </a:rPr>
              <a:t> allowed</a:t>
            </a:r>
          </a:p>
        </p:txBody>
      </p:sp>
      <p:sp>
        <p:nvSpPr>
          <p:cNvPr id="44" name="Content Placeholder 39"/>
          <p:cNvSpPr txBox="1">
            <a:spLocks/>
          </p:cNvSpPr>
          <p:nvPr/>
        </p:nvSpPr>
        <p:spPr bwMode="auto">
          <a:xfrm>
            <a:off x="457200" y="56388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 err="1">
                <a:latin typeface="Arial" charset="0"/>
                <a:cs typeface="Arial" charset="0"/>
              </a:rPr>
              <a:t>ASes</a:t>
            </a:r>
            <a:r>
              <a:rPr lang="en-US" b="0" kern="0" dirty="0">
                <a:latin typeface="Arial" charset="0"/>
                <a:cs typeface="Arial" charset="0"/>
              </a:rPr>
              <a:t> provide “transit” between their customers</a:t>
            </a:r>
          </a:p>
          <a:p>
            <a:r>
              <a:rPr lang="en-US" b="0" kern="0" dirty="0">
                <a:latin typeface="Arial" charset="0"/>
                <a:cs typeface="Arial" charset="0"/>
              </a:rPr>
              <a:t>Peers do not provide transit between other peers</a:t>
            </a:r>
          </a:p>
        </p:txBody>
      </p:sp>
      <p:cxnSp>
        <p:nvCxnSpPr>
          <p:cNvPr id="45" name="Straight Connector 13">
            <a:extLst>
              <a:ext uri="{FF2B5EF4-FFF2-40B4-BE49-F238E27FC236}">
                <a16:creationId xmlns:a16="http://schemas.microsoft.com/office/drawing/2014/main" id="{0232AF25-F97D-DD42-9F4B-D66E4ABFCBF7}"/>
              </a:ext>
            </a:extLst>
          </p:cNvPr>
          <p:cNvCxnSpPr>
            <a:cxnSpLocks noChangeShapeType="1"/>
            <a:stCxn id="18" idx="0"/>
            <a:endCxn id="11" idx="3"/>
          </p:cNvCxnSpPr>
          <p:nvPr/>
        </p:nvCxnSpPr>
        <p:spPr bwMode="auto">
          <a:xfrm>
            <a:off x="4391465" y="1808732"/>
            <a:ext cx="2479852" cy="840768"/>
          </a:xfrm>
          <a:prstGeom prst="line">
            <a:avLst/>
          </a:prstGeom>
          <a:noFill/>
          <a:ln w="50800">
            <a:solidFill>
              <a:srgbClr val="00B050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321BCF76-025A-9D45-A501-5DD507F8D007}"/>
              </a:ext>
            </a:extLst>
          </p:cNvPr>
          <p:cNvSpPr/>
          <p:nvPr/>
        </p:nvSpPr>
        <p:spPr bwMode="auto">
          <a:xfrm>
            <a:off x="2933205" y="2303755"/>
            <a:ext cx="3408218" cy="415694"/>
          </a:xfrm>
          <a:custGeom>
            <a:avLst/>
            <a:gdLst>
              <a:gd name="connsiteX0" fmla="*/ 0 w 3408218"/>
              <a:gd name="connsiteY0" fmla="*/ 391944 h 415694"/>
              <a:gd name="connsiteX1" fmla="*/ 1793174 w 3408218"/>
              <a:gd name="connsiteY1" fmla="*/ 58 h 415694"/>
              <a:gd name="connsiteX2" fmla="*/ 3408218 w 3408218"/>
              <a:gd name="connsiteY2" fmla="*/ 415694 h 4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08218" h="415694">
                <a:moveTo>
                  <a:pt x="0" y="391944"/>
                </a:moveTo>
                <a:cubicBezTo>
                  <a:pt x="612569" y="194022"/>
                  <a:pt x="1225138" y="-3900"/>
                  <a:pt x="1793174" y="58"/>
                </a:cubicBezTo>
                <a:cubicBezTo>
                  <a:pt x="2361210" y="4016"/>
                  <a:pt x="2884714" y="209855"/>
                  <a:pt x="3408218" y="415694"/>
                </a:cubicBezTo>
              </a:path>
            </a:pathLst>
          </a:custGeom>
          <a:noFill/>
          <a:ln w="50800" cap="flat" cmpd="sng" algn="ctr">
            <a:solidFill>
              <a:srgbClr val="00B050"/>
            </a:solidFill>
            <a:prstDash val="solid"/>
            <a:round/>
            <a:headEnd type="oval" w="lg" len="lg"/>
            <a:tailEnd type="oval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" name="Straight Connector 13"/>
          <p:cNvCxnSpPr>
            <a:cxnSpLocks noChangeShapeType="1"/>
          </p:cNvCxnSpPr>
          <p:nvPr/>
        </p:nvCxnSpPr>
        <p:spPr bwMode="auto">
          <a:xfrm>
            <a:off x="4117390" y="2096609"/>
            <a:ext cx="305355" cy="64659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4904E5B-68DD-664B-7EAB-7788F74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3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0" grpId="0"/>
      <p:bldP spid="41" grpId="0" animBg="1"/>
      <p:bldP spid="43" grpId="0"/>
      <p:bldP spid="44" grpId="0" build="p"/>
      <p:bldP spid="5" grpId="0" animBg="1"/>
      <p:bldP spid="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inspired by Distance-Vector with four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Shortest-path routes may not be picked to enforce policy</a:t>
            </a:r>
          </a:p>
          <a:p>
            <a:r>
              <a:rPr lang="en-US" dirty="0"/>
              <a:t>Path-Vector routing to avoid loops</a:t>
            </a:r>
          </a:p>
          <a:p>
            <a:r>
              <a:rPr lang="en-US" dirty="0"/>
              <a:t>Selective route advertisement may affect reachability</a:t>
            </a:r>
          </a:p>
          <a:p>
            <a:r>
              <a:rPr lang="en-US" dirty="0"/>
              <a:t>Routes may be aggregated for scalability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2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BGP: Basic idea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4876800" y="2895600"/>
            <a:ext cx="4267200" cy="1295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/>
              <a:t>Each AS </a:t>
            </a:r>
            <a:r>
              <a:rPr lang="en-US" sz="2400" dirty="0">
                <a:solidFill>
                  <a:srgbClr val="0000FF"/>
                </a:solidFill>
              </a:rPr>
              <a:t>selects</a:t>
            </a:r>
            <a:r>
              <a:rPr lang="en-US" sz="2400" dirty="0"/>
              <a:t> the </a:t>
            </a:r>
            <a:br>
              <a:rPr lang="en-US" sz="2400" dirty="0"/>
            </a:br>
            <a:r>
              <a:rPr lang="en-US" sz="2400" dirty="0"/>
              <a:t>“best” route it hears advertised for a prefix</a:t>
            </a:r>
          </a:p>
        </p:txBody>
      </p:sp>
      <p:sp>
        <p:nvSpPr>
          <p:cNvPr id="78" name="Curved Left Arrow 77"/>
          <p:cNvSpPr/>
          <p:nvPr/>
        </p:nvSpPr>
        <p:spPr bwMode="auto">
          <a:xfrm rot="16200000">
            <a:off x="4324350" y="1162050"/>
            <a:ext cx="609600" cy="3009900"/>
          </a:xfrm>
          <a:prstGeom prst="curved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9" name="Content Placeholder 1"/>
          <p:cNvSpPr txBox="1">
            <a:spLocks/>
          </p:cNvSpPr>
          <p:nvPr/>
        </p:nvSpPr>
        <p:spPr bwMode="auto">
          <a:xfrm>
            <a:off x="228600" y="2895600"/>
            <a:ext cx="3810000" cy="1295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>
              <a:buFont typeface="Wingdings" charset="0"/>
              <a:buNone/>
            </a:pPr>
            <a:r>
              <a:rPr lang="en-US" sz="2400" b="0" dirty="0">
                <a:solidFill>
                  <a:schemeClr val="accent2"/>
                </a:solidFill>
              </a:rPr>
              <a:t>An AS advertises </a:t>
            </a:r>
            <a:br>
              <a:rPr lang="en-US" sz="2400" b="0" dirty="0">
                <a:solidFill>
                  <a:schemeClr val="accent2"/>
                </a:solidFill>
              </a:rPr>
            </a:br>
            <a:r>
              <a:rPr lang="en-US" sz="2400" b="0" dirty="0">
                <a:solidFill>
                  <a:schemeClr val="accent2"/>
                </a:solidFill>
              </a:rPr>
              <a:t>(“exports”) </a:t>
            </a:r>
            <a:r>
              <a:rPr lang="en-US" sz="2400" b="0" dirty="0">
                <a:solidFill>
                  <a:srgbClr val="0000FF"/>
                </a:solidFill>
              </a:rPr>
              <a:t>its</a:t>
            </a:r>
            <a:r>
              <a:rPr lang="en-US" sz="2400" b="0" dirty="0">
                <a:solidFill>
                  <a:schemeClr val="accent2"/>
                </a:solidFill>
              </a:rPr>
              <a:t> best routes </a:t>
            </a:r>
            <a:br>
              <a:rPr lang="en-US" sz="2400" b="0" dirty="0">
                <a:solidFill>
                  <a:schemeClr val="accent2"/>
                </a:solidFill>
              </a:rPr>
            </a:br>
            <a:r>
              <a:rPr lang="en-US" sz="2400" b="0" dirty="0">
                <a:solidFill>
                  <a:schemeClr val="accent2"/>
                </a:solidFill>
              </a:rPr>
              <a:t>to one or more IP prefixes</a:t>
            </a:r>
          </a:p>
        </p:txBody>
      </p:sp>
      <p:sp>
        <p:nvSpPr>
          <p:cNvPr id="80" name="Curved Left Arrow 79"/>
          <p:cNvSpPr/>
          <p:nvPr/>
        </p:nvSpPr>
        <p:spPr bwMode="auto">
          <a:xfrm rot="5400000">
            <a:off x="4348550" y="2838450"/>
            <a:ext cx="609599" cy="3009900"/>
          </a:xfrm>
          <a:prstGeom prst="curved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9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8" grpId="0" animBg="1"/>
      <p:bldP spid="79" grpId="0"/>
      <p:bldP spid="8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Policy dictates how routes are “selected” and “exported”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952500" y="4505325"/>
            <a:ext cx="7239000" cy="190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</a:rPr>
              <a:t>Selection</a:t>
            </a:r>
            <a:r>
              <a:rPr lang="en-US" sz="2400" dirty="0"/>
              <a:t>: Which path to use?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Controls whether/how traffic leaves the network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</a:rPr>
              <a:t>Export</a:t>
            </a:r>
            <a:r>
              <a:rPr lang="en-US" sz="2400" dirty="0"/>
              <a:t>: Which path to advertise?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Controls whether/how traffic enters the network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grpSp>
        <p:nvGrpSpPr>
          <p:cNvPr id="8" name="Group 7"/>
          <p:cNvGrpSpPr/>
          <p:nvPr/>
        </p:nvGrpSpPr>
        <p:grpSpPr>
          <a:xfrm>
            <a:off x="7772400" y="2920304"/>
            <a:ext cx="1600200" cy="899221"/>
            <a:chOff x="7620000" y="3215579"/>
            <a:chExt cx="1600200" cy="899221"/>
          </a:xfrm>
          <a:effectLst/>
        </p:grpSpPr>
        <p:sp>
          <p:nvSpPr>
            <p:cNvPr id="53" name="Rounded Rectangular Callout 52"/>
            <p:cNvSpPr/>
            <p:nvPr/>
          </p:nvSpPr>
          <p:spPr bwMode="auto">
            <a:xfrm>
              <a:off x="7924800" y="3429000"/>
              <a:ext cx="990600" cy="685800"/>
            </a:xfrm>
            <a:prstGeom prst="wedgeRoundRectCallout">
              <a:avLst>
                <a:gd name="adj1" fmla="val -47205"/>
                <a:gd name="adj2" fmla="val 10694"/>
                <a:gd name="adj3" fmla="val 16667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620000" y="3215579"/>
              <a:ext cx="1600200" cy="899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b="0" i="1" dirty="0">
                <a:solidFill>
                  <a:srgbClr val="FFFFFF"/>
                </a:solidFill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+mn-lt"/>
                </a:rPr>
                <a:t>Can reach 128.3/16</a:t>
              </a: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+mn-lt"/>
                </a:rPr>
                <a:t>blah blah</a:t>
              </a:r>
            </a:p>
          </p:txBody>
        </p:sp>
      </p:grpSp>
      <p:sp>
        <p:nvSpPr>
          <p:cNvPr id="1979417" name="Text Box 25"/>
          <p:cNvSpPr txBox="1">
            <a:spLocks noChangeArrowheads="1"/>
          </p:cNvSpPr>
          <p:nvPr/>
        </p:nvSpPr>
        <p:spPr bwMode="auto">
          <a:xfrm>
            <a:off x="4937125" y="1447800"/>
            <a:ext cx="2463800" cy="466725"/>
          </a:xfrm>
          <a:prstGeom prst="rect">
            <a:avLst/>
          </a:prstGeom>
          <a:solidFill>
            <a:srgbClr val="FFFFFF"/>
          </a:solidFill>
          <a:ln w="9525" cap="rnd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rgbClr val="0000FF"/>
                </a:solidFill>
                <a:latin typeface="Arial" charset="0"/>
                <a:ea typeface="宋体" charset="0"/>
                <a:cs typeface="宋体" charset="0"/>
              </a:rPr>
              <a:t>Route selection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04800" y="2371725"/>
            <a:ext cx="7848600" cy="2286000"/>
            <a:chOff x="304800" y="2667000"/>
            <a:chExt cx="7848600" cy="2286000"/>
          </a:xfrm>
          <a:effectLst/>
        </p:grpSpPr>
        <p:sp>
          <p:nvSpPr>
            <p:cNvPr id="61454" name="Line 24"/>
            <p:cNvSpPr>
              <a:spLocks noChangeShapeType="1"/>
            </p:cNvSpPr>
            <p:nvPr/>
          </p:nvSpPr>
          <p:spPr bwMode="auto">
            <a:xfrm flipH="1" flipV="1">
              <a:off x="1601788" y="3049588"/>
              <a:ext cx="1141412" cy="150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304800" y="2667000"/>
              <a:ext cx="7848600" cy="2286000"/>
              <a:chOff x="304800" y="2667000"/>
              <a:chExt cx="7848600" cy="2286000"/>
            </a:xfrm>
          </p:grpSpPr>
          <p:sp>
            <p:nvSpPr>
              <p:cNvPr id="197939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2057400" y="2667000"/>
                <a:ext cx="3962400" cy="1981200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A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08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04800" y="2667000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P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61447" name="Line 17"/>
              <p:cNvSpPr>
                <a:spLocks noChangeShapeType="1"/>
              </p:cNvSpPr>
              <p:nvPr/>
            </p:nvSpPr>
            <p:spPr bwMode="auto">
              <a:xfrm flipV="1">
                <a:off x="5562600" y="3201988"/>
                <a:ext cx="9906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48" name="Line 18"/>
              <p:cNvSpPr>
                <a:spLocks noChangeShapeType="1"/>
              </p:cNvSpPr>
              <p:nvPr/>
            </p:nvSpPr>
            <p:spPr bwMode="auto">
              <a:xfrm>
                <a:off x="5562600" y="3582988"/>
                <a:ext cx="1143000" cy="914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414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6477000" y="4116388"/>
                <a:ext cx="1600200" cy="836612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C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1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6553200" y="2822575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B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32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04800" y="3886200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Q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</p:grpSp>
        <p:sp>
          <p:nvSpPr>
            <p:cNvPr id="61468" name="Line 41"/>
            <p:cNvSpPr>
              <a:spLocks noChangeShapeType="1"/>
            </p:cNvSpPr>
            <p:nvPr/>
          </p:nvSpPr>
          <p:spPr bwMode="auto">
            <a:xfrm flipH="1">
              <a:off x="1600200" y="4038600"/>
              <a:ext cx="10668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79424" name="Line 32"/>
          <p:cNvSpPr>
            <a:spLocks noChangeShapeType="1"/>
          </p:cNvSpPr>
          <p:nvPr/>
        </p:nvSpPr>
        <p:spPr bwMode="auto">
          <a:xfrm flipH="1" flipV="1">
            <a:off x="1524000" y="2600325"/>
            <a:ext cx="1219200" cy="152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2057400" y="3514725"/>
            <a:ext cx="304800" cy="533400"/>
            <a:chOff x="1392" y="2688"/>
            <a:chExt cx="192" cy="336"/>
          </a:xfrm>
          <a:effectLst/>
        </p:grpSpPr>
        <p:sp>
          <p:nvSpPr>
            <p:cNvPr id="61476" name="Line 48"/>
            <p:cNvSpPr>
              <a:spLocks noChangeShapeType="1"/>
            </p:cNvSpPr>
            <p:nvPr/>
          </p:nvSpPr>
          <p:spPr bwMode="auto">
            <a:xfrm>
              <a:off x="1392" y="2736"/>
              <a:ext cx="192" cy="24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7" name="Line 49"/>
            <p:cNvSpPr>
              <a:spLocks noChangeShapeType="1"/>
            </p:cNvSpPr>
            <p:nvPr/>
          </p:nvSpPr>
          <p:spPr bwMode="auto">
            <a:xfrm flipH="1">
              <a:off x="1440" y="2688"/>
              <a:ext cx="96" cy="33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79434" name="Line 42"/>
          <p:cNvSpPr>
            <a:spLocks noChangeShapeType="1"/>
          </p:cNvSpPr>
          <p:nvPr/>
        </p:nvSpPr>
        <p:spPr bwMode="auto">
          <a:xfrm flipH="1">
            <a:off x="2286000" y="3590925"/>
            <a:ext cx="457200" cy="76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19" name="Freeform 27"/>
          <p:cNvSpPr>
            <a:spLocks/>
          </p:cNvSpPr>
          <p:nvPr/>
        </p:nvSpPr>
        <p:spPr bwMode="auto">
          <a:xfrm>
            <a:off x="5638800" y="2447925"/>
            <a:ext cx="2971800" cy="546100"/>
          </a:xfrm>
          <a:custGeom>
            <a:avLst/>
            <a:gdLst>
              <a:gd name="T0" fmla="*/ 2147483647 w 1872"/>
              <a:gd name="T1" fmla="*/ 846772500 h 344"/>
              <a:gd name="T2" fmla="*/ 2147483647 w 1872"/>
              <a:gd name="T3" fmla="*/ 725805000 h 344"/>
              <a:gd name="T4" fmla="*/ 2147483647 w 1872"/>
              <a:gd name="T5" fmla="*/ 0 h 344"/>
              <a:gd name="T6" fmla="*/ 0 w 1872"/>
              <a:gd name="T7" fmla="*/ 725805000 h 344"/>
              <a:gd name="T8" fmla="*/ 0 60000 65536"/>
              <a:gd name="T9" fmla="*/ 0 60000 65536"/>
              <a:gd name="T10" fmla="*/ 0 60000 65536"/>
              <a:gd name="T11" fmla="*/ 0 60000 65536"/>
              <a:gd name="T12" fmla="*/ 0 w 1872"/>
              <a:gd name="T13" fmla="*/ 0 h 344"/>
              <a:gd name="T14" fmla="*/ 1872 w 1872"/>
              <a:gd name="T15" fmla="*/ 344 h 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72" h="344">
                <a:moveTo>
                  <a:pt x="1824" y="336"/>
                </a:moveTo>
                <a:cubicBezTo>
                  <a:pt x="1848" y="340"/>
                  <a:pt x="1872" y="344"/>
                  <a:pt x="1728" y="288"/>
                </a:cubicBezTo>
                <a:cubicBezTo>
                  <a:pt x="1584" y="232"/>
                  <a:pt x="1248" y="0"/>
                  <a:pt x="960" y="0"/>
                </a:cubicBezTo>
                <a:cubicBezTo>
                  <a:pt x="672" y="0"/>
                  <a:pt x="336" y="144"/>
                  <a:pt x="0" y="288"/>
                </a:cubicBezTo>
              </a:path>
            </a:pathLst>
          </a:cu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20" name="Freeform 28"/>
          <p:cNvSpPr>
            <a:spLocks/>
          </p:cNvSpPr>
          <p:nvPr/>
        </p:nvSpPr>
        <p:spPr bwMode="auto">
          <a:xfrm>
            <a:off x="5486400" y="3362325"/>
            <a:ext cx="3048000" cy="1066800"/>
          </a:xfrm>
          <a:custGeom>
            <a:avLst/>
            <a:gdLst>
              <a:gd name="T0" fmla="*/ 2147483647 w 1872"/>
              <a:gd name="T1" fmla="*/ 987901250 h 576"/>
              <a:gd name="T2" fmla="*/ 2147483647 w 1872"/>
              <a:gd name="T3" fmla="*/ 1811152292 h 576"/>
              <a:gd name="T4" fmla="*/ 0 w 1872"/>
              <a:gd name="T5" fmla="*/ 0 h 576"/>
              <a:gd name="T6" fmla="*/ 0 60000 65536"/>
              <a:gd name="T7" fmla="*/ 0 60000 65536"/>
              <a:gd name="T8" fmla="*/ 0 60000 65536"/>
              <a:gd name="T9" fmla="*/ 0 w 1872"/>
              <a:gd name="T10" fmla="*/ 0 h 576"/>
              <a:gd name="T11" fmla="*/ 1872 w 187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576">
                <a:moveTo>
                  <a:pt x="1872" y="288"/>
                </a:moveTo>
                <a:cubicBezTo>
                  <a:pt x="1572" y="432"/>
                  <a:pt x="1272" y="576"/>
                  <a:pt x="960" y="528"/>
                </a:cubicBezTo>
                <a:cubicBezTo>
                  <a:pt x="648" y="480"/>
                  <a:pt x="324" y="240"/>
                  <a:pt x="0" y="0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18" name="Line 26"/>
          <p:cNvSpPr>
            <a:spLocks noChangeShapeType="1"/>
          </p:cNvSpPr>
          <p:nvPr/>
        </p:nvSpPr>
        <p:spPr bwMode="auto">
          <a:xfrm flipH="1">
            <a:off x="5486400" y="1838325"/>
            <a:ext cx="762000" cy="114300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669925" y="1371600"/>
            <a:ext cx="2073275" cy="2066925"/>
            <a:chOff x="573" y="1578"/>
            <a:chExt cx="1306" cy="1302"/>
          </a:xfrm>
        </p:grpSpPr>
        <p:sp>
          <p:nvSpPr>
            <p:cNvPr id="61479" name="Line 38"/>
            <p:cNvSpPr>
              <a:spLocks noChangeShapeType="1"/>
            </p:cNvSpPr>
            <p:nvPr/>
          </p:nvSpPr>
          <p:spPr bwMode="auto">
            <a:xfrm>
              <a:off x="1344" y="1776"/>
              <a:ext cx="480" cy="672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80" name="Line 39"/>
            <p:cNvSpPr>
              <a:spLocks noChangeShapeType="1"/>
            </p:cNvSpPr>
            <p:nvPr/>
          </p:nvSpPr>
          <p:spPr bwMode="auto">
            <a:xfrm>
              <a:off x="1296" y="1776"/>
              <a:ext cx="384" cy="1104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78" name="Text Box 37"/>
            <p:cNvSpPr txBox="1">
              <a:spLocks noChangeArrowheads="1"/>
            </p:cNvSpPr>
            <p:nvPr/>
          </p:nvSpPr>
          <p:spPr bwMode="auto">
            <a:xfrm>
              <a:off x="573" y="1578"/>
              <a:ext cx="1306" cy="294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US" altLang="zh-CN" sz="2400" dirty="0">
                  <a:solidFill>
                    <a:srgbClr val="0000FF"/>
                  </a:solidFill>
                  <a:latin typeface="Arial" charset="0"/>
                  <a:ea typeface="宋体" charset="0"/>
                  <a:cs typeface="宋体" charset="0"/>
                </a:rPr>
                <a:t>Route export</a:t>
              </a:r>
            </a:p>
          </p:txBody>
        </p:sp>
      </p:grpSp>
      <p:sp>
        <p:nvSpPr>
          <p:cNvPr id="10" name="Freeform 9"/>
          <p:cNvSpPr/>
          <p:nvPr/>
        </p:nvSpPr>
        <p:spPr>
          <a:xfrm>
            <a:off x="1018158" y="2676525"/>
            <a:ext cx="7059042" cy="675826"/>
          </a:xfrm>
          <a:custGeom>
            <a:avLst/>
            <a:gdLst>
              <a:gd name="connsiteX0" fmla="*/ 0 w 7363842"/>
              <a:gd name="connsiteY0" fmla="*/ 229997 h 675826"/>
              <a:gd name="connsiteX1" fmla="*/ 2378048 w 7363842"/>
              <a:gd name="connsiteY1" fmla="*/ 581256 h 675826"/>
              <a:gd name="connsiteX2" fmla="*/ 5864050 w 7363842"/>
              <a:gd name="connsiteY2" fmla="*/ 327 h 675826"/>
              <a:gd name="connsiteX3" fmla="*/ 7363842 w 7363842"/>
              <a:gd name="connsiteY3" fmla="*/ 675826 h 67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3842" h="675826">
                <a:moveTo>
                  <a:pt x="0" y="229997"/>
                </a:moveTo>
                <a:cubicBezTo>
                  <a:pt x="700353" y="424765"/>
                  <a:pt x="1400706" y="619534"/>
                  <a:pt x="2378048" y="581256"/>
                </a:cubicBezTo>
                <a:cubicBezTo>
                  <a:pt x="3355390" y="542978"/>
                  <a:pt x="5033085" y="-15435"/>
                  <a:pt x="5864050" y="327"/>
                </a:cubicBezTo>
                <a:cubicBezTo>
                  <a:pt x="6695015" y="16089"/>
                  <a:pt x="7363842" y="675826"/>
                  <a:pt x="7363842" y="675826"/>
                </a:cubicBezTo>
              </a:path>
            </a:pathLst>
          </a:custGeom>
          <a:ln w="57150" cmpd="sng">
            <a:solidFill>
              <a:srgbClr val="D3A600"/>
            </a:solidFill>
            <a:prstDash val="dash"/>
            <a:headEnd type="none"/>
            <a:tailEnd type="triangle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8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97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7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97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7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979417" grpId="0" animBg="1"/>
      <p:bldP spid="1979424" grpId="0" animBg="1"/>
      <p:bldP spid="1979434" grpId="0" animBg="1"/>
      <p:bldP spid="1979419" grpId="0" animBg="1"/>
      <p:bldP spid="1979420" grpId="0" animBg="1"/>
      <p:bldP spid="1979418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export policy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78001"/>
          <a:ext cx="7772400" cy="299368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947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Destination</a:t>
                      </a:r>
                      <a:r>
                        <a:rPr lang="en-US" sz="2400" baseline="0" dirty="0"/>
                        <a:t> prefix advertised by…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Export route to…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3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Everyone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(providers, peers, other customers)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Peer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Provider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 bwMode="auto">
          <a:xfrm>
            <a:off x="1143000" y="4953000"/>
            <a:ext cx="6858000" cy="9144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We’ll refer to these as the “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Gao</a:t>
            </a:r>
            <a:r>
              <a:rPr lang="en-US" sz="2400" b="0" dirty="0">
                <a:solidFill>
                  <a:schemeClr val="bg1"/>
                </a:solidFill>
                <a:latin typeface="+mn-lt"/>
              </a:rPr>
              <a:t>-Rexford” rules</a:t>
            </a:r>
          </a:p>
          <a:p>
            <a:pPr algn="ctr"/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(capture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common </a:t>
            </a:r>
            <a:r>
              <a:rPr lang="en-US" sz="2400" b="0" dirty="0">
                <a:solidFill>
                  <a:srgbClr val="D3A600"/>
                </a:solidFill>
              </a:rPr>
              <a:t>–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D3A600"/>
                </a:solidFill>
                <a:effectLst/>
              </a:rPr>
              <a:t>but not required! </a:t>
            </a:r>
            <a:r>
              <a:rPr lang="en-US" sz="2400" b="0" dirty="0">
                <a:solidFill>
                  <a:srgbClr val="D3A600"/>
                </a:solidFill>
              </a:rPr>
              <a:t>–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</a:rPr>
              <a:t>practice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)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using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Rules for route selection in priority order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590800"/>
          <a:ext cx="7010400" cy="34036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Priority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Remarks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LOCAL PREF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Pick highest LOCAL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PREF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ASPATH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Pick shortest ASPATH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length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Lowest MED preferred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eBGP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&gt; </a:t>
                      </a:r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Did AS learn route via </a:t>
                      </a:r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eBGP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(preferred)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or </a:t>
                      </a:r>
                      <a:r>
                        <a:rPr lang="en-US" sz="1800" baseline="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?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path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Lowest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IGP cost to next hop (egress router) 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Router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ID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Smallest next-hop router’s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IP address as tie-breaker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02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eBGP</a:t>
            </a:r>
            <a:r>
              <a:rPr lang="en-US" dirty="0"/>
              <a:t>, </a:t>
            </a:r>
            <a:r>
              <a:rPr lang="en-US" dirty="0" err="1"/>
              <a:t>iBGP</a:t>
            </a:r>
            <a:r>
              <a:rPr lang="en-US" dirty="0"/>
              <a:t>, and IGP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FF"/>
                </a:solidFill>
              </a:rPr>
              <a:t>eBGP</a:t>
            </a:r>
            <a:r>
              <a:rPr lang="en-US" dirty="0"/>
              <a:t>: BGP sessions between border routers in different ASes</a:t>
            </a:r>
          </a:p>
          <a:p>
            <a:pPr lvl="1"/>
            <a:r>
              <a:rPr lang="en-US" dirty="0"/>
              <a:t>Learn routes to external destinations</a:t>
            </a:r>
          </a:p>
          <a:p>
            <a:r>
              <a:rPr lang="en-US" dirty="0" err="1">
                <a:solidFill>
                  <a:srgbClr val="0000FF"/>
                </a:solidFill>
              </a:rPr>
              <a:t>iBGP</a:t>
            </a:r>
            <a:r>
              <a:rPr lang="en-US" dirty="0"/>
              <a:t>: BGP sessions between border routers and other routers within the same AS</a:t>
            </a:r>
          </a:p>
          <a:p>
            <a:pPr lvl="1"/>
            <a:r>
              <a:rPr lang="en-US" dirty="0"/>
              <a:t>Distribute externally learned routes internally</a:t>
            </a:r>
          </a:p>
          <a:p>
            <a:r>
              <a:rPr lang="en-US" dirty="0">
                <a:solidFill>
                  <a:srgbClr val="0000FF"/>
                </a:solidFill>
              </a:rPr>
              <a:t>IGP</a:t>
            </a:r>
            <a:r>
              <a:rPr lang="en-US" dirty="0"/>
              <a:t>: “Interior Gateway Protocol” = Intra-domain routing protocol</a:t>
            </a:r>
          </a:p>
          <a:p>
            <a:pPr lvl="1"/>
            <a:r>
              <a:rPr lang="en-US" dirty="0"/>
              <a:t>Provide internal reachability via shortest path</a:t>
            </a:r>
          </a:p>
          <a:p>
            <a:pPr lvl="1"/>
            <a:r>
              <a:rPr lang="en-US" dirty="0"/>
              <a:t>E.g., OSPF, RIP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5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A70DC6-E321-8E46-B9FF-8F80D3D30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8CC887-B12B-564A-8F04-F2BE0B1C7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AFD1C-FD1B-0544-9F2C-9D991D7A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CB75A-C321-F744-84A7-D74C50CD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82801-AABB-6D41-9F7A-92D483AA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722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B60A15-3C0B-964A-95A0-CFC10CD44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91D4D9-66A7-EF4A-BAF3-79C99B6D2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Teaching evaluations</a:t>
            </a:r>
          </a:p>
          <a:p>
            <a:pPr lvl="1"/>
            <a:r>
              <a:rPr lang="en-US" dirty="0"/>
              <a:t>Due by </a:t>
            </a:r>
            <a:r>
              <a:rPr lang="en-US" dirty="0">
                <a:solidFill>
                  <a:srgbClr val="0000FF"/>
                </a:solidFill>
              </a:rPr>
              <a:t>Apr 23</a:t>
            </a:r>
          </a:p>
          <a:p>
            <a:pPr lvl="1"/>
            <a:r>
              <a:rPr lang="en-US" dirty="0"/>
              <a:t>75% or higher completion rate will result in </a:t>
            </a:r>
            <a:r>
              <a:rPr lang="en-US" dirty="0">
                <a:solidFill>
                  <a:srgbClr val="0000FF"/>
                </a:solidFill>
              </a:rPr>
              <a:t>+1 on the final grade for everyone</a:t>
            </a:r>
          </a:p>
          <a:p>
            <a:pPr lvl="2"/>
            <a:r>
              <a:rPr lang="en-US" dirty="0"/>
              <a:t>We are still below </a:t>
            </a:r>
            <a:r>
              <a:rPr lang="en-US" b="1" dirty="0">
                <a:solidFill>
                  <a:srgbClr val="0000FF"/>
                </a:solidFill>
              </a:rPr>
              <a:t>10%</a:t>
            </a:r>
          </a:p>
          <a:p>
            <a:pPr lvl="2"/>
            <a:endParaRPr lang="en-US" b="1" dirty="0">
              <a:solidFill>
                <a:srgbClr val="0000FF"/>
              </a:solidFill>
            </a:endParaRPr>
          </a:p>
          <a:p>
            <a:r>
              <a:rPr lang="en-US" dirty="0"/>
              <a:t>By popular request, </a:t>
            </a:r>
            <a:r>
              <a:rPr lang="en-US" dirty="0">
                <a:solidFill>
                  <a:srgbClr val="0000FF"/>
                </a:solidFill>
              </a:rPr>
              <a:t>additional sample final exams </a:t>
            </a:r>
            <a:r>
              <a:rPr lang="en-US" dirty="0"/>
              <a:t>will be released this week!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29309-7423-C245-B09C-AD279FC1B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0B767-231E-A942-A567-54C6916C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A1E4A-485B-C54D-88BE-4C108F6B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82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B313-4430-F985-7258-2BED8D0BE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>
            <a:extLst>
              <a:ext uri="{FF2B5EF4-FFF2-40B4-BE49-F238E27FC236}">
                <a16:creationId xmlns:a16="http://schemas.microsoft.com/office/drawing/2014/main" id="{0B4CCBDA-0AA8-C28E-8C2F-FF3132BAC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>
            <a:extLst>
              <a:ext uri="{FF2B5EF4-FFF2-40B4-BE49-F238E27FC236}">
                <a16:creationId xmlns:a16="http://schemas.microsoft.com/office/drawing/2014/main" id="{F078FF9D-2C79-4473-9ECA-F81A948BD3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Network layer (lectures 10–15)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Addressing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plane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Intra-domain routing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Inter-domain routing</a:t>
            </a:r>
          </a:p>
          <a:p>
            <a:r>
              <a:rPr lang="en-US" dirty="0"/>
              <a:t>SDN and programmable networks (lecture 16)</a:t>
            </a:r>
          </a:p>
          <a:p>
            <a:r>
              <a:rPr lang="en-US" dirty="0"/>
              <a:t>Link layer (lectures 17–19)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r>
              <a:rPr lang="en-US" dirty="0"/>
              <a:t>Wireless</a:t>
            </a:r>
          </a:p>
          <a:p>
            <a:r>
              <a:rPr lang="en-US" dirty="0"/>
              <a:t>Datacenter networking (lecture 20)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A741D-39E5-3A12-37E8-7D5E6935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45692-3FAC-29BD-7ED7-F006E74B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7BEC-E78A-EB63-B272-7BFE61FD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669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concerns with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compatible with low-level hardware/software</a:t>
            </a:r>
          </a:p>
          <a:p>
            <a:pPr lvl="1"/>
            <a:r>
              <a:rPr lang="en-US" dirty="0"/>
              <a:t>Need an </a:t>
            </a:r>
            <a:r>
              <a:rPr lang="en-US" dirty="0">
                <a:solidFill>
                  <a:srgbClr val="0000FF"/>
                </a:solidFill>
              </a:rPr>
              <a:t>abstraction for general forwarding model</a:t>
            </a:r>
          </a:p>
          <a:p>
            <a:r>
              <a:rPr lang="en-US" dirty="0"/>
              <a:t>Make decisions based on entire network</a:t>
            </a:r>
          </a:p>
          <a:p>
            <a:pPr lvl="1"/>
            <a:r>
              <a:rPr lang="en-US" dirty="0"/>
              <a:t>Need </a:t>
            </a:r>
            <a:r>
              <a:rPr lang="en-US" dirty="0">
                <a:solidFill>
                  <a:srgbClr val="0000FF"/>
                </a:solidFill>
              </a:rPr>
              <a:t>an abstraction for network state</a:t>
            </a:r>
          </a:p>
          <a:p>
            <a:r>
              <a:rPr lang="en-US" dirty="0"/>
              <a:t>Compute configuration of each physical device</a:t>
            </a:r>
          </a:p>
          <a:p>
            <a:pPr lvl="1"/>
            <a:r>
              <a:rPr lang="en-US" dirty="0"/>
              <a:t>Need </a:t>
            </a:r>
            <a:r>
              <a:rPr lang="en-US" dirty="0">
                <a:solidFill>
                  <a:srgbClr val="0000FF"/>
                </a:solidFill>
              </a:rPr>
              <a:t>an abstraction that simplifies configuration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2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966845"/>
          </a:xfrm>
        </p:spPr>
        <p:txBody>
          <a:bodyPr/>
          <a:lstStyle/>
          <a:p>
            <a:r>
              <a:rPr lang="en-US" dirty="0"/>
              <a:t>Individual routing algorithm components in every router interact in the control plane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fully decentralized control plane</a:t>
            </a:r>
          </a:p>
        </p:txBody>
      </p:sp>
      <p:grpSp>
        <p:nvGrpSpPr>
          <p:cNvPr id="254" name="Group 37"/>
          <p:cNvGrpSpPr>
            <a:grpSpLocks noChangeAspect="1"/>
          </p:cNvGrpSpPr>
          <p:nvPr/>
        </p:nvGrpSpPr>
        <p:grpSpPr bwMode="auto">
          <a:xfrm>
            <a:off x="762000" y="5605384"/>
            <a:ext cx="1529905" cy="402607"/>
            <a:chOff x="885372" y="3276600"/>
            <a:chExt cx="1172028" cy="228600"/>
          </a:xfrm>
        </p:grpSpPr>
        <p:sp>
          <p:nvSpPr>
            <p:cNvPr id="255" name="Rectangle 25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694150" y="4792585"/>
          <a:ext cx="771833" cy="6858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6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2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5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500" dirty="0">
                        <a:solidFill>
                          <a:srgbClr val="FFFFFF"/>
                        </a:solidFill>
                      </a:endParaRP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MIT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2713528" y="4538235"/>
            <a:ext cx="3896475" cy="2167365"/>
            <a:chOff x="2713528" y="4538235"/>
            <a:chExt cx="3896475" cy="2167365"/>
          </a:xfrm>
        </p:grpSpPr>
        <p:sp>
          <p:nvSpPr>
            <p:cNvPr id="247" name="Cube 246"/>
            <p:cNvSpPr/>
            <p:nvPr/>
          </p:nvSpPr>
          <p:spPr bwMode="auto">
            <a:xfrm>
              <a:off x="3550194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8" name="Cube 247"/>
            <p:cNvSpPr/>
            <p:nvPr/>
          </p:nvSpPr>
          <p:spPr bwMode="auto">
            <a:xfrm>
              <a:off x="5972543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9" name="Cube 248"/>
            <p:cNvSpPr/>
            <p:nvPr/>
          </p:nvSpPr>
          <p:spPr bwMode="auto">
            <a:xfrm>
              <a:off x="4697623" y="5175696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50" name="Straight Connector 249"/>
            <p:cNvCxnSpPr>
              <a:stCxn id="281" idx="1"/>
            </p:cNvCxnSpPr>
            <p:nvPr/>
          </p:nvCxnSpPr>
          <p:spPr bwMode="auto">
            <a:xfrm flipH="1" flipV="1">
              <a:off x="4060164" y="4761347"/>
              <a:ext cx="908379" cy="509968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Straight Connector 250"/>
            <p:cNvCxnSpPr>
              <a:stCxn id="269" idx="2"/>
              <a:endCxn id="281" idx="5"/>
            </p:cNvCxnSpPr>
            <p:nvPr/>
          </p:nvCxnSpPr>
          <p:spPr bwMode="auto">
            <a:xfrm flipH="1">
              <a:off x="5335083" y="4777283"/>
              <a:ext cx="637460" cy="541841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2" name="Straight Connector 251"/>
            <p:cNvCxnSpPr>
              <a:endCxn id="281" idx="3"/>
            </p:cNvCxnSpPr>
            <p:nvPr/>
          </p:nvCxnSpPr>
          <p:spPr bwMode="auto">
            <a:xfrm flipV="1">
              <a:off x="4421440" y="5558172"/>
              <a:ext cx="547104" cy="83081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Straight Connector 252"/>
            <p:cNvCxnSpPr/>
            <p:nvPr/>
          </p:nvCxnSpPr>
          <p:spPr bwMode="auto">
            <a:xfrm>
              <a:off x="4968543" y="5558172"/>
              <a:ext cx="621524" cy="749016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7" name="Cube 256"/>
            <p:cNvSpPr/>
            <p:nvPr/>
          </p:nvSpPr>
          <p:spPr bwMode="auto">
            <a:xfrm>
              <a:off x="4060162" y="6323124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8" name="Cube 257"/>
            <p:cNvSpPr/>
            <p:nvPr/>
          </p:nvSpPr>
          <p:spPr bwMode="auto">
            <a:xfrm>
              <a:off x="5590067" y="6068140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9" name="Cube 258"/>
            <p:cNvSpPr/>
            <p:nvPr/>
          </p:nvSpPr>
          <p:spPr bwMode="auto">
            <a:xfrm>
              <a:off x="2713528" y="5581849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60" name="Straight Connector 259"/>
            <p:cNvCxnSpPr>
              <a:stCxn id="267" idx="3"/>
            </p:cNvCxnSpPr>
            <p:nvPr/>
          </p:nvCxnSpPr>
          <p:spPr bwMode="auto">
            <a:xfrm flipH="1">
              <a:off x="3350988" y="4920711"/>
              <a:ext cx="470127" cy="804567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Straight Connector 261"/>
            <p:cNvCxnSpPr>
              <a:endCxn id="269" idx="3"/>
            </p:cNvCxnSpPr>
            <p:nvPr/>
          </p:nvCxnSpPr>
          <p:spPr bwMode="auto">
            <a:xfrm flipV="1">
              <a:off x="5956607" y="4920711"/>
              <a:ext cx="286857" cy="114742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263" name="Table 262"/>
          <p:cNvGraphicFramePr>
            <a:graphicFrameLocks noGrp="1"/>
          </p:cNvGraphicFramePr>
          <p:nvPr/>
        </p:nvGraphicFramePr>
        <p:xfrm>
          <a:off x="5744829" y="5669727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4215619" y="5885259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5" name="Table 264"/>
          <p:cNvGraphicFramePr>
            <a:graphicFrameLocks noGrp="1"/>
          </p:cNvGraphicFramePr>
          <p:nvPr/>
        </p:nvGraphicFramePr>
        <p:xfrm>
          <a:off x="6100035" y="413982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6" name="Table 265"/>
          <p:cNvGraphicFramePr>
            <a:graphicFrameLocks noGrp="1"/>
          </p:cNvGraphicFramePr>
          <p:nvPr/>
        </p:nvGraphicFramePr>
        <p:xfrm>
          <a:off x="4822743" y="4766064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7" name="Table 266"/>
          <p:cNvGraphicFramePr>
            <a:graphicFrameLocks noGrp="1"/>
          </p:cNvGraphicFramePr>
          <p:nvPr/>
        </p:nvGraphicFramePr>
        <p:xfrm>
          <a:off x="3664684" y="409843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849378" y="2655191"/>
            <a:ext cx="3624775" cy="1084430"/>
            <a:chOff x="2849378" y="2655191"/>
            <a:chExt cx="3624775" cy="1084430"/>
          </a:xfrm>
        </p:grpSpPr>
        <p:sp>
          <p:nvSpPr>
            <p:cNvPr id="269" name="Oval 268"/>
            <p:cNvSpPr>
              <a:spLocks noChangeAspect="1"/>
            </p:cNvSpPr>
            <p:nvPr/>
          </p:nvSpPr>
          <p:spPr bwMode="auto">
            <a:xfrm>
              <a:off x="2849378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0" name="Oval 269"/>
            <p:cNvSpPr>
              <a:spLocks noChangeAspect="1"/>
            </p:cNvSpPr>
            <p:nvPr/>
          </p:nvSpPr>
          <p:spPr bwMode="auto">
            <a:xfrm>
              <a:off x="363635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1" name="Oval 270"/>
            <p:cNvSpPr>
              <a:spLocks noChangeAspect="1"/>
            </p:cNvSpPr>
            <p:nvPr/>
          </p:nvSpPr>
          <p:spPr bwMode="auto">
            <a:xfrm>
              <a:off x="4196483" y="337386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6" name="Oval 275"/>
            <p:cNvSpPr>
              <a:spLocks noChangeAspect="1"/>
            </p:cNvSpPr>
            <p:nvPr/>
          </p:nvSpPr>
          <p:spPr bwMode="auto">
            <a:xfrm>
              <a:off x="4845684" y="2661695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7" name="Oval 276"/>
            <p:cNvSpPr>
              <a:spLocks noChangeAspect="1"/>
            </p:cNvSpPr>
            <p:nvPr/>
          </p:nvSpPr>
          <p:spPr bwMode="auto">
            <a:xfrm>
              <a:off x="5734275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8" name="Oval 277"/>
            <p:cNvSpPr>
              <a:spLocks noChangeAspect="1"/>
            </p:cNvSpPr>
            <p:nvPr/>
          </p:nvSpPr>
          <p:spPr bwMode="auto">
            <a:xfrm>
              <a:off x="610839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79" name="Straight Connector 278"/>
            <p:cNvCxnSpPr/>
            <p:nvPr/>
          </p:nvCxnSpPr>
          <p:spPr bwMode="auto">
            <a:xfrm flipH="1">
              <a:off x="3161574" y="2967387"/>
              <a:ext cx="528343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0" name="Straight Connector 279"/>
            <p:cNvCxnSpPr/>
            <p:nvPr/>
          </p:nvCxnSpPr>
          <p:spPr bwMode="auto">
            <a:xfrm flipH="1" flipV="1">
              <a:off x="4002113" y="2838071"/>
              <a:ext cx="843571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1" name="Straight Connector 280"/>
            <p:cNvCxnSpPr/>
            <p:nvPr/>
          </p:nvCxnSpPr>
          <p:spPr bwMode="auto">
            <a:xfrm flipH="1">
              <a:off x="4508679" y="2973891"/>
              <a:ext cx="390569" cy="45353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2" name="Straight Connector 281"/>
            <p:cNvCxnSpPr/>
            <p:nvPr/>
          </p:nvCxnSpPr>
          <p:spPr bwMode="auto">
            <a:xfrm>
              <a:off x="5157880" y="2973891"/>
              <a:ext cx="629959" cy="451285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3" name="Straight Connector 282"/>
            <p:cNvCxnSpPr/>
            <p:nvPr/>
          </p:nvCxnSpPr>
          <p:spPr bwMode="auto">
            <a:xfrm flipH="1">
              <a:off x="6046471" y="2967387"/>
              <a:ext cx="115486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4" name="Straight Connector 283"/>
            <p:cNvCxnSpPr/>
            <p:nvPr/>
          </p:nvCxnSpPr>
          <p:spPr bwMode="auto">
            <a:xfrm flipV="1">
              <a:off x="5211444" y="2838071"/>
              <a:ext cx="896949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</p:grpSp>
      <p:cxnSp>
        <p:nvCxnSpPr>
          <p:cNvPr id="285" name="Straight Connector 284"/>
          <p:cNvCxnSpPr/>
          <p:nvPr/>
        </p:nvCxnSpPr>
        <p:spPr bwMode="auto">
          <a:xfrm>
            <a:off x="1752600" y="3886200"/>
            <a:ext cx="6858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86" name="TextBox 285"/>
          <p:cNvSpPr txBox="1"/>
          <p:nvPr/>
        </p:nvSpPr>
        <p:spPr>
          <a:xfrm>
            <a:off x="7467600" y="307282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Control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558971" y="4038600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7C47D3-BCB0-204D-8B60-3F39E8189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48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/>
      <p:bldP spid="28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966845"/>
          </a:xfrm>
        </p:spPr>
        <p:txBody>
          <a:bodyPr/>
          <a:lstStyle/>
          <a:p>
            <a:r>
              <a:rPr lang="en-US" dirty="0"/>
              <a:t>A distinct (typically remote) controller interacts with local control agents (CAs)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Logically centralized </a:t>
            </a:r>
            <a:br>
              <a:rPr lang="en-US" dirty="0"/>
            </a:br>
            <a:r>
              <a:rPr lang="en-US" dirty="0"/>
              <a:t>control plane</a:t>
            </a:r>
          </a:p>
        </p:txBody>
      </p:sp>
      <p:grpSp>
        <p:nvGrpSpPr>
          <p:cNvPr id="254" name="Group 37"/>
          <p:cNvGrpSpPr>
            <a:grpSpLocks noChangeAspect="1"/>
          </p:cNvGrpSpPr>
          <p:nvPr/>
        </p:nvGrpSpPr>
        <p:grpSpPr bwMode="auto">
          <a:xfrm>
            <a:off x="762000" y="5605384"/>
            <a:ext cx="1529905" cy="402607"/>
            <a:chOff x="885372" y="3276600"/>
            <a:chExt cx="1172028" cy="228600"/>
          </a:xfrm>
        </p:grpSpPr>
        <p:sp>
          <p:nvSpPr>
            <p:cNvPr id="255" name="Rectangle 25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694150" y="4792585"/>
          <a:ext cx="771833" cy="6858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6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2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5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500" dirty="0">
                        <a:solidFill>
                          <a:srgbClr val="FFFFFF"/>
                        </a:solidFill>
                      </a:endParaRP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MIT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2713528" y="4538235"/>
            <a:ext cx="3896475" cy="2167365"/>
            <a:chOff x="2713528" y="4538235"/>
            <a:chExt cx="3896475" cy="2167365"/>
          </a:xfrm>
        </p:grpSpPr>
        <p:sp>
          <p:nvSpPr>
            <p:cNvPr id="247" name="Cube 246"/>
            <p:cNvSpPr/>
            <p:nvPr/>
          </p:nvSpPr>
          <p:spPr bwMode="auto">
            <a:xfrm>
              <a:off x="3550194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8" name="Cube 247"/>
            <p:cNvSpPr/>
            <p:nvPr/>
          </p:nvSpPr>
          <p:spPr bwMode="auto">
            <a:xfrm>
              <a:off x="5972543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9" name="Cube 248"/>
            <p:cNvSpPr/>
            <p:nvPr/>
          </p:nvSpPr>
          <p:spPr bwMode="auto">
            <a:xfrm>
              <a:off x="4697623" y="5175696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50" name="Straight Connector 249"/>
            <p:cNvCxnSpPr>
              <a:stCxn id="281" idx="1"/>
            </p:cNvCxnSpPr>
            <p:nvPr/>
          </p:nvCxnSpPr>
          <p:spPr bwMode="auto">
            <a:xfrm flipH="1" flipV="1">
              <a:off x="4060164" y="4761347"/>
              <a:ext cx="908379" cy="509968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Straight Connector 250"/>
            <p:cNvCxnSpPr>
              <a:stCxn id="269" idx="2"/>
              <a:endCxn id="281" idx="5"/>
            </p:cNvCxnSpPr>
            <p:nvPr/>
          </p:nvCxnSpPr>
          <p:spPr bwMode="auto">
            <a:xfrm flipH="1">
              <a:off x="5335083" y="4777283"/>
              <a:ext cx="637460" cy="541841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2" name="Straight Connector 251"/>
            <p:cNvCxnSpPr>
              <a:endCxn id="281" idx="3"/>
            </p:cNvCxnSpPr>
            <p:nvPr/>
          </p:nvCxnSpPr>
          <p:spPr bwMode="auto">
            <a:xfrm flipV="1">
              <a:off x="4421440" y="5558172"/>
              <a:ext cx="547104" cy="83081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Straight Connector 252"/>
            <p:cNvCxnSpPr/>
            <p:nvPr/>
          </p:nvCxnSpPr>
          <p:spPr bwMode="auto">
            <a:xfrm>
              <a:off x="4968543" y="5558172"/>
              <a:ext cx="621524" cy="749016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7" name="Cube 256"/>
            <p:cNvSpPr/>
            <p:nvPr/>
          </p:nvSpPr>
          <p:spPr bwMode="auto">
            <a:xfrm>
              <a:off x="4060162" y="6323124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8" name="Cube 257"/>
            <p:cNvSpPr/>
            <p:nvPr/>
          </p:nvSpPr>
          <p:spPr bwMode="auto">
            <a:xfrm>
              <a:off x="5590067" y="6068140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9" name="Cube 258"/>
            <p:cNvSpPr/>
            <p:nvPr/>
          </p:nvSpPr>
          <p:spPr bwMode="auto">
            <a:xfrm>
              <a:off x="2713528" y="5581849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60" name="Straight Connector 259"/>
            <p:cNvCxnSpPr>
              <a:stCxn id="267" idx="3"/>
            </p:cNvCxnSpPr>
            <p:nvPr/>
          </p:nvCxnSpPr>
          <p:spPr bwMode="auto">
            <a:xfrm flipH="1">
              <a:off x="3350988" y="4920711"/>
              <a:ext cx="470127" cy="804567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Straight Connector 261"/>
            <p:cNvCxnSpPr>
              <a:endCxn id="269" idx="3"/>
            </p:cNvCxnSpPr>
            <p:nvPr/>
          </p:nvCxnSpPr>
          <p:spPr bwMode="auto">
            <a:xfrm flipV="1">
              <a:off x="5956607" y="4920711"/>
              <a:ext cx="286857" cy="114742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263" name="Table 262"/>
          <p:cNvGraphicFramePr>
            <a:graphicFrameLocks noGrp="1"/>
          </p:cNvGraphicFramePr>
          <p:nvPr/>
        </p:nvGraphicFramePr>
        <p:xfrm>
          <a:off x="5744829" y="5669727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4215619" y="5885259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5" name="Table 264"/>
          <p:cNvGraphicFramePr>
            <a:graphicFrameLocks noGrp="1"/>
          </p:cNvGraphicFramePr>
          <p:nvPr/>
        </p:nvGraphicFramePr>
        <p:xfrm>
          <a:off x="6100035" y="413982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6" name="Table 265"/>
          <p:cNvGraphicFramePr>
            <a:graphicFrameLocks noGrp="1"/>
          </p:cNvGraphicFramePr>
          <p:nvPr/>
        </p:nvGraphicFramePr>
        <p:xfrm>
          <a:off x="4822743" y="4766064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7" name="Table 266"/>
          <p:cNvGraphicFramePr>
            <a:graphicFrameLocks noGrp="1"/>
          </p:cNvGraphicFramePr>
          <p:nvPr/>
        </p:nvGraphicFramePr>
        <p:xfrm>
          <a:off x="3664684" y="409843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849378" y="2655191"/>
            <a:ext cx="3624775" cy="1084430"/>
            <a:chOff x="2849378" y="2655191"/>
            <a:chExt cx="3624775" cy="1084430"/>
          </a:xfrm>
        </p:grpSpPr>
        <p:sp>
          <p:nvSpPr>
            <p:cNvPr id="269" name="Oval 268"/>
            <p:cNvSpPr>
              <a:spLocks noChangeAspect="1"/>
            </p:cNvSpPr>
            <p:nvPr/>
          </p:nvSpPr>
          <p:spPr bwMode="auto">
            <a:xfrm>
              <a:off x="2849378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0" name="Oval 269"/>
            <p:cNvSpPr>
              <a:spLocks noChangeAspect="1"/>
            </p:cNvSpPr>
            <p:nvPr/>
          </p:nvSpPr>
          <p:spPr bwMode="auto">
            <a:xfrm>
              <a:off x="363635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1" name="Oval 270"/>
            <p:cNvSpPr>
              <a:spLocks noChangeAspect="1"/>
            </p:cNvSpPr>
            <p:nvPr/>
          </p:nvSpPr>
          <p:spPr bwMode="auto">
            <a:xfrm>
              <a:off x="4196483" y="337386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6" name="Oval 275"/>
            <p:cNvSpPr>
              <a:spLocks noChangeAspect="1"/>
            </p:cNvSpPr>
            <p:nvPr/>
          </p:nvSpPr>
          <p:spPr bwMode="auto">
            <a:xfrm>
              <a:off x="4845684" y="2661695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7" name="Oval 276"/>
            <p:cNvSpPr>
              <a:spLocks noChangeAspect="1"/>
            </p:cNvSpPr>
            <p:nvPr/>
          </p:nvSpPr>
          <p:spPr bwMode="auto">
            <a:xfrm>
              <a:off x="5734275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8" name="Oval 277"/>
            <p:cNvSpPr>
              <a:spLocks noChangeAspect="1"/>
            </p:cNvSpPr>
            <p:nvPr/>
          </p:nvSpPr>
          <p:spPr bwMode="auto">
            <a:xfrm>
              <a:off x="610839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79" name="Straight Connector 278"/>
            <p:cNvCxnSpPr/>
            <p:nvPr/>
          </p:nvCxnSpPr>
          <p:spPr bwMode="auto">
            <a:xfrm flipH="1">
              <a:off x="3161574" y="2967387"/>
              <a:ext cx="528343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0" name="Straight Connector 279"/>
            <p:cNvCxnSpPr/>
            <p:nvPr/>
          </p:nvCxnSpPr>
          <p:spPr bwMode="auto">
            <a:xfrm flipH="1" flipV="1">
              <a:off x="4002113" y="2838071"/>
              <a:ext cx="843571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1" name="Straight Connector 280"/>
            <p:cNvCxnSpPr/>
            <p:nvPr/>
          </p:nvCxnSpPr>
          <p:spPr bwMode="auto">
            <a:xfrm flipH="1">
              <a:off x="4508679" y="2973891"/>
              <a:ext cx="390569" cy="45353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2" name="Straight Connector 281"/>
            <p:cNvCxnSpPr/>
            <p:nvPr/>
          </p:nvCxnSpPr>
          <p:spPr bwMode="auto">
            <a:xfrm>
              <a:off x="5157880" y="2973891"/>
              <a:ext cx="629959" cy="451285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3" name="Straight Connector 282"/>
            <p:cNvCxnSpPr/>
            <p:nvPr/>
          </p:nvCxnSpPr>
          <p:spPr bwMode="auto">
            <a:xfrm flipH="1">
              <a:off x="6046471" y="2967387"/>
              <a:ext cx="115486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4" name="Straight Connector 283"/>
            <p:cNvCxnSpPr/>
            <p:nvPr/>
          </p:nvCxnSpPr>
          <p:spPr bwMode="auto">
            <a:xfrm flipV="1">
              <a:off x="5211444" y="2838071"/>
              <a:ext cx="896949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</p:grpSp>
      <p:cxnSp>
        <p:nvCxnSpPr>
          <p:cNvPr id="285" name="Straight Connector 284"/>
          <p:cNvCxnSpPr/>
          <p:nvPr/>
        </p:nvCxnSpPr>
        <p:spPr bwMode="auto">
          <a:xfrm>
            <a:off x="1752600" y="3886200"/>
            <a:ext cx="6858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86" name="TextBox 285"/>
          <p:cNvSpPr txBox="1"/>
          <p:nvPr/>
        </p:nvSpPr>
        <p:spPr>
          <a:xfrm>
            <a:off x="7467600" y="307282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Control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558971" y="4038600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2057400" y="2661695"/>
            <a:ext cx="5257800" cy="1075677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Remote Control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3080068" y="3581400"/>
            <a:ext cx="3259015" cy="2741724"/>
            <a:chOff x="3080068" y="3581400"/>
            <a:chExt cx="3259015" cy="2741724"/>
          </a:xfrm>
        </p:grpSpPr>
        <p:cxnSp>
          <p:nvCxnSpPr>
            <p:cNvPr id="14" name="Straight Connector 13"/>
            <p:cNvCxnSpPr>
              <a:stCxn id="259" idx="0"/>
            </p:cNvCxnSpPr>
            <p:nvPr/>
          </p:nvCxnSpPr>
          <p:spPr bwMode="auto">
            <a:xfrm flipV="1">
              <a:off x="3080068" y="3657600"/>
              <a:ext cx="270920" cy="192424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52" name="Straight Connector 51"/>
            <p:cNvCxnSpPr>
              <a:stCxn id="257" idx="0"/>
              <a:endCxn id="2" idx="4"/>
            </p:cNvCxnSpPr>
            <p:nvPr/>
          </p:nvCxnSpPr>
          <p:spPr bwMode="auto">
            <a:xfrm flipV="1">
              <a:off x="4426702" y="3737372"/>
              <a:ext cx="259598" cy="25857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56" name="Straight Connector 55"/>
            <p:cNvCxnSpPr>
              <a:stCxn id="249" idx="0"/>
            </p:cNvCxnSpPr>
            <p:nvPr/>
          </p:nvCxnSpPr>
          <p:spPr bwMode="auto">
            <a:xfrm flipH="1" flipV="1">
              <a:off x="5029200" y="3737372"/>
              <a:ext cx="34963" cy="14383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59" name="Straight Connector 58"/>
            <p:cNvCxnSpPr>
              <a:stCxn id="248" idx="0"/>
            </p:cNvCxnSpPr>
            <p:nvPr/>
          </p:nvCxnSpPr>
          <p:spPr bwMode="auto">
            <a:xfrm flipH="1" flipV="1">
              <a:off x="6243464" y="3581400"/>
              <a:ext cx="95619" cy="95683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63" name="Straight Connector 62"/>
            <p:cNvCxnSpPr>
              <a:stCxn id="247" idx="0"/>
            </p:cNvCxnSpPr>
            <p:nvPr/>
          </p:nvCxnSpPr>
          <p:spPr bwMode="auto">
            <a:xfrm flipV="1">
              <a:off x="3916734" y="3737372"/>
              <a:ext cx="85379" cy="80086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66" name="Straight Connector 65"/>
            <p:cNvCxnSpPr>
              <a:stCxn id="258" idx="0"/>
            </p:cNvCxnSpPr>
            <p:nvPr/>
          </p:nvCxnSpPr>
          <p:spPr bwMode="auto">
            <a:xfrm flipH="1" flipV="1">
              <a:off x="5590067" y="3657600"/>
              <a:ext cx="366540" cy="24105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</p:grpSp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0879A-E483-4344-9573-38943C098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96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SDN: Many challenges remain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Hardening the control plane: dependable, reliable, performance-scalable, secure distributed system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Robustness to failures</a:t>
            </a:r>
            <a:r>
              <a:rPr lang="en-US" dirty="0"/>
              <a:t>: leverage strong theory of reliable distributed system for control plane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Security</a:t>
            </a:r>
            <a:r>
              <a:rPr lang="en-US" dirty="0"/>
              <a:t>: “baked in” from day one? </a:t>
            </a:r>
          </a:p>
          <a:p>
            <a:r>
              <a:rPr lang="en-US" dirty="0"/>
              <a:t>Networks, protocols meeting mission-specific requirements</a:t>
            </a:r>
          </a:p>
          <a:p>
            <a:pPr lvl="1"/>
            <a:r>
              <a:rPr lang="en-US" dirty="0"/>
              <a:t>E.g., real-time, ultra-reliable, ultra-secure</a:t>
            </a:r>
          </a:p>
          <a:p>
            <a:r>
              <a:rPr lang="en-US" dirty="0">
                <a:solidFill>
                  <a:srgbClr val="0000FF"/>
                </a:solidFill>
              </a:rPr>
              <a:t>Internet-scaling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470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9756-2E16-534A-97B9-9EFF1EE87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Fixed-function data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11E66-D3BB-B242-A1B5-D84DF239B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switches are fixed-function</a:t>
            </a:r>
          </a:p>
          <a:p>
            <a:pPr lvl="1"/>
            <a:r>
              <a:rPr lang="en-US" dirty="0"/>
              <a:t>They can do whatever they can do at birth, but they cannot change!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Bottom-up design</a:t>
            </a:r>
          </a:p>
          <a:p>
            <a:endParaRPr lang="en-US" dirty="0"/>
          </a:p>
          <a:p>
            <a:r>
              <a:rPr lang="en-US" dirty="0"/>
              <a:t>Even OpenFlow was designed to be a fixed protocol</a:t>
            </a:r>
          </a:p>
          <a:p>
            <a:pPr lvl="1"/>
            <a:r>
              <a:rPr lang="en-US" dirty="0"/>
              <a:t>With a fixed table format</a:t>
            </a:r>
          </a:p>
          <a:p>
            <a:pPr lvl="1"/>
            <a:r>
              <a:rPr lang="en-US" dirty="0"/>
              <a:t>Capable of doing limited things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FDA5F-FA19-0146-A821-44A648D4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60FC1-30A8-6B45-BCE3-EBF420DF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AD87E-2533-7048-ABBB-EEBB384C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762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0C67F-C08E-914D-B688-0C8C9BE6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Programmable data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1B49C-2C42-6541-853A-8774DCB6C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What if we could tell switches exactly what we want?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What table to keep?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What rules to use?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What data to keep track of?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CC168-3CA2-0345-AAFC-8043CD88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E9BD8-6330-3C4C-8336-73B21957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45DB9-F3EC-1149-93FF-34E0354CE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30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BD9E6-C04E-5F42-A584-A140DD4C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7E6E1-DD2D-0C4E-9F87-317A4A3AE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Precisely specify using a well-defined language</a:t>
            </a:r>
          </a:p>
          <a:p>
            <a:r>
              <a:rPr lang="en-US" dirty="0"/>
              <a:t>Compile it down to run on a standardized hardware (e.g., using P4)</a:t>
            </a:r>
          </a:p>
          <a:p>
            <a:r>
              <a:rPr lang="en-US" dirty="0"/>
              <a:t>Run at line speed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822DF-BADD-0A4A-955A-74E18D23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6E7F1-D58A-0C45-A50D-3EE6A7280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39902-7286-D74E-BFCD-0DA8E465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120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3D20-AFA4-2342-B863-27B85AFF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PISA: Protocol Independent Switch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8C468-9DF3-0446-A6F3-02099FE21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6B7D7-2C0B-EB47-960D-A8E38E19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DD27F-4CB7-3849-8C55-9F311916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4581CF4A-FEDA-F64A-BE84-4ACB4C92F601}"/>
              </a:ext>
            </a:extLst>
          </p:cNvPr>
          <p:cNvGrpSpPr/>
          <p:nvPr/>
        </p:nvGrpSpPr>
        <p:grpSpPr>
          <a:xfrm>
            <a:off x="7515907" y="3240058"/>
            <a:ext cx="552334" cy="519142"/>
            <a:chOff x="8131589" y="4009362"/>
            <a:chExt cx="552334" cy="692189"/>
          </a:xfrm>
        </p:grpSpPr>
        <p:grpSp>
          <p:nvGrpSpPr>
            <p:cNvPr id="266" name="Group 65">
              <a:extLst>
                <a:ext uri="{FF2B5EF4-FFF2-40B4-BE49-F238E27FC236}">
                  <a16:creationId xmlns:a16="http://schemas.microsoft.com/office/drawing/2014/main" id="{7939DBD5-C532-104B-8C23-A45920E79A31}"/>
                </a:ext>
              </a:extLst>
            </p:cNvPr>
            <p:cNvGrpSpPr/>
            <p:nvPr/>
          </p:nvGrpSpPr>
          <p:grpSpPr>
            <a:xfrm>
              <a:off x="8131589" y="4009362"/>
              <a:ext cx="551591" cy="228624"/>
              <a:chOff x="7660968" y="1751777"/>
              <a:chExt cx="1040580" cy="450645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DAB1DE14-6A37-9940-9FB0-558F0DE59D6C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9364A080-2EB8-0D46-91A3-41FCEE1B2286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F1C1A9DA-7685-334B-8438-71E724F1C059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67" name="Group 70">
              <a:extLst>
                <a:ext uri="{FF2B5EF4-FFF2-40B4-BE49-F238E27FC236}">
                  <a16:creationId xmlns:a16="http://schemas.microsoft.com/office/drawing/2014/main" id="{414E6434-D0E4-E54E-9713-130260358E1E}"/>
                </a:ext>
              </a:extLst>
            </p:cNvPr>
            <p:cNvGrpSpPr/>
            <p:nvPr/>
          </p:nvGrpSpPr>
          <p:grpSpPr>
            <a:xfrm>
              <a:off x="8132332" y="4472927"/>
              <a:ext cx="551591" cy="228624"/>
              <a:chOff x="7660968" y="1751777"/>
              <a:chExt cx="1040580" cy="450645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E41BC9F9-5D2B-FB41-92B3-958E88A7F58B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31BD52F4-BFEC-AA44-868D-3B7FB95D3BF3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31113B9-3EB0-114A-A5D7-558AF2BD9CD7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FAC22D4B-8EFD-8144-84C5-5F34E5AC9871}"/>
              </a:ext>
            </a:extLst>
          </p:cNvPr>
          <p:cNvGrpSpPr/>
          <p:nvPr/>
        </p:nvGrpSpPr>
        <p:grpSpPr>
          <a:xfrm>
            <a:off x="8097638" y="3246874"/>
            <a:ext cx="512735" cy="1191971"/>
            <a:chOff x="2488822" y="2403406"/>
            <a:chExt cx="529093" cy="1589294"/>
          </a:xfrm>
        </p:grpSpPr>
        <p:cxnSp>
          <p:nvCxnSpPr>
            <p:cNvPr id="275" name="Straight Arrow Connector 274">
              <a:extLst>
                <a:ext uri="{FF2B5EF4-FFF2-40B4-BE49-F238E27FC236}">
                  <a16:creationId xmlns:a16="http://schemas.microsoft.com/office/drawing/2014/main" id="{5AAEF7B5-9BEB-A844-8B8C-F7A9B9E83F84}"/>
                </a:ext>
              </a:extLst>
            </p:cNvPr>
            <p:cNvCxnSpPr/>
            <p:nvPr/>
          </p:nvCxnSpPr>
          <p:spPr>
            <a:xfrm flipV="1">
              <a:off x="2493656" y="24034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B9D66C66-12AF-F641-B184-2F4EF61DAC8B}"/>
                </a:ext>
              </a:extLst>
            </p:cNvPr>
            <p:cNvCxnSpPr/>
            <p:nvPr/>
          </p:nvCxnSpPr>
          <p:spPr>
            <a:xfrm flipV="1">
              <a:off x="2490064" y="25558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966F41F8-E497-3447-8261-3352DE0D5F7B}"/>
                </a:ext>
              </a:extLst>
            </p:cNvPr>
            <p:cNvCxnSpPr/>
            <p:nvPr/>
          </p:nvCxnSpPr>
          <p:spPr>
            <a:xfrm flipV="1">
              <a:off x="2493656" y="2717444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6B5B7A1F-B11B-7146-882C-256A77BE4E46}"/>
                </a:ext>
              </a:extLst>
            </p:cNvPr>
            <p:cNvCxnSpPr/>
            <p:nvPr/>
          </p:nvCxnSpPr>
          <p:spPr>
            <a:xfrm flipV="1">
              <a:off x="2493656" y="2871548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43F3EC19-C38A-B743-9E65-CA41BFA6AD31}"/>
                </a:ext>
              </a:extLst>
            </p:cNvPr>
            <p:cNvCxnSpPr/>
            <p:nvPr/>
          </p:nvCxnSpPr>
          <p:spPr>
            <a:xfrm flipV="1">
              <a:off x="2493656" y="303169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58C96AE8-3B4B-8F4E-849D-73E50AF59C95}"/>
                </a:ext>
              </a:extLst>
            </p:cNvPr>
            <p:cNvCxnSpPr/>
            <p:nvPr/>
          </p:nvCxnSpPr>
          <p:spPr>
            <a:xfrm flipV="1">
              <a:off x="2494729" y="319080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7A3A57FD-961B-474D-B711-EBA4FA9025ED}"/>
                </a:ext>
              </a:extLst>
            </p:cNvPr>
            <p:cNvCxnSpPr/>
            <p:nvPr/>
          </p:nvCxnSpPr>
          <p:spPr>
            <a:xfrm flipV="1">
              <a:off x="2493656" y="3352442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4CE5B4A6-84C2-434F-8224-DEBF4314B327}"/>
                </a:ext>
              </a:extLst>
            </p:cNvPr>
            <p:cNvCxnSpPr/>
            <p:nvPr/>
          </p:nvCxnSpPr>
          <p:spPr>
            <a:xfrm flipV="1">
              <a:off x="2494729" y="351258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257E44E6-D626-A148-A6C9-BE9D1E42C721}"/>
                </a:ext>
              </a:extLst>
            </p:cNvPr>
            <p:cNvCxnSpPr/>
            <p:nvPr/>
          </p:nvCxnSpPr>
          <p:spPr>
            <a:xfrm flipV="1">
              <a:off x="2495802" y="367169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4FC816EF-FBA0-3C4A-8028-6C4C16A3ECD4}"/>
                </a:ext>
              </a:extLst>
            </p:cNvPr>
            <p:cNvCxnSpPr/>
            <p:nvPr/>
          </p:nvCxnSpPr>
          <p:spPr>
            <a:xfrm flipV="1">
              <a:off x="2493656" y="383359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0962BF2A-E1BF-D846-99C3-F552EEC4CD1F}"/>
                </a:ext>
              </a:extLst>
            </p:cNvPr>
            <p:cNvCxnSpPr/>
            <p:nvPr/>
          </p:nvCxnSpPr>
          <p:spPr>
            <a:xfrm flipV="1">
              <a:off x="2488822" y="399270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7C0ECB59-933D-A840-8C2D-2A6A82B9952A}"/>
              </a:ext>
            </a:extLst>
          </p:cNvPr>
          <p:cNvGrpSpPr/>
          <p:nvPr/>
        </p:nvGrpSpPr>
        <p:grpSpPr>
          <a:xfrm>
            <a:off x="557347" y="3204129"/>
            <a:ext cx="381108" cy="1191971"/>
            <a:chOff x="2488822" y="2403406"/>
            <a:chExt cx="529093" cy="1589294"/>
          </a:xfrm>
        </p:grpSpPr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BFAE8607-CDA8-2E4D-8EB8-7A8A64F0F707}"/>
                </a:ext>
              </a:extLst>
            </p:cNvPr>
            <p:cNvCxnSpPr/>
            <p:nvPr/>
          </p:nvCxnSpPr>
          <p:spPr>
            <a:xfrm flipV="1">
              <a:off x="2493656" y="24034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4AF780E3-7340-A249-80DA-11B1DEDCDE19}"/>
                </a:ext>
              </a:extLst>
            </p:cNvPr>
            <p:cNvCxnSpPr/>
            <p:nvPr/>
          </p:nvCxnSpPr>
          <p:spPr>
            <a:xfrm flipV="1">
              <a:off x="2490064" y="25558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9" name="Straight Arrow Connector 288">
              <a:extLst>
                <a:ext uri="{FF2B5EF4-FFF2-40B4-BE49-F238E27FC236}">
                  <a16:creationId xmlns:a16="http://schemas.microsoft.com/office/drawing/2014/main" id="{8CE68E0C-414B-EC4E-AC83-C4F4B5E684DF}"/>
                </a:ext>
              </a:extLst>
            </p:cNvPr>
            <p:cNvCxnSpPr/>
            <p:nvPr/>
          </p:nvCxnSpPr>
          <p:spPr>
            <a:xfrm flipV="1">
              <a:off x="2493656" y="2717444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B27322BA-6D56-A84E-81E8-F2E6C4E8A532}"/>
                </a:ext>
              </a:extLst>
            </p:cNvPr>
            <p:cNvCxnSpPr/>
            <p:nvPr/>
          </p:nvCxnSpPr>
          <p:spPr>
            <a:xfrm flipV="1">
              <a:off x="2493656" y="2871548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7C523FFC-FF75-6E44-9722-3F966014EBF1}"/>
                </a:ext>
              </a:extLst>
            </p:cNvPr>
            <p:cNvCxnSpPr/>
            <p:nvPr/>
          </p:nvCxnSpPr>
          <p:spPr>
            <a:xfrm flipV="1">
              <a:off x="2493656" y="303169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4EF6F981-4641-2B44-8393-93423E7FB990}"/>
                </a:ext>
              </a:extLst>
            </p:cNvPr>
            <p:cNvCxnSpPr/>
            <p:nvPr/>
          </p:nvCxnSpPr>
          <p:spPr>
            <a:xfrm flipV="1">
              <a:off x="2494729" y="319080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3" name="Straight Arrow Connector 292">
              <a:extLst>
                <a:ext uri="{FF2B5EF4-FFF2-40B4-BE49-F238E27FC236}">
                  <a16:creationId xmlns:a16="http://schemas.microsoft.com/office/drawing/2014/main" id="{ACD50277-FFFD-BA41-8E4C-0001865F15BD}"/>
                </a:ext>
              </a:extLst>
            </p:cNvPr>
            <p:cNvCxnSpPr/>
            <p:nvPr/>
          </p:nvCxnSpPr>
          <p:spPr>
            <a:xfrm flipV="1">
              <a:off x="2493656" y="3352442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4" name="Straight Arrow Connector 293">
              <a:extLst>
                <a:ext uri="{FF2B5EF4-FFF2-40B4-BE49-F238E27FC236}">
                  <a16:creationId xmlns:a16="http://schemas.microsoft.com/office/drawing/2014/main" id="{AA100D99-1CD1-1644-8E37-459B990C68E5}"/>
                </a:ext>
              </a:extLst>
            </p:cNvPr>
            <p:cNvCxnSpPr/>
            <p:nvPr/>
          </p:nvCxnSpPr>
          <p:spPr>
            <a:xfrm flipV="1">
              <a:off x="2494729" y="351258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446386D3-CF2B-F24C-A713-B6DF39901CA0}"/>
                </a:ext>
              </a:extLst>
            </p:cNvPr>
            <p:cNvCxnSpPr/>
            <p:nvPr/>
          </p:nvCxnSpPr>
          <p:spPr>
            <a:xfrm flipV="1">
              <a:off x="2495802" y="367169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5D4F3344-912F-8243-9E53-6A7A206F26C0}"/>
                </a:ext>
              </a:extLst>
            </p:cNvPr>
            <p:cNvCxnSpPr/>
            <p:nvPr/>
          </p:nvCxnSpPr>
          <p:spPr>
            <a:xfrm flipV="1">
              <a:off x="2493656" y="383359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7" name="Straight Arrow Connector 296">
              <a:extLst>
                <a:ext uri="{FF2B5EF4-FFF2-40B4-BE49-F238E27FC236}">
                  <a16:creationId xmlns:a16="http://schemas.microsoft.com/office/drawing/2014/main" id="{782C482A-51C0-A047-9B65-CDB0D4C5CB8C}"/>
                </a:ext>
              </a:extLst>
            </p:cNvPr>
            <p:cNvCxnSpPr/>
            <p:nvPr/>
          </p:nvCxnSpPr>
          <p:spPr>
            <a:xfrm flipV="1">
              <a:off x="2488822" y="399270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A7AAA9BB-3B2A-3140-AD48-52F2A09480ED}"/>
              </a:ext>
            </a:extLst>
          </p:cNvPr>
          <p:cNvGrpSpPr/>
          <p:nvPr/>
        </p:nvGrpSpPr>
        <p:grpSpPr>
          <a:xfrm>
            <a:off x="1761235" y="3002385"/>
            <a:ext cx="1124342" cy="1626876"/>
            <a:chOff x="1908358" y="3002385"/>
            <a:chExt cx="1124342" cy="1626876"/>
          </a:xfrm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144C7BA8-894B-C341-8D17-13E4BB23179D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6F368233-0518-D34E-9ADD-666E3FDEE62A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9E1F675E-3C11-2C44-8778-15C0D93F5474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000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89CEA699-8429-EA42-8986-8FD6EE6A3813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477AE534-107A-5B40-8CD1-C2241E2093D9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FFB23DE5-71BA-A846-86CB-8D6AA310E357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D5468401-3F85-2E4A-9271-B0C636D26DFD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713AE27E-8545-834C-9986-E55C6FB925AA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A4E8FBB3-708C-7A42-8F6C-A67D2D92E188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6CA6866A-E19D-1847-B4D9-D82999A377C0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5" name="Trapezoid 304">
                <a:extLst>
                  <a:ext uri="{FF2B5EF4-FFF2-40B4-BE49-F238E27FC236}">
                    <a16:creationId xmlns:a16="http://schemas.microsoft.com/office/drawing/2014/main" id="{FB3E3F58-0025-2E4A-B215-5F9EF7C4AA7F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6" name="Trapezoid 305">
                <a:extLst>
                  <a:ext uri="{FF2B5EF4-FFF2-40B4-BE49-F238E27FC236}">
                    <a16:creationId xmlns:a16="http://schemas.microsoft.com/office/drawing/2014/main" id="{6DD38230-54D2-E14B-B4AB-0C741D526199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7" name="Trapezoid 306">
                <a:extLst>
                  <a:ext uri="{FF2B5EF4-FFF2-40B4-BE49-F238E27FC236}">
                    <a16:creationId xmlns:a16="http://schemas.microsoft.com/office/drawing/2014/main" id="{CEADC2D8-0230-1C43-A58D-1BADADBF2648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8" name="Trapezoid 307">
                <a:extLst>
                  <a:ext uri="{FF2B5EF4-FFF2-40B4-BE49-F238E27FC236}">
                    <a16:creationId xmlns:a16="http://schemas.microsoft.com/office/drawing/2014/main" id="{572165D4-0F0D-A842-B62F-8DFDF7E43605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9" name="Trapezoid 308">
                <a:extLst>
                  <a:ext uri="{FF2B5EF4-FFF2-40B4-BE49-F238E27FC236}">
                    <a16:creationId xmlns:a16="http://schemas.microsoft.com/office/drawing/2014/main" id="{41F932B5-A8D8-8444-938E-701067D2E175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0" name="Trapezoid 309">
                <a:extLst>
                  <a:ext uri="{FF2B5EF4-FFF2-40B4-BE49-F238E27FC236}">
                    <a16:creationId xmlns:a16="http://schemas.microsoft.com/office/drawing/2014/main" id="{6D4E9633-2C74-1C4D-AB4D-BCC5338DB090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50" name="TextBox 349">
            <a:extLst>
              <a:ext uri="{FF2B5EF4-FFF2-40B4-BE49-F238E27FC236}">
                <a16:creationId xmlns:a16="http://schemas.microsoft.com/office/drawing/2014/main" id="{61820246-221C-7147-9056-9DD64E32C96F}"/>
              </a:ext>
            </a:extLst>
          </p:cNvPr>
          <p:cNvSpPr txBox="1"/>
          <p:nvPr/>
        </p:nvSpPr>
        <p:spPr>
          <a:xfrm>
            <a:off x="1704028" y="2733446"/>
            <a:ext cx="2008004" cy="313270"/>
          </a:xfrm>
          <a:prstGeom prst="rect">
            <a:avLst/>
          </a:prstGeom>
          <a:noFill/>
        </p:spPr>
        <p:txBody>
          <a:bodyPr wrap="square" lIns="81639" tIns="40820" rIns="81639" bIns="40820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+ Action</a:t>
            </a: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CB720349-39CE-A04E-A7B7-2BE20C4A7684}"/>
              </a:ext>
            </a:extLst>
          </p:cNvPr>
          <p:cNvGrpSpPr/>
          <p:nvPr/>
        </p:nvGrpSpPr>
        <p:grpSpPr>
          <a:xfrm>
            <a:off x="7516650" y="3935632"/>
            <a:ext cx="552334" cy="519142"/>
            <a:chOff x="8131589" y="4009362"/>
            <a:chExt cx="552334" cy="692189"/>
          </a:xfrm>
        </p:grpSpPr>
        <p:grpSp>
          <p:nvGrpSpPr>
            <p:cNvPr id="352" name="Group 65">
              <a:extLst>
                <a:ext uri="{FF2B5EF4-FFF2-40B4-BE49-F238E27FC236}">
                  <a16:creationId xmlns:a16="http://schemas.microsoft.com/office/drawing/2014/main" id="{581BE93C-8E42-4647-AF4B-3CE1CBFEC961}"/>
                </a:ext>
              </a:extLst>
            </p:cNvPr>
            <p:cNvGrpSpPr/>
            <p:nvPr/>
          </p:nvGrpSpPr>
          <p:grpSpPr>
            <a:xfrm>
              <a:off x="8131589" y="4009362"/>
              <a:ext cx="551591" cy="228624"/>
              <a:chOff x="7660968" y="1751777"/>
              <a:chExt cx="1040580" cy="450645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85C49E7B-A01D-954D-9E6E-A7DC0B98A36A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0FBC95AF-DA67-3845-9C0E-06F8D0EF9FCB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91D65A84-7D19-4D44-995A-60D1C49A44F5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53" name="Group 70">
              <a:extLst>
                <a:ext uri="{FF2B5EF4-FFF2-40B4-BE49-F238E27FC236}">
                  <a16:creationId xmlns:a16="http://schemas.microsoft.com/office/drawing/2014/main" id="{6F1BA334-B1C7-F74E-B2C7-C0EC66D8F6B0}"/>
                </a:ext>
              </a:extLst>
            </p:cNvPr>
            <p:cNvGrpSpPr/>
            <p:nvPr/>
          </p:nvGrpSpPr>
          <p:grpSpPr>
            <a:xfrm>
              <a:off x="8132332" y="4472927"/>
              <a:ext cx="551591" cy="228624"/>
              <a:chOff x="7660968" y="1751777"/>
              <a:chExt cx="1040580" cy="450645"/>
            </a:xfrm>
          </p:grpSpPr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3D3161CF-CDD9-9349-9713-2F9EC7DD65A3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5D2A39C8-DA71-8440-82A6-1F90F2A5D37B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60ABAA2D-B713-8946-BDD2-B86C6087AA76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ECCE64D5-2FDA-2944-B52B-E15D99B92470}"/>
              </a:ext>
            </a:extLst>
          </p:cNvPr>
          <p:cNvCxnSpPr>
            <a:cxnSpLocks/>
            <a:endCxn id="255" idx="1"/>
          </p:cNvCxnSpPr>
          <p:nvPr/>
        </p:nvCxnSpPr>
        <p:spPr>
          <a:xfrm>
            <a:off x="1354116" y="3807275"/>
            <a:ext cx="407120" cy="4240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B5DF6251-F7CA-554F-84CA-24AC74DF4D07}"/>
              </a:ext>
            </a:extLst>
          </p:cNvPr>
          <p:cNvCxnSpPr>
            <a:cxnSpLocks/>
          </p:cNvCxnSpPr>
          <p:nvPr/>
        </p:nvCxnSpPr>
        <p:spPr>
          <a:xfrm flipV="1">
            <a:off x="4301677" y="3822995"/>
            <a:ext cx="275612" cy="2418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F3DF7373-78AD-8A42-BCA7-FFAF2AD53FE7}"/>
              </a:ext>
            </a:extLst>
          </p:cNvPr>
          <p:cNvCxnSpPr>
            <a:cxnSpLocks/>
          </p:cNvCxnSpPr>
          <p:nvPr/>
        </p:nvCxnSpPr>
        <p:spPr>
          <a:xfrm>
            <a:off x="5701630" y="3831612"/>
            <a:ext cx="280639" cy="344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3" name="Straight Arrow Connector 362">
            <a:extLst>
              <a:ext uri="{FF2B5EF4-FFF2-40B4-BE49-F238E27FC236}">
                <a16:creationId xmlns:a16="http://schemas.microsoft.com/office/drawing/2014/main" id="{936E5FFB-5127-F141-B59C-EF58293B439B}"/>
              </a:ext>
            </a:extLst>
          </p:cNvPr>
          <p:cNvCxnSpPr>
            <a:cxnSpLocks/>
          </p:cNvCxnSpPr>
          <p:nvPr/>
        </p:nvCxnSpPr>
        <p:spPr>
          <a:xfrm>
            <a:off x="7106610" y="3831956"/>
            <a:ext cx="409297" cy="4765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AA8C0C8D-BCF3-ED48-8FC7-6007DA070790}"/>
              </a:ext>
            </a:extLst>
          </p:cNvPr>
          <p:cNvCxnSpPr>
            <a:cxnSpLocks/>
            <a:stCxn id="255" idx="3"/>
          </p:cNvCxnSpPr>
          <p:nvPr/>
        </p:nvCxnSpPr>
        <p:spPr>
          <a:xfrm>
            <a:off x="2885577" y="3801949"/>
            <a:ext cx="291760" cy="5282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id="{E3781C4A-BFD2-5A4F-A50C-47C3D9254E9F}"/>
              </a:ext>
            </a:extLst>
          </p:cNvPr>
          <p:cNvSpPr txBox="1"/>
          <p:nvPr/>
        </p:nvSpPr>
        <p:spPr>
          <a:xfrm>
            <a:off x="1802578" y="3047438"/>
            <a:ext cx="6719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A2C8030E-5F82-F64B-B8EB-44BC4DFDA52C}"/>
              </a:ext>
            </a:extLst>
          </p:cNvPr>
          <p:cNvSpPr txBox="1"/>
          <p:nvPr/>
        </p:nvSpPr>
        <p:spPr>
          <a:xfrm>
            <a:off x="2412647" y="3061185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</a:t>
            </a: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97479213-F216-3D40-BCC7-2B22D01BC952}"/>
              </a:ext>
            </a:extLst>
          </p:cNvPr>
          <p:cNvSpPr/>
          <p:nvPr/>
        </p:nvSpPr>
        <p:spPr>
          <a:xfrm rot="16200000">
            <a:off x="276364" y="3591605"/>
            <a:ext cx="1745942" cy="420688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16621" tIns="58311" rIns="116621" bIns="58311" rtlCol="0" anchor="ctr"/>
          <a:lstStyle/>
          <a:p>
            <a:pPr marL="0" marR="0" lvl="0" indent="0" algn="ctr" defTabSz="68580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Programmable</a:t>
            </a:r>
          </a:p>
          <a:p>
            <a:pPr marL="0" marR="0" lvl="0" indent="0" algn="ctr" defTabSz="68580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Parser</a:t>
            </a:r>
          </a:p>
        </p:txBody>
      </p: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FCBBE7F0-419A-BC40-908F-72D60054A639}"/>
              </a:ext>
            </a:extLst>
          </p:cNvPr>
          <p:cNvGrpSpPr/>
          <p:nvPr/>
        </p:nvGrpSpPr>
        <p:grpSpPr>
          <a:xfrm>
            <a:off x="-76200" y="1868446"/>
            <a:ext cx="2462534" cy="1250655"/>
            <a:chOff x="-151249" y="1086858"/>
            <a:chExt cx="3283379" cy="1667540"/>
          </a:xfrm>
        </p:grpSpPr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1EAC51B5-1895-4B45-A19B-97DDBDBB3BAE}"/>
                </a:ext>
              </a:extLst>
            </p:cNvPr>
            <p:cNvSpPr txBox="1"/>
            <p:nvPr/>
          </p:nvSpPr>
          <p:spPr>
            <a:xfrm>
              <a:off x="-151249" y="1086858"/>
              <a:ext cx="3283379" cy="697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Programmer declares which </a:t>
              </a:r>
            </a:p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headers are recognized</a:t>
              </a:r>
            </a:p>
          </p:txBody>
        </p: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5D8D58C7-902A-D34A-B060-02551196B73D}"/>
                </a:ext>
              </a:extLst>
            </p:cNvPr>
            <p:cNvCxnSpPr>
              <a:cxnSpLocks/>
              <a:stCxn id="369" idx="2"/>
            </p:cNvCxnSpPr>
            <p:nvPr/>
          </p:nvCxnSpPr>
          <p:spPr>
            <a:xfrm>
              <a:off x="1490441" y="1784485"/>
              <a:ext cx="115107" cy="969913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340918D2-5EAE-9D4B-A398-263E0E5B3B85}"/>
              </a:ext>
            </a:extLst>
          </p:cNvPr>
          <p:cNvGrpSpPr/>
          <p:nvPr/>
        </p:nvGrpSpPr>
        <p:grpSpPr>
          <a:xfrm>
            <a:off x="1761244" y="1752600"/>
            <a:ext cx="5345375" cy="1066799"/>
            <a:chOff x="2298675" y="932397"/>
            <a:chExt cx="7127166" cy="1422399"/>
          </a:xfrm>
        </p:grpSpPr>
        <p:sp>
          <p:nvSpPr>
            <p:cNvPr id="372" name="Right Brace 371">
              <a:extLst>
                <a:ext uri="{FF2B5EF4-FFF2-40B4-BE49-F238E27FC236}">
                  <a16:creationId xmlns:a16="http://schemas.microsoft.com/office/drawing/2014/main" id="{AB4450D3-CA45-CE41-8C00-B295A6595E27}"/>
                </a:ext>
              </a:extLst>
            </p:cNvPr>
            <p:cNvSpPr/>
            <p:nvPr/>
          </p:nvSpPr>
          <p:spPr>
            <a:xfrm rot="16200000">
              <a:off x="5668154" y="-1402891"/>
              <a:ext cx="388208" cy="7127166"/>
            </a:xfrm>
            <a:prstGeom prst="rightBrace">
              <a:avLst>
                <a:gd name="adj1" fmla="val 109281"/>
                <a:gd name="adj2" fmla="val 48982"/>
              </a:avLst>
            </a:prstGeom>
            <a:noFill/>
            <a:ln w="12700" cap="flat" cmpd="sng" algn="ctr">
              <a:solidFill>
                <a:srgbClr val="0000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5DF9CDB5-08FB-1441-8D69-E50E977DD21F}"/>
                </a:ext>
              </a:extLst>
            </p:cNvPr>
            <p:cNvSpPr txBox="1"/>
            <p:nvPr/>
          </p:nvSpPr>
          <p:spPr>
            <a:xfrm>
              <a:off x="2990578" y="932397"/>
              <a:ext cx="5589565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Programmer declares what</a:t>
              </a:r>
            </a:p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tables are needed and how packets are processed</a:t>
              </a:r>
            </a:p>
          </p:txBody>
        </p: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1556FE78-6372-D541-8994-5708C3D36D91}"/>
                </a:ext>
              </a:extLst>
            </p:cNvPr>
            <p:cNvCxnSpPr>
              <a:stCxn id="373" idx="2"/>
              <a:endCxn id="372" idx="1"/>
            </p:cNvCxnSpPr>
            <p:nvPr/>
          </p:nvCxnSpPr>
          <p:spPr>
            <a:xfrm>
              <a:off x="5785360" y="1630024"/>
              <a:ext cx="4345" cy="336565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375" name="TextBox 374">
            <a:extLst>
              <a:ext uri="{FF2B5EF4-FFF2-40B4-BE49-F238E27FC236}">
                <a16:creationId xmlns:a16="http://schemas.microsoft.com/office/drawing/2014/main" id="{1B75A47D-B5E7-9E42-AF50-DE313BB2B5BC}"/>
              </a:ext>
            </a:extLst>
          </p:cNvPr>
          <p:cNvSpPr txBox="1"/>
          <p:nvPr/>
        </p:nvSpPr>
        <p:spPr>
          <a:xfrm>
            <a:off x="481970" y="5296240"/>
            <a:ext cx="818006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stages </a:t>
            </a:r>
            <a:r>
              <a:rPr lang="en-US" sz="21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identical – makes PISA a good “compiler target”</a:t>
            </a:r>
          </a:p>
        </p:txBody>
      </p: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2B1F38EF-72E9-A64F-9252-D55671487842}"/>
              </a:ext>
            </a:extLst>
          </p:cNvPr>
          <p:cNvGrpSpPr/>
          <p:nvPr/>
        </p:nvGrpSpPr>
        <p:grpSpPr>
          <a:xfrm>
            <a:off x="3156893" y="2994713"/>
            <a:ext cx="1124342" cy="1626876"/>
            <a:chOff x="1908358" y="3002385"/>
            <a:chExt cx="1124342" cy="1626876"/>
          </a:xfrm>
        </p:grpSpPr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2D0D6C45-5EB4-9646-B764-8A0A3E58B82E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2634C318-DCD5-A245-A57B-662CD258A3B4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45977883-DD27-E74B-9161-3828E5062E7B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B05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AFA2340D-8F97-5448-BEF4-6B3D906B93C5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66213FE3-583C-1249-94EA-1B9BCE0F3F42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69732217-70CC-9F41-B5A4-1D0705F5EE22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74A4C1D1-0AE3-BE41-AB55-D376EAA09CE6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4E00C405-C950-1D46-A22E-C139EDF82E52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1D05405C-3054-C24B-BCE8-8FAD5CB7DD56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416C83FC-98BB-A14A-BB53-28120BB904DF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9" name="Trapezoid 388">
                <a:extLst>
                  <a:ext uri="{FF2B5EF4-FFF2-40B4-BE49-F238E27FC236}">
                    <a16:creationId xmlns:a16="http://schemas.microsoft.com/office/drawing/2014/main" id="{0260F25A-E0DE-D748-92E1-82D752692129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0" name="Trapezoid 389">
                <a:extLst>
                  <a:ext uri="{FF2B5EF4-FFF2-40B4-BE49-F238E27FC236}">
                    <a16:creationId xmlns:a16="http://schemas.microsoft.com/office/drawing/2014/main" id="{41F6E46A-6D49-7A45-9F49-765386EB1206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1" name="Trapezoid 390">
                <a:extLst>
                  <a:ext uri="{FF2B5EF4-FFF2-40B4-BE49-F238E27FC236}">
                    <a16:creationId xmlns:a16="http://schemas.microsoft.com/office/drawing/2014/main" id="{13A27BC4-DC66-F545-8B8C-5A5C3EE3CB47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2" name="Trapezoid 391">
                <a:extLst>
                  <a:ext uri="{FF2B5EF4-FFF2-40B4-BE49-F238E27FC236}">
                    <a16:creationId xmlns:a16="http://schemas.microsoft.com/office/drawing/2014/main" id="{01E0F7CF-8D66-AA43-A4C1-1BABD4213500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3" name="Trapezoid 392">
                <a:extLst>
                  <a:ext uri="{FF2B5EF4-FFF2-40B4-BE49-F238E27FC236}">
                    <a16:creationId xmlns:a16="http://schemas.microsoft.com/office/drawing/2014/main" id="{4CEF48A4-ADFD-7544-98C0-143EA4447E5A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4" name="Trapezoid 393">
                <a:extLst>
                  <a:ext uri="{FF2B5EF4-FFF2-40B4-BE49-F238E27FC236}">
                    <a16:creationId xmlns:a16="http://schemas.microsoft.com/office/drawing/2014/main" id="{3DC5273D-81F4-804B-955F-7E6504CB57F2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721ACFE1-61B7-6348-801E-57AE443AD4EA}"/>
              </a:ext>
            </a:extLst>
          </p:cNvPr>
          <p:cNvGrpSpPr/>
          <p:nvPr/>
        </p:nvGrpSpPr>
        <p:grpSpPr>
          <a:xfrm>
            <a:off x="4568036" y="2982689"/>
            <a:ext cx="1124342" cy="1626876"/>
            <a:chOff x="1908358" y="3002385"/>
            <a:chExt cx="1124342" cy="1626876"/>
          </a:xfrm>
        </p:grpSpPr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E7DECBC4-B4DE-6B45-A74D-D1A797EFBE85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05772F61-4438-4E4C-93A2-54D060FABF65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481C7B6B-7017-C94E-A58E-4D08869C8F9A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B05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9" name="Group 398">
              <a:extLst>
                <a:ext uri="{FF2B5EF4-FFF2-40B4-BE49-F238E27FC236}">
                  <a16:creationId xmlns:a16="http://schemas.microsoft.com/office/drawing/2014/main" id="{271A345F-4B03-2D4B-8C1B-1B37FD4FA691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E6A43E5E-DA8C-0E4A-A9CD-0D1274B8038B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4A2DE725-DE5F-C548-9968-C7C6497467A5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9750A9E0-CB9C-3146-A442-97EF20841996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22E28DA6-1E31-454E-8637-0283A0DA227D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4BC69B4C-DD0F-5E4A-A6FA-29B3DA2C7A3A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FB0359FA-ECC8-6549-BE7E-223528115C11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6" name="Trapezoid 405">
                <a:extLst>
                  <a:ext uri="{FF2B5EF4-FFF2-40B4-BE49-F238E27FC236}">
                    <a16:creationId xmlns:a16="http://schemas.microsoft.com/office/drawing/2014/main" id="{BAA17843-2D6E-B64D-BBC7-3F62AF783159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7" name="Trapezoid 406">
                <a:extLst>
                  <a:ext uri="{FF2B5EF4-FFF2-40B4-BE49-F238E27FC236}">
                    <a16:creationId xmlns:a16="http://schemas.microsoft.com/office/drawing/2014/main" id="{59919433-5B66-C74F-B1D4-3017BDE2EC4F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8" name="Trapezoid 407">
                <a:extLst>
                  <a:ext uri="{FF2B5EF4-FFF2-40B4-BE49-F238E27FC236}">
                    <a16:creationId xmlns:a16="http://schemas.microsoft.com/office/drawing/2014/main" id="{ADC641F2-03C4-634C-9CF6-8E4CBBAD513A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9" name="Trapezoid 408">
                <a:extLst>
                  <a:ext uri="{FF2B5EF4-FFF2-40B4-BE49-F238E27FC236}">
                    <a16:creationId xmlns:a16="http://schemas.microsoft.com/office/drawing/2014/main" id="{A3E65B3A-49ED-964F-8AAF-9F2AB91AD581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0" name="Trapezoid 409">
                <a:extLst>
                  <a:ext uri="{FF2B5EF4-FFF2-40B4-BE49-F238E27FC236}">
                    <a16:creationId xmlns:a16="http://schemas.microsoft.com/office/drawing/2014/main" id="{8334A7A6-D014-CD47-9F8E-C36E9F46C5A6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1" name="Trapezoid 410">
                <a:extLst>
                  <a:ext uri="{FF2B5EF4-FFF2-40B4-BE49-F238E27FC236}">
                    <a16:creationId xmlns:a16="http://schemas.microsoft.com/office/drawing/2014/main" id="{53B7947B-ED5E-C649-B8BD-E5F596A796D3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F948BDC4-26C7-E846-B9D1-2E39AEAF5DD9}"/>
              </a:ext>
            </a:extLst>
          </p:cNvPr>
          <p:cNvGrpSpPr/>
          <p:nvPr/>
        </p:nvGrpSpPr>
        <p:grpSpPr>
          <a:xfrm>
            <a:off x="5981873" y="2982689"/>
            <a:ext cx="1124342" cy="1626876"/>
            <a:chOff x="1908358" y="3002385"/>
            <a:chExt cx="1124342" cy="1626876"/>
          </a:xfrm>
        </p:grpSpPr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A927E1FC-3BE2-FA4C-A0D9-39ABE954EB73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DB2760C1-F7B2-084A-BC06-0AAC71262DF6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37BA4E89-79FD-BE4C-98CC-E38B641E9819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B05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96D83746-B821-4340-A872-76266EC61235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E556A61E-8899-8742-910B-51AA99482F95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D85F684A-8934-9748-B2E7-68D0A9DE858B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1A381042-922F-DC49-A541-E5F341B0698F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0DF595AB-CA69-5440-AB83-69A89D67A806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FA1ADBCF-4F4E-BC43-8A48-848C36A0DC73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550C3071-10C1-2449-A0B5-D75B0F766BD2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3" name="Trapezoid 422">
                <a:extLst>
                  <a:ext uri="{FF2B5EF4-FFF2-40B4-BE49-F238E27FC236}">
                    <a16:creationId xmlns:a16="http://schemas.microsoft.com/office/drawing/2014/main" id="{B0E7ABFF-93BC-AC48-AE19-43A6BFCEC8E3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4" name="Trapezoid 423">
                <a:extLst>
                  <a:ext uri="{FF2B5EF4-FFF2-40B4-BE49-F238E27FC236}">
                    <a16:creationId xmlns:a16="http://schemas.microsoft.com/office/drawing/2014/main" id="{84E6191D-7CAC-C240-B34E-714AA4A676BC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5" name="Trapezoid 424">
                <a:extLst>
                  <a:ext uri="{FF2B5EF4-FFF2-40B4-BE49-F238E27FC236}">
                    <a16:creationId xmlns:a16="http://schemas.microsoft.com/office/drawing/2014/main" id="{A6082EB5-4B43-734D-ACF5-A2FC683F4A87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6" name="Trapezoid 425">
                <a:extLst>
                  <a:ext uri="{FF2B5EF4-FFF2-40B4-BE49-F238E27FC236}">
                    <a16:creationId xmlns:a16="http://schemas.microsoft.com/office/drawing/2014/main" id="{C410E377-3307-DE4C-BAC3-9377E44F5E17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7" name="Trapezoid 426">
                <a:extLst>
                  <a:ext uri="{FF2B5EF4-FFF2-40B4-BE49-F238E27FC236}">
                    <a16:creationId xmlns:a16="http://schemas.microsoft.com/office/drawing/2014/main" id="{785804E5-77DB-FE49-B0DA-819DE38718F8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8" name="Trapezoid 427">
                <a:extLst>
                  <a:ext uri="{FF2B5EF4-FFF2-40B4-BE49-F238E27FC236}">
                    <a16:creationId xmlns:a16="http://schemas.microsoft.com/office/drawing/2014/main" id="{8000D2D7-8954-1548-86A6-ACBA9BBE80A1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814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" grpId="0"/>
      <p:bldP spid="365" grpId="0"/>
      <p:bldP spid="366" grpId="0"/>
      <p:bldP spid="37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7320-8830-B290-0975-2317B61A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>
            <a:extLst>
              <a:ext uri="{FF2B5EF4-FFF2-40B4-BE49-F238E27FC236}">
                <a16:creationId xmlns:a16="http://schemas.microsoft.com/office/drawing/2014/main" id="{9E25E791-BAF0-DC6C-B00D-FB1EA6B005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>
            <a:extLst>
              <a:ext uri="{FF2B5EF4-FFF2-40B4-BE49-F238E27FC236}">
                <a16:creationId xmlns:a16="http://schemas.microsoft.com/office/drawing/2014/main" id="{4FAFDFEB-C385-3CAB-E637-598BDEFE0A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Network layer (lectures 10–15)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Addressing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plane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Intra-domain routing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Inter-domain routing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SDN and programmable networks (lecture 16)</a:t>
            </a:r>
          </a:p>
          <a:p>
            <a:r>
              <a:rPr lang="en-US" dirty="0"/>
              <a:t>Link layer (lectures 17–19)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r>
              <a:rPr lang="en-US" dirty="0"/>
              <a:t>Wireless</a:t>
            </a:r>
          </a:p>
          <a:p>
            <a:r>
              <a:rPr lang="en-US" dirty="0"/>
              <a:t>Datacenter networking (lecture 20)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DECB2-2685-1E40-E8A2-9B1F18BA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EEB72-E55E-F6BD-A76C-F89AB8A5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2EA21-C03C-5EB3-8880-36573DA1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571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four primary services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Framing</a:t>
            </a:r>
          </a:p>
          <a:p>
            <a:pPr lvl="2"/>
            <a:r>
              <a:rPr lang="en-US" dirty="0"/>
              <a:t>Encapsulates network layer data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Link access</a:t>
            </a:r>
          </a:p>
          <a:p>
            <a:pPr lvl="2"/>
            <a:r>
              <a:rPr lang="en-US" dirty="0"/>
              <a:t>Medium access control (MAC) protocol defines when to transmit frames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Reliable delivery</a:t>
            </a:r>
          </a:p>
          <a:p>
            <a:pPr lvl="2"/>
            <a:r>
              <a:rPr lang="en-US" dirty="0"/>
              <a:t>Primarily for mediums with high error rates (e.g., wireless)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Error detection and correction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vs. broadcast medium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Point-to-point</a:t>
            </a:r>
            <a:r>
              <a:rPr lang="en-US" dirty="0"/>
              <a:t>: dedicated pairwise communication</a:t>
            </a:r>
          </a:p>
          <a:p>
            <a:pPr lvl="1"/>
            <a:r>
              <a:rPr lang="en-US" dirty="0"/>
              <a:t>E.g., long-distance fiber link</a:t>
            </a:r>
          </a:p>
          <a:p>
            <a:pPr lvl="1"/>
            <a:r>
              <a:rPr lang="en-US" dirty="0"/>
              <a:t>E.g., Point-to-point link b/n Ethernet switch and host</a:t>
            </a:r>
          </a:p>
          <a:p>
            <a:r>
              <a:rPr lang="en-US" dirty="0">
                <a:solidFill>
                  <a:srgbClr val="0000FF"/>
                </a:solidFill>
              </a:rPr>
              <a:t>Broadcast</a:t>
            </a:r>
            <a:r>
              <a:rPr lang="en-US" dirty="0"/>
              <a:t>: shared wire or medium</a:t>
            </a:r>
          </a:p>
          <a:p>
            <a:pPr lvl="1"/>
            <a:r>
              <a:rPr lang="en-US" dirty="0"/>
              <a:t>Traditional Ethernet (pre ~2000)</a:t>
            </a:r>
          </a:p>
          <a:p>
            <a:pPr lvl="1"/>
            <a:r>
              <a:rPr lang="en-US" dirty="0"/>
              <a:t>802.11 wireless LAN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7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MAC protocols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node has packet to send</a:t>
            </a:r>
          </a:p>
          <a:p>
            <a:pPr lvl="1"/>
            <a:r>
              <a:rPr lang="en-US" dirty="0"/>
              <a:t>Transmit at full channel data rate </a:t>
            </a:r>
            <a:r>
              <a:rPr lang="en-US" b="1" dirty="0"/>
              <a:t>w/o</a:t>
            </a:r>
            <a:r>
              <a:rPr lang="en-US" dirty="0"/>
              <a:t> coordination</a:t>
            </a:r>
          </a:p>
          <a:p>
            <a:r>
              <a:rPr lang="en-US" dirty="0"/>
              <a:t>Two or more transmitting nodes </a:t>
            </a:r>
            <a:r>
              <a:rPr lang="en-US" dirty="0">
                <a:sym typeface="Symbol" charset="0"/>
              </a:rPr>
              <a:t>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collision</a:t>
            </a:r>
          </a:p>
          <a:p>
            <a:pPr lvl="1"/>
            <a:r>
              <a:rPr lang="en-US" dirty="0"/>
              <a:t>Data lost</a:t>
            </a:r>
          </a:p>
          <a:p>
            <a:r>
              <a:rPr lang="en-US" dirty="0"/>
              <a:t>Random access MAC protocol specifies</a:t>
            </a:r>
          </a:p>
          <a:p>
            <a:pPr lvl="1"/>
            <a:r>
              <a:rPr lang="en-US" dirty="0"/>
              <a:t>How to </a:t>
            </a:r>
            <a:r>
              <a:rPr lang="en-US" dirty="0">
                <a:solidFill>
                  <a:srgbClr val="0000FF"/>
                </a:solidFill>
              </a:rPr>
              <a:t>detect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recover</a:t>
            </a:r>
            <a:r>
              <a:rPr lang="en-US" dirty="0"/>
              <a:t> from collisions </a:t>
            </a:r>
          </a:p>
          <a:p>
            <a:r>
              <a:rPr lang="en-US" dirty="0"/>
              <a:t>Examples </a:t>
            </a:r>
          </a:p>
          <a:p>
            <a:pPr lvl="1"/>
            <a:r>
              <a:rPr lang="en-US" dirty="0"/>
              <a:t>ALOHA and Slotted ALOHA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CSMA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CSMA/CD</a:t>
            </a:r>
            <a:r>
              <a:rPr lang="en-US" dirty="0"/>
              <a:t>, CSMA/CA (wireless)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 (Carrier Sense Multiple Access)</a:t>
            </a:r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CSMA: </a:t>
            </a:r>
            <a:r>
              <a:rPr lang="en-US" dirty="0">
                <a:solidFill>
                  <a:srgbClr val="0000FF"/>
                </a:solidFill>
              </a:rPr>
              <a:t>listen before transmit</a:t>
            </a:r>
          </a:p>
          <a:p>
            <a:pPr lvl="1"/>
            <a:r>
              <a:rPr lang="en-US" dirty="0"/>
              <a:t>If channel sensed idle: transmit entire frame</a:t>
            </a:r>
          </a:p>
          <a:p>
            <a:pPr lvl="1"/>
            <a:r>
              <a:rPr lang="en-US" dirty="0"/>
              <a:t>If channel sensed busy, defer transmission </a:t>
            </a:r>
          </a:p>
          <a:p>
            <a:r>
              <a:rPr lang="en-US" dirty="0"/>
              <a:t>Human analogy: don’t interrupt others!</a:t>
            </a:r>
          </a:p>
          <a:p>
            <a:r>
              <a:rPr lang="en-US" dirty="0"/>
              <a:t>Does not eliminate all collisions</a:t>
            </a:r>
          </a:p>
          <a:p>
            <a:pPr lvl="1"/>
            <a:r>
              <a:rPr lang="en-US" dirty="0"/>
              <a:t>Why?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5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CSMA/CD (Collision Detection)</a:t>
            </a:r>
          </a:p>
        </p:txBody>
      </p:sp>
      <p:sp>
        <p:nvSpPr>
          <p:cNvPr id="977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CSMA/CD: carrier sensing, deferral as in CSMA</a:t>
            </a:r>
          </a:p>
          <a:p>
            <a:pPr lvl="1"/>
            <a:r>
              <a:rPr lang="en-US" dirty="0"/>
              <a:t>Collisions detected within short time</a:t>
            </a:r>
          </a:p>
          <a:p>
            <a:pPr lvl="1"/>
            <a:r>
              <a:rPr lang="en-US" dirty="0"/>
              <a:t>Colliding transmissions aborted, reducing wastage </a:t>
            </a:r>
          </a:p>
          <a:p>
            <a:r>
              <a:rPr lang="en-US" dirty="0"/>
              <a:t>Collision detection easy in wired (broadcast) LANs</a:t>
            </a:r>
          </a:p>
          <a:p>
            <a:pPr lvl="1"/>
            <a:r>
              <a:rPr lang="en-US" dirty="0"/>
              <a:t>Compare transmitted, received signals</a:t>
            </a:r>
          </a:p>
          <a:p>
            <a:r>
              <a:rPr lang="en-US" dirty="0"/>
              <a:t>Collision detection difficult in wireless LANs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6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CSMA/CD network length</a:t>
            </a:r>
          </a:p>
        </p:txBody>
      </p:sp>
      <p:sp>
        <p:nvSpPr>
          <p:cNvPr id="94310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04456"/>
            <a:ext cx="7924800" cy="3015343"/>
          </a:xfrm>
        </p:spPr>
        <p:txBody>
          <a:bodyPr/>
          <a:lstStyle/>
          <a:p>
            <a:r>
              <a:rPr lang="en-US" dirty="0"/>
              <a:t>Latency depends on physical length of link</a:t>
            </a:r>
          </a:p>
          <a:p>
            <a:pPr lvl="1"/>
            <a:r>
              <a:rPr lang="en-US" dirty="0"/>
              <a:t>Time to propagate a frame from one end to other</a:t>
            </a:r>
          </a:p>
          <a:p>
            <a:r>
              <a:rPr lang="en-US" dirty="0"/>
              <a:t> Suppose A sends a frame at time </a:t>
            </a:r>
            <a:r>
              <a:rPr lang="en-US" b="1" dirty="0"/>
              <a:t>t</a:t>
            </a:r>
          </a:p>
          <a:p>
            <a:pPr lvl="1"/>
            <a:r>
              <a:rPr lang="en-US" dirty="0"/>
              <a:t>And B sees an idle line at a time just before </a:t>
            </a:r>
            <a:r>
              <a:rPr lang="en-US" b="1" dirty="0"/>
              <a:t>t + d</a:t>
            </a:r>
          </a:p>
          <a:p>
            <a:pPr lvl="1"/>
            <a:r>
              <a:rPr lang="en-US" dirty="0"/>
              <a:t>… so B happily starts transmitting a frame</a:t>
            </a:r>
          </a:p>
          <a:p>
            <a:r>
              <a:rPr lang="en-US" dirty="0"/>
              <a:t>B detects a collision, and sends jamming signal</a:t>
            </a:r>
          </a:p>
          <a:p>
            <a:pPr lvl="1"/>
            <a:r>
              <a:rPr lang="en-US" dirty="0"/>
              <a:t>But A cannot see collision until </a:t>
            </a:r>
            <a:r>
              <a:rPr lang="en-US" b="1" dirty="0"/>
              <a:t>t + 2d</a:t>
            </a: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914400" y="1410746"/>
            <a:ext cx="7354389" cy="1362047"/>
            <a:chOff x="517525" y="1201738"/>
            <a:chExt cx="8554585" cy="1584325"/>
          </a:xfrm>
        </p:grpSpPr>
        <p:pic>
          <p:nvPicPr>
            <p:cNvPr id="96261" name="Picture 4" descr="j019538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413" y="1431925"/>
              <a:ext cx="1316037" cy="1344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262" name="Picture 5" descr="j02920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850" y="1316038"/>
              <a:ext cx="1549400" cy="147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263" name="Rectangle 6"/>
            <p:cNvSpPr>
              <a:spLocks noChangeArrowheads="1"/>
            </p:cNvSpPr>
            <p:nvPr/>
          </p:nvSpPr>
          <p:spPr bwMode="auto">
            <a:xfrm>
              <a:off x="2074863" y="1970089"/>
              <a:ext cx="5568950" cy="8731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66" name="Text Box 13"/>
            <p:cNvSpPr txBox="1">
              <a:spLocks noChangeArrowheads="1"/>
            </p:cNvSpPr>
            <p:nvPr/>
          </p:nvSpPr>
          <p:spPr bwMode="auto">
            <a:xfrm>
              <a:off x="4030663" y="1547813"/>
              <a:ext cx="1285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latency</a:t>
              </a:r>
              <a:r>
                <a:rPr lang="en-US" i="1">
                  <a:latin typeface="Helvetica" charset="0"/>
                </a:rPr>
                <a:t> d</a:t>
              </a:r>
              <a:endParaRPr lang="en-US">
                <a:latin typeface="Helvetica" charset="0"/>
              </a:endParaRPr>
            </a:p>
          </p:txBody>
        </p:sp>
        <p:sp>
          <p:nvSpPr>
            <p:cNvPr id="96267" name="Text Box 14"/>
            <p:cNvSpPr txBox="1">
              <a:spLocks noChangeArrowheads="1"/>
            </p:cNvSpPr>
            <p:nvPr/>
          </p:nvSpPr>
          <p:spPr bwMode="auto">
            <a:xfrm>
              <a:off x="517525" y="12652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A</a:t>
              </a:r>
              <a:endParaRPr lang="en-US">
                <a:latin typeface="Helvetica" charset="0"/>
              </a:endParaRPr>
            </a:p>
          </p:txBody>
        </p:sp>
        <p:sp>
          <p:nvSpPr>
            <p:cNvPr id="96268" name="Text Box 15"/>
            <p:cNvSpPr txBox="1">
              <a:spLocks noChangeArrowheads="1"/>
            </p:cNvSpPr>
            <p:nvPr/>
          </p:nvSpPr>
          <p:spPr bwMode="auto">
            <a:xfrm>
              <a:off x="8703810" y="12017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9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07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CSMA/CD network length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17520"/>
            <a:ext cx="7924800" cy="3002280"/>
          </a:xfrm>
        </p:spPr>
        <p:txBody>
          <a:bodyPr/>
          <a:lstStyle/>
          <a:p>
            <a:r>
              <a:rPr lang="en-US" dirty="0"/>
              <a:t>A needs to wait for time </a:t>
            </a:r>
            <a:r>
              <a:rPr lang="en-US" b="1" dirty="0"/>
              <a:t>2d</a:t>
            </a:r>
            <a:r>
              <a:rPr lang="en-US" dirty="0"/>
              <a:t> to detect collision</a:t>
            </a:r>
          </a:p>
          <a:p>
            <a:pPr lvl="1"/>
            <a:r>
              <a:rPr lang="en-US" dirty="0"/>
              <a:t>So, A should keep transmitting during this period</a:t>
            </a:r>
          </a:p>
          <a:p>
            <a:pPr lvl="1"/>
            <a:r>
              <a:rPr lang="en-US" dirty="0"/>
              <a:t>AND keep an eye out for a possible collision</a:t>
            </a:r>
          </a:p>
          <a:p>
            <a:r>
              <a:rPr lang="en-US" dirty="0"/>
              <a:t>Imposes restrictions; e.g., for 10 Mbps Ethernet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Maximum length</a:t>
            </a:r>
            <a:r>
              <a:rPr lang="en-US" dirty="0"/>
              <a:t> of the wire: 2,500 meters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Minimum length</a:t>
            </a:r>
            <a:r>
              <a:rPr lang="en-US" dirty="0"/>
              <a:t> of a frame: 512 bits (64 bytes)</a:t>
            </a:r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914400" y="1410746"/>
            <a:ext cx="7354389" cy="1362047"/>
            <a:chOff x="517525" y="1201738"/>
            <a:chExt cx="8554585" cy="1584325"/>
          </a:xfrm>
        </p:grpSpPr>
        <p:pic>
          <p:nvPicPr>
            <p:cNvPr id="11" name="Picture 4" descr="j019538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413" y="1431925"/>
              <a:ext cx="1316037" cy="1344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5" descr="j02920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850" y="1316038"/>
              <a:ext cx="1549400" cy="147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2074863" y="1970089"/>
              <a:ext cx="5568950" cy="8731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4030663" y="1547813"/>
              <a:ext cx="1285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latency</a:t>
              </a:r>
              <a:r>
                <a:rPr lang="en-US" i="1">
                  <a:latin typeface="Helvetica" charset="0"/>
                </a:rPr>
                <a:t> d</a:t>
              </a:r>
              <a:endParaRPr lang="en-US">
                <a:latin typeface="Helvetica" charset="0"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517525" y="12652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A</a:t>
              </a:r>
              <a:endParaRPr lang="en-US">
                <a:latin typeface="Helvetica" charset="0"/>
              </a:endParaRP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8703810" y="12017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0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switched Ethernet?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Enables concurrent communication</a:t>
            </a:r>
          </a:p>
          <a:p>
            <a:pPr lvl="1"/>
            <a:r>
              <a:rPr lang="en-US" sz="2000" dirty="0"/>
              <a:t>Host A can talk to C, while B talks to D</a:t>
            </a:r>
          </a:p>
          <a:p>
            <a:pPr lvl="1"/>
            <a:r>
              <a:rPr lang="en-US" sz="2000" dirty="0"/>
              <a:t>No collisions and no need for CSMA/CD</a:t>
            </a:r>
          </a:p>
          <a:p>
            <a:pPr lvl="1"/>
            <a:r>
              <a:rPr lang="en-US" sz="2000" dirty="0"/>
              <a:t>No constraints on link lengths, etc.</a:t>
            </a:r>
            <a:endParaRPr lang="en-US" sz="24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4873490" y="1723874"/>
            <a:ext cx="3344862" cy="3196500"/>
            <a:chOff x="2535238" y="1240544"/>
            <a:chExt cx="3344862" cy="3196500"/>
          </a:xfrm>
        </p:grpSpPr>
        <p:graphicFrame>
          <p:nvGraphicFramePr>
            <p:cNvPr id="29" name="Object 28"/>
            <p:cNvGraphicFramePr>
              <a:graphicFrameLocks noChangeAspect="1"/>
            </p:cNvGraphicFramePr>
            <p:nvPr/>
          </p:nvGraphicFramePr>
          <p:xfrm>
            <a:off x="3952875" y="1728769"/>
            <a:ext cx="512763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875" y="1728769"/>
                          <a:ext cx="512763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3983038" y="39893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3038" y="39893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/>
          </p:nvGraphicFramePr>
          <p:xfrm>
            <a:off x="5367338" y="27574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7338" y="27574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/>
            <p:cNvGraphicFramePr>
              <a:graphicFrameLocks noChangeAspect="1"/>
            </p:cNvGraphicFramePr>
            <p:nvPr/>
          </p:nvGraphicFramePr>
          <p:xfrm>
            <a:off x="2535238" y="2768582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948" imgH="1084823" progId="MS_ClipArt_Gallery.2">
                    <p:embed/>
                  </p:oleObj>
                </mc:Choice>
                <mc:Fallback>
                  <p:oleObj name="Clip" r:id="rId5" imgW="1307948" imgH="1084823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238" y="2768582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3017838" y="2911457"/>
              <a:ext cx="153987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5273675" y="2911457"/>
              <a:ext cx="153988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4194175" y="216850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4202113" y="3795694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3171825" y="2967019"/>
              <a:ext cx="842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487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" name="Line 15"/>
            <p:cNvSpPr>
              <a:spLocks noChangeShapeType="1"/>
            </p:cNvSpPr>
            <p:nvPr/>
          </p:nvSpPr>
          <p:spPr bwMode="auto">
            <a:xfrm flipH="1">
              <a:off x="4403725" y="2967019"/>
              <a:ext cx="852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" name="Line 16"/>
            <p:cNvSpPr>
              <a:spLocks noChangeShapeType="1"/>
            </p:cNvSpPr>
            <p:nvPr/>
          </p:nvSpPr>
          <p:spPr bwMode="auto">
            <a:xfrm flipV="1">
              <a:off x="4240213" y="3087669"/>
              <a:ext cx="11112" cy="687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2989978" y="3244127"/>
              <a:ext cx="111227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dirty="0">
                  <a:latin typeface="+mn-lt"/>
                </a:rPr>
                <a:t>Ethernet</a:t>
              </a:r>
              <a:br>
                <a:rPr lang="en-US" dirty="0">
                  <a:latin typeface="+mn-lt"/>
                </a:rPr>
              </a:br>
              <a:r>
                <a:rPr lang="en-US" dirty="0">
                  <a:latin typeface="+mn-lt"/>
                </a:rPr>
                <a:t>switch</a:t>
              </a:r>
            </a:p>
          </p:txBody>
        </p:sp>
        <p:sp>
          <p:nvSpPr>
            <p:cNvPr id="42" name="Line 18"/>
            <p:cNvSpPr>
              <a:spLocks noChangeShapeType="1"/>
            </p:cNvSpPr>
            <p:nvPr/>
          </p:nvSpPr>
          <p:spPr bwMode="auto">
            <a:xfrm flipV="1">
              <a:off x="3625850" y="3111482"/>
              <a:ext cx="355600" cy="231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584319" y="22902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A</a:t>
              </a:r>
            </a:p>
          </p:txBody>
        </p:sp>
        <p:sp>
          <p:nvSpPr>
            <p:cNvPr id="44" name="Text Box 20"/>
            <p:cNvSpPr txBox="1">
              <a:spLocks noChangeArrowheads="1"/>
            </p:cNvSpPr>
            <p:nvPr/>
          </p:nvSpPr>
          <p:spPr bwMode="auto">
            <a:xfrm>
              <a:off x="4075610" y="12405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B</a:t>
              </a:r>
            </a:p>
          </p:txBody>
        </p:sp>
        <p:sp>
          <p:nvSpPr>
            <p:cNvPr id="45" name="Text Box 21"/>
            <p:cNvSpPr txBox="1">
              <a:spLocks noChangeArrowheads="1"/>
            </p:cNvSpPr>
            <p:nvPr/>
          </p:nvSpPr>
          <p:spPr bwMode="auto">
            <a:xfrm>
              <a:off x="5470299" y="2289153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C</a:t>
              </a:r>
            </a:p>
          </p:txBody>
        </p:sp>
        <p:sp>
          <p:nvSpPr>
            <p:cNvPr id="46" name="Text Box 22"/>
            <p:cNvSpPr txBox="1">
              <a:spLocks noChangeArrowheads="1"/>
            </p:cNvSpPr>
            <p:nvPr/>
          </p:nvSpPr>
          <p:spPr bwMode="auto">
            <a:xfrm>
              <a:off x="4532313" y="3936982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D</a:t>
              </a:r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006237" y="2745465"/>
              <a:ext cx="459679" cy="459679"/>
            </a:xfrm>
            <a:prstGeom prst="rect">
              <a:avLst/>
            </a:prstGeom>
          </p:spPr>
        </p:pic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640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 switches are “self learning”</a:t>
            </a:r>
            <a:endParaRPr lang="en-US" dirty="0"/>
          </a:p>
        </p:txBody>
      </p:sp>
      <p:sp>
        <p:nvSpPr>
          <p:cNvPr id="665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packet arrives:</a:t>
            </a:r>
          </a:p>
          <a:p>
            <a:pPr lvl="1"/>
            <a:r>
              <a:rPr lang="en-US" dirty="0"/>
              <a:t>Inspect source MAC address, associate with incoming port</a:t>
            </a:r>
          </a:p>
          <a:p>
            <a:pPr lvl="1"/>
            <a:r>
              <a:rPr lang="en-US" dirty="0"/>
              <a:t>Store mapping in the switch table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</a:rPr>
              <a:t>time-to-live</a:t>
            </a:r>
            <a:r>
              <a:rPr lang="en-US" dirty="0"/>
              <a:t> field to eventually forget mapping</a:t>
            </a:r>
          </a:p>
        </p:txBody>
      </p:sp>
      <p:sp>
        <p:nvSpPr>
          <p:cNvPr id="66569" name="Rectangle 4"/>
          <p:cNvSpPr>
            <a:spLocks noChangeArrowheads="1"/>
          </p:cNvSpPr>
          <p:nvPr/>
        </p:nvSpPr>
        <p:spPr bwMode="auto">
          <a:xfrm>
            <a:off x="3975100" y="5227638"/>
            <a:ext cx="355600" cy="88900"/>
          </a:xfrm>
          <a:prstGeom prst="rect">
            <a:avLst/>
          </a:prstGeom>
          <a:solidFill>
            <a:srgbClr val="CC99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l"/>
          </a:scene3d>
          <a:sp3d extrusionH="430200" prstMaterial="legacyMatte">
            <a:bevelT w="13500" h="13500" prst="angle"/>
            <a:bevelB w="13500" h="13500" prst="angle"/>
            <a:extrusionClr>
              <a:srgbClr val="CC99FF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3968750" y="3946525"/>
          <a:ext cx="5127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3946525"/>
                        <a:ext cx="5127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3998913" y="62071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62071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5383213" y="49752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9752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2551113" y="4986338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948" imgH="1084823" progId="MS_ClipArt_Gallery.2">
                  <p:embed/>
                </p:oleObj>
              </mc:Choice>
              <mc:Fallback>
                <p:oleObj name="Clip" r:id="rId5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4986338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0" name="Rectangle 9"/>
          <p:cNvSpPr>
            <a:spLocks noChangeArrowheads="1"/>
          </p:cNvSpPr>
          <p:nvPr/>
        </p:nvSpPr>
        <p:spPr bwMode="auto">
          <a:xfrm>
            <a:off x="3033713" y="5129213"/>
            <a:ext cx="153987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Rectangle 10"/>
          <p:cNvSpPr>
            <a:spLocks noChangeArrowheads="1"/>
          </p:cNvSpPr>
          <p:nvPr/>
        </p:nvSpPr>
        <p:spPr bwMode="auto">
          <a:xfrm>
            <a:off x="5289550" y="5129213"/>
            <a:ext cx="153988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Rectangle 11"/>
          <p:cNvSpPr>
            <a:spLocks noChangeArrowheads="1"/>
          </p:cNvSpPr>
          <p:nvPr/>
        </p:nvSpPr>
        <p:spPr bwMode="auto">
          <a:xfrm>
            <a:off x="4210050" y="4386263"/>
            <a:ext cx="120650" cy="207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Rectangle 12"/>
          <p:cNvSpPr>
            <a:spLocks noChangeArrowheads="1"/>
          </p:cNvSpPr>
          <p:nvPr/>
        </p:nvSpPr>
        <p:spPr bwMode="auto">
          <a:xfrm>
            <a:off x="4217988" y="6013450"/>
            <a:ext cx="120650" cy="2079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4" name="Line 13"/>
          <p:cNvSpPr>
            <a:spLocks noChangeShapeType="1"/>
          </p:cNvSpPr>
          <p:nvPr/>
        </p:nvSpPr>
        <p:spPr bwMode="auto">
          <a:xfrm>
            <a:off x="3187700" y="5184775"/>
            <a:ext cx="842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5" name="Line 14"/>
          <p:cNvSpPr>
            <a:spLocks noChangeShapeType="1"/>
          </p:cNvSpPr>
          <p:nvPr/>
        </p:nvSpPr>
        <p:spPr bwMode="auto">
          <a:xfrm>
            <a:off x="4256088" y="45974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6" name="Line 15"/>
          <p:cNvSpPr>
            <a:spLocks noChangeShapeType="1"/>
          </p:cNvSpPr>
          <p:nvPr/>
        </p:nvSpPr>
        <p:spPr bwMode="auto">
          <a:xfrm flipH="1">
            <a:off x="4419600" y="5184775"/>
            <a:ext cx="85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7" name="Line 16"/>
          <p:cNvSpPr>
            <a:spLocks noChangeShapeType="1"/>
          </p:cNvSpPr>
          <p:nvPr/>
        </p:nvSpPr>
        <p:spPr bwMode="auto">
          <a:xfrm flipV="1">
            <a:off x="4256088" y="5305425"/>
            <a:ext cx="11112" cy="687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8" name="Text Box 17"/>
          <p:cNvSpPr txBox="1">
            <a:spLocks noChangeArrowheads="1"/>
          </p:cNvSpPr>
          <p:nvPr/>
        </p:nvSpPr>
        <p:spPr bwMode="auto">
          <a:xfrm>
            <a:off x="2090738" y="4926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A</a:t>
            </a:r>
          </a:p>
        </p:txBody>
      </p:sp>
      <p:sp>
        <p:nvSpPr>
          <p:cNvPr id="66579" name="Text Box 18"/>
          <p:cNvSpPr txBox="1">
            <a:spLocks noChangeArrowheads="1"/>
          </p:cNvSpPr>
          <p:nvPr/>
        </p:nvSpPr>
        <p:spPr bwMode="auto">
          <a:xfrm>
            <a:off x="4587875" y="38893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B</a:t>
            </a:r>
          </a:p>
        </p:txBody>
      </p:sp>
      <p:sp>
        <p:nvSpPr>
          <p:cNvPr id="66580" name="Text Box 19"/>
          <p:cNvSpPr txBox="1">
            <a:spLocks noChangeArrowheads="1"/>
          </p:cNvSpPr>
          <p:nvPr/>
        </p:nvSpPr>
        <p:spPr bwMode="auto">
          <a:xfrm>
            <a:off x="6008688" y="49641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C</a:t>
            </a:r>
          </a:p>
        </p:txBody>
      </p:sp>
      <p:sp>
        <p:nvSpPr>
          <p:cNvPr id="66581" name="Text Box 20"/>
          <p:cNvSpPr txBox="1">
            <a:spLocks noChangeArrowheads="1"/>
          </p:cNvSpPr>
          <p:nvPr/>
        </p:nvSpPr>
        <p:spPr bwMode="auto">
          <a:xfrm>
            <a:off x="4548188" y="61547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D</a:t>
            </a:r>
          </a:p>
        </p:txBody>
      </p:sp>
      <p:sp>
        <p:nvSpPr>
          <p:cNvPr id="66582" name="Rectangle 21"/>
          <p:cNvSpPr>
            <a:spLocks noChangeArrowheads="1"/>
          </p:cNvSpPr>
          <p:nvPr/>
        </p:nvSpPr>
        <p:spPr bwMode="auto">
          <a:xfrm>
            <a:off x="3421063" y="4927600"/>
            <a:ext cx="460375" cy="153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3" name="Rectangle 22"/>
          <p:cNvSpPr>
            <a:spLocks noChangeArrowheads="1"/>
          </p:cNvSpPr>
          <p:nvPr/>
        </p:nvSpPr>
        <p:spPr bwMode="auto">
          <a:xfrm>
            <a:off x="3727450" y="4927600"/>
            <a:ext cx="153988" cy="15398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4" name="Text Box 23"/>
          <p:cNvSpPr txBox="1">
            <a:spLocks noChangeArrowheads="1"/>
          </p:cNvSpPr>
          <p:nvPr/>
        </p:nvSpPr>
        <p:spPr bwMode="auto">
          <a:xfrm>
            <a:off x="457200" y="3886200"/>
            <a:ext cx="2814638" cy="707886"/>
          </a:xfrm>
          <a:prstGeom prst="rect">
            <a:avLst/>
          </a:prstGeom>
          <a:noFill/>
          <a:ln w="38100">
            <a:solidFill>
              <a:srgbClr val="D3A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Packet tells switch how to reach A.</a:t>
            </a:r>
          </a:p>
        </p:txBody>
      </p:sp>
      <p:sp>
        <p:nvSpPr>
          <p:cNvPr id="66585" name="Line 24"/>
          <p:cNvSpPr>
            <a:spLocks noChangeShapeType="1"/>
          </p:cNvSpPr>
          <p:nvPr/>
        </p:nvSpPr>
        <p:spPr bwMode="auto">
          <a:xfrm>
            <a:off x="3227388" y="4695825"/>
            <a:ext cx="6921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E9787D-A36B-A8BB-21DD-9B9753C57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69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8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ARP and 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layer discovery protocols</a:t>
            </a:r>
          </a:p>
          <a:p>
            <a:pPr lvl="1"/>
            <a:r>
              <a:rPr lang="en-US" dirty="0"/>
              <a:t>ARP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Address Resolution Protocol</a:t>
            </a:r>
          </a:p>
          <a:p>
            <a:pPr lvl="1"/>
            <a:r>
              <a:rPr lang="en-US" dirty="0"/>
              <a:t>DHCP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Dynamic Host Configuration Protocol</a:t>
            </a:r>
          </a:p>
          <a:p>
            <a:pPr lvl="1"/>
            <a:r>
              <a:rPr lang="en-US" dirty="0"/>
              <a:t>Confined to a single local-area network (LAN) </a:t>
            </a:r>
          </a:p>
          <a:p>
            <a:pPr lvl="1"/>
            <a:r>
              <a:rPr lang="en-US" dirty="0"/>
              <a:t>Rely on broadcast capability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77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in both ARP and DHCP</a:t>
            </a:r>
          </a:p>
        </p:txBody>
      </p:sp>
      <p:sp>
        <p:nvSpPr>
          <p:cNvPr id="92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Broadcasting</a:t>
            </a:r>
            <a:r>
              <a:rPr lang="en-US" dirty="0"/>
              <a:t>: Can use broadcast to make contact</a:t>
            </a:r>
          </a:p>
          <a:p>
            <a:pPr lvl="1"/>
            <a:r>
              <a:rPr lang="en-US" dirty="0"/>
              <a:t>Scalable because of limited size</a:t>
            </a:r>
          </a:p>
          <a:p>
            <a:r>
              <a:rPr lang="en-US" dirty="0">
                <a:solidFill>
                  <a:srgbClr val="0000FF"/>
                </a:solidFill>
              </a:rPr>
              <a:t>Caching</a:t>
            </a:r>
            <a:r>
              <a:rPr lang="en-US" dirty="0"/>
              <a:t>: remember the past for a while</a:t>
            </a:r>
          </a:p>
          <a:p>
            <a:pPr lvl="1"/>
            <a:r>
              <a:rPr lang="en-US" dirty="0"/>
              <a:t>Store the information you learn to reduce overhead</a:t>
            </a:r>
          </a:p>
          <a:p>
            <a:r>
              <a:rPr lang="en-US" dirty="0">
                <a:solidFill>
                  <a:srgbClr val="0000FF"/>
                </a:solidFill>
              </a:rPr>
              <a:t>Soft state</a:t>
            </a:r>
            <a:r>
              <a:rPr lang="en-US" dirty="0"/>
              <a:t>: eventually forget the past</a:t>
            </a:r>
          </a:p>
          <a:p>
            <a:pPr lvl="1"/>
            <a:r>
              <a:rPr lang="en-US" dirty="0"/>
              <a:t>Associate a time-to-live field with the information</a:t>
            </a:r>
          </a:p>
          <a:p>
            <a:pPr lvl="1"/>
            <a:r>
              <a:rPr lang="en-US" dirty="0"/>
              <a:t>… and either refresh or discard the information</a:t>
            </a:r>
          </a:p>
          <a:p>
            <a:pPr lvl="1"/>
            <a:r>
              <a:rPr lang="en-US" dirty="0"/>
              <a:t>Key for robustness in the face of unpredictable change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2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link characteristics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important differences from wired link …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Decreased signal strength</a:t>
            </a:r>
            <a:r>
              <a:rPr lang="en-US" dirty="0"/>
              <a:t>: Radio signal attenuates as it propagates through matter (path loss)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Multipath propagation</a:t>
            </a:r>
            <a:r>
              <a:rPr lang="en-US" dirty="0"/>
              <a:t>: Radio signal reflects off objects ground, arriving at destination at slightly different times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Interference from other sources</a:t>
            </a:r>
            <a:r>
              <a:rPr lang="en-US" dirty="0"/>
              <a:t>: Standardized wireless network frequencies (e.g., 2.4 GHz) shared by other devices (e.g., phone); devices (motors) interfere as well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D4ADA-A602-F84E-A7DA-25B283A7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05E22-013F-2912-E66C-8CDED68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3506A-234F-9D05-D8CB-B005F65D6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6931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terminal problem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177800" indent="-177800">
              <a:lnSpc>
                <a:spcPct val="90000"/>
              </a:lnSpc>
              <a:buClr>
                <a:srgbClr val="000099"/>
              </a:buClr>
              <a:buSzPct val="100000"/>
              <a:buFont typeface="Arial" charset="0"/>
              <a:buChar char="•"/>
              <a:defRPr/>
            </a:pPr>
            <a:r>
              <a:rPr lang="en-US" sz="2400" dirty="0">
                <a:ea typeface="Arial" charset="0"/>
                <a:cs typeface="Arial" charset="0"/>
              </a:rPr>
              <a:t>B, A hear each other</a:t>
            </a:r>
          </a:p>
          <a:p>
            <a:pPr marL="177800" indent="-177800">
              <a:lnSpc>
                <a:spcPct val="90000"/>
              </a:lnSpc>
              <a:buClr>
                <a:srgbClr val="000099"/>
              </a:buClr>
              <a:buSzPct val="100000"/>
              <a:buFont typeface="Arial" charset="0"/>
              <a:buChar char="•"/>
              <a:defRPr/>
            </a:pPr>
            <a:r>
              <a:rPr lang="en-US" sz="2400" dirty="0">
                <a:ea typeface="Arial" charset="0"/>
                <a:cs typeface="Arial" charset="0"/>
              </a:rPr>
              <a:t>B, C hear each other</a:t>
            </a:r>
          </a:p>
          <a:p>
            <a:pPr marL="177800" indent="-177800">
              <a:lnSpc>
                <a:spcPct val="90000"/>
              </a:lnSpc>
              <a:buClr>
                <a:srgbClr val="000099"/>
              </a:buClr>
              <a:buSzPct val="100000"/>
              <a:buFont typeface="Arial" charset="0"/>
              <a:buChar char="•"/>
              <a:defRPr/>
            </a:pPr>
            <a:r>
              <a:rPr lang="en-US" sz="2400" dirty="0">
                <a:ea typeface="Arial" charset="0"/>
                <a:cs typeface="Arial" charset="0"/>
              </a:rPr>
              <a:t>A, C can not hear each other</a:t>
            </a:r>
          </a:p>
          <a:p>
            <a:pPr marL="177800" indent="-177800">
              <a:lnSpc>
                <a:spcPct val="90000"/>
              </a:lnSpc>
              <a:buClr>
                <a:srgbClr val="000099"/>
              </a:buClr>
              <a:buSzPct val="100000"/>
              <a:buFont typeface="Arial" charset="0"/>
              <a:buChar char="•"/>
              <a:defRPr/>
            </a:pPr>
            <a:r>
              <a:rPr lang="en-US" sz="2400" dirty="0">
                <a:ea typeface="Arial" charset="0"/>
                <a:cs typeface="Arial" charset="0"/>
              </a:rPr>
              <a:t>Hence, A, C are unaware of their interference at B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62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5029200" y="1600200"/>
            <a:ext cx="3203575" cy="1828495"/>
            <a:chOff x="698500" y="2413000"/>
            <a:chExt cx="3203575" cy="1828495"/>
          </a:xfrm>
        </p:grpSpPr>
        <p:grpSp>
          <p:nvGrpSpPr>
            <p:cNvPr id="10" name="Group 356"/>
            <p:cNvGrpSpPr>
              <a:grpSpLocks/>
            </p:cNvGrpSpPr>
            <p:nvPr/>
          </p:nvGrpSpPr>
          <p:grpSpPr bwMode="auto">
            <a:xfrm>
              <a:off x="2163763" y="2570163"/>
              <a:ext cx="627062" cy="642937"/>
              <a:chOff x="313" y="1497"/>
              <a:chExt cx="1152" cy="1014"/>
            </a:xfrm>
          </p:grpSpPr>
          <p:pic>
            <p:nvPicPr>
              <p:cNvPr id="23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698500" y="2413000"/>
              <a:ext cx="2020888" cy="1085850"/>
            </a:xfrm>
            <a:custGeom>
              <a:avLst/>
              <a:gdLst>
                <a:gd name="T0" fmla="*/ 2147483647 w 1273"/>
                <a:gd name="T1" fmla="*/ 2147483647 h 684"/>
                <a:gd name="T2" fmla="*/ 2147483647 w 1273"/>
                <a:gd name="T3" fmla="*/ 0 h 684"/>
                <a:gd name="T4" fmla="*/ 2147483647 w 1273"/>
                <a:gd name="T5" fmla="*/ 2147483647 h 684"/>
                <a:gd name="T6" fmla="*/ 2147483647 w 1273"/>
                <a:gd name="T7" fmla="*/ 2147483647 h 684"/>
                <a:gd name="T8" fmla="*/ 2147483647 w 1273"/>
                <a:gd name="T9" fmla="*/ 2147483647 h 684"/>
                <a:gd name="T10" fmla="*/ 2147483647 w 1273"/>
                <a:gd name="T11" fmla="*/ 2147483647 h 684"/>
                <a:gd name="T12" fmla="*/ 2147483647 w 1273"/>
                <a:gd name="T13" fmla="*/ 2147483647 h 684"/>
                <a:gd name="T14" fmla="*/ 2147483647 w 1273"/>
                <a:gd name="T15" fmla="*/ 2147483647 h 684"/>
                <a:gd name="T16" fmla="*/ 2147483647 w 1273"/>
                <a:gd name="T17" fmla="*/ 2147483647 h 684"/>
                <a:gd name="T18" fmla="*/ 0 w 1273"/>
                <a:gd name="T19" fmla="*/ 2147483647 h 6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3" h="684">
                  <a:moveTo>
                    <a:pt x="9" y="675"/>
                  </a:moveTo>
                  <a:lnTo>
                    <a:pt x="316" y="0"/>
                  </a:lnTo>
                  <a:lnTo>
                    <a:pt x="461" y="228"/>
                  </a:lnTo>
                  <a:lnTo>
                    <a:pt x="510" y="119"/>
                  </a:lnTo>
                  <a:lnTo>
                    <a:pt x="631" y="467"/>
                  </a:lnTo>
                  <a:lnTo>
                    <a:pt x="667" y="391"/>
                  </a:lnTo>
                  <a:lnTo>
                    <a:pt x="739" y="464"/>
                  </a:lnTo>
                  <a:lnTo>
                    <a:pt x="1058" y="57"/>
                  </a:lnTo>
                  <a:lnTo>
                    <a:pt x="1273" y="684"/>
                  </a:lnTo>
                  <a:lnTo>
                    <a:pt x="0" y="674"/>
                  </a:lnTo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00CC66"/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2" name="Line 26"/>
            <p:cNvSpPr>
              <a:spLocks noChangeShapeType="1"/>
            </p:cNvSpPr>
            <p:nvPr/>
          </p:nvSpPr>
          <p:spPr bwMode="auto">
            <a:xfrm flipV="1">
              <a:off x="2019027" y="3627437"/>
              <a:ext cx="951186" cy="33178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" name="Line 27"/>
            <p:cNvSpPr>
              <a:spLocks noChangeShapeType="1"/>
            </p:cNvSpPr>
            <p:nvPr/>
          </p:nvSpPr>
          <p:spPr bwMode="auto">
            <a:xfrm>
              <a:off x="2644775" y="3148013"/>
              <a:ext cx="407988" cy="32226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4" name="Text Box 28"/>
            <p:cNvSpPr txBox="1">
              <a:spLocks noChangeArrowheads="1"/>
            </p:cNvSpPr>
            <p:nvPr/>
          </p:nvSpPr>
          <p:spPr bwMode="auto">
            <a:xfrm>
              <a:off x="1090613" y="3798888"/>
              <a:ext cx="350837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15" name="Text Box 29"/>
            <p:cNvSpPr txBox="1">
              <a:spLocks noChangeArrowheads="1"/>
            </p:cNvSpPr>
            <p:nvPr/>
          </p:nvSpPr>
          <p:spPr bwMode="auto">
            <a:xfrm>
              <a:off x="3563938" y="3292475"/>
              <a:ext cx="3381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16" name="Text Box 30"/>
            <p:cNvSpPr txBox="1">
              <a:spLocks noChangeArrowheads="1"/>
            </p:cNvSpPr>
            <p:nvPr/>
          </p:nvSpPr>
          <p:spPr bwMode="auto">
            <a:xfrm>
              <a:off x="2741613" y="2587625"/>
              <a:ext cx="3508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17" name="Group 356"/>
            <p:cNvGrpSpPr>
              <a:grpSpLocks/>
            </p:cNvGrpSpPr>
            <p:nvPr/>
          </p:nvGrpSpPr>
          <p:grpSpPr bwMode="auto">
            <a:xfrm>
              <a:off x="2925763" y="3119438"/>
              <a:ext cx="627062" cy="642937"/>
              <a:chOff x="313" y="1497"/>
              <a:chExt cx="1152" cy="1014"/>
            </a:xfrm>
          </p:grpSpPr>
          <p:pic>
            <p:nvPicPr>
              <p:cNvPr id="21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" name="Group 356"/>
            <p:cNvGrpSpPr>
              <a:grpSpLocks/>
            </p:cNvGrpSpPr>
            <p:nvPr/>
          </p:nvGrpSpPr>
          <p:grpSpPr bwMode="auto">
            <a:xfrm>
              <a:off x="1401763" y="3260725"/>
              <a:ext cx="627062" cy="980770"/>
              <a:chOff x="313" y="1497"/>
              <a:chExt cx="1152" cy="1543"/>
            </a:xfrm>
          </p:grpSpPr>
          <p:pic>
            <p:nvPicPr>
              <p:cNvPr id="19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2256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5" name="Group 24"/>
          <p:cNvGrpSpPr/>
          <p:nvPr/>
        </p:nvGrpSpPr>
        <p:grpSpPr>
          <a:xfrm>
            <a:off x="4738884" y="3738562"/>
            <a:ext cx="3659188" cy="2263775"/>
            <a:chOff x="4943475" y="2124075"/>
            <a:chExt cx="3659188" cy="2263775"/>
          </a:xfrm>
        </p:grpSpPr>
        <p:sp>
          <p:nvSpPr>
            <p:cNvPr id="26" name="Text Box 47"/>
            <p:cNvSpPr txBox="1">
              <a:spLocks noChangeArrowheads="1"/>
            </p:cNvSpPr>
            <p:nvPr/>
          </p:nvSpPr>
          <p:spPr bwMode="auto">
            <a:xfrm>
              <a:off x="4943475" y="2292350"/>
              <a:ext cx="33214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FF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27" name="Text Box 48"/>
            <p:cNvSpPr txBox="1">
              <a:spLocks noChangeArrowheads="1"/>
            </p:cNvSpPr>
            <p:nvPr/>
          </p:nvSpPr>
          <p:spPr bwMode="auto">
            <a:xfrm>
              <a:off x="6853238" y="2289175"/>
              <a:ext cx="32861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28" name="Text Box 49"/>
            <p:cNvSpPr txBox="1">
              <a:spLocks noChangeArrowheads="1"/>
            </p:cNvSpPr>
            <p:nvPr/>
          </p:nvSpPr>
          <p:spPr bwMode="auto">
            <a:xfrm>
              <a:off x="8034338" y="2332038"/>
              <a:ext cx="350837" cy="369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29" name="Text Box 55"/>
            <p:cNvSpPr txBox="1">
              <a:spLocks noChangeArrowheads="1"/>
            </p:cNvSpPr>
            <p:nvPr/>
          </p:nvSpPr>
          <p:spPr bwMode="auto">
            <a:xfrm>
              <a:off x="5016500" y="3119438"/>
              <a:ext cx="106952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FF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sz="1400" dirty="0">
                  <a:solidFill>
                    <a:srgbClr val="0000FF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sz="1400" dirty="0">
                  <a:solidFill>
                    <a:srgbClr val="0000FF"/>
                  </a:solidFill>
                  <a:latin typeface="Arial" charset="0"/>
                  <a:cs typeface="Arial" charset="0"/>
                </a:rPr>
                <a:t>s signal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FF"/>
                  </a:solidFill>
                  <a:latin typeface="Arial" charset="0"/>
                  <a:cs typeface="Arial" charset="0"/>
                </a:rPr>
                <a:t>strength</a:t>
              </a:r>
            </a:p>
          </p:txBody>
        </p:sp>
        <p:sp>
          <p:nvSpPr>
            <p:cNvPr id="30" name="Line 60"/>
            <p:cNvSpPr>
              <a:spLocks noChangeShapeType="1"/>
            </p:cNvSpPr>
            <p:nvPr/>
          </p:nvSpPr>
          <p:spPr bwMode="auto">
            <a:xfrm>
              <a:off x="5078413" y="4148138"/>
              <a:ext cx="3263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1" name="Line 61"/>
            <p:cNvSpPr>
              <a:spLocks noChangeShapeType="1"/>
            </p:cNvSpPr>
            <p:nvPr/>
          </p:nvSpPr>
          <p:spPr bwMode="auto">
            <a:xfrm>
              <a:off x="5024438" y="2968625"/>
              <a:ext cx="0" cy="1138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" name="Freeform 62"/>
            <p:cNvSpPr>
              <a:spLocks/>
            </p:cNvSpPr>
            <p:nvPr/>
          </p:nvSpPr>
          <p:spPr bwMode="auto">
            <a:xfrm>
              <a:off x="5106988" y="3024188"/>
              <a:ext cx="2995612" cy="1081087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33" name="Text Box 63"/>
            <p:cNvSpPr txBox="1">
              <a:spLocks noChangeArrowheads="1"/>
            </p:cNvSpPr>
            <p:nvPr/>
          </p:nvSpPr>
          <p:spPr bwMode="auto">
            <a:xfrm>
              <a:off x="6362700" y="4111625"/>
              <a:ext cx="593725" cy="276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charset="0"/>
                  <a:cs typeface="Arial" charset="0"/>
                </a:rPr>
                <a:t>space</a:t>
              </a:r>
            </a:p>
          </p:txBody>
        </p:sp>
        <p:sp>
          <p:nvSpPr>
            <p:cNvPr id="34" name="Freeform 65"/>
            <p:cNvSpPr>
              <a:spLocks/>
            </p:cNvSpPr>
            <p:nvPr/>
          </p:nvSpPr>
          <p:spPr bwMode="auto">
            <a:xfrm flipH="1">
              <a:off x="5202238" y="2994025"/>
              <a:ext cx="2995612" cy="1081088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35" name="Text Box 66"/>
            <p:cNvSpPr txBox="1">
              <a:spLocks noChangeArrowheads="1"/>
            </p:cNvSpPr>
            <p:nvPr/>
          </p:nvSpPr>
          <p:spPr bwMode="auto">
            <a:xfrm>
              <a:off x="7643813" y="3048000"/>
              <a:ext cx="958850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chemeClr val="accent2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sz="1400">
                  <a:solidFill>
                    <a:schemeClr val="accent2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sz="1400" dirty="0">
                  <a:solidFill>
                    <a:schemeClr val="accent2"/>
                  </a:solidFill>
                  <a:latin typeface="Arial" charset="0"/>
                  <a:cs typeface="Arial" charset="0"/>
                </a:rPr>
                <a:t>s signal</a:t>
              </a:r>
            </a:p>
            <a:p>
              <a:pPr>
                <a:defRPr/>
              </a:pPr>
              <a:r>
                <a:rPr lang="en-US" sz="1400" dirty="0">
                  <a:solidFill>
                    <a:schemeClr val="accent2"/>
                  </a:solidFill>
                  <a:latin typeface="Arial" charset="0"/>
                  <a:cs typeface="Arial" charset="0"/>
                </a:rPr>
                <a:t>strength</a:t>
              </a:r>
            </a:p>
          </p:txBody>
        </p:sp>
        <p:sp>
          <p:nvSpPr>
            <p:cNvPr id="36" name="Line 67"/>
            <p:cNvSpPr>
              <a:spLocks noChangeShapeType="1"/>
            </p:cNvSpPr>
            <p:nvPr/>
          </p:nvSpPr>
          <p:spPr bwMode="auto">
            <a:xfrm flipH="1">
              <a:off x="5403850" y="2855913"/>
              <a:ext cx="26988" cy="1263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" name="Line 68"/>
            <p:cNvSpPr>
              <a:spLocks noChangeShapeType="1"/>
            </p:cNvSpPr>
            <p:nvPr/>
          </p:nvSpPr>
          <p:spPr bwMode="auto">
            <a:xfrm>
              <a:off x="6624638" y="2924175"/>
              <a:ext cx="0" cy="1208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8" name="Line 69"/>
            <p:cNvSpPr>
              <a:spLocks noChangeShapeType="1"/>
            </p:cNvSpPr>
            <p:nvPr/>
          </p:nvSpPr>
          <p:spPr bwMode="auto">
            <a:xfrm>
              <a:off x="7705725" y="2908300"/>
              <a:ext cx="0" cy="1181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39" name="Group 356"/>
            <p:cNvGrpSpPr>
              <a:grpSpLocks/>
            </p:cNvGrpSpPr>
            <p:nvPr/>
          </p:nvGrpSpPr>
          <p:grpSpPr bwMode="auto">
            <a:xfrm>
              <a:off x="5130800" y="2154238"/>
              <a:ext cx="627063" cy="642937"/>
              <a:chOff x="313" y="1497"/>
              <a:chExt cx="1152" cy="1014"/>
            </a:xfrm>
          </p:grpSpPr>
          <p:pic>
            <p:nvPicPr>
              <p:cNvPr id="46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7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0" name="Group 356"/>
            <p:cNvGrpSpPr>
              <a:grpSpLocks/>
            </p:cNvGrpSpPr>
            <p:nvPr/>
          </p:nvGrpSpPr>
          <p:grpSpPr bwMode="auto">
            <a:xfrm>
              <a:off x="6319838" y="2193925"/>
              <a:ext cx="627062" cy="644525"/>
              <a:chOff x="313" y="1497"/>
              <a:chExt cx="1152" cy="1014"/>
            </a:xfrm>
          </p:grpSpPr>
          <p:pic>
            <p:nvPicPr>
              <p:cNvPr id="44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" name="Group 356"/>
            <p:cNvGrpSpPr>
              <a:grpSpLocks/>
            </p:cNvGrpSpPr>
            <p:nvPr/>
          </p:nvGrpSpPr>
          <p:grpSpPr bwMode="auto">
            <a:xfrm>
              <a:off x="7396163" y="2124075"/>
              <a:ext cx="627062" cy="642938"/>
              <a:chOff x="313" y="1497"/>
              <a:chExt cx="1152" cy="1014"/>
            </a:xfrm>
          </p:grpSpPr>
          <p:pic>
            <p:nvPicPr>
              <p:cNvPr id="42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78982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CSMA/CA</a:t>
            </a:r>
          </a:p>
        </p:txBody>
      </p:sp>
      <p:sp>
        <p:nvSpPr>
          <p:cNvPr id="10803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262313"/>
            <a:ext cx="7924800" cy="2757487"/>
          </a:xfrm>
        </p:spPr>
        <p:txBody>
          <a:bodyPr/>
          <a:lstStyle/>
          <a:p>
            <a:r>
              <a:rPr lang="en-US" dirty="0"/>
              <a:t>Before every data transmission </a:t>
            </a:r>
          </a:p>
          <a:p>
            <a:pPr lvl="1"/>
            <a:r>
              <a:rPr lang="en-US" dirty="0"/>
              <a:t>Sender sends a Request to Send (RTS) frame with the length of transmission and the destination</a:t>
            </a:r>
          </a:p>
          <a:p>
            <a:pPr lvl="1"/>
            <a:r>
              <a:rPr lang="en-US" dirty="0"/>
              <a:t>Receiver respond with a Clear to Send (CTS) frame</a:t>
            </a:r>
          </a:p>
          <a:p>
            <a:pPr lvl="1"/>
            <a:r>
              <a:rPr lang="en-US" dirty="0"/>
              <a:t>Sender sends data</a:t>
            </a:r>
          </a:p>
          <a:p>
            <a:pPr lvl="1"/>
            <a:r>
              <a:rPr lang="en-US" dirty="0"/>
              <a:t>Receiver sends an ACK</a:t>
            </a:r>
          </a:p>
          <a:p>
            <a:r>
              <a:rPr lang="en-US" dirty="0"/>
              <a:t>If sender doesn’</a:t>
            </a:r>
            <a:r>
              <a:rPr lang="en-US" altLang="ja-JP" dirty="0"/>
              <a:t>t get a CTS back, it assumes collision </a:t>
            </a:r>
            <a:endParaRPr lang="en-US" dirty="0"/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1090612" y="18288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>
            <a:off x="3605212" y="19050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2775" name="Line 6"/>
          <p:cNvSpPr>
            <a:spLocks noChangeShapeType="1"/>
          </p:cNvSpPr>
          <p:nvPr/>
        </p:nvSpPr>
        <p:spPr bwMode="auto">
          <a:xfrm>
            <a:off x="5662612" y="19050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2776" name="Text Box 7"/>
          <p:cNvSpPr txBox="1">
            <a:spLocks noChangeArrowheads="1"/>
          </p:cNvSpPr>
          <p:nvPr/>
        </p:nvSpPr>
        <p:spPr bwMode="auto">
          <a:xfrm>
            <a:off x="672034" y="1495425"/>
            <a:ext cx="876844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 algn="ctr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Sender</a:t>
            </a:r>
          </a:p>
        </p:txBody>
      </p:sp>
      <p:sp>
        <p:nvSpPr>
          <p:cNvPr id="32777" name="Text Box 8"/>
          <p:cNvSpPr txBox="1">
            <a:spLocks noChangeArrowheads="1"/>
          </p:cNvSpPr>
          <p:nvPr/>
        </p:nvSpPr>
        <p:spPr bwMode="auto">
          <a:xfrm>
            <a:off x="3146172" y="1495425"/>
            <a:ext cx="1037144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 algn="ctr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Receiver</a:t>
            </a:r>
          </a:p>
        </p:txBody>
      </p:sp>
      <p:sp>
        <p:nvSpPr>
          <p:cNvPr id="32778" name="Text Box 9"/>
          <p:cNvSpPr txBox="1">
            <a:spLocks noChangeArrowheads="1"/>
          </p:cNvSpPr>
          <p:nvPr/>
        </p:nvSpPr>
        <p:spPr bwMode="auto">
          <a:xfrm>
            <a:off x="4863306" y="1371600"/>
            <a:ext cx="1641476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 algn="ctr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Other node in </a:t>
            </a:r>
          </a:p>
          <a:p>
            <a:pPr algn="ctr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sender</a:t>
            </a:r>
            <a:r>
              <a:rPr lang="ja-JP" altLang="en-US" sz="1600" dirty="0">
                <a:latin typeface="Arial" charset="0"/>
                <a:ea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ea typeface="Arial" charset="0"/>
                <a:cs typeface="Arial" charset="0"/>
              </a:rPr>
              <a:t>s range</a:t>
            </a:r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04825" y="1752600"/>
            <a:ext cx="5157787" cy="457200"/>
            <a:chOff x="927" y="1104"/>
            <a:chExt cx="3249" cy="288"/>
          </a:xfrm>
        </p:grpSpPr>
        <p:sp>
          <p:nvSpPr>
            <p:cNvPr id="32792" name="Line 11"/>
            <p:cNvSpPr>
              <a:spLocks noChangeShapeType="1"/>
            </p:cNvSpPr>
            <p:nvPr/>
          </p:nvSpPr>
          <p:spPr bwMode="auto">
            <a:xfrm>
              <a:off x="1306" y="1200"/>
              <a:ext cx="2870" cy="192"/>
            </a:xfrm>
            <a:prstGeom prst="line">
              <a:avLst/>
            </a:prstGeom>
            <a:noFill/>
            <a:ln w="25400">
              <a:solidFill>
                <a:srgbClr val="D3A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32793" name="Line 12"/>
            <p:cNvSpPr>
              <a:spLocks noChangeShapeType="1"/>
            </p:cNvSpPr>
            <p:nvPr/>
          </p:nvSpPr>
          <p:spPr bwMode="auto">
            <a:xfrm>
              <a:off x="1296" y="1200"/>
              <a:ext cx="1584" cy="192"/>
            </a:xfrm>
            <a:prstGeom prst="line">
              <a:avLst/>
            </a:prstGeom>
            <a:noFill/>
            <a:ln w="25400">
              <a:solidFill>
                <a:srgbClr val="D3A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32794" name="Text Box 13"/>
            <p:cNvSpPr txBox="1">
              <a:spLocks noChangeArrowheads="1"/>
            </p:cNvSpPr>
            <p:nvPr/>
          </p:nvSpPr>
          <p:spPr bwMode="auto">
            <a:xfrm>
              <a:off x="927" y="1104"/>
              <a:ext cx="370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1pPr>
              <a:lvl2pPr marL="742950" indent="-28575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2pPr>
              <a:lvl3pPr marL="1143000" indent="-22860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3pPr>
              <a:lvl4pPr marL="1600200" indent="-22860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4pPr>
              <a:lvl5pPr marL="2057400" indent="-22860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D3A600"/>
                  </a:solidFill>
                  <a:latin typeface="Arial" charset="0"/>
                  <a:ea typeface="Arial" charset="0"/>
                  <a:cs typeface="Arial" charset="0"/>
                </a:rPr>
                <a:t>RTS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481012" y="2819400"/>
            <a:ext cx="5181600" cy="398463"/>
            <a:chOff x="912" y="1776"/>
            <a:chExt cx="3264" cy="251"/>
          </a:xfrm>
        </p:grpSpPr>
        <p:sp>
          <p:nvSpPr>
            <p:cNvPr id="32789" name="Line 15"/>
            <p:cNvSpPr>
              <a:spLocks noChangeShapeType="1"/>
            </p:cNvSpPr>
            <p:nvPr/>
          </p:nvSpPr>
          <p:spPr bwMode="auto">
            <a:xfrm flipH="1">
              <a:off x="1296" y="1776"/>
              <a:ext cx="1584" cy="14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32790" name="Line 16"/>
            <p:cNvSpPr>
              <a:spLocks noChangeShapeType="1"/>
            </p:cNvSpPr>
            <p:nvPr/>
          </p:nvSpPr>
          <p:spPr bwMode="auto">
            <a:xfrm>
              <a:off x="2880" y="1776"/>
              <a:ext cx="1296" cy="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32791" name="Text Box 17"/>
            <p:cNvSpPr txBox="1">
              <a:spLocks noChangeArrowheads="1"/>
            </p:cNvSpPr>
            <p:nvPr/>
          </p:nvSpPr>
          <p:spPr bwMode="auto">
            <a:xfrm>
              <a:off x="912" y="1815"/>
              <a:ext cx="3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ysDash"/>
                  <a:round/>
                  <a:headEnd/>
                  <a:tailEnd type="triangle" w="med" len="med"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1pPr>
              <a:lvl2pPr marL="742950" indent="-28575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2pPr>
              <a:lvl3pPr marL="1143000" indent="-22860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3pPr>
              <a:lvl4pPr marL="1600200" indent="-22860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4pPr>
              <a:lvl5pPr marL="2057400" indent="-22860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0000FF"/>
                  </a:solidFill>
                  <a:latin typeface="Arial" charset="0"/>
                  <a:ea typeface="Arial" charset="0"/>
                  <a:cs typeface="Arial" charset="0"/>
                </a:rPr>
                <a:t>ACK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57200" y="2362200"/>
            <a:ext cx="3148013" cy="381000"/>
            <a:chOff x="897" y="1488"/>
            <a:chExt cx="1983" cy="240"/>
          </a:xfrm>
        </p:grpSpPr>
        <p:sp>
          <p:nvSpPr>
            <p:cNvPr id="32787" name="Line 19"/>
            <p:cNvSpPr>
              <a:spLocks noChangeShapeType="1"/>
            </p:cNvSpPr>
            <p:nvPr/>
          </p:nvSpPr>
          <p:spPr bwMode="auto">
            <a:xfrm>
              <a:off x="1296" y="1536"/>
              <a:ext cx="1584" cy="19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2788" name="Text Box 20"/>
            <p:cNvSpPr txBox="1">
              <a:spLocks noChangeArrowheads="1"/>
            </p:cNvSpPr>
            <p:nvPr/>
          </p:nvSpPr>
          <p:spPr bwMode="auto">
            <a:xfrm>
              <a:off x="897" y="1488"/>
              <a:ext cx="3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1pPr>
              <a:lvl2pPr marL="742950" indent="-28575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2pPr>
              <a:lvl3pPr marL="1143000" indent="-22860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3pPr>
              <a:lvl4pPr marL="1600200" indent="-22860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4pPr>
              <a:lvl5pPr marL="2057400" indent="-228600" algn="r" eaLnBrk="0" hangingPunct="0"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itchFamily="49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sz="160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Data</a:t>
              </a: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481012" y="2133600"/>
            <a:ext cx="5181600" cy="381000"/>
            <a:chOff x="912" y="1344"/>
            <a:chExt cx="3264" cy="240"/>
          </a:xfrm>
        </p:grpSpPr>
        <p:grpSp>
          <p:nvGrpSpPr>
            <p:cNvPr id="32783" name="Group 22"/>
            <p:cNvGrpSpPr>
              <a:grpSpLocks/>
            </p:cNvGrpSpPr>
            <p:nvPr/>
          </p:nvGrpSpPr>
          <p:grpSpPr bwMode="auto">
            <a:xfrm>
              <a:off x="912" y="1344"/>
              <a:ext cx="1968" cy="210"/>
              <a:chOff x="912" y="1344"/>
              <a:chExt cx="1968" cy="210"/>
            </a:xfrm>
          </p:grpSpPr>
          <p:sp>
            <p:nvSpPr>
              <p:cNvPr id="32785" name="Line 23"/>
              <p:cNvSpPr>
                <a:spLocks noChangeShapeType="1"/>
              </p:cNvSpPr>
              <p:nvPr/>
            </p:nvSpPr>
            <p:spPr bwMode="auto">
              <a:xfrm flipH="1">
                <a:off x="1296" y="1440"/>
                <a:ext cx="1584" cy="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488" tIns="44450" rIns="90488" bIns="44450"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32786" name="Text Box 24"/>
              <p:cNvSpPr txBox="1">
                <a:spLocks noChangeArrowheads="1"/>
              </p:cNvSpPr>
              <p:nvPr/>
            </p:nvSpPr>
            <p:spPr bwMode="auto">
              <a:xfrm>
                <a:off x="912" y="1344"/>
                <a:ext cx="370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algn="r" eaLnBrk="0" hangingPunct="0">
                  <a:defRPr sz="2000" b="1">
                    <a:solidFill>
                      <a:schemeClr val="tx1"/>
                    </a:solidFill>
                    <a:latin typeface="Courier New" pitchFamily="49" charset="0"/>
                    <a:ea typeface="MS PGothic" pitchFamily="34" charset="-128"/>
                  </a:defRPr>
                </a:lvl1pPr>
                <a:lvl2pPr marL="742950" indent="-285750" algn="r" eaLnBrk="0" hangingPunct="0">
                  <a:defRPr sz="2000" b="1">
                    <a:solidFill>
                      <a:schemeClr val="tx1"/>
                    </a:solidFill>
                    <a:latin typeface="Courier New" pitchFamily="49" charset="0"/>
                    <a:ea typeface="MS PGothic" pitchFamily="34" charset="-128"/>
                  </a:defRPr>
                </a:lvl2pPr>
                <a:lvl3pPr marL="1143000" indent="-228600" algn="r" eaLnBrk="0" hangingPunct="0">
                  <a:defRPr sz="2000" b="1">
                    <a:solidFill>
                      <a:schemeClr val="tx1"/>
                    </a:solidFill>
                    <a:latin typeface="Courier New" pitchFamily="49" charset="0"/>
                    <a:ea typeface="MS PGothic" pitchFamily="34" charset="-128"/>
                  </a:defRPr>
                </a:lvl3pPr>
                <a:lvl4pPr marL="1600200" indent="-228600" algn="r" eaLnBrk="0" hangingPunct="0">
                  <a:defRPr sz="2000" b="1">
                    <a:solidFill>
                      <a:schemeClr val="tx1"/>
                    </a:solidFill>
                    <a:latin typeface="Courier New" pitchFamily="49" charset="0"/>
                    <a:ea typeface="MS PGothic" pitchFamily="34" charset="-128"/>
                  </a:defRPr>
                </a:lvl4pPr>
                <a:lvl5pPr marL="2057400" indent="-228600" algn="r" eaLnBrk="0" hangingPunct="0">
                  <a:defRPr sz="2000" b="1">
                    <a:solidFill>
                      <a:schemeClr val="tx1"/>
                    </a:solidFill>
                    <a:latin typeface="Courier New" pitchFamily="49" charset="0"/>
                    <a:ea typeface="MS PGothic" pitchFamily="34" charset="-128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itchFamily="49" charset="0"/>
                    <a:ea typeface="MS PGothic" pitchFamily="34" charset="-128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itchFamily="49" charset="0"/>
                    <a:ea typeface="MS PGothic" pitchFamily="34" charset="-128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itchFamily="49" charset="0"/>
                    <a:ea typeface="MS PGothic" pitchFamily="34" charset="-128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itchFamily="49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sz="1600" dirty="0">
                    <a:latin typeface="Arial" charset="0"/>
                    <a:ea typeface="Arial" charset="0"/>
                    <a:cs typeface="Arial" charset="0"/>
                  </a:rPr>
                  <a:t>CTS</a:t>
                </a:r>
              </a:p>
            </p:txBody>
          </p:sp>
        </p:grpSp>
        <p:sp>
          <p:nvSpPr>
            <p:cNvPr id="32784" name="Line 25"/>
            <p:cNvSpPr>
              <a:spLocks noChangeShapeType="1"/>
            </p:cNvSpPr>
            <p:nvPr/>
          </p:nvSpPr>
          <p:spPr bwMode="auto">
            <a:xfrm>
              <a:off x="2880" y="1440"/>
              <a:ext cx="1296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ED25473-8F75-E14F-ADDF-D5A03BF78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 dirty="0">
              <a:latin typeface="Times New Roman" charset="0"/>
            </a:endParaRPr>
          </a:p>
        </p:txBody>
      </p:sp>
      <p:sp>
        <p:nvSpPr>
          <p:cNvPr id="28" name="Line 6">
            <a:extLst>
              <a:ext uri="{FF2B5EF4-FFF2-40B4-BE49-F238E27FC236}">
                <a16:creationId xmlns:a16="http://schemas.microsoft.com/office/drawing/2014/main" id="{60CFDF30-62B3-0748-8985-225304D46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1902372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AFC8F4BA-BE6C-8D4F-B899-891CD4D9D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5042" y="1339850"/>
            <a:ext cx="1662316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 algn="r" eaLnBrk="0" hangingPunct="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 algn="ctr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Node outside</a:t>
            </a:r>
          </a:p>
          <a:p>
            <a:pPr algn="ctr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sender</a:t>
            </a:r>
            <a:r>
              <a:rPr lang="ja-JP" altLang="en-US" sz="1600" dirty="0">
                <a:latin typeface="Arial" charset="0"/>
                <a:ea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ea typeface="Arial" charset="0"/>
                <a:cs typeface="Arial" charset="0"/>
              </a:rPr>
              <a:t>s range</a:t>
            </a:r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" name="Line 25">
            <a:extLst>
              <a:ext uri="{FF2B5EF4-FFF2-40B4-BE49-F238E27FC236}">
                <a16:creationId xmlns:a16="http://schemas.microsoft.com/office/drawing/2014/main" id="{FD186BFC-0281-A94C-8E7D-374F4A65D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5212" y="2283386"/>
            <a:ext cx="4090988" cy="245501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1" name="Line 16">
            <a:extLst>
              <a:ext uri="{FF2B5EF4-FFF2-40B4-BE49-F238E27FC236}">
                <a16:creationId xmlns:a16="http://schemas.microsoft.com/office/drawing/2014/main" id="{E2D87EC3-CDDF-784E-B0AB-35778B0D8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9338" y="2816786"/>
            <a:ext cx="4106862" cy="169301"/>
          </a:xfrm>
          <a:prstGeom prst="line">
            <a:avLst/>
          </a:prstGeom>
          <a:noFill/>
          <a:ln w="25400">
            <a:solidFill>
              <a:srgbClr val="0000FF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03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323" grpId="0" uiExpand="1" build="p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9CBD-97E9-996B-FDA6-ECA0BD39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>
            <a:extLst>
              <a:ext uri="{FF2B5EF4-FFF2-40B4-BE49-F238E27FC236}">
                <a16:creationId xmlns:a16="http://schemas.microsoft.com/office/drawing/2014/main" id="{B8E70F31-57F3-1834-8B80-E3FDC8915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>
            <a:extLst>
              <a:ext uri="{FF2B5EF4-FFF2-40B4-BE49-F238E27FC236}">
                <a16:creationId xmlns:a16="http://schemas.microsoft.com/office/drawing/2014/main" id="{9F8C053D-FC17-C6B0-78EE-81A3DF9141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Network layer (lectures 10–15)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Addressing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plane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Intra-domain routing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Inter-domain routing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SDN and programmable networks (lecture 16)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Link layer (lectures 17–19)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Ethernet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Wireless</a:t>
            </a:r>
          </a:p>
          <a:p>
            <a:r>
              <a:rPr lang="en-US" dirty="0"/>
              <a:t>Datacenter networking (lecture 20)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32432-AAF1-6CF8-673A-E60BD458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C0A24-4B79-4A82-F973-ED2A93F5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1FC5F-521B-DDD0-6FD5-482E8E4E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605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applications</a:t>
            </a: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theme: </a:t>
            </a:r>
            <a:r>
              <a:rPr lang="en-US" dirty="0">
                <a:solidFill>
                  <a:srgbClr val="0000FF"/>
                </a:solidFill>
              </a:rPr>
              <a:t>parallelism</a:t>
            </a:r>
          </a:p>
          <a:p>
            <a:pPr lvl="1"/>
            <a:r>
              <a:rPr lang="en-US" dirty="0"/>
              <a:t>Applications decomposed into tasks</a:t>
            </a:r>
          </a:p>
          <a:p>
            <a:pPr lvl="1"/>
            <a:r>
              <a:rPr lang="en-US" dirty="0"/>
              <a:t>Running in parallel on different machines</a:t>
            </a:r>
          </a:p>
          <a:p>
            <a:r>
              <a:rPr lang="en-US" dirty="0"/>
              <a:t>Two common paradigms</a:t>
            </a:r>
          </a:p>
          <a:p>
            <a:pPr lvl="1"/>
            <a:r>
              <a:rPr lang="en-US" dirty="0"/>
              <a:t>Partition-Aggregate</a:t>
            </a:r>
          </a:p>
          <a:p>
            <a:pPr lvl="1"/>
            <a:r>
              <a:rPr lang="en-US" dirty="0"/>
              <a:t>Map-Reduce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6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traffic characteristics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key characteristics</a:t>
            </a:r>
          </a:p>
          <a:p>
            <a:pPr lvl="1"/>
            <a:r>
              <a:rPr lang="en-US" dirty="0"/>
              <a:t>Most flows are small</a:t>
            </a:r>
          </a:p>
          <a:p>
            <a:pPr lvl="1"/>
            <a:r>
              <a:rPr lang="en-US" dirty="0"/>
              <a:t>Most bytes come from large flows</a:t>
            </a:r>
          </a:p>
          <a:p>
            <a:r>
              <a:rPr lang="en-US" dirty="0"/>
              <a:t>Applications want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High bandwidth</a:t>
            </a:r>
            <a:r>
              <a:rPr lang="en-US" dirty="0"/>
              <a:t> (large flows)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Low latency</a:t>
            </a:r>
            <a:r>
              <a:rPr lang="en-US" dirty="0"/>
              <a:t> (small flows)</a:t>
            </a:r>
          </a:p>
          <a:p>
            <a:pPr lvl="1"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5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networking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Networking in modern datacenters</a:t>
            </a:r>
          </a:p>
          <a:p>
            <a:pPr lvl="1"/>
            <a:r>
              <a:rPr lang="en-US" dirty="0"/>
              <a:t>L2/L3 design</a:t>
            </a:r>
          </a:p>
          <a:p>
            <a:pPr lvl="2"/>
            <a:r>
              <a:rPr lang="en-US" dirty="0"/>
              <a:t>Addressing / routing / forwarding in the Fat-Tree</a:t>
            </a:r>
          </a:p>
          <a:p>
            <a:pPr lvl="1"/>
            <a:r>
              <a:rPr lang="en-US" dirty="0"/>
              <a:t>L4 design</a:t>
            </a:r>
          </a:p>
          <a:p>
            <a:pPr lvl="2"/>
            <a:r>
              <a:rPr lang="en-US" dirty="0"/>
              <a:t>Transport protocol design (w/ Fat-Tree)</a:t>
            </a:r>
          </a:p>
          <a:p>
            <a:pPr lvl="1"/>
            <a:r>
              <a:rPr lang="en-US" dirty="0"/>
              <a:t>L7 design</a:t>
            </a:r>
          </a:p>
          <a:p>
            <a:pPr lvl="2"/>
            <a:r>
              <a:rPr lang="en-US" dirty="0"/>
              <a:t>Exploiting application-level information (w/ Fat-Tree)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032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789099" y="1417638"/>
            <a:ext cx="7545766" cy="4611236"/>
            <a:chOff x="9276" y="915023"/>
            <a:chExt cx="9022668" cy="509798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76" y="915023"/>
              <a:ext cx="9022668" cy="5097981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2347265" y="1876481"/>
              <a:ext cx="4728615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4300" y="380265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64596" y="378902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26534" y="4583834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563615" y="4723905"/>
              <a:ext cx="447129" cy="130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multiple paths well</a:t>
            </a:r>
          </a:p>
        </p:txBody>
      </p:sp>
      <p:sp>
        <p:nvSpPr>
          <p:cNvPr id="5" name="Freeform 4"/>
          <p:cNvSpPr/>
          <p:nvPr/>
        </p:nvSpPr>
        <p:spPr>
          <a:xfrm>
            <a:off x="1122002" y="2724707"/>
            <a:ext cx="4746927" cy="2724706"/>
          </a:xfrm>
          <a:custGeom>
            <a:avLst/>
            <a:gdLst>
              <a:gd name="connsiteX0" fmla="*/ 0 w 4746927"/>
              <a:gd name="connsiteY0" fmla="*/ 2724706 h 2724706"/>
              <a:gd name="connsiteX1" fmla="*/ 172616 w 4746927"/>
              <a:gd name="connsiteY1" fmla="*/ 2441139 h 2724706"/>
              <a:gd name="connsiteX2" fmla="*/ 197275 w 4746927"/>
              <a:gd name="connsiteY2" fmla="*/ 1602768 h 2724706"/>
              <a:gd name="connsiteX3" fmla="*/ 1849452 w 4746927"/>
              <a:gd name="connsiteY3" fmla="*/ 0 h 2724706"/>
              <a:gd name="connsiteX4" fmla="*/ 4068795 w 4746927"/>
              <a:gd name="connsiteY4" fmla="*/ 1541123 h 2724706"/>
              <a:gd name="connsiteX5" fmla="*/ 4685279 w 4746927"/>
              <a:gd name="connsiteY5" fmla="*/ 2145244 h 2724706"/>
              <a:gd name="connsiteX6" fmla="*/ 4746927 w 4746927"/>
              <a:gd name="connsiteY6" fmla="*/ 2650732 h 2724706"/>
              <a:gd name="connsiteX7" fmla="*/ 4746927 w 4746927"/>
              <a:gd name="connsiteY7" fmla="*/ 2650732 h 272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6927" h="2724706">
                <a:moveTo>
                  <a:pt x="0" y="2724706"/>
                </a:moveTo>
                <a:lnTo>
                  <a:pt x="172616" y="2441139"/>
                </a:lnTo>
                <a:lnTo>
                  <a:pt x="197275" y="1602768"/>
                </a:lnTo>
                <a:lnTo>
                  <a:pt x="1849452" y="0"/>
                </a:lnTo>
                <a:lnTo>
                  <a:pt x="4068795" y="1541123"/>
                </a:lnTo>
                <a:lnTo>
                  <a:pt x="4685279" y="2145244"/>
                </a:lnTo>
                <a:lnTo>
                  <a:pt x="4746927" y="2650732"/>
                </a:lnTo>
                <a:lnTo>
                  <a:pt x="4746927" y="2650732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1208309" y="2626075"/>
            <a:ext cx="4734597" cy="2860325"/>
          </a:xfrm>
          <a:custGeom>
            <a:avLst/>
            <a:gdLst>
              <a:gd name="connsiteX0" fmla="*/ 0 w 4734597"/>
              <a:gd name="connsiteY0" fmla="*/ 2774022 h 2860325"/>
              <a:gd name="connsiteX1" fmla="*/ 197275 w 4734597"/>
              <a:gd name="connsiteY1" fmla="*/ 2305521 h 2860325"/>
              <a:gd name="connsiteX2" fmla="*/ 283582 w 4734597"/>
              <a:gd name="connsiteY2" fmla="*/ 1689071 h 2860325"/>
              <a:gd name="connsiteX3" fmla="*/ 2946794 w 4734597"/>
              <a:gd name="connsiteY3" fmla="*/ 0 h 2860325"/>
              <a:gd name="connsiteX4" fmla="*/ 3982487 w 4734597"/>
              <a:gd name="connsiteY4" fmla="*/ 1504136 h 2860325"/>
              <a:gd name="connsiteX5" fmla="*/ 4672949 w 4734597"/>
              <a:gd name="connsiteY5" fmla="*/ 2182231 h 2860325"/>
              <a:gd name="connsiteX6" fmla="*/ 4734597 w 4734597"/>
              <a:gd name="connsiteY6" fmla="*/ 2860325 h 286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34597" h="2860325">
                <a:moveTo>
                  <a:pt x="0" y="2774022"/>
                </a:moveTo>
                <a:lnTo>
                  <a:pt x="197275" y="2305521"/>
                </a:lnTo>
                <a:lnTo>
                  <a:pt x="283582" y="1689071"/>
                </a:lnTo>
                <a:lnTo>
                  <a:pt x="2946794" y="0"/>
                </a:lnTo>
                <a:lnTo>
                  <a:pt x="3982487" y="1504136"/>
                </a:lnTo>
                <a:lnTo>
                  <a:pt x="4672949" y="2182231"/>
                </a:lnTo>
                <a:lnTo>
                  <a:pt x="4734597" y="2860325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282287" y="2576759"/>
            <a:ext cx="4771587" cy="2884983"/>
          </a:xfrm>
          <a:custGeom>
            <a:avLst/>
            <a:gdLst>
              <a:gd name="connsiteX0" fmla="*/ 0 w 4771587"/>
              <a:gd name="connsiteY0" fmla="*/ 2884983 h 2884983"/>
              <a:gd name="connsiteX1" fmla="*/ 209604 w 4771587"/>
              <a:gd name="connsiteY1" fmla="*/ 2453468 h 2884983"/>
              <a:gd name="connsiteX2" fmla="*/ 875407 w 4771587"/>
              <a:gd name="connsiteY2" fmla="*/ 1812361 h 2884983"/>
              <a:gd name="connsiteX3" fmla="*/ 4056465 w 4771587"/>
              <a:gd name="connsiteY3" fmla="*/ 0 h 2884983"/>
              <a:gd name="connsiteX4" fmla="*/ 4771587 w 4771587"/>
              <a:gd name="connsiteY4" fmla="*/ 1615097 h 2884983"/>
              <a:gd name="connsiteX5" fmla="*/ 4771587 w 4771587"/>
              <a:gd name="connsiteY5" fmla="*/ 2330179 h 2884983"/>
              <a:gd name="connsiteX6" fmla="*/ 4709938 w 4771587"/>
              <a:gd name="connsiteY6" fmla="*/ 2811009 h 288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71587" h="2884983">
                <a:moveTo>
                  <a:pt x="0" y="2884983"/>
                </a:moveTo>
                <a:lnTo>
                  <a:pt x="209604" y="2453468"/>
                </a:lnTo>
                <a:lnTo>
                  <a:pt x="875407" y="1812361"/>
                </a:lnTo>
                <a:lnTo>
                  <a:pt x="4056465" y="0"/>
                </a:lnTo>
                <a:lnTo>
                  <a:pt x="4771587" y="1615097"/>
                </a:lnTo>
                <a:lnTo>
                  <a:pt x="4771587" y="2330179"/>
                </a:lnTo>
                <a:lnTo>
                  <a:pt x="4709938" y="2811009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368595" y="2737036"/>
            <a:ext cx="5079828" cy="2700048"/>
          </a:xfrm>
          <a:custGeom>
            <a:avLst/>
            <a:gdLst>
              <a:gd name="connsiteX0" fmla="*/ 0 w 5079828"/>
              <a:gd name="connsiteY0" fmla="*/ 2700048 h 2700048"/>
              <a:gd name="connsiteX1" fmla="*/ 184945 w 5079828"/>
              <a:gd name="connsiteY1" fmla="*/ 2305520 h 2700048"/>
              <a:gd name="connsiteX2" fmla="*/ 924726 w 5079828"/>
              <a:gd name="connsiteY2" fmla="*/ 1664413 h 2700048"/>
              <a:gd name="connsiteX3" fmla="*/ 5079828 w 5079828"/>
              <a:gd name="connsiteY3" fmla="*/ 0 h 2700048"/>
              <a:gd name="connsiteX4" fmla="*/ 4771586 w 5079828"/>
              <a:gd name="connsiteY4" fmla="*/ 1479478 h 2700048"/>
              <a:gd name="connsiteX5" fmla="*/ 4734597 w 5079828"/>
              <a:gd name="connsiteY5" fmla="*/ 2219217 h 2700048"/>
              <a:gd name="connsiteX6" fmla="*/ 4660619 w 5079828"/>
              <a:gd name="connsiteY6" fmla="*/ 2663061 h 27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9828" h="2700048">
                <a:moveTo>
                  <a:pt x="0" y="2700048"/>
                </a:moveTo>
                <a:lnTo>
                  <a:pt x="184945" y="2305520"/>
                </a:lnTo>
                <a:lnTo>
                  <a:pt x="924726" y="1664413"/>
                </a:lnTo>
                <a:lnTo>
                  <a:pt x="5079828" y="0"/>
                </a:lnTo>
                <a:lnTo>
                  <a:pt x="4771586" y="1479478"/>
                </a:lnTo>
                <a:lnTo>
                  <a:pt x="4734597" y="2219217"/>
                </a:lnTo>
                <a:lnTo>
                  <a:pt x="4660619" y="2663061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4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L2/L3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balancing while forwarding</a:t>
            </a:r>
          </a:p>
          <a:p>
            <a:pPr lvl="1"/>
            <a:r>
              <a:rPr lang="en-US" dirty="0"/>
              <a:t>Per-packet</a:t>
            </a:r>
          </a:p>
          <a:p>
            <a:pPr lvl="1"/>
            <a:r>
              <a:rPr lang="en-US" dirty="0"/>
              <a:t>Per-flow</a:t>
            </a:r>
          </a:p>
          <a:p>
            <a:r>
              <a:rPr lang="en-US" dirty="0"/>
              <a:t>Hard-coded addressing or via indirection</a:t>
            </a:r>
          </a:p>
          <a:p>
            <a:r>
              <a:rPr lang="en-US" dirty="0"/>
              <a:t>Modified LS/DV or source routing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3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L4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Tension between high throughput and low latency requirements</a:t>
            </a:r>
          </a:p>
          <a:p>
            <a:pPr lvl="1"/>
            <a:r>
              <a:rPr lang="en-US" dirty="0"/>
              <a:t>Deep queues vs shallow queues</a:t>
            </a:r>
          </a:p>
          <a:p>
            <a:r>
              <a:rPr lang="en-US" dirty="0"/>
              <a:t>DCTCP</a:t>
            </a:r>
          </a:p>
          <a:p>
            <a:pPr lvl="1"/>
            <a:r>
              <a:rPr lang="en-US" dirty="0"/>
              <a:t>React early, quickly, and with certainty using ECN</a:t>
            </a:r>
          </a:p>
          <a:p>
            <a:pPr lvl="1"/>
            <a:r>
              <a:rPr lang="en-US" dirty="0"/>
              <a:t>React in </a:t>
            </a:r>
            <a:r>
              <a:rPr lang="en-US" dirty="0">
                <a:solidFill>
                  <a:srgbClr val="0000FF"/>
                </a:solidFill>
              </a:rPr>
              <a:t>proportion to the extent of congestion</a:t>
            </a:r>
            <a:r>
              <a:rPr lang="en-US" dirty="0"/>
              <a:t>, not its presence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3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L7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applications care about?</a:t>
            </a:r>
          </a:p>
          <a:p>
            <a:pPr lvl="1"/>
            <a:r>
              <a:rPr lang="en-US" dirty="0"/>
              <a:t>Flow completion time (FCT)</a:t>
            </a:r>
          </a:p>
          <a:p>
            <a:pPr lvl="1"/>
            <a:r>
              <a:rPr lang="en-US" dirty="0"/>
              <a:t>Coflow completion time (CCT)</a:t>
            </a:r>
          </a:p>
          <a:p>
            <a:pPr lvl="2"/>
            <a:r>
              <a:rPr lang="en-US" dirty="0"/>
              <a:t>A coflow is a collection of flows with a shared application-level objective</a:t>
            </a:r>
          </a:p>
          <a:p>
            <a:pPr lvl="1"/>
            <a:r>
              <a:rPr lang="en-US" dirty="0"/>
              <a:t>We should strive to optimize as close an objective as possible to the application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087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THANK YOU SO MUCH!!!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16,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Final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1490457686</TotalTime>
  <Pages>7</Pages>
  <Words>4054</Words>
  <Application>Microsoft Macintosh PowerPoint</Application>
  <PresentationFormat>On-screen Show (4:3)</PresentationFormat>
  <Paragraphs>953</Paragraphs>
  <Slides>72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9" baseType="lpstr">
      <vt:lpstr>ＭＳ Ｐゴシック</vt:lpstr>
      <vt:lpstr>宋体</vt:lpstr>
      <vt:lpstr>Arial</vt:lpstr>
      <vt:lpstr>Arial Black</vt:lpstr>
      <vt:lpstr>Calibri</vt:lpstr>
      <vt:lpstr>Courier New</vt:lpstr>
      <vt:lpstr>Gill Sans</vt:lpstr>
      <vt:lpstr>Helvetica</vt:lpstr>
      <vt:lpstr>Monaco</vt:lpstr>
      <vt:lpstr>Monotype Sorts</vt:lpstr>
      <vt:lpstr>Palatino Linotype</vt:lpstr>
      <vt:lpstr>Symbol</vt:lpstr>
      <vt:lpstr>Tahoma</vt:lpstr>
      <vt:lpstr>Times New Roman</vt:lpstr>
      <vt:lpstr>Wingdings</vt:lpstr>
      <vt:lpstr>dbllineb</vt:lpstr>
      <vt:lpstr>Clip</vt:lpstr>
      <vt:lpstr>EECS 489 Computer Networks  Winter 2025</vt:lpstr>
      <vt:lpstr>Logistics</vt:lpstr>
      <vt:lpstr>Format</vt:lpstr>
      <vt:lpstr>What’s covered in the final?</vt:lpstr>
      <vt:lpstr>The networking stack</vt:lpstr>
      <vt:lpstr>Topics</vt:lpstr>
      <vt:lpstr>Designing the IP header</vt:lpstr>
      <vt:lpstr>What information do we need?</vt:lpstr>
      <vt:lpstr>IPv4 and IPv6 header comparison</vt:lpstr>
      <vt:lpstr>What’s inside a router?</vt:lpstr>
      <vt:lpstr>Input linecards</vt:lpstr>
      <vt:lpstr>Longest prefix matching</vt:lpstr>
      <vt:lpstr>Tree structure</vt:lpstr>
      <vt:lpstr>Output linecards</vt:lpstr>
      <vt:lpstr>Max-Min fairness</vt:lpstr>
      <vt:lpstr>Example</vt:lpstr>
      <vt:lpstr>Max-Min fairness</vt:lpstr>
      <vt:lpstr>Topics</vt:lpstr>
      <vt:lpstr>Routing: Local vs. global view</vt:lpstr>
      <vt:lpstr>“Valid” routing state</vt:lpstr>
      <vt:lpstr>Necessary and sufficient condition</vt:lpstr>
      <vt:lpstr>Least-cost routes</vt:lpstr>
      <vt:lpstr>Intra-domain routing</vt:lpstr>
      <vt:lpstr>Similarities between LS and DV routing</vt:lpstr>
      <vt:lpstr>Comparison of LS and DV routing</vt:lpstr>
      <vt:lpstr>Addressing is key to scalable inter-domain routing</vt:lpstr>
      <vt:lpstr>CIDR: Classless inter-domain routing</vt:lpstr>
      <vt:lpstr>Hierarchy in IP addressing</vt:lpstr>
      <vt:lpstr>Administrative structure shapes Inter-domain routing</vt:lpstr>
      <vt:lpstr>Business relationships</vt:lpstr>
      <vt:lpstr>Routing follows the money!</vt:lpstr>
      <vt:lpstr>BGP inspired by Distance-Vector with four differences</vt:lpstr>
      <vt:lpstr>BGP: Basic idea</vt:lpstr>
      <vt:lpstr>Policy dictates how routes are “selected” and “exported”</vt:lpstr>
      <vt:lpstr>Typical export policy</vt:lpstr>
      <vt:lpstr>Selection using attributes</vt:lpstr>
      <vt:lpstr>eBGP, iBGP, and IGP</vt:lpstr>
      <vt:lpstr>5-minute break!</vt:lpstr>
      <vt:lpstr>Announcements</vt:lpstr>
      <vt:lpstr>Topics</vt:lpstr>
      <vt:lpstr>Separate concerns with abstractions</vt:lpstr>
      <vt:lpstr>Traditional fully decentralized control plane</vt:lpstr>
      <vt:lpstr>Logically centralized  control plane</vt:lpstr>
      <vt:lpstr>SDN: Many challenges remain</vt:lpstr>
      <vt:lpstr>Fixed-function data plane</vt:lpstr>
      <vt:lpstr>Programmable data plane</vt:lpstr>
      <vt:lpstr>Top-down workflow</vt:lpstr>
      <vt:lpstr>PISA: Protocol Independent Switch Architecture</vt:lpstr>
      <vt:lpstr>Topics</vt:lpstr>
      <vt:lpstr>Data link layer</vt:lpstr>
      <vt:lpstr>Point-to-point vs. broadcast medium</vt:lpstr>
      <vt:lpstr>Random access MAC protocols</vt:lpstr>
      <vt:lpstr>CSMA (Carrier Sense Multiple Access)</vt:lpstr>
      <vt:lpstr>CSMA/CD (Collision Detection)</vt:lpstr>
      <vt:lpstr>Limits on CSMA/CD network length</vt:lpstr>
      <vt:lpstr>Limits on CSMA/CD network length</vt:lpstr>
      <vt:lpstr>Why switched Ethernet?</vt:lpstr>
      <vt:lpstr>Ethernet switches are “self learning”</vt:lpstr>
      <vt:lpstr>ARP and DHCP</vt:lpstr>
      <vt:lpstr>Key ideas in both ARP and DHCP</vt:lpstr>
      <vt:lpstr>Wireless link characteristics</vt:lpstr>
      <vt:lpstr>Hidden terminal problem</vt:lpstr>
      <vt:lpstr>CSMA/CA</vt:lpstr>
      <vt:lpstr>Topics</vt:lpstr>
      <vt:lpstr>Datacenter applications</vt:lpstr>
      <vt:lpstr>Datacenter traffic characteristics</vt:lpstr>
      <vt:lpstr>Datacenter networking stack</vt:lpstr>
      <vt:lpstr>Using multiple paths well</vt:lpstr>
      <vt:lpstr>L2/L3 highlights</vt:lpstr>
      <vt:lpstr>L4 highlights</vt:lpstr>
      <vt:lpstr>L7 highlights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1302</cp:revision>
  <cp:lastPrinted>1999-09-08T17:25:07Z</cp:lastPrinted>
  <dcterms:created xsi:type="dcterms:W3CDTF">2014-01-14T18:15:50Z</dcterms:created>
  <dcterms:modified xsi:type="dcterms:W3CDTF">2025-04-14T02:06:24Z</dcterms:modified>
  <cp:category/>
</cp:coreProperties>
</file>