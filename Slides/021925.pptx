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648" r:id="rId1"/>
  </p:sldMasterIdLst>
  <p:notesMasterIdLst>
    <p:notesMasterId r:id="rId71"/>
  </p:notesMasterIdLst>
  <p:handoutMasterIdLst>
    <p:handoutMasterId r:id="rId72"/>
  </p:handoutMasterIdLst>
  <p:sldIdLst>
    <p:sldId id="258" r:id="rId2"/>
    <p:sldId id="598" r:id="rId3"/>
    <p:sldId id="514" r:id="rId4"/>
    <p:sldId id="515" r:id="rId5"/>
    <p:sldId id="516" r:id="rId6"/>
    <p:sldId id="654" r:id="rId7"/>
    <p:sldId id="655" r:id="rId8"/>
    <p:sldId id="517" r:id="rId9"/>
    <p:sldId id="603" r:id="rId10"/>
    <p:sldId id="604" r:id="rId11"/>
    <p:sldId id="605" r:id="rId12"/>
    <p:sldId id="521" r:id="rId13"/>
    <p:sldId id="525" r:id="rId14"/>
    <p:sldId id="608" r:id="rId15"/>
    <p:sldId id="529" r:id="rId16"/>
    <p:sldId id="635" r:id="rId17"/>
    <p:sldId id="634" r:id="rId18"/>
    <p:sldId id="636" r:id="rId19"/>
    <p:sldId id="637" r:id="rId20"/>
    <p:sldId id="638" r:id="rId21"/>
    <p:sldId id="639" r:id="rId22"/>
    <p:sldId id="534" r:id="rId23"/>
    <p:sldId id="640" r:id="rId24"/>
    <p:sldId id="650" r:id="rId25"/>
    <p:sldId id="643" r:id="rId26"/>
    <p:sldId id="644" r:id="rId27"/>
    <p:sldId id="541" r:id="rId28"/>
    <p:sldId id="562" r:id="rId29"/>
    <p:sldId id="645" r:id="rId30"/>
    <p:sldId id="542" r:id="rId31"/>
    <p:sldId id="543" r:id="rId32"/>
    <p:sldId id="544" r:id="rId33"/>
    <p:sldId id="545" r:id="rId34"/>
    <p:sldId id="546" r:id="rId35"/>
    <p:sldId id="547" r:id="rId36"/>
    <p:sldId id="646" r:id="rId37"/>
    <p:sldId id="647" r:id="rId38"/>
    <p:sldId id="613" r:id="rId39"/>
    <p:sldId id="502" r:id="rId40"/>
    <p:sldId id="653" r:id="rId41"/>
    <p:sldId id="551" r:id="rId42"/>
    <p:sldId id="648" r:id="rId43"/>
    <p:sldId id="649" r:id="rId44"/>
    <p:sldId id="553" r:id="rId45"/>
    <p:sldId id="554" r:id="rId46"/>
    <p:sldId id="552" r:id="rId47"/>
    <p:sldId id="591" r:id="rId48"/>
    <p:sldId id="651" r:id="rId49"/>
    <p:sldId id="556" r:id="rId50"/>
    <p:sldId id="557" r:id="rId51"/>
    <p:sldId id="558" r:id="rId52"/>
    <p:sldId id="559" r:id="rId53"/>
    <p:sldId id="560" r:id="rId54"/>
    <p:sldId id="561" r:id="rId55"/>
    <p:sldId id="563" r:id="rId56"/>
    <p:sldId id="564" r:id="rId57"/>
    <p:sldId id="565" r:id="rId58"/>
    <p:sldId id="566" r:id="rId59"/>
    <p:sldId id="567" r:id="rId60"/>
    <p:sldId id="568" r:id="rId61"/>
    <p:sldId id="569" r:id="rId62"/>
    <p:sldId id="570" r:id="rId63"/>
    <p:sldId id="571" r:id="rId64"/>
    <p:sldId id="572" r:id="rId65"/>
    <p:sldId id="573" r:id="rId66"/>
    <p:sldId id="574" r:id="rId67"/>
    <p:sldId id="595" r:id="rId68"/>
    <p:sldId id="596" r:id="rId69"/>
    <p:sldId id="512" r:id="rId70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3A600"/>
    <a:srgbClr val="333399"/>
    <a:srgbClr val="FFCB05"/>
    <a:srgbClr val="FF9900"/>
    <a:srgbClr val="00274C"/>
    <a:srgbClr val="009900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69"/>
    <p:restoredTop sz="94648"/>
  </p:normalViewPr>
  <p:slideViewPr>
    <p:cSldViewPr>
      <p:cViewPr varScale="1">
        <p:scale>
          <a:sx n="112" d="100"/>
          <a:sy n="112" d="100"/>
        </p:scale>
        <p:origin x="1760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914EF427-E3A8-D542-91D3-317F25033480}" type="slidenum">
              <a:rPr lang="en-US" sz="1100" b="0">
                <a:latin typeface="Times New Roman" charset="0"/>
              </a:rPr>
              <a:pPr/>
              <a:t>1</a:t>
            </a:fld>
            <a:endParaRPr lang="en-US" sz="1100" b="0">
              <a:latin typeface="Times New Roman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8293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Shape 1039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 lIns="96661" tIns="48331" rIns="96661" bIns="48331"/>
          <a:lstStyle/>
          <a:p>
            <a:pPr lvl="0"/>
            <a:endParaRPr/>
          </a:p>
        </p:txBody>
      </p:sp>
      <p:sp>
        <p:nvSpPr>
          <p:cNvPr id="1040" name="Shape 104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300" dirty="0"/>
          </a:p>
        </p:txBody>
      </p:sp>
    </p:spTree>
    <p:extLst>
      <p:ext uri="{BB962C8B-B14F-4D97-AF65-F5344CB8AC3E}">
        <p14:creationId xmlns:p14="http://schemas.microsoft.com/office/powerpoint/2010/main" val="2684263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537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512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2481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6154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4831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FE274BE9-847F-CE4B-BF62-3669DAE04580}" type="slidenum">
              <a:rPr lang="en-US" sz="1300" b="0">
                <a:latin typeface="Times New Roman" charset="0"/>
              </a:rPr>
              <a:pPr eaLnBrk="1" hangingPunct="1"/>
              <a:t>21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0722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0723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r>
              <a:rPr lang="en-US">
                <a:ea typeface="ＭＳ Ｐゴシック" charset="0"/>
                <a:cs typeface="ＭＳ Ｐゴシック" charset="0"/>
              </a:rPr>
              <a:t>Why go up? Why not stay down in the lower levels?</a:t>
            </a:r>
          </a:p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1192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A8B00003-BB43-5244-9F35-114E019D855B}" type="slidenum">
              <a:rPr lang="en-US" sz="1300" b="0">
                <a:latin typeface="Times New Roman" charset="0"/>
              </a:rPr>
              <a:pPr eaLnBrk="1" hangingPunct="1"/>
              <a:t>22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28674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r>
              <a:rPr lang="en-US">
                <a:ea typeface="ＭＳ Ｐゴシック" charset="0"/>
                <a:cs typeface="ＭＳ Ｐゴシック" charset="0"/>
              </a:rPr>
              <a:t>Deepest level most header</a:t>
            </a:r>
          </a:p>
        </p:txBody>
      </p:sp>
    </p:spTree>
    <p:extLst>
      <p:ext uri="{BB962C8B-B14F-4D97-AF65-F5344CB8AC3E}">
        <p14:creationId xmlns:p14="http://schemas.microsoft.com/office/powerpoint/2010/main" val="11309736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0065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54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97544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5E7A2AF4-21A1-4549-972D-2D4D3C966DCF}" type="slidenum">
              <a:rPr lang="en-US" sz="1300" b="0">
                <a:latin typeface="Times New Roman" charset="0"/>
              </a:rPr>
              <a:pPr eaLnBrk="1" hangingPunct="1"/>
              <a:t>38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9216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9216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9535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0544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0840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7F96CD0B-3BCB-7846-B3E5-AD71ED030C79}" type="slidenum">
              <a:rPr lang="en-US" sz="1300" b="0">
                <a:latin typeface="Times New Roman" charset="0"/>
              </a:rPr>
              <a:pPr eaLnBrk="1" hangingPunct="1"/>
              <a:t>56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680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680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90010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7F96CD0B-3BCB-7846-B3E5-AD71ED030C79}" type="slidenum">
              <a:rPr lang="en-US" sz="1300" b="0">
                <a:latin typeface="Times New Roman" charset="0"/>
              </a:rPr>
              <a:pPr eaLnBrk="1" hangingPunct="1"/>
              <a:t>57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680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680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00664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7F96CD0B-3BCB-7846-B3E5-AD71ED030C79}" type="slidenum">
              <a:rPr lang="en-US" sz="1300" b="0">
                <a:latin typeface="Times New Roman" charset="0"/>
              </a:rPr>
              <a:pPr eaLnBrk="1" hangingPunct="1"/>
              <a:t>58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680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680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76300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076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344D7B7-8497-9440-908B-E77F83F666B6}" type="slidenum">
              <a:rPr lang="en-US" smtClean="0"/>
              <a:pPr>
                <a:defRPr/>
              </a:pPr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3568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344D7B7-8497-9440-908B-E77F83F666B6}" type="slidenum">
              <a:rPr lang="en-US" smtClean="0"/>
              <a:pPr>
                <a:defRPr/>
              </a:pPr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41595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2853705C-35BF-A442-8E55-A6E2782461EE}" type="slidenum">
              <a:rPr lang="en-US" sz="1300" b="0">
                <a:latin typeface="Times New Roman" charset="0"/>
              </a:rPr>
              <a:pPr eaLnBrk="1" hangingPunct="1"/>
              <a:t>65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044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044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60888"/>
            <a:ext cx="536575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23207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z="1050" b="0">
                <a:latin typeface="Times New Roman" charset="0"/>
              </a:defRPr>
            </a:lvl1pPr>
          </a:lstStyle>
          <a:p>
            <a:r>
              <a:rPr lang="en-US"/>
              <a:t>February 19, 2025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sz="1050" b="0">
                <a:latin typeface="Times New Roman" charset="0"/>
              </a:defRPr>
            </a:lvl1pPr>
          </a:lstStyle>
          <a:p>
            <a:r>
              <a:rPr lang="en-US"/>
              <a:t>EECS 489 – Midterm Review</a:t>
            </a:r>
          </a:p>
        </p:txBody>
      </p:sp>
    </p:spTree>
    <p:extLst>
      <p:ext uri="{BB962C8B-B14F-4D97-AF65-F5344CB8AC3E}">
        <p14:creationId xmlns:p14="http://schemas.microsoft.com/office/powerpoint/2010/main" val="3511964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190D881-957A-7944-A8D0-1584E528B88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404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1F2EB77-FB6C-2244-A076-ADF097535D4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0208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36FED86-94EF-254D-90EE-B810FE8299EE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82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11CF967-1287-0948-92AE-55309D19614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545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507A418-0CEB-9E4A-BA45-3B7D3D133EB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218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3D7AD44-FDD5-3640-B5FD-B68DA213B14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854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C1E35D2-F4F4-2848-A65C-22D2D75C674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227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309860-561E-FA4E-8AD9-21F393B80F8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822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500292D-9130-BA41-A2F4-8C3DF7A50D3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080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E995D8D-2725-7449-9768-A6F305723FFE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46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t>Title Text</a:t>
            </a:r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hape 1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E2893C13-EE0C-EE4E-AB27-289AE4B3B289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635229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1" y="304800"/>
            <a:ext cx="7162800" cy="8382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990601" y="1676400"/>
            <a:ext cx="35052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1" y="1676400"/>
            <a:ext cx="3505200" cy="4267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19, 2025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6781800" y="64770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EAC38905-A845-124D-84B1-9B700173A52A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583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eaLnBrk="0" hangingPunct="0">
              <a:defRPr sz="750"/>
            </a:lvl1pPr>
          </a:lstStyle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 eaLnBrk="0" hangingPunct="0">
              <a:defRPr sz="750"/>
            </a:lvl1pPr>
          </a:lstStyle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6" name="Rectangle 12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01000" y="6248400"/>
            <a:ext cx="609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defRPr sz="750"/>
            </a:lvl1pPr>
          </a:lstStyle>
          <a:p>
            <a:fld id="{6CABC02E-5657-E248-B9C6-199B1358382F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8" r:id="rId12"/>
    <p:sldLayoutId id="2147483709" r:id="rId13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1"/>
          </a:solidFill>
          <a:effectLst/>
          <a:latin typeface="+mj-lt"/>
          <a:ea typeface="ＭＳ Ｐゴシック" charset="-128"/>
          <a:cs typeface="ＭＳ Ｐゴシック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wmf"/><Relationship Id="rId4" Type="http://schemas.openxmlformats.org/officeDocument/2006/relationships/oleObject" Target="../embeddings/oleObject2.bin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7" Type="http://schemas.openxmlformats.org/officeDocument/2006/relationships/image" Target="../media/image8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2.bin"/><Relationship Id="rId5" Type="http://schemas.openxmlformats.org/officeDocument/2006/relationships/image" Target="../media/image7.wmf"/><Relationship Id="rId4" Type="http://schemas.openxmlformats.org/officeDocument/2006/relationships/oleObject" Target="../embeddings/oleObject1.bin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657350" y="1257300"/>
            <a:ext cx="5829300" cy="2286000"/>
          </a:xfrm>
        </p:spPr>
        <p:txBody>
          <a:bodyPr/>
          <a:lstStyle/>
          <a:p>
            <a:pPr algn="ctr"/>
            <a: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  <a:t>EECS 489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  <a:t>Winter 2025</a:t>
            </a:r>
            <a:endParaRPr lang="en-US" dirty="0">
              <a:effectLst/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00100" y="3771900"/>
            <a:ext cx="7543800" cy="1828800"/>
          </a:xfrm>
        </p:spPr>
        <p:txBody>
          <a:bodyPr/>
          <a:lstStyle/>
          <a:p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Mosharaf Chowdhury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 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colleagues.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Logistics</a:t>
            </a:r>
            <a:endParaRPr lang="en-US" dirty="0"/>
          </a:p>
        </p:txBody>
      </p:sp>
      <p:sp>
        <p:nvSpPr>
          <p:cNvPr id="1043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You’re ONLY allowed </a:t>
            </a:r>
            <a:r>
              <a:rPr lang="en-US" dirty="0">
                <a:solidFill>
                  <a:srgbClr val="0000FF"/>
                </a:solidFill>
              </a:rPr>
              <a:t>one double-sided 8.5in x 11in note sheet</a:t>
            </a:r>
          </a:p>
          <a:p>
            <a:pPr lvl="1"/>
            <a:r>
              <a:rPr lang="en-US" dirty="0"/>
              <a:t>Basic calculators are allowed but you won’t need it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569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guidelines (1)</a:t>
            </a:r>
          </a:p>
        </p:txBody>
      </p:sp>
      <p:sp>
        <p:nvSpPr>
          <p:cNvPr id="1043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only assumes material covered in lecture, discussion sections, quizzes, and assignments</a:t>
            </a:r>
          </a:p>
          <a:p>
            <a:pPr lvl="1"/>
            <a:r>
              <a:rPr lang="en-US" dirty="0"/>
              <a:t>Text: only to clarify details and context for the above</a:t>
            </a:r>
          </a:p>
          <a:p>
            <a:r>
              <a:rPr lang="en-US" dirty="0"/>
              <a:t>The test doesn’t require you to do complicated calculations </a:t>
            </a:r>
          </a:p>
          <a:p>
            <a:pPr lvl="1"/>
            <a:r>
              <a:rPr lang="en-US" dirty="0"/>
              <a:t>Use this as a hint to determine if you’re on right track</a:t>
            </a:r>
          </a:p>
          <a:p>
            <a:r>
              <a:rPr lang="en-US" dirty="0"/>
              <a:t>You don’t need to memorize anything</a:t>
            </a:r>
          </a:p>
          <a:p>
            <a:r>
              <a:rPr lang="en-US" dirty="0">
                <a:solidFill>
                  <a:srgbClr val="0000FF"/>
                </a:solidFill>
              </a:rPr>
              <a:t>You do need to understand how things work 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34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3459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guidelines (2)</a:t>
            </a:r>
          </a:p>
        </p:txBody>
      </p:sp>
      <p:sp>
        <p:nvSpPr>
          <p:cNvPr id="1043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prepared to:</a:t>
            </a:r>
          </a:p>
          <a:p>
            <a:pPr lvl="1"/>
            <a:r>
              <a:rPr lang="en-US" dirty="0"/>
              <a:t>Weigh design options outside of the context we studied them in</a:t>
            </a:r>
          </a:p>
          <a:p>
            <a:pPr lvl="1"/>
            <a:r>
              <a:rPr lang="en-US" dirty="0"/>
              <a:t>Contemplate new designs we haven’t covered in detail but can be put together</a:t>
            </a:r>
          </a:p>
          <a:p>
            <a:pPr lvl="2"/>
            <a:r>
              <a:rPr lang="en-US" dirty="0"/>
              <a:t>e.g., I introduce a new IP address format; how does this affect..” </a:t>
            </a:r>
          </a:p>
          <a:p>
            <a:pPr lvl="1"/>
            <a:r>
              <a:rPr lang="en-US" dirty="0"/>
              <a:t>Reason from what you know about the pros/cons of solutions we did study 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415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3459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guidelines (3)</a:t>
            </a:r>
          </a:p>
        </p:txBody>
      </p:sp>
      <p:sp>
        <p:nvSpPr>
          <p:cNvPr id="1043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 format</a:t>
            </a:r>
          </a:p>
          <a:p>
            <a:pPr lvl="1"/>
            <a:r>
              <a:rPr lang="en-US" dirty="0"/>
              <a:t>MCQ questions</a:t>
            </a:r>
          </a:p>
          <a:p>
            <a:pPr lvl="1"/>
            <a:r>
              <a:rPr lang="en-US" dirty="0"/>
              <a:t>Networking use cases</a:t>
            </a:r>
          </a:p>
          <a:p>
            <a:pPr lvl="2"/>
            <a:r>
              <a:rPr lang="en-US" dirty="0"/>
              <a:t>Questions not ordered in terms of complexity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423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3459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3BB3E78-E627-7948-AAAC-604D1F94C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guidelines (4)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E9A3222-879E-E54F-89D9-86FE8F7AD4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75-minute midterm exam on canvas</a:t>
            </a:r>
          </a:p>
          <a:p>
            <a:pPr lvl="1"/>
            <a:r>
              <a:rPr lang="en-US" dirty="0"/>
              <a:t>Friday, Feb. 21 from 7PM - 8:30PM</a:t>
            </a:r>
          </a:p>
          <a:p>
            <a:pPr lvl="2"/>
            <a:r>
              <a:rPr lang="en-US" dirty="0"/>
              <a:t>Room assignments (by the first two letters of your </a:t>
            </a:r>
            <a:r>
              <a:rPr lang="en-US" dirty="0" err="1"/>
              <a:t>uniqname</a:t>
            </a:r>
            <a:r>
              <a:rPr lang="en-US" dirty="0"/>
              <a:t>) are as follows:</a:t>
            </a:r>
          </a:p>
          <a:p>
            <a:pPr lvl="3"/>
            <a:r>
              <a:rPr lang="en-US" dirty="0"/>
              <a:t>AA - DB: Chrysler 133</a:t>
            </a:r>
          </a:p>
          <a:p>
            <a:pPr lvl="3"/>
            <a:r>
              <a:rPr lang="en-US" dirty="0"/>
              <a:t>DC - ZZ: Chrysler 220</a:t>
            </a:r>
          </a:p>
          <a:p>
            <a:pPr lvl="1"/>
            <a:r>
              <a:rPr lang="en-US" dirty="0"/>
              <a:t>SSD accommodations</a:t>
            </a:r>
          </a:p>
          <a:p>
            <a:pPr lvl="2"/>
            <a:r>
              <a:rPr lang="en-US" dirty="0"/>
              <a:t>Friday, Feb. 21 from 6PM at DOW 2150</a:t>
            </a:r>
          </a:p>
          <a:p>
            <a:pPr lvl="1"/>
            <a:r>
              <a:rPr lang="en-US" dirty="0"/>
              <a:t>Other conflicts</a:t>
            </a:r>
          </a:p>
          <a:p>
            <a:pPr lvl="2"/>
            <a:r>
              <a:rPr lang="en-US" dirty="0"/>
              <a:t>You have received separate emails by now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E21341-A460-814B-9BB6-AA2FFEAD1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EB77-FB6C-2244-A076-ADF097535D48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8C4D87-790C-C47C-DD8C-F0E81F6F9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62017A-3137-1B96-9528-ECEF46CC1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3630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4CC1D-1C57-2156-3E03-CC48E54EA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covered in the midterm?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D1DAE-EDB2-0150-3599-EB0F18E393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Lectures:</a:t>
            </a:r>
            <a:r>
              <a:rPr lang="en-US" dirty="0"/>
              <a:t> 1—9 (Up to “More Congestion Control”)</a:t>
            </a:r>
          </a:p>
          <a:p>
            <a:r>
              <a:rPr lang="en-US" dirty="0">
                <a:solidFill>
                  <a:srgbClr val="0000FF"/>
                </a:solidFill>
              </a:rPr>
              <a:t>Assignments:</a:t>
            </a:r>
            <a:r>
              <a:rPr lang="en-US" dirty="0"/>
              <a:t> 1</a:t>
            </a:r>
          </a:p>
          <a:p>
            <a:r>
              <a:rPr lang="en-US" dirty="0">
                <a:solidFill>
                  <a:srgbClr val="0000FF"/>
                </a:solidFill>
              </a:rPr>
              <a:t>Discussion sections:</a:t>
            </a:r>
            <a:r>
              <a:rPr lang="en-US" dirty="0"/>
              <a:t> 1—6 (Content related to lectures 1—9 and assignment 1)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71090D-6B58-497A-5729-235530AA0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C920F-1DD3-889E-5CFA-CFAED8E4C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8A4C9C-CC51-DC0E-6DAB-56625C7EC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595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review</a:t>
            </a:r>
          </a:p>
        </p:txBody>
      </p:sp>
      <p:sp>
        <p:nvSpPr>
          <p:cNvPr id="1043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Walk through what you’re expected to know at this point: key topics, important aspects of each</a:t>
            </a:r>
          </a:p>
          <a:p>
            <a:r>
              <a:rPr lang="en-US" dirty="0"/>
              <a:t>Not covered in review </a:t>
            </a:r>
            <a:r>
              <a:rPr lang="en-US" dirty="0">
                <a:solidFill>
                  <a:srgbClr val="0000FF"/>
                </a:solidFill>
              </a:rPr>
              <a:t>does NOT imply</a:t>
            </a:r>
            <a:r>
              <a:rPr lang="en-US" dirty="0"/>
              <a:t> you don’t need to know it</a:t>
            </a:r>
          </a:p>
          <a:p>
            <a:pPr lvl="1"/>
            <a:r>
              <a:rPr lang="en-US" dirty="0"/>
              <a:t>But if it’s covered today, you should know it</a:t>
            </a:r>
          </a:p>
          <a:p>
            <a:r>
              <a:rPr lang="en-US" dirty="0"/>
              <a:t>Summarize, not explain</a:t>
            </a:r>
          </a:p>
          <a:p>
            <a:pPr lvl="1"/>
            <a:r>
              <a:rPr lang="en-US" dirty="0"/>
              <a:t>Stop me when you want to discuss something further!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105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3459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Topics</a:t>
            </a:r>
            <a:endParaRPr lang="en-US" dirty="0"/>
          </a:p>
        </p:txBody>
      </p:sp>
      <p:sp>
        <p:nvSpPr>
          <p:cNvPr id="1043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Basics (lectures 1–2) </a:t>
            </a:r>
          </a:p>
          <a:p>
            <a:r>
              <a:rPr lang="en-US" dirty="0"/>
              <a:t>Application layer (lectures 3–5)</a:t>
            </a:r>
          </a:p>
          <a:p>
            <a:pPr lvl="1"/>
            <a:r>
              <a:rPr lang="en-US" dirty="0"/>
              <a:t>HTTP, DNS, CDN, Video Streaming, and Cloud</a:t>
            </a:r>
          </a:p>
          <a:p>
            <a:r>
              <a:rPr lang="en-US" dirty="0"/>
              <a:t>Transport layer (lectures 6–9)</a:t>
            </a:r>
          </a:p>
          <a:p>
            <a:pPr lvl="1"/>
            <a:r>
              <a:rPr lang="en-US" dirty="0"/>
              <a:t>UDP vs. TCP </a:t>
            </a:r>
          </a:p>
          <a:p>
            <a:pPr lvl="1"/>
            <a:r>
              <a:rPr lang="en-US" dirty="0"/>
              <a:t>TCP details: reliability and flow control </a:t>
            </a:r>
          </a:p>
          <a:p>
            <a:pPr lvl="1"/>
            <a:r>
              <a:rPr lang="en-US" dirty="0"/>
              <a:t>TCP congestion control: general concepts only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013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3459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Basic concepts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should know: </a:t>
            </a:r>
          </a:p>
          <a:p>
            <a:pPr lvl="1"/>
            <a:r>
              <a:rPr lang="en-US" dirty="0"/>
              <a:t>Packet vs. circuit switching </a:t>
            </a:r>
          </a:p>
          <a:p>
            <a:pPr lvl="1"/>
            <a:r>
              <a:rPr lang="en-US" dirty="0"/>
              <a:t>Statistical multiplexing </a:t>
            </a:r>
          </a:p>
          <a:p>
            <a:pPr lvl="1"/>
            <a:r>
              <a:rPr lang="en-US" dirty="0"/>
              <a:t>Link characteristics </a:t>
            </a:r>
          </a:p>
          <a:p>
            <a:pPr lvl="1"/>
            <a:r>
              <a:rPr lang="en-US" dirty="0"/>
              <a:t>Packet delays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3804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Switched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End-systems and networks connected by switches instead of directly connecting them</a:t>
            </a:r>
          </a:p>
          <a:p>
            <a:r>
              <a:rPr lang="en-US" dirty="0"/>
              <a:t>Allows us to </a:t>
            </a:r>
            <a:r>
              <a:rPr lang="en-US" dirty="0">
                <a:solidFill>
                  <a:srgbClr val="0000FF"/>
                </a:solidFill>
              </a:rPr>
              <a:t>scale</a:t>
            </a:r>
          </a:p>
          <a:p>
            <a:pPr lvl="1"/>
            <a:r>
              <a:rPr lang="en-US" dirty="0"/>
              <a:t>For example, directly connecting N nodes to each other would require N</a:t>
            </a:r>
            <a:r>
              <a:rPr lang="en-US" baseline="30000" dirty="0"/>
              <a:t>2 </a:t>
            </a:r>
            <a:r>
              <a:rPr lang="en-US" dirty="0"/>
              <a:t>links!</a:t>
            </a:r>
            <a:endParaRPr lang="en-US" baseline="300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682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Shape 103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Two approaches to sharing</a:t>
            </a:r>
            <a:endParaRPr lang="en-US" dirty="0"/>
          </a:p>
        </p:txBody>
      </p:sp>
      <p:sp>
        <p:nvSpPr>
          <p:cNvPr id="1036" name="Shape 103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Packet switching</a:t>
            </a:r>
          </a:p>
          <a:p>
            <a:pPr lvl="1"/>
            <a:r>
              <a:rPr lang="en-US" dirty="0"/>
              <a:t>Network resources consumed on demand per-packet </a:t>
            </a:r>
          </a:p>
          <a:p>
            <a:pPr lvl="1"/>
            <a:r>
              <a:rPr lang="en-US" dirty="0"/>
              <a:t>Admission control: </a:t>
            </a:r>
            <a:r>
              <a:rPr lang="en-US" dirty="0">
                <a:solidFill>
                  <a:srgbClr val="0000FF"/>
                </a:solidFill>
              </a:rPr>
              <a:t>per packet</a:t>
            </a:r>
            <a:endParaRPr lang="en-US" dirty="0"/>
          </a:p>
          <a:p>
            <a:r>
              <a:rPr lang="en-US" dirty="0"/>
              <a:t>Circuit switching</a:t>
            </a:r>
          </a:p>
          <a:p>
            <a:pPr lvl="1"/>
            <a:r>
              <a:rPr lang="en-US" dirty="0"/>
              <a:t>Network resources reserved a priori  at “connection” initiation</a:t>
            </a:r>
          </a:p>
          <a:p>
            <a:pPr lvl="1"/>
            <a:r>
              <a:rPr lang="en-US" dirty="0"/>
              <a:t>Admission control: </a:t>
            </a:r>
            <a:r>
              <a:rPr lang="en-US" dirty="0">
                <a:solidFill>
                  <a:srgbClr val="0000FF"/>
                </a:solidFill>
              </a:rPr>
              <a:t>per connection</a:t>
            </a:r>
            <a:br>
              <a:rPr lang="en-US" dirty="0"/>
            </a:b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702097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Statistical multiplexing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Allowing more demands than the network can handle</a:t>
            </a:r>
          </a:p>
          <a:p>
            <a:pPr lvl="1"/>
            <a:r>
              <a:rPr lang="en-US" dirty="0"/>
              <a:t>Hoping that not all demands are required at the same time</a:t>
            </a:r>
          </a:p>
          <a:p>
            <a:pPr lvl="1"/>
            <a:r>
              <a:rPr lang="en-US" dirty="0"/>
              <a:t>Good for bursty traffic (average &lt;&lt; peak demand)</a:t>
            </a:r>
          </a:p>
          <a:p>
            <a:pPr lvl="1"/>
            <a:r>
              <a:rPr lang="en-US" dirty="0"/>
              <a:t>Packet switching exploits statistical multiplexing better than circuit switching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352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Consists of four components</a:t>
            </a:r>
          </a:p>
          <a:p>
            <a:pPr lvl="1"/>
            <a:r>
              <a:rPr lang="en-US" dirty="0"/>
              <a:t>Transmission delay</a:t>
            </a:r>
          </a:p>
          <a:p>
            <a:pPr lvl="1"/>
            <a:r>
              <a:rPr lang="en-US" dirty="0"/>
              <a:t>Propagation delay</a:t>
            </a:r>
          </a:p>
          <a:p>
            <a:pPr lvl="1"/>
            <a:r>
              <a:rPr lang="en-US" dirty="0"/>
              <a:t>Queuing delay</a:t>
            </a:r>
          </a:p>
          <a:p>
            <a:pPr lvl="1"/>
            <a:r>
              <a:rPr lang="en-US" dirty="0"/>
              <a:t>Processing delay</a:t>
            </a:r>
          </a:p>
        </p:txBody>
      </p:sp>
      <p:sp>
        <p:nvSpPr>
          <p:cNvPr id="4" name="Right Brace 3"/>
          <p:cNvSpPr/>
          <p:nvPr/>
        </p:nvSpPr>
        <p:spPr>
          <a:xfrm>
            <a:off x="4464810" y="2112577"/>
            <a:ext cx="368524" cy="935423"/>
          </a:xfrm>
          <a:prstGeom prst="rightBrac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4287" tIns="32143" rIns="64287" bIns="32143" numCol="1" spcCol="38096" rtlCol="0" anchor="t">
            <a:noAutofit/>
          </a:bodyPr>
          <a:lstStyle/>
          <a:p>
            <a:pPr defTabSz="642849" latinLnBrk="1" hangingPunct="0"/>
            <a:endParaRPr lang="en-US" sz="240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5" name="Right Brace 4"/>
          <p:cNvSpPr/>
          <p:nvPr/>
        </p:nvSpPr>
        <p:spPr>
          <a:xfrm>
            <a:off x="4464810" y="3048000"/>
            <a:ext cx="368524" cy="935423"/>
          </a:xfrm>
          <a:prstGeom prst="rightBrac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4287" tIns="32143" rIns="64287" bIns="32143" numCol="1" spcCol="38096" rtlCol="0" anchor="t">
            <a:noAutofit/>
          </a:bodyPr>
          <a:lstStyle/>
          <a:p>
            <a:pPr defTabSz="642849" latinLnBrk="1" hangingPunct="0"/>
            <a:endParaRPr lang="en-US" sz="2400">
              <a:solidFill>
                <a:schemeClr val="accent2"/>
              </a:solidFill>
              <a:ea typeface="Arial" charset="0"/>
              <a:cs typeface="Arial" charset="0"/>
            </a:endParaRPr>
          </a:p>
        </p:txBody>
      </p:sp>
      <p:sp>
        <p:nvSpPr>
          <p:cNvPr id="6" name="Shape 1261"/>
          <p:cNvSpPr/>
          <p:nvPr/>
        </p:nvSpPr>
        <p:spPr>
          <a:xfrm>
            <a:off x="5002085" y="2300725"/>
            <a:ext cx="2931804" cy="441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due to link properties</a:t>
            </a:r>
            <a:endParaRPr sz="2400" dirty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7" name="Shape 1261"/>
          <p:cNvSpPr/>
          <p:nvPr/>
        </p:nvSpPr>
        <p:spPr>
          <a:xfrm>
            <a:off x="4942064" y="3061272"/>
            <a:ext cx="3008043" cy="810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675" tIns="35675" rIns="35675" bIns="35675" anchor="ctr">
            <a:spAutoFit/>
          </a:bodyPr>
          <a:lstStyle>
            <a:lvl1pPr>
              <a:defRPr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due to traffic mix and </a:t>
            </a:r>
          </a:p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switch internals</a:t>
            </a:r>
            <a:endParaRPr sz="2400" dirty="0">
              <a:solidFill>
                <a:schemeClr val="accent2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373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Shape 880"/>
          <p:cNvSpPr/>
          <p:nvPr/>
        </p:nvSpPr>
        <p:spPr>
          <a:xfrm flipV="1">
            <a:off x="1690867" y="2498379"/>
            <a:ext cx="5941457" cy="65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881" name="Shape 881"/>
          <p:cNvSpPr/>
          <p:nvPr/>
        </p:nvSpPr>
        <p:spPr>
          <a:xfrm>
            <a:off x="7536656" y="232171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882" name="Shape 882"/>
          <p:cNvSpPr/>
          <p:nvPr/>
        </p:nvSpPr>
        <p:spPr>
          <a:xfrm>
            <a:off x="3126645" y="2168678"/>
            <a:ext cx="558594" cy="510230"/>
          </a:xfrm>
          <a:prstGeom prst="roundRect">
            <a:avLst>
              <a:gd name="adj" fmla="val 10000"/>
            </a:avLst>
          </a:prstGeom>
          <a:solidFill>
            <a:schemeClr val="bg2">
              <a:lumMod val="50000"/>
            </a:schemeClr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883" name="Shape 883"/>
          <p:cNvSpPr/>
          <p:nvPr/>
        </p:nvSpPr>
        <p:spPr>
          <a:xfrm>
            <a:off x="886181" y="2605413"/>
            <a:ext cx="1523397" cy="67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tr</a:t>
            </a:r>
            <a:r>
              <a:rPr sz="1969" b="0" dirty="0"/>
              <a:t>ansmission</a:t>
            </a:r>
            <a:br>
              <a:rPr lang="en-US" sz="1969" b="0" dirty="0"/>
            </a:br>
            <a:r>
              <a:rPr sz="1969" b="0" dirty="0"/>
              <a:t> 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End-to-end delay</a:t>
            </a:r>
          </a:p>
        </p:txBody>
      </p:sp>
      <p:sp>
        <p:nvSpPr>
          <p:cNvPr id="884" name="Shape 88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6CB4B4D-7CA3-9044-876B-883B54F8677D}" type="slidenum">
              <a:rPr lang="en-US" smtClean="0"/>
              <a:pPr lvl="0"/>
              <a:t>15</a:t>
            </a:fld>
            <a:endParaRPr lang="en-US"/>
          </a:p>
        </p:txBody>
      </p:sp>
      <p:sp>
        <p:nvSpPr>
          <p:cNvPr id="885" name="Shape 885"/>
          <p:cNvSpPr/>
          <p:nvPr/>
        </p:nvSpPr>
        <p:spPr>
          <a:xfrm>
            <a:off x="1464469" y="2321718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7" name="Shape 882"/>
          <p:cNvSpPr/>
          <p:nvPr/>
        </p:nvSpPr>
        <p:spPr>
          <a:xfrm>
            <a:off x="5676805" y="2212314"/>
            <a:ext cx="558594" cy="510230"/>
          </a:xfrm>
          <a:prstGeom prst="roundRect">
            <a:avLst>
              <a:gd name="adj" fmla="val 10000"/>
            </a:avLst>
          </a:prstGeom>
          <a:solidFill>
            <a:schemeClr val="bg2">
              <a:lumMod val="50000"/>
            </a:schemeClr>
          </a:solidFill>
          <a:ln w="635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/>
          </a:p>
        </p:txBody>
      </p:sp>
      <p:sp>
        <p:nvSpPr>
          <p:cNvPr id="18" name="Shape 883"/>
          <p:cNvSpPr/>
          <p:nvPr/>
        </p:nvSpPr>
        <p:spPr>
          <a:xfrm>
            <a:off x="1752600" y="2954235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propagation</a:t>
            </a:r>
            <a:r>
              <a:rPr sz="1969" b="0" dirty="0"/>
              <a:t> </a:t>
            </a:r>
          </a:p>
        </p:txBody>
      </p:sp>
      <p:sp>
        <p:nvSpPr>
          <p:cNvPr id="19" name="Shape 883"/>
          <p:cNvSpPr/>
          <p:nvPr/>
        </p:nvSpPr>
        <p:spPr>
          <a:xfrm>
            <a:off x="2673129" y="3268233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queueing</a:t>
            </a:r>
            <a:endParaRPr sz="1969" b="0" dirty="0"/>
          </a:p>
        </p:txBody>
      </p:sp>
      <p:sp>
        <p:nvSpPr>
          <p:cNvPr id="20" name="Shape 883"/>
          <p:cNvSpPr/>
          <p:nvPr/>
        </p:nvSpPr>
        <p:spPr>
          <a:xfrm>
            <a:off x="2673129" y="3562941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processing</a:t>
            </a:r>
            <a:endParaRPr sz="1969" b="0" dirty="0"/>
          </a:p>
        </p:txBody>
      </p:sp>
      <p:sp>
        <p:nvSpPr>
          <p:cNvPr id="21" name="Shape 883"/>
          <p:cNvSpPr/>
          <p:nvPr/>
        </p:nvSpPr>
        <p:spPr>
          <a:xfrm>
            <a:off x="3238347" y="3946601"/>
            <a:ext cx="1523397" cy="67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tr</a:t>
            </a:r>
            <a:r>
              <a:rPr sz="1969" b="0" dirty="0"/>
              <a:t>ansmission</a:t>
            </a:r>
            <a:br>
              <a:rPr lang="en-US" sz="1969" b="0" dirty="0"/>
            </a:br>
            <a:r>
              <a:rPr sz="1969" b="0" dirty="0"/>
              <a:t> </a:t>
            </a:r>
          </a:p>
        </p:txBody>
      </p:sp>
      <p:sp>
        <p:nvSpPr>
          <p:cNvPr id="22" name="Shape 883"/>
          <p:cNvSpPr/>
          <p:nvPr/>
        </p:nvSpPr>
        <p:spPr>
          <a:xfrm>
            <a:off x="4115403" y="4295422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propagation</a:t>
            </a:r>
            <a:r>
              <a:rPr sz="1969" b="0" dirty="0"/>
              <a:t> </a:t>
            </a:r>
          </a:p>
        </p:txBody>
      </p:sp>
      <p:sp>
        <p:nvSpPr>
          <p:cNvPr id="23" name="Shape 883"/>
          <p:cNvSpPr/>
          <p:nvPr/>
        </p:nvSpPr>
        <p:spPr>
          <a:xfrm>
            <a:off x="5253224" y="4693822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queueing</a:t>
            </a:r>
            <a:endParaRPr sz="1969" b="0" dirty="0"/>
          </a:p>
        </p:txBody>
      </p:sp>
      <p:sp>
        <p:nvSpPr>
          <p:cNvPr id="24" name="Shape 883"/>
          <p:cNvSpPr/>
          <p:nvPr/>
        </p:nvSpPr>
        <p:spPr>
          <a:xfrm>
            <a:off x="5253224" y="4988529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processing</a:t>
            </a:r>
            <a:endParaRPr sz="1969" b="0" dirty="0"/>
          </a:p>
        </p:txBody>
      </p:sp>
      <p:sp>
        <p:nvSpPr>
          <p:cNvPr id="25" name="Shape 883"/>
          <p:cNvSpPr/>
          <p:nvPr/>
        </p:nvSpPr>
        <p:spPr>
          <a:xfrm>
            <a:off x="5818442" y="5372190"/>
            <a:ext cx="1523397" cy="67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tr</a:t>
            </a:r>
            <a:r>
              <a:rPr sz="1969" b="0" dirty="0"/>
              <a:t>ansmission</a:t>
            </a:r>
            <a:br>
              <a:rPr lang="en-US" sz="1969" b="0" dirty="0"/>
            </a:br>
            <a:r>
              <a:rPr sz="1969" b="0" dirty="0"/>
              <a:t> </a:t>
            </a:r>
          </a:p>
        </p:txBody>
      </p:sp>
      <p:sp>
        <p:nvSpPr>
          <p:cNvPr id="26" name="Shape 883"/>
          <p:cNvSpPr/>
          <p:nvPr/>
        </p:nvSpPr>
        <p:spPr>
          <a:xfrm>
            <a:off x="6540054" y="5721011"/>
            <a:ext cx="1523397" cy="375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1969" b="0" dirty="0"/>
              <a:t>propagation</a:t>
            </a:r>
            <a:r>
              <a:rPr sz="1969" b="0" dirty="0"/>
              <a:t> 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B60961-0880-678A-E514-97EF4087A8AF}"/>
              </a:ext>
            </a:extLst>
          </p:cNvPr>
          <p:cNvSpPr txBox="1"/>
          <p:nvPr/>
        </p:nvSpPr>
        <p:spPr>
          <a:xfrm>
            <a:off x="387072" y="4535531"/>
            <a:ext cx="30477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only consider store-and-forward in this class</a:t>
            </a:r>
          </a:p>
        </p:txBody>
      </p:sp>
    </p:spTree>
    <p:extLst>
      <p:ext uri="{BB962C8B-B14F-4D97-AF65-F5344CB8AC3E}">
        <p14:creationId xmlns:p14="http://schemas.microsoft.com/office/powerpoint/2010/main" val="347266533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3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FEFE661-8110-8042-A8A8-D6D3BADB9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want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834463-AF8F-2047-80D9-3A4250103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40350F-F31F-DA47-88B2-0476888B4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588E8-06F0-A24D-AC56-6148AA0D9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16</a:t>
            </a:fld>
            <a:endParaRPr lang="en-US"/>
          </a:p>
        </p:txBody>
      </p:sp>
      <p:pic>
        <p:nvPicPr>
          <p:cNvPr id="8" name="Graphic 7" descr="User">
            <a:extLst>
              <a:ext uri="{FF2B5EF4-FFF2-40B4-BE49-F238E27FC236}">
                <a16:creationId xmlns:a16="http://schemas.microsoft.com/office/drawing/2014/main" id="{2FEA4671-867C-9245-8D65-52D96D9E18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313" y="3074413"/>
            <a:ext cx="914400" cy="91440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44F33372-7F6D-E449-948F-249B8F681EF4}"/>
              </a:ext>
            </a:extLst>
          </p:cNvPr>
          <p:cNvGrpSpPr/>
          <p:nvPr/>
        </p:nvGrpSpPr>
        <p:grpSpPr>
          <a:xfrm>
            <a:off x="1503037" y="2819400"/>
            <a:ext cx="1486304" cy="1522495"/>
            <a:chOff x="4065179" y="2303184"/>
            <a:chExt cx="1486304" cy="1522495"/>
          </a:xfrm>
        </p:grpSpPr>
        <p:pic>
          <p:nvPicPr>
            <p:cNvPr id="10" name="Graphic 9" descr="Internet">
              <a:extLst>
                <a:ext uri="{FF2B5EF4-FFF2-40B4-BE49-F238E27FC236}">
                  <a16:creationId xmlns:a16="http://schemas.microsoft.com/office/drawing/2014/main" id="{CB39A836-F4E0-154A-BF18-F04D915633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79437" y="2454079"/>
              <a:ext cx="1371600" cy="13716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2688643-4F5A-CA40-B6A8-7646FD1B3B79}"/>
                </a:ext>
              </a:extLst>
            </p:cNvPr>
            <p:cNvSpPr txBox="1"/>
            <p:nvPr/>
          </p:nvSpPr>
          <p:spPr>
            <a:xfrm>
              <a:off x="4065179" y="2303184"/>
              <a:ext cx="14863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http://123.xyz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D7DEE84-3265-454B-9C99-1956E556D148}"/>
              </a:ext>
            </a:extLst>
          </p:cNvPr>
          <p:cNvGrpSpPr/>
          <p:nvPr/>
        </p:nvGrpSpPr>
        <p:grpSpPr>
          <a:xfrm>
            <a:off x="6593012" y="2807305"/>
            <a:ext cx="1587294" cy="1294074"/>
            <a:chOff x="6793796" y="1581092"/>
            <a:chExt cx="1587294" cy="1294074"/>
          </a:xfrm>
        </p:grpSpPr>
        <p:pic>
          <p:nvPicPr>
            <p:cNvPr id="13" name="Graphic 12" descr="Server">
              <a:extLst>
                <a:ext uri="{FF2B5EF4-FFF2-40B4-BE49-F238E27FC236}">
                  <a16:creationId xmlns:a16="http://schemas.microsoft.com/office/drawing/2014/main" id="{60FC4740-CAA5-2544-B542-D3285101833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141366" y="196076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C74337C-0CAA-B440-B613-5A66F034DA22}"/>
                </a:ext>
              </a:extLst>
            </p:cNvPr>
            <p:cNvSpPr txBox="1"/>
            <p:nvPr/>
          </p:nvSpPr>
          <p:spPr>
            <a:xfrm>
              <a:off x="6793796" y="1581092"/>
              <a:ext cx="158729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123.xyz server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572931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>
            <a:extLst>
              <a:ext uri="{FF2B5EF4-FFF2-40B4-BE49-F238E27FC236}">
                <a16:creationId xmlns:a16="http://schemas.microsoft.com/office/drawing/2014/main" id="{F7A233D0-A6D5-954C-8192-42C322ACE580}"/>
              </a:ext>
            </a:extLst>
          </p:cNvPr>
          <p:cNvGrpSpPr/>
          <p:nvPr/>
        </p:nvGrpSpPr>
        <p:grpSpPr>
          <a:xfrm>
            <a:off x="5456580" y="2667000"/>
            <a:ext cx="3469728" cy="2794388"/>
            <a:chOff x="5503812" y="3758807"/>
            <a:chExt cx="3469728" cy="2794388"/>
          </a:xfrm>
        </p:grpSpPr>
        <p:sp>
          <p:nvSpPr>
            <p:cNvPr id="61" name="Cloud 60">
              <a:extLst>
                <a:ext uri="{FF2B5EF4-FFF2-40B4-BE49-F238E27FC236}">
                  <a16:creationId xmlns:a16="http://schemas.microsoft.com/office/drawing/2014/main" id="{4613C81F-348B-4341-837A-AE1A8D86ACEA}"/>
                </a:ext>
              </a:extLst>
            </p:cNvPr>
            <p:cNvSpPr/>
            <p:nvPr/>
          </p:nvSpPr>
          <p:spPr bwMode="auto">
            <a:xfrm>
              <a:off x="5503812" y="3758807"/>
              <a:ext cx="3469728" cy="2794388"/>
            </a:xfrm>
            <a:custGeom>
              <a:avLst/>
              <a:gdLst>
                <a:gd name="connsiteX0" fmla="*/ 313239 w 3469728"/>
                <a:gd name="connsiteY0" fmla="*/ 929522 h 2794388"/>
                <a:gd name="connsiteX1" fmla="*/ 451626 w 3469728"/>
                <a:gd name="connsiteY1" fmla="*/ 446778 h 2794388"/>
                <a:gd name="connsiteX2" fmla="*/ 1124850 w 3469728"/>
                <a:gd name="connsiteY2" fmla="*/ 336490 h 2794388"/>
                <a:gd name="connsiteX3" fmla="*/ 1803616 w 3469728"/>
                <a:gd name="connsiteY3" fmla="*/ 221998 h 2794388"/>
                <a:gd name="connsiteX4" fmla="*/ 2068102 w 3469728"/>
                <a:gd name="connsiteY4" fmla="*/ 12936 h 2794388"/>
                <a:gd name="connsiteX5" fmla="*/ 2396120 w 3469728"/>
                <a:gd name="connsiteY5" fmla="*/ 160483 h 2794388"/>
                <a:gd name="connsiteX6" fmla="*/ 2848309 w 3469728"/>
                <a:gd name="connsiteY6" fmla="*/ 44632 h 2794388"/>
                <a:gd name="connsiteX7" fmla="*/ 3077616 w 3469728"/>
                <a:gd name="connsiteY7" fmla="*/ 360683 h 2794388"/>
                <a:gd name="connsiteX8" fmla="*/ 3371900 w 3469728"/>
                <a:gd name="connsiteY8" fmla="*/ 667418 h 2794388"/>
                <a:gd name="connsiteX9" fmla="*/ 3358728 w 3469728"/>
                <a:gd name="connsiteY9" fmla="*/ 1000028 h 2794388"/>
                <a:gd name="connsiteX10" fmla="*/ 3454949 w 3469728"/>
                <a:gd name="connsiteY10" fmla="*/ 1508581 h 2794388"/>
                <a:gd name="connsiteX11" fmla="*/ 3004206 w 3469728"/>
                <a:gd name="connsiteY11" fmla="*/ 1953742 h 2794388"/>
                <a:gd name="connsiteX12" fmla="*/ 2842847 w 3469728"/>
                <a:gd name="connsiteY12" fmla="*/ 2335189 h 2794388"/>
                <a:gd name="connsiteX13" fmla="*/ 2293474 w 3469728"/>
                <a:gd name="connsiteY13" fmla="*/ 2381374 h 2794388"/>
                <a:gd name="connsiteX14" fmla="*/ 1900880 w 3469728"/>
                <a:gd name="connsiteY14" fmla="*/ 2788307 h 2794388"/>
                <a:gd name="connsiteX15" fmla="*/ 1323636 w 3469728"/>
                <a:gd name="connsiteY15" fmla="*/ 2539917 h 2794388"/>
                <a:gd name="connsiteX16" fmla="*/ 466164 w 3469728"/>
                <a:gd name="connsiteY16" fmla="*/ 2294503 h 2794388"/>
                <a:gd name="connsiteX17" fmla="*/ 89152 w 3469728"/>
                <a:gd name="connsiteY17" fmla="*/ 2021403 h 2794388"/>
                <a:gd name="connsiteX18" fmla="*/ 169711 w 3469728"/>
                <a:gd name="connsiteY18" fmla="*/ 1652764 h 2794388"/>
                <a:gd name="connsiteX19" fmla="*/ -402 w 3469728"/>
                <a:gd name="connsiteY19" fmla="*/ 1274551 h 2794388"/>
                <a:gd name="connsiteX20" fmla="*/ 310267 w 3469728"/>
                <a:gd name="connsiteY20" fmla="*/ 938383 h 2794388"/>
                <a:gd name="connsiteX21" fmla="*/ 313239 w 3469728"/>
                <a:gd name="connsiteY21" fmla="*/ 929522 h 2794388"/>
                <a:gd name="connsiteX0" fmla="*/ 376931 w 3469728"/>
                <a:gd name="connsiteY0" fmla="*/ 1693256 h 2794388"/>
                <a:gd name="connsiteX1" fmla="*/ 173486 w 3469728"/>
                <a:gd name="connsiteY1" fmla="*/ 1641702 h 2794388"/>
                <a:gd name="connsiteX2" fmla="*/ 556441 w 3469728"/>
                <a:gd name="connsiteY2" fmla="*/ 2257438 h 2794388"/>
                <a:gd name="connsiteX3" fmla="*/ 467449 w 3469728"/>
                <a:gd name="connsiteY3" fmla="*/ 2282083 h 2794388"/>
                <a:gd name="connsiteX4" fmla="*/ 1323476 w 3469728"/>
                <a:gd name="connsiteY4" fmla="*/ 2528533 h 2794388"/>
                <a:gd name="connsiteX5" fmla="*/ 1269824 w 3469728"/>
                <a:gd name="connsiteY5" fmla="*/ 2415981 h 2794388"/>
                <a:gd name="connsiteX6" fmla="*/ 2315320 w 3469728"/>
                <a:gd name="connsiteY6" fmla="*/ 2247865 h 2794388"/>
                <a:gd name="connsiteX7" fmla="*/ 2293875 w 3469728"/>
                <a:gd name="connsiteY7" fmla="*/ 2371348 h 2794388"/>
                <a:gd name="connsiteX8" fmla="*/ 2741165 w 3469728"/>
                <a:gd name="connsiteY8" fmla="*/ 1484777 h 2794388"/>
                <a:gd name="connsiteX9" fmla="*/ 3002278 w 3469728"/>
                <a:gd name="connsiteY9" fmla="*/ 1946368 h 2794388"/>
                <a:gd name="connsiteX10" fmla="*/ 3357122 w 3469728"/>
                <a:gd name="connsiteY10" fmla="*/ 993172 h 2794388"/>
                <a:gd name="connsiteX11" fmla="*/ 3240822 w 3469728"/>
                <a:gd name="connsiteY11" fmla="*/ 1166268 h 2794388"/>
                <a:gd name="connsiteX12" fmla="*/ 3078098 w 3469728"/>
                <a:gd name="connsiteY12" fmla="*/ 350980 h 2794388"/>
                <a:gd name="connsiteX13" fmla="*/ 3084202 w 3469728"/>
                <a:gd name="connsiteY13" fmla="*/ 432742 h 2794388"/>
                <a:gd name="connsiteX14" fmla="*/ 2335480 w 3469728"/>
                <a:gd name="connsiteY14" fmla="*/ 255634 h 2794388"/>
                <a:gd name="connsiteX15" fmla="*/ 2395076 w 3469728"/>
                <a:gd name="connsiteY15" fmla="*/ 151362 h 2794388"/>
                <a:gd name="connsiteX16" fmla="*/ 1778315 w 3469728"/>
                <a:gd name="connsiteY16" fmla="*/ 305312 h 2794388"/>
                <a:gd name="connsiteX17" fmla="*/ 1807150 w 3469728"/>
                <a:gd name="connsiteY17" fmla="*/ 215400 h 2794388"/>
                <a:gd name="connsiteX18" fmla="*/ 1124448 w 3469728"/>
                <a:gd name="connsiteY18" fmla="*/ 335844 h 2794388"/>
                <a:gd name="connsiteX19" fmla="*/ 1228862 w 3469728"/>
                <a:gd name="connsiteY19" fmla="*/ 423039 h 2794388"/>
                <a:gd name="connsiteX20" fmla="*/ 331471 w 3469728"/>
                <a:gd name="connsiteY20" fmla="*/ 1021310 h 2794388"/>
                <a:gd name="connsiteX21" fmla="*/ 313239 w 3469728"/>
                <a:gd name="connsiteY21" fmla="*/ 929522 h 2794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469728" h="2794388" fill="none" extrusionOk="0">
                  <a:moveTo>
                    <a:pt x="313239" y="929522"/>
                  </a:moveTo>
                  <a:cubicBezTo>
                    <a:pt x="272348" y="792424"/>
                    <a:pt x="318671" y="545790"/>
                    <a:pt x="451626" y="446778"/>
                  </a:cubicBezTo>
                  <a:cubicBezTo>
                    <a:pt x="684374" y="259784"/>
                    <a:pt x="903392" y="168041"/>
                    <a:pt x="1124850" y="336490"/>
                  </a:cubicBezTo>
                  <a:cubicBezTo>
                    <a:pt x="1313990" y="93301"/>
                    <a:pt x="1567421" y="8451"/>
                    <a:pt x="1803616" y="221998"/>
                  </a:cubicBezTo>
                  <a:cubicBezTo>
                    <a:pt x="1853829" y="112824"/>
                    <a:pt x="1952655" y="26518"/>
                    <a:pt x="2068102" y="12936"/>
                  </a:cubicBezTo>
                  <a:cubicBezTo>
                    <a:pt x="2218994" y="-25583"/>
                    <a:pt x="2322975" y="43209"/>
                    <a:pt x="2396120" y="160483"/>
                  </a:cubicBezTo>
                  <a:cubicBezTo>
                    <a:pt x="2480209" y="6954"/>
                    <a:pt x="2723604" y="-62087"/>
                    <a:pt x="2848309" y="44632"/>
                  </a:cubicBezTo>
                  <a:cubicBezTo>
                    <a:pt x="2936783" y="119016"/>
                    <a:pt x="3056700" y="225929"/>
                    <a:pt x="3077616" y="360683"/>
                  </a:cubicBezTo>
                  <a:cubicBezTo>
                    <a:pt x="3225190" y="400467"/>
                    <a:pt x="3322990" y="532064"/>
                    <a:pt x="3371900" y="667418"/>
                  </a:cubicBezTo>
                  <a:cubicBezTo>
                    <a:pt x="3407700" y="777240"/>
                    <a:pt x="3392065" y="869011"/>
                    <a:pt x="3358728" y="1000028"/>
                  </a:cubicBezTo>
                  <a:cubicBezTo>
                    <a:pt x="3498961" y="1145772"/>
                    <a:pt x="3528410" y="1366036"/>
                    <a:pt x="3454949" y="1508581"/>
                  </a:cubicBezTo>
                  <a:cubicBezTo>
                    <a:pt x="3448532" y="1788900"/>
                    <a:pt x="3243218" y="1968899"/>
                    <a:pt x="3004206" y="1953742"/>
                  </a:cubicBezTo>
                  <a:cubicBezTo>
                    <a:pt x="3007619" y="2104792"/>
                    <a:pt x="2941128" y="2235229"/>
                    <a:pt x="2842847" y="2335189"/>
                  </a:cubicBezTo>
                  <a:cubicBezTo>
                    <a:pt x="2657672" y="2511484"/>
                    <a:pt x="2507656" y="2508692"/>
                    <a:pt x="2293474" y="2381374"/>
                  </a:cubicBezTo>
                  <a:cubicBezTo>
                    <a:pt x="2257239" y="2563116"/>
                    <a:pt x="2065516" y="2698470"/>
                    <a:pt x="1900880" y="2788307"/>
                  </a:cubicBezTo>
                  <a:cubicBezTo>
                    <a:pt x="1647983" y="2861416"/>
                    <a:pt x="1453686" y="2805401"/>
                    <a:pt x="1323636" y="2539917"/>
                  </a:cubicBezTo>
                  <a:cubicBezTo>
                    <a:pt x="991582" y="2697647"/>
                    <a:pt x="659717" y="2603735"/>
                    <a:pt x="466164" y="2294503"/>
                  </a:cubicBezTo>
                  <a:cubicBezTo>
                    <a:pt x="325597" y="2352232"/>
                    <a:pt x="177805" y="2207844"/>
                    <a:pt x="89152" y="2021403"/>
                  </a:cubicBezTo>
                  <a:cubicBezTo>
                    <a:pt x="27298" y="1901545"/>
                    <a:pt x="84450" y="1727886"/>
                    <a:pt x="169711" y="1652764"/>
                  </a:cubicBezTo>
                  <a:cubicBezTo>
                    <a:pt x="50048" y="1571984"/>
                    <a:pt x="-13969" y="1417475"/>
                    <a:pt x="-402" y="1274551"/>
                  </a:cubicBezTo>
                  <a:cubicBezTo>
                    <a:pt x="-11256" y="1098721"/>
                    <a:pt x="164387" y="931530"/>
                    <a:pt x="310267" y="938383"/>
                  </a:cubicBezTo>
                  <a:cubicBezTo>
                    <a:pt x="311386" y="935286"/>
                    <a:pt x="313055" y="932436"/>
                    <a:pt x="313239" y="929522"/>
                  </a:cubicBezTo>
                  <a:close/>
                </a:path>
                <a:path w="3469728" h="2794388" fill="none" extrusionOk="0">
                  <a:moveTo>
                    <a:pt x="376931" y="1693256"/>
                  </a:moveTo>
                  <a:cubicBezTo>
                    <a:pt x="315394" y="1681218"/>
                    <a:pt x="249298" y="1666409"/>
                    <a:pt x="173486" y="1641702"/>
                  </a:cubicBezTo>
                  <a:moveTo>
                    <a:pt x="556441" y="2257438"/>
                  </a:moveTo>
                  <a:cubicBezTo>
                    <a:pt x="535406" y="2264772"/>
                    <a:pt x="498807" y="2277494"/>
                    <a:pt x="467449" y="2282083"/>
                  </a:cubicBezTo>
                  <a:moveTo>
                    <a:pt x="1323476" y="2528533"/>
                  </a:moveTo>
                  <a:cubicBezTo>
                    <a:pt x="1303318" y="2500479"/>
                    <a:pt x="1289457" y="2450432"/>
                    <a:pt x="1269824" y="2415981"/>
                  </a:cubicBezTo>
                  <a:moveTo>
                    <a:pt x="2315320" y="2247865"/>
                  </a:moveTo>
                  <a:cubicBezTo>
                    <a:pt x="2320217" y="2290210"/>
                    <a:pt x="2304607" y="2326754"/>
                    <a:pt x="2293875" y="2371348"/>
                  </a:cubicBezTo>
                  <a:moveTo>
                    <a:pt x="2741165" y="1484777"/>
                  </a:moveTo>
                  <a:cubicBezTo>
                    <a:pt x="2847465" y="1576680"/>
                    <a:pt x="3033338" y="1786334"/>
                    <a:pt x="3002278" y="1946368"/>
                  </a:cubicBezTo>
                  <a:moveTo>
                    <a:pt x="3357122" y="993172"/>
                  </a:moveTo>
                  <a:cubicBezTo>
                    <a:pt x="3323228" y="1078910"/>
                    <a:pt x="3310275" y="1112500"/>
                    <a:pt x="3240822" y="1166268"/>
                  </a:cubicBezTo>
                  <a:moveTo>
                    <a:pt x="3078098" y="350980"/>
                  </a:moveTo>
                  <a:cubicBezTo>
                    <a:pt x="3082835" y="377184"/>
                    <a:pt x="3088178" y="406893"/>
                    <a:pt x="3084202" y="432742"/>
                  </a:cubicBezTo>
                  <a:moveTo>
                    <a:pt x="2335480" y="255634"/>
                  </a:moveTo>
                  <a:cubicBezTo>
                    <a:pt x="2356375" y="208951"/>
                    <a:pt x="2376407" y="180882"/>
                    <a:pt x="2395076" y="151362"/>
                  </a:cubicBezTo>
                  <a:moveTo>
                    <a:pt x="1778315" y="305312"/>
                  </a:moveTo>
                  <a:cubicBezTo>
                    <a:pt x="1793490" y="275743"/>
                    <a:pt x="1794516" y="247730"/>
                    <a:pt x="1807150" y="215400"/>
                  </a:cubicBezTo>
                  <a:moveTo>
                    <a:pt x="1124448" y="335844"/>
                  </a:moveTo>
                  <a:cubicBezTo>
                    <a:pt x="1161326" y="359777"/>
                    <a:pt x="1198866" y="389369"/>
                    <a:pt x="1228862" y="423039"/>
                  </a:cubicBezTo>
                  <a:moveTo>
                    <a:pt x="331471" y="1021310"/>
                  </a:moveTo>
                  <a:cubicBezTo>
                    <a:pt x="323122" y="988049"/>
                    <a:pt x="320992" y="957807"/>
                    <a:pt x="313239" y="929522"/>
                  </a:cubicBezTo>
                </a:path>
                <a:path w="3469728" h="2794388" stroke="0" extrusionOk="0">
                  <a:moveTo>
                    <a:pt x="313239" y="929522"/>
                  </a:moveTo>
                  <a:cubicBezTo>
                    <a:pt x="286111" y="750724"/>
                    <a:pt x="307415" y="590122"/>
                    <a:pt x="451626" y="446778"/>
                  </a:cubicBezTo>
                  <a:cubicBezTo>
                    <a:pt x="685706" y="253907"/>
                    <a:pt x="857719" y="196648"/>
                    <a:pt x="1124850" y="336490"/>
                  </a:cubicBezTo>
                  <a:cubicBezTo>
                    <a:pt x="1212380" y="104542"/>
                    <a:pt x="1588196" y="63614"/>
                    <a:pt x="1803616" y="221998"/>
                  </a:cubicBezTo>
                  <a:cubicBezTo>
                    <a:pt x="1846238" y="104016"/>
                    <a:pt x="1961796" y="34399"/>
                    <a:pt x="2068102" y="12936"/>
                  </a:cubicBezTo>
                  <a:cubicBezTo>
                    <a:pt x="2199851" y="-5871"/>
                    <a:pt x="2332948" y="21463"/>
                    <a:pt x="2396120" y="160483"/>
                  </a:cubicBezTo>
                  <a:cubicBezTo>
                    <a:pt x="2475630" y="12448"/>
                    <a:pt x="2685230" y="-24582"/>
                    <a:pt x="2848309" y="44632"/>
                  </a:cubicBezTo>
                  <a:cubicBezTo>
                    <a:pt x="2966072" y="79250"/>
                    <a:pt x="3031174" y="252324"/>
                    <a:pt x="3077616" y="360683"/>
                  </a:cubicBezTo>
                  <a:cubicBezTo>
                    <a:pt x="3249736" y="420870"/>
                    <a:pt x="3344046" y="521466"/>
                    <a:pt x="3371900" y="667418"/>
                  </a:cubicBezTo>
                  <a:cubicBezTo>
                    <a:pt x="3381167" y="772559"/>
                    <a:pt x="3425719" y="915746"/>
                    <a:pt x="3358728" y="1000028"/>
                  </a:cubicBezTo>
                  <a:cubicBezTo>
                    <a:pt x="3487196" y="1185005"/>
                    <a:pt x="3497975" y="1358235"/>
                    <a:pt x="3454949" y="1508581"/>
                  </a:cubicBezTo>
                  <a:cubicBezTo>
                    <a:pt x="3435331" y="1796187"/>
                    <a:pt x="3259629" y="1964338"/>
                    <a:pt x="3004206" y="1953742"/>
                  </a:cubicBezTo>
                  <a:cubicBezTo>
                    <a:pt x="3014484" y="2090470"/>
                    <a:pt x="2948751" y="2218469"/>
                    <a:pt x="2842847" y="2335189"/>
                  </a:cubicBezTo>
                  <a:cubicBezTo>
                    <a:pt x="2640018" y="2488663"/>
                    <a:pt x="2454594" y="2491437"/>
                    <a:pt x="2293474" y="2381374"/>
                  </a:cubicBezTo>
                  <a:cubicBezTo>
                    <a:pt x="2220207" y="2582794"/>
                    <a:pt x="2079910" y="2722093"/>
                    <a:pt x="1900880" y="2788307"/>
                  </a:cubicBezTo>
                  <a:cubicBezTo>
                    <a:pt x="1680627" y="2840235"/>
                    <a:pt x="1400061" y="2776415"/>
                    <a:pt x="1323636" y="2539917"/>
                  </a:cubicBezTo>
                  <a:cubicBezTo>
                    <a:pt x="997847" y="2786830"/>
                    <a:pt x="665618" y="2645915"/>
                    <a:pt x="466164" y="2294503"/>
                  </a:cubicBezTo>
                  <a:cubicBezTo>
                    <a:pt x="294848" y="2352534"/>
                    <a:pt x="184042" y="2172900"/>
                    <a:pt x="89152" y="2021403"/>
                  </a:cubicBezTo>
                  <a:cubicBezTo>
                    <a:pt x="34474" y="1923428"/>
                    <a:pt x="58152" y="1752912"/>
                    <a:pt x="169711" y="1652764"/>
                  </a:cubicBezTo>
                  <a:cubicBezTo>
                    <a:pt x="69621" y="1614748"/>
                    <a:pt x="-22008" y="1429339"/>
                    <a:pt x="-402" y="1274551"/>
                  </a:cubicBezTo>
                  <a:cubicBezTo>
                    <a:pt x="20645" y="1088051"/>
                    <a:pt x="141053" y="956350"/>
                    <a:pt x="310267" y="938383"/>
                  </a:cubicBezTo>
                  <a:cubicBezTo>
                    <a:pt x="311317" y="935482"/>
                    <a:pt x="312126" y="932946"/>
                    <a:pt x="313239" y="929522"/>
                  </a:cubicBezTo>
                  <a:close/>
                </a:path>
                <a:path w="3469728" h="2794388" fill="none" stroke="0" extrusionOk="0">
                  <a:moveTo>
                    <a:pt x="376931" y="1693256"/>
                  </a:moveTo>
                  <a:cubicBezTo>
                    <a:pt x="306677" y="1696444"/>
                    <a:pt x="239464" y="1664320"/>
                    <a:pt x="173486" y="1641702"/>
                  </a:cubicBezTo>
                  <a:moveTo>
                    <a:pt x="556441" y="2257438"/>
                  </a:moveTo>
                  <a:cubicBezTo>
                    <a:pt x="526121" y="2278896"/>
                    <a:pt x="495089" y="2275114"/>
                    <a:pt x="467449" y="2282083"/>
                  </a:cubicBezTo>
                  <a:moveTo>
                    <a:pt x="1323476" y="2528533"/>
                  </a:moveTo>
                  <a:cubicBezTo>
                    <a:pt x="1307414" y="2497550"/>
                    <a:pt x="1282836" y="2455840"/>
                    <a:pt x="1269824" y="2415981"/>
                  </a:cubicBezTo>
                  <a:moveTo>
                    <a:pt x="2315320" y="2247865"/>
                  </a:moveTo>
                  <a:cubicBezTo>
                    <a:pt x="2306424" y="2291738"/>
                    <a:pt x="2304863" y="2326347"/>
                    <a:pt x="2293875" y="2371348"/>
                  </a:cubicBezTo>
                  <a:moveTo>
                    <a:pt x="2741165" y="1484777"/>
                  </a:moveTo>
                  <a:cubicBezTo>
                    <a:pt x="2862464" y="1585390"/>
                    <a:pt x="3000815" y="1794268"/>
                    <a:pt x="3002278" y="1946368"/>
                  </a:cubicBezTo>
                  <a:moveTo>
                    <a:pt x="3357122" y="993172"/>
                  </a:moveTo>
                  <a:cubicBezTo>
                    <a:pt x="3325821" y="1055370"/>
                    <a:pt x="3296630" y="1119665"/>
                    <a:pt x="3240822" y="1166268"/>
                  </a:cubicBezTo>
                  <a:moveTo>
                    <a:pt x="3078098" y="350980"/>
                  </a:moveTo>
                  <a:cubicBezTo>
                    <a:pt x="3078031" y="377525"/>
                    <a:pt x="3080737" y="407009"/>
                    <a:pt x="3084202" y="432742"/>
                  </a:cubicBezTo>
                  <a:moveTo>
                    <a:pt x="2335480" y="255634"/>
                  </a:moveTo>
                  <a:cubicBezTo>
                    <a:pt x="2346379" y="212937"/>
                    <a:pt x="2370783" y="181223"/>
                    <a:pt x="2395076" y="151362"/>
                  </a:cubicBezTo>
                  <a:moveTo>
                    <a:pt x="1778315" y="305312"/>
                  </a:moveTo>
                  <a:cubicBezTo>
                    <a:pt x="1780063" y="280578"/>
                    <a:pt x="1791347" y="251093"/>
                    <a:pt x="1807150" y="215400"/>
                  </a:cubicBezTo>
                  <a:moveTo>
                    <a:pt x="1124448" y="335844"/>
                  </a:moveTo>
                  <a:cubicBezTo>
                    <a:pt x="1156263" y="361630"/>
                    <a:pt x="1198465" y="392451"/>
                    <a:pt x="1228862" y="423039"/>
                  </a:cubicBezTo>
                  <a:moveTo>
                    <a:pt x="331471" y="1021310"/>
                  </a:moveTo>
                  <a:cubicBezTo>
                    <a:pt x="317576" y="990320"/>
                    <a:pt x="316874" y="954949"/>
                    <a:pt x="313239" y="929522"/>
                  </a:cubicBezTo>
                </a:path>
              </a:pathLst>
            </a:cu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  <a:extLst>
                <a:ext uri="{C807C97D-BFC1-408E-A445-0C87EB9F89A2}">
                  <ask:lineSketchStyleProps xmlns:ask="http://schemas.microsoft.com/office/drawing/2018/sketchyshapes" sd="1219033472">
                    <a:prstGeom prst="cloud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62" name="Text Box 27">
              <a:extLst>
                <a:ext uri="{FF2B5EF4-FFF2-40B4-BE49-F238E27FC236}">
                  <a16:creationId xmlns:a16="http://schemas.microsoft.com/office/drawing/2014/main" id="{E388BF67-6ACA-C248-B819-41FCF8D074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38086" y="5646242"/>
              <a:ext cx="950927" cy="5947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dirty="0">
                  <a:solidFill>
                    <a:schemeClr val="bg2">
                      <a:lumMod val="50000"/>
                    </a:schemeClr>
                  </a:solidFill>
                  <a:latin typeface="+mn-lt"/>
                </a:rPr>
                <a:t>5.6.7.*</a:t>
              </a:r>
            </a:p>
          </p:txBody>
        </p:sp>
        <p:sp>
          <p:nvSpPr>
            <p:cNvPr id="16" name="Line 13">
              <a:extLst>
                <a:ext uri="{FF2B5EF4-FFF2-40B4-BE49-F238E27FC236}">
                  <a16:creationId xmlns:a16="http://schemas.microsoft.com/office/drawing/2014/main" id="{F7E29C90-E0D7-9A49-AEB8-47FA643F5D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78495" y="5089539"/>
              <a:ext cx="2590805" cy="0"/>
            </a:xfrm>
            <a:prstGeom prst="line">
              <a:avLst/>
            </a:prstGeom>
            <a:noFill/>
            <a:ln w="76200" cmpd="tri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17" name="Line 14">
              <a:extLst>
                <a:ext uri="{FF2B5EF4-FFF2-40B4-BE49-F238E27FC236}">
                  <a16:creationId xmlns:a16="http://schemas.microsoft.com/office/drawing/2014/main" id="{951C2A6A-16B1-4249-AC65-79613D3890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83295" y="4636490"/>
              <a:ext cx="0" cy="45304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18" name="Line 15">
              <a:extLst>
                <a:ext uri="{FF2B5EF4-FFF2-40B4-BE49-F238E27FC236}">
                  <a16:creationId xmlns:a16="http://schemas.microsoft.com/office/drawing/2014/main" id="{F984CE7D-9D76-8346-A1D8-19A56EA124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97697" y="4636490"/>
              <a:ext cx="0" cy="45304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19" name="Line 16">
              <a:extLst>
                <a:ext uri="{FF2B5EF4-FFF2-40B4-BE49-F238E27FC236}">
                  <a16:creationId xmlns:a16="http://schemas.microsoft.com/office/drawing/2014/main" id="{7FD450B1-87D1-154B-B74F-3C5CC81EA4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64499" y="4636490"/>
              <a:ext cx="0" cy="45304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3308E2D5-D96E-1649-8EB1-D20514535A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02307" y="4204677"/>
              <a:ext cx="573088" cy="502602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 eaLnBrk="0" hangingPunct="0"/>
              <a:r>
                <a:rPr lang="en-US" sz="1600" b="0"/>
                <a:t>host</a:t>
              </a:r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74C299CC-2B94-F746-9F51-6D29FD3A73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97659" y="4204677"/>
              <a:ext cx="573088" cy="502602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 eaLnBrk="0" hangingPunct="0"/>
              <a:r>
                <a:rPr lang="en-US" sz="1600" b="0"/>
                <a:t>host</a:t>
              </a:r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85F94E58-58EC-7046-9356-FF91B4B824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69223" y="4204677"/>
              <a:ext cx="573088" cy="502602"/>
            </a:xfrm>
            <a:prstGeom prst="rect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 eaLnBrk="0" hangingPunct="0"/>
              <a:r>
                <a:rPr lang="en-US" sz="1600" b="0" dirty="0">
                  <a:solidFill>
                    <a:schemeClr val="bg1"/>
                  </a:solidFill>
                </a:rPr>
                <a:t>host</a:t>
              </a:r>
            </a:p>
          </p:txBody>
        </p:sp>
        <p:sp>
          <p:nvSpPr>
            <p:cNvPr id="23" name="Text Box 20">
              <a:extLst>
                <a:ext uri="{FF2B5EF4-FFF2-40B4-BE49-F238E27FC236}">
                  <a16:creationId xmlns:a16="http://schemas.microsoft.com/office/drawing/2014/main" id="{5C43ADF2-AA5F-B74F-967D-8DB476D138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02498" y="4067818"/>
              <a:ext cx="357188" cy="5026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sz="1600" b="0">
                  <a:latin typeface="+mn-lt"/>
                </a:rPr>
                <a:t>...</a:t>
              </a:r>
            </a:p>
          </p:txBody>
        </p:sp>
        <p:sp>
          <p:nvSpPr>
            <p:cNvPr id="64" name="Text Box 28">
              <a:extLst>
                <a:ext uri="{FF2B5EF4-FFF2-40B4-BE49-F238E27FC236}">
                  <a16:creationId xmlns:a16="http://schemas.microsoft.com/office/drawing/2014/main" id="{50555139-E5B8-314C-9AFE-CF3EBF0431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19505" y="3810000"/>
              <a:ext cx="88998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800" b="0" dirty="0">
                  <a:solidFill>
                    <a:srgbClr val="0000FF"/>
                  </a:solidFill>
                  <a:latin typeface="+mn-lt"/>
                </a:rPr>
                <a:t>5.6.7.8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ADE4C8F-153C-0C46-906D-6C8C97C3449E}"/>
              </a:ext>
            </a:extLst>
          </p:cNvPr>
          <p:cNvGrpSpPr/>
          <p:nvPr/>
        </p:nvGrpSpPr>
        <p:grpSpPr>
          <a:xfrm>
            <a:off x="333777" y="2590799"/>
            <a:ext cx="3858596" cy="2794394"/>
            <a:chOff x="381009" y="3682606"/>
            <a:chExt cx="3858596" cy="1879993"/>
          </a:xfrm>
        </p:grpSpPr>
        <p:sp>
          <p:nvSpPr>
            <p:cNvPr id="58" name="Cloud 57">
              <a:extLst>
                <a:ext uri="{FF2B5EF4-FFF2-40B4-BE49-F238E27FC236}">
                  <a16:creationId xmlns:a16="http://schemas.microsoft.com/office/drawing/2014/main" id="{21A1DFDA-9339-9346-8226-5C9883E22D64}"/>
                </a:ext>
              </a:extLst>
            </p:cNvPr>
            <p:cNvSpPr/>
            <p:nvPr/>
          </p:nvSpPr>
          <p:spPr bwMode="auto">
            <a:xfrm>
              <a:off x="381009" y="3682606"/>
              <a:ext cx="3858596" cy="1879993"/>
            </a:xfrm>
            <a:custGeom>
              <a:avLst/>
              <a:gdLst>
                <a:gd name="connsiteX0" fmla="*/ 348345 w 3858596"/>
                <a:gd name="connsiteY0" fmla="*/ 625358 h 1879993"/>
                <a:gd name="connsiteX1" fmla="*/ 502242 w 3858596"/>
                <a:gd name="connsiteY1" fmla="*/ 300581 h 1879993"/>
                <a:gd name="connsiteX2" fmla="*/ 1250917 w 3858596"/>
                <a:gd name="connsiteY2" fmla="*/ 226382 h 1879993"/>
                <a:gd name="connsiteX3" fmla="*/ 2005755 w 3858596"/>
                <a:gd name="connsiteY3" fmla="*/ 149354 h 1879993"/>
                <a:gd name="connsiteX4" fmla="*/ 2299883 w 3858596"/>
                <a:gd name="connsiteY4" fmla="*/ 8703 h 1879993"/>
                <a:gd name="connsiteX5" fmla="*/ 2664664 w 3858596"/>
                <a:gd name="connsiteY5" fmla="*/ 107969 h 1879993"/>
                <a:gd name="connsiteX6" fmla="*/ 3167532 w 3858596"/>
                <a:gd name="connsiteY6" fmla="*/ 30027 h 1879993"/>
                <a:gd name="connsiteX7" fmla="*/ 3422538 w 3858596"/>
                <a:gd name="connsiteY7" fmla="*/ 242658 h 1879993"/>
                <a:gd name="connsiteX8" fmla="*/ 3749805 w 3858596"/>
                <a:gd name="connsiteY8" fmla="*/ 449022 h 1879993"/>
                <a:gd name="connsiteX9" fmla="*/ 3735156 w 3858596"/>
                <a:gd name="connsiteY9" fmla="*/ 672793 h 1879993"/>
                <a:gd name="connsiteX10" fmla="*/ 3842161 w 3858596"/>
                <a:gd name="connsiteY10" fmla="*/ 1014935 h 1879993"/>
                <a:gd name="connsiteX11" fmla="*/ 3340901 w 3858596"/>
                <a:gd name="connsiteY11" fmla="*/ 1314428 h 1879993"/>
                <a:gd name="connsiteX12" fmla="*/ 3161458 w 3858596"/>
                <a:gd name="connsiteY12" fmla="*/ 1571056 h 1879993"/>
                <a:gd name="connsiteX13" fmla="*/ 2550514 w 3858596"/>
                <a:gd name="connsiteY13" fmla="*/ 1602128 h 1879993"/>
                <a:gd name="connsiteX14" fmla="*/ 2113921 w 3858596"/>
                <a:gd name="connsiteY14" fmla="*/ 1875902 h 1879993"/>
                <a:gd name="connsiteX15" fmla="*/ 1471982 w 3858596"/>
                <a:gd name="connsiteY15" fmla="*/ 1708791 h 1879993"/>
                <a:gd name="connsiteX16" fmla="*/ 518409 w 3858596"/>
                <a:gd name="connsiteY16" fmla="*/ 1543683 h 1879993"/>
                <a:gd name="connsiteX17" fmla="*/ 99144 w 3858596"/>
                <a:gd name="connsiteY17" fmla="*/ 1359948 h 1879993"/>
                <a:gd name="connsiteX18" fmla="*/ 188731 w 3858596"/>
                <a:gd name="connsiteY18" fmla="*/ 1111937 h 1879993"/>
                <a:gd name="connsiteX19" fmla="*/ -447 w 3858596"/>
                <a:gd name="connsiteY19" fmla="*/ 857485 h 1879993"/>
                <a:gd name="connsiteX20" fmla="*/ 345040 w 3858596"/>
                <a:gd name="connsiteY20" fmla="*/ 631320 h 1879993"/>
                <a:gd name="connsiteX21" fmla="*/ 348345 w 3858596"/>
                <a:gd name="connsiteY21" fmla="*/ 625358 h 1879993"/>
                <a:gd name="connsiteX0" fmla="*/ 419175 w 3858596"/>
                <a:gd name="connsiteY0" fmla="*/ 1139180 h 1879993"/>
                <a:gd name="connsiteX1" fmla="*/ 192929 w 3858596"/>
                <a:gd name="connsiteY1" fmla="*/ 1104495 h 1879993"/>
                <a:gd name="connsiteX2" fmla="*/ 618804 w 3858596"/>
                <a:gd name="connsiteY2" fmla="*/ 1518747 h 1879993"/>
                <a:gd name="connsiteX3" fmla="*/ 519838 w 3858596"/>
                <a:gd name="connsiteY3" fmla="*/ 1535327 h 1879993"/>
                <a:gd name="connsiteX4" fmla="*/ 1471804 w 3858596"/>
                <a:gd name="connsiteY4" fmla="*/ 1701132 h 1879993"/>
                <a:gd name="connsiteX5" fmla="*/ 1412138 w 3858596"/>
                <a:gd name="connsiteY5" fmla="*/ 1625410 h 1879993"/>
                <a:gd name="connsiteX6" fmla="*/ 2574808 w 3858596"/>
                <a:gd name="connsiteY6" fmla="*/ 1512306 h 1879993"/>
                <a:gd name="connsiteX7" fmla="*/ 2550960 w 3858596"/>
                <a:gd name="connsiteY7" fmla="*/ 1595382 h 1879993"/>
                <a:gd name="connsiteX8" fmla="*/ 3048380 w 3858596"/>
                <a:gd name="connsiteY8" fmla="*/ 998920 h 1879993"/>
                <a:gd name="connsiteX9" fmla="*/ 3338757 w 3858596"/>
                <a:gd name="connsiteY9" fmla="*/ 1309467 h 1879993"/>
                <a:gd name="connsiteX10" fmla="*/ 3733370 w 3858596"/>
                <a:gd name="connsiteY10" fmla="*/ 668180 h 1879993"/>
                <a:gd name="connsiteX11" fmla="*/ 3604035 w 3858596"/>
                <a:gd name="connsiteY11" fmla="*/ 784635 h 1879993"/>
                <a:gd name="connsiteX12" fmla="*/ 3423074 w 3858596"/>
                <a:gd name="connsiteY12" fmla="*/ 236130 h 1879993"/>
                <a:gd name="connsiteX13" fmla="*/ 3429863 w 3858596"/>
                <a:gd name="connsiteY13" fmla="*/ 291137 h 1879993"/>
                <a:gd name="connsiteX14" fmla="*/ 2597228 w 3858596"/>
                <a:gd name="connsiteY14" fmla="*/ 171984 h 1879993"/>
                <a:gd name="connsiteX15" fmla="*/ 2663503 w 3858596"/>
                <a:gd name="connsiteY15" fmla="*/ 101832 h 1879993"/>
                <a:gd name="connsiteX16" fmla="*/ 1977619 w 3858596"/>
                <a:gd name="connsiteY16" fmla="*/ 205406 h 1879993"/>
                <a:gd name="connsiteX17" fmla="*/ 2009685 w 3858596"/>
                <a:gd name="connsiteY17" fmla="*/ 144916 h 1879993"/>
                <a:gd name="connsiteX18" fmla="*/ 1250470 w 3858596"/>
                <a:gd name="connsiteY18" fmla="*/ 225947 h 1879993"/>
                <a:gd name="connsiteX19" fmla="*/ 1366586 w 3858596"/>
                <a:gd name="connsiteY19" fmla="*/ 284610 h 1879993"/>
                <a:gd name="connsiteX20" fmla="*/ 368620 w 3858596"/>
                <a:gd name="connsiteY20" fmla="*/ 687111 h 1879993"/>
                <a:gd name="connsiteX21" fmla="*/ 348345 w 3858596"/>
                <a:gd name="connsiteY21" fmla="*/ 625358 h 1879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858596" h="1879993" fill="none" extrusionOk="0">
                  <a:moveTo>
                    <a:pt x="348345" y="625358"/>
                  </a:moveTo>
                  <a:cubicBezTo>
                    <a:pt x="315612" y="524411"/>
                    <a:pt x="374266" y="379838"/>
                    <a:pt x="502242" y="300581"/>
                  </a:cubicBezTo>
                  <a:cubicBezTo>
                    <a:pt x="765805" y="184503"/>
                    <a:pt x="1002719" y="61273"/>
                    <a:pt x="1250917" y="226382"/>
                  </a:cubicBezTo>
                  <a:cubicBezTo>
                    <a:pt x="1416799" y="49922"/>
                    <a:pt x="1714361" y="15077"/>
                    <a:pt x="2005755" y="149354"/>
                  </a:cubicBezTo>
                  <a:cubicBezTo>
                    <a:pt x="2059819" y="83187"/>
                    <a:pt x="2167364" y="3002"/>
                    <a:pt x="2299883" y="8703"/>
                  </a:cubicBezTo>
                  <a:cubicBezTo>
                    <a:pt x="2444062" y="-7807"/>
                    <a:pt x="2590101" y="14402"/>
                    <a:pt x="2664664" y="107969"/>
                  </a:cubicBezTo>
                  <a:cubicBezTo>
                    <a:pt x="2771837" y="5384"/>
                    <a:pt x="3006690" y="-34182"/>
                    <a:pt x="3167532" y="30027"/>
                  </a:cubicBezTo>
                  <a:cubicBezTo>
                    <a:pt x="3298229" y="69739"/>
                    <a:pt x="3405388" y="171193"/>
                    <a:pt x="3422538" y="242658"/>
                  </a:cubicBezTo>
                  <a:cubicBezTo>
                    <a:pt x="3582161" y="269549"/>
                    <a:pt x="3691723" y="378232"/>
                    <a:pt x="3749805" y="449022"/>
                  </a:cubicBezTo>
                  <a:cubicBezTo>
                    <a:pt x="3801821" y="526800"/>
                    <a:pt x="3774623" y="581186"/>
                    <a:pt x="3735156" y="672793"/>
                  </a:cubicBezTo>
                  <a:cubicBezTo>
                    <a:pt x="3860749" y="770425"/>
                    <a:pt x="3909518" y="919190"/>
                    <a:pt x="3842161" y="1014935"/>
                  </a:cubicBezTo>
                  <a:cubicBezTo>
                    <a:pt x="3827412" y="1216174"/>
                    <a:pt x="3604168" y="1340154"/>
                    <a:pt x="3340901" y="1314428"/>
                  </a:cubicBezTo>
                  <a:cubicBezTo>
                    <a:pt x="3351478" y="1424697"/>
                    <a:pt x="3265486" y="1494905"/>
                    <a:pt x="3161458" y="1571056"/>
                  </a:cubicBezTo>
                  <a:cubicBezTo>
                    <a:pt x="2957172" y="1701569"/>
                    <a:pt x="2777817" y="1689440"/>
                    <a:pt x="2550514" y="1602128"/>
                  </a:cubicBezTo>
                  <a:cubicBezTo>
                    <a:pt x="2527479" y="1696777"/>
                    <a:pt x="2316313" y="1832158"/>
                    <a:pt x="2113921" y="1875902"/>
                  </a:cubicBezTo>
                  <a:cubicBezTo>
                    <a:pt x="1861576" y="1918230"/>
                    <a:pt x="1615802" y="1900829"/>
                    <a:pt x="1471982" y="1708791"/>
                  </a:cubicBezTo>
                  <a:cubicBezTo>
                    <a:pt x="1125423" y="1823683"/>
                    <a:pt x="758609" y="1714880"/>
                    <a:pt x="518409" y="1543683"/>
                  </a:cubicBezTo>
                  <a:cubicBezTo>
                    <a:pt x="335723" y="1565891"/>
                    <a:pt x="170951" y="1483867"/>
                    <a:pt x="99144" y="1359948"/>
                  </a:cubicBezTo>
                  <a:cubicBezTo>
                    <a:pt x="39048" y="1280510"/>
                    <a:pt x="94394" y="1168577"/>
                    <a:pt x="188731" y="1111937"/>
                  </a:cubicBezTo>
                  <a:cubicBezTo>
                    <a:pt x="55532" y="1057380"/>
                    <a:pt x="-12904" y="941786"/>
                    <a:pt x="-447" y="857485"/>
                  </a:cubicBezTo>
                  <a:cubicBezTo>
                    <a:pt x="-21586" y="740944"/>
                    <a:pt x="184990" y="612237"/>
                    <a:pt x="345040" y="631320"/>
                  </a:cubicBezTo>
                  <a:cubicBezTo>
                    <a:pt x="346602" y="628932"/>
                    <a:pt x="347415" y="627349"/>
                    <a:pt x="348345" y="625358"/>
                  </a:cubicBezTo>
                  <a:close/>
                </a:path>
                <a:path w="3858596" h="1879993" fill="none" extrusionOk="0">
                  <a:moveTo>
                    <a:pt x="419175" y="1139180"/>
                  </a:moveTo>
                  <a:cubicBezTo>
                    <a:pt x="347069" y="1130153"/>
                    <a:pt x="270675" y="1121378"/>
                    <a:pt x="192929" y="1104495"/>
                  </a:cubicBezTo>
                  <a:moveTo>
                    <a:pt x="618804" y="1518747"/>
                  </a:moveTo>
                  <a:cubicBezTo>
                    <a:pt x="591220" y="1524306"/>
                    <a:pt x="557132" y="1529880"/>
                    <a:pt x="519838" y="1535327"/>
                  </a:cubicBezTo>
                  <a:moveTo>
                    <a:pt x="1471804" y="1701132"/>
                  </a:moveTo>
                  <a:cubicBezTo>
                    <a:pt x="1449441" y="1685757"/>
                    <a:pt x="1429269" y="1650764"/>
                    <a:pt x="1412138" y="1625410"/>
                  </a:cubicBezTo>
                  <a:moveTo>
                    <a:pt x="2574808" y="1512306"/>
                  </a:moveTo>
                  <a:cubicBezTo>
                    <a:pt x="2576137" y="1540758"/>
                    <a:pt x="2562765" y="1561859"/>
                    <a:pt x="2550960" y="1595382"/>
                  </a:cubicBezTo>
                  <a:moveTo>
                    <a:pt x="3048380" y="998920"/>
                  </a:moveTo>
                  <a:cubicBezTo>
                    <a:pt x="3208011" y="1058838"/>
                    <a:pt x="3365370" y="1207992"/>
                    <a:pt x="3338757" y="1309467"/>
                  </a:cubicBezTo>
                  <a:moveTo>
                    <a:pt x="3733370" y="668180"/>
                  </a:moveTo>
                  <a:cubicBezTo>
                    <a:pt x="3699164" y="725706"/>
                    <a:pt x="3673862" y="748130"/>
                    <a:pt x="3604035" y="784635"/>
                  </a:cubicBezTo>
                  <a:moveTo>
                    <a:pt x="3423074" y="236130"/>
                  </a:moveTo>
                  <a:cubicBezTo>
                    <a:pt x="3428755" y="252434"/>
                    <a:pt x="3431410" y="273172"/>
                    <a:pt x="3429863" y="291137"/>
                  </a:cubicBezTo>
                  <a:moveTo>
                    <a:pt x="2597228" y="171984"/>
                  </a:moveTo>
                  <a:cubicBezTo>
                    <a:pt x="2616805" y="142381"/>
                    <a:pt x="2639752" y="121847"/>
                    <a:pt x="2663503" y="101832"/>
                  </a:cubicBezTo>
                  <a:moveTo>
                    <a:pt x="1977619" y="205406"/>
                  </a:moveTo>
                  <a:cubicBezTo>
                    <a:pt x="1988009" y="185058"/>
                    <a:pt x="1995611" y="168014"/>
                    <a:pt x="2009685" y="144916"/>
                  </a:cubicBezTo>
                  <a:moveTo>
                    <a:pt x="1250470" y="225947"/>
                  </a:moveTo>
                  <a:cubicBezTo>
                    <a:pt x="1281842" y="238258"/>
                    <a:pt x="1343414" y="261244"/>
                    <a:pt x="1366586" y="284610"/>
                  </a:cubicBezTo>
                  <a:moveTo>
                    <a:pt x="368620" y="687111"/>
                  </a:moveTo>
                  <a:cubicBezTo>
                    <a:pt x="359371" y="664772"/>
                    <a:pt x="356233" y="643679"/>
                    <a:pt x="348345" y="625358"/>
                  </a:cubicBezTo>
                </a:path>
                <a:path w="3858596" h="1879993" stroke="0" extrusionOk="0">
                  <a:moveTo>
                    <a:pt x="348345" y="625358"/>
                  </a:moveTo>
                  <a:cubicBezTo>
                    <a:pt x="291394" y="487095"/>
                    <a:pt x="370991" y="391829"/>
                    <a:pt x="502242" y="300581"/>
                  </a:cubicBezTo>
                  <a:cubicBezTo>
                    <a:pt x="769657" y="177980"/>
                    <a:pt x="988464" y="131855"/>
                    <a:pt x="1250917" y="226382"/>
                  </a:cubicBezTo>
                  <a:cubicBezTo>
                    <a:pt x="1346658" y="91989"/>
                    <a:pt x="1769932" y="49448"/>
                    <a:pt x="2005755" y="149354"/>
                  </a:cubicBezTo>
                  <a:cubicBezTo>
                    <a:pt x="2060028" y="71610"/>
                    <a:pt x="2184237" y="26015"/>
                    <a:pt x="2299883" y="8703"/>
                  </a:cubicBezTo>
                  <a:cubicBezTo>
                    <a:pt x="2451712" y="-3000"/>
                    <a:pt x="2588686" y="13772"/>
                    <a:pt x="2664664" y="107969"/>
                  </a:cubicBezTo>
                  <a:cubicBezTo>
                    <a:pt x="2737080" y="3805"/>
                    <a:pt x="2979748" y="-8213"/>
                    <a:pt x="3167532" y="30027"/>
                  </a:cubicBezTo>
                  <a:cubicBezTo>
                    <a:pt x="3299943" y="57457"/>
                    <a:pt x="3388478" y="159547"/>
                    <a:pt x="3422538" y="242658"/>
                  </a:cubicBezTo>
                  <a:cubicBezTo>
                    <a:pt x="3592324" y="279242"/>
                    <a:pt x="3711647" y="350911"/>
                    <a:pt x="3749805" y="449022"/>
                  </a:cubicBezTo>
                  <a:cubicBezTo>
                    <a:pt x="3772952" y="520171"/>
                    <a:pt x="3787590" y="607310"/>
                    <a:pt x="3735156" y="672793"/>
                  </a:cubicBezTo>
                  <a:cubicBezTo>
                    <a:pt x="3850937" y="774701"/>
                    <a:pt x="3889462" y="919702"/>
                    <a:pt x="3842161" y="1014935"/>
                  </a:cubicBezTo>
                  <a:cubicBezTo>
                    <a:pt x="3803748" y="1206003"/>
                    <a:pt x="3593699" y="1302991"/>
                    <a:pt x="3340901" y="1314428"/>
                  </a:cubicBezTo>
                  <a:cubicBezTo>
                    <a:pt x="3357714" y="1397346"/>
                    <a:pt x="3275384" y="1501399"/>
                    <a:pt x="3161458" y="1571056"/>
                  </a:cubicBezTo>
                  <a:cubicBezTo>
                    <a:pt x="2936177" y="1677775"/>
                    <a:pt x="2732001" y="1674288"/>
                    <a:pt x="2550514" y="1602128"/>
                  </a:cubicBezTo>
                  <a:cubicBezTo>
                    <a:pt x="2454739" y="1736079"/>
                    <a:pt x="2320095" y="1838379"/>
                    <a:pt x="2113921" y="1875902"/>
                  </a:cubicBezTo>
                  <a:cubicBezTo>
                    <a:pt x="1869703" y="1898361"/>
                    <a:pt x="1589123" y="1861890"/>
                    <a:pt x="1471982" y="1708791"/>
                  </a:cubicBezTo>
                  <a:cubicBezTo>
                    <a:pt x="1109282" y="1897591"/>
                    <a:pt x="719527" y="1773417"/>
                    <a:pt x="518409" y="1543683"/>
                  </a:cubicBezTo>
                  <a:cubicBezTo>
                    <a:pt x="328413" y="1586276"/>
                    <a:pt x="157267" y="1477715"/>
                    <a:pt x="99144" y="1359948"/>
                  </a:cubicBezTo>
                  <a:cubicBezTo>
                    <a:pt x="55103" y="1281409"/>
                    <a:pt x="86754" y="1178769"/>
                    <a:pt x="188731" y="1111937"/>
                  </a:cubicBezTo>
                  <a:cubicBezTo>
                    <a:pt x="63010" y="1075137"/>
                    <a:pt x="-22419" y="961673"/>
                    <a:pt x="-447" y="857485"/>
                  </a:cubicBezTo>
                  <a:cubicBezTo>
                    <a:pt x="25862" y="711772"/>
                    <a:pt x="148422" y="642753"/>
                    <a:pt x="345040" y="631320"/>
                  </a:cubicBezTo>
                  <a:cubicBezTo>
                    <a:pt x="346157" y="629357"/>
                    <a:pt x="347059" y="628006"/>
                    <a:pt x="348345" y="625358"/>
                  </a:cubicBezTo>
                  <a:close/>
                </a:path>
                <a:path w="3858596" h="1879993" fill="none" stroke="0" extrusionOk="0">
                  <a:moveTo>
                    <a:pt x="419175" y="1139180"/>
                  </a:moveTo>
                  <a:cubicBezTo>
                    <a:pt x="342547" y="1134252"/>
                    <a:pt x="263237" y="1123742"/>
                    <a:pt x="192929" y="1104495"/>
                  </a:cubicBezTo>
                  <a:moveTo>
                    <a:pt x="618804" y="1518747"/>
                  </a:moveTo>
                  <a:cubicBezTo>
                    <a:pt x="585725" y="1533955"/>
                    <a:pt x="547520" y="1526010"/>
                    <a:pt x="519838" y="1535327"/>
                  </a:cubicBezTo>
                  <a:moveTo>
                    <a:pt x="1471804" y="1701132"/>
                  </a:moveTo>
                  <a:cubicBezTo>
                    <a:pt x="1453903" y="1682159"/>
                    <a:pt x="1426984" y="1652270"/>
                    <a:pt x="1412138" y="1625410"/>
                  </a:cubicBezTo>
                  <a:moveTo>
                    <a:pt x="2574808" y="1512306"/>
                  </a:moveTo>
                  <a:cubicBezTo>
                    <a:pt x="2570255" y="1540837"/>
                    <a:pt x="2563194" y="1563740"/>
                    <a:pt x="2550960" y="1595382"/>
                  </a:cubicBezTo>
                  <a:moveTo>
                    <a:pt x="3048380" y="998920"/>
                  </a:moveTo>
                  <a:cubicBezTo>
                    <a:pt x="3216810" y="1060632"/>
                    <a:pt x="3337915" y="1214597"/>
                    <a:pt x="3338757" y="1309467"/>
                  </a:cubicBezTo>
                  <a:moveTo>
                    <a:pt x="3733370" y="668180"/>
                  </a:moveTo>
                  <a:cubicBezTo>
                    <a:pt x="3694813" y="704740"/>
                    <a:pt x="3675787" y="754375"/>
                    <a:pt x="3604035" y="784635"/>
                  </a:cubicBezTo>
                  <a:moveTo>
                    <a:pt x="3423074" y="236130"/>
                  </a:moveTo>
                  <a:cubicBezTo>
                    <a:pt x="3423502" y="253849"/>
                    <a:pt x="3427285" y="274011"/>
                    <a:pt x="3429863" y="291137"/>
                  </a:cubicBezTo>
                  <a:moveTo>
                    <a:pt x="2597228" y="171984"/>
                  </a:moveTo>
                  <a:cubicBezTo>
                    <a:pt x="2608719" y="140335"/>
                    <a:pt x="2636861" y="116495"/>
                    <a:pt x="2663503" y="101832"/>
                  </a:cubicBezTo>
                  <a:moveTo>
                    <a:pt x="1977619" y="205406"/>
                  </a:moveTo>
                  <a:cubicBezTo>
                    <a:pt x="1980993" y="189519"/>
                    <a:pt x="1993436" y="168773"/>
                    <a:pt x="2009685" y="144916"/>
                  </a:cubicBezTo>
                  <a:moveTo>
                    <a:pt x="1250470" y="225947"/>
                  </a:moveTo>
                  <a:cubicBezTo>
                    <a:pt x="1290670" y="242781"/>
                    <a:pt x="1332928" y="265745"/>
                    <a:pt x="1366586" y="284610"/>
                  </a:cubicBezTo>
                  <a:moveTo>
                    <a:pt x="368620" y="687111"/>
                  </a:moveTo>
                  <a:cubicBezTo>
                    <a:pt x="357025" y="666502"/>
                    <a:pt x="352446" y="641466"/>
                    <a:pt x="348345" y="625358"/>
                  </a:cubicBezTo>
                </a:path>
              </a:pathLst>
            </a:cu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  <a:extLst>
                <a:ext uri="{C807C97D-BFC1-408E-A445-0C87EB9F89A2}">
                  <ask:lineSketchStyleProps xmlns:ask="http://schemas.microsoft.com/office/drawing/2018/sketchyshapes" sd="1219033472">
                    <a:prstGeom prst="cloud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30" name="Text Box 27">
              <a:extLst>
                <a:ext uri="{FF2B5EF4-FFF2-40B4-BE49-F238E27FC236}">
                  <a16:creationId xmlns:a16="http://schemas.microsoft.com/office/drawing/2014/main" id="{485AD45D-46B6-294C-897A-B0F9C40D4B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9517" y="5039332"/>
              <a:ext cx="950927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dirty="0">
                  <a:solidFill>
                    <a:schemeClr val="bg2">
                      <a:lumMod val="50000"/>
                    </a:schemeClr>
                  </a:solidFill>
                  <a:latin typeface="+mn-lt"/>
                </a:rPr>
                <a:t>1.2.3.*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B6F42F6-0DDD-194E-8C63-3AA3B0A4D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(Some of) What happens…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7D0176-6FA9-0B46-A38D-C7C064EB9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93FFB-734A-FA43-9AEC-5C5830C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22D0CB-FB56-D946-B718-9727AF300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8" name="Line 5">
            <a:extLst>
              <a:ext uri="{FF2B5EF4-FFF2-40B4-BE49-F238E27FC236}">
                <a16:creationId xmlns:a16="http://schemas.microsoft.com/office/drawing/2014/main" id="{B92E7A3F-692B-814D-BD5B-AFAEDD7EE3AA}"/>
              </a:ext>
            </a:extLst>
          </p:cNvPr>
          <p:cNvSpPr>
            <a:spLocks noChangeShapeType="1"/>
          </p:cNvSpPr>
          <p:nvPr/>
        </p:nvSpPr>
        <p:spPr bwMode="auto">
          <a:xfrm>
            <a:off x="1083055" y="3980256"/>
            <a:ext cx="2590805" cy="0"/>
          </a:xfrm>
          <a:prstGeom prst="line">
            <a:avLst/>
          </a:prstGeom>
          <a:noFill/>
          <a:ln w="76200" cmpd="tri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9" name="Line 6">
            <a:extLst>
              <a:ext uri="{FF2B5EF4-FFF2-40B4-BE49-F238E27FC236}">
                <a16:creationId xmlns:a16="http://schemas.microsoft.com/office/drawing/2014/main" id="{6BD954EF-1590-8E4B-AA54-7F86EDF2924E}"/>
              </a:ext>
            </a:extLst>
          </p:cNvPr>
          <p:cNvSpPr>
            <a:spLocks noChangeShapeType="1"/>
          </p:cNvSpPr>
          <p:nvPr/>
        </p:nvSpPr>
        <p:spPr bwMode="auto">
          <a:xfrm>
            <a:off x="1387855" y="3675456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10" name="Line 7">
            <a:extLst>
              <a:ext uri="{FF2B5EF4-FFF2-40B4-BE49-F238E27FC236}">
                <a16:creationId xmlns:a16="http://schemas.microsoft.com/office/drawing/2014/main" id="{CB64F382-2839-034E-A958-5D48EEE3CC28}"/>
              </a:ext>
            </a:extLst>
          </p:cNvPr>
          <p:cNvSpPr>
            <a:spLocks noChangeShapeType="1"/>
          </p:cNvSpPr>
          <p:nvPr/>
        </p:nvSpPr>
        <p:spPr bwMode="auto">
          <a:xfrm>
            <a:off x="2302257" y="3675456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11" name="Line 8">
            <a:extLst>
              <a:ext uri="{FF2B5EF4-FFF2-40B4-BE49-F238E27FC236}">
                <a16:creationId xmlns:a16="http://schemas.microsoft.com/office/drawing/2014/main" id="{201AC7BE-14F4-CF48-A67B-4C2E5D9469ED}"/>
              </a:ext>
            </a:extLst>
          </p:cNvPr>
          <p:cNvSpPr>
            <a:spLocks noChangeShapeType="1"/>
          </p:cNvSpPr>
          <p:nvPr/>
        </p:nvSpPr>
        <p:spPr bwMode="auto">
          <a:xfrm>
            <a:off x="3369059" y="3675456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386B82BC-92BC-E245-90CD-519EB9AB40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3217" y="3386531"/>
            <a:ext cx="573088" cy="338138"/>
          </a:xfrm>
          <a:prstGeom prst="rect">
            <a:avLst/>
          </a:prstGeom>
          <a:solidFill>
            <a:srgbClr val="FF330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 eaLnBrk="0" hangingPunct="0"/>
            <a:r>
              <a:rPr lang="en-US" sz="1600" b="0" dirty="0">
                <a:solidFill>
                  <a:schemeClr val="bg1"/>
                </a:solidFill>
              </a:rPr>
              <a:t>host</a:t>
            </a:r>
          </a:p>
        </p:txBody>
      </p:sp>
      <p:sp>
        <p:nvSpPr>
          <p:cNvPr id="13" name="Rectangle 10">
            <a:extLst>
              <a:ext uri="{FF2B5EF4-FFF2-40B4-BE49-F238E27FC236}">
                <a16:creationId xmlns:a16="http://schemas.microsoft.com/office/drawing/2014/main" id="{7D7F1180-DE4E-0049-AE4B-97BBED1689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2219" y="3386531"/>
            <a:ext cx="573088" cy="33813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 eaLnBrk="0" hangingPunct="0"/>
            <a:r>
              <a:rPr lang="en-US" sz="1600" b="0" dirty="0"/>
              <a:t>host</a:t>
            </a:r>
          </a:p>
        </p:txBody>
      </p:sp>
      <p:sp>
        <p:nvSpPr>
          <p:cNvPr id="14" name="Rectangle 11">
            <a:extLst>
              <a:ext uri="{FF2B5EF4-FFF2-40B4-BE49-F238E27FC236}">
                <a16:creationId xmlns:a16="http://schemas.microsoft.com/office/drawing/2014/main" id="{35C120B9-9D04-5D4E-8E03-732AB70F3A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9971" y="3386531"/>
            <a:ext cx="615951" cy="338138"/>
          </a:xfrm>
          <a:prstGeom prst="rect">
            <a:avLst/>
          </a:prstGeom>
          <a:solidFill>
            <a:srgbClr val="00990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 eaLnBrk="0" hangingPunct="0"/>
            <a:r>
              <a:rPr lang="en-US" sz="1600" b="0" dirty="0">
                <a:solidFill>
                  <a:schemeClr val="accent2"/>
                </a:solidFill>
              </a:rPr>
              <a:t>DNS</a:t>
            </a:r>
          </a:p>
        </p:txBody>
      </p:sp>
      <p:sp>
        <p:nvSpPr>
          <p:cNvPr id="15" name="Text Box 12">
            <a:extLst>
              <a:ext uri="{FF2B5EF4-FFF2-40B4-BE49-F238E27FC236}">
                <a16:creationId xmlns:a16="http://schemas.microsoft.com/office/drawing/2014/main" id="{0442CCE2-755A-E547-AC01-1867068EB1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7058" y="3292868"/>
            <a:ext cx="3571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600" b="0" dirty="0">
                <a:latin typeface="+mn-lt"/>
              </a:rPr>
              <a:t>...</a:t>
            </a:r>
          </a:p>
        </p:txBody>
      </p:sp>
      <p:sp>
        <p:nvSpPr>
          <p:cNvPr id="24" name="AutoShape 21">
            <a:extLst>
              <a:ext uri="{FF2B5EF4-FFF2-40B4-BE49-F238E27FC236}">
                <a16:creationId xmlns:a16="http://schemas.microsoft.com/office/drawing/2014/main" id="{6255765C-F657-3041-8137-C39887BB8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5861" y="4699393"/>
            <a:ext cx="609601" cy="381000"/>
          </a:xfrm>
          <a:prstGeom prst="roundRect">
            <a:avLst>
              <a:gd name="adj" fmla="val 16667"/>
            </a:avLst>
          </a:prstGeom>
          <a:solidFill>
            <a:srgbClr val="D3A60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1600" b="0"/>
              <a:t>router</a:t>
            </a:r>
          </a:p>
        </p:txBody>
      </p:sp>
      <p:sp>
        <p:nvSpPr>
          <p:cNvPr id="25" name="Line 22">
            <a:extLst>
              <a:ext uri="{FF2B5EF4-FFF2-40B4-BE49-F238E27FC236}">
                <a16:creationId xmlns:a16="http://schemas.microsoft.com/office/drawing/2014/main" id="{03130648-77D8-C849-80A0-50F4FA5FD13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29321" y="3940568"/>
            <a:ext cx="0" cy="7556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6" name="AutoShape 23">
            <a:extLst>
              <a:ext uri="{FF2B5EF4-FFF2-40B4-BE49-F238E27FC236}">
                <a16:creationId xmlns:a16="http://schemas.microsoft.com/office/drawing/2014/main" id="{F0FFF321-1EEF-B14E-ACC8-FE16D42109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4664" y="4699393"/>
            <a:ext cx="609601" cy="381000"/>
          </a:xfrm>
          <a:prstGeom prst="roundRect">
            <a:avLst>
              <a:gd name="adj" fmla="val 16667"/>
            </a:avLst>
          </a:prstGeom>
          <a:solidFill>
            <a:srgbClr val="D3A60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1600" b="0"/>
              <a:t>router</a:t>
            </a:r>
          </a:p>
        </p:txBody>
      </p:sp>
      <p:sp>
        <p:nvSpPr>
          <p:cNvPr id="27" name="Line 24">
            <a:extLst>
              <a:ext uri="{FF2B5EF4-FFF2-40B4-BE49-F238E27FC236}">
                <a16:creationId xmlns:a16="http://schemas.microsoft.com/office/drawing/2014/main" id="{D9AD64E6-762E-E14E-8A83-BEB8E9AE3C6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578989" y="3983430"/>
            <a:ext cx="0" cy="7159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8" name="Line 25">
            <a:extLst>
              <a:ext uri="{FF2B5EF4-FFF2-40B4-BE49-F238E27FC236}">
                <a16:creationId xmlns:a16="http://schemas.microsoft.com/office/drawing/2014/main" id="{8BAF9ABF-10D7-AE4A-B06E-69DC2132B0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216659" y="4851793"/>
            <a:ext cx="1219202" cy="0"/>
          </a:xfrm>
          <a:prstGeom prst="line">
            <a:avLst/>
          </a:prstGeom>
          <a:noFill/>
          <a:ln w="7620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 dirty="0"/>
          </a:p>
        </p:txBody>
      </p:sp>
      <p:sp>
        <p:nvSpPr>
          <p:cNvPr id="29" name="Line 26">
            <a:extLst>
              <a:ext uri="{FF2B5EF4-FFF2-40B4-BE49-F238E27FC236}">
                <a16:creationId xmlns:a16="http://schemas.microsoft.com/office/drawing/2014/main" id="{E08EAC09-9063-5047-BD71-9CD1F3A5C8C4}"/>
              </a:ext>
            </a:extLst>
          </p:cNvPr>
          <p:cNvSpPr>
            <a:spLocks noChangeShapeType="1"/>
          </p:cNvSpPr>
          <p:nvPr/>
        </p:nvSpPr>
        <p:spPr bwMode="auto">
          <a:xfrm>
            <a:off x="5045462" y="4851793"/>
            <a:ext cx="1219202" cy="0"/>
          </a:xfrm>
          <a:prstGeom prst="line">
            <a:avLst/>
          </a:prstGeom>
          <a:noFill/>
          <a:ln w="7620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32" name="Text Box 30">
            <a:extLst>
              <a:ext uri="{FF2B5EF4-FFF2-40B4-BE49-F238E27FC236}">
                <a16:creationId xmlns:a16="http://schemas.microsoft.com/office/drawing/2014/main" id="{22371197-E9BB-8C4E-A93F-5632E1F33F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4070" y="3059506"/>
            <a:ext cx="114617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800" b="0" dirty="0">
                <a:latin typeface="+mn-lt"/>
              </a:rPr>
              <a:t>1.2.3.156</a:t>
            </a:r>
          </a:p>
        </p:txBody>
      </p:sp>
      <p:sp>
        <p:nvSpPr>
          <p:cNvPr id="33" name="Text Box 31">
            <a:extLst>
              <a:ext uri="{FF2B5EF4-FFF2-40B4-BE49-F238E27FC236}">
                <a16:creationId xmlns:a16="http://schemas.microsoft.com/office/drawing/2014/main" id="{5C01E7E3-499C-7F4F-B465-6B78FE6D6D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7317" y="3059506"/>
            <a:ext cx="1017589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800" b="0" dirty="0">
                <a:solidFill>
                  <a:srgbClr val="FF3300"/>
                </a:solidFill>
                <a:latin typeface="+mn-lt"/>
              </a:rPr>
              <a:t>1.2.3.48</a:t>
            </a:r>
          </a:p>
        </p:txBody>
      </p:sp>
      <p:sp>
        <p:nvSpPr>
          <p:cNvPr id="34" name="Text Box 32">
            <a:extLst>
              <a:ext uri="{FF2B5EF4-FFF2-40B4-BE49-F238E27FC236}">
                <a16:creationId xmlns:a16="http://schemas.microsoft.com/office/drawing/2014/main" id="{9412C611-4963-E148-9205-A1736A31BF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3296" y="4313631"/>
            <a:ext cx="1017589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800" b="0">
                <a:latin typeface="+mn-lt"/>
              </a:rPr>
              <a:t>1.2.3.19</a:t>
            </a:r>
          </a:p>
        </p:txBody>
      </p:sp>
      <p:sp>
        <p:nvSpPr>
          <p:cNvPr id="35" name="AutoShape 33">
            <a:extLst>
              <a:ext uri="{FF2B5EF4-FFF2-40B4-BE49-F238E27FC236}">
                <a16:creationId xmlns:a16="http://schemas.microsoft.com/office/drawing/2014/main" id="{0722595B-6149-CA4F-958B-07CD465AAE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7695" y="4696218"/>
            <a:ext cx="609601" cy="381000"/>
          </a:xfrm>
          <a:prstGeom prst="roundRect">
            <a:avLst>
              <a:gd name="adj" fmla="val 16667"/>
            </a:avLst>
          </a:prstGeom>
          <a:solidFill>
            <a:srgbClr val="D3A60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1600" b="0"/>
              <a:t>router</a:t>
            </a:r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6EF4FB82-AF8F-0241-9442-A2536A440A1D}"/>
              </a:ext>
            </a:extLst>
          </p:cNvPr>
          <p:cNvSpPr/>
          <p:nvPr/>
        </p:nvSpPr>
        <p:spPr>
          <a:xfrm>
            <a:off x="1363488" y="3739856"/>
            <a:ext cx="6778200" cy="1264337"/>
          </a:xfrm>
          <a:custGeom>
            <a:avLst/>
            <a:gdLst>
              <a:gd name="connsiteX0" fmla="*/ 139186 w 6778200"/>
              <a:gd name="connsiteY0" fmla="*/ 40529 h 1264337"/>
              <a:gd name="connsiteX1" fmla="*/ 152698 w 6778200"/>
              <a:gd name="connsiteY1" fmla="*/ 391789 h 1264337"/>
              <a:gd name="connsiteX2" fmla="*/ 1693024 w 6778200"/>
              <a:gd name="connsiteY2" fmla="*/ 486359 h 1264337"/>
              <a:gd name="connsiteX3" fmla="*/ 1733559 w 6778200"/>
              <a:gd name="connsiteY3" fmla="*/ 1202387 h 1264337"/>
              <a:gd name="connsiteX4" fmla="*/ 5057422 w 6778200"/>
              <a:gd name="connsiteY4" fmla="*/ 1121327 h 1264337"/>
              <a:gd name="connsiteX5" fmla="*/ 5124980 w 6778200"/>
              <a:gd name="connsiteY5" fmla="*/ 270199 h 1264337"/>
              <a:gd name="connsiteX6" fmla="*/ 6624772 w 6778200"/>
              <a:gd name="connsiteY6" fmla="*/ 216159 h 1264337"/>
              <a:gd name="connsiteX7" fmla="*/ 6651795 w 6778200"/>
              <a:gd name="connsiteY7" fmla="*/ 0 h 1264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778200" h="1264337">
                <a:moveTo>
                  <a:pt x="139186" y="40529"/>
                </a:moveTo>
                <a:cubicBezTo>
                  <a:pt x="16455" y="179006"/>
                  <a:pt x="-106275" y="317484"/>
                  <a:pt x="152698" y="391789"/>
                </a:cubicBezTo>
                <a:cubicBezTo>
                  <a:pt x="411671" y="466094"/>
                  <a:pt x="1429547" y="351259"/>
                  <a:pt x="1693024" y="486359"/>
                </a:cubicBezTo>
                <a:cubicBezTo>
                  <a:pt x="1956501" y="621459"/>
                  <a:pt x="1172826" y="1096559"/>
                  <a:pt x="1733559" y="1202387"/>
                </a:cubicBezTo>
                <a:cubicBezTo>
                  <a:pt x="2294292" y="1308215"/>
                  <a:pt x="4492185" y="1276692"/>
                  <a:pt x="5057422" y="1121327"/>
                </a:cubicBezTo>
                <a:cubicBezTo>
                  <a:pt x="5622659" y="965962"/>
                  <a:pt x="4863755" y="421060"/>
                  <a:pt x="5124980" y="270199"/>
                </a:cubicBezTo>
                <a:cubicBezTo>
                  <a:pt x="5386205" y="119338"/>
                  <a:pt x="6370303" y="261192"/>
                  <a:pt x="6624772" y="216159"/>
                </a:cubicBezTo>
                <a:cubicBezTo>
                  <a:pt x="6879241" y="171126"/>
                  <a:pt x="6765518" y="85563"/>
                  <a:pt x="6651795" y="0"/>
                </a:cubicBezTo>
              </a:path>
            </a:pathLst>
          </a:custGeom>
          <a:ln w="28575" cmpd="sng">
            <a:solidFill>
              <a:srgbClr val="008000"/>
            </a:solidFill>
            <a:headEnd type="none"/>
            <a:tailEnd type="triangle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4839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2" grpId="0"/>
      <p:bldP spid="34" grpId="0"/>
      <p:bldP spid="35" grpId="0" animBg="1"/>
      <p:bldP spid="3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8808C3F3-AAC9-6E48-B9A8-97405BE6ABB2}"/>
              </a:ext>
            </a:extLst>
          </p:cNvPr>
          <p:cNvSpPr/>
          <p:nvPr/>
        </p:nvSpPr>
        <p:spPr bwMode="auto">
          <a:xfrm>
            <a:off x="7697227" y="2062480"/>
            <a:ext cx="640080" cy="182880"/>
          </a:xfrm>
          <a:prstGeom prst="rect">
            <a:avLst/>
          </a:prstGeom>
          <a:solidFill>
            <a:srgbClr val="333399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2938163-4198-9E43-BECD-168DA8278F1D}"/>
              </a:ext>
            </a:extLst>
          </p:cNvPr>
          <p:cNvSpPr/>
          <p:nvPr/>
        </p:nvSpPr>
        <p:spPr bwMode="auto">
          <a:xfrm>
            <a:off x="7697227" y="2057400"/>
            <a:ext cx="640080" cy="182880"/>
          </a:xfrm>
          <a:prstGeom prst="rect">
            <a:avLst/>
          </a:prstGeom>
          <a:solidFill>
            <a:srgbClr val="333399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7A233D0-A6D5-954C-8192-42C322ACE580}"/>
              </a:ext>
            </a:extLst>
          </p:cNvPr>
          <p:cNvGrpSpPr/>
          <p:nvPr/>
        </p:nvGrpSpPr>
        <p:grpSpPr>
          <a:xfrm>
            <a:off x="5456580" y="2667000"/>
            <a:ext cx="3469728" cy="2794388"/>
            <a:chOff x="5503812" y="3758807"/>
            <a:chExt cx="3469728" cy="2794388"/>
          </a:xfrm>
        </p:grpSpPr>
        <p:sp>
          <p:nvSpPr>
            <p:cNvPr id="61" name="Cloud 60">
              <a:extLst>
                <a:ext uri="{FF2B5EF4-FFF2-40B4-BE49-F238E27FC236}">
                  <a16:creationId xmlns:a16="http://schemas.microsoft.com/office/drawing/2014/main" id="{4613C81F-348B-4341-837A-AE1A8D86ACEA}"/>
                </a:ext>
              </a:extLst>
            </p:cNvPr>
            <p:cNvSpPr/>
            <p:nvPr/>
          </p:nvSpPr>
          <p:spPr bwMode="auto">
            <a:xfrm>
              <a:off x="5503812" y="3758807"/>
              <a:ext cx="3469728" cy="2794388"/>
            </a:xfrm>
            <a:custGeom>
              <a:avLst/>
              <a:gdLst>
                <a:gd name="connsiteX0" fmla="*/ 313239 w 3469728"/>
                <a:gd name="connsiteY0" fmla="*/ 929522 h 2794388"/>
                <a:gd name="connsiteX1" fmla="*/ 451626 w 3469728"/>
                <a:gd name="connsiteY1" fmla="*/ 446778 h 2794388"/>
                <a:gd name="connsiteX2" fmla="*/ 1124850 w 3469728"/>
                <a:gd name="connsiteY2" fmla="*/ 336490 h 2794388"/>
                <a:gd name="connsiteX3" fmla="*/ 1803616 w 3469728"/>
                <a:gd name="connsiteY3" fmla="*/ 221998 h 2794388"/>
                <a:gd name="connsiteX4" fmla="*/ 2068102 w 3469728"/>
                <a:gd name="connsiteY4" fmla="*/ 12936 h 2794388"/>
                <a:gd name="connsiteX5" fmla="*/ 2396120 w 3469728"/>
                <a:gd name="connsiteY5" fmla="*/ 160483 h 2794388"/>
                <a:gd name="connsiteX6" fmla="*/ 2848309 w 3469728"/>
                <a:gd name="connsiteY6" fmla="*/ 44632 h 2794388"/>
                <a:gd name="connsiteX7" fmla="*/ 3077616 w 3469728"/>
                <a:gd name="connsiteY7" fmla="*/ 360683 h 2794388"/>
                <a:gd name="connsiteX8" fmla="*/ 3371900 w 3469728"/>
                <a:gd name="connsiteY8" fmla="*/ 667418 h 2794388"/>
                <a:gd name="connsiteX9" fmla="*/ 3358728 w 3469728"/>
                <a:gd name="connsiteY9" fmla="*/ 1000028 h 2794388"/>
                <a:gd name="connsiteX10" fmla="*/ 3454949 w 3469728"/>
                <a:gd name="connsiteY10" fmla="*/ 1508581 h 2794388"/>
                <a:gd name="connsiteX11" fmla="*/ 3004206 w 3469728"/>
                <a:gd name="connsiteY11" fmla="*/ 1953742 h 2794388"/>
                <a:gd name="connsiteX12" fmla="*/ 2842847 w 3469728"/>
                <a:gd name="connsiteY12" fmla="*/ 2335189 h 2794388"/>
                <a:gd name="connsiteX13" fmla="*/ 2293474 w 3469728"/>
                <a:gd name="connsiteY13" fmla="*/ 2381374 h 2794388"/>
                <a:gd name="connsiteX14" fmla="*/ 1900880 w 3469728"/>
                <a:gd name="connsiteY14" fmla="*/ 2788307 h 2794388"/>
                <a:gd name="connsiteX15" fmla="*/ 1323636 w 3469728"/>
                <a:gd name="connsiteY15" fmla="*/ 2539917 h 2794388"/>
                <a:gd name="connsiteX16" fmla="*/ 466164 w 3469728"/>
                <a:gd name="connsiteY16" fmla="*/ 2294503 h 2794388"/>
                <a:gd name="connsiteX17" fmla="*/ 89152 w 3469728"/>
                <a:gd name="connsiteY17" fmla="*/ 2021403 h 2794388"/>
                <a:gd name="connsiteX18" fmla="*/ 169711 w 3469728"/>
                <a:gd name="connsiteY18" fmla="*/ 1652764 h 2794388"/>
                <a:gd name="connsiteX19" fmla="*/ -402 w 3469728"/>
                <a:gd name="connsiteY19" fmla="*/ 1274551 h 2794388"/>
                <a:gd name="connsiteX20" fmla="*/ 310267 w 3469728"/>
                <a:gd name="connsiteY20" fmla="*/ 938383 h 2794388"/>
                <a:gd name="connsiteX21" fmla="*/ 313239 w 3469728"/>
                <a:gd name="connsiteY21" fmla="*/ 929522 h 2794388"/>
                <a:gd name="connsiteX0" fmla="*/ 376931 w 3469728"/>
                <a:gd name="connsiteY0" fmla="*/ 1693256 h 2794388"/>
                <a:gd name="connsiteX1" fmla="*/ 173486 w 3469728"/>
                <a:gd name="connsiteY1" fmla="*/ 1641702 h 2794388"/>
                <a:gd name="connsiteX2" fmla="*/ 556441 w 3469728"/>
                <a:gd name="connsiteY2" fmla="*/ 2257438 h 2794388"/>
                <a:gd name="connsiteX3" fmla="*/ 467449 w 3469728"/>
                <a:gd name="connsiteY3" fmla="*/ 2282083 h 2794388"/>
                <a:gd name="connsiteX4" fmla="*/ 1323476 w 3469728"/>
                <a:gd name="connsiteY4" fmla="*/ 2528533 h 2794388"/>
                <a:gd name="connsiteX5" fmla="*/ 1269824 w 3469728"/>
                <a:gd name="connsiteY5" fmla="*/ 2415981 h 2794388"/>
                <a:gd name="connsiteX6" fmla="*/ 2315320 w 3469728"/>
                <a:gd name="connsiteY6" fmla="*/ 2247865 h 2794388"/>
                <a:gd name="connsiteX7" fmla="*/ 2293875 w 3469728"/>
                <a:gd name="connsiteY7" fmla="*/ 2371348 h 2794388"/>
                <a:gd name="connsiteX8" fmla="*/ 2741165 w 3469728"/>
                <a:gd name="connsiteY8" fmla="*/ 1484777 h 2794388"/>
                <a:gd name="connsiteX9" fmla="*/ 3002278 w 3469728"/>
                <a:gd name="connsiteY9" fmla="*/ 1946368 h 2794388"/>
                <a:gd name="connsiteX10" fmla="*/ 3357122 w 3469728"/>
                <a:gd name="connsiteY10" fmla="*/ 993172 h 2794388"/>
                <a:gd name="connsiteX11" fmla="*/ 3240822 w 3469728"/>
                <a:gd name="connsiteY11" fmla="*/ 1166268 h 2794388"/>
                <a:gd name="connsiteX12" fmla="*/ 3078098 w 3469728"/>
                <a:gd name="connsiteY12" fmla="*/ 350980 h 2794388"/>
                <a:gd name="connsiteX13" fmla="*/ 3084202 w 3469728"/>
                <a:gd name="connsiteY13" fmla="*/ 432742 h 2794388"/>
                <a:gd name="connsiteX14" fmla="*/ 2335480 w 3469728"/>
                <a:gd name="connsiteY14" fmla="*/ 255634 h 2794388"/>
                <a:gd name="connsiteX15" fmla="*/ 2395076 w 3469728"/>
                <a:gd name="connsiteY15" fmla="*/ 151362 h 2794388"/>
                <a:gd name="connsiteX16" fmla="*/ 1778315 w 3469728"/>
                <a:gd name="connsiteY16" fmla="*/ 305312 h 2794388"/>
                <a:gd name="connsiteX17" fmla="*/ 1807150 w 3469728"/>
                <a:gd name="connsiteY17" fmla="*/ 215400 h 2794388"/>
                <a:gd name="connsiteX18" fmla="*/ 1124448 w 3469728"/>
                <a:gd name="connsiteY18" fmla="*/ 335844 h 2794388"/>
                <a:gd name="connsiteX19" fmla="*/ 1228862 w 3469728"/>
                <a:gd name="connsiteY19" fmla="*/ 423039 h 2794388"/>
                <a:gd name="connsiteX20" fmla="*/ 331471 w 3469728"/>
                <a:gd name="connsiteY20" fmla="*/ 1021310 h 2794388"/>
                <a:gd name="connsiteX21" fmla="*/ 313239 w 3469728"/>
                <a:gd name="connsiteY21" fmla="*/ 929522 h 2794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469728" h="2794388" fill="none" extrusionOk="0">
                  <a:moveTo>
                    <a:pt x="313239" y="929522"/>
                  </a:moveTo>
                  <a:cubicBezTo>
                    <a:pt x="272348" y="792424"/>
                    <a:pt x="318671" y="545790"/>
                    <a:pt x="451626" y="446778"/>
                  </a:cubicBezTo>
                  <a:cubicBezTo>
                    <a:pt x="684374" y="259784"/>
                    <a:pt x="903392" y="168041"/>
                    <a:pt x="1124850" y="336490"/>
                  </a:cubicBezTo>
                  <a:cubicBezTo>
                    <a:pt x="1313990" y="93301"/>
                    <a:pt x="1567421" y="8451"/>
                    <a:pt x="1803616" y="221998"/>
                  </a:cubicBezTo>
                  <a:cubicBezTo>
                    <a:pt x="1853829" y="112824"/>
                    <a:pt x="1952655" y="26518"/>
                    <a:pt x="2068102" y="12936"/>
                  </a:cubicBezTo>
                  <a:cubicBezTo>
                    <a:pt x="2218994" y="-25583"/>
                    <a:pt x="2322975" y="43209"/>
                    <a:pt x="2396120" y="160483"/>
                  </a:cubicBezTo>
                  <a:cubicBezTo>
                    <a:pt x="2480209" y="6954"/>
                    <a:pt x="2723604" y="-62087"/>
                    <a:pt x="2848309" y="44632"/>
                  </a:cubicBezTo>
                  <a:cubicBezTo>
                    <a:pt x="2936783" y="119016"/>
                    <a:pt x="3056700" y="225929"/>
                    <a:pt x="3077616" y="360683"/>
                  </a:cubicBezTo>
                  <a:cubicBezTo>
                    <a:pt x="3225190" y="400467"/>
                    <a:pt x="3322990" y="532064"/>
                    <a:pt x="3371900" y="667418"/>
                  </a:cubicBezTo>
                  <a:cubicBezTo>
                    <a:pt x="3407700" y="777240"/>
                    <a:pt x="3392065" y="869011"/>
                    <a:pt x="3358728" y="1000028"/>
                  </a:cubicBezTo>
                  <a:cubicBezTo>
                    <a:pt x="3498961" y="1145772"/>
                    <a:pt x="3528410" y="1366036"/>
                    <a:pt x="3454949" y="1508581"/>
                  </a:cubicBezTo>
                  <a:cubicBezTo>
                    <a:pt x="3448532" y="1788900"/>
                    <a:pt x="3243218" y="1968899"/>
                    <a:pt x="3004206" y="1953742"/>
                  </a:cubicBezTo>
                  <a:cubicBezTo>
                    <a:pt x="3007619" y="2104792"/>
                    <a:pt x="2941128" y="2235229"/>
                    <a:pt x="2842847" y="2335189"/>
                  </a:cubicBezTo>
                  <a:cubicBezTo>
                    <a:pt x="2657672" y="2511484"/>
                    <a:pt x="2507656" y="2508692"/>
                    <a:pt x="2293474" y="2381374"/>
                  </a:cubicBezTo>
                  <a:cubicBezTo>
                    <a:pt x="2257239" y="2563116"/>
                    <a:pt x="2065516" y="2698470"/>
                    <a:pt x="1900880" y="2788307"/>
                  </a:cubicBezTo>
                  <a:cubicBezTo>
                    <a:pt x="1647983" y="2861416"/>
                    <a:pt x="1453686" y="2805401"/>
                    <a:pt x="1323636" y="2539917"/>
                  </a:cubicBezTo>
                  <a:cubicBezTo>
                    <a:pt x="991582" y="2697647"/>
                    <a:pt x="659717" y="2603735"/>
                    <a:pt x="466164" y="2294503"/>
                  </a:cubicBezTo>
                  <a:cubicBezTo>
                    <a:pt x="325597" y="2352232"/>
                    <a:pt x="177805" y="2207844"/>
                    <a:pt x="89152" y="2021403"/>
                  </a:cubicBezTo>
                  <a:cubicBezTo>
                    <a:pt x="27298" y="1901545"/>
                    <a:pt x="84450" y="1727886"/>
                    <a:pt x="169711" y="1652764"/>
                  </a:cubicBezTo>
                  <a:cubicBezTo>
                    <a:pt x="50048" y="1571984"/>
                    <a:pt x="-13969" y="1417475"/>
                    <a:pt x="-402" y="1274551"/>
                  </a:cubicBezTo>
                  <a:cubicBezTo>
                    <a:pt x="-11256" y="1098721"/>
                    <a:pt x="164387" y="931530"/>
                    <a:pt x="310267" y="938383"/>
                  </a:cubicBezTo>
                  <a:cubicBezTo>
                    <a:pt x="311386" y="935286"/>
                    <a:pt x="313055" y="932436"/>
                    <a:pt x="313239" y="929522"/>
                  </a:cubicBezTo>
                  <a:close/>
                </a:path>
                <a:path w="3469728" h="2794388" fill="none" extrusionOk="0">
                  <a:moveTo>
                    <a:pt x="376931" y="1693256"/>
                  </a:moveTo>
                  <a:cubicBezTo>
                    <a:pt x="315394" y="1681218"/>
                    <a:pt x="249298" y="1666409"/>
                    <a:pt x="173486" y="1641702"/>
                  </a:cubicBezTo>
                  <a:moveTo>
                    <a:pt x="556441" y="2257438"/>
                  </a:moveTo>
                  <a:cubicBezTo>
                    <a:pt x="535406" y="2264772"/>
                    <a:pt x="498807" y="2277494"/>
                    <a:pt x="467449" y="2282083"/>
                  </a:cubicBezTo>
                  <a:moveTo>
                    <a:pt x="1323476" y="2528533"/>
                  </a:moveTo>
                  <a:cubicBezTo>
                    <a:pt x="1303318" y="2500479"/>
                    <a:pt x="1289457" y="2450432"/>
                    <a:pt x="1269824" y="2415981"/>
                  </a:cubicBezTo>
                  <a:moveTo>
                    <a:pt x="2315320" y="2247865"/>
                  </a:moveTo>
                  <a:cubicBezTo>
                    <a:pt x="2320217" y="2290210"/>
                    <a:pt x="2304607" y="2326754"/>
                    <a:pt x="2293875" y="2371348"/>
                  </a:cubicBezTo>
                  <a:moveTo>
                    <a:pt x="2741165" y="1484777"/>
                  </a:moveTo>
                  <a:cubicBezTo>
                    <a:pt x="2847465" y="1576680"/>
                    <a:pt x="3033338" y="1786334"/>
                    <a:pt x="3002278" y="1946368"/>
                  </a:cubicBezTo>
                  <a:moveTo>
                    <a:pt x="3357122" y="993172"/>
                  </a:moveTo>
                  <a:cubicBezTo>
                    <a:pt x="3323228" y="1078910"/>
                    <a:pt x="3310275" y="1112500"/>
                    <a:pt x="3240822" y="1166268"/>
                  </a:cubicBezTo>
                  <a:moveTo>
                    <a:pt x="3078098" y="350980"/>
                  </a:moveTo>
                  <a:cubicBezTo>
                    <a:pt x="3082835" y="377184"/>
                    <a:pt x="3088178" y="406893"/>
                    <a:pt x="3084202" y="432742"/>
                  </a:cubicBezTo>
                  <a:moveTo>
                    <a:pt x="2335480" y="255634"/>
                  </a:moveTo>
                  <a:cubicBezTo>
                    <a:pt x="2356375" y="208951"/>
                    <a:pt x="2376407" y="180882"/>
                    <a:pt x="2395076" y="151362"/>
                  </a:cubicBezTo>
                  <a:moveTo>
                    <a:pt x="1778315" y="305312"/>
                  </a:moveTo>
                  <a:cubicBezTo>
                    <a:pt x="1793490" y="275743"/>
                    <a:pt x="1794516" y="247730"/>
                    <a:pt x="1807150" y="215400"/>
                  </a:cubicBezTo>
                  <a:moveTo>
                    <a:pt x="1124448" y="335844"/>
                  </a:moveTo>
                  <a:cubicBezTo>
                    <a:pt x="1161326" y="359777"/>
                    <a:pt x="1198866" y="389369"/>
                    <a:pt x="1228862" y="423039"/>
                  </a:cubicBezTo>
                  <a:moveTo>
                    <a:pt x="331471" y="1021310"/>
                  </a:moveTo>
                  <a:cubicBezTo>
                    <a:pt x="323122" y="988049"/>
                    <a:pt x="320992" y="957807"/>
                    <a:pt x="313239" y="929522"/>
                  </a:cubicBezTo>
                </a:path>
                <a:path w="3469728" h="2794388" stroke="0" extrusionOk="0">
                  <a:moveTo>
                    <a:pt x="313239" y="929522"/>
                  </a:moveTo>
                  <a:cubicBezTo>
                    <a:pt x="286111" y="750724"/>
                    <a:pt x="307415" y="590122"/>
                    <a:pt x="451626" y="446778"/>
                  </a:cubicBezTo>
                  <a:cubicBezTo>
                    <a:pt x="685706" y="253907"/>
                    <a:pt x="857719" y="196648"/>
                    <a:pt x="1124850" y="336490"/>
                  </a:cubicBezTo>
                  <a:cubicBezTo>
                    <a:pt x="1212380" y="104542"/>
                    <a:pt x="1588196" y="63614"/>
                    <a:pt x="1803616" y="221998"/>
                  </a:cubicBezTo>
                  <a:cubicBezTo>
                    <a:pt x="1846238" y="104016"/>
                    <a:pt x="1961796" y="34399"/>
                    <a:pt x="2068102" y="12936"/>
                  </a:cubicBezTo>
                  <a:cubicBezTo>
                    <a:pt x="2199851" y="-5871"/>
                    <a:pt x="2332948" y="21463"/>
                    <a:pt x="2396120" y="160483"/>
                  </a:cubicBezTo>
                  <a:cubicBezTo>
                    <a:pt x="2475630" y="12448"/>
                    <a:pt x="2685230" y="-24582"/>
                    <a:pt x="2848309" y="44632"/>
                  </a:cubicBezTo>
                  <a:cubicBezTo>
                    <a:pt x="2966072" y="79250"/>
                    <a:pt x="3031174" y="252324"/>
                    <a:pt x="3077616" y="360683"/>
                  </a:cubicBezTo>
                  <a:cubicBezTo>
                    <a:pt x="3249736" y="420870"/>
                    <a:pt x="3344046" y="521466"/>
                    <a:pt x="3371900" y="667418"/>
                  </a:cubicBezTo>
                  <a:cubicBezTo>
                    <a:pt x="3381167" y="772559"/>
                    <a:pt x="3425719" y="915746"/>
                    <a:pt x="3358728" y="1000028"/>
                  </a:cubicBezTo>
                  <a:cubicBezTo>
                    <a:pt x="3487196" y="1185005"/>
                    <a:pt x="3497975" y="1358235"/>
                    <a:pt x="3454949" y="1508581"/>
                  </a:cubicBezTo>
                  <a:cubicBezTo>
                    <a:pt x="3435331" y="1796187"/>
                    <a:pt x="3259629" y="1964338"/>
                    <a:pt x="3004206" y="1953742"/>
                  </a:cubicBezTo>
                  <a:cubicBezTo>
                    <a:pt x="3014484" y="2090470"/>
                    <a:pt x="2948751" y="2218469"/>
                    <a:pt x="2842847" y="2335189"/>
                  </a:cubicBezTo>
                  <a:cubicBezTo>
                    <a:pt x="2640018" y="2488663"/>
                    <a:pt x="2454594" y="2491437"/>
                    <a:pt x="2293474" y="2381374"/>
                  </a:cubicBezTo>
                  <a:cubicBezTo>
                    <a:pt x="2220207" y="2582794"/>
                    <a:pt x="2079910" y="2722093"/>
                    <a:pt x="1900880" y="2788307"/>
                  </a:cubicBezTo>
                  <a:cubicBezTo>
                    <a:pt x="1680627" y="2840235"/>
                    <a:pt x="1400061" y="2776415"/>
                    <a:pt x="1323636" y="2539917"/>
                  </a:cubicBezTo>
                  <a:cubicBezTo>
                    <a:pt x="997847" y="2786830"/>
                    <a:pt x="665618" y="2645915"/>
                    <a:pt x="466164" y="2294503"/>
                  </a:cubicBezTo>
                  <a:cubicBezTo>
                    <a:pt x="294848" y="2352534"/>
                    <a:pt x="184042" y="2172900"/>
                    <a:pt x="89152" y="2021403"/>
                  </a:cubicBezTo>
                  <a:cubicBezTo>
                    <a:pt x="34474" y="1923428"/>
                    <a:pt x="58152" y="1752912"/>
                    <a:pt x="169711" y="1652764"/>
                  </a:cubicBezTo>
                  <a:cubicBezTo>
                    <a:pt x="69621" y="1614748"/>
                    <a:pt x="-22008" y="1429339"/>
                    <a:pt x="-402" y="1274551"/>
                  </a:cubicBezTo>
                  <a:cubicBezTo>
                    <a:pt x="20645" y="1088051"/>
                    <a:pt x="141053" y="956350"/>
                    <a:pt x="310267" y="938383"/>
                  </a:cubicBezTo>
                  <a:cubicBezTo>
                    <a:pt x="311317" y="935482"/>
                    <a:pt x="312126" y="932946"/>
                    <a:pt x="313239" y="929522"/>
                  </a:cubicBezTo>
                  <a:close/>
                </a:path>
                <a:path w="3469728" h="2794388" fill="none" stroke="0" extrusionOk="0">
                  <a:moveTo>
                    <a:pt x="376931" y="1693256"/>
                  </a:moveTo>
                  <a:cubicBezTo>
                    <a:pt x="306677" y="1696444"/>
                    <a:pt x="239464" y="1664320"/>
                    <a:pt x="173486" y="1641702"/>
                  </a:cubicBezTo>
                  <a:moveTo>
                    <a:pt x="556441" y="2257438"/>
                  </a:moveTo>
                  <a:cubicBezTo>
                    <a:pt x="526121" y="2278896"/>
                    <a:pt x="495089" y="2275114"/>
                    <a:pt x="467449" y="2282083"/>
                  </a:cubicBezTo>
                  <a:moveTo>
                    <a:pt x="1323476" y="2528533"/>
                  </a:moveTo>
                  <a:cubicBezTo>
                    <a:pt x="1307414" y="2497550"/>
                    <a:pt x="1282836" y="2455840"/>
                    <a:pt x="1269824" y="2415981"/>
                  </a:cubicBezTo>
                  <a:moveTo>
                    <a:pt x="2315320" y="2247865"/>
                  </a:moveTo>
                  <a:cubicBezTo>
                    <a:pt x="2306424" y="2291738"/>
                    <a:pt x="2304863" y="2326347"/>
                    <a:pt x="2293875" y="2371348"/>
                  </a:cubicBezTo>
                  <a:moveTo>
                    <a:pt x="2741165" y="1484777"/>
                  </a:moveTo>
                  <a:cubicBezTo>
                    <a:pt x="2862464" y="1585390"/>
                    <a:pt x="3000815" y="1794268"/>
                    <a:pt x="3002278" y="1946368"/>
                  </a:cubicBezTo>
                  <a:moveTo>
                    <a:pt x="3357122" y="993172"/>
                  </a:moveTo>
                  <a:cubicBezTo>
                    <a:pt x="3325821" y="1055370"/>
                    <a:pt x="3296630" y="1119665"/>
                    <a:pt x="3240822" y="1166268"/>
                  </a:cubicBezTo>
                  <a:moveTo>
                    <a:pt x="3078098" y="350980"/>
                  </a:moveTo>
                  <a:cubicBezTo>
                    <a:pt x="3078031" y="377525"/>
                    <a:pt x="3080737" y="407009"/>
                    <a:pt x="3084202" y="432742"/>
                  </a:cubicBezTo>
                  <a:moveTo>
                    <a:pt x="2335480" y="255634"/>
                  </a:moveTo>
                  <a:cubicBezTo>
                    <a:pt x="2346379" y="212937"/>
                    <a:pt x="2370783" y="181223"/>
                    <a:pt x="2395076" y="151362"/>
                  </a:cubicBezTo>
                  <a:moveTo>
                    <a:pt x="1778315" y="305312"/>
                  </a:moveTo>
                  <a:cubicBezTo>
                    <a:pt x="1780063" y="280578"/>
                    <a:pt x="1791347" y="251093"/>
                    <a:pt x="1807150" y="215400"/>
                  </a:cubicBezTo>
                  <a:moveTo>
                    <a:pt x="1124448" y="335844"/>
                  </a:moveTo>
                  <a:cubicBezTo>
                    <a:pt x="1156263" y="361630"/>
                    <a:pt x="1198465" y="392451"/>
                    <a:pt x="1228862" y="423039"/>
                  </a:cubicBezTo>
                  <a:moveTo>
                    <a:pt x="331471" y="1021310"/>
                  </a:moveTo>
                  <a:cubicBezTo>
                    <a:pt x="317576" y="990320"/>
                    <a:pt x="316874" y="954949"/>
                    <a:pt x="313239" y="929522"/>
                  </a:cubicBezTo>
                </a:path>
              </a:pathLst>
            </a:cu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  <a:extLst>
                <a:ext uri="{C807C97D-BFC1-408E-A445-0C87EB9F89A2}">
                  <ask:lineSketchStyleProps xmlns:ask="http://schemas.microsoft.com/office/drawing/2018/sketchyshapes" sd="1219033472">
                    <a:prstGeom prst="cloud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62" name="Text Box 27">
              <a:extLst>
                <a:ext uri="{FF2B5EF4-FFF2-40B4-BE49-F238E27FC236}">
                  <a16:creationId xmlns:a16="http://schemas.microsoft.com/office/drawing/2014/main" id="{E388BF67-6ACA-C248-B819-41FCF8D0744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38086" y="5646242"/>
              <a:ext cx="950927" cy="5947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dirty="0">
                  <a:solidFill>
                    <a:schemeClr val="bg2">
                      <a:lumMod val="50000"/>
                    </a:schemeClr>
                  </a:solidFill>
                  <a:latin typeface="+mn-lt"/>
                </a:rPr>
                <a:t>5.6.7.*</a:t>
              </a:r>
            </a:p>
          </p:txBody>
        </p:sp>
        <p:sp>
          <p:nvSpPr>
            <p:cNvPr id="16" name="Line 13">
              <a:extLst>
                <a:ext uri="{FF2B5EF4-FFF2-40B4-BE49-F238E27FC236}">
                  <a16:creationId xmlns:a16="http://schemas.microsoft.com/office/drawing/2014/main" id="{F7E29C90-E0D7-9A49-AEB8-47FA643F5D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78495" y="5089539"/>
              <a:ext cx="2590805" cy="0"/>
            </a:xfrm>
            <a:prstGeom prst="line">
              <a:avLst/>
            </a:prstGeom>
            <a:noFill/>
            <a:ln w="76200" cmpd="tri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17" name="Line 14">
              <a:extLst>
                <a:ext uri="{FF2B5EF4-FFF2-40B4-BE49-F238E27FC236}">
                  <a16:creationId xmlns:a16="http://schemas.microsoft.com/office/drawing/2014/main" id="{951C2A6A-16B1-4249-AC65-79613D3890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83295" y="4636490"/>
              <a:ext cx="0" cy="45304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18" name="Line 15">
              <a:extLst>
                <a:ext uri="{FF2B5EF4-FFF2-40B4-BE49-F238E27FC236}">
                  <a16:creationId xmlns:a16="http://schemas.microsoft.com/office/drawing/2014/main" id="{F984CE7D-9D76-8346-A1D8-19A56EA124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97697" y="4636490"/>
              <a:ext cx="0" cy="45304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19" name="Line 16">
              <a:extLst>
                <a:ext uri="{FF2B5EF4-FFF2-40B4-BE49-F238E27FC236}">
                  <a16:creationId xmlns:a16="http://schemas.microsoft.com/office/drawing/2014/main" id="{7FD450B1-87D1-154B-B74F-3C5CC81EA4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64499" y="4636490"/>
              <a:ext cx="0" cy="45304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3308E2D5-D96E-1649-8EB1-D20514535A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02307" y="4204677"/>
              <a:ext cx="573088" cy="502602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 eaLnBrk="0" hangingPunct="0"/>
              <a:r>
                <a:rPr lang="en-US" sz="1600" b="0"/>
                <a:t>host</a:t>
              </a:r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74C299CC-2B94-F746-9F51-6D29FD3A73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97659" y="4204677"/>
              <a:ext cx="573088" cy="502602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 eaLnBrk="0" hangingPunct="0"/>
              <a:r>
                <a:rPr lang="en-US" sz="1600" b="0"/>
                <a:t>host</a:t>
              </a:r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85F94E58-58EC-7046-9356-FF91B4B824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769223" y="4204677"/>
              <a:ext cx="573088" cy="502602"/>
            </a:xfrm>
            <a:prstGeom prst="rect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 eaLnBrk="0" hangingPunct="0"/>
              <a:r>
                <a:rPr lang="en-US" sz="1600" b="0" dirty="0">
                  <a:solidFill>
                    <a:schemeClr val="bg1"/>
                  </a:solidFill>
                </a:rPr>
                <a:t>host</a:t>
              </a:r>
            </a:p>
          </p:txBody>
        </p:sp>
        <p:sp>
          <p:nvSpPr>
            <p:cNvPr id="23" name="Text Box 20">
              <a:extLst>
                <a:ext uri="{FF2B5EF4-FFF2-40B4-BE49-F238E27FC236}">
                  <a16:creationId xmlns:a16="http://schemas.microsoft.com/office/drawing/2014/main" id="{5C43ADF2-AA5F-B74F-967D-8DB476D138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02498" y="4067818"/>
              <a:ext cx="357188" cy="5026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sz="1600" b="0">
                  <a:latin typeface="+mn-lt"/>
                </a:rPr>
                <a:t>...</a:t>
              </a:r>
            </a:p>
          </p:txBody>
        </p:sp>
        <p:sp>
          <p:nvSpPr>
            <p:cNvPr id="64" name="Text Box 28">
              <a:extLst>
                <a:ext uri="{FF2B5EF4-FFF2-40B4-BE49-F238E27FC236}">
                  <a16:creationId xmlns:a16="http://schemas.microsoft.com/office/drawing/2014/main" id="{50555139-E5B8-314C-9AFE-CF3EBF04319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19505" y="3810000"/>
              <a:ext cx="88998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800" b="0" dirty="0">
                  <a:solidFill>
                    <a:srgbClr val="0000FF"/>
                  </a:solidFill>
                  <a:latin typeface="+mn-lt"/>
                </a:rPr>
                <a:t>5.6.7.8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ADE4C8F-153C-0C46-906D-6C8C97C3449E}"/>
              </a:ext>
            </a:extLst>
          </p:cNvPr>
          <p:cNvGrpSpPr/>
          <p:nvPr/>
        </p:nvGrpSpPr>
        <p:grpSpPr>
          <a:xfrm>
            <a:off x="333777" y="2590799"/>
            <a:ext cx="3858596" cy="2794394"/>
            <a:chOff x="381009" y="3682606"/>
            <a:chExt cx="3858596" cy="1879993"/>
          </a:xfrm>
        </p:grpSpPr>
        <p:sp>
          <p:nvSpPr>
            <p:cNvPr id="58" name="Cloud 57">
              <a:extLst>
                <a:ext uri="{FF2B5EF4-FFF2-40B4-BE49-F238E27FC236}">
                  <a16:creationId xmlns:a16="http://schemas.microsoft.com/office/drawing/2014/main" id="{21A1DFDA-9339-9346-8226-5C9883E22D64}"/>
                </a:ext>
              </a:extLst>
            </p:cNvPr>
            <p:cNvSpPr/>
            <p:nvPr/>
          </p:nvSpPr>
          <p:spPr bwMode="auto">
            <a:xfrm>
              <a:off x="381009" y="3682606"/>
              <a:ext cx="3858596" cy="1879993"/>
            </a:xfrm>
            <a:custGeom>
              <a:avLst/>
              <a:gdLst>
                <a:gd name="connsiteX0" fmla="*/ 348345 w 3858596"/>
                <a:gd name="connsiteY0" fmla="*/ 625358 h 1879993"/>
                <a:gd name="connsiteX1" fmla="*/ 502242 w 3858596"/>
                <a:gd name="connsiteY1" fmla="*/ 300581 h 1879993"/>
                <a:gd name="connsiteX2" fmla="*/ 1250917 w 3858596"/>
                <a:gd name="connsiteY2" fmla="*/ 226382 h 1879993"/>
                <a:gd name="connsiteX3" fmla="*/ 2005755 w 3858596"/>
                <a:gd name="connsiteY3" fmla="*/ 149354 h 1879993"/>
                <a:gd name="connsiteX4" fmla="*/ 2299883 w 3858596"/>
                <a:gd name="connsiteY4" fmla="*/ 8703 h 1879993"/>
                <a:gd name="connsiteX5" fmla="*/ 2664664 w 3858596"/>
                <a:gd name="connsiteY5" fmla="*/ 107969 h 1879993"/>
                <a:gd name="connsiteX6" fmla="*/ 3167532 w 3858596"/>
                <a:gd name="connsiteY6" fmla="*/ 30027 h 1879993"/>
                <a:gd name="connsiteX7" fmla="*/ 3422538 w 3858596"/>
                <a:gd name="connsiteY7" fmla="*/ 242658 h 1879993"/>
                <a:gd name="connsiteX8" fmla="*/ 3749805 w 3858596"/>
                <a:gd name="connsiteY8" fmla="*/ 449022 h 1879993"/>
                <a:gd name="connsiteX9" fmla="*/ 3735156 w 3858596"/>
                <a:gd name="connsiteY9" fmla="*/ 672793 h 1879993"/>
                <a:gd name="connsiteX10" fmla="*/ 3842161 w 3858596"/>
                <a:gd name="connsiteY10" fmla="*/ 1014935 h 1879993"/>
                <a:gd name="connsiteX11" fmla="*/ 3340901 w 3858596"/>
                <a:gd name="connsiteY11" fmla="*/ 1314428 h 1879993"/>
                <a:gd name="connsiteX12" fmla="*/ 3161458 w 3858596"/>
                <a:gd name="connsiteY12" fmla="*/ 1571056 h 1879993"/>
                <a:gd name="connsiteX13" fmla="*/ 2550514 w 3858596"/>
                <a:gd name="connsiteY13" fmla="*/ 1602128 h 1879993"/>
                <a:gd name="connsiteX14" fmla="*/ 2113921 w 3858596"/>
                <a:gd name="connsiteY14" fmla="*/ 1875902 h 1879993"/>
                <a:gd name="connsiteX15" fmla="*/ 1471982 w 3858596"/>
                <a:gd name="connsiteY15" fmla="*/ 1708791 h 1879993"/>
                <a:gd name="connsiteX16" fmla="*/ 518409 w 3858596"/>
                <a:gd name="connsiteY16" fmla="*/ 1543683 h 1879993"/>
                <a:gd name="connsiteX17" fmla="*/ 99144 w 3858596"/>
                <a:gd name="connsiteY17" fmla="*/ 1359948 h 1879993"/>
                <a:gd name="connsiteX18" fmla="*/ 188731 w 3858596"/>
                <a:gd name="connsiteY18" fmla="*/ 1111937 h 1879993"/>
                <a:gd name="connsiteX19" fmla="*/ -447 w 3858596"/>
                <a:gd name="connsiteY19" fmla="*/ 857485 h 1879993"/>
                <a:gd name="connsiteX20" fmla="*/ 345040 w 3858596"/>
                <a:gd name="connsiteY20" fmla="*/ 631320 h 1879993"/>
                <a:gd name="connsiteX21" fmla="*/ 348345 w 3858596"/>
                <a:gd name="connsiteY21" fmla="*/ 625358 h 1879993"/>
                <a:gd name="connsiteX0" fmla="*/ 419175 w 3858596"/>
                <a:gd name="connsiteY0" fmla="*/ 1139180 h 1879993"/>
                <a:gd name="connsiteX1" fmla="*/ 192929 w 3858596"/>
                <a:gd name="connsiteY1" fmla="*/ 1104495 h 1879993"/>
                <a:gd name="connsiteX2" fmla="*/ 618804 w 3858596"/>
                <a:gd name="connsiteY2" fmla="*/ 1518747 h 1879993"/>
                <a:gd name="connsiteX3" fmla="*/ 519838 w 3858596"/>
                <a:gd name="connsiteY3" fmla="*/ 1535327 h 1879993"/>
                <a:gd name="connsiteX4" fmla="*/ 1471804 w 3858596"/>
                <a:gd name="connsiteY4" fmla="*/ 1701132 h 1879993"/>
                <a:gd name="connsiteX5" fmla="*/ 1412138 w 3858596"/>
                <a:gd name="connsiteY5" fmla="*/ 1625410 h 1879993"/>
                <a:gd name="connsiteX6" fmla="*/ 2574808 w 3858596"/>
                <a:gd name="connsiteY6" fmla="*/ 1512306 h 1879993"/>
                <a:gd name="connsiteX7" fmla="*/ 2550960 w 3858596"/>
                <a:gd name="connsiteY7" fmla="*/ 1595382 h 1879993"/>
                <a:gd name="connsiteX8" fmla="*/ 3048380 w 3858596"/>
                <a:gd name="connsiteY8" fmla="*/ 998920 h 1879993"/>
                <a:gd name="connsiteX9" fmla="*/ 3338757 w 3858596"/>
                <a:gd name="connsiteY9" fmla="*/ 1309467 h 1879993"/>
                <a:gd name="connsiteX10" fmla="*/ 3733370 w 3858596"/>
                <a:gd name="connsiteY10" fmla="*/ 668180 h 1879993"/>
                <a:gd name="connsiteX11" fmla="*/ 3604035 w 3858596"/>
                <a:gd name="connsiteY11" fmla="*/ 784635 h 1879993"/>
                <a:gd name="connsiteX12" fmla="*/ 3423074 w 3858596"/>
                <a:gd name="connsiteY12" fmla="*/ 236130 h 1879993"/>
                <a:gd name="connsiteX13" fmla="*/ 3429863 w 3858596"/>
                <a:gd name="connsiteY13" fmla="*/ 291137 h 1879993"/>
                <a:gd name="connsiteX14" fmla="*/ 2597228 w 3858596"/>
                <a:gd name="connsiteY14" fmla="*/ 171984 h 1879993"/>
                <a:gd name="connsiteX15" fmla="*/ 2663503 w 3858596"/>
                <a:gd name="connsiteY15" fmla="*/ 101832 h 1879993"/>
                <a:gd name="connsiteX16" fmla="*/ 1977619 w 3858596"/>
                <a:gd name="connsiteY16" fmla="*/ 205406 h 1879993"/>
                <a:gd name="connsiteX17" fmla="*/ 2009685 w 3858596"/>
                <a:gd name="connsiteY17" fmla="*/ 144916 h 1879993"/>
                <a:gd name="connsiteX18" fmla="*/ 1250470 w 3858596"/>
                <a:gd name="connsiteY18" fmla="*/ 225947 h 1879993"/>
                <a:gd name="connsiteX19" fmla="*/ 1366586 w 3858596"/>
                <a:gd name="connsiteY19" fmla="*/ 284610 h 1879993"/>
                <a:gd name="connsiteX20" fmla="*/ 368620 w 3858596"/>
                <a:gd name="connsiteY20" fmla="*/ 687111 h 1879993"/>
                <a:gd name="connsiteX21" fmla="*/ 348345 w 3858596"/>
                <a:gd name="connsiteY21" fmla="*/ 625358 h 1879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858596" h="1879993" fill="none" extrusionOk="0">
                  <a:moveTo>
                    <a:pt x="348345" y="625358"/>
                  </a:moveTo>
                  <a:cubicBezTo>
                    <a:pt x="315612" y="524411"/>
                    <a:pt x="374266" y="379838"/>
                    <a:pt x="502242" y="300581"/>
                  </a:cubicBezTo>
                  <a:cubicBezTo>
                    <a:pt x="765805" y="184503"/>
                    <a:pt x="1002719" y="61273"/>
                    <a:pt x="1250917" y="226382"/>
                  </a:cubicBezTo>
                  <a:cubicBezTo>
                    <a:pt x="1416799" y="49922"/>
                    <a:pt x="1714361" y="15077"/>
                    <a:pt x="2005755" y="149354"/>
                  </a:cubicBezTo>
                  <a:cubicBezTo>
                    <a:pt x="2059819" y="83187"/>
                    <a:pt x="2167364" y="3002"/>
                    <a:pt x="2299883" y="8703"/>
                  </a:cubicBezTo>
                  <a:cubicBezTo>
                    <a:pt x="2444062" y="-7807"/>
                    <a:pt x="2590101" y="14402"/>
                    <a:pt x="2664664" y="107969"/>
                  </a:cubicBezTo>
                  <a:cubicBezTo>
                    <a:pt x="2771837" y="5384"/>
                    <a:pt x="3006690" y="-34182"/>
                    <a:pt x="3167532" y="30027"/>
                  </a:cubicBezTo>
                  <a:cubicBezTo>
                    <a:pt x="3298229" y="69739"/>
                    <a:pt x="3405388" y="171193"/>
                    <a:pt x="3422538" y="242658"/>
                  </a:cubicBezTo>
                  <a:cubicBezTo>
                    <a:pt x="3582161" y="269549"/>
                    <a:pt x="3691723" y="378232"/>
                    <a:pt x="3749805" y="449022"/>
                  </a:cubicBezTo>
                  <a:cubicBezTo>
                    <a:pt x="3801821" y="526800"/>
                    <a:pt x="3774623" y="581186"/>
                    <a:pt x="3735156" y="672793"/>
                  </a:cubicBezTo>
                  <a:cubicBezTo>
                    <a:pt x="3860749" y="770425"/>
                    <a:pt x="3909518" y="919190"/>
                    <a:pt x="3842161" y="1014935"/>
                  </a:cubicBezTo>
                  <a:cubicBezTo>
                    <a:pt x="3827412" y="1216174"/>
                    <a:pt x="3604168" y="1340154"/>
                    <a:pt x="3340901" y="1314428"/>
                  </a:cubicBezTo>
                  <a:cubicBezTo>
                    <a:pt x="3351478" y="1424697"/>
                    <a:pt x="3265486" y="1494905"/>
                    <a:pt x="3161458" y="1571056"/>
                  </a:cubicBezTo>
                  <a:cubicBezTo>
                    <a:pt x="2957172" y="1701569"/>
                    <a:pt x="2777817" y="1689440"/>
                    <a:pt x="2550514" y="1602128"/>
                  </a:cubicBezTo>
                  <a:cubicBezTo>
                    <a:pt x="2527479" y="1696777"/>
                    <a:pt x="2316313" y="1832158"/>
                    <a:pt x="2113921" y="1875902"/>
                  </a:cubicBezTo>
                  <a:cubicBezTo>
                    <a:pt x="1861576" y="1918230"/>
                    <a:pt x="1615802" y="1900829"/>
                    <a:pt x="1471982" y="1708791"/>
                  </a:cubicBezTo>
                  <a:cubicBezTo>
                    <a:pt x="1125423" y="1823683"/>
                    <a:pt x="758609" y="1714880"/>
                    <a:pt x="518409" y="1543683"/>
                  </a:cubicBezTo>
                  <a:cubicBezTo>
                    <a:pt x="335723" y="1565891"/>
                    <a:pt x="170951" y="1483867"/>
                    <a:pt x="99144" y="1359948"/>
                  </a:cubicBezTo>
                  <a:cubicBezTo>
                    <a:pt x="39048" y="1280510"/>
                    <a:pt x="94394" y="1168577"/>
                    <a:pt x="188731" y="1111937"/>
                  </a:cubicBezTo>
                  <a:cubicBezTo>
                    <a:pt x="55532" y="1057380"/>
                    <a:pt x="-12904" y="941786"/>
                    <a:pt x="-447" y="857485"/>
                  </a:cubicBezTo>
                  <a:cubicBezTo>
                    <a:pt x="-21586" y="740944"/>
                    <a:pt x="184990" y="612237"/>
                    <a:pt x="345040" y="631320"/>
                  </a:cubicBezTo>
                  <a:cubicBezTo>
                    <a:pt x="346602" y="628932"/>
                    <a:pt x="347415" y="627349"/>
                    <a:pt x="348345" y="625358"/>
                  </a:cubicBezTo>
                  <a:close/>
                </a:path>
                <a:path w="3858596" h="1879993" fill="none" extrusionOk="0">
                  <a:moveTo>
                    <a:pt x="419175" y="1139180"/>
                  </a:moveTo>
                  <a:cubicBezTo>
                    <a:pt x="347069" y="1130153"/>
                    <a:pt x="270675" y="1121378"/>
                    <a:pt x="192929" y="1104495"/>
                  </a:cubicBezTo>
                  <a:moveTo>
                    <a:pt x="618804" y="1518747"/>
                  </a:moveTo>
                  <a:cubicBezTo>
                    <a:pt x="591220" y="1524306"/>
                    <a:pt x="557132" y="1529880"/>
                    <a:pt x="519838" y="1535327"/>
                  </a:cubicBezTo>
                  <a:moveTo>
                    <a:pt x="1471804" y="1701132"/>
                  </a:moveTo>
                  <a:cubicBezTo>
                    <a:pt x="1449441" y="1685757"/>
                    <a:pt x="1429269" y="1650764"/>
                    <a:pt x="1412138" y="1625410"/>
                  </a:cubicBezTo>
                  <a:moveTo>
                    <a:pt x="2574808" y="1512306"/>
                  </a:moveTo>
                  <a:cubicBezTo>
                    <a:pt x="2576137" y="1540758"/>
                    <a:pt x="2562765" y="1561859"/>
                    <a:pt x="2550960" y="1595382"/>
                  </a:cubicBezTo>
                  <a:moveTo>
                    <a:pt x="3048380" y="998920"/>
                  </a:moveTo>
                  <a:cubicBezTo>
                    <a:pt x="3208011" y="1058838"/>
                    <a:pt x="3365370" y="1207992"/>
                    <a:pt x="3338757" y="1309467"/>
                  </a:cubicBezTo>
                  <a:moveTo>
                    <a:pt x="3733370" y="668180"/>
                  </a:moveTo>
                  <a:cubicBezTo>
                    <a:pt x="3699164" y="725706"/>
                    <a:pt x="3673862" y="748130"/>
                    <a:pt x="3604035" y="784635"/>
                  </a:cubicBezTo>
                  <a:moveTo>
                    <a:pt x="3423074" y="236130"/>
                  </a:moveTo>
                  <a:cubicBezTo>
                    <a:pt x="3428755" y="252434"/>
                    <a:pt x="3431410" y="273172"/>
                    <a:pt x="3429863" y="291137"/>
                  </a:cubicBezTo>
                  <a:moveTo>
                    <a:pt x="2597228" y="171984"/>
                  </a:moveTo>
                  <a:cubicBezTo>
                    <a:pt x="2616805" y="142381"/>
                    <a:pt x="2639752" y="121847"/>
                    <a:pt x="2663503" y="101832"/>
                  </a:cubicBezTo>
                  <a:moveTo>
                    <a:pt x="1977619" y="205406"/>
                  </a:moveTo>
                  <a:cubicBezTo>
                    <a:pt x="1988009" y="185058"/>
                    <a:pt x="1995611" y="168014"/>
                    <a:pt x="2009685" y="144916"/>
                  </a:cubicBezTo>
                  <a:moveTo>
                    <a:pt x="1250470" y="225947"/>
                  </a:moveTo>
                  <a:cubicBezTo>
                    <a:pt x="1281842" y="238258"/>
                    <a:pt x="1343414" y="261244"/>
                    <a:pt x="1366586" y="284610"/>
                  </a:cubicBezTo>
                  <a:moveTo>
                    <a:pt x="368620" y="687111"/>
                  </a:moveTo>
                  <a:cubicBezTo>
                    <a:pt x="359371" y="664772"/>
                    <a:pt x="356233" y="643679"/>
                    <a:pt x="348345" y="625358"/>
                  </a:cubicBezTo>
                </a:path>
                <a:path w="3858596" h="1879993" stroke="0" extrusionOk="0">
                  <a:moveTo>
                    <a:pt x="348345" y="625358"/>
                  </a:moveTo>
                  <a:cubicBezTo>
                    <a:pt x="291394" y="487095"/>
                    <a:pt x="370991" y="391829"/>
                    <a:pt x="502242" y="300581"/>
                  </a:cubicBezTo>
                  <a:cubicBezTo>
                    <a:pt x="769657" y="177980"/>
                    <a:pt x="988464" y="131855"/>
                    <a:pt x="1250917" y="226382"/>
                  </a:cubicBezTo>
                  <a:cubicBezTo>
                    <a:pt x="1346658" y="91989"/>
                    <a:pt x="1769932" y="49448"/>
                    <a:pt x="2005755" y="149354"/>
                  </a:cubicBezTo>
                  <a:cubicBezTo>
                    <a:pt x="2060028" y="71610"/>
                    <a:pt x="2184237" y="26015"/>
                    <a:pt x="2299883" y="8703"/>
                  </a:cubicBezTo>
                  <a:cubicBezTo>
                    <a:pt x="2451712" y="-3000"/>
                    <a:pt x="2588686" y="13772"/>
                    <a:pt x="2664664" y="107969"/>
                  </a:cubicBezTo>
                  <a:cubicBezTo>
                    <a:pt x="2737080" y="3805"/>
                    <a:pt x="2979748" y="-8213"/>
                    <a:pt x="3167532" y="30027"/>
                  </a:cubicBezTo>
                  <a:cubicBezTo>
                    <a:pt x="3299943" y="57457"/>
                    <a:pt x="3388478" y="159547"/>
                    <a:pt x="3422538" y="242658"/>
                  </a:cubicBezTo>
                  <a:cubicBezTo>
                    <a:pt x="3592324" y="279242"/>
                    <a:pt x="3711647" y="350911"/>
                    <a:pt x="3749805" y="449022"/>
                  </a:cubicBezTo>
                  <a:cubicBezTo>
                    <a:pt x="3772952" y="520171"/>
                    <a:pt x="3787590" y="607310"/>
                    <a:pt x="3735156" y="672793"/>
                  </a:cubicBezTo>
                  <a:cubicBezTo>
                    <a:pt x="3850937" y="774701"/>
                    <a:pt x="3889462" y="919702"/>
                    <a:pt x="3842161" y="1014935"/>
                  </a:cubicBezTo>
                  <a:cubicBezTo>
                    <a:pt x="3803748" y="1206003"/>
                    <a:pt x="3593699" y="1302991"/>
                    <a:pt x="3340901" y="1314428"/>
                  </a:cubicBezTo>
                  <a:cubicBezTo>
                    <a:pt x="3357714" y="1397346"/>
                    <a:pt x="3275384" y="1501399"/>
                    <a:pt x="3161458" y="1571056"/>
                  </a:cubicBezTo>
                  <a:cubicBezTo>
                    <a:pt x="2936177" y="1677775"/>
                    <a:pt x="2732001" y="1674288"/>
                    <a:pt x="2550514" y="1602128"/>
                  </a:cubicBezTo>
                  <a:cubicBezTo>
                    <a:pt x="2454739" y="1736079"/>
                    <a:pt x="2320095" y="1838379"/>
                    <a:pt x="2113921" y="1875902"/>
                  </a:cubicBezTo>
                  <a:cubicBezTo>
                    <a:pt x="1869703" y="1898361"/>
                    <a:pt x="1589123" y="1861890"/>
                    <a:pt x="1471982" y="1708791"/>
                  </a:cubicBezTo>
                  <a:cubicBezTo>
                    <a:pt x="1109282" y="1897591"/>
                    <a:pt x="719527" y="1773417"/>
                    <a:pt x="518409" y="1543683"/>
                  </a:cubicBezTo>
                  <a:cubicBezTo>
                    <a:pt x="328413" y="1586276"/>
                    <a:pt x="157267" y="1477715"/>
                    <a:pt x="99144" y="1359948"/>
                  </a:cubicBezTo>
                  <a:cubicBezTo>
                    <a:pt x="55103" y="1281409"/>
                    <a:pt x="86754" y="1178769"/>
                    <a:pt x="188731" y="1111937"/>
                  </a:cubicBezTo>
                  <a:cubicBezTo>
                    <a:pt x="63010" y="1075137"/>
                    <a:pt x="-22419" y="961673"/>
                    <a:pt x="-447" y="857485"/>
                  </a:cubicBezTo>
                  <a:cubicBezTo>
                    <a:pt x="25862" y="711772"/>
                    <a:pt x="148422" y="642753"/>
                    <a:pt x="345040" y="631320"/>
                  </a:cubicBezTo>
                  <a:cubicBezTo>
                    <a:pt x="346157" y="629357"/>
                    <a:pt x="347059" y="628006"/>
                    <a:pt x="348345" y="625358"/>
                  </a:cubicBezTo>
                  <a:close/>
                </a:path>
                <a:path w="3858596" h="1879993" fill="none" stroke="0" extrusionOk="0">
                  <a:moveTo>
                    <a:pt x="419175" y="1139180"/>
                  </a:moveTo>
                  <a:cubicBezTo>
                    <a:pt x="342547" y="1134252"/>
                    <a:pt x="263237" y="1123742"/>
                    <a:pt x="192929" y="1104495"/>
                  </a:cubicBezTo>
                  <a:moveTo>
                    <a:pt x="618804" y="1518747"/>
                  </a:moveTo>
                  <a:cubicBezTo>
                    <a:pt x="585725" y="1533955"/>
                    <a:pt x="547520" y="1526010"/>
                    <a:pt x="519838" y="1535327"/>
                  </a:cubicBezTo>
                  <a:moveTo>
                    <a:pt x="1471804" y="1701132"/>
                  </a:moveTo>
                  <a:cubicBezTo>
                    <a:pt x="1453903" y="1682159"/>
                    <a:pt x="1426984" y="1652270"/>
                    <a:pt x="1412138" y="1625410"/>
                  </a:cubicBezTo>
                  <a:moveTo>
                    <a:pt x="2574808" y="1512306"/>
                  </a:moveTo>
                  <a:cubicBezTo>
                    <a:pt x="2570255" y="1540837"/>
                    <a:pt x="2563194" y="1563740"/>
                    <a:pt x="2550960" y="1595382"/>
                  </a:cubicBezTo>
                  <a:moveTo>
                    <a:pt x="3048380" y="998920"/>
                  </a:moveTo>
                  <a:cubicBezTo>
                    <a:pt x="3216810" y="1060632"/>
                    <a:pt x="3337915" y="1214597"/>
                    <a:pt x="3338757" y="1309467"/>
                  </a:cubicBezTo>
                  <a:moveTo>
                    <a:pt x="3733370" y="668180"/>
                  </a:moveTo>
                  <a:cubicBezTo>
                    <a:pt x="3694813" y="704740"/>
                    <a:pt x="3675787" y="754375"/>
                    <a:pt x="3604035" y="784635"/>
                  </a:cubicBezTo>
                  <a:moveTo>
                    <a:pt x="3423074" y="236130"/>
                  </a:moveTo>
                  <a:cubicBezTo>
                    <a:pt x="3423502" y="253849"/>
                    <a:pt x="3427285" y="274011"/>
                    <a:pt x="3429863" y="291137"/>
                  </a:cubicBezTo>
                  <a:moveTo>
                    <a:pt x="2597228" y="171984"/>
                  </a:moveTo>
                  <a:cubicBezTo>
                    <a:pt x="2608719" y="140335"/>
                    <a:pt x="2636861" y="116495"/>
                    <a:pt x="2663503" y="101832"/>
                  </a:cubicBezTo>
                  <a:moveTo>
                    <a:pt x="1977619" y="205406"/>
                  </a:moveTo>
                  <a:cubicBezTo>
                    <a:pt x="1980993" y="189519"/>
                    <a:pt x="1993436" y="168773"/>
                    <a:pt x="2009685" y="144916"/>
                  </a:cubicBezTo>
                  <a:moveTo>
                    <a:pt x="1250470" y="225947"/>
                  </a:moveTo>
                  <a:cubicBezTo>
                    <a:pt x="1290670" y="242781"/>
                    <a:pt x="1332928" y="265745"/>
                    <a:pt x="1366586" y="284610"/>
                  </a:cubicBezTo>
                  <a:moveTo>
                    <a:pt x="368620" y="687111"/>
                  </a:moveTo>
                  <a:cubicBezTo>
                    <a:pt x="357025" y="666502"/>
                    <a:pt x="352446" y="641466"/>
                    <a:pt x="348345" y="625358"/>
                  </a:cubicBezTo>
                </a:path>
              </a:pathLst>
            </a:custGeom>
            <a:solidFill>
              <a:schemeClr val="accent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  <a:extLst>
                <a:ext uri="{C807C97D-BFC1-408E-A445-0C87EB9F89A2}">
                  <ask:lineSketchStyleProps xmlns:ask="http://schemas.microsoft.com/office/drawing/2018/sketchyshapes" sd="1219033472">
                    <a:prstGeom prst="cloud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30" name="Text Box 27">
              <a:extLst>
                <a:ext uri="{FF2B5EF4-FFF2-40B4-BE49-F238E27FC236}">
                  <a16:creationId xmlns:a16="http://schemas.microsoft.com/office/drawing/2014/main" id="{485AD45D-46B6-294C-897A-B0F9C40D4B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59517" y="5039332"/>
              <a:ext cx="950927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dirty="0">
                  <a:solidFill>
                    <a:schemeClr val="bg2">
                      <a:lumMod val="50000"/>
                    </a:schemeClr>
                  </a:solidFill>
                  <a:latin typeface="+mn-lt"/>
                </a:rPr>
                <a:t>1.2.3.*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B6F42F6-0DDD-194E-8C63-3AA3B0A4D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(More of) What happens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7D0176-6FA9-0B46-A38D-C7C064EB9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93FFB-734A-FA43-9AEC-5C5830C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22D0CB-FB56-D946-B718-9727AF300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8" name="Line 5">
            <a:extLst>
              <a:ext uri="{FF2B5EF4-FFF2-40B4-BE49-F238E27FC236}">
                <a16:creationId xmlns:a16="http://schemas.microsoft.com/office/drawing/2014/main" id="{B92E7A3F-692B-814D-BD5B-AFAEDD7EE3AA}"/>
              </a:ext>
            </a:extLst>
          </p:cNvPr>
          <p:cNvSpPr>
            <a:spLocks noChangeShapeType="1"/>
          </p:cNvSpPr>
          <p:nvPr/>
        </p:nvSpPr>
        <p:spPr bwMode="auto">
          <a:xfrm>
            <a:off x="1083055" y="3980256"/>
            <a:ext cx="2590805" cy="0"/>
          </a:xfrm>
          <a:prstGeom prst="line">
            <a:avLst/>
          </a:prstGeom>
          <a:noFill/>
          <a:ln w="76200" cmpd="tri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9" name="Line 6">
            <a:extLst>
              <a:ext uri="{FF2B5EF4-FFF2-40B4-BE49-F238E27FC236}">
                <a16:creationId xmlns:a16="http://schemas.microsoft.com/office/drawing/2014/main" id="{6BD954EF-1590-8E4B-AA54-7F86EDF2924E}"/>
              </a:ext>
            </a:extLst>
          </p:cNvPr>
          <p:cNvSpPr>
            <a:spLocks noChangeShapeType="1"/>
          </p:cNvSpPr>
          <p:nvPr/>
        </p:nvSpPr>
        <p:spPr bwMode="auto">
          <a:xfrm>
            <a:off x="1387855" y="3675456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10" name="Line 7">
            <a:extLst>
              <a:ext uri="{FF2B5EF4-FFF2-40B4-BE49-F238E27FC236}">
                <a16:creationId xmlns:a16="http://schemas.microsoft.com/office/drawing/2014/main" id="{CB64F382-2839-034E-A958-5D48EEE3CC28}"/>
              </a:ext>
            </a:extLst>
          </p:cNvPr>
          <p:cNvSpPr>
            <a:spLocks noChangeShapeType="1"/>
          </p:cNvSpPr>
          <p:nvPr/>
        </p:nvSpPr>
        <p:spPr bwMode="auto">
          <a:xfrm>
            <a:off x="2302257" y="3675456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11" name="Line 8">
            <a:extLst>
              <a:ext uri="{FF2B5EF4-FFF2-40B4-BE49-F238E27FC236}">
                <a16:creationId xmlns:a16="http://schemas.microsoft.com/office/drawing/2014/main" id="{201AC7BE-14F4-CF48-A67B-4C2E5D9469ED}"/>
              </a:ext>
            </a:extLst>
          </p:cNvPr>
          <p:cNvSpPr>
            <a:spLocks noChangeShapeType="1"/>
          </p:cNvSpPr>
          <p:nvPr/>
        </p:nvSpPr>
        <p:spPr bwMode="auto">
          <a:xfrm>
            <a:off x="3369059" y="3675456"/>
            <a:ext cx="0" cy="304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386B82BC-92BC-E245-90CD-519EB9AB40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3217" y="3386531"/>
            <a:ext cx="573088" cy="338138"/>
          </a:xfrm>
          <a:prstGeom prst="rect">
            <a:avLst/>
          </a:prstGeom>
          <a:solidFill>
            <a:srgbClr val="FF330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 eaLnBrk="0" hangingPunct="0"/>
            <a:r>
              <a:rPr lang="en-US" sz="1600" b="0" dirty="0">
                <a:solidFill>
                  <a:schemeClr val="bg1"/>
                </a:solidFill>
              </a:rPr>
              <a:t>host</a:t>
            </a:r>
          </a:p>
        </p:txBody>
      </p:sp>
      <p:sp>
        <p:nvSpPr>
          <p:cNvPr id="13" name="Rectangle 10">
            <a:extLst>
              <a:ext uri="{FF2B5EF4-FFF2-40B4-BE49-F238E27FC236}">
                <a16:creationId xmlns:a16="http://schemas.microsoft.com/office/drawing/2014/main" id="{7D7F1180-DE4E-0049-AE4B-97BBED1689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2219" y="3386531"/>
            <a:ext cx="573088" cy="33813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 eaLnBrk="0" hangingPunct="0"/>
            <a:r>
              <a:rPr lang="en-US" sz="1600" b="0" dirty="0"/>
              <a:t>host</a:t>
            </a:r>
          </a:p>
        </p:txBody>
      </p:sp>
      <p:sp>
        <p:nvSpPr>
          <p:cNvPr id="14" name="Rectangle 11">
            <a:extLst>
              <a:ext uri="{FF2B5EF4-FFF2-40B4-BE49-F238E27FC236}">
                <a16:creationId xmlns:a16="http://schemas.microsoft.com/office/drawing/2014/main" id="{35C120B9-9D04-5D4E-8E03-732AB70F3A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9971" y="3386531"/>
            <a:ext cx="615951" cy="338138"/>
          </a:xfrm>
          <a:prstGeom prst="rect">
            <a:avLst/>
          </a:prstGeom>
          <a:solidFill>
            <a:srgbClr val="00990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 eaLnBrk="0" hangingPunct="0"/>
            <a:r>
              <a:rPr lang="en-US" sz="1600" b="0" dirty="0">
                <a:solidFill>
                  <a:schemeClr val="accent2"/>
                </a:solidFill>
              </a:rPr>
              <a:t>DNS</a:t>
            </a:r>
          </a:p>
        </p:txBody>
      </p:sp>
      <p:sp>
        <p:nvSpPr>
          <p:cNvPr id="15" name="Text Box 12">
            <a:extLst>
              <a:ext uri="{FF2B5EF4-FFF2-40B4-BE49-F238E27FC236}">
                <a16:creationId xmlns:a16="http://schemas.microsoft.com/office/drawing/2014/main" id="{0442CCE2-755A-E547-AC01-1867068EB1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7058" y="3292868"/>
            <a:ext cx="3571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600" b="0" dirty="0">
                <a:latin typeface="+mn-lt"/>
              </a:rPr>
              <a:t>...</a:t>
            </a:r>
          </a:p>
        </p:txBody>
      </p:sp>
      <p:sp>
        <p:nvSpPr>
          <p:cNvPr id="24" name="AutoShape 21">
            <a:extLst>
              <a:ext uri="{FF2B5EF4-FFF2-40B4-BE49-F238E27FC236}">
                <a16:creationId xmlns:a16="http://schemas.microsoft.com/office/drawing/2014/main" id="{6255765C-F657-3041-8137-C39887BB8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5861" y="4699393"/>
            <a:ext cx="609601" cy="381000"/>
          </a:xfrm>
          <a:prstGeom prst="roundRect">
            <a:avLst>
              <a:gd name="adj" fmla="val 16667"/>
            </a:avLst>
          </a:prstGeom>
          <a:solidFill>
            <a:srgbClr val="D3A60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1600" b="0"/>
              <a:t>router</a:t>
            </a:r>
          </a:p>
        </p:txBody>
      </p:sp>
      <p:sp>
        <p:nvSpPr>
          <p:cNvPr id="25" name="Line 22">
            <a:extLst>
              <a:ext uri="{FF2B5EF4-FFF2-40B4-BE49-F238E27FC236}">
                <a16:creationId xmlns:a16="http://schemas.microsoft.com/office/drawing/2014/main" id="{03130648-77D8-C849-80A0-50F4FA5FD13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29321" y="3940568"/>
            <a:ext cx="0" cy="7556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6" name="AutoShape 23">
            <a:extLst>
              <a:ext uri="{FF2B5EF4-FFF2-40B4-BE49-F238E27FC236}">
                <a16:creationId xmlns:a16="http://schemas.microsoft.com/office/drawing/2014/main" id="{F0FFF321-1EEF-B14E-ACC8-FE16D42109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4664" y="4699393"/>
            <a:ext cx="609601" cy="381000"/>
          </a:xfrm>
          <a:prstGeom prst="roundRect">
            <a:avLst>
              <a:gd name="adj" fmla="val 16667"/>
            </a:avLst>
          </a:prstGeom>
          <a:solidFill>
            <a:srgbClr val="D3A60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1600" b="0"/>
              <a:t>router</a:t>
            </a:r>
          </a:p>
        </p:txBody>
      </p:sp>
      <p:sp>
        <p:nvSpPr>
          <p:cNvPr id="27" name="Line 24">
            <a:extLst>
              <a:ext uri="{FF2B5EF4-FFF2-40B4-BE49-F238E27FC236}">
                <a16:creationId xmlns:a16="http://schemas.microsoft.com/office/drawing/2014/main" id="{D9AD64E6-762E-E14E-8A83-BEB8E9AE3C6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578989" y="3983430"/>
            <a:ext cx="0" cy="7159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8" name="Line 25">
            <a:extLst>
              <a:ext uri="{FF2B5EF4-FFF2-40B4-BE49-F238E27FC236}">
                <a16:creationId xmlns:a16="http://schemas.microsoft.com/office/drawing/2014/main" id="{8BAF9ABF-10D7-AE4A-B06E-69DC2132B0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216659" y="4851793"/>
            <a:ext cx="1219202" cy="0"/>
          </a:xfrm>
          <a:prstGeom prst="line">
            <a:avLst/>
          </a:prstGeom>
          <a:noFill/>
          <a:ln w="7620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 dirty="0"/>
          </a:p>
        </p:txBody>
      </p:sp>
      <p:sp>
        <p:nvSpPr>
          <p:cNvPr id="29" name="Line 26">
            <a:extLst>
              <a:ext uri="{FF2B5EF4-FFF2-40B4-BE49-F238E27FC236}">
                <a16:creationId xmlns:a16="http://schemas.microsoft.com/office/drawing/2014/main" id="{E08EAC09-9063-5047-BD71-9CD1F3A5C8C4}"/>
              </a:ext>
            </a:extLst>
          </p:cNvPr>
          <p:cNvSpPr>
            <a:spLocks noChangeShapeType="1"/>
          </p:cNvSpPr>
          <p:nvPr/>
        </p:nvSpPr>
        <p:spPr bwMode="auto">
          <a:xfrm>
            <a:off x="5045462" y="4851793"/>
            <a:ext cx="1219202" cy="0"/>
          </a:xfrm>
          <a:prstGeom prst="line">
            <a:avLst/>
          </a:prstGeom>
          <a:noFill/>
          <a:ln w="7620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32" name="Text Box 30">
            <a:extLst>
              <a:ext uri="{FF2B5EF4-FFF2-40B4-BE49-F238E27FC236}">
                <a16:creationId xmlns:a16="http://schemas.microsoft.com/office/drawing/2014/main" id="{22371197-E9BB-8C4E-A93F-5632E1F33F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4070" y="3059506"/>
            <a:ext cx="114617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800" b="0" dirty="0">
                <a:latin typeface="+mn-lt"/>
              </a:rPr>
              <a:t>1.2.3.156</a:t>
            </a:r>
          </a:p>
        </p:txBody>
      </p:sp>
      <p:sp>
        <p:nvSpPr>
          <p:cNvPr id="33" name="Text Box 31">
            <a:extLst>
              <a:ext uri="{FF2B5EF4-FFF2-40B4-BE49-F238E27FC236}">
                <a16:creationId xmlns:a16="http://schemas.microsoft.com/office/drawing/2014/main" id="{5C01E7E3-499C-7F4F-B465-6B78FE6D6D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7317" y="3059506"/>
            <a:ext cx="1017589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800" b="0" dirty="0">
                <a:solidFill>
                  <a:srgbClr val="FF3300"/>
                </a:solidFill>
                <a:latin typeface="+mn-lt"/>
              </a:rPr>
              <a:t>1.2.3.48</a:t>
            </a:r>
          </a:p>
        </p:txBody>
      </p:sp>
      <p:sp>
        <p:nvSpPr>
          <p:cNvPr id="34" name="Text Box 32">
            <a:extLst>
              <a:ext uri="{FF2B5EF4-FFF2-40B4-BE49-F238E27FC236}">
                <a16:creationId xmlns:a16="http://schemas.microsoft.com/office/drawing/2014/main" id="{9412C611-4963-E148-9205-A1736A31BF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3296" y="4313631"/>
            <a:ext cx="1017589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800" b="0">
                <a:latin typeface="+mn-lt"/>
              </a:rPr>
              <a:t>1.2.3.19</a:t>
            </a:r>
          </a:p>
        </p:txBody>
      </p:sp>
      <p:sp>
        <p:nvSpPr>
          <p:cNvPr id="35" name="AutoShape 33">
            <a:extLst>
              <a:ext uri="{FF2B5EF4-FFF2-40B4-BE49-F238E27FC236}">
                <a16:creationId xmlns:a16="http://schemas.microsoft.com/office/drawing/2014/main" id="{0722595B-6149-CA4F-958B-07CD465AAE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7695" y="4696218"/>
            <a:ext cx="609601" cy="381000"/>
          </a:xfrm>
          <a:prstGeom prst="roundRect">
            <a:avLst>
              <a:gd name="adj" fmla="val 16667"/>
            </a:avLst>
          </a:prstGeom>
          <a:solidFill>
            <a:srgbClr val="D3A600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1600" b="0"/>
              <a:t>router</a:t>
            </a:r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6EF4FB82-AF8F-0241-9442-A2536A440A1D}"/>
              </a:ext>
            </a:extLst>
          </p:cNvPr>
          <p:cNvSpPr/>
          <p:nvPr/>
        </p:nvSpPr>
        <p:spPr>
          <a:xfrm flipH="1">
            <a:off x="1363488" y="3739856"/>
            <a:ext cx="6778200" cy="1264337"/>
          </a:xfrm>
          <a:custGeom>
            <a:avLst/>
            <a:gdLst>
              <a:gd name="connsiteX0" fmla="*/ 139186 w 6778200"/>
              <a:gd name="connsiteY0" fmla="*/ 40529 h 1264337"/>
              <a:gd name="connsiteX1" fmla="*/ 152698 w 6778200"/>
              <a:gd name="connsiteY1" fmla="*/ 391789 h 1264337"/>
              <a:gd name="connsiteX2" fmla="*/ 1693024 w 6778200"/>
              <a:gd name="connsiteY2" fmla="*/ 486359 h 1264337"/>
              <a:gd name="connsiteX3" fmla="*/ 1733559 w 6778200"/>
              <a:gd name="connsiteY3" fmla="*/ 1202387 h 1264337"/>
              <a:gd name="connsiteX4" fmla="*/ 5057422 w 6778200"/>
              <a:gd name="connsiteY4" fmla="*/ 1121327 h 1264337"/>
              <a:gd name="connsiteX5" fmla="*/ 5124980 w 6778200"/>
              <a:gd name="connsiteY5" fmla="*/ 270199 h 1264337"/>
              <a:gd name="connsiteX6" fmla="*/ 6624772 w 6778200"/>
              <a:gd name="connsiteY6" fmla="*/ 216159 h 1264337"/>
              <a:gd name="connsiteX7" fmla="*/ 6651795 w 6778200"/>
              <a:gd name="connsiteY7" fmla="*/ 0 h 1264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778200" h="1264337">
                <a:moveTo>
                  <a:pt x="139186" y="40529"/>
                </a:moveTo>
                <a:cubicBezTo>
                  <a:pt x="16455" y="179006"/>
                  <a:pt x="-106275" y="317484"/>
                  <a:pt x="152698" y="391789"/>
                </a:cubicBezTo>
                <a:cubicBezTo>
                  <a:pt x="411671" y="466094"/>
                  <a:pt x="1429547" y="351259"/>
                  <a:pt x="1693024" y="486359"/>
                </a:cubicBezTo>
                <a:cubicBezTo>
                  <a:pt x="1956501" y="621459"/>
                  <a:pt x="1172826" y="1096559"/>
                  <a:pt x="1733559" y="1202387"/>
                </a:cubicBezTo>
                <a:cubicBezTo>
                  <a:pt x="2294292" y="1308215"/>
                  <a:pt x="4492185" y="1276692"/>
                  <a:pt x="5057422" y="1121327"/>
                </a:cubicBezTo>
                <a:cubicBezTo>
                  <a:pt x="5622659" y="965962"/>
                  <a:pt x="4863755" y="421060"/>
                  <a:pt x="5124980" y="270199"/>
                </a:cubicBezTo>
                <a:cubicBezTo>
                  <a:pt x="5386205" y="119338"/>
                  <a:pt x="6370303" y="261192"/>
                  <a:pt x="6624772" y="216159"/>
                </a:cubicBezTo>
                <a:cubicBezTo>
                  <a:pt x="6879241" y="171126"/>
                  <a:pt x="6765518" y="85563"/>
                  <a:pt x="6651795" y="0"/>
                </a:cubicBezTo>
              </a:path>
            </a:pathLst>
          </a:custGeom>
          <a:ln w="28575" cmpd="sng">
            <a:solidFill>
              <a:srgbClr val="008000"/>
            </a:solidFill>
            <a:headEnd type="none"/>
            <a:tailEnd type="triangle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ABC495-69A2-1549-A24F-EED312FB8AF1}"/>
              </a:ext>
            </a:extLst>
          </p:cNvPr>
          <p:cNvSpPr/>
          <p:nvPr/>
        </p:nvSpPr>
        <p:spPr bwMode="auto">
          <a:xfrm>
            <a:off x="7697227" y="1676400"/>
            <a:ext cx="640080" cy="182880"/>
          </a:xfrm>
          <a:prstGeom prst="rect">
            <a:avLst/>
          </a:prstGeom>
          <a:solidFill>
            <a:srgbClr val="333399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F46619C-F3D4-E048-8B84-FAB96EDA59D8}"/>
              </a:ext>
            </a:extLst>
          </p:cNvPr>
          <p:cNvSpPr/>
          <p:nvPr/>
        </p:nvSpPr>
        <p:spPr bwMode="auto">
          <a:xfrm>
            <a:off x="7697227" y="1869440"/>
            <a:ext cx="640080" cy="182880"/>
          </a:xfrm>
          <a:prstGeom prst="rect">
            <a:avLst/>
          </a:prstGeom>
          <a:solidFill>
            <a:srgbClr val="333399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3857E1D-4E65-B943-BC57-4109740BBB13}"/>
              </a:ext>
            </a:extLst>
          </p:cNvPr>
          <p:cNvSpPr/>
          <p:nvPr/>
        </p:nvSpPr>
        <p:spPr bwMode="auto">
          <a:xfrm>
            <a:off x="7697227" y="2255520"/>
            <a:ext cx="640080" cy="182880"/>
          </a:xfrm>
          <a:prstGeom prst="rect">
            <a:avLst/>
          </a:prstGeom>
          <a:solidFill>
            <a:srgbClr val="333399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7357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7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1.11111E-6 L -0.19445 0.43565 C -0.23525 0.5338 -0.29636 0.5868 -0.35955 0.5868 C -0.43212 0.5868 -0.48993 0.5338 -0.53073 0.43565 L -0.725 1.11111E-6 " pathEditMode="relative" rAng="0" ptsTypes="AAAAA">
                                      <p:cBhvr>
                                        <p:cTn id="11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6250" y="29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37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8 3.7037E-7 L -0.1948 0.42292 C -0.23559 0.51829 -0.29653 0.56968 -0.3599 0.56968 C -0.43247 0.56968 -0.49028 0.51829 -0.53108 0.42292 L -0.725 3.7037E-7 " pathEditMode="relative" rAng="0" ptsTypes="AAAAA">
                                      <p:cBhvr>
                                        <p:cTn id="15" dur="2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6250" y="2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1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0.01667 C -0.00677 1.11111E-6 -0.03021 -0.01597 -0.03837 -0.01597 C -0.09028 -0.01597 -0.14375 0.24051 -0.14375 0.49722 C -0.14375 0.36782 -0.17049 0.24051 -0.19566 0.24051 C -0.2224 0.24051 -0.24757 0.36967 -0.24757 0.49722 C -0.24757 0.43333 -0.26094 0.36782 -0.27431 0.36782 C -0.28768 0.36782 -0.30105 0.43148 -0.30105 0.49722 C -0.30105 0.46435 -0.30764 0.43333 -0.31424 0.43333 C -0.32101 0.43333 -0.32761 0.4662 -0.32761 0.49722 C -0.32761 0.48055 -0.33108 0.46435 -0.33438 0.46435 C -0.33611 0.46435 -0.34098 0.48102 -0.34098 0.49722 C -0.34098 0.48912 -0.34271 0.48055 -0.34445 0.48055 C -0.34445 0.47847 -0.34792 0.48866 -0.34792 0.49722 C -0.34792 0.49282 -0.34792 0.48912 -0.34966 0.48912 C -0.34966 0.49097 -0.35139 0.49329 -0.35139 0.49722 C -0.35139 0.49514 -0.35139 0.49282 -0.35139 0.49097 C -0.35313 0.49097 -0.35313 0.49282 -0.35313 0.49514 C -0.35486 0.49514 -0.35486 0.49329 -0.35486 0.49097 C -0.3566 0.49097 -0.3566 0.49282 -0.3566 0.49514 " pathEditMode="relative" rAng="0" ptsTypes="AAAAAAAAAAAAAAAAAAA">
                                      <p:cBhvr>
                                        <p:cTn id="19" dur="2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830" y="2238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7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3.7037E-7 L -0.19462 0.36458 C -0.23559 0.44676 -0.29618 0.4912 -0.35955 0.4912 C -0.4323 0.4912 -0.49011 0.44676 -0.53108 0.36458 L -0.725 3.7037E-7 " pathEditMode="relative" rAng="0" ptsTypes="AAAAA">
                                      <p:cBhvr>
                                        <p:cTn id="29" dur="2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6250" y="2456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37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-4.44444E-6 L -0.19445 0.41042 C -0.23559 0.50278 -0.29636 0.55278 -0.3599 0.55278 C -0.4323 0.55278 -0.49011 0.50278 -0.53108 0.41042 L -0.725 -4.44444E-6 " pathEditMode="relative" rAng="0" ptsTypes="AAAAA">
                                      <p:cBhvr>
                                        <p:cTn id="37" dur="2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6250" y="276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43" grpId="1" animBg="1"/>
      <p:bldP spid="44" grpId="0" animBg="1"/>
      <p:bldP spid="44" grpId="1" animBg="1"/>
      <p:bldP spid="36" grpId="0" animBg="1"/>
      <p:bldP spid="3" grpId="0" animBg="1"/>
      <p:bldP spid="41" grpId="0" animBg="1"/>
      <p:bldP spid="4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FEFE661-8110-8042-A8A8-D6D3BADB9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get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834463-AF8F-2047-80D9-3A4250103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40350F-F31F-DA47-88B2-0476888B4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588E8-06F0-A24D-AC56-6148AA0D9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19</a:t>
            </a:fld>
            <a:endParaRPr lang="en-US"/>
          </a:p>
        </p:txBody>
      </p:sp>
      <p:pic>
        <p:nvPicPr>
          <p:cNvPr id="8" name="Graphic 7" descr="User">
            <a:extLst>
              <a:ext uri="{FF2B5EF4-FFF2-40B4-BE49-F238E27FC236}">
                <a16:creationId xmlns:a16="http://schemas.microsoft.com/office/drawing/2014/main" id="{2FEA4671-867C-9245-8D65-52D96D9E18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313" y="3074413"/>
            <a:ext cx="914400" cy="91440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44F33372-7F6D-E449-948F-249B8F681EF4}"/>
              </a:ext>
            </a:extLst>
          </p:cNvPr>
          <p:cNvGrpSpPr/>
          <p:nvPr/>
        </p:nvGrpSpPr>
        <p:grpSpPr>
          <a:xfrm>
            <a:off x="1503037" y="2819400"/>
            <a:ext cx="1486304" cy="1522495"/>
            <a:chOff x="4065179" y="2303184"/>
            <a:chExt cx="1486304" cy="1522495"/>
          </a:xfrm>
        </p:grpSpPr>
        <p:pic>
          <p:nvPicPr>
            <p:cNvPr id="10" name="Graphic 9" descr="Internet">
              <a:extLst>
                <a:ext uri="{FF2B5EF4-FFF2-40B4-BE49-F238E27FC236}">
                  <a16:creationId xmlns:a16="http://schemas.microsoft.com/office/drawing/2014/main" id="{CB39A836-F4E0-154A-BF18-F04D915633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179437" y="2454079"/>
              <a:ext cx="1371600" cy="13716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2688643-4F5A-CA40-B6A8-7646FD1B3B79}"/>
                </a:ext>
              </a:extLst>
            </p:cNvPr>
            <p:cNvSpPr txBox="1"/>
            <p:nvPr/>
          </p:nvSpPr>
          <p:spPr>
            <a:xfrm>
              <a:off x="4065179" y="2303184"/>
              <a:ext cx="14863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http://123.xyz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D7DEE84-3265-454B-9C99-1956E556D148}"/>
              </a:ext>
            </a:extLst>
          </p:cNvPr>
          <p:cNvGrpSpPr/>
          <p:nvPr/>
        </p:nvGrpSpPr>
        <p:grpSpPr>
          <a:xfrm>
            <a:off x="6593012" y="2807305"/>
            <a:ext cx="1587294" cy="1294074"/>
            <a:chOff x="6793796" y="1581092"/>
            <a:chExt cx="1587294" cy="1294074"/>
          </a:xfrm>
        </p:grpSpPr>
        <p:pic>
          <p:nvPicPr>
            <p:cNvPr id="13" name="Graphic 12" descr="Server">
              <a:extLst>
                <a:ext uri="{FF2B5EF4-FFF2-40B4-BE49-F238E27FC236}">
                  <a16:creationId xmlns:a16="http://schemas.microsoft.com/office/drawing/2014/main" id="{60FC4740-CAA5-2544-B542-D3285101833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141366" y="1960766"/>
              <a:ext cx="914400" cy="914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C74337C-0CAA-B440-B613-5A66F034DA22}"/>
                </a:ext>
              </a:extLst>
            </p:cNvPr>
            <p:cNvSpPr txBox="1"/>
            <p:nvPr/>
          </p:nvSpPr>
          <p:spPr>
            <a:xfrm>
              <a:off x="6793796" y="1581092"/>
              <a:ext cx="158729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123.xyz server</a:t>
              </a:r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2898FD97-E2A7-C844-B4EE-E1BC304EC53D}"/>
              </a:ext>
            </a:extLst>
          </p:cNvPr>
          <p:cNvSpPr/>
          <p:nvPr/>
        </p:nvSpPr>
        <p:spPr bwMode="auto">
          <a:xfrm>
            <a:off x="1983055" y="3220249"/>
            <a:ext cx="640080" cy="731520"/>
          </a:xfrm>
          <a:prstGeom prst="rect">
            <a:avLst/>
          </a:prstGeom>
          <a:solidFill>
            <a:srgbClr val="333399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</a:rPr>
              <a:t>Hello</a:t>
            </a:r>
          </a:p>
        </p:txBody>
      </p:sp>
    </p:spTree>
    <p:extLst>
      <p:ext uri="{BB962C8B-B14F-4D97-AF65-F5344CB8AC3E}">
        <p14:creationId xmlns:p14="http://schemas.microsoft.com/office/powerpoint/2010/main" val="3396967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Shape 13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Layers</a:t>
            </a:r>
          </a:p>
        </p:txBody>
      </p:sp>
      <p:sp>
        <p:nvSpPr>
          <p:cNvPr id="132" name="Shape 13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Layer: a part of a system with well-defined interfaces to other parts</a:t>
            </a:r>
          </a:p>
          <a:p>
            <a:r>
              <a:rPr lang="en-US" dirty="0"/>
              <a:t>One layer interacts only with layer above and layer below</a:t>
            </a:r>
          </a:p>
          <a:p>
            <a:r>
              <a:rPr lang="en-US" dirty="0"/>
              <a:t>Two layers interact only through the interface between them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01CA2-0DEA-164F-A2F3-BDAB2F49714C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31620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Layers in practice</a:t>
            </a:r>
          </a:p>
        </p:txBody>
      </p:sp>
      <p:sp>
        <p:nvSpPr>
          <p:cNvPr id="2969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Lower three layers implemented everywhere</a:t>
            </a:r>
          </a:p>
          <a:p>
            <a:r>
              <a:rPr lang="en-US" dirty="0"/>
              <a:t>Top two layers implemented only at hosts</a:t>
            </a:r>
          </a:p>
        </p:txBody>
      </p:sp>
      <p:sp>
        <p:nvSpPr>
          <p:cNvPr id="29699" name="Rectangle 4"/>
          <p:cNvSpPr>
            <a:spLocks noChangeArrowheads="1"/>
          </p:cNvSpPr>
          <p:nvPr/>
        </p:nvSpPr>
        <p:spPr bwMode="auto">
          <a:xfrm>
            <a:off x="1066800" y="3822700"/>
            <a:ext cx="1703388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29700" name="Text Box 5"/>
          <p:cNvSpPr txBox="1">
            <a:spLocks noChangeArrowheads="1"/>
          </p:cNvSpPr>
          <p:nvPr/>
        </p:nvSpPr>
        <p:spPr bwMode="auto">
          <a:xfrm>
            <a:off x="1233488" y="3806825"/>
            <a:ext cx="136795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Transport</a:t>
            </a:r>
          </a:p>
        </p:txBody>
      </p:sp>
      <p:sp>
        <p:nvSpPr>
          <p:cNvPr id="29701" name="Rectangle 6"/>
          <p:cNvSpPr>
            <a:spLocks noChangeArrowheads="1"/>
          </p:cNvSpPr>
          <p:nvPr/>
        </p:nvSpPr>
        <p:spPr bwMode="auto">
          <a:xfrm>
            <a:off x="1066800" y="4203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9702" name="Text Box 7"/>
          <p:cNvSpPr txBox="1">
            <a:spLocks noChangeArrowheads="1"/>
          </p:cNvSpPr>
          <p:nvPr/>
        </p:nvSpPr>
        <p:spPr bwMode="auto">
          <a:xfrm>
            <a:off x="1325563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29703" name="Rectangle 8"/>
          <p:cNvSpPr>
            <a:spLocks noChangeArrowheads="1"/>
          </p:cNvSpPr>
          <p:nvPr/>
        </p:nvSpPr>
        <p:spPr bwMode="auto">
          <a:xfrm>
            <a:off x="1066800" y="4584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9704" name="Text Box 9"/>
          <p:cNvSpPr txBox="1">
            <a:spLocks noChangeArrowheads="1"/>
          </p:cNvSpPr>
          <p:nvPr/>
        </p:nvSpPr>
        <p:spPr bwMode="auto">
          <a:xfrm>
            <a:off x="1331913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29705" name="Rectangle 10"/>
          <p:cNvSpPr>
            <a:spLocks noChangeArrowheads="1"/>
          </p:cNvSpPr>
          <p:nvPr/>
        </p:nvSpPr>
        <p:spPr bwMode="auto">
          <a:xfrm>
            <a:off x="1066800" y="4965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9706" name="Text Box 11"/>
          <p:cNvSpPr txBox="1">
            <a:spLocks noChangeArrowheads="1"/>
          </p:cNvSpPr>
          <p:nvPr/>
        </p:nvSpPr>
        <p:spPr bwMode="auto">
          <a:xfrm>
            <a:off x="1311275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sp>
        <p:nvSpPr>
          <p:cNvPr id="29707" name="Rectangle 12"/>
          <p:cNvSpPr>
            <a:spLocks noChangeArrowheads="1"/>
          </p:cNvSpPr>
          <p:nvPr/>
        </p:nvSpPr>
        <p:spPr bwMode="auto">
          <a:xfrm>
            <a:off x="6477000" y="3822700"/>
            <a:ext cx="1703388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29708" name="Text Box 13"/>
          <p:cNvSpPr txBox="1">
            <a:spLocks noChangeArrowheads="1"/>
          </p:cNvSpPr>
          <p:nvPr/>
        </p:nvSpPr>
        <p:spPr bwMode="auto">
          <a:xfrm>
            <a:off x="6643688" y="3806825"/>
            <a:ext cx="136795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Transport</a:t>
            </a:r>
          </a:p>
        </p:txBody>
      </p:sp>
      <p:sp>
        <p:nvSpPr>
          <p:cNvPr id="29709" name="Rectangle 14"/>
          <p:cNvSpPr>
            <a:spLocks noChangeArrowheads="1"/>
          </p:cNvSpPr>
          <p:nvPr/>
        </p:nvSpPr>
        <p:spPr bwMode="auto">
          <a:xfrm>
            <a:off x="6477000" y="4203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9710" name="Text Box 15"/>
          <p:cNvSpPr txBox="1">
            <a:spLocks noChangeArrowheads="1"/>
          </p:cNvSpPr>
          <p:nvPr/>
        </p:nvSpPr>
        <p:spPr bwMode="auto">
          <a:xfrm>
            <a:off x="6735763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29711" name="Rectangle 16"/>
          <p:cNvSpPr>
            <a:spLocks noChangeArrowheads="1"/>
          </p:cNvSpPr>
          <p:nvPr/>
        </p:nvSpPr>
        <p:spPr bwMode="auto">
          <a:xfrm>
            <a:off x="6477000" y="4584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9712" name="Text Box 17"/>
          <p:cNvSpPr txBox="1">
            <a:spLocks noChangeArrowheads="1"/>
          </p:cNvSpPr>
          <p:nvPr/>
        </p:nvSpPr>
        <p:spPr bwMode="auto">
          <a:xfrm>
            <a:off x="6742113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29713" name="Rectangle 18"/>
          <p:cNvSpPr>
            <a:spLocks noChangeArrowheads="1"/>
          </p:cNvSpPr>
          <p:nvPr/>
        </p:nvSpPr>
        <p:spPr bwMode="auto">
          <a:xfrm>
            <a:off x="6477000" y="4965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9714" name="Text Box 19"/>
          <p:cNvSpPr txBox="1">
            <a:spLocks noChangeArrowheads="1"/>
          </p:cNvSpPr>
          <p:nvPr/>
        </p:nvSpPr>
        <p:spPr bwMode="auto">
          <a:xfrm>
            <a:off x="6721475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sp>
        <p:nvSpPr>
          <p:cNvPr id="29715" name="Rectangle 20"/>
          <p:cNvSpPr>
            <a:spLocks noChangeArrowheads="1"/>
          </p:cNvSpPr>
          <p:nvPr/>
        </p:nvSpPr>
        <p:spPr bwMode="auto">
          <a:xfrm>
            <a:off x="3706813" y="4203700"/>
            <a:ext cx="1703387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9716" name="Text Box 21"/>
          <p:cNvSpPr txBox="1">
            <a:spLocks noChangeArrowheads="1"/>
          </p:cNvSpPr>
          <p:nvPr/>
        </p:nvSpPr>
        <p:spPr bwMode="auto">
          <a:xfrm>
            <a:off x="3965575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29717" name="Rectangle 22"/>
          <p:cNvSpPr>
            <a:spLocks noChangeArrowheads="1"/>
          </p:cNvSpPr>
          <p:nvPr/>
        </p:nvSpPr>
        <p:spPr bwMode="auto">
          <a:xfrm>
            <a:off x="3706813" y="4584700"/>
            <a:ext cx="1703387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9718" name="Text Box 23"/>
          <p:cNvSpPr txBox="1">
            <a:spLocks noChangeArrowheads="1"/>
          </p:cNvSpPr>
          <p:nvPr/>
        </p:nvSpPr>
        <p:spPr bwMode="auto">
          <a:xfrm>
            <a:off x="3971925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29719" name="Rectangle 24"/>
          <p:cNvSpPr>
            <a:spLocks noChangeArrowheads="1"/>
          </p:cNvSpPr>
          <p:nvPr/>
        </p:nvSpPr>
        <p:spPr bwMode="auto">
          <a:xfrm>
            <a:off x="3706813" y="4965700"/>
            <a:ext cx="1703387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9720" name="Text Box 25"/>
          <p:cNvSpPr txBox="1">
            <a:spLocks noChangeArrowheads="1"/>
          </p:cNvSpPr>
          <p:nvPr/>
        </p:nvSpPr>
        <p:spPr bwMode="auto">
          <a:xfrm>
            <a:off x="3951288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cxnSp>
        <p:nvCxnSpPr>
          <p:cNvPr id="29721" name="AutoShape 26"/>
          <p:cNvCxnSpPr>
            <a:cxnSpLocks noChangeShapeType="1"/>
            <a:stCxn id="29705" idx="3"/>
            <a:endCxn id="29719" idx="1"/>
          </p:cNvCxnSpPr>
          <p:nvPr/>
        </p:nvCxnSpPr>
        <p:spPr bwMode="auto">
          <a:xfrm>
            <a:off x="2782888" y="5156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9722" name="AutoShape 27"/>
          <p:cNvCxnSpPr>
            <a:cxnSpLocks noChangeShapeType="1"/>
            <a:stCxn id="29703" idx="3"/>
            <a:endCxn id="29717" idx="1"/>
          </p:cNvCxnSpPr>
          <p:nvPr/>
        </p:nvCxnSpPr>
        <p:spPr bwMode="auto">
          <a:xfrm>
            <a:off x="2782888" y="4775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9723" name="AutoShape 28"/>
          <p:cNvCxnSpPr>
            <a:cxnSpLocks noChangeShapeType="1"/>
            <a:stCxn id="29701" idx="3"/>
            <a:endCxn id="29715" idx="1"/>
          </p:cNvCxnSpPr>
          <p:nvPr/>
        </p:nvCxnSpPr>
        <p:spPr bwMode="auto">
          <a:xfrm>
            <a:off x="2782888" y="4394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9724" name="AutoShape 29"/>
          <p:cNvCxnSpPr>
            <a:cxnSpLocks noChangeShapeType="1"/>
            <a:stCxn id="29719" idx="3"/>
            <a:endCxn id="29713" idx="1"/>
          </p:cNvCxnSpPr>
          <p:nvPr/>
        </p:nvCxnSpPr>
        <p:spPr bwMode="auto">
          <a:xfrm>
            <a:off x="5422900" y="5156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9725" name="AutoShape 30"/>
          <p:cNvCxnSpPr>
            <a:cxnSpLocks noChangeShapeType="1"/>
            <a:stCxn id="29717" idx="3"/>
            <a:endCxn id="29711" idx="1"/>
          </p:cNvCxnSpPr>
          <p:nvPr/>
        </p:nvCxnSpPr>
        <p:spPr bwMode="auto">
          <a:xfrm>
            <a:off x="5422900" y="4775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9726" name="AutoShape 31"/>
          <p:cNvCxnSpPr>
            <a:cxnSpLocks noChangeShapeType="1"/>
            <a:stCxn id="29715" idx="3"/>
            <a:endCxn id="29709" idx="1"/>
          </p:cNvCxnSpPr>
          <p:nvPr/>
        </p:nvCxnSpPr>
        <p:spPr bwMode="auto">
          <a:xfrm>
            <a:off x="5422900" y="4394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9727" name="AutoShape 32"/>
          <p:cNvCxnSpPr>
            <a:cxnSpLocks noChangeShapeType="1"/>
            <a:stCxn id="29699" idx="3"/>
            <a:endCxn id="29707" idx="1"/>
          </p:cNvCxnSpPr>
          <p:nvPr/>
        </p:nvCxnSpPr>
        <p:spPr bwMode="auto">
          <a:xfrm>
            <a:off x="2782888" y="4013200"/>
            <a:ext cx="3681412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grpSp>
        <p:nvGrpSpPr>
          <p:cNvPr id="29728" name="Group 33"/>
          <p:cNvGrpSpPr>
            <a:grpSpLocks/>
          </p:cNvGrpSpPr>
          <p:nvPr/>
        </p:nvGrpSpPr>
        <p:grpSpPr bwMode="auto">
          <a:xfrm>
            <a:off x="1066800" y="3441700"/>
            <a:ext cx="7113588" cy="400050"/>
            <a:chOff x="647" y="2280"/>
            <a:chExt cx="4481" cy="252"/>
          </a:xfrm>
        </p:grpSpPr>
        <p:sp>
          <p:nvSpPr>
            <p:cNvPr id="29732" name="Rectangle 34"/>
            <p:cNvSpPr>
              <a:spLocks noChangeArrowheads="1"/>
            </p:cNvSpPr>
            <p:nvPr/>
          </p:nvSpPr>
          <p:spPr bwMode="auto">
            <a:xfrm>
              <a:off x="647" y="2280"/>
              <a:ext cx="1073" cy="240"/>
            </a:xfrm>
            <a:prstGeom prst="rect">
              <a:avLst/>
            </a:prstGeom>
            <a:solidFill>
              <a:srgbClr val="0000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solidFill>
                  <a:schemeClr val="bg1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29733" name="Text Box 35"/>
            <p:cNvSpPr txBox="1">
              <a:spLocks noChangeArrowheads="1"/>
            </p:cNvSpPr>
            <p:nvPr/>
          </p:nvSpPr>
          <p:spPr bwMode="auto">
            <a:xfrm>
              <a:off x="695" y="2280"/>
              <a:ext cx="99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30" tIns="45716" rIns="91430" bIns="45716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rPr>
                <a:t>Application</a:t>
              </a:r>
            </a:p>
          </p:txBody>
        </p:sp>
        <p:sp>
          <p:nvSpPr>
            <p:cNvPr id="29734" name="Rectangle 36"/>
            <p:cNvSpPr>
              <a:spLocks noChangeArrowheads="1"/>
            </p:cNvSpPr>
            <p:nvPr/>
          </p:nvSpPr>
          <p:spPr bwMode="auto">
            <a:xfrm>
              <a:off x="4055" y="2280"/>
              <a:ext cx="1073" cy="240"/>
            </a:xfrm>
            <a:prstGeom prst="rect">
              <a:avLst/>
            </a:prstGeom>
            <a:solidFill>
              <a:srgbClr val="0000FF"/>
            </a:solidFill>
            <a:ln w="254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solidFill>
                  <a:schemeClr val="bg1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29735" name="Text Box 37"/>
            <p:cNvSpPr txBox="1">
              <a:spLocks noChangeArrowheads="1"/>
            </p:cNvSpPr>
            <p:nvPr/>
          </p:nvSpPr>
          <p:spPr bwMode="auto">
            <a:xfrm>
              <a:off x="4076" y="2280"/>
              <a:ext cx="99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30" tIns="45716" rIns="91430" bIns="45716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l"/>
              <a:r>
                <a:rPr lang="en-US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rPr>
                <a:t>Application</a:t>
              </a:r>
            </a:p>
          </p:txBody>
        </p:sp>
        <p:cxnSp>
          <p:nvCxnSpPr>
            <p:cNvPr id="29736" name="AutoShape 38"/>
            <p:cNvCxnSpPr>
              <a:cxnSpLocks noChangeShapeType="1"/>
              <a:stCxn id="29732" idx="3"/>
              <a:endCxn id="29735" idx="1"/>
            </p:cNvCxnSpPr>
            <p:nvPr/>
          </p:nvCxnSpPr>
          <p:spPr bwMode="auto">
            <a:xfrm>
              <a:off x="1720" y="2400"/>
              <a:ext cx="2356" cy="6"/>
            </a:xfrm>
            <a:prstGeom prst="straightConnector1">
              <a:avLst/>
            </a:prstGeom>
            <a:noFill/>
            <a:ln w="19050">
              <a:solidFill>
                <a:schemeClr val="tx1"/>
              </a:solidFill>
              <a:prstDash val="sysDot"/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sp>
        <p:nvSpPr>
          <p:cNvPr id="29729" name="Text Box 39"/>
          <p:cNvSpPr txBox="1">
            <a:spLocks noChangeArrowheads="1"/>
          </p:cNvSpPr>
          <p:nvPr/>
        </p:nvSpPr>
        <p:spPr bwMode="auto">
          <a:xfrm>
            <a:off x="817399" y="5499100"/>
            <a:ext cx="2200603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End system</a:t>
            </a:r>
          </a:p>
        </p:txBody>
      </p:sp>
      <p:sp>
        <p:nvSpPr>
          <p:cNvPr id="29730" name="Text Box 40"/>
          <p:cNvSpPr txBox="1">
            <a:spLocks noChangeArrowheads="1"/>
          </p:cNvSpPr>
          <p:nvPr/>
        </p:nvSpPr>
        <p:spPr bwMode="auto">
          <a:xfrm>
            <a:off x="6229187" y="5499100"/>
            <a:ext cx="2200603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End system</a:t>
            </a:r>
          </a:p>
        </p:txBody>
      </p:sp>
      <p:sp>
        <p:nvSpPr>
          <p:cNvPr id="29731" name="Text Box 41"/>
          <p:cNvSpPr txBox="1">
            <a:spLocks noChangeArrowheads="1"/>
          </p:cNvSpPr>
          <p:nvPr/>
        </p:nvSpPr>
        <p:spPr bwMode="auto">
          <a:xfrm>
            <a:off x="3887818" y="5499100"/>
            <a:ext cx="1339790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Switch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091638"/>
      </p:ext>
    </p:extLst>
  </p:cSld>
  <p:clrMapOvr>
    <a:masterClrMapping/>
  </p:clrMapOvr>
  <p:transition spd="slow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 encapsulation: </a:t>
            </a:r>
            <a:br>
              <a:rPr lang="en-US" dirty="0"/>
            </a:br>
            <a:r>
              <a:rPr lang="en-US" dirty="0"/>
              <a:t>Protocol headers</a:t>
            </a:r>
          </a:p>
        </p:txBody>
      </p:sp>
      <p:sp>
        <p:nvSpPr>
          <p:cNvPr id="27690" name="Line 4"/>
          <p:cNvSpPr>
            <a:spLocks noChangeShapeType="1"/>
          </p:cNvSpPr>
          <p:nvPr/>
        </p:nvSpPr>
        <p:spPr bwMode="auto">
          <a:xfrm>
            <a:off x="1600200" y="2438400"/>
            <a:ext cx="0" cy="312420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91" name="Line 5"/>
          <p:cNvSpPr>
            <a:spLocks noChangeShapeType="1"/>
          </p:cNvSpPr>
          <p:nvPr/>
        </p:nvSpPr>
        <p:spPr bwMode="auto">
          <a:xfrm flipV="1">
            <a:off x="7391400" y="2438400"/>
            <a:ext cx="0" cy="312420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93" name="Line 7"/>
          <p:cNvSpPr>
            <a:spLocks noChangeShapeType="1"/>
          </p:cNvSpPr>
          <p:nvPr/>
        </p:nvSpPr>
        <p:spPr bwMode="auto">
          <a:xfrm>
            <a:off x="1600200" y="5562600"/>
            <a:ext cx="5791200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3" name="Rectangle 11"/>
          <p:cNvSpPr>
            <a:spLocks noChangeArrowheads="1"/>
          </p:cNvSpPr>
          <p:nvPr/>
        </p:nvSpPr>
        <p:spPr bwMode="auto">
          <a:xfrm rot="10800000">
            <a:off x="2741613" y="3733800"/>
            <a:ext cx="609600" cy="304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4" name="Rectangle 12"/>
          <p:cNvSpPr>
            <a:spLocks noChangeArrowheads="1"/>
          </p:cNvSpPr>
          <p:nvPr/>
        </p:nvSpPr>
        <p:spPr bwMode="auto">
          <a:xfrm rot="10800000">
            <a:off x="2589213" y="3733800"/>
            <a:ext cx="228600" cy="304800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5" name="Rectangle 13"/>
          <p:cNvSpPr>
            <a:spLocks noChangeArrowheads="1"/>
          </p:cNvSpPr>
          <p:nvPr/>
        </p:nvSpPr>
        <p:spPr bwMode="auto">
          <a:xfrm>
            <a:off x="914400" y="3429000"/>
            <a:ext cx="1447800" cy="838200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6" name="Rectangle 14"/>
          <p:cNvSpPr>
            <a:spLocks noChangeArrowheads="1"/>
          </p:cNvSpPr>
          <p:nvPr/>
        </p:nvSpPr>
        <p:spPr bwMode="auto">
          <a:xfrm>
            <a:off x="6629400" y="3429000"/>
            <a:ext cx="1447800" cy="838200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7" name="Rectangle 15"/>
          <p:cNvSpPr>
            <a:spLocks noChangeArrowheads="1"/>
          </p:cNvSpPr>
          <p:nvPr/>
        </p:nvSpPr>
        <p:spPr bwMode="auto">
          <a:xfrm rot="10800000">
            <a:off x="5865813" y="3733800"/>
            <a:ext cx="609600" cy="304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8" name="Rectangle 16"/>
          <p:cNvSpPr>
            <a:spLocks noChangeArrowheads="1"/>
          </p:cNvSpPr>
          <p:nvPr/>
        </p:nvSpPr>
        <p:spPr bwMode="auto">
          <a:xfrm rot="10800000">
            <a:off x="5713413" y="3733800"/>
            <a:ext cx="228600" cy="304800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9" name="Text Box 17"/>
          <p:cNvSpPr txBox="1">
            <a:spLocks noChangeArrowheads="1"/>
          </p:cNvSpPr>
          <p:nvPr/>
        </p:nvSpPr>
        <p:spPr bwMode="auto">
          <a:xfrm>
            <a:off x="3752850" y="3657600"/>
            <a:ext cx="16081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0" tIns="45712" rIns="91420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b="0" dirty="0">
                <a:solidFill>
                  <a:srgbClr val="000000"/>
                </a:solidFill>
                <a:latin typeface="Arial" charset="0"/>
              </a:rPr>
              <a:t>TCP header</a:t>
            </a:r>
          </a:p>
        </p:txBody>
      </p:sp>
      <p:sp>
        <p:nvSpPr>
          <p:cNvPr id="27674" name="Rectangle 19"/>
          <p:cNvSpPr>
            <a:spLocks noChangeArrowheads="1"/>
          </p:cNvSpPr>
          <p:nvPr/>
        </p:nvSpPr>
        <p:spPr bwMode="auto">
          <a:xfrm rot="10800000">
            <a:off x="2895600" y="4343400"/>
            <a:ext cx="609600" cy="304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75" name="Rectangle 20"/>
          <p:cNvSpPr>
            <a:spLocks noChangeArrowheads="1"/>
          </p:cNvSpPr>
          <p:nvPr/>
        </p:nvSpPr>
        <p:spPr bwMode="auto">
          <a:xfrm rot="10800000">
            <a:off x="2667000" y="4343400"/>
            <a:ext cx="304800" cy="304800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76" name="Rectangle 21"/>
          <p:cNvSpPr>
            <a:spLocks noChangeArrowheads="1"/>
          </p:cNvSpPr>
          <p:nvPr/>
        </p:nvSpPr>
        <p:spPr bwMode="auto">
          <a:xfrm rot="10800000">
            <a:off x="2590800" y="4343400"/>
            <a:ext cx="152400" cy="304800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77" name="Rectangle 22"/>
          <p:cNvSpPr>
            <a:spLocks noChangeArrowheads="1"/>
          </p:cNvSpPr>
          <p:nvPr/>
        </p:nvSpPr>
        <p:spPr bwMode="auto">
          <a:xfrm>
            <a:off x="914400" y="4267200"/>
            <a:ext cx="1447800" cy="457200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78" name="Rectangle 23"/>
          <p:cNvSpPr>
            <a:spLocks noChangeArrowheads="1"/>
          </p:cNvSpPr>
          <p:nvPr/>
        </p:nvSpPr>
        <p:spPr bwMode="auto">
          <a:xfrm>
            <a:off x="6629400" y="4267200"/>
            <a:ext cx="1447800" cy="457200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79" name="Rectangle 24"/>
          <p:cNvSpPr>
            <a:spLocks noChangeArrowheads="1"/>
          </p:cNvSpPr>
          <p:nvPr/>
        </p:nvSpPr>
        <p:spPr bwMode="auto">
          <a:xfrm rot="10800000">
            <a:off x="5865813" y="4343400"/>
            <a:ext cx="609600" cy="304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0" name="Rectangle 25"/>
          <p:cNvSpPr>
            <a:spLocks noChangeArrowheads="1"/>
          </p:cNvSpPr>
          <p:nvPr/>
        </p:nvSpPr>
        <p:spPr bwMode="auto">
          <a:xfrm rot="10800000">
            <a:off x="5637213" y="4343400"/>
            <a:ext cx="304800" cy="304800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1" name="Rectangle 26"/>
          <p:cNvSpPr>
            <a:spLocks noChangeArrowheads="1"/>
          </p:cNvSpPr>
          <p:nvPr/>
        </p:nvSpPr>
        <p:spPr bwMode="auto">
          <a:xfrm rot="10800000">
            <a:off x="5561013" y="4343400"/>
            <a:ext cx="152400" cy="304800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82" name="Text Box 27"/>
          <p:cNvSpPr txBox="1">
            <a:spLocks noChangeArrowheads="1"/>
          </p:cNvSpPr>
          <p:nvPr/>
        </p:nvSpPr>
        <p:spPr bwMode="auto">
          <a:xfrm>
            <a:off x="3636962" y="4267200"/>
            <a:ext cx="16208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0" tIns="45712" rIns="91420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solidFill>
                  <a:srgbClr val="000000"/>
                </a:solidFill>
                <a:latin typeface="Arial" charset="0"/>
              </a:rPr>
              <a:t>    IP header</a:t>
            </a:r>
          </a:p>
        </p:txBody>
      </p:sp>
      <p:sp>
        <p:nvSpPr>
          <p:cNvPr id="27663" name="Rectangle 29"/>
          <p:cNvSpPr>
            <a:spLocks noChangeArrowheads="1"/>
          </p:cNvSpPr>
          <p:nvPr/>
        </p:nvSpPr>
        <p:spPr bwMode="auto">
          <a:xfrm rot="10800000">
            <a:off x="3124200" y="4800600"/>
            <a:ext cx="609600" cy="304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64" name="Rectangle 30"/>
          <p:cNvSpPr>
            <a:spLocks noChangeArrowheads="1"/>
          </p:cNvSpPr>
          <p:nvPr/>
        </p:nvSpPr>
        <p:spPr bwMode="auto">
          <a:xfrm rot="10800000">
            <a:off x="2895600" y="4800600"/>
            <a:ext cx="304800" cy="304800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65" name="Rectangle 31"/>
          <p:cNvSpPr>
            <a:spLocks noChangeArrowheads="1"/>
          </p:cNvSpPr>
          <p:nvPr/>
        </p:nvSpPr>
        <p:spPr bwMode="auto">
          <a:xfrm rot="10800000">
            <a:off x="2667000" y="4800600"/>
            <a:ext cx="304800" cy="304800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66" name="Rectangle 32"/>
          <p:cNvSpPr>
            <a:spLocks noChangeArrowheads="1"/>
          </p:cNvSpPr>
          <p:nvPr/>
        </p:nvSpPr>
        <p:spPr bwMode="auto">
          <a:xfrm rot="10800000">
            <a:off x="2590800" y="4800600"/>
            <a:ext cx="228600" cy="304800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67" name="Rectangle 33"/>
          <p:cNvSpPr>
            <a:spLocks noChangeArrowheads="1"/>
          </p:cNvSpPr>
          <p:nvPr/>
        </p:nvSpPr>
        <p:spPr bwMode="auto">
          <a:xfrm>
            <a:off x="914400" y="4724400"/>
            <a:ext cx="1447800" cy="457200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68" name="Rectangle 34"/>
          <p:cNvSpPr>
            <a:spLocks noChangeArrowheads="1"/>
          </p:cNvSpPr>
          <p:nvPr/>
        </p:nvSpPr>
        <p:spPr bwMode="auto">
          <a:xfrm>
            <a:off x="6629400" y="4724400"/>
            <a:ext cx="1447800" cy="457200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69" name="Rectangle 35"/>
          <p:cNvSpPr>
            <a:spLocks noChangeArrowheads="1"/>
          </p:cNvSpPr>
          <p:nvPr/>
        </p:nvSpPr>
        <p:spPr bwMode="auto">
          <a:xfrm rot="10800000">
            <a:off x="5865813" y="4800600"/>
            <a:ext cx="609600" cy="304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70" name="Rectangle 36"/>
          <p:cNvSpPr>
            <a:spLocks noChangeArrowheads="1"/>
          </p:cNvSpPr>
          <p:nvPr/>
        </p:nvSpPr>
        <p:spPr bwMode="auto">
          <a:xfrm rot="10800000">
            <a:off x="5637213" y="4800600"/>
            <a:ext cx="304800" cy="304800"/>
          </a:xfrm>
          <a:prstGeom prst="rect">
            <a:avLst/>
          </a:prstGeom>
          <a:solidFill>
            <a:schemeClr val="accent2">
              <a:lumMod val="25000"/>
              <a:lumOff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71" name="Rectangle 37"/>
          <p:cNvSpPr>
            <a:spLocks noChangeArrowheads="1"/>
          </p:cNvSpPr>
          <p:nvPr/>
        </p:nvSpPr>
        <p:spPr bwMode="auto">
          <a:xfrm rot="10800000">
            <a:off x="5408613" y="4800600"/>
            <a:ext cx="304800" cy="304800"/>
          </a:xfrm>
          <a:prstGeom prst="rect">
            <a:avLst/>
          </a:prstGeom>
          <a:solidFill>
            <a:schemeClr val="accent2">
              <a:lumMod val="50000"/>
              <a:lumOff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72" name="Rectangle 38"/>
          <p:cNvSpPr>
            <a:spLocks noChangeArrowheads="1"/>
          </p:cNvSpPr>
          <p:nvPr/>
        </p:nvSpPr>
        <p:spPr bwMode="auto">
          <a:xfrm rot="10800000">
            <a:off x="5332413" y="4800600"/>
            <a:ext cx="228600" cy="304800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73" name="Text Box 39"/>
          <p:cNvSpPr txBox="1">
            <a:spLocks noChangeArrowheads="1"/>
          </p:cNvSpPr>
          <p:nvPr/>
        </p:nvSpPr>
        <p:spPr bwMode="auto">
          <a:xfrm>
            <a:off x="3980657" y="4724400"/>
            <a:ext cx="1152525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0" tIns="45712" rIns="91420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solidFill>
                  <a:srgbClr val="000000"/>
                </a:solidFill>
                <a:latin typeface="Arial" charset="0"/>
              </a:rPr>
              <a:t>Ethernet</a:t>
            </a:r>
          </a:p>
          <a:p>
            <a:pPr algn="ctr"/>
            <a:r>
              <a:rPr lang="en-US" b="0" dirty="0">
                <a:solidFill>
                  <a:srgbClr val="000000"/>
                </a:solidFill>
                <a:latin typeface="Arial" charset="0"/>
              </a:rPr>
              <a:t>header</a:t>
            </a:r>
          </a:p>
        </p:txBody>
      </p:sp>
      <p:sp>
        <p:nvSpPr>
          <p:cNvPr id="27656" name="Rectangle 41"/>
          <p:cNvSpPr>
            <a:spLocks noChangeArrowheads="1"/>
          </p:cNvSpPr>
          <p:nvPr/>
        </p:nvSpPr>
        <p:spPr bwMode="auto">
          <a:xfrm>
            <a:off x="2590800" y="2971800"/>
            <a:ext cx="609600" cy="304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57" name="Rectangle 42"/>
          <p:cNvSpPr>
            <a:spLocks noChangeArrowheads="1"/>
          </p:cNvSpPr>
          <p:nvPr/>
        </p:nvSpPr>
        <p:spPr bwMode="auto">
          <a:xfrm>
            <a:off x="914400" y="2743200"/>
            <a:ext cx="1447800" cy="685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58" name="Rectangle 43"/>
          <p:cNvSpPr>
            <a:spLocks noChangeArrowheads="1"/>
          </p:cNvSpPr>
          <p:nvPr/>
        </p:nvSpPr>
        <p:spPr bwMode="auto">
          <a:xfrm>
            <a:off x="6629400" y="2743200"/>
            <a:ext cx="1447800" cy="685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59" name="Rectangle 44"/>
          <p:cNvSpPr>
            <a:spLocks noChangeArrowheads="1"/>
          </p:cNvSpPr>
          <p:nvPr/>
        </p:nvSpPr>
        <p:spPr bwMode="auto">
          <a:xfrm>
            <a:off x="5791200" y="2971800"/>
            <a:ext cx="609600" cy="304800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/>
          </a:p>
        </p:txBody>
      </p:sp>
      <p:sp>
        <p:nvSpPr>
          <p:cNvPr id="27660" name="Text Box 45"/>
          <p:cNvSpPr txBox="1">
            <a:spLocks noChangeArrowheads="1"/>
          </p:cNvSpPr>
          <p:nvPr/>
        </p:nvSpPr>
        <p:spPr bwMode="auto">
          <a:xfrm>
            <a:off x="3475038" y="2743200"/>
            <a:ext cx="2163763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0" tIns="45712" rIns="91420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b="0" dirty="0">
                <a:solidFill>
                  <a:srgbClr val="000000"/>
                </a:solidFill>
                <a:latin typeface="Arial" charset="0"/>
              </a:rPr>
              <a:t>HTTP</a:t>
            </a:r>
          </a:p>
          <a:p>
            <a:pPr algn="ctr"/>
            <a:r>
              <a:rPr lang="en-US" b="0" dirty="0">
                <a:solidFill>
                  <a:srgbClr val="000000"/>
                </a:solidFill>
                <a:latin typeface="Arial" charset="0"/>
              </a:rPr>
              <a:t>request/response</a:t>
            </a:r>
          </a:p>
        </p:txBody>
      </p:sp>
      <p:sp>
        <p:nvSpPr>
          <p:cNvPr id="27661" name="Text Box 46"/>
          <p:cNvSpPr txBox="1">
            <a:spLocks noChangeArrowheads="1"/>
          </p:cNvSpPr>
          <p:nvPr/>
        </p:nvSpPr>
        <p:spPr bwMode="auto">
          <a:xfrm>
            <a:off x="1066800" y="2057400"/>
            <a:ext cx="110807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0" tIns="45712" rIns="91420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2400" b="0">
                <a:solidFill>
                  <a:srgbClr val="FF0000"/>
                </a:solidFill>
                <a:latin typeface="Arial" charset="0"/>
              </a:rPr>
              <a:t>User A</a:t>
            </a:r>
          </a:p>
        </p:txBody>
      </p:sp>
      <p:sp>
        <p:nvSpPr>
          <p:cNvPr id="27662" name="Text Box 47"/>
          <p:cNvSpPr txBox="1">
            <a:spLocks noChangeArrowheads="1"/>
          </p:cNvSpPr>
          <p:nvPr/>
        </p:nvSpPr>
        <p:spPr bwMode="auto">
          <a:xfrm>
            <a:off x="6884988" y="2057400"/>
            <a:ext cx="1125538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0" tIns="45712" rIns="91420" bIns="4571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2400" b="0">
                <a:solidFill>
                  <a:srgbClr val="FF0000"/>
                </a:solidFill>
                <a:latin typeface="Arial" charset="0"/>
              </a:rPr>
              <a:t>User B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959469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90" grpId="0" animBg="1"/>
      <p:bldP spid="27691" grpId="0" animBg="1"/>
      <p:bldP spid="27693" grpId="0" animBg="1"/>
      <p:bldP spid="27683" grpId="0" animBg="1"/>
      <p:bldP spid="27684" grpId="0" animBg="1"/>
      <p:bldP spid="27685" grpId="0" animBg="1"/>
      <p:bldP spid="27686" grpId="0" animBg="1"/>
      <p:bldP spid="27687" grpId="0" animBg="1"/>
      <p:bldP spid="27688" grpId="0" animBg="1"/>
      <p:bldP spid="27689" grpId="0"/>
      <p:bldP spid="27674" grpId="0" animBg="1"/>
      <p:bldP spid="27675" grpId="0" animBg="1"/>
      <p:bldP spid="27676" grpId="0" animBg="1"/>
      <p:bldP spid="27677" grpId="0" animBg="1"/>
      <p:bldP spid="27678" grpId="0" animBg="1"/>
      <p:bldP spid="27679" grpId="0" animBg="1"/>
      <p:bldP spid="27680" grpId="0" animBg="1"/>
      <p:bldP spid="27681" grpId="0" animBg="1"/>
      <p:bldP spid="27682" grpId="0"/>
      <p:bldP spid="27663" grpId="0" animBg="1"/>
      <p:bldP spid="27664" grpId="0" animBg="1"/>
      <p:bldP spid="27665" grpId="0" animBg="1"/>
      <p:bldP spid="27666" grpId="0" animBg="1"/>
      <p:bldP spid="27667" grpId="0" animBg="1"/>
      <p:bldP spid="27668" grpId="0" animBg="1"/>
      <p:bldP spid="27669" grpId="0" animBg="1"/>
      <p:bldP spid="27670" grpId="0" animBg="1"/>
      <p:bldP spid="27671" grpId="0" animBg="1"/>
      <p:bldP spid="27672" grpId="0" animBg="1"/>
      <p:bldP spid="2767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is the narrow waist of the layering hourglass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23</a:t>
            </a:fld>
            <a:endParaRPr lang="en-US"/>
          </a:p>
        </p:txBody>
      </p:sp>
      <p:grpSp>
        <p:nvGrpSpPr>
          <p:cNvPr id="44" name="Group 43"/>
          <p:cNvGrpSpPr/>
          <p:nvPr/>
        </p:nvGrpSpPr>
        <p:grpSpPr>
          <a:xfrm>
            <a:off x="1752401" y="1752600"/>
            <a:ext cx="5639199" cy="4236719"/>
            <a:chOff x="1752401" y="1752600"/>
            <a:chExt cx="5639199" cy="4236719"/>
          </a:xfrm>
        </p:grpSpPr>
        <p:sp>
          <p:nvSpPr>
            <p:cNvPr id="6" name="Rectangle 29"/>
            <p:cNvSpPr>
              <a:spLocks noChangeArrowheads="1"/>
            </p:cNvSpPr>
            <p:nvPr/>
          </p:nvSpPr>
          <p:spPr bwMode="auto">
            <a:xfrm>
              <a:off x="3846924" y="3502343"/>
              <a:ext cx="1729691" cy="737235"/>
            </a:xfrm>
            <a:prstGeom prst="rect">
              <a:avLst/>
            </a:prstGeom>
            <a:solidFill>
              <a:schemeClr val="accent2">
                <a:lumMod val="50000"/>
                <a:lumOff val="5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/>
            </a:p>
          </p:txBody>
        </p:sp>
        <p:sp>
          <p:nvSpPr>
            <p:cNvPr id="7" name="Rectangle 25"/>
            <p:cNvSpPr>
              <a:spLocks noChangeArrowheads="1"/>
            </p:cNvSpPr>
            <p:nvPr/>
          </p:nvSpPr>
          <p:spPr bwMode="auto">
            <a:xfrm>
              <a:off x="2971994" y="2703671"/>
              <a:ext cx="3428806" cy="737235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/>
            </a:p>
          </p:txBody>
        </p:sp>
        <p:sp>
          <p:nvSpPr>
            <p:cNvPr id="8" name="Rectangle 1"/>
            <p:cNvSpPr>
              <a:spLocks noChangeArrowheads="1"/>
            </p:cNvSpPr>
            <p:nvPr/>
          </p:nvSpPr>
          <p:spPr bwMode="auto">
            <a:xfrm>
              <a:off x="1752794" y="1905000"/>
              <a:ext cx="5638806" cy="737235"/>
            </a:xfrm>
            <a:prstGeom prst="rect">
              <a:avLst/>
            </a:prstGeom>
            <a:solidFill>
              <a:schemeClr val="accent2">
                <a:lumMod val="10000"/>
                <a:lumOff val="9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/>
            </a:p>
          </p:txBody>
        </p:sp>
        <p:sp>
          <p:nvSpPr>
            <p:cNvPr id="9" name="Rectangle 29"/>
            <p:cNvSpPr>
              <a:spLocks noChangeArrowheads="1"/>
            </p:cNvSpPr>
            <p:nvPr/>
          </p:nvSpPr>
          <p:spPr bwMode="auto">
            <a:xfrm>
              <a:off x="2743199" y="4301014"/>
              <a:ext cx="3657601" cy="737235"/>
            </a:xfrm>
            <a:prstGeom prst="rect">
              <a:avLst/>
            </a:prstGeom>
            <a:solidFill>
              <a:schemeClr val="accent2">
                <a:lumMod val="75000"/>
                <a:lumOff val="2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/>
            </a:p>
          </p:txBody>
        </p:sp>
        <p:sp>
          <p:nvSpPr>
            <p:cNvPr id="10" name="Rectangle 29"/>
            <p:cNvSpPr>
              <a:spLocks noChangeArrowheads="1"/>
            </p:cNvSpPr>
            <p:nvPr/>
          </p:nvSpPr>
          <p:spPr bwMode="auto">
            <a:xfrm>
              <a:off x="1752550" y="5099685"/>
              <a:ext cx="5639044" cy="737235"/>
            </a:xfrm>
            <a:prstGeom prst="rect">
              <a:avLst/>
            </a:prstGeom>
            <a:solidFill>
              <a:schemeClr val="accent2">
                <a:lumMod val="90000"/>
                <a:lumOff val="10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defTabSz="912813"/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427646" y="2157991"/>
              <a:ext cx="825867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SMTP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706646" y="2129139"/>
              <a:ext cx="787395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HTTP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200594" y="2858889"/>
              <a:ext cx="646331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TCP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576615" y="2857388"/>
              <a:ext cx="671979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UDP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50520" y="3687246"/>
              <a:ext cx="402674" cy="369332"/>
            </a:xfrm>
            <a:prstGeom prst="rect">
              <a:avLst/>
            </a:prstGeom>
            <a:solidFill>
              <a:srgbClr val="D3A600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IP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526063" y="4484965"/>
              <a:ext cx="646331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PPP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382319" y="4488601"/>
              <a:ext cx="723275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FDDI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971994" y="4492569"/>
              <a:ext cx="1120820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Ethernet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918398" y="5283636"/>
              <a:ext cx="800219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PSTN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857670" y="5304528"/>
              <a:ext cx="825867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Radio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630230" y="5304528"/>
              <a:ext cx="992579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Copper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428438" y="5304528"/>
              <a:ext cx="966931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Optical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072286" y="2141634"/>
              <a:ext cx="646331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NTP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47174" y="2135052"/>
              <a:ext cx="671979" cy="369332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</a:rPr>
                <a:t>DNS</a:t>
              </a:r>
            </a:p>
          </p:txBody>
        </p:sp>
        <p:cxnSp>
          <p:nvCxnSpPr>
            <p:cNvPr id="30" name="Straight Connector 29"/>
            <p:cNvCxnSpPr/>
            <p:nvPr/>
          </p:nvCxnSpPr>
          <p:spPr bwMode="auto">
            <a:xfrm>
              <a:off x="1752401" y="1905000"/>
              <a:ext cx="2094524" cy="1981200"/>
            </a:xfrm>
            <a:prstGeom prst="line">
              <a:avLst/>
            </a:prstGeom>
            <a:solidFill>
              <a:schemeClr val="accent1"/>
            </a:solidFill>
            <a:ln w="5715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lg"/>
            </a:ln>
            <a:effectLst/>
          </p:spPr>
        </p:cxnSp>
        <p:cxnSp>
          <p:nvCxnSpPr>
            <p:cNvPr id="32" name="Straight Connector 31"/>
            <p:cNvCxnSpPr/>
            <p:nvPr/>
          </p:nvCxnSpPr>
          <p:spPr bwMode="auto">
            <a:xfrm flipH="1">
              <a:off x="1752401" y="3886200"/>
              <a:ext cx="2094524" cy="1950720"/>
            </a:xfrm>
            <a:prstGeom prst="line">
              <a:avLst/>
            </a:prstGeom>
            <a:solidFill>
              <a:schemeClr val="accent1"/>
            </a:solidFill>
            <a:ln w="5715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lg"/>
            </a:ln>
            <a:effectLst/>
          </p:spPr>
        </p:cxnSp>
        <p:cxnSp>
          <p:nvCxnSpPr>
            <p:cNvPr id="35" name="Straight Connector 34"/>
            <p:cNvCxnSpPr/>
            <p:nvPr/>
          </p:nvCxnSpPr>
          <p:spPr bwMode="auto">
            <a:xfrm>
              <a:off x="5526063" y="3886200"/>
              <a:ext cx="1865144" cy="1950720"/>
            </a:xfrm>
            <a:prstGeom prst="line">
              <a:avLst/>
            </a:prstGeom>
            <a:solidFill>
              <a:schemeClr val="accent1"/>
            </a:solidFill>
            <a:ln w="5715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lg"/>
            </a:ln>
            <a:effectLst/>
          </p:spPr>
        </p:cxnSp>
        <p:cxnSp>
          <p:nvCxnSpPr>
            <p:cNvPr id="36" name="Straight Connector 35"/>
            <p:cNvCxnSpPr/>
            <p:nvPr/>
          </p:nvCxnSpPr>
          <p:spPr bwMode="auto">
            <a:xfrm flipH="1">
              <a:off x="5526063" y="1905000"/>
              <a:ext cx="1865144" cy="1981200"/>
            </a:xfrm>
            <a:prstGeom prst="line">
              <a:avLst/>
            </a:prstGeom>
            <a:solidFill>
              <a:schemeClr val="accent1"/>
            </a:solidFill>
            <a:ln w="5715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lg"/>
            </a:ln>
            <a:effectLst/>
          </p:spPr>
        </p:cxnSp>
        <p:sp>
          <p:nvSpPr>
            <p:cNvPr id="41" name="Rectangle 40"/>
            <p:cNvSpPr/>
            <p:nvPr/>
          </p:nvSpPr>
          <p:spPr bwMode="auto">
            <a:xfrm>
              <a:off x="1752401" y="1752600"/>
              <a:ext cx="5638806" cy="152400"/>
            </a:xfrm>
            <a:prstGeom prst="rect">
              <a:avLst/>
            </a:prstGeom>
            <a:solidFill>
              <a:srgbClr val="D3A600"/>
            </a:solidFill>
            <a:ln w="5715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42" name="Rectangle 41"/>
            <p:cNvSpPr/>
            <p:nvPr/>
          </p:nvSpPr>
          <p:spPr bwMode="auto">
            <a:xfrm>
              <a:off x="1752401" y="5836919"/>
              <a:ext cx="5638806" cy="152400"/>
            </a:xfrm>
            <a:prstGeom prst="rect">
              <a:avLst/>
            </a:prstGeom>
            <a:solidFill>
              <a:srgbClr val="D3A600"/>
            </a:solidFill>
            <a:ln w="5715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14983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Topics</a:t>
            </a:r>
            <a:endParaRPr lang="en-US" dirty="0"/>
          </a:p>
        </p:txBody>
      </p:sp>
      <p:sp>
        <p:nvSpPr>
          <p:cNvPr id="1043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Basics (lectures 1–2) </a:t>
            </a:r>
          </a:p>
          <a:p>
            <a:r>
              <a:rPr lang="en-US" dirty="0"/>
              <a:t>Application layer (lectures 3–5)</a:t>
            </a:r>
          </a:p>
          <a:p>
            <a:pPr lvl="1"/>
            <a:r>
              <a:rPr lang="en-US" dirty="0"/>
              <a:t>HTTP, DNS, CDN, Video Streaming, and Cloud</a:t>
            </a:r>
          </a:p>
          <a:p>
            <a:r>
              <a:rPr lang="en-US" dirty="0"/>
              <a:t>Transport layer (lectures 6–9)</a:t>
            </a:r>
          </a:p>
          <a:p>
            <a:pPr lvl="1"/>
            <a:r>
              <a:rPr lang="en-US" dirty="0"/>
              <a:t>UDP vs. TCP </a:t>
            </a:r>
          </a:p>
          <a:p>
            <a:pPr lvl="1"/>
            <a:r>
              <a:rPr lang="en-US" dirty="0"/>
              <a:t>TCP details: reliability and flow control </a:t>
            </a:r>
          </a:p>
          <a:p>
            <a:pPr lvl="1"/>
            <a:r>
              <a:rPr lang="en-US" dirty="0"/>
              <a:t>TCP congestion control: general concepts only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663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8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Hyper Text Transfer Protocol (HTTP)</a:t>
            </a:r>
            <a:endParaRPr lang="en-US" dirty="0"/>
          </a:p>
        </p:txBody>
      </p:sp>
      <p:sp>
        <p:nvSpPr>
          <p:cNvPr id="16558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Client-server architecture</a:t>
            </a:r>
          </a:p>
          <a:p>
            <a:pPr lvl="1"/>
            <a:r>
              <a:rPr lang="en-US" dirty="0"/>
              <a:t>Server is “always on” and “well known”</a:t>
            </a:r>
          </a:p>
          <a:p>
            <a:pPr lvl="1"/>
            <a:r>
              <a:rPr lang="en-US" dirty="0"/>
              <a:t>Clients initiate contact to server</a:t>
            </a:r>
          </a:p>
          <a:p>
            <a:r>
              <a:rPr lang="en-US" dirty="0"/>
              <a:t>Synchronous request/reply protocol </a:t>
            </a:r>
          </a:p>
          <a:p>
            <a:pPr lvl="1"/>
            <a:r>
              <a:rPr lang="en-US" dirty="0"/>
              <a:t>Runs over TCP, Port 80</a:t>
            </a:r>
          </a:p>
          <a:p>
            <a:r>
              <a:rPr lang="en-US" dirty="0">
                <a:solidFill>
                  <a:srgbClr val="0000FF"/>
                </a:solidFill>
              </a:rPr>
              <a:t>Stateless</a:t>
            </a:r>
          </a:p>
          <a:p>
            <a:r>
              <a:rPr lang="en-US" dirty="0"/>
              <a:t>ASCII format</a:t>
            </a:r>
          </a:p>
          <a:p>
            <a:pPr lvl="1"/>
            <a:r>
              <a:rPr lang="en-US" dirty="0"/>
              <a:t>Before HTTP/2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9CEB31-5CA0-F64A-A799-01B439721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11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58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58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58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58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58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58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58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58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55811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request response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4338632" cy="4419600"/>
          </a:xfrm>
        </p:spPr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RTT (round-trip time)</a:t>
            </a:r>
            <a:endParaRPr lang="en-US" dirty="0">
              <a:solidFill>
                <a:srgbClr val="000000"/>
              </a:solidFill>
            </a:endParaRPr>
          </a:p>
          <a:p>
            <a:pPr lvl="1"/>
            <a:r>
              <a:rPr lang="en-US" dirty="0">
                <a:solidFill>
                  <a:srgbClr val="000000"/>
                </a:solidFill>
              </a:rPr>
              <a:t>T</a:t>
            </a:r>
            <a:r>
              <a:rPr lang="en-US" dirty="0"/>
              <a:t>ime for a small packet to travel from client to server and back</a:t>
            </a:r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Response time</a:t>
            </a:r>
            <a:endParaRPr lang="en-US" dirty="0"/>
          </a:p>
          <a:p>
            <a:pPr lvl="1"/>
            <a:r>
              <a:rPr lang="en-US" dirty="0"/>
              <a:t>1 RTT for TCP setup</a:t>
            </a:r>
          </a:p>
          <a:p>
            <a:pPr lvl="1"/>
            <a:r>
              <a:rPr lang="en-US" dirty="0"/>
              <a:t>1 RTT for HTTP request and first few bytes</a:t>
            </a:r>
          </a:p>
          <a:p>
            <a:pPr lvl="1"/>
            <a:r>
              <a:rPr lang="en-US" dirty="0"/>
              <a:t>Transmission time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Total</a:t>
            </a:r>
            <a:r>
              <a:rPr lang="en-US" dirty="0"/>
              <a:t> = 2RTT + Transmission Time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grpSp>
        <p:nvGrpSpPr>
          <p:cNvPr id="42" name="Group 41"/>
          <p:cNvGrpSpPr/>
          <p:nvPr/>
        </p:nvGrpSpPr>
        <p:grpSpPr>
          <a:xfrm>
            <a:off x="5138546" y="1923173"/>
            <a:ext cx="3377002" cy="3560755"/>
            <a:chOff x="5138546" y="1923173"/>
            <a:chExt cx="3377002" cy="3560755"/>
          </a:xfrm>
        </p:grpSpPr>
        <p:sp>
          <p:nvSpPr>
            <p:cNvPr id="41" name="AutoShape 13"/>
            <p:cNvSpPr>
              <a:spLocks noChangeArrowheads="1"/>
            </p:cNvSpPr>
            <p:nvPr/>
          </p:nvSpPr>
          <p:spPr bwMode="auto">
            <a:xfrm rot="16200000" flipH="1">
              <a:off x="6273220" y="3410809"/>
              <a:ext cx="1378340" cy="2243994"/>
            </a:xfrm>
            <a:prstGeom prst="parallelogram">
              <a:avLst>
                <a:gd name="adj" fmla="val 25000"/>
              </a:avLst>
            </a:prstGeom>
            <a:solidFill>
              <a:srgbClr val="D3A600"/>
            </a:solidFill>
            <a:ln w="9525">
              <a:noFill/>
              <a:miter lim="800000"/>
              <a:headEnd/>
              <a:tailEnd/>
            </a:ln>
          </p:spPr>
          <p:txBody>
            <a:bodyPr rot="10800000" vert="eaVert" wrap="none" lIns="91962" tIns="45982" rIns="91962" bIns="45982" anchor="ctr"/>
            <a:lstStyle/>
            <a:p>
              <a:pPr>
                <a:spcBef>
                  <a:spcPts val="1000"/>
                </a:spcBef>
                <a:spcAft>
                  <a:spcPts val="1000"/>
                </a:spcAft>
              </a:pPr>
              <a:endParaRPr lang="en-US" altLang="zh-TW" sz="2391" i="1" dirty="0">
                <a:solidFill>
                  <a:srgbClr val="0000FF"/>
                </a:solidFill>
                <a:ea typeface="PMingLiU" charset="0"/>
                <a:cs typeface="PMingLiU" charset="0"/>
              </a:endParaRPr>
            </a:p>
          </p:txBody>
        </p:sp>
        <p:sp>
          <p:nvSpPr>
            <p:cNvPr id="8" name="Line 3"/>
            <p:cNvSpPr>
              <a:spLocks noChangeShapeType="1"/>
            </p:cNvSpPr>
            <p:nvPr/>
          </p:nvSpPr>
          <p:spPr bwMode="auto">
            <a:xfrm flipH="1">
              <a:off x="5840394" y="2282077"/>
              <a:ext cx="1462" cy="3200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lIns="90431" tIns="44423" rIns="90431" bIns="44423"/>
            <a:lstStyle/>
            <a:p>
              <a:endParaRPr lang="en-US" sz="1400" b="0">
                <a:solidFill>
                  <a:srgbClr val="333399"/>
                </a:solidFill>
                <a:latin typeface="+mn-lt"/>
              </a:endParaRPr>
            </a:p>
          </p:txBody>
        </p:sp>
        <p:sp>
          <p:nvSpPr>
            <p:cNvPr id="9" name="Line 4"/>
            <p:cNvSpPr>
              <a:spLocks noChangeShapeType="1"/>
            </p:cNvSpPr>
            <p:nvPr/>
          </p:nvSpPr>
          <p:spPr bwMode="auto">
            <a:xfrm>
              <a:off x="8085859" y="2283528"/>
              <a:ext cx="0" cy="32004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lIns="90431" tIns="44423" rIns="90431" bIns="44423"/>
            <a:lstStyle/>
            <a:p>
              <a:endParaRPr lang="en-US" sz="1400" b="0">
                <a:solidFill>
                  <a:srgbClr val="333399"/>
                </a:solidFill>
                <a:latin typeface="+mn-lt"/>
              </a:endParaRPr>
            </a:p>
          </p:txBody>
        </p:sp>
        <p:sp>
          <p:nvSpPr>
            <p:cNvPr id="10" name="Text Box 5"/>
            <p:cNvSpPr txBox="1">
              <a:spLocks noChangeArrowheads="1"/>
            </p:cNvSpPr>
            <p:nvPr/>
          </p:nvSpPr>
          <p:spPr bwMode="auto">
            <a:xfrm>
              <a:off x="5481352" y="1923173"/>
              <a:ext cx="772533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2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31" tIns="44423" rIns="90431" bIns="44423">
              <a:spAutoFit/>
            </a:bodyPr>
            <a:lstStyle/>
            <a:p>
              <a:pPr algn="ctr"/>
              <a:r>
                <a:rPr lang="en-US" sz="1800" b="0" dirty="0">
                  <a:solidFill>
                    <a:srgbClr val="333399"/>
                  </a:solidFill>
                  <a:latin typeface="+mn-lt"/>
                </a:rPr>
                <a:t>Client</a:t>
              </a:r>
            </a:p>
          </p:txBody>
        </p:sp>
        <p:sp>
          <p:nvSpPr>
            <p:cNvPr id="11" name="Text Box 6"/>
            <p:cNvSpPr txBox="1">
              <a:spLocks noChangeArrowheads="1"/>
            </p:cNvSpPr>
            <p:nvPr/>
          </p:nvSpPr>
          <p:spPr bwMode="auto">
            <a:xfrm>
              <a:off x="7653247" y="1923173"/>
              <a:ext cx="862301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2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31" tIns="44423" rIns="90431" bIns="44423">
              <a:spAutoFit/>
            </a:bodyPr>
            <a:lstStyle/>
            <a:p>
              <a:pPr algn="ctr"/>
              <a:r>
                <a:rPr lang="en-US" sz="1800" b="0" dirty="0">
                  <a:solidFill>
                    <a:srgbClr val="333399"/>
                  </a:solidFill>
                  <a:latin typeface="+mn-lt"/>
                </a:rPr>
                <a:t>Server</a:t>
              </a:r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5840394" y="2423870"/>
              <a:ext cx="2245465" cy="210512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lIns="90431" tIns="44423" rIns="90431" bIns="44423"/>
            <a:lstStyle/>
            <a:p>
              <a:endParaRPr lang="en-US" sz="1400" b="0">
                <a:solidFill>
                  <a:srgbClr val="333399"/>
                </a:solidFill>
                <a:latin typeface="+mn-lt"/>
              </a:endParaRPr>
            </a:p>
          </p:txBody>
        </p:sp>
        <p:sp>
          <p:nvSpPr>
            <p:cNvPr id="13" name="Text Box 8"/>
            <p:cNvSpPr txBox="1">
              <a:spLocks noChangeArrowheads="1"/>
            </p:cNvSpPr>
            <p:nvPr/>
          </p:nvSpPr>
          <p:spPr bwMode="auto">
            <a:xfrm rot="305992">
              <a:off x="6530548" y="2211896"/>
              <a:ext cx="979185" cy="3376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2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31" tIns="44423" rIns="90431" bIns="44423">
              <a:spAutoFit/>
            </a:bodyPr>
            <a:lstStyle/>
            <a:p>
              <a:pPr algn="ctr"/>
              <a:r>
                <a:rPr lang="en-US" b="0" dirty="0">
                  <a:solidFill>
                    <a:srgbClr val="333399"/>
                  </a:solidFill>
                  <a:latin typeface="+mn-lt"/>
                </a:rPr>
                <a:t>TCP syn</a:t>
              </a:r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 flipH="1">
              <a:off x="5840394" y="2774724"/>
              <a:ext cx="2245465" cy="210512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lIns="90431" tIns="44423" rIns="90431" bIns="44423"/>
            <a:lstStyle/>
            <a:p>
              <a:endParaRPr lang="en-US" sz="1400" b="0">
                <a:solidFill>
                  <a:srgbClr val="333399"/>
                </a:solidFill>
                <a:latin typeface="+mn-lt"/>
              </a:endParaRPr>
            </a:p>
          </p:txBody>
        </p:sp>
        <p:sp>
          <p:nvSpPr>
            <p:cNvPr id="15" name="Text Box 10"/>
            <p:cNvSpPr txBox="1">
              <a:spLocks noChangeArrowheads="1"/>
            </p:cNvSpPr>
            <p:nvPr/>
          </p:nvSpPr>
          <p:spPr bwMode="auto">
            <a:xfrm rot="21314389">
              <a:off x="5989520" y="2578831"/>
              <a:ext cx="1610985" cy="3376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2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31" tIns="44423" rIns="90431" bIns="44423">
              <a:spAutoFit/>
            </a:bodyPr>
            <a:lstStyle/>
            <a:p>
              <a:pPr algn="ctr"/>
              <a:r>
                <a:rPr lang="en-US" b="0" dirty="0">
                  <a:solidFill>
                    <a:srgbClr val="333399"/>
                  </a:solidFill>
                  <a:latin typeface="+mn-lt"/>
                </a:rPr>
                <a:t>TCP syn + ack </a:t>
              </a:r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>
              <a:off x="5840394" y="3406261"/>
              <a:ext cx="2245465" cy="421025"/>
            </a:xfrm>
            <a:prstGeom prst="line">
              <a:avLst/>
            </a:prstGeom>
            <a:noFill/>
            <a:ln w="25400">
              <a:solidFill>
                <a:srgbClr val="D3A6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lIns="90431" tIns="44423" rIns="90431" bIns="44423"/>
            <a:lstStyle/>
            <a:p>
              <a:endParaRPr lang="en-US" sz="1400" b="0">
                <a:solidFill>
                  <a:srgbClr val="333399"/>
                </a:solidFill>
                <a:latin typeface="+mn-lt"/>
              </a:endParaRPr>
            </a:p>
          </p:txBody>
        </p:sp>
        <p:sp>
          <p:nvSpPr>
            <p:cNvPr id="17" name="Text Box 12"/>
            <p:cNvSpPr txBox="1">
              <a:spLocks noChangeArrowheads="1"/>
            </p:cNvSpPr>
            <p:nvPr/>
          </p:nvSpPr>
          <p:spPr bwMode="auto">
            <a:xfrm rot="623789">
              <a:off x="5862812" y="3281420"/>
              <a:ext cx="2209402" cy="3359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2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31" tIns="44423" rIns="90431" bIns="44423">
              <a:spAutoFit/>
            </a:bodyPr>
            <a:lstStyle/>
            <a:p>
              <a:pPr algn="ctr"/>
              <a:r>
                <a:rPr lang="en-US" b="0" dirty="0">
                  <a:solidFill>
                    <a:srgbClr val="333399"/>
                  </a:solidFill>
                  <a:latin typeface="+mn-lt"/>
                </a:rPr>
                <a:t>TCP ack + HTTP GET</a:t>
              </a:r>
            </a:p>
          </p:txBody>
        </p:sp>
        <p:sp>
          <p:nvSpPr>
            <p:cNvPr id="25" name="AutoShape 20"/>
            <p:cNvSpPr>
              <a:spLocks/>
            </p:cNvSpPr>
            <p:nvPr/>
          </p:nvSpPr>
          <p:spPr bwMode="auto">
            <a:xfrm>
              <a:off x="5700052" y="2353699"/>
              <a:ext cx="70171" cy="631537"/>
            </a:xfrm>
            <a:prstGeom prst="leftBrace">
              <a:avLst>
                <a:gd name="adj1" fmla="val 75000"/>
                <a:gd name="adj2" fmla="val 50000"/>
              </a:avLst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2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31" tIns="44423" rIns="90431" bIns="44423" anchor="ctr"/>
            <a:lstStyle/>
            <a:p>
              <a:endParaRPr lang="en-US" sz="1400" b="0">
                <a:solidFill>
                  <a:srgbClr val="333399"/>
                </a:solidFill>
                <a:latin typeface="+mn-lt"/>
              </a:endParaRPr>
            </a:p>
          </p:txBody>
        </p:sp>
        <p:sp>
          <p:nvSpPr>
            <p:cNvPr id="27" name="Text Box 22"/>
            <p:cNvSpPr txBox="1">
              <a:spLocks noChangeArrowheads="1"/>
            </p:cNvSpPr>
            <p:nvPr/>
          </p:nvSpPr>
          <p:spPr bwMode="auto">
            <a:xfrm>
              <a:off x="5138546" y="2452687"/>
              <a:ext cx="576454" cy="3359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2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31" tIns="44423" rIns="90431" bIns="44423">
              <a:spAutoFit/>
            </a:bodyPr>
            <a:lstStyle/>
            <a:p>
              <a:r>
                <a:rPr lang="en-US" dirty="0">
                  <a:solidFill>
                    <a:srgbClr val="333399"/>
                  </a:solidFill>
                  <a:latin typeface="+mn-lt"/>
                </a:rPr>
                <a:t>RTT</a:t>
              </a:r>
            </a:p>
          </p:txBody>
        </p:sp>
        <p:sp>
          <p:nvSpPr>
            <p:cNvPr id="34" name="AutoShape 20"/>
            <p:cNvSpPr>
              <a:spLocks/>
            </p:cNvSpPr>
            <p:nvPr/>
          </p:nvSpPr>
          <p:spPr bwMode="auto">
            <a:xfrm>
              <a:off x="5700052" y="3483263"/>
              <a:ext cx="70171" cy="631537"/>
            </a:xfrm>
            <a:prstGeom prst="leftBrace">
              <a:avLst>
                <a:gd name="adj1" fmla="val 75000"/>
                <a:gd name="adj2" fmla="val 50000"/>
              </a:avLst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2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31" tIns="44423" rIns="90431" bIns="44423" anchor="ctr"/>
            <a:lstStyle/>
            <a:p>
              <a:endParaRPr lang="en-US" sz="1400" b="0">
                <a:solidFill>
                  <a:srgbClr val="333399"/>
                </a:solidFill>
                <a:latin typeface="+mn-lt"/>
              </a:endParaRPr>
            </a:p>
          </p:txBody>
        </p:sp>
        <p:sp>
          <p:nvSpPr>
            <p:cNvPr id="35" name="Text Box 22"/>
            <p:cNvSpPr txBox="1">
              <a:spLocks noChangeArrowheads="1"/>
            </p:cNvSpPr>
            <p:nvPr/>
          </p:nvSpPr>
          <p:spPr bwMode="auto">
            <a:xfrm>
              <a:off x="5138546" y="3582251"/>
              <a:ext cx="576454" cy="3359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2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31" tIns="44423" rIns="90431" bIns="44423">
              <a:spAutoFit/>
            </a:bodyPr>
            <a:lstStyle/>
            <a:p>
              <a:r>
                <a:rPr lang="en-US" dirty="0">
                  <a:solidFill>
                    <a:srgbClr val="333399"/>
                  </a:solidFill>
                  <a:latin typeface="+mn-lt"/>
                </a:rPr>
                <a:t>RTT</a:t>
              </a:r>
            </a:p>
          </p:txBody>
        </p:sp>
        <p:sp>
          <p:nvSpPr>
            <p:cNvPr id="37" name="AutoShape 20"/>
            <p:cNvSpPr>
              <a:spLocks/>
            </p:cNvSpPr>
            <p:nvPr/>
          </p:nvSpPr>
          <p:spPr bwMode="auto">
            <a:xfrm>
              <a:off x="5722481" y="4244411"/>
              <a:ext cx="70171" cy="1005840"/>
            </a:xfrm>
            <a:prstGeom prst="leftBrace">
              <a:avLst>
                <a:gd name="adj1" fmla="val 75000"/>
                <a:gd name="adj2" fmla="val 50000"/>
              </a:avLst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2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31" tIns="44423" rIns="90431" bIns="44423" anchor="ctr"/>
            <a:lstStyle/>
            <a:p>
              <a:endParaRPr lang="en-US" sz="1400" b="0">
                <a:solidFill>
                  <a:srgbClr val="333399"/>
                </a:solidFill>
                <a:latin typeface="+mn-lt"/>
              </a:endParaRPr>
            </a:p>
          </p:txBody>
        </p:sp>
        <p:sp>
          <p:nvSpPr>
            <p:cNvPr id="38" name="Text Box 22"/>
            <p:cNvSpPr txBox="1">
              <a:spLocks noChangeArrowheads="1"/>
            </p:cNvSpPr>
            <p:nvPr/>
          </p:nvSpPr>
          <p:spPr bwMode="auto">
            <a:xfrm>
              <a:off x="5160975" y="4580400"/>
              <a:ext cx="421476" cy="3359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2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31" tIns="44423" rIns="90431" bIns="44423">
              <a:spAutoFit/>
            </a:bodyPr>
            <a:lstStyle/>
            <a:p>
              <a:r>
                <a:rPr lang="en-US" dirty="0" err="1">
                  <a:solidFill>
                    <a:srgbClr val="333399"/>
                  </a:solidFill>
                  <a:latin typeface="+mn-lt"/>
                </a:rPr>
                <a:t>Tx</a:t>
              </a:r>
              <a:endParaRPr lang="en-US" dirty="0">
                <a:solidFill>
                  <a:srgbClr val="333399"/>
                </a:solidFill>
                <a:latin typeface="+mn-lt"/>
              </a:endParaRPr>
            </a:p>
          </p:txBody>
        </p:sp>
      </p:grp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F7BAEA-6772-594B-A24F-4AD6BA38A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FED86-94EF-254D-90EE-B810FE8299EE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532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Improving HTTP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Optimizing connections using </a:t>
            </a:r>
            <a:r>
              <a:rPr lang="en-US" dirty="0">
                <a:solidFill>
                  <a:srgbClr val="0000FF"/>
                </a:solidFill>
              </a:rPr>
              <a:t>three “P”s</a:t>
            </a:r>
          </a:p>
          <a:p>
            <a:pPr lvl="1"/>
            <a:r>
              <a:rPr lang="en-US" dirty="0"/>
              <a:t>Persistent connections </a:t>
            </a:r>
          </a:p>
          <a:p>
            <a:pPr lvl="1"/>
            <a:r>
              <a:rPr lang="en-US" dirty="0"/>
              <a:t>Parallel/concurrent connections </a:t>
            </a:r>
          </a:p>
          <a:p>
            <a:pPr lvl="1"/>
            <a:r>
              <a:rPr lang="en-US" dirty="0"/>
              <a:t>Pipelined transfers over the same connection</a:t>
            </a:r>
          </a:p>
          <a:p>
            <a:r>
              <a:rPr lang="en-US" dirty="0"/>
              <a:t>Caching</a:t>
            </a:r>
          </a:p>
          <a:p>
            <a:pPr lvl="1"/>
            <a:r>
              <a:rPr lang="en-US" dirty="0"/>
              <a:t>Forward proxy: close to clients</a:t>
            </a:r>
          </a:p>
          <a:p>
            <a:pPr lvl="1"/>
            <a:r>
              <a:rPr lang="en-US" dirty="0"/>
              <a:t>Reverse proxy: close to servers</a:t>
            </a:r>
          </a:p>
          <a:p>
            <a:r>
              <a:rPr lang="en-US" dirty="0"/>
              <a:t>Replication</a:t>
            </a: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30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Scorecard: Getting n small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Time dominated by latency</a:t>
            </a:r>
          </a:p>
          <a:p>
            <a:endParaRPr lang="en-US" dirty="0"/>
          </a:p>
          <a:p>
            <a:r>
              <a:rPr lang="en-US" dirty="0"/>
              <a:t>One-at-a-time:  ~2n RTT</a:t>
            </a:r>
          </a:p>
          <a:p>
            <a:r>
              <a:rPr lang="en-US" dirty="0"/>
              <a:t>m concurrent: ~2[n/m] RTT</a:t>
            </a:r>
          </a:p>
          <a:p>
            <a:r>
              <a:rPr lang="en-US" dirty="0"/>
              <a:t>Persistent: ~ (n+1) RTT</a:t>
            </a:r>
          </a:p>
          <a:p>
            <a:r>
              <a:rPr lang="en-US" dirty="0"/>
              <a:t>Pipelined: ~2 RTT</a:t>
            </a:r>
          </a:p>
          <a:p>
            <a:r>
              <a:rPr lang="en-US" dirty="0"/>
              <a:t>Pipelined and Persistent: ~2 RTT first time; RTT later for another n from the same site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40828-CFE2-FE41-8CC1-C71D8AFBC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81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Scorecard: Getting n large objects each of size 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Time dominated by TCP throughput B</a:t>
            </a:r>
            <a:r>
              <a:rPr lang="en-US" baseline="-25000" dirty="0">
                <a:solidFill>
                  <a:srgbClr val="0000FF"/>
                </a:solidFill>
              </a:rPr>
              <a:t>C</a:t>
            </a:r>
            <a:r>
              <a:rPr lang="en-US" dirty="0">
                <a:solidFill>
                  <a:srgbClr val="0000FF"/>
                </a:solidFill>
              </a:rPr>
              <a:t> (&lt;= B</a:t>
            </a:r>
            <a:r>
              <a:rPr lang="en-US" baseline="-25000" dirty="0">
                <a:solidFill>
                  <a:srgbClr val="0000FF"/>
                </a:solidFill>
              </a:rPr>
              <a:t>L</a:t>
            </a:r>
            <a:r>
              <a:rPr lang="en-US" dirty="0">
                <a:solidFill>
                  <a:srgbClr val="0000FF"/>
                </a:solidFill>
              </a:rPr>
              <a:t>)</a:t>
            </a:r>
            <a:r>
              <a:rPr lang="en-US" dirty="0"/>
              <a:t>, where bottleneck link bandwidth is B</a:t>
            </a:r>
            <a:r>
              <a:rPr lang="en-US" baseline="-25000" dirty="0"/>
              <a:t>L</a:t>
            </a:r>
          </a:p>
          <a:p>
            <a:pPr lvl="1"/>
            <a:r>
              <a:rPr lang="en-US" dirty="0"/>
              <a:t>Assuming all TCP connections go through the same bottleneck link</a:t>
            </a:r>
          </a:p>
          <a:p>
            <a:r>
              <a:rPr lang="en-US" dirty="0"/>
              <a:t>One-at-a-time:  ~ </a:t>
            </a:r>
            <a:r>
              <a:rPr lang="en-US" dirty="0" err="1"/>
              <a:t>nF</a:t>
            </a:r>
            <a:r>
              <a:rPr lang="en-US" dirty="0"/>
              <a:t>/B</a:t>
            </a:r>
            <a:r>
              <a:rPr lang="en-US" baseline="-25000" dirty="0"/>
              <a:t>C</a:t>
            </a:r>
          </a:p>
          <a:p>
            <a:r>
              <a:rPr lang="en-US" dirty="0"/>
              <a:t>m concurrent: ~ </a:t>
            </a:r>
            <a:r>
              <a:rPr lang="en-US" dirty="0" err="1"/>
              <a:t>nF</a:t>
            </a:r>
            <a:r>
              <a:rPr lang="en-US" dirty="0"/>
              <a:t>/(</a:t>
            </a:r>
            <a:r>
              <a:rPr lang="en-US" dirty="0" err="1"/>
              <a:t>mB’</a:t>
            </a:r>
            <a:r>
              <a:rPr lang="en-US" baseline="-25000" dirty="0" err="1"/>
              <a:t>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Assuming each TCP connection gets the same throughput (B’</a:t>
            </a:r>
            <a:r>
              <a:rPr lang="en-US" baseline="-25000" dirty="0"/>
              <a:t>C</a:t>
            </a:r>
            <a:r>
              <a:rPr lang="en-US" dirty="0"/>
              <a:t>), where </a:t>
            </a:r>
            <a:r>
              <a:rPr lang="en-US" dirty="0" err="1"/>
              <a:t>mB’</a:t>
            </a:r>
            <a:r>
              <a:rPr lang="en-US" baseline="-25000" dirty="0" err="1"/>
              <a:t>C</a:t>
            </a:r>
            <a:r>
              <a:rPr lang="en-US" dirty="0"/>
              <a:t> &lt;= B</a:t>
            </a:r>
            <a:r>
              <a:rPr lang="en-US" baseline="-25000" dirty="0"/>
              <a:t>L</a:t>
            </a:r>
          </a:p>
          <a:p>
            <a:r>
              <a:rPr lang="en-US" dirty="0"/>
              <a:t>Pipelined and/or persistent: ~ </a:t>
            </a:r>
            <a:r>
              <a:rPr lang="en-US" dirty="0" err="1"/>
              <a:t>nF</a:t>
            </a:r>
            <a:r>
              <a:rPr lang="en-US" dirty="0"/>
              <a:t>/B</a:t>
            </a:r>
            <a:r>
              <a:rPr lang="en-US" baseline="-25000" dirty="0"/>
              <a:t>C</a:t>
            </a:r>
          </a:p>
          <a:p>
            <a:pPr lvl="1"/>
            <a:r>
              <a:rPr lang="en-US" dirty="0"/>
              <a:t>The only thing that helps is higher throughput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752E1-9A2F-EA45-A5F8-B704C0926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976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 Distribution Networks (CDN)</a:t>
            </a:r>
          </a:p>
        </p:txBody>
      </p:sp>
      <p:sp>
        <p:nvSpPr>
          <p:cNvPr id="9933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Caching and replication as a service</a:t>
            </a:r>
          </a:p>
          <a:p>
            <a:r>
              <a:rPr lang="en-US" dirty="0"/>
              <a:t>Combination of caching and replication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Pull</a:t>
            </a:r>
            <a:r>
              <a:rPr lang="en-US" dirty="0"/>
              <a:t>: Direct result of clients</a:t>
            </a:r>
            <a:r>
              <a:rPr lang="ja-JP" altLang="en-US" dirty="0"/>
              <a:t>’</a:t>
            </a:r>
            <a:r>
              <a:rPr lang="en-US" dirty="0"/>
              <a:t>requests (caching)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Push</a:t>
            </a:r>
            <a:r>
              <a:rPr lang="en-US" dirty="0"/>
              <a:t>: Expectation of high access rate (replication)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6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332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4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Hierarchies in the DNS</a:t>
            </a:r>
          </a:p>
        </p:txBody>
      </p:sp>
      <p:sp>
        <p:nvSpPr>
          <p:cNvPr id="14684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Three intertwined hierarchies </a:t>
            </a:r>
          </a:p>
          <a:p>
            <a:pPr lvl="1"/>
            <a:r>
              <a:rPr lang="en-US" dirty="0"/>
              <a:t>Hierarchical namespace</a:t>
            </a:r>
          </a:p>
          <a:p>
            <a:pPr lvl="2"/>
            <a:r>
              <a:rPr lang="en-US" dirty="0"/>
              <a:t>As opposed to flat namespace</a:t>
            </a:r>
          </a:p>
          <a:p>
            <a:pPr lvl="1"/>
            <a:r>
              <a:rPr lang="en-US" dirty="0"/>
              <a:t>Hierarchically administered</a:t>
            </a:r>
          </a:p>
          <a:p>
            <a:pPr lvl="2"/>
            <a:r>
              <a:rPr lang="en-US" dirty="0"/>
              <a:t>As opposed to centralized </a:t>
            </a:r>
          </a:p>
          <a:p>
            <a:pPr lvl="1"/>
            <a:r>
              <a:rPr lang="en-US" dirty="0"/>
              <a:t>(Distributed) hierarchy of servers</a:t>
            </a:r>
          </a:p>
          <a:p>
            <a:pPr lvl="2"/>
            <a:r>
              <a:rPr lang="en-US" dirty="0"/>
              <a:t>As opposed to centralized storage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80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8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8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8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8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8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8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8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68419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resolution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089422" y="3398737"/>
            <a:ext cx="5006578" cy="3034329"/>
            <a:chOff x="1089422" y="3398737"/>
            <a:chExt cx="5006578" cy="3034329"/>
          </a:xfrm>
        </p:grpSpPr>
        <p:sp>
          <p:nvSpPr>
            <p:cNvPr id="1137" name="Shape 1137"/>
            <p:cNvSpPr/>
            <p:nvPr/>
          </p:nvSpPr>
          <p:spPr>
            <a:xfrm>
              <a:off x="1089422" y="3795118"/>
              <a:ext cx="2821782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rgbClr val="EBEBEB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8" name="Shape 1138"/>
            <p:cNvSpPr/>
            <p:nvPr/>
          </p:nvSpPr>
          <p:spPr>
            <a:xfrm>
              <a:off x="1154712" y="3999005"/>
              <a:ext cx="1845373" cy="424223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9" name="Shape 1139"/>
            <p:cNvSpPr/>
            <p:nvPr/>
          </p:nvSpPr>
          <p:spPr>
            <a:xfrm flipH="1">
              <a:off x="2394028" y="4465757"/>
              <a:ext cx="637954" cy="978196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0" name="Shape 1140"/>
            <p:cNvSpPr/>
            <p:nvPr/>
          </p:nvSpPr>
          <p:spPr>
            <a:xfrm>
              <a:off x="2187773" y="5304234"/>
              <a:ext cx="357188" cy="3571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1" name="Shape 1141"/>
            <p:cNvSpPr/>
            <p:nvPr/>
          </p:nvSpPr>
          <p:spPr>
            <a:xfrm flipH="1">
              <a:off x="3042614" y="3398737"/>
              <a:ext cx="585068" cy="981960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2" name="Shape 1142"/>
            <p:cNvSpPr/>
            <p:nvPr/>
          </p:nvSpPr>
          <p:spPr>
            <a:xfrm flipH="1">
              <a:off x="3053246" y="4380248"/>
              <a:ext cx="1442696" cy="64245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3" name="Shape 1143"/>
            <p:cNvSpPr/>
            <p:nvPr/>
          </p:nvSpPr>
          <p:spPr>
            <a:xfrm>
              <a:off x="2821781" y="4205883"/>
              <a:ext cx="446484" cy="446484"/>
            </a:xfrm>
            <a:prstGeom prst="roundRect">
              <a:avLst>
                <a:gd name="adj" fmla="val 30000"/>
              </a:avLst>
            </a:prstGeom>
            <a:solidFill>
              <a:srgbClr val="D6D6D6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4" name="Shape 1144"/>
            <p:cNvSpPr/>
            <p:nvPr/>
          </p:nvSpPr>
          <p:spPr>
            <a:xfrm>
              <a:off x="2331152" y="5529938"/>
              <a:ext cx="3764848" cy="9031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>
                <a:defRPr b="1">
                  <a:solidFill>
                    <a:srgbClr val="0096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 algn="l">
                <a:defRPr sz="1800" b="0">
                  <a:solidFill>
                    <a:srgbClr val="000000"/>
                  </a:solidFill>
                </a:defRPr>
              </a:pPr>
              <a:r>
                <a:rPr sz="3000" dirty="0">
                  <a:latin typeface="Arial" charset="0"/>
                  <a:ea typeface="Arial" charset="0"/>
                  <a:cs typeface="Arial" charset="0"/>
                </a:rPr>
                <a:t>DNS client</a:t>
              </a:r>
              <a:br>
                <a:rPr lang="en-US" sz="3000" dirty="0">
                  <a:latin typeface="Arial" charset="0"/>
                  <a:ea typeface="Arial" charset="0"/>
                  <a:cs typeface="Arial" charset="0"/>
                </a:rPr>
              </a:br>
              <a:r>
                <a:rPr lang="en-US" sz="2400" dirty="0">
                  <a:latin typeface="Arial" charset="0"/>
                  <a:ea typeface="Arial" charset="0"/>
                  <a:cs typeface="Arial" charset="0"/>
                </a:rPr>
                <a:t>(me.cse.umich.edu)</a:t>
              </a:r>
              <a:endParaRPr sz="240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1145" name="Shape 1145"/>
          <p:cNvSpPr/>
          <p:nvPr/>
        </p:nvSpPr>
        <p:spPr>
          <a:xfrm>
            <a:off x="1000125" y="3812976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46" name="Shape 1146"/>
          <p:cNvSpPr/>
          <p:nvPr/>
        </p:nvSpPr>
        <p:spPr>
          <a:xfrm>
            <a:off x="741164" y="2895600"/>
            <a:ext cx="260044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DNS server</a:t>
            </a:r>
          </a:p>
        </p:txBody>
      </p:sp>
      <p:sp>
        <p:nvSpPr>
          <p:cNvPr id="1148" name="Shape 1148"/>
          <p:cNvSpPr/>
          <p:nvPr/>
        </p:nvSpPr>
        <p:spPr>
          <a:xfrm>
            <a:off x="3750469" y="2209379"/>
            <a:ext cx="2098658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>
                <a:latin typeface="Arial" charset="0"/>
                <a:ea typeface="Arial" charset="0"/>
                <a:cs typeface="Arial" charset="0"/>
              </a:rPr>
              <a:t>root servers</a:t>
            </a:r>
          </a:p>
        </p:txBody>
      </p:sp>
      <p:sp>
        <p:nvSpPr>
          <p:cNvPr id="1151" name="Shape 1151"/>
          <p:cNvSpPr/>
          <p:nvPr/>
        </p:nvSpPr>
        <p:spPr>
          <a:xfrm>
            <a:off x="5096311" y="2667698"/>
            <a:ext cx="1988191" cy="843095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2" name="Shape 1152"/>
          <p:cNvSpPr/>
          <p:nvPr/>
        </p:nvSpPr>
        <p:spPr>
          <a:xfrm>
            <a:off x="7358063" y="3973711"/>
            <a:ext cx="466424" cy="795431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3" name="Shape 1153"/>
          <p:cNvSpPr/>
          <p:nvPr/>
        </p:nvSpPr>
        <p:spPr>
          <a:xfrm>
            <a:off x="741164" y="2514600"/>
            <a:ext cx="87510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local</a:t>
            </a:r>
          </a:p>
        </p:txBody>
      </p:sp>
      <p:sp>
        <p:nvSpPr>
          <p:cNvPr id="22" name="Shape 1149"/>
          <p:cNvSpPr/>
          <p:nvPr/>
        </p:nvSpPr>
        <p:spPr>
          <a:xfrm>
            <a:off x="6429375" y="3468465"/>
            <a:ext cx="2409825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dirty="0">
                <a:latin typeface="Arial" charset="0"/>
                <a:ea typeface="Arial" charset="0"/>
                <a:cs typeface="Arial" charset="0"/>
              </a:rPr>
              <a:t>.</a:t>
            </a:r>
            <a:r>
              <a:rPr lang="en-US" sz="2500" dirty="0">
                <a:latin typeface="Arial" charset="0"/>
                <a:ea typeface="Arial" charset="0"/>
                <a:cs typeface="Arial" charset="0"/>
              </a:rPr>
              <a:t>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servers</a:t>
            </a:r>
          </a:p>
        </p:txBody>
      </p:sp>
      <p:sp>
        <p:nvSpPr>
          <p:cNvPr id="23" name="Shape 1150"/>
          <p:cNvSpPr/>
          <p:nvPr/>
        </p:nvSpPr>
        <p:spPr>
          <a:xfrm>
            <a:off x="7366992" y="4731643"/>
            <a:ext cx="1694982" cy="841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00" dirty="0" err="1">
                <a:latin typeface="Arial" charset="0"/>
                <a:ea typeface="Arial" charset="0"/>
                <a:cs typeface="Arial" charset="0"/>
              </a:rPr>
              <a:t>nyu.edu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 servers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1555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5" grpId="0" animBg="1"/>
      <p:bldP spid="1146" grpId="0" animBg="1"/>
      <p:bldP spid="115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resolution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089422" y="3398737"/>
            <a:ext cx="5006578" cy="3034329"/>
            <a:chOff x="1089422" y="3398737"/>
            <a:chExt cx="5006578" cy="3034329"/>
          </a:xfrm>
        </p:grpSpPr>
        <p:sp>
          <p:nvSpPr>
            <p:cNvPr id="1137" name="Shape 1137"/>
            <p:cNvSpPr/>
            <p:nvPr/>
          </p:nvSpPr>
          <p:spPr>
            <a:xfrm>
              <a:off x="1089422" y="3795118"/>
              <a:ext cx="2821782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rgbClr val="EBEBEB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8" name="Shape 1138"/>
            <p:cNvSpPr/>
            <p:nvPr/>
          </p:nvSpPr>
          <p:spPr>
            <a:xfrm>
              <a:off x="1154712" y="3999005"/>
              <a:ext cx="1845373" cy="424223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9" name="Shape 1139"/>
            <p:cNvSpPr/>
            <p:nvPr/>
          </p:nvSpPr>
          <p:spPr>
            <a:xfrm flipH="1">
              <a:off x="2394028" y="4465757"/>
              <a:ext cx="637954" cy="978196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0" name="Shape 1140"/>
            <p:cNvSpPr/>
            <p:nvPr/>
          </p:nvSpPr>
          <p:spPr>
            <a:xfrm>
              <a:off x="2187773" y="5304234"/>
              <a:ext cx="357188" cy="3571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1" name="Shape 1141"/>
            <p:cNvSpPr/>
            <p:nvPr/>
          </p:nvSpPr>
          <p:spPr>
            <a:xfrm flipH="1">
              <a:off x="3042614" y="3398737"/>
              <a:ext cx="585068" cy="981960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2" name="Shape 1142"/>
            <p:cNvSpPr/>
            <p:nvPr/>
          </p:nvSpPr>
          <p:spPr>
            <a:xfrm flipH="1">
              <a:off x="3053246" y="4380248"/>
              <a:ext cx="1442696" cy="64245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3" name="Shape 1143"/>
            <p:cNvSpPr/>
            <p:nvPr/>
          </p:nvSpPr>
          <p:spPr>
            <a:xfrm>
              <a:off x="2821781" y="4205883"/>
              <a:ext cx="446484" cy="446484"/>
            </a:xfrm>
            <a:prstGeom prst="roundRect">
              <a:avLst>
                <a:gd name="adj" fmla="val 30000"/>
              </a:avLst>
            </a:prstGeom>
            <a:solidFill>
              <a:srgbClr val="D6D6D6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4" name="Shape 1144"/>
            <p:cNvSpPr/>
            <p:nvPr/>
          </p:nvSpPr>
          <p:spPr>
            <a:xfrm>
              <a:off x="2331152" y="5529938"/>
              <a:ext cx="3764848" cy="9031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>
                <a:defRPr b="1">
                  <a:solidFill>
                    <a:srgbClr val="0096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 algn="l">
                <a:defRPr sz="1800" b="0">
                  <a:solidFill>
                    <a:srgbClr val="000000"/>
                  </a:solidFill>
                </a:defRPr>
              </a:pPr>
              <a:r>
                <a:rPr sz="3000" dirty="0">
                  <a:latin typeface="Arial" charset="0"/>
                  <a:ea typeface="Arial" charset="0"/>
                  <a:cs typeface="Arial" charset="0"/>
                </a:rPr>
                <a:t>DNS client</a:t>
              </a:r>
              <a:br>
                <a:rPr lang="en-US" sz="3000" dirty="0">
                  <a:latin typeface="Arial" charset="0"/>
                  <a:ea typeface="Arial" charset="0"/>
                  <a:cs typeface="Arial" charset="0"/>
                </a:rPr>
              </a:br>
              <a:r>
                <a:rPr lang="en-US" sz="2400" dirty="0">
                  <a:latin typeface="Arial" charset="0"/>
                  <a:ea typeface="Arial" charset="0"/>
                  <a:cs typeface="Arial" charset="0"/>
                </a:rPr>
                <a:t>(me.cse.umich.edu)</a:t>
              </a:r>
              <a:endParaRPr sz="240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1145" name="Shape 1145"/>
          <p:cNvSpPr/>
          <p:nvPr/>
        </p:nvSpPr>
        <p:spPr>
          <a:xfrm>
            <a:off x="1000125" y="3812976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46" name="Shape 1146"/>
          <p:cNvSpPr/>
          <p:nvPr/>
        </p:nvSpPr>
        <p:spPr>
          <a:xfrm>
            <a:off x="741164" y="2895600"/>
            <a:ext cx="260044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DNS server</a:t>
            </a:r>
          </a:p>
        </p:txBody>
      </p:sp>
      <p:sp>
        <p:nvSpPr>
          <p:cNvPr id="1148" name="Shape 1148"/>
          <p:cNvSpPr/>
          <p:nvPr/>
        </p:nvSpPr>
        <p:spPr>
          <a:xfrm>
            <a:off x="3750469" y="2209379"/>
            <a:ext cx="2098658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>
                <a:latin typeface="Arial" charset="0"/>
                <a:ea typeface="Arial" charset="0"/>
                <a:cs typeface="Arial" charset="0"/>
              </a:rPr>
              <a:t>root servers</a:t>
            </a:r>
          </a:p>
        </p:txBody>
      </p:sp>
      <p:sp>
        <p:nvSpPr>
          <p:cNvPr id="1151" name="Shape 1151"/>
          <p:cNvSpPr/>
          <p:nvPr/>
        </p:nvSpPr>
        <p:spPr>
          <a:xfrm>
            <a:off x="5096311" y="2667698"/>
            <a:ext cx="1988191" cy="843095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2" name="Shape 1152"/>
          <p:cNvSpPr/>
          <p:nvPr/>
        </p:nvSpPr>
        <p:spPr>
          <a:xfrm>
            <a:off x="7358063" y="3973711"/>
            <a:ext cx="466424" cy="795431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3" name="Shape 1153"/>
          <p:cNvSpPr/>
          <p:nvPr/>
        </p:nvSpPr>
        <p:spPr>
          <a:xfrm>
            <a:off x="741164" y="2514600"/>
            <a:ext cx="87510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local</a:t>
            </a:r>
          </a:p>
        </p:txBody>
      </p:sp>
      <p:sp>
        <p:nvSpPr>
          <p:cNvPr id="22" name="Shape 1149"/>
          <p:cNvSpPr/>
          <p:nvPr/>
        </p:nvSpPr>
        <p:spPr>
          <a:xfrm>
            <a:off x="6429375" y="3468465"/>
            <a:ext cx="2409825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dirty="0">
                <a:latin typeface="Arial" charset="0"/>
                <a:ea typeface="Arial" charset="0"/>
                <a:cs typeface="Arial" charset="0"/>
              </a:rPr>
              <a:t>.</a:t>
            </a:r>
            <a:r>
              <a:rPr lang="en-US" sz="2500" dirty="0">
                <a:latin typeface="Arial" charset="0"/>
                <a:ea typeface="Arial" charset="0"/>
                <a:cs typeface="Arial" charset="0"/>
              </a:rPr>
              <a:t>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servers</a:t>
            </a:r>
          </a:p>
        </p:txBody>
      </p:sp>
      <p:sp>
        <p:nvSpPr>
          <p:cNvPr id="23" name="Shape 1150"/>
          <p:cNvSpPr/>
          <p:nvPr/>
        </p:nvSpPr>
        <p:spPr>
          <a:xfrm>
            <a:off x="7366992" y="4731643"/>
            <a:ext cx="1694982" cy="841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00" dirty="0" err="1">
                <a:latin typeface="Arial" charset="0"/>
                <a:ea typeface="Arial" charset="0"/>
                <a:cs typeface="Arial" charset="0"/>
              </a:rPr>
              <a:t>nyu.edu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 servers</a:t>
            </a:r>
          </a:p>
        </p:txBody>
      </p:sp>
      <p:sp>
        <p:nvSpPr>
          <p:cNvPr id="24" name="Shape 1147"/>
          <p:cNvSpPr/>
          <p:nvPr/>
        </p:nvSpPr>
        <p:spPr>
          <a:xfrm>
            <a:off x="1259086" y="4277320"/>
            <a:ext cx="838980" cy="1071073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ea typeface="Arial" charset="0"/>
              <a:cs typeface="Arial" charset="0"/>
            </a:endParaRPr>
          </a:p>
        </p:txBody>
      </p:sp>
      <p:sp>
        <p:nvSpPr>
          <p:cNvPr id="25" name="Shape 1154"/>
          <p:cNvSpPr/>
          <p:nvPr/>
        </p:nvSpPr>
        <p:spPr>
          <a:xfrm rot="3178774">
            <a:off x="357889" y="4930296"/>
            <a:ext cx="2206437" cy="392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lnSpc>
                <a:spcPct val="80000"/>
              </a:lnSpc>
              <a:defRPr sz="3600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b="0" dirty="0">
                <a:latin typeface="Arial" charset="0"/>
                <a:ea typeface="Arial" charset="0"/>
                <a:cs typeface="Arial" charset="0"/>
              </a:rPr>
              <a:t>www.</a:t>
            </a:r>
            <a:r>
              <a:rPr lang="en-US" sz="2500" b="0" dirty="0">
                <a:latin typeface="Arial" charset="0"/>
                <a:ea typeface="Arial" charset="0"/>
                <a:cs typeface="Arial" charset="0"/>
              </a:rPr>
              <a:t>nyu.edu?</a:t>
            </a:r>
            <a:endParaRPr sz="2500" b="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6" name="Shape 1146"/>
          <p:cNvSpPr/>
          <p:nvPr/>
        </p:nvSpPr>
        <p:spPr>
          <a:xfrm>
            <a:off x="152400" y="3322370"/>
            <a:ext cx="3505200" cy="441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(</a:t>
            </a:r>
            <a:r>
              <a:rPr lang="en-US" sz="2400" dirty="0" err="1">
                <a:latin typeface="Arial" charset="0"/>
                <a:ea typeface="Arial" charset="0"/>
                <a:cs typeface="Arial" charset="0"/>
              </a:rPr>
              <a:t>mydns.umich.edu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)</a:t>
            </a:r>
            <a:endParaRPr sz="24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775620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 advAuto="0"/>
      <p:bldP spid="25" grpId="0" animBg="1" advAuto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resolution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089422" y="3398737"/>
            <a:ext cx="5006578" cy="3034329"/>
            <a:chOff x="1089422" y="3398737"/>
            <a:chExt cx="5006578" cy="3034329"/>
          </a:xfrm>
        </p:grpSpPr>
        <p:sp>
          <p:nvSpPr>
            <p:cNvPr id="1137" name="Shape 1137"/>
            <p:cNvSpPr/>
            <p:nvPr/>
          </p:nvSpPr>
          <p:spPr>
            <a:xfrm>
              <a:off x="1089422" y="3795118"/>
              <a:ext cx="2821782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rgbClr val="EBEBEB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8" name="Shape 1138"/>
            <p:cNvSpPr/>
            <p:nvPr/>
          </p:nvSpPr>
          <p:spPr>
            <a:xfrm>
              <a:off x="1154712" y="3999005"/>
              <a:ext cx="1845373" cy="424223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9" name="Shape 1139"/>
            <p:cNvSpPr/>
            <p:nvPr/>
          </p:nvSpPr>
          <p:spPr>
            <a:xfrm flipH="1">
              <a:off x="2394028" y="4465757"/>
              <a:ext cx="637954" cy="978196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0" name="Shape 1140"/>
            <p:cNvSpPr/>
            <p:nvPr/>
          </p:nvSpPr>
          <p:spPr>
            <a:xfrm>
              <a:off x="2187773" y="5304234"/>
              <a:ext cx="357188" cy="3571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1" name="Shape 1141"/>
            <p:cNvSpPr/>
            <p:nvPr/>
          </p:nvSpPr>
          <p:spPr>
            <a:xfrm flipH="1">
              <a:off x="3042614" y="3398737"/>
              <a:ext cx="585068" cy="981960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2" name="Shape 1142"/>
            <p:cNvSpPr/>
            <p:nvPr/>
          </p:nvSpPr>
          <p:spPr>
            <a:xfrm flipH="1">
              <a:off x="3053246" y="4380248"/>
              <a:ext cx="1442696" cy="64245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3" name="Shape 1143"/>
            <p:cNvSpPr/>
            <p:nvPr/>
          </p:nvSpPr>
          <p:spPr>
            <a:xfrm>
              <a:off x="2821781" y="4205883"/>
              <a:ext cx="446484" cy="446484"/>
            </a:xfrm>
            <a:prstGeom prst="roundRect">
              <a:avLst>
                <a:gd name="adj" fmla="val 30000"/>
              </a:avLst>
            </a:prstGeom>
            <a:solidFill>
              <a:srgbClr val="D6D6D6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4" name="Shape 1144"/>
            <p:cNvSpPr/>
            <p:nvPr/>
          </p:nvSpPr>
          <p:spPr>
            <a:xfrm>
              <a:off x="2331152" y="5529938"/>
              <a:ext cx="3764848" cy="9031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>
                <a:defRPr b="1">
                  <a:solidFill>
                    <a:srgbClr val="0096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 algn="l">
                <a:defRPr sz="1800" b="0">
                  <a:solidFill>
                    <a:srgbClr val="000000"/>
                  </a:solidFill>
                </a:defRPr>
              </a:pPr>
              <a:r>
                <a:rPr sz="3000" dirty="0">
                  <a:latin typeface="Arial" charset="0"/>
                  <a:ea typeface="Arial" charset="0"/>
                  <a:cs typeface="Arial" charset="0"/>
                </a:rPr>
                <a:t>DNS client</a:t>
              </a:r>
              <a:br>
                <a:rPr lang="en-US" sz="3000" dirty="0">
                  <a:latin typeface="Arial" charset="0"/>
                  <a:ea typeface="Arial" charset="0"/>
                  <a:cs typeface="Arial" charset="0"/>
                </a:rPr>
              </a:br>
              <a:r>
                <a:rPr lang="en-US" sz="2400" dirty="0">
                  <a:latin typeface="Arial" charset="0"/>
                  <a:ea typeface="Arial" charset="0"/>
                  <a:cs typeface="Arial" charset="0"/>
                </a:rPr>
                <a:t>(me.cse.umich.edu)</a:t>
              </a:r>
              <a:endParaRPr sz="240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1145" name="Shape 1145"/>
          <p:cNvSpPr/>
          <p:nvPr/>
        </p:nvSpPr>
        <p:spPr>
          <a:xfrm>
            <a:off x="1000125" y="3812976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46" name="Shape 1146"/>
          <p:cNvSpPr/>
          <p:nvPr/>
        </p:nvSpPr>
        <p:spPr>
          <a:xfrm>
            <a:off x="741164" y="2895600"/>
            <a:ext cx="260044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DNS server</a:t>
            </a:r>
          </a:p>
        </p:txBody>
      </p:sp>
      <p:sp>
        <p:nvSpPr>
          <p:cNvPr id="1148" name="Shape 1148"/>
          <p:cNvSpPr/>
          <p:nvPr/>
        </p:nvSpPr>
        <p:spPr>
          <a:xfrm>
            <a:off x="3750469" y="2209379"/>
            <a:ext cx="2098658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root servers</a:t>
            </a:r>
          </a:p>
        </p:txBody>
      </p:sp>
      <p:sp>
        <p:nvSpPr>
          <p:cNvPr id="1151" name="Shape 1151"/>
          <p:cNvSpPr/>
          <p:nvPr/>
        </p:nvSpPr>
        <p:spPr>
          <a:xfrm>
            <a:off x="5096311" y="2667698"/>
            <a:ext cx="1988191" cy="843095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2" name="Shape 1152"/>
          <p:cNvSpPr/>
          <p:nvPr/>
        </p:nvSpPr>
        <p:spPr>
          <a:xfrm>
            <a:off x="7358063" y="3973711"/>
            <a:ext cx="466424" cy="795431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3" name="Shape 1153"/>
          <p:cNvSpPr/>
          <p:nvPr/>
        </p:nvSpPr>
        <p:spPr>
          <a:xfrm>
            <a:off x="741164" y="2514600"/>
            <a:ext cx="87510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local</a:t>
            </a:r>
          </a:p>
        </p:txBody>
      </p:sp>
      <p:sp>
        <p:nvSpPr>
          <p:cNvPr id="22" name="Shape 1149"/>
          <p:cNvSpPr/>
          <p:nvPr/>
        </p:nvSpPr>
        <p:spPr>
          <a:xfrm>
            <a:off x="6429375" y="3468465"/>
            <a:ext cx="2409825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dirty="0">
                <a:latin typeface="Arial" charset="0"/>
                <a:ea typeface="Arial" charset="0"/>
                <a:cs typeface="Arial" charset="0"/>
              </a:rPr>
              <a:t>.</a:t>
            </a:r>
            <a:r>
              <a:rPr lang="en-US" sz="2500" dirty="0">
                <a:latin typeface="Arial" charset="0"/>
                <a:ea typeface="Arial" charset="0"/>
                <a:cs typeface="Arial" charset="0"/>
              </a:rPr>
              <a:t>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servers</a:t>
            </a:r>
          </a:p>
        </p:txBody>
      </p:sp>
      <p:sp>
        <p:nvSpPr>
          <p:cNvPr id="23" name="Shape 1150"/>
          <p:cNvSpPr/>
          <p:nvPr/>
        </p:nvSpPr>
        <p:spPr>
          <a:xfrm>
            <a:off x="7366992" y="4731643"/>
            <a:ext cx="1694982" cy="841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00" dirty="0" err="1">
                <a:latin typeface="Arial" charset="0"/>
                <a:ea typeface="Arial" charset="0"/>
                <a:cs typeface="Arial" charset="0"/>
              </a:rPr>
              <a:t>nyu.edu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 servers</a:t>
            </a:r>
          </a:p>
        </p:txBody>
      </p:sp>
      <p:sp>
        <p:nvSpPr>
          <p:cNvPr id="24" name="Shape 1147"/>
          <p:cNvSpPr/>
          <p:nvPr/>
        </p:nvSpPr>
        <p:spPr>
          <a:xfrm>
            <a:off x="1259086" y="4277320"/>
            <a:ext cx="838980" cy="1071073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ea typeface="Arial" charset="0"/>
              <a:cs typeface="Arial" charset="0"/>
            </a:endParaRPr>
          </a:p>
        </p:txBody>
      </p:sp>
      <p:sp>
        <p:nvSpPr>
          <p:cNvPr id="25" name="Shape 1154"/>
          <p:cNvSpPr/>
          <p:nvPr/>
        </p:nvSpPr>
        <p:spPr>
          <a:xfrm rot="3178774">
            <a:off x="357889" y="4930296"/>
            <a:ext cx="2206437" cy="392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lnSpc>
                <a:spcPct val="80000"/>
              </a:lnSpc>
              <a:defRPr sz="3600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b="0" dirty="0">
                <a:latin typeface="Arial" charset="0"/>
                <a:ea typeface="Arial" charset="0"/>
                <a:cs typeface="Arial" charset="0"/>
              </a:rPr>
              <a:t>www.</a:t>
            </a:r>
            <a:r>
              <a:rPr lang="en-US" sz="2500" b="0" dirty="0">
                <a:latin typeface="Arial" charset="0"/>
                <a:ea typeface="Arial" charset="0"/>
                <a:cs typeface="Arial" charset="0"/>
              </a:rPr>
              <a:t>nyu.edu?</a:t>
            </a:r>
            <a:endParaRPr sz="2500" b="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6" name="Shape 1146"/>
          <p:cNvSpPr/>
          <p:nvPr/>
        </p:nvSpPr>
        <p:spPr>
          <a:xfrm>
            <a:off x="152400" y="3322370"/>
            <a:ext cx="3505200" cy="441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(</a:t>
            </a:r>
            <a:r>
              <a:rPr lang="en-US" sz="2400" dirty="0" err="1">
                <a:latin typeface="Arial" charset="0"/>
                <a:ea typeface="Arial" charset="0"/>
                <a:cs typeface="Arial" charset="0"/>
              </a:rPr>
              <a:t>mydns.umich.edu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)</a:t>
            </a:r>
            <a:endParaRPr sz="24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7" name="Shape 1167"/>
          <p:cNvSpPr/>
          <p:nvPr/>
        </p:nvSpPr>
        <p:spPr>
          <a:xfrm flipH="1">
            <a:off x="1447100" y="2626294"/>
            <a:ext cx="2843869" cy="1245766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599733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resolution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089422" y="3398737"/>
            <a:ext cx="5006578" cy="3034329"/>
            <a:chOff x="1089422" y="3398737"/>
            <a:chExt cx="5006578" cy="3034329"/>
          </a:xfrm>
        </p:grpSpPr>
        <p:sp>
          <p:nvSpPr>
            <p:cNvPr id="1137" name="Shape 1137"/>
            <p:cNvSpPr/>
            <p:nvPr/>
          </p:nvSpPr>
          <p:spPr>
            <a:xfrm>
              <a:off x="1089422" y="3795118"/>
              <a:ext cx="2821782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rgbClr val="EBEBEB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8" name="Shape 1138"/>
            <p:cNvSpPr/>
            <p:nvPr/>
          </p:nvSpPr>
          <p:spPr>
            <a:xfrm>
              <a:off x="1154712" y="3999005"/>
              <a:ext cx="1845373" cy="424223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9" name="Shape 1139"/>
            <p:cNvSpPr/>
            <p:nvPr/>
          </p:nvSpPr>
          <p:spPr>
            <a:xfrm flipH="1">
              <a:off x="2394028" y="4465757"/>
              <a:ext cx="637954" cy="978196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0" name="Shape 1140"/>
            <p:cNvSpPr/>
            <p:nvPr/>
          </p:nvSpPr>
          <p:spPr>
            <a:xfrm>
              <a:off x="2187773" y="5304234"/>
              <a:ext cx="357188" cy="3571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1" name="Shape 1141"/>
            <p:cNvSpPr/>
            <p:nvPr/>
          </p:nvSpPr>
          <p:spPr>
            <a:xfrm flipH="1">
              <a:off x="3042614" y="3398737"/>
              <a:ext cx="585068" cy="981960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2" name="Shape 1142"/>
            <p:cNvSpPr/>
            <p:nvPr/>
          </p:nvSpPr>
          <p:spPr>
            <a:xfrm flipH="1">
              <a:off x="3053246" y="4380248"/>
              <a:ext cx="1442696" cy="64245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3" name="Shape 1143"/>
            <p:cNvSpPr/>
            <p:nvPr/>
          </p:nvSpPr>
          <p:spPr>
            <a:xfrm>
              <a:off x="2821781" y="4205883"/>
              <a:ext cx="446484" cy="446484"/>
            </a:xfrm>
            <a:prstGeom prst="roundRect">
              <a:avLst>
                <a:gd name="adj" fmla="val 30000"/>
              </a:avLst>
            </a:prstGeom>
            <a:solidFill>
              <a:srgbClr val="D6D6D6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4" name="Shape 1144"/>
            <p:cNvSpPr/>
            <p:nvPr/>
          </p:nvSpPr>
          <p:spPr>
            <a:xfrm>
              <a:off x="2331152" y="5529938"/>
              <a:ext cx="3764848" cy="9031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>
                <a:defRPr b="1">
                  <a:solidFill>
                    <a:srgbClr val="0096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 algn="l">
                <a:defRPr sz="1800" b="0">
                  <a:solidFill>
                    <a:srgbClr val="000000"/>
                  </a:solidFill>
                </a:defRPr>
              </a:pPr>
              <a:r>
                <a:rPr sz="3000" dirty="0">
                  <a:latin typeface="Arial" charset="0"/>
                  <a:ea typeface="Arial" charset="0"/>
                  <a:cs typeface="Arial" charset="0"/>
                </a:rPr>
                <a:t>DNS client</a:t>
              </a:r>
              <a:br>
                <a:rPr lang="en-US" sz="3000" dirty="0">
                  <a:latin typeface="Arial" charset="0"/>
                  <a:ea typeface="Arial" charset="0"/>
                  <a:cs typeface="Arial" charset="0"/>
                </a:rPr>
              </a:br>
              <a:r>
                <a:rPr lang="en-US" sz="2400" dirty="0">
                  <a:latin typeface="Arial" charset="0"/>
                  <a:ea typeface="Arial" charset="0"/>
                  <a:cs typeface="Arial" charset="0"/>
                </a:rPr>
                <a:t>(me.cse.umich.edu)</a:t>
              </a:r>
              <a:endParaRPr sz="240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1145" name="Shape 1145"/>
          <p:cNvSpPr/>
          <p:nvPr/>
        </p:nvSpPr>
        <p:spPr>
          <a:xfrm>
            <a:off x="1000125" y="3812976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46" name="Shape 1146"/>
          <p:cNvSpPr/>
          <p:nvPr/>
        </p:nvSpPr>
        <p:spPr>
          <a:xfrm>
            <a:off x="741164" y="2895600"/>
            <a:ext cx="260044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DNS server</a:t>
            </a:r>
          </a:p>
        </p:txBody>
      </p:sp>
      <p:sp>
        <p:nvSpPr>
          <p:cNvPr id="1148" name="Shape 1148"/>
          <p:cNvSpPr/>
          <p:nvPr/>
        </p:nvSpPr>
        <p:spPr>
          <a:xfrm>
            <a:off x="3750469" y="2209379"/>
            <a:ext cx="2098658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root servers</a:t>
            </a:r>
          </a:p>
        </p:txBody>
      </p:sp>
      <p:sp>
        <p:nvSpPr>
          <p:cNvPr id="1152" name="Shape 1152"/>
          <p:cNvSpPr/>
          <p:nvPr/>
        </p:nvSpPr>
        <p:spPr>
          <a:xfrm>
            <a:off x="7358063" y="3973711"/>
            <a:ext cx="466424" cy="795431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3" name="Shape 1153"/>
          <p:cNvSpPr/>
          <p:nvPr/>
        </p:nvSpPr>
        <p:spPr>
          <a:xfrm>
            <a:off x="741164" y="2514600"/>
            <a:ext cx="87510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local</a:t>
            </a:r>
          </a:p>
        </p:txBody>
      </p:sp>
      <p:sp>
        <p:nvSpPr>
          <p:cNvPr id="22" name="Shape 1149"/>
          <p:cNvSpPr/>
          <p:nvPr/>
        </p:nvSpPr>
        <p:spPr>
          <a:xfrm>
            <a:off x="6429375" y="3468465"/>
            <a:ext cx="2409825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.</a:t>
            </a:r>
            <a:r>
              <a:rPr lang="en-US" sz="25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edu</a:t>
            </a:r>
            <a:r>
              <a:rPr sz="25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 servers</a:t>
            </a:r>
          </a:p>
        </p:txBody>
      </p:sp>
      <p:sp>
        <p:nvSpPr>
          <p:cNvPr id="23" name="Shape 1150"/>
          <p:cNvSpPr/>
          <p:nvPr/>
        </p:nvSpPr>
        <p:spPr>
          <a:xfrm>
            <a:off x="7366992" y="4731643"/>
            <a:ext cx="1694982" cy="841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00" dirty="0" err="1">
                <a:latin typeface="Arial" charset="0"/>
                <a:ea typeface="Arial" charset="0"/>
                <a:cs typeface="Arial" charset="0"/>
              </a:rPr>
              <a:t>nyu.edu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 servers</a:t>
            </a:r>
          </a:p>
        </p:txBody>
      </p:sp>
      <p:sp>
        <p:nvSpPr>
          <p:cNvPr id="24" name="Shape 1147"/>
          <p:cNvSpPr/>
          <p:nvPr/>
        </p:nvSpPr>
        <p:spPr>
          <a:xfrm>
            <a:off x="1259086" y="4277320"/>
            <a:ext cx="838980" cy="1071073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ea typeface="Arial" charset="0"/>
              <a:cs typeface="Arial" charset="0"/>
            </a:endParaRPr>
          </a:p>
        </p:txBody>
      </p:sp>
      <p:sp>
        <p:nvSpPr>
          <p:cNvPr id="25" name="Shape 1154"/>
          <p:cNvSpPr/>
          <p:nvPr/>
        </p:nvSpPr>
        <p:spPr>
          <a:xfrm rot="3178774">
            <a:off x="357889" y="4930296"/>
            <a:ext cx="2206437" cy="392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lnSpc>
                <a:spcPct val="80000"/>
              </a:lnSpc>
              <a:defRPr sz="3600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b="0" dirty="0">
                <a:latin typeface="Arial" charset="0"/>
                <a:ea typeface="Arial" charset="0"/>
                <a:cs typeface="Arial" charset="0"/>
              </a:rPr>
              <a:t>www.</a:t>
            </a:r>
            <a:r>
              <a:rPr lang="en-US" sz="2500" b="0" dirty="0">
                <a:latin typeface="Arial" charset="0"/>
                <a:ea typeface="Arial" charset="0"/>
                <a:cs typeface="Arial" charset="0"/>
              </a:rPr>
              <a:t>nyu.edu?</a:t>
            </a:r>
            <a:endParaRPr sz="2500" b="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6" name="Shape 1146"/>
          <p:cNvSpPr/>
          <p:nvPr/>
        </p:nvSpPr>
        <p:spPr>
          <a:xfrm>
            <a:off x="152400" y="3322370"/>
            <a:ext cx="3505200" cy="441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(</a:t>
            </a:r>
            <a:r>
              <a:rPr lang="en-US" sz="2400" dirty="0" err="1">
                <a:latin typeface="Arial" charset="0"/>
                <a:ea typeface="Arial" charset="0"/>
                <a:cs typeface="Arial" charset="0"/>
              </a:rPr>
              <a:t>mydns.umich.edu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)</a:t>
            </a:r>
            <a:endParaRPr sz="24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7" name="Shape 1167"/>
          <p:cNvSpPr/>
          <p:nvPr/>
        </p:nvSpPr>
        <p:spPr>
          <a:xfrm flipH="1">
            <a:off x="1447100" y="2626294"/>
            <a:ext cx="2843869" cy="1245766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29" name="Shape 1189"/>
          <p:cNvSpPr/>
          <p:nvPr/>
        </p:nvSpPr>
        <p:spPr>
          <a:xfrm flipH="1" flipV="1">
            <a:off x="4937670" y="2616217"/>
            <a:ext cx="2146832" cy="894576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951248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resolution: Recursive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089422" y="3398737"/>
            <a:ext cx="5006578" cy="3034329"/>
            <a:chOff x="1089422" y="3398737"/>
            <a:chExt cx="5006578" cy="3034329"/>
          </a:xfrm>
        </p:grpSpPr>
        <p:sp>
          <p:nvSpPr>
            <p:cNvPr id="1137" name="Shape 1137"/>
            <p:cNvSpPr/>
            <p:nvPr/>
          </p:nvSpPr>
          <p:spPr>
            <a:xfrm>
              <a:off x="1089422" y="3795118"/>
              <a:ext cx="2821782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rgbClr val="EBEBEB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8" name="Shape 1138"/>
            <p:cNvSpPr/>
            <p:nvPr/>
          </p:nvSpPr>
          <p:spPr>
            <a:xfrm>
              <a:off x="1154712" y="3999005"/>
              <a:ext cx="1845373" cy="424223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9" name="Shape 1139"/>
            <p:cNvSpPr/>
            <p:nvPr/>
          </p:nvSpPr>
          <p:spPr>
            <a:xfrm flipH="1">
              <a:off x="2394028" y="4465757"/>
              <a:ext cx="637954" cy="978196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0" name="Shape 1140"/>
            <p:cNvSpPr/>
            <p:nvPr/>
          </p:nvSpPr>
          <p:spPr>
            <a:xfrm>
              <a:off x="2187773" y="5304234"/>
              <a:ext cx="357188" cy="3571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1" name="Shape 1141"/>
            <p:cNvSpPr/>
            <p:nvPr/>
          </p:nvSpPr>
          <p:spPr>
            <a:xfrm flipH="1">
              <a:off x="3042614" y="3398737"/>
              <a:ext cx="585068" cy="981960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2" name="Shape 1142"/>
            <p:cNvSpPr/>
            <p:nvPr/>
          </p:nvSpPr>
          <p:spPr>
            <a:xfrm flipH="1">
              <a:off x="3053246" y="4380248"/>
              <a:ext cx="1442696" cy="64245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3" name="Shape 1143"/>
            <p:cNvSpPr/>
            <p:nvPr/>
          </p:nvSpPr>
          <p:spPr>
            <a:xfrm>
              <a:off x="2821781" y="4205883"/>
              <a:ext cx="446484" cy="446484"/>
            </a:xfrm>
            <a:prstGeom prst="roundRect">
              <a:avLst>
                <a:gd name="adj" fmla="val 30000"/>
              </a:avLst>
            </a:prstGeom>
            <a:solidFill>
              <a:srgbClr val="D6D6D6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4" name="Shape 1144"/>
            <p:cNvSpPr/>
            <p:nvPr/>
          </p:nvSpPr>
          <p:spPr>
            <a:xfrm>
              <a:off x="2331152" y="5529938"/>
              <a:ext cx="3764848" cy="9031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>
                <a:defRPr b="1">
                  <a:solidFill>
                    <a:srgbClr val="0096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 algn="l">
                <a:defRPr sz="1800" b="0">
                  <a:solidFill>
                    <a:srgbClr val="000000"/>
                  </a:solidFill>
                </a:defRPr>
              </a:pPr>
              <a:r>
                <a:rPr sz="3000" dirty="0">
                  <a:latin typeface="Arial" charset="0"/>
                  <a:ea typeface="Arial" charset="0"/>
                  <a:cs typeface="Arial" charset="0"/>
                </a:rPr>
                <a:t>DNS client</a:t>
              </a:r>
              <a:br>
                <a:rPr lang="en-US" sz="3000" dirty="0">
                  <a:latin typeface="Arial" charset="0"/>
                  <a:ea typeface="Arial" charset="0"/>
                  <a:cs typeface="Arial" charset="0"/>
                </a:rPr>
              </a:br>
              <a:r>
                <a:rPr lang="en-US" sz="2400" dirty="0">
                  <a:latin typeface="Arial" charset="0"/>
                  <a:ea typeface="Arial" charset="0"/>
                  <a:cs typeface="Arial" charset="0"/>
                </a:rPr>
                <a:t>(me.cse.umich.edu)</a:t>
              </a:r>
              <a:endParaRPr sz="240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1145" name="Shape 1145"/>
          <p:cNvSpPr/>
          <p:nvPr/>
        </p:nvSpPr>
        <p:spPr>
          <a:xfrm>
            <a:off x="1000125" y="3812976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46" name="Shape 1146"/>
          <p:cNvSpPr/>
          <p:nvPr/>
        </p:nvSpPr>
        <p:spPr>
          <a:xfrm>
            <a:off x="741164" y="2895600"/>
            <a:ext cx="260044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DNS server</a:t>
            </a:r>
          </a:p>
        </p:txBody>
      </p:sp>
      <p:sp>
        <p:nvSpPr>
          <p:cNvPr id="1148" name="Shape 1148"/>
          <p:cNvSpPr/>
          <p:nvPr/>
        </p:nvSpPr>
        <p:spPr>
          <a:xfrm>
            <a:off x="3750469" y="2209379"/>
            <a:ext cx="2098658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root servers</a:t>
            </a:r>
          </a:p>
        </p:txBody>
      </p:sp>
      <p:sp>
        <p:nvSpPr>
          <p:cNvPr id="1153" name="Shape 1153"/>
          <p:cNvSpPr/>
          <p:nvPr/>
        </p:nvSpPr>
        <p:spPr>
          <a:xfrm>
            <a:off x="741164" y="2514600"/>
            <a:ext cx="87510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local</a:t>
            </a:r>
          </a:p>
        </p:txBody>
      </p:sp>
      <p:sp>
        <p:nvSpPr>
          <p:cNvPr id="22" name="Shape 1149"/>
          <p:cNvSpPr/>
          <p:nvPr/>
        </p:nvSpPr>
        <p:spPr>
          <a:xfrm>
            <a:off x="6429375" y="3468465"/>
            <a:ext cx="2409825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.</a:t>
            </a:r>
            <a:r>
              <a:rPr lang="en-US" sz="25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edu</a:t>
            </a:r>
            <a:r>
              <a:rPr sz="25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 servers</a:t>
            </a:r>
          </a:p>
        </p:txBody>
      </p:sp>
      <p:sp>
        <p:nvSpPr>
          <p:cNvPr id="23" name="Shape 1150"/>
          <p:cNvSpPr/>
          <p:nvPr/>
        </p:nvSpPr>
        <p:spPr>
          <a:xfrm>
            <a:off x="7366992" y="4731643"/>
            <a:ext cx="1694982" cy="841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00" dirty="0" err="1">
                <a:latin typeface="Arial" charset="0"/>
                <a:ea typeface="Arial" charset="0"/>
                <a:cs typeface="Arial" charset="0"/>
              </a:rPr>
              <a:t>nyu.edu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 servers</a:t>
            </a:r>
          </a:p>
        </p:txBody>
      </p:sp>
      <p:sp>
        <p:nvSpPr>
          <p:cNvPr id="24" name="Shape 1147"/>
          <p:cNvSpPr/>
          <p:nvPr/>
        </p:nvSpPr>
        <p:spPr>
          <a:xfrm>
            <a:off x="1259086" y="4277320"/>
            <a:ext cx="838980" cy="1071073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ea typeface="Arial" charset="0"/>
              <a:cs typeface="Arial" charset="0"/>
            </a:endParaRPr>
          </a:p>
        </p:txBody>
      </p:sp>
      <p:sp>
        <p:nvSpPr>
          <p:cNvPr id="25" name="Shape 1154"/>
          <p:cNvSpPr/>
          <p:nvPr/>
        </p:nvSpPr>
        <p:spPr>
          <a:xfrm rot="3178774">
            <a:off x="357889" y="4930296"/>
            <a:ext cx="2206437" cy="392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lnSpc>
                <a:spcPct val="80000"/>
              </a:lnSpc>
              <a:defRPr sz="3600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b="0" dirty="0">
                <a:latin typeface="Arial" charset="0"/>
                <a:ea typeface="Arial" charset="0"/>
                <a:cs typeface="Arial" charset="0"/>
              </a:rPr>
              <a:t>www.</a:t>
            </a:r>
            <a:r>
              <a:rPr lang="en-US" sz="2500" b="0" dirty="0">
                <a:latin typeface="Arial" charset="0"/>
                <a:ea typeface="Arial" charset="0"/>
                <a:cs typeface="Arial" charset="0"/>
              </a:rPr>
              <a:t>nyu.edu?</a:t>
            </a:r>
            <a:endParaRPr sz="2500" b="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6" name="Shape 1146"/>
          <p:cNvSpPr/>
          <p:nvPr/>
        </p:nvSpPr>
        <p:spPr>
          <a:xfrm>
            <a:off x="152400" y="3322370"/>
            <a:ext cx="3505200" cy="441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(</a:t>
            </a:r>
            <a:r>
              <a:rPr lang="en-US" sz="2400" dirty="0" err="1">
                <a:latin typeface="Arial" charset="0"/>
                <a:ea typeface="Arial" charset="0"/>
                <a:cs typeface="Arial" charset="0"/>
              </a:rPr>
              <a:t>mydns.umich.edu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)</a:t>
            </a:r>
            <a:endParaRPr sz="24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7" name="Shape 1167"/>
          <p:cNvSpPr/>
          <p:nvPr/>
        </p:nvSpPr>
        <p:spPr>
          <a:xfrm flipH="1">
            <a:off x="1447100" y="2626294"/>
            <a:ext cx="2843869" cy="1245766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29" name="Shape 1189"/>
          <p:cNvSpPr/>
          <p:nvPr/>
        </p:nvSpPr>
        <p:spPr>
          <a:xfrm flipH="1" flipV="1">
            <a:off x="4937670" y="2616217"/>
            <a:ext cx="2146832" cy="894576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0" name="Shape 1212"/>
          <p:cNvSpPr/>
          <p:nvPr/>
        </p:nvSpPr>
        <p:spPr>
          <a:xfrm flipH="1" flipV="1">
            <a:off x="7335095" y="3925317"/>
            <a:ext cx="487020" cy="852248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1" name="Shape 1221"/>
          <p:cNvSpPr/>
          <p:nvPr/>
        </p:nvSpPr>
        <p:spPr>
          <a:xfrm>
            <a:off x="7084502" y="3938631"/>
            <a:ext cx="518773" cy="892980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2" name="Shape 1222"/>
          <p:cNvSpPr/>
          <p:nvPr/>
        </p:nvSpPr>
        <p:spPr>
          <a:xfrm>
            <a:off x="4723804" y="2687836"/>
            <a:ext cx="2134195" cy="908942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3" name="Shape 1223"/>
          <p:cNvSpPr/>
          <p:nvPr/>
        </p:nvSpPr>
        <p:spPr>
          <a:xfrm flipV="1">
            <a:off x="1518047" y="2780949"/>
            <a:ext cx="2772922" cy="1192762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4" name="Shape 1224"/>
          <p:cNvSpPr/>
          <p:nvPr/>
        </p:nvSpPr>
        <p:spPr>
          <a:xfrm flipH="1" flipV="1">
            <a:off x="1421933" y="4240635"/>
            <a:ext cx="843095" cy="1082180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495166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 advAuto="0"/>
      <p:bldP spid="31" grpId="0" animBg="1" advAuto="0"/>
      <p:bldP spid="32" grpId="0" animBg="1" advAuto="0"/>
      <p:bldP spid="33" grpId="0" animBg="1" advAuto="0"/>
      <p:bldP spid="34" grpId="0" animBg="1" advAuto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resolution: Iterative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089422" y="3398737"/>
            <a:ext cx="5006578" cy="3034329"/>
            <a:chOff x="1089422" y="3398737"/>
            <a:chExt cx="5006578" cy="3034329"/>
          </a:xfrm>
        </p:grpSpPr>
        <p:sp>
          <p:nvSpPr>
            <p:cNvPr id="1137" name="Shape 1137"/>
            <p:cNvSpPr/>
            <p:nvPr/>
          </p:nvSpPr>
          <p:spPr>
            <a:xfrm>
              <a:off x="1089422" y="3795118"/>
              <a:ext cx="2821782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rgbClr val="EBEBEB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8" name="Shape 1138"/>
            <p:cNvSpPr/>
            <p:nvPr/>
          </p:nvSpPr>
          <p:spPr>
            <a:xfrm>
              <a:off x="1154712" y="3999005"/>
              <a:ext cx="1845373" cy="424223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9" name="Shape 1139"/>
            <p:cNvSpPr/>
            <p:nvPr/>
          </p:nvSpPr>
          <p:spPr>
            <a:xfrm flipH="1">
              <a:off x="2394028" y="4465757"/>
              <a:ext cx="637954" cy="978196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0" name="Shape 1140"/>
            <p:cNvSpPr/>
            <p:nvPr/>
          </p:nvSpPr>
          <p:spPr>
            <a:xfrm>
              <a:off x="2187773" y="5304234"/>
              <a:ext cx="357188" cy="3571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1" name="Shape 1141"/>
            <p:cNvSpPr/>
            <p:nvPr/>
          </p:nvSpPr>
          <p:spPr>
            <a:xfrm flipH="1">
              <a:off x="3042614" y="3398737"/>
              <a:ext cx="585068" cy="981960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2" name="Shape 1142"/>
            <p:cNvSpPr/>
            <p:nvPr/>
          </p:nvSpPr>
          <p:spPr>
            <a:xfrm flipH="1">
              <a:off x="3053246" y="4380248"/>
              <a:ext cx="1442696" cy="64245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3" name="Shape 1143"/>
            <p:cNvSpPr/>
            <p:nvPr/>
          </p:nvSpPr>
          <p:spPr>
            <a:xfrm>
              <a:off x="2821781" y="4205883"/>
              <a:ext cx="446484" cy="446484"/>
            </a:xfrm>
            <a:prstGeom prst="roundRect">
              <a:avLst>
                <a:gd name="adj" fmla="val 30000"/>
              </a:avLst>
            </a:prstGeom>
            <a:solidFill>
              <a:srgbClr val="D6D6D6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4" name="Shape 1144"/>
            <p:cNvSpPr/>
            <p:nvPr/>
          </p:nvSpPr>
          <p:spPr>
            <a:xfrm>
              <a:off x="2331152" y="5529938"/>
              <a:ext cx="3764848" cy="9031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>
                <a:defRPr b="1">
                  <a:solidFill>
                    <a:srgbClr val="0096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 algn="l">
                <a:defRPr sz="1800" b="0">
                  <a:solidFill>
                    <a:srgbClr val="000000"/>
                  </a:solidFill>
                </a:defRPr>
              </a:pPr>
              <a:r>
                <a:rPr sz="3000" dirty="0">
                  <a:latin typeface="Arial" charset="0"/>
                  <a:ea typeface="Arial" charset="0"/>
                  <a:cs typeface="Arial" charset="0"/>
                </a:rPr>
                <a:t>DNS client</a:t>
              </a:r>
              <a:br>
                <a:rPr lang="en-US" sz="3000" dirty="0">
                  <a:latin typeface="Arial" charset="0"/>
                  <a:ea typeface="Arial" charset="0"/>
                  <a:cs typeface="Arial" charset="0"/>
                </a:rPr>
              </a:br>
              <a:r>
                <a:rPr lang="en-US" sz="2400" dirty="0">
                  <a:latin typeface="Arial" charset="0"/>
                  <a:ea typeface="Arial" charset="0"/>
                  <a:cs typeface="Arial" charset="0"/>
                </a:rPr>
                <a:t>(me.cse.umich.edu)</a:t>
              </a:r>
              <a:endParaRPr sz="240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1145" name="Shape 1145"/>
          <p:cNvSpPr/>
          <p:nvPr/>
        </p:nvSpPr>
        <p:spPr>
          <a:xfrm>
            <a:off x="1000125" y="3812976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46" name="Shape 1146"/>
          <p:cNvSpPr/>
          <p:nvPr/>
        </p:nvSpPr>
        <p:spPr>
          <a:xfrm>
            <a:off x="741164" y="2895600"/>
            <a:ext cx="260044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DNS server</a:t>
            </a:r>
          </a:p>
        </p:txBody>
      </p:sp>
      <p:sp>
        <p:nvSpPr>
          <p:cNvPr id="1148" name="Shape 1148"/>
          <p:cNvSpPr/>
          <p:nvPr/>
        </p:nvSpPr>
        <p:spPr>
          <a:xfrm>
            <a:off x="3750469" y="2209379"/>
            <a:ext cx="2098658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>
                <a:latin typeface="Arial" charset="0"/>
                <a:ea typeface="Arial" charset="0"/>
                <a:cs typeface="Arial" charset="0"/>
              </a:rPr>
              <a:t>root servers</a:t>
            </a:r>
          </a:p>
        </p:txBody>
      </p:sp>
      <p:sp>
        <p:nvSpPr>
          <p:cNvPr id="1151" name="Shape 1151"/>
          <p:cNvSpPr/>
          <p:nvPr/>
        </p:nvSpPr>
        <p:spPr>
          <a:xfrm>
            <a:off x="5096311" y="2667698"/>
            <a:ext cx="1988191" cy="843095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2" name="Shape 1152"/>
          <p:cNvSpPr/>
          <p:nvPr/>
        </p:nvSpPr>
        <p:spPr>
          <a:xfrm>
            <a:off x="7358063" y="3973711"/>
            <a:ext cx="466424" cy="795431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3" name="Shape 1153"/>
          <p:cNvSpPr/>
          <p:nvPr/>
        </p:nvSpPr>
        <p:spPr>
          <a:xfrm>
            <a:off x="741164" y="2514600"/>
            <a:ext cx="87510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local</a:t>
            </a:r>
          </a:p>
        </p:txBody>
      </p:sp>
      <p:sp>
        <p:nvSpPr>
          <p:cNvPr id="22" name="Shape 1149"/>
          <p:cNvSpPr/>
          <p:nvPr/>
        </p:nvSpPr>
        <p:spPr>
          <a:xfrm>
            <a:off x="6429375" y="3468465"/>
            <a:ext cx="2409825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dirty="0">
                <a:latin typeface="Arial" charset="0"/>
                <a:ea typeface="Arial" charset="0"/>
                <a:cs typeface="Arial" charset="0"/>
              </a:rPr>
              <a:t>.</a:t>
            </a:r>
            <a:r>
              <a:rPr lang="en-US" sz="2500" dirty="0">
                <a:latin typeface="Arial" charset="0"/>
                <a:ea typeface="Arial" charset="0"/>
                <a:cs typeface="Arial" charset="0"/>
              </a:rPr>
              <a:t>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servers</a:t>
            </a:r>
          </a:p>
        </p:txBody>
      </p:sp>
      <p:sp>
        <p:nvSpPr>
          <p:cNvPr id="23" name="Shape 1150"/>
          <p:cNvSpPr/>
          <p:nvPr/>
        </p:nvSpPr>
        <p:spPr>
          <a:xfrm>
            <a:off x="7366992" y="4731643"/>
            <a:ext cx="1694982" cy="841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00" dirty="0" err="1">
                <a:latin typeface="Arial" charset="0"/>
                <a:ea typeface="Arial" charset="0"/>
                <a:cs typeface="Arial" charset="0"/>
              </a:rPr>
              <a:t>nyu.edu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 servers</a:t>
            </a:r>
          </a:p>
        </p:txBody>
      </p:sp>
      <p:sp>
        <p:nvSpPr>
          <p:cNvPr id="21" name="Shape 1147"/>
          <p:cNvSpPr/>
          <p:nvPr/>
        </p:nvSpPr>
        <p:spPr>
          <a:xfrm>
            <a:off x="1259086" y="4277320"/>
            <a:ext cx="838980" cy="1071073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ea typeface="Arial" charset="0"/>
              <a:cs typeface="Arial" charset="0"/>
            </a:endParaRPr>
          </a:p>
        </p:txBody>
      </p:sp>
      <p:sp>
        <p:nvSpPr>
          <p:cNvPr id="24" name="Shape 1154"/>
          <p:cNvSpPr/>
          <p:nvPr/>
        </p:nvSpPr>
        <p:spPr>
          <a:xfrm rot="3178774">
            <a:off x="357889" y="4930296"/>
            <a:ext cx="2206437" cy="392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lnSpc>
                <a:spcPct val="80000"/>
              </a:lnSpc>
              <a:defRPr sz="3600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b="0" dirty="0">
                <a:latin typeface="Arial" charset="0"/>
                <a:ea typeface="Arial" charset="0"/>
                <a:cs typeface="Arial" charset="0"/>
              </a:rPr>
              <a:t>www.</a:t>
            </a:r>
            <a:r>
              <a:rPr lang="en-US" sz="2500" b="0" dirty="0">
                <a:latin typeface="Arial" charset="0"/>
                <a:ea typeface="Arial" charset="0"/>
                <a:cs typeface="Arial" charset="0"/>
              </a:rPr>
              <a:t>nyu.edu?</a:t>
            </a:r>
            <a:endParaRPr sz="2500" b="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6" name="Shape 1261"/>
          <p:cNvSpPr/>
          <p:nvPr/>
        </p:nvSpPr>
        <p:spPr>
          <a:xfrm flipH="1">
            <a:off x="1447100" y="2626294"/>
            <a:ext cx="2843869" cy="1245766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27" name="Shape 1269"/>
          <p:cNvSpPr/>
          <p:nvPr/>
        </p:nvSpPr>
        <p:spPr>
          <a:xfrm flipH="1">
            <a:off x="1572936" y="3692702"/>
            <a:ext cx="4856439" cy="346598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28" name="Shape 1270"/>
          <p:cNvSpPr/>
          <p:nvPr/>
        </p:nvSpPr>
        <p:spPr>
          <a:xfrm flipV="1">
            <a:off x="1518047" y="2780949"/>
            <a:ext cx="2772922" cy="1192762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29" name="Shape 1271"/>
          <p:cNvSpPr/>
          <p:nvPr/>
        </p:nvSpPr>
        <p:spPr>
          <a:xfrm flipV="1">
            <a:off x="1547768" y="3842232"/>
            <a:ext cx="4881607" cy="335485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0" name="Shape 1272"/>
          <p:cNvSpPr/>
          <p:nvPr/>
        </p:nvSpPr>
        <p:spPr>
          <a:xfrm flipH="1" flipV="1">
            <a:off x="1547768" y="4278385"/>
            <a:ext cx="5787327" cy="720100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1" name="Shape 1273"/>
          <p:cNvSpPr/>
          <p:nvPr/>
        </p:nvSpPr>
        <p:spPr>
          <a:xfrm>
            <a:off x="1472269" y="4404220"/>
            <a:ext cx="5690532" cy="738474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2" name="Shape 1274"/>
          <p:cNvSpPr/>
          <p:nvPr/>
        </p:nvSpPr>
        <p:spPr>
          <a:xfrm flipH="1" flipV="1">
            <a:off x="1157681" y="4404219"/>
            <a:ext cx="868261" cy="1119932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075860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 advAuto="0"/>
      <p:bldP spid="24" grpId="0" animBg="1" advAuto="0"/>
      <p:bldP spid="26" grpId="0" animBg="1" advAuto="0"/>
      <p:bldP spid="27" grpId="0" animBg="1" advAuto="0"/>
      <p:bldP spid="28" grpId="0" animBg="1" advAuto="0"/>
      <p:bldP spid="29" grpId="0" animBg="1" advAuto="0"/>
      <p:bldP spid="30" grpId="0" animBg="1" advAuto="0"/>
      <p:bldP spid="31" grpId="0" animBg="1" advAuto="0"/>
      <p:bldP spid="32" grpId="0" animBg="1" advAuto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DNS caching</a:t>
            </a:r>
          </a:p>
        </p:txBody>
      </p:sp>
      <p:sp>
        <p:nvSpPr>
          <p:cNvPr id="9512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Performing all these queries takes time</a:t>
            </a:r>
          </a:p>
          <a:p>
            <a:pPr lvl="1"/>
            <a:r>
              <a:rPr lang="en-US" dirty="0"/>
              <a:t>Up to 1-second latency before starting download</a:t>
            </a:r>
          </a:p>
          <a:p>
            <a:r>
              <a:rPr lang="en-US" dirty="0"/>
              <a:t>Caching can greatly reduce overhead</a:t>
            </a:r>
          </a:p>
          <a:p>
            <a:pPr lvl="1"/>
            <a:r>
              <a:rPr lang="en-US" dirty="0"/>
              <a:t>The top-level servers very rarely change</a:t>
            </a:r>
          </a:p>
          <a:p>
            <a:pPr lvl="1"/>
            <a:r>
              <a:rPr lang="en-US" dirty="0"/>
              <a:t>Popular sites (e.g., </a:t>
            </a:r>
            <a:r>
              <a:rPr lang="en-US" dirty="0" err="1"/>
              <a:t>www.google.com</a:t>
            </a:r>
            <a:r>
              <a:rPr lang="en-US" dirty="0"/>
              <a:t>) visited often</a:t>
            </a:r>
          </a:p>
          <a:p>
            <a:pPr lvl="1"/>
            <a:r>
              <a:rPr lang="en-US" dirty="0"/>
              <a:t>Local DNS server often has the information cached</a:t>
            </a:r>
          </a:p>
          <a:p>
            <a:r>
              <a:rPr lang="en-US" dirty="0"/>
              <a:t>How DNS caching works</a:t>
            </a:r>
          </a:p>
          <a:p>
            <a:pPr lvl="1"/>
            <a:r>
              <a:rPr lang="en-US" dirty="0"/>
              <a:t>DNS servers cache responses to queries</a:t>
            </a:r>
          </a:p>
          <a:p>
            <a:pPr lvl="1"/>
            <a:r>
              <a:rPr lang="en-US" dirty="0"/>
              <a:t>Responses include a </a:t>
            </a:r>
            <a:r>
              <a:rPr lang="ja-JP" altLang="en-US" dirty="0">
                <a:solidFill>
                  <a:srgbClr val="0000FF"/>
                </a:solidFill>
              </a:rPr>
              <a:t>“</a:t>
            </a:r>
            <a:r>
              <a:rPr lang="en-US" dirty="0">
                <a:solidFill>
                  <a:srgbClr val="0000FF"/>
                </a:solidFill>
              </a:rPr>
              <a:t>time to live</a:t>
            </a:r>
            <a:r>
              <a:rPr lang="ja-JP" altLang="en-US" dirty="0">
                <a:solidFill>
                  <a:srgbClr val="0000FF"/>
                </a:solidFill>
              </a:rPr>
              <a:t>”</a:t>
            </a:r>
            <a:r>
              <a:rPr lang="en-US" dirty="0">
                <a:solidFill>
                  <a:srgbClr val="0000FF"/>
                </a:solidFill>
              </a:rPr>
              <a:t> (TTL)</a:t>
            </a:r>
            <a:r>
              <a:rPr lang="en-US" dirty="0"/>
              <a:t> field</a:t>
            </a:r>
          </a:p>
          <a:p>
            <a:pPr lvl="1"/>
            <a:r>
              <a:rPr lang="en-US" dirty="0"/>
              <a:t>Server deletes cached entry after TTL expires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970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1299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5-minute break!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0051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3BB3E78-E627-7948-AAAC-604D1F94C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E9A3222-879E-E54F-89D9-86FE8F7AD4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Please fill up midterm teaching evaluation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E21341-A460-814B-9BB6-AA2FFEAD1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EB77-FB6C-2244-A076-ADF097535D48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8C4D87-790C-C47C-DD8C-F0E81F6F9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62017A-3137-1B96-9528-ECEF46CC1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34276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streaming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Video is stored at an HTTP server with a URL</a:t>
            </a:r>
          </a:p>
          <a:p>
            <a:r>
              <a:rPr lang="en-US" dirty="0"/>
              <a:t>Clients send a GET request for the URL</a:t>
            </a:r>
          </a:p>
          <a:p>
            <a:r>
              <a:rPr lang="en-US" dirty="0"/>
              <a:t>Server sends the video file as a stream</a:t>
            </a:r>
          </a:p>
          <a:p>
            <a:r>
              <a:rPr lang="en-US" dirty="0"/>
              <a:t>Client first buffers for a while to minimize interruptions later</a:t>
            </a:r>
          </a:p>
          <a:p>
            <a:r>
              <a:rPr lang="en-US" dirty="0"/>
              <a:t>Once the buffer reaches a threshold</a:t>
            </a:r>
          </a:p>
          <a:p>
            <a:pPr lvl="1"/>
            <a:r>
              <a:rPr lang="en-US" dirty="0"/>
              <a:t>The video plays in the </a:t>
            </a:r>
            <a:r>
              <a:rPr lang="en-US" dirty="0">
                <a:solidFill>
                  <a:srgbClr val="0000FF"/>
                </a:solidFill>
              </a:rPr>
              <a:t>foreground</a:t>
            </a:r>
          </a:p>
          <a:p>
            <a:pPr lvl="1"/>
            <a:r>
              <a:rPr lang="en-US" dirty="0"/>
              <a:t>More frames are downloaded in the </a:t>
            </a:r>
            <a:r>
              <a:rPr lang="en-US" dirty="0">
                <a:solidFill>
                  <a:srgbClr val="0000FF"/>
                </a:solidFill>
              </a:rPr>
              <a:t>background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31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 : Dynamic Adaptive Streaming over HTTP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Keep multiple resolutions of the same video</a:t>
            </a:r>
          </a:p>
          <a:p>
            <a:pPr lvl="1"/>
            <a:r>
              <a:rPr lang="en-US" dirty="0"/>
              <a:t>Stored in a manifest file in the HTTP server</a:t>
            </a:r>
          </a:p>
          <a:p>
            <a:r>
              <a:rPr lang="en-US" dirty="0"/>
              <a:t>Client asks for the manifest file first to learn about the options</a:t>
            </a:r>
          </a:p>
          <a:p>
            <a:r>
              <a:rPr lang="en-US" dirty="0"/>
              <a:t>Asks for chunks at a time and measures available bandwidth while they are downloaded</a:t>
            </a:r>
          </a:p>
          <a:p>
            <a:pPr lvl="1"/>
            <a:r>
              <a:rPr lang="en-US" dirty="0"/>
              <a:t>Low bandwidth ⇒ switch to lower bitrate</a:t>
            </a:r>
          </a:p>
          <a:p>
            <a:pPr lvl="1"/>
            <a:r>
              <a:rPr lang="en-US" dirty="0"/>
              <a:t>High bandwidth ⇒ switch to higher bitrate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287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Applications</a:t>
            </a:r>
            <a:endParaRPr lang="en-US" dirty="0"/>
          </a:p>
        </p:txBody>
      </p:sp>
      <p:sp>
        <p:nvSpPr>
          <p:cNvPr id="2560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Common theme: </a:t>
            </a:r>
            <a:r>
              <a:rPr lang="en-US" dirty="0">
                <a:solidFill>
                  <a:srgbClr val="0000FF"/>
                </a:solidFill>
              </a:rPr>
              <a:t>parallelism</a:t>
            </a:r>
          </a:p>
          <a:p>
            <a:pPr lvl="1"/>
            <a:r>
              <a:rPr lang="en-US" dirty="0"/>
              <a:t>Applications decomposed into tasks</a:t>
            </a:r>
          </a:p>
          <a:p>
            <a:pPr lvl="1"/>
            <a:r>
              <a:rPr lang="en-US" dirty="0"/>
              <a:t>Running in parallel on different machines</a:t>
            </a:r>
          </a:p>
          <a:p>
            <a:r>
              <a:rPr lang="en-US" dirty="0"/>
              <a:t>Two common paradigms</a:t>
            </a:r>
          </a:p>
          <a:p>
            <a:pPr lvl="1"/>
            <a:r>
              <a:rPr lang="en-US" dirty="0"/>
              <a:t>Partition-Aggregate</a:t>
            </a:r>
          </a:p>
          <a:p>
            <a:pPr lvl="1"/>
            <a:r>
              <a:rPr lang="en-US" dirty="0"/>
              <a:t>Map-Reduce 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884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2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6" name="Straight Connector 305"/>
          <p:cNvCxnSpPr>
            <a:stCxn id="107" idx="0"/>
          </p:cNvCxnSpPr>
          <p:nvPr/>
        </p:nvCxnSpPr>
        <p:spPr bwMode="auto">
          <a:xfrm flipV="1">
            <a:off x="3776944" y="1524000"/>
            <a:ext cx="642656" cy="94177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308" name="Straight Connector 307"/>
          <p:cNvCxnSpPr>
            <a:stCxn id="137" idx="0"/>
          </p:cNvCxnSpPr>
          <p:nvPr/>
        </p:nvCxnSpPr>
        <p:spPr bwMode="auto">
          <a:xfrm flipH="1" flipV="1">
            <a:off x="4648200" y="1524000"/>
            <a:ext cx="590898" cy="94018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sp>
        <p:nvSpPr>
          <p:cNvPr id="304" name="Cloud 303"/>
          <p:cNvSpPr/>
          <p:nvPr/>
        </p:nvSpPr>
        <p:spPr bwMode="auto">
          <a:xfrm>
            <a:off x="3138890" y="228600"/>
            <a:ext cx="2753915" cy="205740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chemeClr val="bg1"/>
          </a:solidFill>
        </p:spPr>
        <p:txBody>
          <a:bodyPr/>
          <a:lstStyle/>
          <a:p>
            <a:r>
              <a:rPr lang="en-US" dirty="0"/>
              <a:t>Traditional datacenter networks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84612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84612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84612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84612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84612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4612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84612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84612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84612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84612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84612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82880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247803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247803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247803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247803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7803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247803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247803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247803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47803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247803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47803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246070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1981200" y="3555980"/>
            <a:ext cx="722194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23" name="Straight Connector 122"/>
          <p:cNvCxnSpPr>
            <a:stCxn id="29" idx="0"/>
            <a:endCxn id="102" idx="2"/>
          </p:cNvCxnSpPr>
          <p:nvPr/>
        </p:nvCxnSpPr>
        <p:spPr>
          <a:xfrm flipH="1" flipV="1">
            <a:off x="2342297" y="3829749"/>
            <a:ext cx="297108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>
            <a:stCxn id="17" idx="0"/>
            <a:endCxn id="102" idx="2"/>
          </p:cNvCxnSpPr>
          <p:nvPr/>
        </p:nvCxnSpPr>
        <p:spPr>
          <a:xfrm flipV="1">
            <a:off x="2007503" y="3829749"/>
            <a:ext cx="334794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2" name="Group 301"/>
          <p:cNvGrpSpPr/>
          <p:nvPr/>
        </p:nvGrpSpPr>
        <p:grpSpPr>
          <a:xfrm>
            <a:off x="3282290" y="3554165"/>
            <a:ext cx="989308" cy="1504939"/>
            <a:chOff x="3282290" y="3554165"/>
            <a:chExt cx="989308" cy="1504939"/>
          </a:xfrm>
        </p:grpSpPr>
        <p:sp>
          <p:nvSpPr>
            <p:cNvPr id="30" name="Rectangle 29"/>
            <p:cNvSpPr/>
            <p:nvPr/>
          </p:nvSpPr>
          <p:spPr>
            <a:xfrm>
              <a:off x="3299618" y="49772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299618" y="490012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9618" y="482115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299618" y="474218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299618" y="466249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299618" y="458165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9618" y="450452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299618" y="442555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3299618" y="434658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99618" y="42669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299618" y="4184133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282290" y="4144704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931520" y="497709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931520" y="4899969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931520" y="48210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931520" y="474203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3931520" y="466234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931520" y="458150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3931520" y="4504374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3931520" y="442540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3931520" y="434643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3931520" y="42667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3931520" y="4183981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3914192" y="4144552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3429000" y="3554165"/>
              <a:ext cx="727196" cy="273769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20" name="Straight Connector 119"/>
            <p:cNvCxnSpPr>
              <a:stCxn id="41" idx="0"/>
              <a:endCxn id="103" idx="2"/>
            </p:cNvCxnSpPr>
            <p:nvPr/>
          </p:nvCxnSpPr>
          <p:spPr>
            <a:xfrm flipV="1">
              <a:off x="3460993" y="3827934"/>
              <a:ext cx="331605" cy="31677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/>
            <p:cNvCxnSpPr>
              <a:stCxn id="53" idx="0"/>
              <a:endCxn id="103" idx="2"/>
            </p:cNvCxnSpPr>
            <p:nvPr/>
          </p:nvCxnSpPr>
          <p:spPr>
            <a:xfrm flipH="1" flipV="1">
              <a:off x="3792598" y="3827934"/>
              <a:ext cx="300297" cy="316618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0" name="Group 299"/>
          <p:cNvGrpSpPr/>
          <p:nvPr/>
        </p:nvGrpSpPr>
        <p:grpSpPr>
          <a:xfrm>
            <a:off x="6171287" y="3555980"/>
            <a:ext cx="989308" cy="1503124"/>
            <a:chOff x="6171287" y="3555980"/>
            <a:chExt cx="989308" cy="1503124"/>
          </a:xfrm>
        </p:grpSpPr>
        <p:sp>
          <p:nvSpPr>
            <p:cNvPr id="78" name="Rectangle 77"/>
            <p:cNvSpPr/>
            <p:nvPr/>
          </p:nvSpPr>
          <p:spPr>
            <a:xfrm>
              <a:off x="6188615" y="49772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6188615" y="490012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/>
            <p:cNvSpPr/>
            <p:nvPr/>
          </p:nvSpPr>
          <p:spPr>
            <a:xfrm>
              <a:off x="6188615" y="482115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6188615" y="474218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188615" y="466249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188615" y="458165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6188615" y="450452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6188615" y="442555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/>
            <p:cNvSpPr/>
            <p:nvPr/>
          </p:nvSpPr>
          <p:spPr>
            <a:xfrm>
              <a:off x="6188615" y="434658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6188615" y="42669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6188615" y="4184133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6171287" y="4144704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/>
            <p:cNvSpPr/>
            <p:nvPr/>
          </p:nvSpPr>
          <p:spPr>
            <a:xfrm>
              <a:off x="6820517" y="497709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/>
            <p:cNvSpPr/>
            <p:nvPr/>
          </p:nvSpPr>
          <p:spPr>
            <a:xfrm>
              <a:off x="6820517" y="4899969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6820517" y="48210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6820517" y="474203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6820517" y="466234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/>
            <p:cNvSpPr/>
            <p:nvPr/>
          </p:nvSpPr>
          <p:spPr>
            <a:xfrm>
              <a:off x="6820517" y="458150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6820517" y="4504374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6820517" y="442540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6820517" y="434643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6820517" y="42667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6820517" y="4183981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6803189" y="4144552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6324600" y="3555980"/>
              <a:ext cx="721669" cy="273769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18" name="Straight Connector 117"/>
            <p:cNvCxnSpPr>
              <a:stCxn id="89" idx="0"/>
              <a:endCxn id="105" idx="2"/>
            </p:cNvCxnSpPr>
            <p:nvPr/>
          </p:nvCxnSpPr>
          <p:spPr>
            <a:xfrm flipV="1">
              <a:off x="6349990" y="3829749"/>
              <a:ext cx="335445" cy="314955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/>
            <p:cNvCxnSpPr>
              <a:stCxn id="101" idx="0"/>
              <a:endCxn id="105" idx="2"/>
            </p:cNvCxnSpPr>
            <p:nvPr/>
          </p:nvCxnSpPr>
          <p:spPr>
            <a:xfrm flipH="1" flipV="1">
              <a:off x="6685435" y="3829749"/>
              <a:ext cx="296457" cy="31480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1" name="Group 300"/>
          <p:cNvGrpSpPr/>
          <p:nvPr/>
        </p:nvGrpSpPr>
        <p:grpSpPr>
          <a:xfrm>
            <a:off x="4735780" y="3556630"/>
            <a:ext cx="989308" cy="1502474"/>
            <a:chOff x="4735780" y="3556630"/>
            <a:chExt cx="989308" cy="1502474"/>
          </a:xfrm>
        </p:grpSpPr>
        <p:sp>
          <p:nvSpPr>
            <p:cNvPr id="54" name="Rectangle 53"/>
            <p:cNvSpPr/>
            <p:nvPr/>
          </p:nvSpPr>
          <p:spPr>
            <a:xfrm>
              <a:off x="4753108" y="49772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4753108" y="490012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4753108" y="482115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4753108" y="474218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4753108" y="466249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4753108" y="458165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753108" y="450452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4753108" y="442555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4753108" y="434658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4753108" y="42669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4753108" y="4184133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4735780" y="4144704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5385010" y="497709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5385010" y="4899969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5385010" y="48210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5385010" y="474203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5385010" y="466234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5385010" y="458150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5385010" y="4504374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5385010" y="442540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5385010" y="434643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5385010" y="42667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/>
            <p:cNvSpPr/>
            <p:nvPr/>
          </p:nvSpPr>
          <p:spPr>
            <a:xfrm>
              <a:off x="5385010" y="4183981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/>
            <p:cNvSpPr/>
            <p:nvPr/>
          </p:nvSpPr>
          <p:spPr>
            <a:xfrm>
              <a:off x="5367682" y="4144552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4876800" y="3556630"/>
              <a:ext cx="727526" cy="273769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16" name="Straight Connector 115"/>
            <p:cNvCxnSpPr>
              <a:stCxn id="65" idx="0"/>
              <a:endCxn id="104" idx="2"/>
            </p:cNvCxnSpPr>
            <p:nvPr/>
          </p:nvCxnSpPr>
          <p:spPr>
            <a:xfrm flipV="1">
              <a:off x="4914483" y="3830399"/>
              <a:ext cx="326080" cy="314305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/>
            <p:cNvCxnSpPr>
              <a:stCxn id="77" idx="0"/>
              <a:endCxn id="104" idx="2"/>
            </p:cNvCxnSpPr>
            <p:nvPr/>
          </p:nvCxnSpPr>
          <p:spPr>
            <a:xfrm flipH="1" flipV="1">
              <a:off x="5240563" y="3830399"/>
              <a:ext cx="305822" cy="31415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Rectangle 106"/>
          <p:cNvSpPr/>
          <p:nvPr/>
        </p:nvSpPr>
        <p:spPr>
          <a:xfrm>
            <a:off x="3282290" y="2465776"/>
            <a:ext cx="989308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10" name="Straight Connector 109"/>
          <p:cNvCxnSpPr>
            <a:stCxn id="102" idx="0"/>
            <a:endCxn id="107" idx="2"/>
          </p:cNvCxnSpPr>
          <p:nvPr/>
        </p:nvCxnSpPr>
        <p:spPr>
          <a:xfrm flipV="1">
            <a:off x="2342297" y="2901133"/>
            <a:ext cx="1434647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4" idx="0"/>
            <a:endCxn id="107" idx="2"/>
          </p:cNvCxnSpPr>
          <p:nvPr/>
        </p:nvCxnSpPr>
        <p:spPr>
          <a:xfrm flipH="1" flipV="1">
            <a:off x="3776944" y="2901133"/>
            <a:ext cx="1463619" cy="6554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5" idx="0"/>
            <a:endCxn id="107" idx="2"/>
          </p:cNvCxnSpPr>
          <p:nvPr/>
        </p:nvCxnSpPr>
        <p:spPr>
          <a:xfrm flipH="1" flipV="1">
            <a:off x="3776944" y="2901133"/>
            <a:ext cx="2908491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 136"/>
          <p:cNvSpPr/>
          <p:nvPr/>
        </p:nvSpPr>
        <p:spPr>
          <a:xfrm>
            <a:off x="4753107" y="2464184"/>
            <a:ext cx="971981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39" name="Straight Connector 138"/>
          <p:cNvCxnSpPr>
            <a:stCxn id="102" idx="0"/>
            <a:endCxn id="137" idx="2"/>
          </p:cNvCxnSpPr>
          <p:nvPr/>
        </p:nvCxnSpPr>
        <p:spPr>
          <a:xfrm flipV="1">
            <a:off x="2342297" y="2899541"/>
            <a:ext cx="2896801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/>
          <p:cNvCxnSpPr>
            <a:stCxn id="104" idx="0"/>
            <a:endCxn id="137" idx="2"/>
          </p:cNvCxnSpPr>
          <p:nvPr/>
        </p:nvCxnSpPr>
        <p:spPr>
          <a:xfrm flipH="1" flipV="1">
            <a:off x="5239098" y="2899541"/>
            <a:ext cx="1465" cy="6570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/>
          <p:cNvCxnSpPr>
            <a:stCxn id="105" idx="0"/>
            <a:endCxn id="137" idx="2"/>
          </p:cNvCxnSpPr>
          <p:nvPr/>
        </p:nvCxnSpPr>
        <p:spPr>
          <a:xfrm flipH="1" flipV="1">
            <a:off x="5239098" y="2899541"/>
            <a:ext cx="1446337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/>
          <p:cNvCxnSpPr>
            <a:stCxn id="103" idx="0"/>
            <a:endCxn id="107" idx="2"/>
          </p:cNvCxnSpPr>
          <p:nvPr/>
        </p:nvCxnSpPr>
        <p:spPr>
          <a:xfrm flipH="1" flipV="1">
            <a:off x="3776944" y="2901133"/>
            <a:ext cx="15654" cy="6530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/>
          <p:cNvCxnSpPr>
            <a:stCxn id="103" idx="0"/>
            <a:endCxn id="137" idx="2"/>
          </p:cNvCxnSpPr>
          <p:nvPr/>
        </p:nvCxnSpPr>
        <p:spPr>
          <a:xfrm flipV="1">
            <a:off x="3792598" y="2899541"/>
            <a:ext cx="1446500" cy="65462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7447389" y="4007881"/>
            <a:ext cx="673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Rack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7447389" y="3489380"/>
            <a:ext cx="1391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Aggregation</a:t>
            </a:r>
            <a:endParaRPr lang="en-US" dirty="0"/>
          </a:p>
        </p:txBody>
      </p:sp>
      <p:sp>
        <p:nvSpPr>
          <p:cNvPr id="299" name="TextBox 298"/>
          <p:cNvSpPr txBox="1"/>
          <p:nvPr/>
        </p:nvSpPr>
        <p:spPr>
          <a:xfrm>
            <a:off x="7447389" y="2514600"/>
            <a:ext cx="6511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9212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enough bandwidth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Oversubscription</a:t>
            </a:r>
            <a:r>
              <a:rPr lang="en-US" dirty="0"/>
              <a:t>: Less bandwidth in the ToR-Agg links than all the servers’ bandwidth in the rack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Oversubscription ratio</a:t>
            </a:r>
            <a:r>
              <a:rPr lang="en-US" dirty="0"/>
              <a:t>: Ratio between bandwidth underneath and bandwidth above</a:t>
            </a:r>
          </a:p>
          <a:p>
            <a:r>
              <a:rPr lang="en-US" dirty="0"/>
              <a:t>Not enough paths between server pairs</a:t>
            </a:r>
          </a:p>
          <a:p>
            <a:pPr lvl="1"/>
            <a:r>
              <a:rPr lang="en-US" dirty="0"/>
              <a:t>Load balancing issues</a:t>
            </a:r>
          </a:p>
          <a:p>
            <a:pPr lvl="1"/>
            <a:r>
              <a:rPr lang="en-US" dirty="0"/>
              <a:t>Failure recovery issues</a:t>
            </a:r>
          </a:p>
          <a:p>
            <a:pPr lvl="1"/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470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7" name="Straight Connector 166"/>
          <p:cNvCxnSpPr>
            <a:stCxn id="22" idx="0"/>
          </p:cNvCxnSpPr>
          <p:nvPr/>
        </p:nvCxnSpPr>
        <p:spPr bwMode="auto">
          <a:xfrm flipV="1">
            <a:off x="2859331" y="1676400"/>
            <a:ext cx="1712669" cy="7911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170" name="Straight Connector 169"/>
          <p:cNvCxnSpPr>
            <a:stCxn id="54" idx="0"/>
          </p:cNvCxnSpPr>
          <p:nvPr/>
        </p:nvCxnSpPr>
        <p:spPr bwMode="auto">
          <a:xfrm flipH="1" flipV="1">
            <a:off x="4800600" y="1676400"/>
            <a:ext cx="1548854" cy="78599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164" name="Straight Connector 163"/>
          <p:cNvCxnSpPr/>
          <p:nvPr/>
        </p:nvCxnSpPr>
        <p:spPr bwMode="auto">
          <a:xfrm flipV="1">
            <a:off x="3776944" y="1524000"/>
            <a:ext cx="642656" cy="94177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165" name="Straight Connector 164"/>
          <p:cNvCxnSpPr/>
          <p:nvPr/>
        </p:nvCxnSpPr>
        <p:spPr bwMode="auto">
          <a:xfrm flipH="1" flipV="1">
            <a:off x="4648200" y="1524000"/>
            <a:ext cx="590898" cy="94018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sp>
        <p:nvSpPr>
          <p:cNvPr id="166" name="Cloud 165"/>
          <p:cNvSpPr/>
          <p:nvPr/>
        </p:nvSpPr>
        <p:spPr bwMode="auto">
          <a:xfrm>
            <a:off x="3138890" y="228600"/>
            <a:ext cx="2753915" cy="205740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304800" y="152400"/>
            <a:ext cx="8763000" cy="11430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Modern datacenter networks: More bandwidth, more paths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FED86-94EF-254D-90EE-B810FE8299EE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147" name="Rectangle 146"/>
          <p:cNvSpPr/>
          <p:nvPr/>
        </p:nvSpPr>
        <p:spPr>
          <a:xfrm>
            <a:off x="184612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Rectangle 147"/>
          <p:cNvSpPr/>
          <p:nvPr/>
        </p:nvSpPr>
        <p:spPr>
          <a:xfrm>
            <a:off x="184612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Rectangle 148"/>
          <p:cNvSpPr/>
          <p:nvPr/>
        </p:nvSpPr>
        <p:spPr>
          <a:xfrm>
            <a:off x="184612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Rectangle 149"/>
          <p:cNvSpPr/>
          <p:nvPr/>
        </p:nvSpPr>
        <p:spPr>
          <a:xfrm>
            <a:off x="184612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Rectangle 150"/>
          <p:cNvSpPr/>
          <p:nvPr/>
        </p:nvSpPr>
        <p:spPr>
          <a:xfrm>
            <a:off x="184612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Rectangle 151"/>
          <p:cNvSpPr/>
          <p:nvPr/>
        </p:nvSpPr>
        <p:spPr>
          <a:xfrm>
            <a:off x="184612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Rectangle 152"/>
          <p:cNvSpPr/>
          <p:nvPr/>
        </p:nvSpPr>
        <p:spPr>
          <a:xfrm>
            <a:off x="184612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Rectangle 153"/>
          <p:cNvSpPr/>
          <p:nvPr/>
        </p:nvSpPr>
        <p:spPr>
          <a:xfrm>
            <a:off x="184612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Rectangle 154"/>
          <p:cNvSpPr/>
          <p:nvPr/>
        </p:nvSpPr>
        <p:spPr>
          <a:xfrm>
            <a:off x="184612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Rectangle 155"/>
          <p:cNvSpPr/>
          <p:nvPr/>
        </p:nvSpPr>
        <p:spPr>
          <a:xfrm>
            <a:off x="184612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Rectangle 156"/>
          <p:cNvSpPr/>
          <p:nvPr/>
        </p:nvSpPr>
        <p:spPr>
          <a:xfrm>
            <a:off x="184612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Rectangle 157"/>
          <p:cNvSpPr/>
          <p:nvPr/>
        </p:nvSpPr>
        <p:spPr>
          <a:xfrm>
            <a:off x="182880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/>
          <p:cNvSpPr/>
          <p:nvPr/>
        </p:nvSpPr>
        <p:spPr>
          <a:xfrm>
            <a:off x="247803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/>
          <p:cNvSpPr/>
          <p:nvPr/>
        </p:nvSpPr>
        <p:spPr>
          <a:xfrm>
            <a:off x="247803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Rectangle 136"/>
          <p:cNvSpPr/>
          <p:nvPr/>
        </p:nvSpPr>
        <p:spPr>
          <a:xfrm>
            <a:off x="247803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Rectangle 137"/>
          <p:cNvSpPr/>
          <p:nvPr/>
        </p:nvSpPr>
        <p:spPr>
          <a:xfrm>
            <a:off x="247803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/>
          <p:cNvSpPr/>
          <p:nvPr/>
        </p:nvSpPr>
        <p:spPr>
          <a:xfrm>
            <a:off x="247803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Rectangle 139"/>
          <p:cNvSpPr/>
          <p:nvPr/>
        </p:nvSpPr>
        <p:spPr>
          <a:xfrm>
            <a:off x="247803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Rectangle 140"/>
          <p:cNvSpPr/>
          <p:nvPr/>
        </p:nvSpPr>
        <p:spPr>
          <a:xfrm>
            <a:off x="247803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/>
          <p:cNvSpPr/>
          <p:nvPr/>
        </p:nvSpPr>
        <p:spPr>
          <a:xfrm>
            <a:off x="247803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/>
          <p:cNvSpPr/>
          <p:nvPr/>
        </p:nvSpPr>
        <p:spPr>
          <a:xfrm>
            <a:off x="247803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Rectangle 143"/>
          <p:cNvSpPr/>
          <p:nvPr/>
        </p:nvSpPr>
        <p:spPr>
          <a:xfrm>
            <a:off x="247803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ectangle 144"/>
          <p:cNvSpPr/>
          <p:nvPr/>
        </p:nvSpPr>
        <p:spPr>
          <a:xfrm>
            <a:off x="247803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Rectangle 145"/>
          <p:cNvSpPr/>
          <p:nvPr/>
        </p:nvSpPr>
        <p:spPr>
          <a:xfrm>
            <a:off x="246070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/>
          <p:cNvSpPr/>
          <p:nvPr/>
        </p:nvSpPr>
        <p:spPr>
          <a:xfrm>
            <a:off x="329961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123"/>
          <p:cNvSpPr/>
          <p:nvPr/>
        </p:nvSpPr>
        <p:spPr>
          <a:xfrm>
            <a:off x="329961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/>
          <p:cNvSpPr/>
          <p:nvPr/>
        </p:nvSpPr>
        <p:spPr>
          <a:xfrm>
            <a:off x="329961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/>
          <p:cNvSpPr/>
          <p:nvPr/>
        </p:nvSpPr>
        <p:spPr>
          <a:xfrm>
            <a:off x="329961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tangle 126"/>
          <p:cNvSpPr/>
          <p:nvPr/>
        </p:nvSpPr>
        <p:spPr>
          <a:xfrm>
            <a:off x="329961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Rectangle 127"/>
          <p:cNvSpPr/>
          <p:nvPr/>
        </p:nvSpPr>
        <p:spPr>
          <a:xfrm>
            <a:off x="329961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/>
          <p:cNvSpPr/>
          <p:nvPr/>
        </p:nvSpPr>
        <p:spPr>
          <a:xfrm>
            <a:off x="329961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Rectangle 129"/>
          <p:cNvSpPr/>
          <p:nvPr/>
        </p:nvSpPr>
        <p:spPr>
          <a:xfrm>
            <a:off x="329961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Rectangle 130"/>
          <p:cNvSpPr/>
          <p:nvPr/>
        </p:nvSpPr>
        <p:spPr>
          <a:xfrm>
            <a:off x="329961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Rectangle 131"/>
          <p:cNvSpPr/>
          <p:nvPr/>
        </p:nvSpPr>
        <p:spPr>
          <a:xfrm>
            <a:off x="329961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Rectangle 132"/>
          <p:cNvSpPr/>
          <p:nvPr/>
        </p:nvSpPr>
        <p:spPr>
          <a:xfrm>
            <a:off x="329961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Rectangle 133"/>
          <p:cNvSpPr/>
          <p:nvPr/>
        </p:nvSpPr>
        <p:spPr>
          <a:xfrm>
            <a:off x="328229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393152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Rectangle 111"/>
          <p:cNvSpPr/>
          <p:nvPr/>
        </p:nvSpPr>
        <p:spPr>
          <a:xfrm>
            <a:off x="393152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/>
          <p:cNvSpPr/>
          <p:nvPr/>
        </p:nvSpPr>
        <p:spPr>
          <a:xfrm>
            <a:off x="393152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/>
          <p:cNvSpPr/>
          <p:nvPr/>
        </p:nvSpPr>
        <p:spPr>
          <a:xfrm>
            <a:off x="393152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/>
          <p:cNvSpPr/>
          <p:nvPr/>
        </p:nvSpPr>
        <p:spPr>
          <a:xfrm>
            <a:off x="393152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Rectangle 115"/>
          <p:cNvSpPr/>
          <p:nvPr/>
        </p:nvSpPr>
        <p:spPr>
          <a:xfrm>
            <a:off x="393152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/>
          <p:cNvSpPr/>
          <p:nvPr/>
        </p:nvSpPr>
        <p:spPr>
          <a:xfrm>
            <a:off x="393152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/>
          <p:cNvSpPr/>
          <p:nvPr/>
        </p:nvSpPr>
        <p:spPr>
          <a:xfrm>
            <a:off x="393152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/>
          <p:cNvSpPr/>
          <p:nvPr/>
        </p:nvSpPr>
        <p:spPr>
          <a:xfrm>
            <a:off x="393152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 119"/>
          <p:cNvSpPr/>
          <p:nvPr/>
        </p:nvSpPr>
        <p:spPr>
          <a:xfrm>
            <a:off x="393152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/>
          <p:cNvSpPr/>
          <p:nvPr/>
        </p:nvSpPr>
        <p:spPr>
          <a:xfrm>
            <a:off x="393152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391419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/>
          <p:cNvSpPr/>
          <p:nvPr/>
        </p:nvSpPr>
        <p:spPr>
          <a:xfrm>
            <a:off x="475310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/>
          <p:cNvSpPr/>
          <p:nvPr/>
        </p:nvSpPr>
        <p:spPr>
          <a:xfrm>
            <a:off x="475310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/>
          <p:cNvSpPr/>
          <p:nvPr/>
        </p:nvSpPr>
        <p:spPr>
          <a:xfrm>
            <a:off x="475310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475310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/>
          <p:cNvSpPr/>
          <p:nvPr/>
        </p:nvSpPr>
        <p:spPr>
          <a:xfrm>
            <a:off x="475310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/>
          <p:cNvSpPr/>
          <p:nvPr/>
        </p:nvSpPr>
        <p:spPr>
          <a:xfrm>
            <a:off x="475310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/>
          <p:cNvSpPr/>
          <p:nvPr/>
        </p:nvSpPr>
        <p:spPr>
          <a:xfrm>
            <a:off x="475310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Rectangle 105"/>
          <p:cNvSpPr/>
          <p:nvPr/>
        </p:nvSpPr>
        <p:spPr>
          <a:xfrm>
            <a:off x="475310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/>
          <p:cNvSpPr/>
          <p:nvPr/>
        </p:nvSpPr>
        <p:spPr>
          <a:xfrm>
            <a:off x="475310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ectangle 107"/>
          <p:cNvSpPr/>
          <p:nvPr/>
        </p:nvSpPr>
        <p:spPr>
          <a:xfrm>
            <a:off x="475310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475310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473578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538501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538501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538501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538501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538501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538501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538501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538501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538501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/>
          <p:cNvSpPr/>
          <p:nvPr/>
        </p:nvSpPr>
        <p:spPr>
          <a:xfrm>
            <a:off x="538501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/>
          <p:cNvSpPr/>
          <p:nvPr/>
        </p:nvSpPr>
        <p:spPr>
          <a:xfrm>
            <a:off x="538501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536768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6188615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6188615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6188615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6188615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6188615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6188615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6188615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6188615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6188615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6188615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6188615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6171287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6820517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6820517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6820517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6820517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6820517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6820517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6820517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6820517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6820517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6820517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6820517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6803189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917211" y="3555980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365699" y="3554165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828209" y="3556630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60223" y="3555980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402131" y="2467566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563758" y="2465776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24" name="Straight Connector 23"/>
          <p:cNvCxnSpPr>
            <a:stCxn id="142" idx="0"/>
            <a:endCxn id="146" idx="2"/>
          </p:cNvCxnSpPr>
          <p:nvPr/>
        </p:nvCxnSpPr>
        <p:spPr>
          <a:xfrm flipV="1">
            <a:off x="2100091" y="2902923"/>
            <a:ext cx="759240" cy="65305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43" idx="0"/>
            <a:endCxn id="146" idx="2"/>
          </p:cNvCxnSpPr>
          <p:nvPr/>
        </p:nvCxnSpPr>
        <p:spPr>
          <a:xfrm flipH="1" flipV="1">
            <a:off x="2859331" y="2902923"/>
            <a:ext cx="689248" cy="65124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>
            <a:stCxn id="142" idx="0"/>
            <a:endCxn id="148" idx="2"/>
          </p:cNvCxnSpPr>
          <p:nvPr/>
        </p:nvCxnSpPr>
        <p:spPr>
          <a:xfrm flipV="1">
            <a:off x="2100091" y="2901133"/>
            <a:ext cx="1920867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>
            <a:stCxn id="144" idx="0"/>
            <a:endCxn id="146" idx="2"/>
          </p:cNvCxnSpPr>
          <p:nvPr/>
        </p:nvCxnSpPr>
        <p:spPr>
          <a:xfrm flipH="1" flipV="1">
            <a:off x="2859331" y="2902923"/>
            <a:ext cx="2151758" cy="65370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>
            <a:stCxn id="143" idx="0"/>
            <a:endCxn id="148" idx="2"/>
          </p:cNvCxnSpPr>
          <p:nvPr/>
        </p:nvCxnSpPr>
        <p:spPr>
          <a:xfrm flipV="1">
            <a:off x="3548579" y="2901133"/>
            <a:ext cx="472379" cy="6530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145" idx="0"/>
            <a:endCxn id="146" idx="2"/>
          </p:cNvCxnSpPr>
          <p:nvPr/>
        </p:nvCxnSpPr>
        <p:spPr>
          <a:xfrm flipH="1" flipV="1">
            <a:off x="2859331" y="2902923"/>
            <a:ext cx="3583772" cy="65305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stCxn id="144" idx="0"/>
            <a:endCxn id="148" idx="2"/>
          </p:cNvCxnSpPr>
          <p:nvPr/>
        </p:nvCxnSpPr>
        <p:spPr>
          <a:xfrm flipH="1" flipV="1">
            <a:off x="4020958" y="2901133"/>
            <a:ext cx="990131" cy="6554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>
            <a:stCxn id="145" idx="0"/>
            <a:endCxn id="148" idx="2"/>
          </p:cNvCxnSpPr>
          <p:nvPr/>
        </p:nvCxnSpPr>
        <p:spPr>
          <a:xfrm flipH="1" flipV="1">
            <a:off x="4020958" y="2901133"/>
            <a:ext cx="2422145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>
            <a:stCxn id="102" idx="0"/>
            <a:endCxn id="144" idx="2"/>
          </p:cNvCxnSpPr>
          <p:nvPr/>
        </p:nvCxnSpPr>
        <p:spPr>
          <a:xfrm flipV="1">
            <a:off x="4914483" y="3830399"/>
            <a:ext cx="96606" cy="31430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>
            <a:stCxn id="141" idx="0"/>
            <a:endCxn id="145" idx="2"/>
          </p:cNvCxnSpPr>
          <p:nvPr/>
        </p:nvCxnSpPr>
        <p:spPr>
          <a:xfrm flipH="1" flipV="1">
            <a:off x="6443103" y="3829749"/>
            <a:ext cx="538789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stCxn id="128" idx="0"/>
            <a:endCxn id="145" idx="2"/>
          </p:cNvCxnSpPr>
          <p:nvPr/>
        </p:nvCxnSpPr>
        <p:spPr>
          <a:xfrm flipV="1">
            <a:off x="6349990" y="3829749"/>
            <a:ext cx="93113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115" idx="0"/>
            <a:endCxn id="144" idx="2"/>
          </p:cNvCxnSpPr>
          <p:nvPr/>
        </p:nvCxnSpPr>
        <p:spPr>
          <a:xfrm flipH="1" flipV="1">
            <a:off x="5011089" y="3830399"/>
            <a:ext cx="535296" cy="31415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>
            <a:stCxn id="89" idx="0"/>
            <a:endCxn id="143" idx="2"/>
          </p:cNvCxnSpPr>
          <p:nvPr/>
        </p:nvCxnSpPr>
        <p:spPr>
          <a:xfrm flipH="1" flipV="1">
            <a:off x="3548579" y="3827934"/>
            <a:ext cx="544316" cy="31661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>
            <a:stCxn id="76" idx="0"/>
            <a:endCxn id="143" idx="2"/>
          </p:cNvCxnSpPr>
          <p:nvPr/>
        </p:nvCxnSpPr>
        <p:spPr>
          <a:xfrm flipV="1">
            <a:off x="3460993" y="3827934"/>
            <a:ext cx="87586" cy="3167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50" idx="0"/>
            <a:endCxn id="142" idx="2"/>
          </p:cNvCxnSpPr>
          <p:nvPr/>
        </p:nvCxnSpPr>
        <p:spPr>
          <a:xfrm flipV="1">
            <a:off x="2007503" y="3829749"/>
            <a:ext cx="92588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63" idx="0"/>
            <a:endCxn id="142" idx="2"/>
          </p:cNvCxnSpPr>
          <p:nvPr/>
        </p:nvCxnSpPr>
        <p:spPr>
          <a:xfrm flipH="1" flipV="1">
            <a:off x="2100091" y="3829749"/>
            <a:ext cx="539314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391589" y="3551017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41" name="Straight Connector 40"/>
          <p:cNvCxnSpPr>
            <a:stCxn id="50" idx="0"/>
          </p:cNvCxnSpPr>
          <p:nvPr/>
        </p:nvCxnSpPr>
        <p:spPr>
          <a:xfrm flipV="1">
            <a:off x="2007503" y="3824787"/>
            <a:ext cx="566966" cy="31991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>
            <a:stCxn id="50" idx="0"/>
          </p:cNvCxnSpPr>
          <p:nvPr/>
        </p:nvCxnSpPr>
        <p:spPr>
          <a:xfrm flipV="1">
            <a:off x="2007503" y="3824787"/>
            <a:ext cx="566967" cy="31991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>
            <a:stCxn id="63" idx="0"/>
            <a:endCxn id="153" idx="2"/>
          </p:cNvCxnSpPr>
          <p:nvPr/>
        </p:nvCxnSpPr>
        <p:spPr>
          <a:xfrm flipH="1" flipV="1">
            <a:off x="2574469" y="3824786"/>
            <a:ext cx="64936" cy="319766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3836827" y="3547081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45" name="Straight Connector 44"/>
          <p:cNvCxnSpPr>
            <a:stCxn id="76" idx="0"/>
          </p:cNvCxnSpPr>
          <p:nvPr/>
        </p:nvCxnSpPr>
        <p:spPr>
          <a:xfrm flipV="1">
            <a:off x="3460993" y="3820850"/>
            <a:ext cx="558714" cy="32385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>
            <a:stCxn id="89" idx="0"/>
          </p:cNvCxnSpPr>
          <p:nvPr/>
        </p:nvCxnSpPr>
        <p:spPr>
          <a:xfrm flipH="1" flipV="1">
            <a:off x="4019707" y="3820850"/>
            <a:ext cx="73188" cy="32370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282102" y="3554165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48" name="Straight Connector 47"/>
          <p:cNvCxnSpPr>
            <a:stCxn id="115" idx="0"/>
          </p:cNvCxnSpPr>
          <p:nvPr/>
        </p:nvCxnSpPr>
        <p:spPr>
          <a:xfrm flipH="1" flipV="1">
            <a:off x="5464982" y="3827934"/>
            <a:ext cx="81403" cy="31661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stCxn id="102" idx="0"/>
          </p:cNvCxnSpPr>
          <p:nvPr/>
        </p:nvCxnSpPr>
        <p:spPr>
          <a:xfrm flipV="1">
            <a:off x="4914483" y="3827934"/>
            <a:ext cx="550499" cy="3167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713721" y="3551016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51" name="Straight Connector 50"/>
          <p:cNvCxnSpPr>
            <a:stCxn id="128" idx="0"/>
          </p:cNvCxnSpPr>
          <p:nvPr/>
        </p:nvCxnSpPr>
        <p:spPr>
          <a:xfrm flipV="1">
            <a:off x="6349990" y="3824785"/>
            <a:ext cx="546611" cy="31991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141" idx="0"/>
          </p:cNvCxnSpPr>
          <p:nvPr/>
        </p:nvCxnSpPr>
        <p:spPr>
          <a:xfrm flipH="1" flipV="1">
            <a:off x="6896601" y="3824785"/>
            <a:ext cx="85291" cy="31976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4730627" y="2464184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5892254" y="2462394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55" name="Straight Connector 54"/>
          <p:cNvCxnSpPr>
            <a:stCxn id="153" idx="0"/>
          </p:cNvCxnSpPr>
          <p:nvPr/>
        </p:nvCxnSpPr>
        <p:spPr>
          <a:xfrm flipV="1">
            <a:off x="2574469" y="2899541"/>
            <a:ext cx="2613358" cy="651476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4019707" y="2899541"/>
            <a:ext cx="1168120" cy="64754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>
            <a:stCxn id="153" idx="0"/>
          </p:cNvCxnSpPr>
          <p:nvPr/>
        </p:nvCxnSpPr>
        <p:spPr>
          <a:xfrm flipV="1">
            <a:off x="2574469" y="2897751"/>
            <a:ext cx="3774985" cy="653266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 flipV="1">
            <a:off x="5187827" y="2899541"/>
            <a:ext cx="277155" cy="65462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4019707" y="2897751"/>
            <a:ext cx="2329747" cy="64933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 flipV="1">
            <a:off x="5187827" y="2899541"/>
            <a:ext cx="1708774" cy="65147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5464982" y="2897751"/>
            <a:ext cx="884472" cy="65641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H="1" flipV="1">
            <a:off x="6349454" y="2897751"/>
            <a:ext cx="547147" cy="65326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7447389" y="4007881"/>
            <a:ext cx="673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Rack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447389" y="3489380"/>
            <a:ext cx="1391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Aggregation</a:t>
            </a:r>
            <a:endParaRPr lang="en-US" dirty="0"/>
          </a:p>
        </p:txBody>
      </p:sp>
      <p:sp>
        <p:nvSpPr>
          <p:cNvPr id="163" name="TextBox 162"/>
          <p:cNvSpPr txBox="1"/>
          <p:nvPr/>
        </p:nvSpPr>
        <p:spPr>
          <a:xfrm>
            <a:off x="7447389" y="2514600"/>
            <a:ext cx="6511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3514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solidFill>
            <a:schemeClr val="bg1"/>
          </a:solidFill>
        </p:spPr>
        <p:txBody>
          <a:bodyPr/>
          <a:lstStyle/>
          <a:p>
            <a:r>
              <a:rPr lang="en-US" dirty="0"/>
              <a:t>Clos topology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Multi-stage network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k pods, where each pod has two layers of k/2 switches</a:t>
            </a:r>
          </a:p>
          <a:p>
            <a:pPr lvl="1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k/2 ports up and k/2 down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All links have the same b/w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At most k</a:t>
            </a:r>
            <a:r>
              <a:rPr lang="en-US" baseline="30000" dirty="0">
                <a:solidFill>
                  <a:schemeClr val="bg1">
                    <a:lumMod val="50000"/>
                  </a:schemeClr>
                </a:solidFill>
              </a:rPr>
              <a:t>3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/4 machines</a:t>
            </a:r>
          </a:p>
          <a:p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Example</a:t>
            </a:r>
          </a:p>
          <a:p>
            <a:pPr lvl="1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k = 4</a:t>
            </a:r>
          </a:p>
          <a:p>
            <a:pPr lvl="1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16 machines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For k=48, 27648 machines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FED86-94EF-254D-90EE-B810FE8299EE}" type="slidenum">
              <a:rPr lang="en-US" smtClean="0"/>
              <a:pPr/>
              <a:t>47</a:t>
            </a:fld>
            <a:endParaRPr lang="en-US"/>
          </a:p>
        </p:txBody>
      </p:sp>
      <p:grpSp>
        <p:nvGrpSpPr>
          <p:cNvPr id="320" name="Group 319"/>
          <p:cNvGrpSpPr/>
          <p:nvPr/>
        </p:nvGrpSpPr>
        <p:grpSpPr>
          <a:xfrm>
            <a:off x="4850781" y="2953047"/>
            <a:ext cx="3657600" cy="1364373"/>
            <a:chOff x="4850781" y="2953047"/>
            <a:chExt cx="3657600" cy="1364373"/>
          </a:xfrm>
        </p:grpSpPr>
        <p:sp>
          <p:nvSpPr>
            <p:cNvPr id="183" name="Rectangle 182"/>
            <p:cNvSpPr/>
            <p:nvPr/>
          </p:nvSpPr>
          <p:spPr>
            <a:xfrm>
              <a:off x="4862668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4862668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4862668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/>
            <p:cNvSpPr/>
            <p:nvPr/>
          </p:nvSpPr>
          <p:spPr>
            <a:xfrm>
              <a:off x="4850781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/>
            <p:cNvSpPr/>
            <p:nvPr/>
          </p:nvSpPr>
          <p:spPr>
            <a:xfrm>
              <a:off x="5296151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/>
            <p:cNvSpPr/>
            <p:nvPr/>
          </p:nvSpPr>
          <p:spPr>
            <a:xfrm>
              <a:off x="5296151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/>
            <p:cNvSpPr/>
            <p:nvPr/>
          </p:nvSpPr>
          <p:spPr>
            <a:xfrm>
              <a:off x="5296151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5284264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Rectangle 206"/>
            <p:cNvSpPr/>
            <p:nvPr/>
          </p:nvSpPr>
          <p:spPr>
            <a:xfrm>
              <a:off x="5859759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" name="Rectangle 207"/>
            <p:cNvSpPr/>
            <p:nvPr/>
          </p:nvSpPr>
          <p:spPr>
            <a:xfrm>
              <a:off x="5859759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Rectangle 208"/>
            <p:cNvSpPr/>
            <p:nvPr/>
          </p:nvSpPr>
          <p:spPr>
            <a:xfrm>
              <a:off x="5859759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Rectangle 209"/>
            <p:cNvSpPr/>
            <p:nvPr/>
          </p:nvSpPr>
          <p:spPr>
            <a:xfrm>
              <a:off x="5847872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/>
            <p:cNvSpPr/>
            <p:nvPr/>
          </p:nvSpPr>
          <p:spPr>
            <a:xfrm>
              <a:off x="6293242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0" name="Rectangle 219"/>
            <p:cNvSpPr/>
            <p:nvPr/>
          </p:nvSpPr>
          <p:spPr>
            <a:xfrm>
              <a:off x="6293242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Rectangle 220"/>
            <p:cNvSpPr/>
            <p:nvPr/>
          </p:nvSpPr>
          <p:spPr>
            <a:xfrm>
              <a:off x="6293242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Rectangle 230"/>
            <p:cNvSpPr/>
            <p:nvPr/>
          </p:nvSpPr>
          <p:spPr>
            <a:xfrm>
              <a:off x="6856850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Rectangle 231"/>
            <p:cNvSpPr/>
            <p:nvPr/>
          </p:nvSpPr>
          <p:spPr>
            <a:xfrm>
              <a:off x="6856850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6856850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Rectangle 233"/>
            <p:cNvSpPr/>
            <p:nvPr/>
          </p:nvSpPr>
          <p:spPr>
            <a:xfrm>
              <a:off x="6844963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3" name="Rectangle 242"/>
            <p:cNvSpPr/>
            <p:nvPr/>
          </p:nvSpPr>
          <p:spPr>
            <a:xfrm>
              <a:off x="7290333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4" name="Rectangle 243"/>
            <p:cNvSpPr/>
            <p:nvPr/>
          </p:nvSpPr>
          <p:spPr>
            <a:xfrm>
              <a:off x="7290333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5" name="Rectangle 244"/>
            <p:cNvSpPr/>
            <p:nvPr/>
          </p:nvSpPr>
          <p:spPr>
            <a:xfrm>
              <a:off x="7290333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6" name="Rectangle 245"/>
            <p:cNvSpPr/>
            <p:nvPr/>
          </p:nvSpPr>
          <p:spPr>
            <a:xfrm>
              <a:off x="7278447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" name="Rectangle 254"/>
            <p:cNvSpPr/>
            <p:nvPr/>
          </p:nvSpPr>
          <p:spPr>
            <a:xfrm>
              <a:off x="7841605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/>
            <p:cNvSpPr/>
            <p:nvPr/>
          </p:nvSpPr>
          <p:spPr>
            <a:xfrm>
              <a:off x="7841605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 256"/>
            <p:cNvSpPr/>
            <p:nvPr/>
          </p:nvSpPr>
          <p:spPr>
            <a:xfrm>
              <a:off x="7841605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7829718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/>
            <p:cNvSpPr/>
            <p:nvPr/>
          </p:nvSpPr>
          <p:spPr>
            <a:xfrm>
              <a:off x="8275088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/>
            <p:cNvSpPr/>
            <p:nvPr/>
          </p:nvSpPr>
          <p:spPr>
            <a:xfrm>
              <a:off x="8275088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ectangle 268"/>
            <p:cNvSpPr/>
            <p:nvPr/>
          </p:nvSpPr>
          <p:spPr>
            <a:xfrm>
              <a:off x="8275088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/>
            <p:cNvSpPr/>
            <p:nvPr/>
          </p:nvSpPr>
          <p:spPr>
            <a:xfrm>
              <a:off x="8263201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 270"/>
            <p:cNvSpPr/>
            <p:nvPr/>
          </p:nvSpPr>
          <p:spPr>
            <a:xfrm>
              <a:off x="4911431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2" name="Rectangle 271"/>
            <p:cNvSpPr/>
            <p:nvPr/>
          </p:nvSpPr>
          <p:spPr>
            <a:xfrm>
              <a:off x="5905090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3" name="Rectangle 272"/>
            <p:cNvSpPr/>
            <p:nvPr/>
          </p:nvSpPr>
          <p:spPr>
            <a:xfrm>
              <a:off x="6908369" y="3703691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7890728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5" name="Rectangle 274"/>
            <p:cNvSpPr/>
            <p:nvPr/>
          </p:nvSpPr>
          <p:spPr>
            <a:xfrm>
              <a:off x="5244085" y="295659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6" name="Rectangle 275"/>
            <p:cNvSpPr/>
            <p:nvPr/>
          </p:nvSpPr>
          <p:spPr>
            <a:xfrm>
              <a:off x="6040958" y="295536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77" name="Straight Connector 276"/>
            <p:cNvCxnSpPr>
              <a:stCxn id="314" idx="0"/>
            </p:cNvCxnSpPr>
            <p:nvPr/>
          </p:nvCxnSpPr>
          <p:spPr>
            <a:xfrm flipV="1">
              <a:off x="5036886" y="3255249"/>
              <a:ext cx="520837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Straight Connector 277"/>
            <p:cNvCxnSpPr>
              <a:stCxn id="315" idx="0"/>
            </p:cNvCxnSpPr>
            <p:nvPr/>
          </p:nvCxnSpPr>
          <p:spPr>
            <a:xfrm flipH="1" flipV="1">
              <a:off x="5557723" y="3255249"/>
              <a:ext cx="472823" cy="44675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Connector 278"/>
            <p:cNvCxnSpPr>
              <a:stCxn id="314" idx="0"/>
            </p:cNvCxnSpPr>
            <p:nvPr/>
          </p:nvCxnSpPr>
          <p:spPr>
            <a:xfrm flipV="1">
              <a:off x="5036886" y="3254021"/>
              <a:ext cx="1317711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Connector 279"/>
            <p:cNvCxnSpPr/>
            <p:nvPr/>
          </p:nvCxnSpPr>
          <p:spPr>
            <a:xfrm flipH="1" flipV="1">
              <a:off x="5557723" y="3255249"/>
              <a:ext cx="1476101" cy="44844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Straight Connector 280"/>
            <p:cNvCxnSpPr>
              <a:stCxn id="315" idx="0"/>
            </p:cNvCxnSpPr>
            <p:nvPr/>
          </p:nvCxnSpPr>
          <p:spPr>
            <a:xfrm flipV="1">
              <a:off x="6030546" y="3254021"/>
              <a:ext cx="324051" cy="44797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Connector 281"/>
            <p:cNvCxnSpPr/>
            <p:nvPr/>
          </p:nvCxnSpPr>
          <p:spPr>
            <a:xfrm flipH="1" flipV="1">
              <a:off x="5557723" y="3255249"/>
              <a:ext cx="2458460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Straight Connector 282"/>
            <p:cNvCxnSpPr/>
            <p:nvPr/>
          </p:nvCxnSpPr>
          <p:spPr>
            <a:xfrm flipH="1" flipV="1">
              <a:off x="6354597" y="3254021"/>
              <a:ext cx="679228" cy="44967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Straight Connector 283"/>
            <p:cNvCxnSpPr/>
            <p:nvPr/>
          </p:nvCxnSpPr>
          <p:spPr>
            <a:xfrm flipH="1" flipV="1">
              <a:off x="6354597" y="3254021"/>
              <a:ext cx="1661586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/>
            <p:cNvCxnSpPr>
              <a:stCxn id="274" idx="0"/>
            </p:cNvCxnSpPr>
            <p:nvPr/>
          </p:nvCxnSpPr>
          <p:spPr>
            <a:xfrm flipV="1">
              <a:off x="6967553" y="3891496"/>
              <a:ext cx="66272" cy="21561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Straight Connector 285"/>
            <p:cNvCxnSpPr>
              <a:stCxn id="313" idx="0"/>
            </p:cNvCxnSpPr>
            <p:nvPr/>
          </p:nvCxnSpPr>
          <p:spPr>
            <a:xfrm flipH="1" flipV="1">
              <a:off x="8016183" y="3891050"/>
              <a:ext cx="36960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Straight Connector 286"/>
            <p:cNvCxnSpPr>
              <a:stCxn id="300" idx="0"/>
            </p:cNvCxnSpPr>
            <p:nvPr/>
          </p:nvCxnSpPr>
          <p:spPr>
            <a:xfrm flipV="1">
              <a:off x="7952308" y="3891050"/>
              <a:ext cx="6387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/>
            <p:cNvCxnSpPr>
              <a:stCxn id="287" idx="0"/>
            </p:cNvCxnSpPr>
            <p:nvPr/>
          </p:nvCxnSpPr>
          <p:spPr>
            <a:xfrm flipH="1" flipV="1">
              <a:off x="7033824" y="3891496"/>
              <a:ext cx="367212" cy="215508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/>
            <p:cNvCxnSpPr>
              <a:endCxn id="315" idx="2"/>
            </p:cNvCxnSpPr>
            <p:nvPr/>
          </p:nvCxnSpPr>
          <p:spPr>
            <a:xfrm flipH="1" flipV="1">
              <a:off x="6030546" y="3889805"/>
              <a:ext cx="373400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/>
            <p:cNvCxnSpPr>
              <a:endCxn id="315" idx="2"/>
            </p:cNvCxnSpPr>
            <p:nvPr/>
          </p:nvCxnSpPr>
          <p:spPr>
            <a:xfrm flipV="1">
              <a:off x="5970462" y="3889805"/>
              <a:ext cx="60084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/>
            <p:cNvCxnSpPr>
              <a:endCxn id="314" idx="2"/>
            </p:cNvCxnSpPr>
            <p:nvPr/>
          </p:nvCxnSpPr>
          <p:spPr>
            <a:xfrm flipV="1">
              <a:off x="4973371" y="3891050"/>
              <a:ext cx="6351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Straight Connector 291"/>
            <p:cNvCxnSpPr>
              <a:endCxn id="314" idx="2"/>
            </p:cNvCxnSpPr>
            <p:nvPr/>
          </p:nvCxnSpPr>
          <p:spPr>
            <a:xfrm flipH="1" flipV="1">
              <a:off x="5036886" y="3891050"/>
              <a:ext cx="36996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" name="Rectangle 292"/>
            <p:cNvSpPr/>
            <p:nvPr/>
          </p:nvSpPr>
          <p:spPr>
            <a:xfrm>
              <a:off x="5236853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94" name="Straight Connector 293"/>
            <p:cNvCxnSpPr/>
            <p:nvPr/>
          </p:nvCxnSpPr>
          <p:spPr>
            <a:xfrm flipV="1">
              <a:off x="4973371" y="3887646"/>
              <a:ext cx="388937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/>
            <p:cNvCxnSpPr/>
            <p:nvPr/>
          </p:nvCxnSpPr>
          <p:spPr>
            <a:xfrm flipV="1">
              <a:off x="4973371" y="3887646"/>
              <a:ext cx="388938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/>
            <p:cNvCxnSpPr/>
            <p:nvPr/>
          </p:nvCxnSpPr>
          <p:spPr>
            <a:xfrm flipH="1" flipV="1">
              <a:off x="5362308" y="3887645"/>
              <a:ext cx="44546" cy="2193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" name="Rectangle 296"/>
            <p:cNvSpPr/>
            <p:nvPr/>
          </p:nvSpPr>
          <p:spPr>
            <a:xfrm>
              <a:off x="6228283" y="36971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98" name="Straight Connector 297"/>
            <p:cNvCxnSpPr/>
            <p:nvPr/>
          </p:nvCxnSpPr>
          <p:spPr>
            <a:xfrm flipV="1">
              <a:off x="5970462" y="3884945"/>
              <a:ext cx="383277" cy="22216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98"/>
            <p:cNvCxnSpPr/>
            <p:nvPr/>
          </p:nvCxnSpPr>
          <p:spPr>
            <a:xfrm flipH="1" flipV="1">
              <a:off x="6353739" y="3884945"/>
              <a:ext cx="50207" cy="222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Rectangle 299"/>
            <p:cNvSpPr/>
            <p:nvPr/>
          </p:nvSpPr>
          <p:spPr>
            <a:xfrm>
              <a:off x="7219739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301" name="Straight Connector 300"/>
            <p:cNvCxnSpPr>
              <a:stCxn id="287" idx="0"/>
            </p:cNvCxnSpPr>
            <p:nvPr/>
          </p:nvCxnSpPr>
          <p:spPr>
            <a:xfrm flipH="1" flipV="1">
              <a:off x="7345194" y="3889805"/>
              <a:ext cx="55842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/>
            <p:cNvCxnSpPr>
              <a:stCxn id="274" idx="0"/>
            </p:cNvCxnSpPr>
            <p:nvPr/>
          </p:nvCxnSpPr>
          <p:spPr>
            <a:xfrm flipV="1">
              <a:off x="6967553" y="3889805"/>
              <a:ext cx="377641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3" name="Rectangle 302"/>
            <p:cNvSpPr/>
            <p:nvPr/>
          </p:nvSpPr>
          <p:spPr>
            <a:xfrm>
              <a:off x="8201826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304" name="Straight Connector 303"/>
            <p:cNvCxnSpPr>
              <a:stCxn id="300" idx="0"/>
            </p:cNvCxnSpPr>
            <p:nvPr/>
          </p:nvCxnSpPr>
          <p:spPr>
            <a:xfrm flipV="1">
              <a:off x="7952308" y="3887645"/>
              <a:ext cx="374974" cy="21946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/>
            <p:cNvCxnSpPr>
              <a:stCxn id="313" idx="0"/>
            </p:cNvCxnSpPr>
            <p:nvPr/>
          </p:nvCxnSpPr>
          <p:spPr>
            <a:xfrm flipH="1" flipV="1">
              <a:off x="8327282" y="3887645"/>
              <a:ext cx="58509" cy="21936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6" name="Rectangle 305"/>
            <p:cNvSpPr/>
            <p:nvPr/>
          </p:nvSpPr>
          <p:spPr>
            <a:xfrm>
              <a:off x="6841428" y="295427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07" name="Rectangle 306"/>
            <p:cNvSpPr/>
            <p:nvPr/>
          </p:nvSpPr>
          <p:spPr>
            <a:xfrm>
              <a:off x="7638302" y="295304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308" name="Straight Connector 307"/>
            <p:cNvCxnSpPr/>
            <p:nvPr/>
          </p:nvCxnSpPr>
          <p:spPr>
            <a:xfrm flipV="1">
              <a:off x="5362308" y="3252929"/>
              <a:ext cx="1792758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/>
            <p:cNvCxnSpPr/>
            <p:nvPr/>
          </p:nvCxnSpPr>
          <p:spPr>
            <a:xfrm flipV="1">
              <a:off x="6353739" y="3252929"/>
              <a:ext cx="801328" cy="4442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/>
            <p:cNvCxnSpPr/>
            <p:nvPr/>
          </p:nvCxnSpPr>
          <p:spPr>
            <a:xfrm flipV="1">
              <a:off x="5362308" y="3251701"/>
              <a:ext cx="258963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/>
            <p:cNvCxnSpPr/>
            <p:nvPr/>
          </p:nvCxnSpPr>
          <p:spPr>
            <a:xfrm flipH="1" flipV="1">
              <a:off x="7155066" y="3252929"/>
              <a:ext cx="190128" cy="44907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Straight Connector 311"/>
            <p:cNvCxnSpPr/>
            <p:nvPr/>
          </p:nvCxnSpPr>
          <p:spPr>
            <a:xfrm flipV="1">
              <a:off x="6353739" y="3251701"/>
              <a:ext cx="1598201" cy="4454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Straight Connector 312"/>
            <p:cNvCxnSpPr/>
            <p:nvPr/>
          </p:nvCxnSpPr>
          <p:spPr>
            <a:xfrm flipH="1" flipV="1">
              <a:off x="7155066" y="3252929"/>
              <a:ext cx="1172215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Straight Connector 313"/>
            <p:cNvCxnSpPr/>
            <p:nvPr/>
          </p:nvCxnSpPr>
          <p:spPr>
            <a:xfrm flipV="1">
              <a:off x="7345194" y="3251701"/>
              <a:ext cx="606746" cy="4502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Straight Connector 314"/>
            <p:cNvCxnSpPr/>
            <p:nvPr/>
          </p:nvCxnSpPr>
          <p:spPr>
            <a:xfrm flipH="1" flipV="1">
              <a:off x="7951940" y="3251701"/>
              <a:ext cx="37534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318"/>
            <p:cNvSpPr/>
            <p:nvPr/>
          </p:nvSpPr>
          <p:spPr>
            <a:xfrm>
              <a:off x="6274740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21" name="TextBox 320"/>
          <p:cNvSpPr txBox="1"/>
          <p:nvPr/>
        </p:nvSpPr>
        <p:spPr>
          <a:xfrm>
            <a:off x="4871450" y="4444076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1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925956" y="4440581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2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6918974" y="4443734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3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7928713" y="4444076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4</a:t>
            </a:r>
          </a:p>
        </p:txBody>
      </p:sp>
    </p:spTree>
    <p:extLst>
      <p:ext uri="{BB962C8B-B14F-4D97-AF65-F5344CB8AC3E}">
        <p14:creationId xmlns:p14="http://schemas.microsoft.com/office/powerpoint/2010/main" val="72134624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Topics</a:t>
            </a:r>
            <a:endParaRPr lang="en-US" dirty="0"/>
          </a:p>
        </p:txBody>
      </p:sp>
      <p:sp>
        <p:nvSpPr>
          <p:cNvPr id="1043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Basics (lectures 1–2) 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Application layer (lectures 3–5)</a:t>
            </a:r>
          </a:p>
          <a:p>
            <a:pPr lvl="1"/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HTTP, DNS, CDN, Video Streaming, and Cloud</a:t>
            </a:r>
          </a:p>
          <a:p>
            <a:r>
              <a:rPr lang="en-US" dirty="0"/>
              <a:t>Transport layer (lectures 6–9)</a:t>
            </a:r>
          </a:p>
          <a:p>
            <a:pPr lvl="1"/>
            <a:r>
              <a:rPr lang="en-US" dirty="0"/>
              <a:t>UDP vs. TCP </a:t>
            </a:r>
          </a:p>
          <a:p>
            <a:pPr lvl="1"/>
            <a:r>
              <a:rPr lang="en-US" dirty="0"/>
              <a:t>TCP details: reliability and flow control </a:t>
            </a:r>
          </a:p>
          <a:p>
            <a:pPr lvl="1"/>
            <a:r>
              <a:rPr lang="en-US" dirty="0"/>
              <a:t>TCP congestion control: general concepts only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1383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8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of the transport layer</a:t>
            </a:r>
          </a:p>
        </p:txBody>
      </p:sp>
      <p:sp>
        <p:nvSpPr>
          <p:cNvPr id="11038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(1) Communication between application processes</a:t>
            </a:r>
          </a:p>
          <a:p>
            <a:pPr lvl="1"/>
            <a:r>
              <a:rPr lang="en-US" dirty="0"/>
              <a:t>Mux and </a:t>
            </a:r>
            <a:r>
              <a:rPr lang="en-US" dirty="0" err="1"/>
              <a:t>demux</a:t>
            </a:r>
            <a:r>
              <a:rPr lang="en-US" dirty="0"/>
              <a:t> from/to application processes</a:t>
            </a:r>
          </a:p>
          <a:p>
            <a:pPr lvl="1"/>
            <a:r>
              <a:rPr lang="en-US" dirty="0"/>
              <a:t>Implemented using ports</a:t>
            </a:r>
          </a:p>
          <a:p>
            <a:r>
              <a:rPr lang="en-US" dirty="0"/>
              <a:t>(2) Provide common end-to-end services for app layer</a:t>
            </a:r>
          </a:p>
          <a:p>
            <a:pPr lvl="1"/>
            <a:r>
              <a:rPr lang="en-US" dirty="0"/>
              <a:t>Reliable, in-order data delivery</a:t>
            </a:r>
          </a:p>
          <a:p>
            <a:pPr lvl="1"/>
            <a:r>
              <a:rPr lang="en-US" dirty="0"/>
              <a:t>Well-paced data delivery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1881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0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UDP vs. TCP</a:t>
            </a:r>
            <a:endParaRPr lang="en-US" dirty="0"/>
          </a:p>
        </p:txBody>
      </p:sp>
      <p:graphicFrame>
        <p:nvGraphicFramePr>
          <p:cNvPr id="1153028" name="Group 4"/>
          <p:cNvGraphicFramePr>
            <a:graphicFrameLocks noGrp="1"/>
          </p:cNvGraphicFramePr>
          <p:nvPr>
            <p:ph idx="1"/>
          </p:nvPr>
        </p:nvGraphicFramePr>
        <p:xfrm>
          <a:off x="609600" y="2381794"/>
          <a:ext cx="7924800" cy="2573338"/>
        </p:xfrm>
        <a:graphic>
          <a:graphicData uri="http://schemas.openxmlformats.org/drawingml/2006/table">
            <a:tbl>
              <a:tblPr/>
              <a:tblGrid>
                <a:gridCol w="1901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1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1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3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charset="0"/>
                        <a:buNone/>
                        <a:tabLst/>
                      </a:pP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Arial" charset="0"/>
                        <a:ea typeface="ＭＳ Ｐゴシック" charset="0"/>
                      </a:endParaRPr>
                    </a:p>
                  </a:txBody>
                  <a:tcPr marL="94108" marR="94108" marT="44450" marB="4445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3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charset="0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  <a:ea typeface="ＭＳ Ｐゴシック" charset="0"/>
                        </a:rPr>
                        <a:t>UDP</a:t>
                      </a:r>
                    </a:p>
                  </a:txBody>
                  <a:tcPr marL="94108" marR="94108" marT="44450" marB="4445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3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charset="0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  <a:ea typeface="ＭＳ Ｐゴシック" charset="0"/>
                        </a:rPr>
                        <a:t>TCP</a:t>
                      </a:r>
                    </a:p>
                  </a:txBody>
                  <a:tcPr marL="94108" marR="94108" marT="44450" marB="4445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5638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3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charset="0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  <a:ea typeface="ＭＳ Ｐゴシック" charset="0"/>
                        </a:rPr>
                        <a:t>Data abstraction </a:t>
                      </a:r>
                    </a:p>
                  </a:txBody>
                  <a:tcPr marL="94108" marR="94108" marT="44450" marB="4445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3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charset="0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  <a:ea typeface="ＭＳ Ｐゴシック" charset="0"/>
                        </a:rPr>
                        <a:t>Packets (datagrams)</a:t>
                      </a:r>
                    </a:p>
                  </a:txBody>
                  <a:tcPr marL="94108" marR="94108" marT="44450" marB="4445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3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charset="0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  <a:ea typeface="ＭＳ Ｐゴシック" charset="0"/>
                        </a:rPr>
                        <a:t>Stream of bytes of arbitrary length</a:t>
                      </a:r>
                    </a:p>
                  </a:txBody>
                  <a:tcPr marL="94108" marR="94108" marT="44450" marB="4445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050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3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charset="0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  <a:ea typeface="ＭＳ Ｐゴシック" charset="0"/>
                        </a:rPr>
                        <a:t>Service </a:t>
                      </a:r>
                    </a:p>
                  </a:txBody>
                  <a:tcPr marL="94108" marR="94108" marT="44450" marB="4445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3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charset="0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  <a:ea typeface="ＭＳ Ｐゴシック" charset="0"/>
                        </a:rPr>
                        <a:t>Best-effort (same as IP)</a:t>
                      </a:r>
                    </a:p>
                  </a:txBody>
                  <a:tcPr marL="94108" marR="94108" marT="44450" marB="4445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3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Tx/>
                        <a:buChar char="•"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  <a:ea typeface="ＭＳ Ｐゴシック" charset="0"/>
                        </a:rPr>
                        <a:t>Reliability 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3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Tx/>
                        <a:buChar char="•"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  <a:ea typeface="ＭＳ Ｐゴシック" charset="0"/>
                        </a:rPr>
                        <a:t>In-order delivery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3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Tx/>
                        <a:buChar char="•"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  <a:ea typeface="ＭＳ Ｐゴシック" charset="0"/>
                        </a:rPr>
                        <a:t>Congestion control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3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Tx/>
                        <a:buChar char="•"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Arial" charset="0"/>
                          <a:ea typeface="ＭＳ Ｐゴシック" charset="0"/>
                        </a:rPr>
                        <a:t>Flow control</a:t>
                      </a:r>
                    </a:p>
                  </a:txBody>
                  <a:tcPr marL="94108" marR="94108" marT="44450" marB="4445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F10D24-AF79-3B40-9DAD-BB1417A215A5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1153027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0" y="1524000"/>
            <a:ext cx="8077200" cy="685800"/>
          </a:xfrm>
        </p:spPr>
        <p:txBody>
          <a:bodyPr/>
          <a:lstStyle/>
          <a:p>
            <a:pPr lvl="1"/>
            <a:r>
              <a:rPr lang="en-US" dirty="0"/>
              <a:t>Both UDP and TCP perform mux/</a:t>
            </a:r>
            <a:r>
              <a:rPr lang="en-US" dirty="0" err="1"/>
              <a:t>demux</a:t>
            </a:r>
            <a:r>
              <a:rPr lang="en-US" dirty="0"/>
              <a:t> via ports</a:t>
            </a:r>
          </a:p>
          <a:p>
            <a:endParaRPr lang="en-US" sz="2000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95512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Reliable transport: </a:t>
            </a:r>
            <a:br>
              <a:rPr lang="en-US" dirty="0"/>
            </a:br>
            <a:r>
              <a:rPr lang="en-US" dirty="0"/>
              <a:t>General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Checksums (for error detection) </a:t>
            </a:r>
          </a:p>
          <a:p>
            <a:r>
              <a:rPr lang="en-US" dirty="0"/>
              <a:t>Timers (for loss detection) </a:t>
            </a:r>
          </a:p>
          <a:p>
            <a:r>
              <a:rPr lang="en-US" dirty="0"/>
              <a:t>Acknowledgments (feedback from receiver)</a:t>
            </a:r>
          </a:p>
          <a:p>
            <a:pPr lvl="1"/>
            <a:r>
              <a:rPr lang="en-US" dirty="0"/>
              <a:t>Cumulative: “received everything up to X”</a:t>
            </a:r>
          </a:p>
          <a:p>
            <a:pPr lvl="1"/>
            <a:r>
              <a:rPr lang="en-US" dirty="0"/>
              <a:t>Selective: “received X”</a:t>
            </a:r>
          </a:p>
          <a:p>
            <a:r>
              <a:rPr lang="en-US" dirty="0"/>
              <a:t>Sequence no (detect duplicates, accounting)</a:t>
            </a:r>
          </a:p>
          <a:p>
            <a:r>
              <a:rPr lang="en-US" dirty="0"/>
              <a:t>Sliding windows (for efficiency)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93431" y="5105400"/>
            <a:ext cx="4157137" cy="1569660"/>
          </a:xfrm>
          <a:prstGeom prst="rect">
            <a:avLst/>
          </a:prstGeom>
          <a:solidFill>
            <a:schemeClr val="accent5"/>
          </a:solidFill>
        </p:spPr>
        <p:txBody>
          <a:bodyPr wrap="square" lIns="90848" tIns="45424" rIns="90848" bIns="45424" rtlCol="0">
            <a:spAutoFit/>
          </a:bodyPr>
          <a:lstStyle/>
          <a:p>
            <a:pPr algn="l"/>
            <a:r>
              <a:rPr lang="en-US" sz="2400" b="0" dirty="0">
                <a:latin typeface="+mn-lt"/>
              </a:rPr>
              <a:t>You should know: </a:t>
            </a:r>
          </a:p>
          <a:p>
            <a:pPr marL="340736" indent="-340736" algn="l">
              <a:buFont typeface="Arial"/>
              <a:buChar char="•"/>
            </a:pPr>
            <a:r>
              <a:rPr lang="en-US" sz="2400" b="0" dirty="0">
                <a:latin typeface="+mn-lt"/>
              </a:rPr>
              <a:t>what these concepts are</a:t>
            </a:r>
          </a:p>
          <a:p>
            <a:pPr marL="340736" indent="-340736" algn="l">
              <a:buFont typeface="Arial"/>
              <a:buChar char="•"/>
            </a:pPr>
            <a:r>
              <a:rPr lang="en-US" sz="2400" b="0" dirty="0">
                <a:latin typeface="+mn-lt"/>
              </a:rPr>
              <a:t>why they exist</a:t>
            </a:r>
          </a:p>
          <a:p>
            <a:pPr marL="340736" indent="-340736" algn="l">
              <a:buFont typeface="Arial"/>
              <a:buChar char="•"/>
            </a:pPr>
            <a:r>
              <a:rPr lang="en-US" sz="2400" b="0" dirty="0">
                <a:latin typeface="+mn-lt"/>
              </a:rPr>
              <a:t>how TCP uses them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279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Designing a reliable transport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Stop and wait</a:t>
            </a:r>
            <a:r>
              <a:rPr lang="en-US" dirty="0"/>
              <a:t> is correct but inefficient</a:t>
            </a:r>
          </a:p>
          <a:p>
            <a:pPr lvl="1"/>
            <a:r>
              <a:rPr lang="en-US" dirty="0"/>
              <a:t>Works packet by packet (of size DATA)</a:t>
            </a:r>
          </a:p>
          <a:p>
            <a:pPr lvl="1"/>
            <a:r>
              <a:rPr lang="en-US" dirty="0"/>
              <a:t>Throughput is (DATA/ RTT)</a:t>
            </a:r>
          </a:p>
          <a:p>
            <a:r>
              <a:rPr lang="en-US" dirty="0">
                <a:solidFill>
                  <a:srgbClr val="0000FF"/>
                </a:solidFill>
              </a:rPr>
              <a:t>Sliding window</a:t>
            </a:r>
            <a:r>
              <a:rPr lang="en-US" dirty="0"/>
              <a:t>: use pipelining to increase throughput</a:t>
            </a:r>
          </a:p>
          <a:p>
            <a:pPr lvl="1"/>
            <a:r>
              <a:rPr lang="en-US" dirty="0"/>
              <a:t>n packets at a time results in higher throughput</a:t>
            </a:r>
          </a:p>
          <a:p>
            <a:pPr lvl="1"/>
            <a:r>
              <a:rPr lang="en-US" dirty="0"/>
              <a:t>MIN(n*DATA/RTT, Link Bandwidth)</a:t>
            </a: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7227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TCP abstraction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TCP delivers a reliable, in-order, byte stream</a:t>
            </a:r>
          </a:p>
          <a:p>
            <a:r>
              <a:rPr lang="en-US" dirty="0">
                <a:solidFill>
                  <a:srgbClr val="0000FF"/>
                </a:solidFill>
              </a:rPr>
              <a:t>Reliable</a:t>
            </a:r>
            <a:r>
              <a:rPr lang="en-US" dirty="0"/>
              <a:t>: TCP resends lost packets (recursively)</a:t>
            </a:r>
          </a:p>
          <a:p>
            <a:pPr lvl="1"/>
            <a:r>
              <a:rPr lang="en-US" dirty="0"/>
              <a:t>Until it gives up and shuts down connection</a:t>
            </a:r>
          </a:p>
          <a:p>
            <a:r>
              <a:rPr lang="en-US" dirty="0">
                <a:solidFill>
                  <a:srgbClr val="0000FF"/>
                </a:solidFill>
              </a:rPr>
              <a:t>In-order</a:t>
            </a:r>
            <a:r>
              <a:rPr lang="en-US" dirty="0"/>
              <a:t>: TCP only hands consecutive chunks of data to application</a:t>
            </a:r>
          </a:p>
          <a:p>
            <a:r>
              <a:rPr lang="en-US" dirty="0">
                <a:solidFill>
                  <a:srgbClr val="0000FF"/>
                </a:solidFill>
              </a:rPr>
              <a:t>Byte stream</a:t>
            </a:r>
            <a:r>
              <a:rPr lang="en-US" dirty="0"/>
              <a:t>: TCP assumes there is an incoming stream of data, and attempts to deliver it to app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25462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Things to know about TCP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TCP achieves reliability</a:t>
            </a:r>
          </a:p>
          <a:p>
            <a:r>
              <a:rPr lang="en-US" dirty="0"/>
              <a:t>RTT estimation</a:t>
            </a:r>
          </a:p>
          <a:p>
            <a:r>
              <a:rPr lang="en-US" dirty="0"/>
              <a:t>Connection establishment/teardown </a:t>
            </a:r>
          </a:p>
          <a:p>
            <a:r>
              <a:rPr lang="en-US" dirty="0"/>
              <a:t>Flow Control</a:t>
            </a:r>
          </a:p>
          <a:p>
            <a:r>
              <a:rPr lang="en-US" dirty="0"/>
              <a:t>Congestion Control (concepts only) </a:t>
            </a:r>
          </a:p>
          <a:p>
            <a:endParaRPr lang="en-US" dirty="0"/>
          </a:p>
          <a:p>
            <a:r>
              <a:rPr lang="en-US" dirty="0"/>
              <a:t>For each, know how the functionality is implemented and why it is needed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942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Having TCP take care of it simplifies application development</a:t>
            </a:r>
          </a:p>
          <a:p>
            <a:r>
              <a:rPr lang="en-US" dirty="0"/>
              <a:t>How</a:t>
            </a:r>
          </a:p>
          <a:p>
            <a:pPr lvl="1"/>
            <a:r>
              <a:rPr lang="en-US" dirty="0"/>
              <a:t>Checksums and timers (for error and loss detection) </a:t>
            </a:r>
          </a:p>
          <a:p>
            <a:pPr lvl="1"/>
            <a:r>
              <a:rPr lang="en-US" dirty="0"/>
              <a:t>Fast retransmit (to detect faster-than-timeout loss)</a:t>
            </a:r>
          </a:p>
          <a:p>
            <a:pPr lvl="1"/>
            <a:r>
              <a:rPr lang="en-US" dirty="0"/>
              <a:t>Cumulative ACKs (receiver feedback: what’s lost?)</a:t>
            </a:r>
          </a:p>
          <a:p>
            <a:pPr lvl="1"/>
            <a:r>
              <a:rPr lang="en-US" dirty="0"/>
              <a:t>Sliding windows (for efficiency)</a:t>
            </a:r>
          </a:p>
          <a:p>
            <a:pPr lvl="1"/>
            <a:r>
              <a:rPr lang="en-US" dirty="0"/>
              <a:t>Buffers at sender (hold packets until ACKs arrive)</a:t>
            </a:r>
          </a:p>
          <a:p>
            <a:pPr lvl="1"/>
            <a:r>
              <a:rPr lang="en-US" dirty="0"/>
              <a:t>Buffers at receiver (to reorder packets before delivery to application)</a:t>
            </a:r>
          </a:p>
          <a:p>
            <a:pPr lvl="1"/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797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Establishing/terminating a TCP connection</a:t>
            </a:r>
          </a:p>
        </p:txBody>
      </p:sp>
      <p:sp>
        <p:nvSpPr>
          <p:cNvPr id="957443" name="Rectangle 3"/>
          <p:cNvSpPr>
            <a:spLocks noGrp="1" noChangeArrowheads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>
                <a:solidFill>
                  <a:srgbClr val="0000FF"/>
                </a:solidFill>
              </a:rPr>
              <a:t>Three-way handshake</a:t>
            </a:r>
            <a:r>
              <a:rPr lang="en-US" sz="2400" dirty="0"/>
              <a:t> to establish connection</a:t>
            </a:r>
          </a:p>
          <a:p>
            <a:pPr lvl="1"/>
            <a:r>
              <a:rPr lang="en-US" sz="2000" dirty="0"/>
              <a:t>Host A sends a SYN (open; </a:t>
            </a:r>
            <a:r>
              <a:rPr lang="ja-JP" altLang="en-US" sz="2000" dirty="0"/>
              <a:t>“</a:t>
            </a:r>
            <a:r>
              <a:rPr lang="en-US" sz="2000" dirty="0"/>
              <a:t>synchronize sequence numbers</a:t>
            </a:r>
            <a:r>
              <a:rPr lang="ja-JP" altLang="en-US" sz="2000" dirty="0"/>
              <a:t>”</a:t>
            </a:r>
            <a:r>
              <a:rPr lang="en-US" sz="2000" dirty="0"/>
              <a:t>) to host B</a:t>
            </a:r>
          </a:p>
          <a:p>
            <a:pPr lvl="1"/>
            <a:r>
              <a:rPr lang="en-US" sz="2000" dirty="0"/>
              <a:t>Host B returns a SYN acknowledgment (SYN ACK)</a:t>
            </a:r>
          </a:p>
          <a:p>
            <a:pPr lvl="1"/>
            <a:r>
              <a:rPr lang="en-US" sz="2000" dirty="0"/>
              <a:t>Host A sends an ACK to acknowledge the SYN ACK</a:t>
            </a:r>
          </a:p>
          <a:p>
            <a:r>
              <a:rPr lang="en-US" sz="2300" dirty="0"/>
              <a:t>Three-way handshake to terminate (normal operation)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6146800" y="2230438"/>
            <a:ext cx="1603375" cy="631826"/>
            <a:chOff x="1544" y="979"/>
            <a:chExt cx="1010" cy="398"/>
          </a:xfrm>
        </p:grpSpPr>
        <p:sp>
          <p:nvSpPr>
            <p:cNvPr id="75798" name="Line 5"/>
            <p:cNvSpPr>
              <a:spLocks noChangeShapeType="1"/>
            </p:cNvSpPr>
            <p:nvPr/>
          </p:nvSpPr>
          <p:spPr bwMode="auto">
            <a:xfrm rot="5400000" flipV="1">
              <a:off x="1958" y="782"/>
              <a:ext cx="181" cy="101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9" name="Text Box 6"/>
            <p:cNvSpPr txBox="1">
              <a:spLocks noChangeArrowheads="1"/>
            </p:cNvSpPr>
            <p:nvPr/>
          </p:nvSpPr>
          <p:spPr bwMode="auto">
            <a:xfrm rot="605430">
              <a:off x="1821" y="979"/>
              <a:ext cx="450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solidFill>
                    <a:srgbClr val="0000FF"/>
                  </a:solidFill>
                  <a:latin typeface="Arial" charset="0"/>
                  <a:ea typeface="Arial" charset="0"/>
                </a:rPr>
                <a:t>SYN</a:t>
              </a:r>
            </a:p>
          </p:txBody>
        </p:sp>
      </p:grp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6157913" y="2871787"/>
            <a:ext cx="1574800" cy="520700"/>
            <a:chOff x="1551" y="1383"/>
            <a:chExt cx="992" cy="328"/>
          </a:xfrm>
        </p:grpSpPr>
        <p:sp>
          <p:nvSpPr>
            <p:cNvPr id="75796" name="Line 8"/>
            <p:cNvSpPr>
              <a:spLocks noChangeShapeType="1"/>
            </p:cNvSpPr>
            <p:nvPr/>
          </p:nvSpPr>
          <p:spPr bwMode="auto">
            <a:xfrm rot="5400000">
              <a:off x="1952" y="1121"/>
              <a:ext cx="189" cy="992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7" name="Text Box 9"/>
            <p:cNvSpPr txBox="1">
              <a:spLocks noChangeArrowheads="1"/>
            </p:cNvSpPr>
            <p:nvPr/>
          </p:nvSpPr>
          <p:spPr bwMode="auto">
            <a:xfrm rot="10146980" flipH="1" flipV="1">
              <a:off x="1631" y="1383"/>
              <a:ext cx="82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solidFill>
                    <a:srgbClr val="FF3300"/>
                  </a:solidFill>
                  <a:latin typeface="Arial" charset="0"/>
                  <a:ea typeface="Arial" charset="0"/>
                </a:rPr>
                <a:t>SYN ACK</a:t>
              </a: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6135688" y="3527427"/>
            <a:ext cx="1600200" cy="614363"/>
            <a:chOff x="1537" y="1796"/>
            <a:chExt cx="1008" cy="387"/>
          </a:xfrm>
        </p:grpSpPr>
        <p:sp>
          <p:nvSpPr>
            <p:cNvPr id="75794" name="Line 11"/>
            <p:cNvSpPr>
              <a:spLocks noChangeShapeType="1"/>
            </p:cNvSpPr>
            <p:nvPr/>
          </p:nvSpPr>
          <p:spPr bwMode="auto">
            <a:xfrm rot="5400000" flipV="1">
              <a:off x="1897" y="1535"/>
              <a:ext cx="288" cy="1008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5" name="Text Box 12"/>
            <p:cNvSpPr txBox="1">
              <a:spLocks noChangeArrowheads="1"/>
            </p:cNvSpPr>
            <p:nvPr/>
          </p:nvSpPr>
          <p:spPr bwMode="auto">
            <a:xfrm rot="1044999">
              <a:off x="1827" y="1796"/>
              <a:ext cx="45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 dirty="0">
                  <a:solidFill>
                    <a:srgbClr val="0000FF"/>
                  </a:solidFill>
                  <a:latin typeface="Arial" charset="0"/>
                  <a:ea typeface="Arial" charset="0"/>
                </a:rPr>
                <a:t>ACK</a:t>
              </a:r>
            </a:p>
          </p:txBody>
        </p:sp>
      </p:grpSp>
      <p:sp>
        <p:nvSpPr>
          <p:cNvPr id="75784" name="Line 13"/>
          <p:cNvSpPr>
            <a:spLocks noChangeShapeType="1"/>
          </p:cNvSpPr>
          <p:nvPr/>
        </p:nvSpPr>
        <p:spPr bwMode="auto">
          <a:xfrm rot="16200000" flipH="1">
            <a:off x="6295231" y="3809206"/>
            <a:ext cx="2890837" cy="635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75785" name="Line 14"/>
          <p:cNvSpPr>
            <a:spLocks noChangeShapeType="1"/>
          </p:cNvSpPr>
          <p:nvPr/>
        </p:nvSpPr>
        <p:spPr bwMode="auto">
          <a:xfrm rot="5400000">
            <a:off x="4744244" y="3769518"/>
            <a:ext cx="2797175" cy="23813"/>
          </a:xfrm>
          <a:prstGeom prst="line">
            <a:avLst/>
          </a:prstGeom>
          <a:noFill/>
          <a:ln w="9525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75786" name="Text Box 15"/>
          <p:cNvSpPr txBox="1">
            <a:spLocks noChangeArrowheads="1"/>
          </p:cNvSpPr>
          <p:nvPr/>
        </p:nvSpPr>
        <p:spPr bwMode="auto">
          <a:xfrm>
            <a:off x="5970588" y="1916112"/>
            <a:ext cx="40481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solidFill>
                  <a:srgbClr val="0000FF"/>
                </a:solidFill>
                <a:latin typeface="Arial" charset="0"/>
                <a:ea typeface="Arial" charset="0"/>
              </a:rPr>
              <a:t>A</a:t>
            </a:r>
          </a:p>
        </p:txBody>
      </p:sp>
      <p:sp>
        <p:nvSpPr>
          <p:cNvPr id="75787" name="Text Box 16"/>
          <p:cNvSpPr txBox="1">
            <a:spLocks noChangeArrowheads="1"/>
          </p:cNvSpPr>
          <p:nvPr/>
        </p:nvSpPr>
        <p:spPr bwMode="auto">
          <a:xfrm>
            <a:off x="7537450" y="1878012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solidFill>
                  <a:srgbClr val="FF3300"/>
                </a:solidFill>
                <a:latin typeface="Arial" charset="0"/>
                <a:ea typeface="Arial" charset="0"/>
              </a:rPr>
              <a:t>B</a:t>
            </a:r>
          </a:p>
        </p:txBody>
      </p:sp>
      <p:grpSp>
        <p:nvGrpSpPr>
          <p:cNvPr id="5" name="Group 17"/>
          <p:cNvGrpSpPr>
            <a:grpSpLocks/>
          </p:cNvGrpSpPr>
          <p:nvPr/>
        </p:nvGrpSpPr>
        <p:grpSpPr bwMode="auto">
          <a:xfrm>
            <a:off x="6140450" y="4059238"/>
            <a:ext cx="1627188" cy="968376"/>
            <a:chOff x="1540" y="2131"/>
            <a:chExt cx="1025" cy="610"/>
          </a:xfrm>
        </p:grpSpPr>
        <p:sp>
          <p:nvSpPr>
            <p:cNvPr id="75790" name="Line 18"/>
            <p:cNvSpPr>
              <a:spLocks noChangeShapeType="1"/>
            </p:cNvSpPr>
            <p:nvPr/>
          </p:nvSpPr>
          <p:spPr bwMode="auto">
            <a:xfrm rot="5400000" flipV="1">
              <a:off x="1896" y="1874"/>
              <a:ext cx="296" cy="100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1" name="Text Box 19"/>
            <p:cNvSpPr txBox="1">
              <a:spLocks noChangeArrowheads="1"/>
            </p:cNvSpPr>
            <p:nvPr/>
          </p:nvSpPr>
          <p:spPr bwMode="auto">
            <a:xfrm rot="1003808">
              <a:off x="1809" y="2131"/>
              <a:ext cx="45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 dirty="0">
                  <a:solidFill>
                    <a:srgbClr val="0000FF"/>
                  </a:solidFill>
                  <a:latin typeface="Arial" charset="0"/>
                  <a:ea typeface="Arial" charset="0"/>
                </a:rPr>
                <a:t>Data</a:t>
              </a:r>
            </a:p>
          </p:txBody>
        </p:sp>
        <p:sp>
          <p:nvSpPr>
            <p:cNvPr id="75792" name="Line 20"/>
            <p:cNvSpPr>
              <a:spLocks noChangeShapeType="1"/>
            </p:cNvSpPr>
            <p:nvPr/>
          </p:nvSpPr>
          <p:spPr bwMode="auto">
            <a:xfrm rot="5400000" flipV="1">
              <a:off x="1914" y="2089"/>
              <a:ext cx="296" cy="100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3" name="Text Box 21"/>
            <p:cNvSpPr txBox="1">
              <a:spLocks noChangeArrowheads="1"/>
            </p:cNvSpPr>
            <p:nvPr/>
          </p:nvSpPr>
          <p:spPr bwMode="auto">
            <a:xfrm rot="1003808">
              <a:off x="1827" y="2346"/>
              <a:ext cx="45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solidFill>
                    <a:srgbClr val="0000FF"/>
                  </a:solidFill>
                  <a:latin typeface="Arial" charset="0"/>
                  <a:ea typeface="Arial" charset="0"/>
                </a:rPr>
                <a:t>Data</a:t>
              </a:r>
            </a:p>
          </p:txBody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FED86-94EF-254D-90EE-B810FE8299EE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6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744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control</a:t>
            </a:r>
          </a:p>
        </p:txBody>
      </p:sp>
      <p:sp>
        <p:nvSpPr>
          <p:cNvPr id="9574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Why? </a:t>
            </a:r>
          </a:p>
          <a:p>
            <a:pPr lvl="1"/>
            <a:r>
              <a:rPr lang="en-US" dirty="0"/>
              <a:t>TCP at the receiver must buffer a packet until all packets before it (in byte-order) have arrived and the receiving application has consumed available bytes</a:t>
            </a:r>
          </a:p>
          <a:p>
            <a:pPr lvl="1"/>
            <a:r>
              <a:rPr lang="en-US" dirty="0"/>
              <a:t>Hence, receiver advances its window when the receiving application consumes data</a:t>
            </a:r>
          </a:p>
          <a:p>
            <a:pPr lvl="1"/>
            <a:r>
              <a:rPr lang="en-US" dirty="0"/>
              <a:t>Sender advances its window when new data </a:t>
            </a:r>
            <a:r>
              <a:rPr lang="en-US" dirty="0" err="1"/>
              <a:t>ACK’</a:t>
            </a:r>
            <a:r>
              <a:rPr lang="en-US" altLang="ja-JP" dirty="0" err="1"/>
              <a:t>d</a:t>
            </a:r>
            <a:endParaRPr lang="en-US" dirty="0"/>
          </a:p>
          <a:p>
            <a:pPr lvl="1"/>
            <a:r>
              <a:rPr lang="en-US" dirty="0">
                <a:solidFill>
                  <a:srgbClr val="0000FF"/>
                </a:solidFill>
              </a:rPr>
              <a:t>Risk of sender overrunning the receiver’s buffers</a:t>
            </a:r>
          </a:p>
          <a:p>
            <a:r>
              <a:rPr lang="en-US" dirty="0"/>
              <a:t>How? </a:t>
            </a:r>
          </a:p>
          <a:p>
            <a:pPr lvl="1"/>
            <a:r>
              <a:rPr lang="en-US" dirty="0"/>
              <a:t>“Advertised Window” field in TCP header</a:t>
            </a: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073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7443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Congestion control</a:t>
            </a:r>
          </a:p>
        </p:txBody>
      </p:sp>
      <p:sp>
        <p:nvSpPr>
          <p:cNvPr id="9574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Why? </a:t>
            </a:r>
          </a:p>
          <a:p>
            <a:pPr lvl="1"/>
            <a:r>
              <a:rPr lang="en-US" dirty="0"/>
              <a:t>Because the network itself can be the bottleneck</a:t>
            </a:r>
          </a:p>
          <a:p>
            <a:pPr lvl="1"/>
            <a:r>
              <a:rPr lang="en-US" dirty="0"/>
              <a:t>Should make efficient use of available network capacity</a:t>
            </a:r>
          </a:p>
          <a:p>
            <a:pPr lvl="2"/>
            <a:r>
              <a:rPr lang="en-US" dirty="0"/>
              <a:t>While sharing available capacity fairly with other flows</a:t>
            </a:r>
          </a:p>
          <a:p>
            <a:pPr lvl="2"/>
            <a:r>
              <a:rPr lang="en-US" dirty="0"/>
              <a:t>And adapting to changes in available capacity</a:t>
            </a:r>
          </a:p>
          <a:p>
            <a:r>
              <a:rPr lang="en-US" dirty="0"/>
              <a:t>How? </a:t>
            </a:r>
          </a:p>
          <a:p>
            <a:pPr lvl="1"/>
            <a:r>
              <a:rPr lang="en-US" dirty="0"/>
              <a:t>Dynamically adapts the size of the sending window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912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7443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Flow Control</a:t>
            </a:r>
          </a:p>
          <a:p>
            <a:pPr lvl="1"/>
            <a:r>
              <a:rPr lang="en-US" dirty="0"/>
              <a:t>Restrict window to RWND to make sure that the receiver isn’t overwhelmed</a:t>
            </a:r>
          </a:p>
          <a:p>
            <a:r>
              <a:rPr lang="en-US" dirty="0"/>
              <a:t>Congestion Control</a:t>
            </a:r>
          </a:p>
          <a:p>
            <a:pPr lvl="1"/>
            <a:r>
              <a:rPr lang="en-US" dirty="0"/>
              <a:t>Restrict window to CWND to make sure that the network isn’t overwhelmed</a:t>
            </a:r>
          </a:p>
          <a:p>
            <a:r>
              <a:rPr lang="en-US" dirty="0"/>
              <a:t>Together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Restrict window to min{RWND, CWND}</a:t>
            </a:r>
            <a:r>
              <a:rPr lang="en-US" dirty="0"/>
              <a:t> to make sure that neither the receiver nor the network are overwhelmed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74052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CC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States at sender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CWND</a:t>
            </a:r>
            <a:r>
              <a:rPr lang="en-US" dirty="0"/>
              <a:t> (initialized to a small constant)</a:t>
            </a:r>
          </a:p>
          <a:p>
            <a:pPr lvl="1"/>
            <a:r>
              <a:rPr lang="en-US" dirty="0" err="1">
                <a:solidFill>
                  <a:srgbClr val="0000FF"/>
                </a:solidFill>
              </a:rPr>
              <a:t>ssthresh</a:t>
            </a:r>
            <a:r>
              <a:rPr lang="en-US" dirty="0"/>
              <a:t> (initialized to a large constant)</a:t>
            </a:r>
          </a:p>
          <a:p>
            <a:pPr lvl="1"/>
            <a:r>
              <a:rPr lang="en-US" dirty="0" err="1">
                <a:solidFill>
                  <a:srgbClr val="0000FF"/>
                </a:solidFill>
              </a:rPr>
              <a:t>dupACKcount</a:t>
            </a:r>
            <a:r>
              <a:rPr lang="en-US" dirty="0"/>
              <a:t> and </a:t>
            </a:r>
            <a:r>
              <a:rPr lang="en-US" dirty="0">
                <a:solidFill>
                  <a:srgbClr val="0000FF"/>
                </a:solidFill>
              </a:rPr>
              <a:t>timer</a:t>
            </a:r>
            <a:endParaRPr lang="en-US" dirty="0"/>
          </a:p>
          <a:p>
            <a:r>
              <a:rPr lang="en-US" dirty="0"/>
              <a:t>Events 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ACK</a:t>
            </a:r>
            <a:r>
              <a:rPr lang="en-US" dirty="0"/>
              <a:t> (new data) 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dupACK</a:t>
            </a:r>
            <a:r>
              <a:rPr lang="en-US" dirty="0"/>
              <a:t> (duplicate ACK for old data)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Timeout</a:t>
            </a:r>
            <a:r>
              <a:rPr lang="en-US" dirty="0"/>
              <a:t> 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69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Event: ACK (new data)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If CWND &lt; ssthresh</a:t>
            </a:r>
          </a:p>
          <a:p>
            <a:pPr lvl="1"/>
            <a:r>
              <a:rPr lang="en-US"/>
              <a:t>CWND += 1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 dirty="0"/>
          </a:p>
        </p:txBody>
      </p:sp>
      <p:sp>
        <p:nvSpPr>
          <p:cNvPr id="4" name="Rounded Rectangular Callout 3"/>
          <p:cNvSpPr/>
          <p:nvPr/>
        </p:nvSpPr>
        <p:spPr bwMode="auto">
          <a:xfrm>
            <a:off x="5334000" y="1981200"/>
            <a:ext cx="3352800" cy="1371600"/>
          </a:xfrm>
          <a:prstGeom prst="wedgeRoundRectCallout">
            <a:avLst>
              <a:gd name="adj1" fmla="val -118358"/>
              <a:gd name="adj2" fmla="val -18268"/>
              <a:gd name="adj3" fmla="val 16667"/>
            </a:avLst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34000" y="2029361"/>
            <a:ext cx="273773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l">
              <a:buFont typeface="Arial"/>
              <a:buChar char="•"/>
            </a:pPr>
            <a:r>
              <a:rPr lang="en-US" b="0" i="1" dirty="0">
                <a:latin typeface="+mn-lt"/>
              </a:rPr>
              <a:t>CWND packets per RTT </a:t>
            </a:r>
          </a:p>
          <a:p>
            <a:pPr marL="285750" indent="-285750" algn="l">
              <a:buFont typeface="Arial"/>
              <a:buChar char="•"/>
            </a:pPr>
            <a:r>
              <a:rPr lang="en-US" b="0" i="1" dirty="0">
                <a:latin typeface="+mn-lt"/>
              </a:rPr>
              <a:t>Hence, after one RTT </a:t>
            </a:r>
            <a:br>
              <a:rPr lang="en-US" b="0" i="1" dirty="0">
                <a:latin typeface="+mn-lt"/>
              </a:rPr>
            </a:br>
            <a:r>
              <a:rPr lang="en-US" b="0" i="1" dirty="0">
                <a:latin typeface="+mn-lt"/>
              </a:rPr>
              <a:t>with no drops:</a:t>
            </a:r>
            <a:br>
              <a:rPr lang="en-US" b="0" i="1" dirty="0">
                <a:latin typeface="+mn-lt"/>
              </a:rPr>
            </a:br>
            <a:r>
              <a:rPr lang="en-US" b="0" i="1" dirty="0">
                <a:solidFill>
                  <a:srgbClr val="0000FF"/>
                </a:solidFill>
                <a:latin typeface="+mn-lt"/>
              </a:rPr>
              <a:t>    CWND = 2xCWND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616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Event: ACK (new data)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CWND &lt; </a:t>
            </a:r>
            <a:r>
              <a:rPr lang="en-US" dirty="0" err="1"/>
              <a:t>ssthresh</a:t>
            </a:r>
            <a:endParaRPr lang="en-US" dirty="0"/>
          </a:p>
          <a:p>
            <a:pPr lvl="1"/>
            <a:r>
              <a:rPr lang="en-US" dirty="0"/>
              <a:t>CWND += 1</a:t>
            </a:r>
          </a:p>
          <a:p>
            <a:pPr lvl="1"/>
            <a:endParaRPr lang="en-US" dirty="0"/>
          </a:p>
          <a:p>
            <a:r>
              <a:rPr lang="en-US" dirty="0"/>
              <a:t>Else </a:t>
            </a:r>
          </a:p>
          <a:p>
            <a:pPr lvl="1"/>
            <a:r>
              <a:rPr lang="en-US" dirty="0"/>
              <a:t>CWND = CWND + 1/CWND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Right Brace 5"/>
          <p:cNvSpPr/>
          <p:nvPr/>
        </p:nvSpPr>
        <p:spPr bwMode="auto">
          <a:xfrm>
            <a:off x="5506121" y="1752600"/>
            <a:ext cx="533400" cy="1066800"/>
          </a:xfrm>
          <a:prstGeom prst="rightBrace">
            <a:avLst/>
          </a:prstGeom>
          <a:noFill/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80135" y="2038290"/>
            <a:ext cx="27066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  <a:latin typeface="+mn-lt"/>
              </a:rPr>
              <a:t>Slow start </a:t>
            </a:r>
            <a:r>
              <a:rPr lang="en-US" sz="2400" i="1" dirty="0">
                <a:solidFill>
                  <a:schemeClr val="accent2"/>
                </a:solidFill>
                <a:latin typeface="+mn-lt"/>
              </a:rPr>
              <a:t>phase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3829721" y="4920880"/>
            <a:ext cx="3352800" cy="1371600"/>
            <a:chOff x="5105400" y="4267200"/>
            <a:chExt cx="3352800" cy="1371600"/>
          </a:xfrm>
        </p:grpSpPr>
        <p:sp>
          <p:nvSpPr>
            <p:cNvPr id="8" name="Rounded Rectangular Callout 7"/>
            <p:cNvSpPr/>
            <p:nvPr/>
          </p:nvSpPr>
          <p:spPr bwMode="auto">
            <a:xfrm>
              <a:off x="5105400" y="4267200"/>
              <a:ext cx="3352800" cy="1371600"/>
            </a:xfrm>
            <a:prstGeom prst="wedgeRoundRectCallout">
              <a:avLst>
                <a:gd name="adj1" fmla="val -61310"/>
                <a:gd name="adj2" fmla="val -117752"/>
                <a:gd name="adj3" fmla="val 16667"/>
              </a:avLst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105400" y="4315361"/>
              <a:ext cx="2737737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 algn="l">
                <a:buFont typeface="Arial"/>
                <a:buChar char="•"/>
              </a:pPr>
              <a:r>
                <a:rPr lang="en-US" b="0" i="1" dirty="0">
                  <a:latin typeface="+mn-lt"/>
                </a:rPr>
                <a:t>CWND packets per RTT </a:t>
              </a:r>
            </a:p>
            <a:p>
              <a:pPr marL="285750" indent="-285750" algn="l">
                <a:buFont typeface="Arial"/>
                <a:buChar char="•"/>
              </a:pPr>
              <a:r>
                <a:rPr lang="en-US" b="0" i="1" dirty="0">
                  <a:latin typeface="+mn-lt"/>
                </a:rPr>
                <a:t>Hence, after one RTT </a:t>
              </a:r>
              <a:br>
                <a:rPr lang="en-US" b="0" i="1" dirty="0">
                  <a:latin typeface="+mn-lt"/>
                </a:rPr>
              </a:br>
              <a:r>
                <a:rPr lang="en-US" b="0" i="1" dirty="0">
                  <a:latin typeface="+mn-lt"/>
                </a:rPr>
                <a:t>with no drops:</a:t>
              </a:r>
              <a:br>
                <a:rPr lang="en-US" b="0" i="1" dirty="0">
                  <a:latin typeface="+mn-lt"/>
                </a:rPr>
              </a:br>
              <a:r>
                <a:rPr lang="en-US" b="0" i="1" dirty="0">
                  <a:solidFill>
                    <a:srgbClr val="0000FF"/>
                  </a:solidFill>
                  <a:latin typeface="+mn-lt"/>
                </a:rPr>
                <a:t>    CWND = CWND + 1</a:t>
              </a:r>
            </a:p>
          </p:txBody>
        </p:sp>
      </p:grpSp>
      <p:sp>
        <p:nvSpPr>
          <p:cNvPr id="10" name="Right Brace 9"/>
          <p:cNvSpPr/>
          <p:nvPr/>
        </p:nvSpPr>
        <p:spPr bwMode="auto">
          <a:xfrm>
            <a:off x="5506121" y="3429000"/>
            <a:ext cx="533400" cy="1066800"/>
          </a:xfrm>
          <a:prstGeom prst="rightBrace">
            <a:avLst/>
          </a:prstGeom>
          <a:noFill/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096000" y="3524072"/>
            <a:ext cx="3048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i="1" dirty="0">
                <a:solidFill>
                  <a:srgbClr val="0000FF"/>
                </a:solidFill>
                <a:latin typeface="+mn-lt"/>
              </a:rPr>
              <a:t>Congestion </a:t>
            </a:r>
            <a:br>
              <a:rPr lang="en-US" sz="2400" i="1" dirty="0">
                <a:solidFill>
                  <a:srgbClr val="0000FF"/>
                </a:solidFill>
                <a:latin typeface="+mn-lt"/>
              </a:rPr>
            </a:br>
            <a:r>
              <a:rPr lang="en-US" sz="2400" i="1" dirty="0">
                <a:solidFill>
                  <a:srgbClr val="0000FF"/>
                </a:solidFill>
                <a:latin typeface="+mn-lt"/>
              </a:rPr>
              <a:t>avoidance</a:t>
            </a:r>
            <a:r>
              <a:rPr lang="en-US" sz="2400" i="1" dirty="0">
                <a:solidFill>
                  <a:schemeClr val="accent2"/>
                </a:solidFill>
                <a:latin typeface="+mn-lt"/>
              </a:rPr>
              <a:t> phase</a:t>
            </a:r>
          </a:p>
        </p:txBody>
      </p:sp>
      <p:sp>
        <p:nvSpPr>
          <p:cNvPr id="15" name="Date Placeholder 1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410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Event: TimeOut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Timeout </a:t>
            </a:r>
          </a:p>
          <a:p>
            <a:pPr lvl="1"/>
            <a:r>
              <a:rPr lang="en-US" dirty="0" err="1"/>
              <a:t>ssthresh</a:t>
            </a:r>
            <a:r>
              <a:rPr lang="en-US" dirty="0"/>
              <a:t> </a:t>
            </a:r>
            <a:r>
              <a:rPr lang="en-US" dirty="0">
                <a:sym typeface="Wingdings"/>
              </a:rPr>
              <a:t></a:t>
            </a:r>
            <a:r>
              <a:rPr lang="en-US" dirty="0"/>
              <a:t> CWND/2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CWND </a:t>
            </a:r>
            <a:r>
              <a:rPr lang="en-US" dirty="0">
                <a:solidFill>
                  <a:srgbClr val="0000FF"/>
                </a:solidFill>
                <a:sym typeface="Wingdings"/>
              </a:rPr>
              <a:t></a:t>
            </a:r>
            <a:r>
              <a:rPr lang="en-US" dirty="0">
                <a:solidFill>
                  <a:srgbClr val="0000FF"/>
                </a:solidFill>
              </a:rPr>
              <a:t> 1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16010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Event: dupACK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dupACKcount</a:t>
            </a:r>
            <a:r>
              <a:rPr lang="en-US" dirty="0"/>
              <a:t> ++ </a:t>
            </a:r>
          </a:p>
          <a:p>
            <a:r>
              <a:rPr lang="en-US" dirty="0"/>
              <a:t>If </a:t>
            </a:r>
            <a:r>
              <a:rPr lang="en-US" dirty="0" err="1"/>
              <a:t>dupACKcount</a:t>
            </a:r>
            <a:r>
              <a:rPr lang="en-US" dirty="0"/>
              <a:t> = 3 </a:t>
            </a:r>
            <a:r>
              <a:rPr lang="en-US" dirty="0">
                <a:solidFill>
                  <a:srgbClr val="0000FF"/>
                </a:solidFill>
              </a:rPr>
              <a:t>/* fast retransmit  */ </a:t>
            </a:r>
          </a:p>
          <a:p>
            <a:pPr lvl="1"/>
            <a:r>
              <a:rPr lang="en-US" dirty="0" err="1"/>
              <a:t>ssthresh</a:t>
            </a:r>
            <a:r>
              <a:rPr lang="en-US" dirty="0"/>
              <a:t> = CWND/2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CWND = CWND/2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378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  <a:endParaRPr lang="en-US" dirty="0"/>
          </a:p>
        </p:txBody>
      </p:sp>
      <p:sp>
        <p:nvSpPr>
          <p:cNvPr id="103427" name="Freeform 3"/>
          <p:cNvSpPr>
            <a:spLocks/>
          </p:cNvSpPr>
          <p:nvPr/>
        </p:nvSpPr>
        <p:spPr bwMode="auto">
          <a:xfrm>
            <a:off x="914400" y="2035175"/>
            <a:ext cx="7010400" cy="2819400"/>
          </a:xfrm>
          <a:custGeom>
            <a:avLst/>
            <a:gdLst>
              <a:gd name="T0" fmla="*/ 0 w 4416"/>
              <a:gd name="T1" fmla="*/ 0 h 1968"/>
              <a:gd name="T2" fmla="*/ 0 w 4416"/>
              <a:gd name="T3" fmla="*/ 2147483647 h 1968"/>
              <a:gd name="T4" fmla="*/ 2147483647 w 4416"/>
              <a:gd name="T5" fmla="*/ 2147483647 h 1968"/>
              <a:gd name="T6" fmla="*/ 0 60000 65536"/>
              <a:gd name="T7" fmla="*/ 0 60000 65536"/>
              <a:gd name="T8" fmla="*/ 0 60000 65536"/>
              <a:gd name="T9" fmla="*/ 0 w 4416"/>
              <a:gd name="T10" fmla="*/ 0 h 1968"/>
              <a:gd name="T11" fmla="*/ 4416 w 4416"/>
              <a:gd name="T12" fmla="*/ 1968 h 196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416" h="1968">
                <a:moveTo>
                  <a:pt x="0" y="0"/>
                </a:moveTo>
                <a:lnTo>
                  <a:pt x="0" y="1968"/>
                </a:lnTo>
                <a:lnTo>
                  <a:pt x="4416" y="1968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3428" name="Freeform 4"/>
          <p:cNvSpPr>
            <a:spLocks/>
          </p:cNvSpPr>
          <p:nvPr/>
        </p:nvSpPr>
        <p:spPr bwMode="auto">
          <a:xfrm>
            <a:off x="914400" y="3406775"/>
            <a:ext cx="1828800" cy="1371600"/>
          </a:xfrm>
          <a:custGeom>
            <a:avLst/>
            <a:gdLst>
              <a:gd name="T0" fmla="*/ 2147483647 w 1152"/>
              <a:gd name="T1" fmla="*/ 0 h 864"/>
              <a:gd name="T2" fmla="*/ 2147483647 w 1152"/>
              <a:gd name="T3" fmla="*/ 2147483647 h 864"/>
              <a:gd name="T4" fmla="*/ 2147483647 w 1152"/>
              <a:gd name="T5" fmla="*/ 2147483647 h 864"/>
              <a:gd name="T6" fmla="*/ 2147483647 w 1152"/>
              <a:gd name="T7" fmla="*/ 2147483647 h 864"/>
              <a:gd name="T8" fmla="*/ 0 w 1152"/>
              <a:gd name="T9" fmla="*/ 2147483647 h 86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52"/>
              <a:gd name="T16" fmla="*/ 0 h 864"/>
              <a:gd name="T17" fmla="*/ 1152 w 1152"/>
              <a:gd name="T18" fmla="*/ 864 h 86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52" h="864">
                <a:moveTo>
                  <a:pt x="1152" y="0"/>
                </a:moveTo>
                <a:cubicBezTo>
                  <a:pt x="1132" y="116"/>
                  <a:pt x="1112" y="232"/>
                  <a:pt x="1056" y="336"/>
                </a:cubicBezTo>
                <a:cubicBezTo>
                  <a:pt x="1000" y="440"/>
                  <a:pt x="928" y="544"/>
                  <a:pt x="816" y="624"/>
                </a:cubicBezTo>
                <a:cubicBezTo>
                  <a:pt x="704" y="704"/>
                  <a:pt x="520" y="776"/>
                  <a:pt x="384" y="816"/>
                </a:cubicBezTo>
                <a:cubicBezTo>
                  <a:pt x="248" y="856"/>
                  <a:pt x="124" y="860"/>
                  <a:pt x="0" y="864"/>
                </a:cubicBezTo>
              </a:path>
            </a:pathLst>
          </a:custGeom>
          <a:noFill/>
          <a:ln w="28575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3429" name="Text Box 5"/>
          <p:cNvSpPr txBox="1">
            <a:spLocks noChangeArrowheads="1"/>
          </p:cNvSpPr>
          <p:nvPr/>
        </p:nvSpPr>
        <p:spPr bwMode="auto">
          <a:xfrm>
            <a:off x="7504113" y="4876800"/>
            <a:ext cx="268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2400" b="0" i="1">
                <a:latin typeface="Times New Roman" charset="0"/>
              </a:rPr>
              <a:t>t</a:t>
            </a:r>
          </a:p>
        </p:txBody>
      </p:sp>
      <p:sp>
        <p:nvSpPr>
          <p:cNvPr id="103430" name="Text Box 6"/>
          <p:cNvSpPr txBox="1">
            <a:spLocks noChangeArrowheads="1"/>
          </p:cNvSpPr>
          <p:nvPr/>
        </p:nvSpPr>
        <p:spPr bwMode="auto">
          <a:xfrm>
            <a:off x="341313" y="1501775"/>
            <a:ext cx="11826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2400" b="0" i="1">
                <a:latin typeface="Times New Roman" charset="0"/>
              </a:rPr>
              <a:t>Window</a:t>
            </a:r>
          </a:p>
        </p:txBody>
      </p:sp>
      <p:sp>
        <p:nvSpPr>
          <p:cNvPr id="986119" name="Text Box 7"/>
          <p:cNvSpPr txBox="1">
            <a:spLocks noChangeArrowheads="1"/>
          </p:cNvSpPr>
          <p:nvPr/>
        </p:nvSpPr>
        <p:spPr bwMode="auto">
          <a:xfrm>
            <a:off x="655638" y="5528203"/>
            <a:ext cx="783272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400" b="0" dirty="0">
                <a:latin typeface="Arial" charset="0"/>
              </a:rPr>
              <a:t>Slow-start restart: Go back to CWND = 1 MSS, but take advantage of knowing the previous value of CWND</a:t>
            </a:r>
          </a:p>
        </p:txBody>
      </p:sp>
      <p:sp>
        <p:nvSpPr>
          <p:cNvPr id="103432" name="Freeform 8"/>
          <p:cNvSpPr>
            <a:spLocks/>
          </p:cNvSpPr>
          <p:nvPr/>
        </p:nvSpPr>
        <p:spPr bwMode="auto">
          <a:xfrm>
            <a:off x="2743200" y="2873375"/>
            <a:ext cx="2667000" cy="1524000"/>
          </a:xfrm>
          <a:custGeom>
            <a:avLst/>
            <a:gdLst>
              <a:gd name="T0" fmla="*/ 0 w 1680"/>
              <a:gd name="T1" fmla="*/ 2147483647 h 960"/>
              <a:gd name="T2" fmla="*/ 0 w 1680"/>
              <a:gd name="T3" fmla="*/ 2147483647 h 960"/>
              <a:gd name="T4" fmla="*/ 2147483647 w 1680"/>
              <a:gd name="T5" fmla="*/ 2147483647 h 960"/>
              <a:gd name="T6" fmla="*/ 2147483647 w 1680"/>
              <a:gd name="T7" fmla="*/ 2147483647 h 960"/>
              <a:gd name="T8" fmla="*/ 2147483647 w 1680"/>
              <a:gd name="T9" fmla="*/ 0 h 96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680"/>
              <a:gd name="T16" fmla="*/ 0 h 960"/>
              <a:gd name="T17" fmla="*/ 1680 w 1680"/>
              <a:gd name="T18" fmla="*/ 960 h 96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680" h="960">
                <a:moveTo>
                  <a:pt x="0" y="336"/>
                </a:moveTo>
                <a:lnTo>
                  <a:pt x="0" y="816"/>
                </a:lnTo>
                <a:lnTo>
                  <a:pt x="384" y="528"/>
                </a:lnTo>
                <a:lnTo>
                  <a:pt x="384" y="960"/>
                </a:lnTo>
                <a:lnTo>
                  <a:pt x="1680" y="0"/>
                </a:lnTo>
              </a:path>
            </a:pathLst>
          </a:custGeom>
          <a:noFill/>
          <a:ln w="190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3433" name="Line 9"/>
          <p:cNvSpPr>
            <a:spLocks noChangeShapeType="1"/>
          </p:cNvSpPr>
          <p:nvPr/>
        </p:nvSpPr>
        <p:spPr bwMode="auto">
          <a:xfrm>
            <a:off x="5410200" y="2873375"/>
            <a:ext cx="0" cy="198120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1828800" y="3852864"/>
            <a:ext cx="4711700" cy="1709738"/>
            <a:chOff x="1152" y="2379"/>
            <a:chExt cx="2968" cy="1077"/>
          </a:xfrm>
        </p:grpSpPr>
        <p:sp>
          <p:nvSpPr>
            <p:cNvPr id="103450" name="Freeform 11"/>
            <p:cNvSpPr>
              <a:spLocks/>
            </p:cNvSpPr>
            <p:nvPr/>
          </p:nvSpPr>
          <p:spPr bwMode="auto">
            <a:xfrm>
              <a:off x="3544" y="2379"/>
              <a:ext cx="576" cy="624"/>
            </a:xfrm>
            <a:custGeom>
              <a:avLst/>
              <a:gdLst>
                <a:gd name="T0" fmla="*/ 36 w 1152"/>
                <a:gd name="T1" fmla="*/ 0 h 864"/>
                <a:gd name="T2" fmla="*/ 33 w 1152"/>
                <a:gd name="T3" fmla="*/ 66 h 864"/>
                <a:gd name="T4" fmla="*/ 26 w 1152"/>
                <a:gd name="T5" fmla="*/ 123 h 864"/>
                <a:gd name="T6" fmla="*/ 12 w 1152"/>
                <a:gd name="T7" fmla="*/ 160 h 864"/>
                <a:gd name="T8" fmla="*/ 0 w 1152"/>
                <a:gd name="T9" fmla="*/ 170 h 86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52"/>
                <a:gd name="T16" fmla="*/ 0 h 864"/>
                <a:gd name="T17" fmla="*/ 1152 w 1152"/>
                <a:gd name="T18" fmla="*/ 864 h 86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52" h="864">
                  <a:moveTo>
                    <a:pt x="1152" y="0"/>
                  </a:moveTo>
                  <a:cubicBezTo>
                    <a:pt x="1132" y="116"/>
                    <a:pt x="1112" y="232"/>
                    <a:pt x="1056" y="336"/>
                  </a:cubicBezTo>
                  <a:cubicBezTo>
                    <a:pt x="1000" y="440"/>
                    <a:pt x="928" y="544"/>
                    <a:pt x="816" y="624"/>
                  </a:cubicBezTo>
                  <a:cubicBezTo>
                    <a:pt x="704" y="704"/>
                    <a:pt x="520" y="776"/>
                    <a:pt x="384" y="816"/>
                  </a:cubicBezTo>
                  <a:cubicBezTo>
                    <a:pt x="248" y="856"/>
                    <a:pt x="124" y="860"/>
                    <a:pt x="0" y="864"/>
                  </a:cubicBezTo>
                </a:path>
              </a:pathLst>
            </a:custGeom>
            <a:noFill/>
            <a:ln w="28575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103451" name="AutoShape 12"/>
            <p:cNvSpPr>
              <a:spLocks noChangeArrowheads="1"/>
            </p:cNvSpPr>
            <p:nvPr/>
          </p:nvSpPr>
          <p:spPr bwMode="auto">
            <a:xfrm>
              <a:off x="1152" y="2880"/>
              <a:ext cx="1824" cy="576"/>
            </a:xfrm>
            <a:prstGeom prst="wedgeRectCallout">
              <a:avLst>
                <a:gd name="adj1" fmla="val 106361"/>
                <a:gd name="adj2" fmla="val -71009"/>
              </a:avLst>
            </a:prstGeom>
            <a:solidFill>
              <a:srgbClr val="D3A6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/>
            <a:lstStyle/>
            <a:p>
              <a:pPr algn="ctr" eaLnBrk="0" hangingPunct="0"/>
              <a:r>
                <a:rPr lang="en-US" sz="1600" b="0" dirty="0">
                  <a:ea typeface="Arial" charset="0"/>
                  <a:cs typeface="Arial" charset="0"/>
                </a:rPr>
                <a:t>Slow start in operation until it reaches half of previous CWND, i.e., </a:t>
              </a:r>
              <a:r>
                <a:rPr lang="en-US" sz="1600" b="0" i="1" dirty="0">
                  <a:ea typeface="Arial" charset="0"/>
                  <a:cs typeface="Arial" charset="0"/>
                </a:rPr>
                <a:t>SSTHRESH</a:t>
              </a:r>
              <a:endParaRPr lang="en-US" sz="1600" b="0" dirty="0">
                <a:ea typeface="Arial" charset="0"/>
                <a:cs typeface="Arial" charset="0"/>
              </a:endParaRPr>
            </a:p>
          </p:txBody>
        </p:sp>
      </p:grpSp>
      <p:grpSp>
        <p:nvGrpSpPr>
          <p:cNvPr id="3" name="Group 13"/>
          <p:cNvGrpSpPr>
            <a:grpSpLocks/>
          </p:cNvGrpSpPr>
          <p:nvPr/>
        </p:nvGrpSpPr>
        <p:grpSpPr bwMode="auto">
          <a:xfrm>
            <a:off x="4724400" y="3171748"/>
            <a:ext cx="4114800" cy="1452562"/>
            <a:chOff x="2976" y="1965"/>
            <a:chExt cx="2592" cy="915"/>
          </a:xfrm>
        </p:grpSpPr>
        <p:sp>
          <p:nvSpPr>
            <p:cNvPr id="103447" name="Freeform 14"/>
            <p:cNvSpPr>
              <a:spLocks/>
            </p:cNvSpPr>
            <p:nvPr/>
          </p:nvSpPr>
          <p:spPr bwMode="auto">
            <a:xfrm>
              <a:off x="4560" y="1965"/>
              <a:ext cx="1008" cy="624"/>
            </a:xfrm>
            <a:custGeom>
              <a:avLst/>
              <a:gdLst>
                <a:gd name="T0" fmla="*/ 0 w 1008"/>
                <a:gd name="T1" fmla="*/ 0 h 624"/>
                <a:gd name="T2" fmla="*/ 0 w 1008"/>
                <a:gd name="T3" fmla="*/ 624 h 624"/>
                <a:gd name="T4" fmla="*/ 720 w 1008"/>
                <a:gd name="T5" fmla="*/ 48 h 624"/>
                <a:gd name="T6" fmla="*/ 720 w 1008"/>
                <a:gd name="T7" fmla="*/ 576 h 624"/>
                <a:gd name="T8" fmla="*/ 1008 w 1008"/>
                <a:gd name="T9" fmla="*/ 336 h 6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008"/>
                <a:gd name="T16" fmla="*/ 0 h 624"/>
                <a:gd name="T17" fmla="*/ 1008 w 1008"/>
                <a:gd name="T18" fmla="*/ 624 h 62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008" h="624">
                  <a:moveTo>
                    <a:pt x="0" y="0"/>
                  </a:moveTo>
                  <a:lnTo>
                    <a:pt x="0" y="624"/>
                  </a:lnTo>
                  <a:lnTo>
                    <a:pt x="720" y="48"/>
                  </a:lnTo>
                  <a:lnTo>
                    <a:pt x="720" y="576"/>
                  </a:lnTo>
                  <a:lnTo>
                    <a:pt x="1008" y="336"/>
                  </a:ln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48" name="Line 15"/>
            <p:cNvSpPr>
              <a:spLocks noChangeShapeType="1"/>
            </p:cNvSpPr>
            <p:nvPr/>
          </p:nvSpPr>
          <p:spPr bwMode="auto">
            <a:xfrm flipV="1">
              <a:off x="4128" y="1968"/>
              <a:ext cx="432" cy="432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49" name="Line 16"/>
            <p:cNvSpPr>
              <a:spLocks noChangeShapeType="1"/>
            </p:cNvSpPr>
            <p:nvPr/>
          </p:nvSpPr>
          <p:spPr bwMode="auto">
            <a:xfrm flipV="1">
              <a:off x="2976" y="2352"/>
              <a:ext cx="1136" cy="528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" name="Group 17"/>
          <p:cNvGrpSpPr>
            <a:grpSpLocks/>
          </p:cNvGrpSpPr>
          <p:nvPr/>
        </p:nvGrpSpPr>
        <p:grpSpPr bwMode="auto">
          <a:xfrm>
            <a:off x="5105400" y="1816100"/>
            <a:ext cx="1411288" cy="1079500"/>
            <a:chOff x="3216" y="1144"/>
            <a:chExt cx="889" cy="680"/>
          </a:xfrm>
        </p:grpSpPr>
        <p:sp>
          <p:nvSpPr>
            <p:cNvPr id="103444" name="Line 18"/>
            <p:cNvSpPr>
              <a:spLocks noChangeShapeType="1"/>
            </p:cNvSpPr>
            <p:nvPr/>
          </p:nvSpPr>
          <p:spPr bwMode="auto">
            <a:xfrm flipH="1">
              <a:off x="3485" y="1344"/>
              <a:ext cx="163" cy="461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3445" name="Text Box 19"/>
            <p:cNvSpPr txBox="1">
              <a:spLocks noChangeArrowheads="1"/>
            </p:cNvSpPr>
            <p:nvPr/>
          </p:nvSpPr>
          <p:spPr bwMode="auto">
            <a:xfrm>
              <a:off x="3216" y="1144"/>
              <a:ext cx="88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>
                  <a:latin typeface="Arial" charset="0"/>
                </a:rPr>
                <a:t>Timeout</a:t>
              </a:r>
            </a:p>
          </p:txBody>
        </p:sp>
        <p:sp>
          <p:nvSpPr>
            <p:cNvPr id="103446" name="Line 20"/>
            <p:cNvSpPr>
              <a:spLocks noChangeShapeType="1"/>
            </p:cNvSpPr>
            <p:nvPr/>
          </p:nvSpPr>
          <p:spPr bwMode="auto">
            <a:xfrm>
              <a:off x="3408" y="1824"/>
              <a:ext cx="14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1981200" y="1981200"/>
            <a:ext cx="2362200" cy="2425700"/>
            <a:chOff x="1248" y="1248"/>
            <a:chExt cx="1488" cy="1528"/>
          </a:xfrm>
        </p:grpSpPr>
        <p:sp>
          <p:nvSpPr>
            <p:cNvPr id="103441" name="Text Box 22"/>
            <p:cNvSpPr txBox="1">
              <a:spLocks noChangeArrowheads="1"/>
            </p:cNvSpPr>
            <p:nvPr/>
          </p:nvSpPr>
          <p:spPr bwMode="auto">
            <a:xfrm>
              <a:off x="1248" y="1248"/>
              <a:ext cx="1488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>
                  <a:latin typeface="Arial" charset="0"/>
                </a:rPr>
                <a:t>Fast Retransmission</a:t>
              </a:r>
            </a:p>
          </p:txBody>
        </p:sp>
        <p:cxnSp>
          <p:nvCxnSpPr>
            <p:cNvPr id="103442" name="AutoShape 23"/>
            <p:cNvCxnSpPr>
              <a:cxnSpLocks noChangeShapeType="1"/>
              <a:stCxn id="103441" idx="2"/>
              <a:endCxn id="103432" idx="1"/>
            </p:cNvCxnSpPr>
            <p:nvPr/>
          </p:nvCxnSpPr>
          <p:spPr bwMode="auto">
            <a:xfrm flipH="1">
              <a:off x="1722" y="1690"/>
              <a:ext cx="270" cy="936"/>
            </a:xfrm>
            <a:prstGeom prst="straightConnector1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cxnSp>
          <p:nvCxnSpPr>
            <p:cNvPr id="103443" name="AutoShape 24"/>
            <p:cNvCxnSpPr>
              <a:cxnSpLocks noChangeShapeType="1"/>
              <a:stCxn id="103441" idx="2"/>
              <a:endCxn id="103432" idx="3"/>
            </p:cNvCxnSpPr>
            <p:nvPr/>
          </p:nvCxnSpPr>
          <p:spPr bwMode="auto">
            <a:xfrm>
              <a:off x="1992" y="1690"/>
              <a:ext cx="120" cy="1086"/>
            </a:xfrm>
            <a:prstGeom prst="straightConnector1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  <p:grpSp>
        <p:nvGrpSpPr>
          <p:cNvPr id="6" name="Group 25"/>
          <p:cNvGrpSpPr>
            <a:grpSpLocks/>
          </p:cNvGrpSpPr>
          <p:nvPr/>
        </p:nvGrpSpPr>
        <p:grpSpPr bwMode="auto">
          <a:xfrm>
            <a:off x="5410200" y="1905000"/>
            <a:ext cx="2895600" cy="1981200"/>
            <a:chOff x="3408" y="1200"/>
            <a:chExt cx="1824" cy="1248"/>
          </a:xfrm>
        </p:grpSpPr>
        <p:sp>
          <p:nvSpPr>
            <p:cNvPr id="103439" name="Line 26"/>
            <p:cNvSpPr>
              <a:spLocks noChangeShapeType="1"/>
            </p:cNvSpPr>
            <p:nvPr/>
          </p:nvSpPr>
          <p:spPr bwMode="auto">
            <a:xfrm flipH="1">
              <a:off x="3408" y="1632"/>
              <a:ext cx="1152" cy="816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3440" name="Text Box 27"/>
            <p:cNvSpPr txBox="1">
              <a:spLocks noChangeArrowheads="1"/>
            </p:cNvSpPr>
            <p:nvPr/>
          </p:nvSpPr>
          <p:spPr bwMode="auto">
            <a:xfrm>
              <a:off x="4080" y="1200"/>
              <a:ext cx="1152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>
                  <a:latin typeface="Arial" charset="0"/>
                </a:rPr>
                <a:t>SSThresh</a:t>
              </a:r>
            </a:p>
            <a:p>
              <a:pPr algn="ctr" eaLnBrk="1" hangingPunct="1"/>
              <a:r>
                <a:rPr lang="en-US">
                  <a:latin typeface="Arial" charset="0"/>
                </a:rPr>
                <a:t>Set to Here</a:t>
              </a:r>
            </a:p>
          </p:txBody>
        </p:sp>
      </p:grp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653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6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6119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flavors </a:t>
            </a:r>
          </a:p>
        </p:txBody>
      </p:sp>
      <p:sp>
        <p:nvSpPr>
          <p:cNvPr id="1043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TCP-Tahoe</a:t>
            </a:r>
          </a:p>
          <a:p>
            <a:pPr lvl="1"/>
            <a:r>
              <a:rPr lang="en-US" dirty="0"/>
              <a:t>CWND =1 on 3 dupACKs</a:t>
            </a:r>
          </a:p>
          <a:p>
            <a:r>
              <a:rPr lang="en-US" dirty="0"/>
              <a:t>TCP-Reno</a:t>
            </a:r>
          </a:p>
          <a:p>
            <a:pPr lvl="1"/>
            <a:r>
              <a:rPr lang="en-US" dirty="0"/>
              <a:t>CWND =1 on timeout</a:t>
            </a:r>
          </a:p>
          <a:p>
            <a:pPr lvl="1"/>
            <a:r>
              <a:rPr lang="en-US" dirty="0"/>
              <a:t>CWND = CWND/2 on 3 dupACKs</a:t>
            </a:r>
          </a:p>
          <a:p>
            <a:r>
              <a:rPr lang="en-US" dirty="0">
                <a:solidFill>
                  <a:srgbClr val="0000FF"/>
                </a:solidFill>
              </a:rPr>
              <a:t>TCP-</a:t>
            </a:r>
            <a:r>
              <a:rPr lang="en-US" dirty="0" err="1">
                <a:solidFill>
                  <a:srgbClr val="0000FF"/>
                </a:solidFill>
              </a:rPr>
              <a:t>newReno</a:t>
            </a:r>
            <a:endParaRPr lang="en-US" dirty="0">
              <a:solidFill>
                <a:srgbClr val="0000FF"/>
              </a:solidFill>
            </a:endParaRPr>
          </a:p>
          <a:p>
            <a:pPr lvl="1"/>
            <a:r>
              <a:rPr lang="en-US" dirty="0"/>
              <a:t>TCP-Reno + improved fast recovery</a:t>
            </a:r>
          </a:p>
          <a:p>
            <a:r>
              <a:rPr lang="en-US" dirty="0"/>
              <a:t>TCP-SACK</a:t>
            </a:r>
          </a:p>
          <a:p>
            <a:pPr lvl="1"/>
            <a:r>
              <a:rPr lang="en-US" dirty="0"/>
              <a:t>Incorporates selective acknowledgements 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01890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/>
          <p:cNvSpPr/>
          <p:nvPr/>
        </p:nvSpPr>
        <p:spPr>
          <a:xfrm>
            <a:off x="2658283" y="2490686"/>
            <a:ext cx="1910025" cy="2303638"/>
          </a:xfrm>
          <a:custGeom>
            <a:avLst/>
            <a:gdLst>
              <a:gd name="connsiteX0" fmla="*/ 19691 w 1910025"/>
              <a:gd name="connsiteY0" fmla="*/ 1260110 h 2303638"/>
              <a:gd name="connsiteX1" fmla="*/ 0 w 1910025"/>
              <a:gd name="connsiteY1" fmla="*/ 2303638 h 2303638"/>
              <a:gd name="connsiteX2" fmla="*/ 1910025 w 1910025"/>
              <a:gd name="connsiteY2" fmla="*/ 2303638 h 2303638"/>
              <a:gd name="connsiteX3" fmla="*/ 1910025 w 1910025"/>
              <a:gd name="connsiteY3" fmla="*/ 0 h 2303638"/>
              <a:gd name="connsiteX4" fmla="*/ 19691 w 1910025"/>
              <a:gd name="connsiteY4" fmla="*/ 1260110 h 2303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0025" h="2303638">
                <a:moveTo>
                  <a:pt x="19691" y="1260110"/>
                </a:moveTo>
                <a:lnTo>
                  <a:pt x="0" y="2303638"/>
                </a:lnTo>
                <a:lnTo>
                  <a:pt x="1910025" y="2303638"/>
                </a:lnTo>
                <a:lnTo>
                  <a:pt x="1910025" y="0"/>
                </a:lnTo>
                <a:lnTo>
                  <a:pt x="19691" y="1260110"/>
                </a:lnTo>
                <a:close/>
              </a:path>
            </a:pathLst>
          </a:custGeom>
          <a:solidFill>
            <a:srgbClr val="D3A6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defRPr/>
            </a:pPr>
            <a:r>
              <a:rPr lang="en-US" sz="2800" dirty="0">
                <a:solidFill>
                  <a:srgbClr val="000090"/>
                </a:solidFill>
                <a:latin typeface="Arial" pitchFamily="-65" charset="0"/>
              </a:rPr>
              <a:t>A</a:t>
            </a:r>
          </a:p>
        </p:txBody>
      </p:sp>
      <p:sp>
        <p:nvSpPr>
          <p:cNvPr id="245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model for TCP throughput</a:t>
            </a:r>
          </a:p>
        </p:txBody>
      </p:sp>
      <p:sp>
        <p:nvSpPr>
          <p:cNvPr id="24582" name="Freeform 4"/>
          <p:cNvSpPr>
            <a:spLocks/>
          </p:cNvSpPr>
          <p:nvPr/>
        </p:nvSpPr>
        <p:spPr bwMode="auto">
          <a:xfrm>
            <a:off x="844550" y="1722438"/>
            <a:ext cx="7842250" cy="3078162"/>
          </a:xfrm>
          <a:custGeom>
            <a:avLst/>
            <a:gdLst>
              <a:gd name="T0" fmla="*/ 0 w 4416"/>
              <a:gd name="T1" fmla="*/ 0 h 1968"/>
              <a:gd name="T2" fmla="*/ 0 w 4416"/>
              <a:gd name="T3" fmla="*/ 2147483647 h 1968"/>
              <a:gd name="T4" fmla="*/ 2147483647 w 4416"/>
              <a:gd name="T5" fmla="*/ 2147483647 h 1968"/>
              <a:gd name="T6" fmla="*/ 0 60000 65536"/>
              <a:gd name="T7" fmla="*/ 0 60000 65536"/>
              <a:gd name="T8" fmla="*/ 0 60000 65536"/>
              <a:gd name="T9" fmla="*/ 0 w 4416"/>
              <a:gd name="T10" fmla="*/ 0 h 1968"/>
              <a:gd name="T11" fmla="*/ 4416 w 4416"/>
              <a:gd name="T12" fmla="*/ 1968 h 196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416" h="1968">
                <a:moveTo>
                  <a:pt x="0" y="0"/>
                </a:moveTo>
                <a:lnTo>
                  <a:pt x="0" y="1968"/>
                </a:lnTo>
                <a:lnTo>
                  <a:pt x="4416" y="1968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3" name="Line 12"/>
          <p:cNvSpPr>
            <a:spLocks noChangeShapeType="1"/>
          </p:cNvSpPr>
          <p:nvPr/>
        </p:nvSpPr>
        <p:spPr bwMode="auto">
          <a:xfrm>
            <a:off x="2663825" y="175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4" name="Text Box 15"/>
          <p:cNvSpPr txBox="1">
            <a:spLocks noChangeArrowheads="1"/>
          </p:cNvSpPr>
          <p:nvPr/>
        </p:nvSpPr>
        <p:spPr bwMode="auto">
          <a:xfrm>
            <a:off x="2286000" y="1371600"/>
            <a:ext cx="78328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dirty="0"/>
              <a:t>Loss</a:t>
            </a:r>
          </a:p>
        </p:txBody>
      </p:sp>
      <p:sp>
        <p:nvSpPr>
          <p:cNvPr id="24585" name="Freeform 15"/>
          <p:cNvSpPr>
            <a:spLocks/>
          </p:cNvSpPr>
          <p:nvPr/>
        </p:nvSpPr>
        <p:spPr bwMode="auto">
          <a:xfrm>
            <a:off x="844550" y="2484438"/>
            <a:ext cx="1828800" cy="2316162"/>
          </a:xfrm>
          <a:custGeom>
            <a:avLst/>
            <a:gdLst>
              <a:gd name="T0" fmla="*/ 2147483647 w 1152"/>
              <a:gd name="T1" fmla="*/ 0 h 864"/>
              <a:gd name="T2" fmla="*/ 2147483647 w 1152"/>
              <a:gd name="T3" fmla="*/ 2147483647 h 864"/>
              <a:gd name="T4" fmla="*/ 2147483647 w 1152"/>
              <a:gd name="T5" fmla="*/ 2147483647 h 864"/>
              <a:gd name="T6" fmla="*/ 2147483647 w 1152"/>
              <a:gd name="T7" fmla="*/ 2147483647 h 864"/>
              <a:gd name="T8" fmla="*/ 0 w 1152"/>
              <a:gd name="T9" fmla="*/ 2147483647 h 86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52"/>
              <a:gd name="T16" fmla="*/ 0 h 864"/>
              <a:gd name="T17" fmla="*/ 1152 w 1152"/>
              <a:gd name="T18" fmla="*/ 864 h 86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52" h="864">
                <a:moveTo>
                  <a:pt x="1152" y="0"/>
                </a:moveTo>
                <a:cubicBezTo>
                  <a:pt x="1132" y="116"/>
                  <a:pt x="1112" y="232"/>
                  <a:pt x="1056" y="336"/>
                </a:cubicBezTo>
                <a:cubicBezTo>
                  <a:pt x="1000" y="440"/>
                  <a:pt x="928" y="544"/>
                  <a:pt x="816" y="624"/>
                </a:cubicBezTo>
                <a:cubicBezTo>
                  <a:pt x="704" y="704"/>
                  <a:pt x="520" y="776"/>
                  <a:pt x="384" y="816"/>
                </a:cubicBezTo>
                <a:cubicBezTo>
                  <a:pt x="248" y="856"/>
                  <a:pt x="124" y="860"/>
                  <a:pt x="0" y="864"/>
                </a:cubicBezTo>
              </a:path>
            </a:pathLst>
          </a:cu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6" name="Text Box 18"/>
          <p:cNvSpPr txBox="1">
            <a:spLocks noChangeArrowheads="1"/>
          </p:cNvSpPr>
          <p:nvPr/>
        </p:nvSpPr>
        <p:spPr bwMode="auto">
          <a:xfrm>
            <a:off x="7796740" y="4724400"/>
            <a:ext cx="7265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i="1" dirty="0">
                <a:latin typeface="Times New Roman" charset="0"/>
              </a:rPr>
              <a:t>time</a:t>
            </a:r>
          </a:p>
        </p:txBody>
      </p:sp>
      <p:sp>
        <p:nvSpPr>
          <p:cNvPr id="24587" name="Text Box 19"/>
          <p:cNvSpPr txBox="1">
            <a:spLocks noChangeArrowheads="1"/>
          </p:cNvSpPr>
          <p:nvPr/>
        </p:nvSpPr>
        <p:spPr bwMode="auto">
          <a:xfrm>
            <a:off x="53975" y="1384300"/>
            <a:ext cx="8128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i="1">
                <a:latin typeface="Times New Roman" charset="0"/>
              </a:rPr>
              <a:t>cwnd</a:t>
            </a:r>
          </a:p>
        </p:txBody>
      </p:sp>
      <p:sp>
        <p:nvSpPr>
          <p:cNvPr id="24588" name="Freeform 34"/>
          <p:cNvSpPr>
            <a:spLocks noChangeArrowheads="1"/>
          </p:cNvSpPr>
          <p:nvPr/>
        </p:nvSpPr>
        <p:spPr bwMode="auto">
          <a:xfrm>
            <a:off x="2663825" y="2484438"/>
            <a:ext cx="1914525" cy="1270000"/>
          </a:xfrm>
          <a:custGeom>
            <a:avLst/>
            <a:gdLst>
              <a:gd name="T0" fmla="*/ 0 w 1914577"/>
              <a:gd name="T1" fmla="*/ 18960 h 1269957"/>
              <a:gd name="T2" fmla="*/ 18951 w 1914577"/>
              <a:gd name="T3" fmla="*/ 1270172 h 1269957"/>
              <a:gd name="T4" fmla="*/ 1914317 w 1914577"/>
              <a:gd name="T5" fmla="*/ 0 h 1269957"/>
              <a:gd name="T6" fmla="*/ 0 60000 65536"/>
              <a:gd name="T7" fmla="*/ 0 60000 65536"/>
              <a:gd name="T8" fmla="*/ 0 60000 65536"/>
              <a:gd name="T9" fmla="*/ 0 w 1914577"/>
              <a:gd name="T10" fmla="*/ 0 h 1269957"/>
              <a:gd name="T11" fmla="*/ 1914577 w 1914577"/>
              <a:gd name="T12" fmla="*/ 1269957 h 126995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914577" h="1269957">
                <a:moveTo>
                  <a:pt x="0" y="18955"/>
                </a:moveTo>
                <a:lnTo>
                  <a:pt x="18956" y="1269957"/>
                </a:lnTo>
                <a:lnTo>
                  <a:pt x="1914577" y="0"/>
                </a:lnTo>
              </a:path>
            </a:pathLst>
          </a:cu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589" name="Freeform 35"/>
          <p:cNvSpPr>
            <a:spLocks noChangeArrowheads="1"/>
          </p:cNvSpPr>
          <p:nvPr/>
        </p:nvSpPr>
        <p:spPr bwMode="auto">
          <a:xfrm>
            <a:off x="4578350" y="2484438"/>
            <a:ext cx="1914525" cy="1270000"/>
          </a:xfrm>
          <a:custGeom>
            <a:avLst/>
            <a:gdLst>
              <a:gd name="T0" fmla="*/ 0 w 1914577"/>
              <a:gd name="T1" fmla="*/ 18960 h 1269957"/>
              <a:gd name="T2" fmla="*/ 18951 w 1914577"/>
              <a:gd name="T3" fmla="*/ 1270172 h 1269957"/>
              <a:gd name="T4" fmla="*/ 1914317 w 1914577"/>
              <a:gd name="T5" fmla="*/ 0 h 1269957"/>
              <a:gd name="T6" fmla="*/ 0 60000 65536"/>
              <a:gd name="T7" fmla="*/ 0 60000 65536"/>
              <a:gd name="T8" fmla="*/ 0 60000 65536"/>
              <a:gd name="T9" fmla="*/ 0 w 1914577"/>
              <a:gd name="T10" fmla="*/ 0 h 1269957"/>
              <a:gd name="T11" fmla="*/ 1914577 w 1914577"/>
              <a:gd name="T12" fmla="*/ 1269957 h 126995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914577" h="1269957">
                <a:moveTo>
                  <a:pt x="0" y="18955"/>
                </a:moveTo>
                <a:lnTo>
                  <a:pt x="18956" y="1269957"/>
                </a:lnTo>
                <a:lnTo>
                  <a:pt x="1914577" y="0"/>
                </a:lnTo>
              </a:path>
            </a:pathLst>
          </a:cu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590" name="Freeform 36"/>
          <p:cNvSpPr>
            <a:spLocks noChangeArrowheads="1"/>
          </p:cNvSpPr>
          <p:nvPr/>
        </p:nvSpPr>
        <p:spPr bwMode="auto">
          <a:xfrm>
            <a:off x="6492875" y="2484438"/>
            <a:ext cx="1914525" cy="1270000"/>
          </a:xfrm>
          <a:custGeom>
            <a:avLst/>
            <a:gdLst>
              <a:gd name="T0" fmla="*/ 0 w 1914577"/>
              <a:gd name="T1" fmla="*/ 18960 h 1269957"/>
              <a:gd name="T2" fmla="*/ 18951 w 1914577"/>
              <a:gd name="T3" fmla="*/ 1270172 h 1269957"/>
              <a:gd name="T4" fmla="*/ 1914317 w 1914577"/>
              <a:gd name="T5" fmla="*/ 0 h 1269957"/>
              <a:gd name="T6" fmla="*/ 0 60000 65536"/>
              <a:gd name="T7" fmla="*/ 0 60000 65536"/>
              <a:gd name="T8" fmla="*/ 0 60000 65536"/>
              <a:gd name="T9" fmla="*/ 0 w 1914577"/>
              <a:gd name="T10" fmla="*/ 0 h 1269957"/>
              <a:gd name="T11" fmla="*/ 1914577 w 1914577"/>
              <a:gd name="T12" fmla="*/ 1269957 h 126995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914577" h="1269957">
                <a:moveTo>
                  <a:pt x="0" y="18955"/>
                </a:moveTo>
                <a:lnTo>
                  <a:pt x="18956" y="1269957"/>
                </a:lnTo>
                <a:lnTo>
                  <a:pt x="1914577" y="0"/>
                </a:lnTo>
              </a:path>
            </a:pathLst>
          </a:cu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591" name="Line 12"/>
          <p:cNvSpPr>
            <a:spLocks noChangeShapeType="1"/>
          </p:cNvSpPr>
          <p:nvPr/>
        </p:nvSpPr>
        <p:spPr bwMode="auto">
          <a:xfrm>
            <a:off x="4572000" y="175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2" name="Line 12"/>
          <p:cNvSpPr>
            <a:spLocks noChangeShapeType="1"/>
          </p:cNvSpPr>
          <p:nvPr/>
        </p:nvSpPr>
        <p:spPr bwMode="auto">
          <a:xfrm>
            <a:off x="6480175" y="175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3" name="Line 12"/>
          <p:cNvSpPr>
            <a:spLocks noChangeShapeType="1"/>
          </p:cNvSpPr>
          <p:nvPr/>
        </p:nvSpPr>
        <p:spPr bwMode="auto">
          <a:xfrm>
            <a:off x="8389938" y="175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cxnSp>
        <p:nvCxnSpPr>
          <p:cNvPr id="24594" name="Straight Connector 41"/>
          <p:cNvCxnSpPr>
            <a:cxnSpLocks noChangeShapeType="1"/>
            <a:endCxn id="24590" idx="2"/>
          </p:cNvCxnSpPr>
          <p:nvPr/>
        </p:nvCxnSpPr>
        <p:spPr bwMode="auto">
          <a:xfrm>
            <a:off x="863600" y="2484438"/>
            <a:ext cx="75438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4595" name="Straight Connector 42"/>
          <p:cNvCxnSpPr>
            <a:cxnSpLocks noChangeShapeType="1"/>
          </p:cNvCxnSpPr>
          <p:nvPr/>
        </p:nvCxnSpPr>
        <p:spPr bwMode="auto">
          <a:xfrm>
            <a:off x="866775" y="3733800"/>
            <a:ext cx="7523163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4596" name="Straight Connector 46"/>
          <p:cNvCxnSpPr>
            <a:cxnSpLocks noChangeShapeType="1"/>
            <a:stCxn id="24588" idx="1"/>
          </p:cNvCxnSpPr>
          <p:nvPr/>
        </p:nvCxnSpPr>
        <p:spPr bwMode="auto">
          <a:xfrm flipH="1">
            <a:off x="2663825" y="3754438"/>
            <a:ext cx="19050" cy="1046162"/>
          </a:xfrm>
          <a:prstGeom prst="line">
            <a:avLst/>
          </a:prstGeom>
          <a:noFill/>
          <a:ln w="9525">
            <a:solidFill>
              <a:schemeClr val="tx1"/>
            </a:solidFill>
            <a:prstDash val="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4597" name="Straight Connector 49"/>
          <p:cNvCxnSpPr>
            <a:cxnSpLocks noChangeShapeType="1"/>
          </p:cNvCxnSpPr>
          <p:nvPr/>
        </p:nvCxnSpPr>
        <p:spPr bwMode="auto">
          <a:xfrm flipH="1">
            <a:off x="4572000" y="3775075"/>
            <a:ext cx="19050" cy="1046163"/>
          </a:xfrm>
          <a:prstGeom prst="line">
            <a:avLst/>
          </a:prstGeom>
          <a:noFill/>
          <a:ln w="9525">
            <a:solidFill>
              <a:schemeClr val="tx1"/>
            </a:solidFill>
            <a:prstDash val="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7" name="Group 6"/>
          <p:cNvGrpSpPr>
            <a:grpSpLocks/>
          </p:cNvGrpSpPr>
          <p:nvPr/>
        </p:nvGrpSpPr>
        <p:grpSpPr bwMode="auto">
          <a:xfrm>
            <a:off x="5257800" y="2800350"/>
            <a:ext cx="3276600" cy="3295650"/>
            <a:chOff x="4800600" y="3028950"/>
            <a:chExt cx="3276600" cy="3295650"/>
          </a:xfrm>
        </p:grpSpPr>
        <p:sp>
          <p:nvSpPr>
            <p:cNvPr id="24602" name="Oval 52"/>
            <p:cNvSpPr>
              <a:spLocks noChangeArrowheads="1"/>
            </p:cNvSpPr>
            <p:nvPr/>
          </p:nvSpPr>
          <p:spPr bwMode="auto">
            <a:xfrm>
              <a:off x="4800600" y="3028950"/>
              <a:ext cx="685800" cy="609600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cxnSp>
          <p:nvCxnSpPr>
            <p:cNvPr id="24603" name="Straight Connector 60"/>
            <p:cNvCxnSpPr>
              <a:cxnSpLocks noChangeShapeType="1"/>
              <a:stCxn id="24602" idx="5"/>
              <a:endCxn id="24605" idx="0"/>
            </p:cNvCxnSpPr>
            <p:nvPr/>
          </p:nvCxnSpPr>
          <p:spPr bwMode="auto">
            <a:xfrm rot="16200000" flipH="1">
              <a:off x="5839619" y="3096419"/>
              <a:ext cx="412750" cy="131921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24604" name="Group 5"/>
            <p:cNvGrpSpPr>
              <a:grpSpLocks/>
            </p:cNvGrpSpPr>
            <p:nvPr/>
          </p:nvGrpSpPr>
          <p:grpSpPr bwMode="auto">
            <a:xfrm>
              <a:off x="5334000" y="3962400"/>
              <a:ext cx="2743200" cy="2362200"/>
              <a:chOff x="5334000" y="3962400"/>
              <a:chExt cx="2743200" cy="2362200"/>
            </a:xfrm>
          </p:grpSpPr>
          <p:sp>
            <p:nvSpPr>
              <p:cNvPr id="24605" name="Oval 53"/>
              <p:cNvSpPr>
                <a:spLocks noChangeArrowheads="1"/>
              </p:cNvSpPr>
              <p:nvPr/>
            </p:nvSpPr>
            <p:spPr bwMode="auto">
              <a:xfrm>
                <a:off x="5334000" y="3962400"/>
                <a:ext cx="2743200" cy="2362200"/>
              </a:xfrm>
              <a:prstGeom prst="ellipse">
                <a:avLst/>
              </a:prstGeom>
              <a:solidFill>
                <a:srgbClr val="FFFFFF"/>
              </a:solidFill>
              <a:ln w="952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06" name="Freeform 55"/>
              <p:cNvSpPr>
                <a:spLocks noChangeArrowheads="1"/>
              </p:cNvSpPr>
              <p:nvPr/>
            </p:nvSpPr>
            <p:spPr bwMode="auto">
              <a:xfrm>
                <a:off x="5614988" y="5478463"/>
                <a:ext cx="542925" cy="338137"/>
              </a:xfrm>
              <a:custGeom>
                <a:avLst/>
                <a:gdLst>
                  <a:gd name="T0" fmla="*/ 0 w 542872"/>
                  <a:gd name="T1" fmla="*/ 333430 h 339324"/>
                  <a:gd name="T2" fmla="*/ 281266 w 542872"/>
                  <a:gd name="T3" fmla="*/ 333430 h 339324"/>
                  <a:gd name="T4" fmla="*/ 281266 w 542872"/>
                  <a:gd name="T5" fmla="*/ 152424 h 339324"/>
                  <a:gd name="T6" fmla="*/ 543137 w 542872"/>
                  <a:gd name="T7" fmla="*/ 152424 h 339324"/>
                  <a:gd name="T8" fmla="*/ 533438 w 542872"/>
                  <a:gd name="T9" fmla="*/ 0 h 33932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542872"/>
                  <a:gd name="T16" fmla="*/ 0 h 339324"/>
                  <a:gd name="T17" fmla="*/ 542872 w 542872"/>
                  <a:gd name="T18" fmla="*/ 339324 h 33932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542872" h="339324">
                    <a:moveTo>
                      <a:pt x="0" y="339324"/>
                    </a:moveTo>
                    <a:lnTo>
                      <a:pt x="281131" y="339324"/>
                    </a:lnTo>
                    <a:lnTo>
                      <a:pt x="281131" y="155119"/>
                    </a:lnTo>
                    <a:lnTo>
                      <a:pt x="542872" y="155119"/>
                    </a:lnTo>
                    <a:lnTo>
                      <a:pt x="533178" y="0"/>
                    </a:lnTo>
                  </a:path>
                </a:pathLst>
              </a:custGeom>
              <a:noFill/>
              <a:ln w="9525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07" name="Freeform 56"/>
              <p:cNvSpPr>
                <a:spLocks noChangeArrowheads="1"/>
              </p:cNvSpPr>
              <p:nvPr/>
            </p:nvSpPr>
            <p:spPr bwMode="auto">
              <a:xfrm>
                <a:off x="6153150" y="5138738"/>
                <a:ext cx="542925" cy="339725"/>
              </a:xfrm>
              <a:custGeom>
                <a:avLst/>
                <a:gdLst>
                  <a:gd name="T0" fmla="*/ 0 w 542872"/>
                  <a:gd name="T1" fmla="*/ 341333 h 339324"/>
                  <a:gd name="T2" fmla="*/ 281266 w 542872"/>
                  <a:gd name="T3" fmla="*/ 341333 h 339324"/>
                  <a:gd name="T4" fmla="*/ 281266 w 542872"/>
                  <a:gd name="T5" fmla="*/ 156038 h 339324"/>
                  <a:gd name="T6" fmla="*/ 543137 w 542872"/>
                  <a:gd name="T7" fmla="*/ 156038 h 339324"/>
                  <a:gd name="T8" fmla="*/ 533438 w 542872"/>
                  <a:gd name="T9" fmla="*/ 0 h 33932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542872"/>
                  <a:gd name="T16" fmla="*/ 0 h 339324"/>
                  <a:gd name="T17" fmla="*/ 542872 w 542872"/>
                  <a:gd name="T18" fmla="*/ 339324 h 33932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542872" h="339324">
                    <a:moveTo>
                      <a:pt x="0" y="339324"/>
                    </a:moveTo>
                    <a:lnTo>
                      <a:pt x="281131" y="339324"/>
                    </a:lnTo>
                    <a:lnTo>
                      <a:pt x="281131" y="155119"/>
                    </a:lnTo>
                    <a:lnTo>
                      <a:pt x="542872" y="155119"/>
                    </a:lnTo>
                    <a:lnTo>
                      <a:pt x="533178" y="0"/>
                    </a:lnTo>
                  </a:path>
                </a:pathLst>
              </a:custGeom>
              <a:noFill/>
              <a:ln w="9525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08" name="Freeform 57"/>
              <p:cNvSpPr>
                <a:spLocks noChangeArrowheads="1"/>
              </p:cNvSpPr>
              <p:nvPr/>
            </p:nvSpPr>
            <p:spPr bwMode="auto">
              <a:xfrm>
                <a:off x="6691313" y="4799013"/>
                <a:ext cx="542925" cy="339725"/>
              </a:xfrm>
              <a:custGeom>
                <a:avLst/>
                <a:gdLst>
                  <a:gd name="T0" fmla="*/ 0 w 542872"/>
                  <a:gd name="T1" fmla="*/ 341333 h 339324"/>
                  <a:gd name="T2" fmla="*/ 281266 w 542872"/>
                  <a:gd name="T3" fmla="*/ 341333 h 339324"/>
                  <a:gd name="T4" fmla="*/ 281266 w 542872"/>
                  <a:gd name="T5" fmla="*/ 156038 h 339324"/>
                  <a:gd name="T6" fmla="*/ 543137 w 542872"/>
                  <a:gd name="T7" fmla="*/ 156038 h 339324"/>
                  <a:gd name="T8" fmla="*/ 533438 w 542872"/>
                  <a:gd name="T9" fmla="*/ 0 h 33932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542872"/>
                  <a:gd name="T16" fmla="*/ 0 h 339324"/>
                  <a:gd name="T17" fmla="*/ 542872 w 542872"/>
                  <a:gd name="T18" fmla="*/ 339324 h 33932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542872" h="339324">
                    <a:moveTo>
                      <a:pt x="0" y="339324"/>
                    </a:moveTo>
                    <a:lnTo>
                      <a:pt x="281131" y="339324"/>
                    </a:lnTo>
                    <a:lnTo>
                      <a:pt x="281131" y="155119"/>
                    </a:lnTo>
                    <a:lnTo>
                      <a:pt x="542872" y="155119"/>
                    </a:lnTo>
                    <a:lnTo>
                      <a:pt x="533178" y="0"/>
                    </a:lnTo>
                  </a:path>
                </a:pathLst>
              </a:custGeom>
              <a:noFill/>
              <a:ln w="9525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09" name="Freeform 58"/>
              <p:cNvSpPr>
                <a:spLocks noChangeArrowheads="1"/>
              </p:cNvSpPr>
              <p:nvPr/>
            </p:nvSpPr>
            <p:spPr bwMode="auto">
              <a:xfrm>
                <a:off x="7229475" y="4459288"/>
                <a:ext cx="542925" cy="339725"/>
              </a:xfrm>
              <a:custGeom>
                <a:avLst/>
                <a:gdLst>
                  <a:gd name="T0" fmla="*/ 0 w 542872"/>
                  <a:gd name="T1" fmla="*/ 341333 h 339324"/>
                  <a:gd name="T2" fmla="*/ 281266 w 542872"/>
                  <a:gd name="T3" fmla="*/ 341333 h 339324"/>
                  <a:gd name="T4" fmla="*/ 281266 w 542872"/>
                  <a:gd name="T5" fmla="*/ 156038 h 339324"/>
                  <a:gd name="T6" fmla="*/ 543137 w 542872"/>
                  <a:gd name="T7" fmla="*/ 156038 h 339324"/>
                  <a:gd name="T8" fmla="*/ 533438 w 542872"/>
                  <a:gd name="T9" fmla="*/ 0 h 33932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542872"/>
                  <a:gd name="T16" fmla="*/ 0 h 339324"/>
                  <a:gd name="T17" fmla="*/ 542872 w 542872"/>
                  <a:gd name="T18" fmla="*/ 339324 h 33932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542872" h="339324">
                    <a:moveTo>
                      <a:pt x="0" y="339324"/>
                    </a:moveTo>
                    <a:lnTo>
                      <a:pt x="281131" y="339324"/>
                    </a:lnTo>
                    <a:lnTo>
                      <a:pt x="281131" y="155119"/>
                    </a:lnTo>
                    <a:lnTo>
                      <a:pt x="542872" y="155119"/>
                    </a:lnTo>
                    <a:lnTo>
                      <a:pt x="533178" y="0"/>
                    </a:lnTo>
                  </a:path>
                </a:pathLst>
              </a:custGeom>
              <a:noFill/>
              <a:ln w="9525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10" name="TextBox 65"/>
              <p:cNvSpPr txBox="1">
                <a:spLocks noChangeArrowheads="1"/>
              </p:cNvSpPr>
              <p:nvPr/>
            </p:nvSpPr>
            <p:spPr bwMode="auto">
              <a:xfrm>
                <a:off x="5826125" y="4821238"/>
                <a:ext cx="327025" cy="4000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eaLnBrk="1" hangingPunct="1"/>
                <a:r>
                  <a:rPr lang="en-US"/>
                  <a:t>1</a:t>
                </a:r>
              </a:p>
            </p:txBody>
          </p:sp>
          <p:sp>
            <p:nvSpPr>
              <p:cNvPr id="24611" name="TextBox 66"/>
              <p:cNvSpPr txBox="1">
                <a:spLocks noChangeArrowheads="1"/>
              </p:cNvSpPr>
              <p:nvPr/>
            </p:nvSpPr>
            <p:spPr bwMode="auto">
              <a:xfrm>
                <a:off x="6781800" y="5619750"/>
                <a:ext cx="708025" cy="4000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eaLnBrk="1" hangingPunct="1"/>
                <a:r>
                  <a:rPr lang="en-US" i="1">
                    <a:latin typeface="Times New Roman" charset="0"/>
                    <a:cs typeface="Times New Roman" charset="0"/>
                  </a:rPr>
                  <a:t>RTT</a:t>
                </a:r>
              </a:p>
            </p:txBody>
          </p:sp>
          <p:cxnSp>
            <p:nvCxnSpPr>
              <p:cNvPr id="24612" name="Straight Arrow Connector 68"/>
              <p:cNvCxnSpPr>
                <a:cxnSpLocks noChangeShapeType="1"/>
              </p:cNvCxnSpPr>
              <p:nvPr/>
            </p:nvCxnSpPr>
            <p:spPr bwMode="auto">
              <a:xfrm rot="10800000">
                <a:off x="7085013" y="4953000"/>
                <a:ext cx="1587" cy="663575"/>
              </a:xfrm>
              <a:prstGeom prst="straightConnector1">
                <a:avLst/>
              </a:prstGeom>
              <a:noFill/>
              <a:ln w="9525">
                <a:solidFill>
                  <a:schemeClr val="tx2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4613" name="Straight Arrow Connector 69"/>
              <p:cNvCxnSpPr>
                <a:cxnSpLocks noChangeShapeType="1"/>
              </p:cNvCxnSpPr>
              <p:nvPr/>
            </p:nvCxnSpPr>
            <p:spPr bwMode="auto">
              <a:xfrm>
                <a:off x="6153150" y="5027613"/>
                <a:ext cx="819150" cy="1587"/>
              </a:xfrm>
              <a:prstGeom prst="straightConnector1">
                <a:avLst/>
              </a:prstGeom>
              <a:noFill/>
              <a:ln w="9525">
                <a:solidFill>
                  <a:schemeClr val="tx2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</p:cxnSp>
        </p:grpSp>
      </p:grpSp>
      <p:graphicFrame>
        <p:nvGraphicFramePr>
          <p:cNvPr id="24599" name="Object 2"/>
          <p:cNvGraphicFramePr>
            <a:graphicFrameLocks noChangeAspect="1"/>
          </p:cNvGraphicFramePr>
          <p:nvPr/>
        </p:nvGraphicFramePr>
        <p:xfrm>
          <a:off x="217488" y="2311400"/>
          <a:ext cx="479425" cy="346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17362" imgH="228501" progId="Equation.3">
                  <p:embed/>
                </p:oleObj>
              </mc:Choice>
              <mc:Fallback>
                <p:oleObj name="Equation" r:id="rId2" imgW="317362" imgH="228501" progId="Equation.3">
                  <p:embed/>
                  <p:pic>
                    <p:nvPicPr>
                      <p:cNvPr id="24599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7488" y="2311400"/>
                        <a:ext cx="479425" cy="346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600" name="Object 3"/>
          <p:cNvGraphicFramePr>
            <a:graphicFrameLocks noChangeAspect="1"/>
          </p:cNvGraphicFramePr>
          <p:nvPr/>
        </p:nvGraphicFramePr>
        <p:xfrm>
          <a:off x="217488" y="3468688"/>
          <a:ext cx="479425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55292" imgH="393359" progId="Equation.3">
                  <p:embed/>
                </p:oleObj>
              </mc:Choice>
              <mc:Fallback>
                <p:oleObj name="Equation" r:id="rId4" imgW="355292" imgH="393359" progId="Equation.3">
                  <p:embed/>
                  <p:pic>
                    <p:nvPicPr>
                      <p:cNvPr id="2460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7488" y="3468688"/>
                        <a:ext cx="479425" cy="533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2" name="Group 11"/>
          <p:cNvGrpSpPr/>
          <p:nvPr/>
        </p:nvGrpSpPr>
        <p:grpSpPr>
          <a:xfrm>
            <a:off x="2667000" y="2133600"/>
            <a:ext cx="6172200" cy="2057400"/>
            <a:chOff x="2667000" y="2133600"/>
            <a:chExt cx="6172200" cy="2057400"/>
          </a:xfrm>
        </p:grpSpPr>
        <p:sp>
          <p:nvSpPr>
            <p:cNvPr id="2" name="Rounded Rectangular Callout 1"/>
            <p:cNvSpPr/>
            <p:nvPr/>
          </p:nvSpPr>
          <p:spPr bwMode="auto">
            <a:xfrm>
              <a:off x="5638800" y="2133600"/>
              <a:ext cx="3200400" cy="457200"/>
            </a:xfrm>
            <a:prstGeom prst="wedgeRoundRectCallout">
              <a:avLst>
                <a:gd name="adj1" fmla="val -97801"/>
                <a:gd name="adj2" fmla="val 403124"/>
                <a:gd name="adj3" fmla="val 16667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cxnSp>
          <p:nvCxnSpPr>
            <p:cNvPr id="5" name="Straight Arrow Connector 4"/>
            <p:cNvCxnSpPr/>
            <p:nvPr/>
          </p:nvCxnSpPr>
          <p:spPr bwMode="auto">
            <a:xfrm>
              <a:off x="2667000" y="4191000"/>
              <a:ext cx="1905000" cy="0"/>
            </a:xfrm>
            <a:prstGeom prst="straightConnector1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6" name="TextBox 5"/>
            <p:cNvSpPr txBox="1"/>
            <p:nvPr/>
          </p:nvSpPr>
          <p:spPr>
            <a:xfrm>
              <a:off x="5638800" y="2133600"/>
              <a:ext cx="32004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½ </a:t>
              </a:r>
              <a:r>
                <a:rPr lang="en-US" sz="1800" b="0" dirty="0" err="1">
                  <a:latin typeface="+mn-lt"/>
                </a:rPr>
                <a:t>W</a:t>
              </a:r>
              <a:r>
                <a:rPr lang="en-US" sz="1800" b="0" baseline="-25000" dirty="0" err="1">
                  <a:latin typeface="+mn-lt"/>
                </a:rPr>
                <a:t>max</a:t>
              </a:r>
              <a:r>
                <a:rPr lang="en-US" sz="1800" b="0" dirty="0">
                  <a:latin typeface="+mn-lt"/>
                </a:rPr>
                <a:t> RTTs between drops</a:t>
              </a:r>
            </a:p>
            <a:p>
              <a:r>
                <a:rPr lang="en-US" sz="1800" b="0" dirty="0">
                  <a:latin typeface="+mn-lt"/>
                </a:rPr>
                <a:t> 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152400" y="2743200"/>
            <a:ext cx="3505200" cy="2057400"/>
            <a:chOff x="152400" y="2743200"/>
            <a:chExt cx="3505200" cy="2057400"/>
          </a:xfrm>
        </p:grpSpPr>
        <p:sp>
          <p:nvSpPr>
            <p:cNvPr id="41" name="Rounded Rectangular Callout 40"/>
            <p:cNvSpPr/>
            <p:nvPr/>
          </p:nvSpPr>
          <p:spPr bwMode="auto">
            <a:xfrm>
              <a:off x="228600" y="2743200"/>
              <a:ext cx="3200400" cy="457200"/>
            </a:xfrm>
            <a:prstGeom prst="wedgeRoundRectCallout">
              <a:avLst>
                <a:gd name="adj1" fmla="val 55427"/>
                <a:gd name="adj2" fmla="val 214009"/>
                <a:gd name="adj3" fmla="val 16667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cxnSp>
          <p:nvCxnSpPr>
            <p:cNvPr id="42" name="Straight Arrow Connector 41"/>
            <p:cNvCxnSpPr/>
            <p:nvPr/>
          </p:nvCxnSpPr>
          <p:spPr bwMode="auto">
            <a:xfrm>
              <a:off x="3657600" y="3124200"/>
              <a:ext cx="0" cy="1676400"/>
            </a:xfrm>
            <a:prstGeom prst="straightConnector1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45" name="TextBox 44"/>
            <p:cNvSpPr txBox="1"/>
            <p:nvPr/>
          </p:nvSpPr>
          <p:spPr>
            <a:xfrm>
              <a:off x="152400" y="2743200"/>
              <a:ext cx="33404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Avg. ¾ </a:t>
              </a:r>
              <a:r>
                <a:rPr lang="en-US" sz="1800" b="0" dirty="0" err="1">
                  <a:latin typeface="+mn-lt"/>
                </a:rPr>
                <a:t>W</a:t>
              </a:r>
              <a:r>
                <a:rPr lang="en-US" sz="1800" b="0" baseline="-25000" dirty="0" err="1">
                  <a:latin typeface="+mn-lt"/>
                </a:rPr>
                <a:t>max</a:t>
              </a:r>
              <a:r>
                <a:rPr lang="en-US" sz="1800" b="0" dirty="0">
                  <a:latin typeface="+mn-lt"/>
                </a:rPr>
                <a:t> packets per RTTs</a:t>
              </a:r>
            </a:p>
          </p:txBody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802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7F792BE-4556-A84C-88DC-CC3CE7143D3B}"/>
              </a:ext>
            </a:extLst>
          </p:cNvPr>
          <p:cNvSpPr txBox="1"/>
          <p:nvPr/>
        </p:nvSpPr>
        <p:spPr>
          <a:xfrm>
            <a:off x="3200400" y="6290846"/>
            <a:ext cx="8451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</a:rPr>
              <a:t>in MSS</a:t>
            </a:r>
          </a:p>
        </p:txBody>
      </p:sp>
      <p:graphicFrame>
        <p:nvGraphicFramePr>
          <p:cNvPr id="35" name="Object 34"/>
          <p:cNvGraphicFramePr>
            <a:graphicFrameLocks noChangeAspect="1"/>
          </p:cNvGraphicFramePr>
          <p:nvPr/>
        </p:nvGraphicFramePr>
        <p:xfrm>
          <a:off x="3057525" y="4495800"/>
          <a:ext cx="4257675" cy="2366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17800" imgH="1511300" progId="Equation.3">
                  <p:embed/>
                </p:oleObj>
              </mc:Choice>
              <mc:Fallback>
                <p:oleObj name="Equation" r:id="rId2" imgW="2717800" imgH="1511300" progId="Equation.3">
                  <p:embed/>
                  <p:pic>
                    <p:nvPicPr>
                      <p:cNvPr id="35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7525" y="4495800"/>
                        <a:ext cx="4257675" cy="23669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Freeform 2"/>
          <p:cNvSpPr/>
          <p:nvPr/>
        </p:nvSpPr>
        <p:spPr>
          <a:xfrm>
            <a:off x="2658283" y="2490686"/>
            <a:ext cx="1910025" cy="2303638"/>
          </a:xfrm>
          <a:custGeom>
            <a:avLst/>
            <a:gdLst>
              <a:gd name="connsiteX0" fmla="*/ 19691 w 1910025"/>
              <a:gd name="connsiteY0" fmla="*/ 1260110 h 2303638"/>
              <a:gd name="connsiteX1" fmla="*/ 0 w 1910025"/>
              <a:gd name="connsiteY1" fmla="*/ 2303638 h 2303638"/>
              <a:gd name="connsiteX2" fmla="*/ 1910025 w 1910025"/>
              <a:gd name="connsiteY2" fmla="*/ 2303638 h 2303638"/>
              <a:gd name="connsiteX3" fmla="*/ 1910025 w 1910025"/>
              <a:gd name="connsiteY3" fmla="*/ 0 h 2303638"/>
              <a:gd name="connsiteX4" fmla="*/ 19691 w 1910025"/>
              <a:gd name="connsiteY4" fmla="*/ 1260110 h 2303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0025" h="2303638">
                <a:moveTo>
                  <a:pt x="19691" y="1260110"/>
                </a:moveTo>
                <a:lnTo>
                  <a:pt x="0" y="2303638"/>
                </a:lnTo>
                <a:lnTo>
                  <a:pt x="1910025" y="2303638"/>
                </a:lnTo>
                <a:lnTo>
                  <a:pt x="1910025" y="0"/>
                </a:lnTo>
                <a:lnTo>
                  <a:pt x="19691" y="1260110"/>
                </a:lnTo>
                <a:close/>
              </a:path>
            </a:pathLst>
          </a:custGeom>
          <a:solidFill>
            <a:srgbClr val="D3A6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defRPr/>
            </a:pPr>
            <a:r>
              <a:rPr lang="en-US" sz="2800" dirty="0">
                <a:solidFill>
                  <a:srgbClr val="000090"/>
                </a:solidFill>
                <a:latin typeface="Arial" pitchFamily="-65" charset="0"/>
              </a:rPr>
              <a:t>A</a:t>
            </a:r>
          </a:p>
        </p:txBody>
      </p:sp>
      <p:sp>
        <p:nvSpPr>
          <p:cNvPr id="245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model for TCP throughput</a:t>
            </a:r>
          </a:p>
        </p:txBody>
      </p:sp>
      <p:sp>
        <p:nvSpPr>
          <p:cNvPr id="24582" name="Freeform 4"/>
          <p:cNvSpPr>
            <a:spLocks/>
          </p:cNvSpPr>
          <p:nvPr/>
        </p:nvSpPr>
        <p:spPr bwMode="auto">
          <a:xfrm>
            <a:off x="844550" y="1722438"/>
            <a:ext cx="7842250" cy="3078162"/>
          </a:xfrm>
          <a:custGeom>
            <a:avLst/>
            <a:gdLst>
              <a:gd name="T0" fmla="*/ 0 w 4416"/>
              <a:gd name="T1" fmla="*/ 0 h 1968"/>
              <a:gd name="T2" fmla="*/ 0 w 4416"/>
              <a:gd name="T3" fmla="*/ 2147483647 h 1968"/>
              <a:gd name="T4" fmla="*/ 2147483647 w 4416"/>
              <a:gd name="T5" fmla="*/ 2147483647 h 1968"/>
              <a:gd name="T6" fmla="*/ 0 60000 65536"/>
              <a:gd name="T7" fmla="*/ 0 60000 65536"/>
              <a:gd name="T8" fmla="*/ 0 60000 65536"/>
              <a:gd name="T9" fmla="*/ 0 w 4416"/>
              <a:gd name="T10" fmla="*/ 0 h 1968"/>
              <a:gd name="T11" fmla="*/ 4416 w 4416"/>
              <a:gd name="T12" fmla="*/ 1968 h 196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416" h="1968">
                <a:moveTo>
                  <a:pt x="0" y="0"/>
                </a:moveTo>
                <a:lnTo>
                  <a:pt x="0" y="1968"/>
                </a:lnTo>
                <a:lnTo>
                  <a:pt x="4416" y="1968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3" name="Line 12"/>
          <p:cNvSpPr>
            <a:spLocks noChangeShapeType="1"/>
          </p:cNvSpPr>
          <p:nvPr/>
        </p:nvSpPr>
        <p:spPr bwMode="auto">
          <a:xfrm>
            <a:off x="2663825" y="175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4" name="Text Box 15"/>
          <p:cNvSpPr txBox="1">
            <a:spLocks noChangeArrowheads="1"/>
          </p:cNvSpPr>
          <p:nvPr/>
        </p:nvSpPr>
        <p:spPr bwMode="auto">
          <a:xfrm>
            <a:off x="2286000" y="1371600"/>
            <a:ext cx="78328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dirty="0"/>
              <a:t>Loss</a:t>
            </a:r>
          </a:p>
        </p:txBody>
      </p:sp>
      <p:sp>
        <p:nvSpPr>
          <p:cNvPr id="24585" name="Freeform 15"/>
          <p:cNvSpPr>
            <a:spLocks/>
          </p:cNvSpPr>
          <p:nvPr/>
        </p:nvSpPr>
        <p:spPr bwMode="auto">
          <a:xfrm>
            <a:off x="844550" y="2484438"/>
            <a:ext cx="1828800" cy="2316162"/>
          </a:xfrm>
          <a:custGeom>
            <a:avLst/>
            <a:gdLst>
              <a:gd name="T0" fmla="*/ 2147483647 w 1152"/>
              <a:gd name="T1" fmla="*/ 0 h 864"/>
              <a:gd name="T2" fmla="*/ 2147483647 w 1152"/>
              <a:gd name="T3" fmla="*/ 2147483647 h 864"/>
              <a:gd name="T4" fmla="*/ 2147483647 w 1152"/>
              <a:gd name="T5" fmla="*/ 2147483647 h 864"/>
              <a:gd name="T6" fmla="*/ 2147483647 w 1152"/>
              <a:gd name="T7" fmla="*/ 2147483647 h 864"/>
              <a:gd name="T8" fmla="*/ 0 w 1152"/>
              <a:gd name="T9" fmla="*/ 2147483647 h 86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52"/>
              <a:gd name="T16" fmla="*/ 0 h 864"/>
              <a:gd name="T17" fmla="*/ 1152 w 1152"/>
              <a:gd name="T18" fmla="*/ 864 h 86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52" h="864">
                <a:moveTo>
                  <a:pt x="1152" y="0"/>
                </a:moveTo>
                <a:cubicBezTo>
                  <a:pt x="1132" y="116"/>
                  <a:pt x="1112" y="232"/>
                  <a:pt x="1056" y="336"/>
                </a:cubicBezTo>
                <a:cubicBezTo>
                  <a:pt x="1000" y="440"/>
                  <a:pt x="928" y="544"/>
                  <a:pt x="816" y="624"/>
                </a:cubicBezTo>
                <a:cubicBezTo>
                  <a:pt x="704" y="704"/>
                  <a:pt x="520" y="776"/>
                  <a:pt x="384" y="816"/>
                </a:cubicBezTo>
                <a:cubicBezTo>
                  <a:pt x="248" y="856"/>
                  <a:pt x="124" y="860"/>
                  <a:pt x="0" y="864"/>
                </a:cubicBezTo>
              </a:path>
            </a:pathLst>
          </a:cu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6" name="Text Box 18"/>
          <p:cNvSpPr txBox="1">
            <a:spLocks noChangeArrowheads="1"/>
          </p:cNvSpPr>
          <p:nvPr/>
        </p:nvSpPr>
        <p:spPr bwMode="auto">
          <a:xfrm>
            <a:off x="7796740" y="4724400"/>
            <a:ext cx="7265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i="1" dirty="0">
                <a:latin typeface="Times New Roman" charset="0"/>
              </a:rPr>
              <a:t>time</a:t>
            </a:r>
          </a:p>
        </p:txBody>
      </p:sp>
      <p:sp>
        <p:nvSpPr>
          <p:cNvPr id="24587" name="Text Box 19"/>
          <p:cNvSpPr txBox="1">
            <a:spLocks noChangeArrowheads="1"/>
          </p:cNvSpPr>
          <p:nvPr/>
        </p:nvSpPr>
        <p:spPr bwMode="auto">
          <a:xfrm>
            <a:off x="53975" y="1384300"/>
            <a:ext cx="8128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i="1" dirty="0" err="1">
                <a:latin typeface="Times New Roman" charset="0"/>
              </a:rPr>
              <a:t>cwnd</a:t>
            </a:r>
            <a:endParaRPr lang="en-US" i="1" dirty="0">
              <a:latin typeface="Times New Roman" charset="0"/>
            </a:endParaRPr>
          </a:p>
        </p:txBody>
      </p:sp>
      <p:sp>
        <p:nvSpPr>
          <p:cNvPr id="24588" name="Freeform 34"/>
          <p:cNvSpPr>
            <a:spLocks noChangeArrowheads="1"/>
          </p:cNvSpPr>
          <p:nvPr/>
        </p:nvSpPr>
        <p:spPr bwMode="auto">
          <a:xfrm>
            <a:off x="2663825" y="2484438"/>
            <a:ext cx="1914525" cy="1270000"/>
          </a:xfrm>
          <a:custGeom>
            <a:avLst/>
            <a:gdLst>
              <a:gd name="T0" fmla="*/ 0 w 1914577"/>
              <a:gd name="T1" fmla="*/ 18960 h 1269957"/>
              <a:gd name="T2" fmla="*/ 18951 w 1914577"/>
              <a:gd name="T3" fmla="*/ 1270172 h 1269957"/>
              <a:gd name="T4" fmla="*/ 1914317 w 1914577"/>
              <a:gd name="T5" fmla="*/ 0 h 1269957"/>
              <a:gd name="T6" fmla="*/ 0 60000 65536"/>
              <a:gd name="T7" fmla="*/ 0 60000 65536"/>
              <a:gd name="T8" fmla="*/ 0 60000 65536"/>
              <a:gd name="T9" fmla="*/ 0 w 1914577"/>
              <a:gd name="T10" fmla="*/ 0 h 1269957"/>
              <a:gd name="T11" fmla="*/ 1914577 w 1914577"/>
              <a:gd name="T12" fmla="*/ 1269957 h 126995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914577" h="1269957">
                <a:moveTo>
                  <a:pt x="0" y="18955"/>
                </a:moveTo>
                <a:lnTo>
                  <a:pt x="18956" y="1269957"/>
                </a:lnTo>
                <a:lnTo>
                  <a:pt x="1914577" y="0"/>
                </a:lnTo>
              </a:path>
            </a:pathLst>
          </a:cu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589" name="Freeform 35"/>
          <p:cNvSpPr>
            <a:spLocks noChangeArrowheads="1"/>
          </p:cNvSpPr>
          <p:nvPr/>
        </p:nvSpPr>
        <p:spPr bwMode="auto">
          <a:xfrm>
            <a:off x="4578350" y="2484438"/>
            <a:ext cx="1914525" cy="1270000"/>
          </a:xfrm>
          <a:custGeom>
            <a:avLst/>
            <a:gdLst>
              <a:gd name="T0" fmla="*/ 0 w 1914577"/>
              <a:gd name="T1" fmla="*/ 18960 h 1269957"/>
              <a:gd name="T2" fmla="*/ 18951 w 1914577"/>
              <a:gd name="T3" fmla="*/ 1270172 h 1269957"/>
              <a:gd name="T4" fmla="*/ 1914317 w 1914577"/>
              <a:gd name="T5" fmla="*/ 0 h 1269957"/>
              <a:gd name="T6" fmla="*/ 0 60000 65536"/>
              <a:gd name="T7" fmla="*/ 0 60000 65536"/>
              <a:gd name="T8" fmla="*/ 0 60000 65536"/>
              <a:gd name="T9" fmla="*/ 0 w 1914577"/>
              <a:gd name="T10" fmla="*/ 0 h 1269957"/>
              <a:gd name="T11" fmla="*/ 1914577 w 1914577"/>
              <a:gd name="T12" fmla="*/ 1269957 h 126995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914577" h="1269957">
                <a:moveTo>
                  <a:pt x="0" y="18955"/>
                </a:moveTo>
                <a:lnTo>
                  <a:pt x="18956" y="1269957"/>
                </a:lnTo>
                <a:lnTo>
                  <a:pt x="1914577" y="0"/>
                </a:lnTo>
              </a:path>
            </a:pathLst>
          </a:cu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590" name="Freeform 36"/>
          <p:cNvSpPr>
            <a:spLocks noChangeArrowheads="1"/>
          </p:cNvSpPr>
          <p:nvPr/>
        </p:nvSpPr>
        <p:spPr bwMode="auto">
          <a:xfrm>
            <a:off x="6492875" y="2484438"/>
            <a:ext cx="1914525" cy="1270000"/>
          </a:xfrm>
          <a:custGeom>
            <a:avLst/>
            <a:gdLst>
              <a:gd name="T0" fmla="*/ 0 w 1914577"/>
              <a:gd name="T1" fmla="*/ 18960 h 1269957"/>
              <a:gd name="T2" fmla="*/ 18951 w 1914577"/>
              <a:gd name="T3" fmla="*/ 1270172 h 1269957"/>
              <a:gd name="T4" fmla="*/ 1914317 w 1914577"/>
              <a:gd name="T5" fmla="*/ 0 h 1269957"/>
              <a:gd name="T6" fmla="*/ 0 60000 65536"/>
              <a:gd name="T7" fmla="*/ 0 60000 65536"/>
              <a:gd name="T8" fmla="*/ 0 60000 65536"/>
              <a:gd name="T9" fmla="*/ 0 w 1914577"/>
              <a:gd name="T10" fmla="*/ 0 h 1269957"/>
              <a:gd name="T11" fmla="*/ 1914577 w 1914577"/>
              <a:gd name="T12" fmla="*/ 1269957 h 126995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914577" h="1269957">
                <a:moveTo>
                  <a:pt x="0" y="18955"/>
                </a:moveTo>
                <a:lnTo>
                  <a:pt x="18956" y="1269957"/>
                </a:lnTo>
                <a:lnTo>
                  <a:pt x="1914577" y="0"/>
                </a:lnTo>
              </a:path>
            </a:pathLst>
          </a:cu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591" name="Line 12"/>
          <p:cNvSpPr>
            <a:spLocks noChangeShapeType="1"/>
          </p:cNvSpPr>
          <p:nvPr/>
        </p:nvSpPr>
        <p:spPr bwMode="auto">
          <a:xfrm>
            <a:off x="4572000" y="175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2" name="Line 12"/>
          <p:cNvSpPr>
            <a:spLocks noChangeShapeType="1"/>
          </p:cNvSpPr>
          <p:nvPr/>
        </p:nvSpPr>
        <p:spPr bwMode="auto">
          <a:xfrm>
            <a:off x="6480175" y="175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3" name="Line 12"/>
          <p:cNvSpPr>
            <a:spLocks noChangeShapeType="1"/>
          </p:cNvSpPr>
          <p:nvPr/>
        </p:nvSpPr>
        <p:spPr bwMode="auto">
          <a:xfrm>
            <a:off x="8389938" y="175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cxnSp>
        <p:nvCxnSpPr>
          <p:cNvPr id="24594" name="Straight Connector 41"/>
          <p:cNvCxnSpPr>
            <a:cxnSpLocks noChangeShapeType="1"/>
            <a:endCxn id="24590" idx="2"/>
          </p:cNvCxnSpPr>
          <p:nvPr/>
        </p:nvCxnSpPr>
        <p:spPr bwMode="auto">
          <a:xfrm>
            <a:off x="863600" y="2484438"/>
            <a:ext cx="75438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4595" name="Straight Connector 42"/>
          <p:cNvCxnSpPr>
            <a:cxnSpLocks noChangeShapeType="1"/>
          </p:cNvCxnSpPr>
          <p:nvPr/>
        </p:nvCxnSpPr>
        <p:spPr bwMode="auto">
          <a:xfrm>
            <a:off x="866775" y="3733800"/>
            <a:ext cx="7523163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4596" name="Straight Connector 46"/>
          <p:cNvCxnSpPr>
            <a:cxnSpLocks noChangeShapeType="1"/>
            <a:stCxn id="24588" idx="1"/>
          </p:cNvCxnSpPr>
          <p:nvPr/>
        </p:nvCxnSpPr>
        <p:spPr bwMode="auto">
          <a:xfrm flipH="1">
            <a:off x="2663825" y="3754438"/>
            <a:ext cx="19050" cy="1046162"/>
          </a:xfrm>
          <a:prstGeom prst="line">
            <a:avLst/>
          </a:prstGeom>
          <a:noFill/>
          <a:ln w="9525">
            <a:solidFill>
              <a:schemeClr val="tx1"/>
            </a:solidFill>
            <a:prstDash val="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4597" name="Straight Connector 49"/>
          <p:cNvCxnSpPr>
            <a:cxnSpLocks noChangeShapeType="1"/>
          </p:cNvCxnSpPr>
          <p:nvPr/>
        </p:nvCxnSpPr>
        <p:spPr bwMode="auto">
          <a:xfrm flipH="1">
            <a:off x="4572000" y="3775075"/>
            <a:ext cx="19050" cy="1046163"/>
          </a:xfrm>
          <a:prstGeom prst="line">
            <a:avLst/>
          </a:prstGeom>
          <a:noFill/>
          <a:ln w="9525">
            <a:solidFill>
              <a:schemeClr val="tx1"/>
            </a:solidFill>
            <a:prstDash val="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aphicFrame>
        <p:nvGraphicFramePr>
          <p:cNvPr id="24599" name="Object 2"/>
          <p:cNvGraphicFramePr>
            <a:graphicFrameLocks noChangeAspect="1"/>
          </p:cNvGraphicFramePr>
          <p:nvPr/>
        </p:nvGraphicFramePr>
        <p:xfrm>
          <a:off x="217488" y="2311400"/>
          <a:ext cx="479425" cy="346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17362" imgH="228501" progId="Equation.3">
                  <p:embed/>
                </p:oleObj>
              </mc:Choice>
              <mc:Fallback>
                <p:oleObj name="Equation" r:id="rId4" imgW="317362" imgH="228501" progId="Equation.3">
                  <p:embed/>
                  <p:pic>
                    <p:nvPicPr>
                      <p:cNvPr id="24599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7488" y="2311400"/>
                        <a:ext cx="479425" cy="346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600" name="Object 3"/>
          <p:cNvGraphicFramePr>
            <a:graphicFrameLocks noChangeAspect="1"/>
          </p:cNvGraphicFramePr>
          <p:nvPr/>
        </p:nvGraphicFramePr>
        <p:xfrm>
          <a:off x="217488" y="3468688"/>
          <a:ext cx="479425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55292" imgH="393359" progId="Equation.3">
                  <p:embed/>
                </p:oleObj>
              </mc:Choice>
              <mc:Fallback>
                <p:oleObj name="Equation" r:id="rId6" imgW="355292" imgH="393359" progId="Equation.3">
                  <p:embed/>
                  <p:pic>
                    <p:nvPicPr>
                      <p:cNvPr id="2460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7488" y="3468688"/>
                        <a:ext cx="479425" cy="533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/>
          <p:cNvSpPr/>
          <p:nvPr/>
        </p:nvSpPr>
        <p:spPr bwMode="auto">
          <a:xfrm>
            <a:off x="2743200" y="5486400"/>
            <a:ext cx="4800600" cy="551038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4" name="Rectangle 23"/>
          <p:cNvSpPr/>
          <p:nvPr/>
        </p:nvSpPr>
        <p:spPr bwMode="auto">
          <a:xfrm>
            <a:off x="2743200" y="5867400"/>
            <a:ext cx="5257800" cy="9906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grpSp>
        <p:nvGrpSpPr>
          <p:cNvPr id="25" name="Group 24"/>
          <p:cNvGrpSpPr/>
          <p:nvPr/>
        </p:nvGrpSpPr>
        <p:grpSpPr>
          <a:xfrm>
            <a:off x="2667000" y="2133600"/>
            <a:ext cx="6172200" cy="2057400"/>
            <a:chOff x="2667000" y="2133600"/>
            <a:chExt cx="6172200" cy="2057400"/>
          </a:xfrm>
        </p:grpSpPr>
        <p:sp>
          <p:nvSpPr>
            <p:cNvPr id="26" name="Rounded Rectangular Callout 25"/>
            <p:cNvSpPr/>
            <p:nvPr/>
          </p:nvSpPr>
          <p:spPr bwMode="auto">
            <a:xfrm>
              <a:off x="5638800" y="2133600"/>
              <a:ext cx="3200400" cy="457200"/>
            </a:xfrm>
            <a:prstGeom prst="wedgeRoundRectCallout">
              <a:avLst>
                <a:gd name="adj1" fmla="val -97801"/>
                <a:gd name="adj2" fmla="val 403124"/>
                <a:gd name="adj3" fmla="val 16667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cxnSp>
          <p:nvCxnSpPr>
            <p:cNvPr id="27" name="Straight Arrow Connector 26"/>
            <p:cNvCxnSpPr/>
            <p:nvPr/>
          </p:nvCxnSpPr>
          <p:spPr bwMode="auto">
            <a:xfrm>
              <a:off x="2667000" y="4191000"/>
              <a:ext cx="1905000" cy="0"/>
            </a:xfrm>
            <a:prstGeom prst="straightConnector1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28" name="TextBox 27"/>
            <p:cNvSpPr txBox="1"/>
            <p:nvPr/>
          </p:nvSpPr>
          <p:spPr>
            <a:xfrm>
              <a:off x="5638800" y="2133600"/>
              <a:ext cx="32004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½ </a:t>
              </a:r>
              <a:r>
                <a:rPr lang="en-US" sz="1800" b="0" dirty="0" err="1">
                  <a:latin typeface="+mn-lt"/>
                </a:rPr>
                <a:t>W</a:t>
              </a:r>
              <a:r>
                <a:rPr lang="en-US" sz="1800" b="0" baseline="-25000" dirty="0" err="1">
                  <a:latin typeface="+mn-lt"/>
                </a:rPr>
                <a:t>max</a:t>
              </a:r>
              <a:r>
                <a:rPr lang="en-US" sz="1800" b="0" dirty="0">
                  <a:latin typeface="+mn-lt"/>
                </a:rPr>
                <a:t> RTTs between drops</a:t>
              </a:r>
            </a:p>
            <a:p>
              <a:r>
                <a:rPr lang="en-US" sz="1800" b="0" dirty="0">
                  <a:latin typeface="+mn-lt"/>
                </a:rPr>
                <a:t> 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152400" y="2743200"/>
            <a:ext cx="3505200" cy="2057400"/>
            <a:chOff x="152400" y="2743200"/>
            <a:chExt cx="3505200" cy="2057400"/>
          </a:xfrm>
        </p:grpSpPr>
        <p:sp>
          <p:nvSpPr>
            <p:cNvPr id="30" name="Rounded Rectangular Callout 29"/>
            <p:cNvSpPr/>
            <p:nvPr/>
          </p:nvSpPr>
          <p:spPr bwMode="auto">
            <a:xfrm>
              <a:off x="228600" y="2743200"/>
              <a:ext cx="3200400" cy="457200"/>
            </a:xfrm>
            <a:prstGeom prst="wedgeRoundRectCallout">
              <a:avLst>
                <a:gd name="adj1" fmla="val 55427"/>
                <a:gd name="adj2" fmla="val 214009"/>
                <a:gd name="adj3" fmla="val 16667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cxnSp>
          <p:nvCxnSpPr>
            <p:cNvPr id="31" name="Straight Arrow Connector 30"/>
            <p:cNvCxnSpPr/>
            <p:nvPr/>
          </p:nvCxnSpPr>
          <p:spPr bwMode="auto">
            <a:xfrm>
              <a:off x="3657600" y="3124200"/>
              <a:ext cx="0" cy="1676400"/>
            </a:xfrm>
            <a:prstGeom prst="straightConnector1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2" name="TextBox 31"/>
            <p:cNvSpPr txBox="1"/>
            <p:nvPr/>
          </p:nvSpPr>
          <p:spPr>
            <a:xfrm>
              <a:off x="152400" y="2743200"/>
              <a:ext cx="33404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Avg. ¾ </a:t>
              </a:r>
              <a:r>
                <a:rPr lang="en-US" sz="1800" b="0" dirty="0" err="1">
                  <a:latin typeface="+mn-lt"/>
                </a:rPr>
                <a:t>W</a:t>
              </a:r>
              <a:r>
                <a:rPr lang="en-US" sz="1800" b="0" baseline="-25000" dirty="0" err="1">
                  <a:latin typeface="+mn-lt"/>
                </a:rPr>
                <a:t>max</a:t>
              </a:r>
              <a:r>
                <a:rPr lang="en-US" sz="1800" b="0" dirty="0">
                  <a:latin typeface="+mn-lt"/>
                </a:rPr>
                <a:t> packets per RTTs</a:t>
              </a:r>
            </a:p>
          </p:txBody>
        </p:sp>
      </p:grp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7A418-0CEB-9E4A-BA45-3B7D3D133EB9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925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Practice Exams on GitHub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19, 2025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EECS 489 – Midterm Review</a:t>
            </a:r>
            <a:endParaRPr lang="en-US" sz="1050" b="0">
              <a:latin typeface="Times New Roman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D881-957A-7944-A8D0-1584E528B88F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38130"/>
      </p:ext>
    </p:extLst>
  </p:cSld>
  <p:clrMapOvr>
    <a:masterClrMapping/>
  </p:clrMapOvr>
</p:sld>
</file>

<file path=ppt/theme/theme1.xml><?xml version="1.0" encoding="utf-8"?>
<a:theme xmlns:a="http://schemas.openxmlformats.org/drawingml/2006/main" name="dbllineb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c:\msoffice\powerpnt\template\bwovrhd\dbllineb.ppt</Template>
  <TotalTime>1490457128</TotalTime>
  <Pages>7</Pages>
  <Words>3388</Words>
  <Application>Microsoft Macintosh PowerPoint</Application>
  <PresentationFormat>On-screen Show (4:3)</PresentationFormat>
  <Paragraphs>786</Paragraphs>
  <Slides>69</Slides>
  <Notes>22</Notes>
  <HiddenSlides>0</HiddenSlides>
  <MMClips>0</MMClips>
  <ScaleCrop>false</ScaleCrop>
  <HeadingPairs>
    <vt:vector size="8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81" baseType="lpstr">
      <vt:lpstr>ＭＳ Ｐゴシック</vt:lpstr>
      <vt:lpstr>PMingLiU</vt:lpstr>
      <vt:lpstr>Arial</vt:lpstr>
      <vt:lpstr>Arial Black</vt:lpstr>
      <vt:lpstr>Calibri</vt:lpstr>
      <vt:lpstr>Courier New</vt:lpstr>
      <vt:lpstr>Gill Sans</vt:lpstr>
      <vt:lpstr>Monotype Sorts</vt:lpstr>
      <vt:lpstr>Times New Roman</vt:lpstr>
      <vt:lpstr>Wingdings</vt:lpstr>
      <vt:lpstr>dbllineb</vt:lpstr>
      <vt:lpstr>Equation</vt:lpstr>
      <vt:lpstr>EECS 489 Computer Networks  Winter 2025</vt:lpstr>
      <vt:lpstr>Logistics</vt:lpstr>
      <vt:lpstr>General guidelines (1)</vt:lpstr>
      <vt:lpstr>General guidelines (2)</vt:lpstr>
      <vt:lpstr>General guidelines (3)</vt:lpstr>
      <vt:lpstr>General guidelines (4)</vt:lpstr>
      <vt:lpstr>What’s covered in the midterm?</vt:lpstr>
      <vt:lpstr>This review</vt:lpstr>
      <vt:lpstr>Topics</vt:lpstr>
      <vt:lpstr>Basic concepts</vt:lpstr>
      <vt:lpstr>Switched networks</vt:lpstr>
      <vt:lpstr>Two approaches to sharing</vt:lpstr>
      <vt:lpstr>Statistical multiplexing</vt:lpstr>
      <vt:lpstr>Delay</vt:lpstr>
      <vt:lpstr>End-to-end delay</vt:lpstr>
      <vt:lpstr>What we want</vt:lpstr>
      <vt:lpstr>(Some of) What happens…</vt:lpstr>
      <vt:lpstr>(More of) What happens</vt:lpstr>
      <vt:lpstr>What we get</vt:lpstr>
      <vt:lpstr>Layers</vt:lpstr>
      <vt:lpstr>Layers in practice</vt:lpstr>
      <vt:lpstr>Layer encapsulation:  Protocol headers</vt:lpstr>
      <vt:lpstr>IP is the narrow waist of the layering hourglass</vt:lpstr>
      <vt:lpstr>Topics</vt:lpstr>
      <vt:lpstr>Hyper Text Transfer Protocol (HTTP)</vt:lpstr>
      <vt:lpstr>Object request response time</vt:lpstr>
      <vt:lpstr>Improving HTTP performance</vt:lpstr>
      <vt:lpstr>Scorecard: Getting n small objects</vt:lpstr>
      <vt:lpstr>Scorecard: Getting n large objects each of size F</vt:lpstr>
      <vt:lpstr>Content Distribution Networks (CDN)</vt:lpstr>
      <vt:lpstr>Hierarchies in the DNS</vt:lpstr>
      <vt:lpstr>Name resolution</vt:lpstr>
      <vt:lpstr>Name resolution</vt:lpstr>
      <vt:lpstr>Name resolution</vt:lpstr>
      <vt:lpstr>Name resolution</vt:lpstr>
      <vt:lpstr>Name resolution: Recursive</vt:lpstr>
      <vt:lpstr>Name resolution: Iterative</vt:lpstr>
      <vt:lpstr>DNS caching</vt:lpstr>
      <vt:lpstr>5-minute break!</vt:lpstr>
      <vt:lpstr>Announcements</vt:lpstr>
      <vt:lpstr>HTTP streaming</vt:lpstr>
      <vt:lpstr>DASH : Dynamic Adaptive Streaming over HTTP</vt:lpstr>
      <vt:lpstr>Applications</vt:lpstr>
      <vt:lpstr>Traditional datacenter networks</vt:lpstr>
      <vt:lpstr>Challenges</vt:lpstr>
      <vt:lpstr>Modern datacenter networks: More bandwidth, more paths</vt:lpstr>
      <vt:lpstr>Clos topology</vt:lpstr>
      <vt:lpstr>Topics</vt:lpstr>
      <vt:lpstr>Role of the transport layer</vt:lpstr>
      <vt:lpstr>UDP vs. TCP</vt:lpstr>
      <vt:lpstr>Reliable transport:  General concepts</vt:lpstr>
      <vt:lpstr>Designing a reliable transport protocol</vt:lpstr>
      <vt:lpstr>The TCP abstraction</vt:lpstr>
      <vt:lpstr>Things to know about TCP</vt:lpstr>
      <vt:lpstr>Reliability</vt:lpstr>
      <vt:lpstr>Establishing/terminating a TCP connection</vt:lpstr>
      <vt:lpstr>Flow control</vt:lpstr>
      <vt:lpstr>Congestion control</vt:lpstr>
      <vt:lpstr>Put together</vt:lpstr>
      <vt:lpstr>CC implementation</vt:lpstr>
      <vt:lpstr>Event: ACK (new data)</vt:lpstr>
      <vt:lpstr>Event: ACK (new data)</vt:lpstr>
      <vt:lpstr>Event: TimeOut</vt:lpstr>
      <vt:lpstr>Event: dupACK</vt:lpstr>
      <vt:lpstr>Example</vt:lpstr>
      <vt:lpstr>TCP flavors </vt:lpstr>
      <vt:lpstr>A simple model for TCP throughput</vt:lpstr>
      <vt:lpstr>A simple model for TCP throughput</vt:lpstr>
      <vt:lpstr>Summary</vt:lpstr>
    </vt:vector>
  </TitlesOfParts>
  <Manager/>
  <Company>UC Riverside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CS153: Lecture 3 - Processes</dc:title>
  <dc:subject/>
  <dc:creator>Harsha V. Madhyastha</dc:creator>
  <cp:keywords/>
  <dc:description/>
  <cp:lastModifiedBy>Chowdhury, Mosharaf</cp:lastModifiedBy>
  <cp:revision>1349</cp:revision>
  <cp:lastPrinted>1999-09-08T17:25:07Z</cp:lastPrinted>
  <dcterms:created xsi:type="dcterms:W3CDTF">2014-01-14T18:15:50Z</dcterms:created>
  <dcterms:modified xsi:type="dcterms:W3CDTF">2025-02-18T20:40:25Z</dcterms:modified>
  <cp:category/>
</cp:coreProperties>
</file>