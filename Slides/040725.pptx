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8" r:id="rId2"/>
    <p:sldId id="487" r:id="rId3"/>
    <p:sldId id="529" r:id="rId4"/>
    <p:sldId id="530" r:id="rId5"/>
    <p:sldId id="514" r:id="rId6"/>
    <p:sldId id="516" r:id="rId7"/>
    <p:sldId id="518" r:id="rId8"/>
    <p:sldId id="519" r:id="rId9"/>
    <p:sldId id="520" r:id="rId10"/>
    <p:sldId id="521" r:id="rId11"/>
    <p:sldId id="522" r:id="rId12"/>
    <p:sldId id="527" r:id="rId13"/>
    <p:sldId id="531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41" r:id="rId24"/>
    <p:sldId id="543" r:id="rId25"/>
    <p:sldId id="544" r:id="rId26"/>
    <p:sldId id="545" r:id="rId27"/>
    <p:sldId id="546" r:id="rId28"/>
    <p:sldId id="502" r:id="rId29"/>
    <p:sldId id="547" r:id="rId30"/>
    <p:sldId id="548" r:id="rId31"/>
    <p:sldId id="549" r:id="rId32"/>
    <p:sldId id="551" r:id="rId33"/>
    <p:sldId id="552" r:id="rId34"/>
    <p:sldId id="553" r:id="rId35"/>
    <p:sldId id="554" r:id="rId36"/>
    <p:sldId id="555" r:id="rId37"/>
    <p:sldId id="556" r:id="rId38"/>
    <p:sldId id="557" r:id="rId39"/>
    <p:sldId id="558" r:id="rId40"/>
    <p:sldId id="559" r:id="rId41"/>
    <p:sldId id="560" r:id="rId42"/>
    <p:sldId id="561" r:id="rId43"/>
    <p:sldId id="562" r:id="rId44"/>
    <p:sldId id="563" r:id="rId45"/>
    <p:sldId id="564" r:id="rId46"/>
    <p:sldId id="565" r:id="rId47"/>
    <p:sldId id="566" r:id="rId48"/>
    <p:sldId id="568" r:id="rId49"/>
    <p:sldId id="569" r:id="rId50"/>
    <p:sldId id="570" r:id="rId51"/>
    <p:sldId id="581" r:id="rId52"/>
    <p:sldId id="582" r:id="rId53"/>
    <p:sldId id="512" r:id="rId5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9900"/>
    <a:srgbClr val="D3A600"/>
    <a:srgbClr val="333399"/>
    <a:srgbClr val="FFCB05"/>
    <a:srgbClr val="FF9900"/>
    <a:srgbClr val="00274C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61"/>
    <p:restoredTop sz="94789"/>
  </p:normalViewPr>
  <p:slideViewPr>
    <p:cSldViewPr>
      <p:cViewPr varScale="1">
        <p:scale>
          <a:sx n="112" d="100"/>
          <a:sy n="112" d="100"/>
        </p:scale>
        <p:origin x="16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73EF23-A48E-FF4B-A9BC-8B81AB75B1F3}" type="slidenum">
              <a:rPr lang="en-US" sz="1200" b="0">
                <a:latin typeface="Times New Roman" charset="0"/>
              </a:rPr>
              <a:pPr eaLnBrk="1" hangingPunct="1"/>
              <a:t>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08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3BC8FFD-D38F-AC47-B180-09B869FEE60D}" type="slidenum">
              <a:rPr lang="en-US" sz="1200" b="0">
                <a:latin typeface="Times New Roman" charset="0"/>
              </a:rPr>
              <a:pPr eaLnBrk="1" hangingPunct="1"/>
              <a:t>9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4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1CBFCEF-9C19-FA49-B811-D578BC83171D}" type="slidenum">
              <a:rPr lang="en-US" sz="1200" b="0">
                <a:latin typeface="Times New Roman" charset="0"/>
              </a:rPr>
              <a:pPr eaLnBrk="1" hangingPunct="1"/>
              <a:t>10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509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9905CB60-7359-2D48-BE02-D7BB3AA27C29}" type="slidenum">
              <a:rPr lang="en-US" sz="1200" b="0">
                <a:latin typeface="Times New Roman" charset="0"/>
              </a:rPr>
              <a:pPr eaLnBrk="1" hangingPunct="1"/>
              <a:t>11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104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F5C0205-C21B-1C42-8F88-17E2D5BF1AFE}" type="slidenum">
              <a:rPr lang="en-US" sz="1200" b="0">
                <a:latin typeface="Times New Roman" charset="0"/>
              </a:rPr>
              <a:pPr eaLnBrk="1" hangingPunct="1"/>
              <a:t>12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53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6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EA0328-C956-B249-A6D4-A0E7BBC7B37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89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B32342D-A5EE-634E-BBD6-118AB66A94E6}" type="slidenum">
              <a:rPr lang="en-US" sz="1200" b="0">
                <a:latin typeface="Times New Roman" charset="0"/>
              </a:rPr>
              <a:pPr eaLnBrk="1" hangingPunct="1"/>
              <a:t>22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206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9619" indent="-3544715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6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93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396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862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A012FE0-0AAC-F74C-8825-F12F825B7FED}" type="slidenum">
              <a:rPr lang="en-US" sz="1200" b="0">
                <a:latin typeface="Times New Roman" charset="0"/>
              </a:rPr>
              <a:pPr eaLnBrk="1" hangingPunct="1"/>
              <a:t>23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393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5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23B87BA-C31F-704A-AE65-21DD8AF33AE2}" type="slidenum">
              <a:rPr lang="en-US" sz="1200" b="0">
                <a:latin typeface="Times New Roman" charset="0"/>
              </a:rPr>
              <a:pPr eaLnBrk="1" hangingPunct="1"/>
              <a:t>45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642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24AA143-4958-F344-9D47-C49E6475F95B}" type="slidenum">
              <a:rPr lang="en-US" sz="1200" b="0">
                <a:latin typeface="Times New Roman" charset="0"/>
              </a:rPr>
              <a:pPr eaLnBrk="1" hangingPunct="1"/>
              <a:t>46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705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3200844-4843-4742-AC76-3A2BFB1A275A}" type="slidenum">
              <a:rPr lang="en-US" sz="1200" b="0">
                <a:latin typeface="Times New Roman" charset="0"/>
              </a:rPr>
              <a:pPr eaLnBrk="1" hangingPunct="1"/>
              <a:t>47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49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5876422" indent="-35443994" defTabSz="905395"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32427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864854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29728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729708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2A3C8062-490D-8343-A3E5-312490AFF82B}" type="slidenum">
              <a:rPr lang="en-US" sz="1200" b="0">
                <a:latin typeface="Times New Roman" charset="0"/>
              </a:rPr>
              <a:pPr eaLnBrk="1" hangingPunct="1"/>
              <a:t>48</a:t>
            </a:fld>
            <a:endParaRPr lang="en-US" sz="12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6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April 7,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Lecture 18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Ethernet wrap-up</a:t>
            </a:r>
          </a:p>
          <a:p>
            <a:r>
              <a:rPr lang="en-US" dirty="0"/>
              <a:t>Putting everything together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vs. PPP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Point-to-point protocol (PPP) uses the </a:t>
            </a:r>
            <a:r>
              <a:rPr lang="en-US" dirty="0">
                <a:solidFill>
                  <a:srgbClr val="0000FF"/>
                </a:solidFill>
              </a:rPr>
              <a:t>sentinel bits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bit stuffing</a:t>
            </a:r>
            <a:r>
              <a:rPr lang="en-US" dirty="0"/>
              <a:t> described in the last lecture</a:t>
            </a:r>
          </a:p>
          <a:p>
            <a:endParaRPr lang="en-US" dirty="0"/>
          </a:p>
          <a:p>
            <a:r>
              <a:rPr lang="en-US" dirty="0"/>
              <a:t>Ethernet 802.3 relies on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preamble</a:t>
            </a:r>
            <a:r>
              <a:rPr lang="en-US" dirty="0"/>
              <a:t> (7 bytes of 10101010 and then 10101011 at the beginning of a frame) and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inter-packet gap</a:t>
            </a:r>
            <a:r>
              <a:rPr lang="en-US" dirty="0"/>
              <a:t> (96 bits-long idle signal at the end) to separate frames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3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/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89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Flooding (still) leads to loops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A wants to broadcast a message</a:t>
            </a:r>
          </a:p>
          <a:p>
            <a:pPr lvl="1"/>
            <a:r>
              <a:rPr lang="en-US" sz="1800" dirty="0"/>
              <a:t>A sends packet to 1</a:t>
            </a:r>
          </a:p>
          <a:p>
            <a:pPr lvl="1"/>
            <a:r>
              <a:rPr lang="en-US" sz="1800" dirty="0"/>
              <a:t>1 Floods to 2 and 4</a:t>
            </a:r>
          </a:p>
          <a:p>
            <a:pPr lvl="1"/>
            <a:r>
              <a:rPr lang="en-US" sz="1800" dirty="0"/>
              <a:t>2 Floods to B and 3</a:t>
            </a:r>
          </a:p>
          <a:p>
            <a:pPr lvl="1"/>
            <a:r>
              <a:rPr lang="en-US" sz="1800" dirty="0"/>
              <a:t>4 Floods to D and 3</a:t>
            </a:r>
          </a:p>
          <a:p>
            <a:pPr lvl="1"/>
            <a:r>
              <a:rPr lang="en-US" sz="1800" dirty="0"/>
              <a:t>3 Floods packet from 2 to C and 4</a:t>
            </a:r>
          </a:p>
          <a:p>
            <a:pPr lvl="1"/>
            <a:r>
              <a:rPr lang="en-US" sz="1800" dirty="0"/>
              <a:t>3 Floods packet from 4 to C and 2</a:t>
            </a:r>
          </a:p>
          <a:p>
            <a:pPr lvl="1"/>
            <a:r>
              <a:rPr lang="en-US" sz="1800" dirty="0"/>
              <a:t>4 Floods packet from 3 to D and 1</a:t>
            </a:r>
          </a:p>
          <a:p>
            <a:pPr lvl="1"/>
            <a:r>
              <a:rPr lang="en-US" sz="1800" dirty="0"/>
              <a:t>2 Floods packet from 3 to B and 1</a:t>
            </a:r>
          </a:p>
          <a:p>
            <a:pPr lvl="1"/>
            <a:r>
              <a:rPr lang="en-US" sz="1800" dirty="0"/>
              <a:t>1 Floods packet from 2 to A and 4</a:t>
            </a:r>
          </a:p>
          <a:p>
            <a:pPr lvl="1"/>
            <a:r>
              <a:rPr lang="en-US" sz="1800" dirty="0"/>
              <a:t>1 Floods packet from 4 to B and 2</a:t>
            </a:r>
          </a:p>
          <a:p>
            <a:pPr lvl="1"/>
            <a:r>
              <a:rPr lang="en-US" sz="1800" dirty="0"/>
              <a:t>….</a:t>
            </a:r>
          </a:p>
          <a:p>
            <a:r>
              <a:rPr lang="en-US" dirty="0"/>
              <a:t>Broadcast storm still happens in a switched network if it contains a cycle of switches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676609" y="2514599"/>
            <a:ext cx="3160746" cy="2667001"/>
            <a:chOff x="5676609" y="2514599"/>
            <a:chExt cx="3160746" cy="2667001"/>
          </a:xfrm>
        </p:grpSpPr>
        <p:sp>
          <p:nvSpPr>
            <p:cNvPr id="4" name="Oval 3"/>
            <p:cNvSpPr/>
            <p:nvPr/>
          </p:nvSpPr>
          <p:spPr>
            <a:xfrm>
              <a:off x="7067404" y="2961329"/>
              <a:ext cx="457200" cy="4572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6372880" y="3617463"/>
              <a:ext cx="457200" cy="4572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772400" y="3617463"/>
              <a:ext cx="457200" cy="4572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067404" y="4300007"/>
              <a:ext cx="457200" cy="4572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cxnSp>
          <p:nvCxnSpPr>
            <p:cNvPr id="9" name="Straight Connector 8"/>
            <p:cNvCxnSpPr>
              <a:stCxn id="4" idx="3"/>
              <a:endCxn id="5" idx="7"/>
            </p:cNvCxnSpPr>
            <p:nvPr/>
          </p:nvCxnSpPr>
          <p:spPr>
            <a:xfrm flipH="1">
              <a:off x="6763125" y="3351574"/>
              <a:ext cx="371234" cy="332844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5" idx="5"/>
              <a:endCxn id="7" idx="1"/>
            </p:cNvCxnSpPr>
            <p:nvPr/>
          </p:nvCxnSpPr>
          <p:spPr>
            <a:xfrm>
              <a:off x="6763125" y="4007708"/>
              <a:ext cx="371234" cy="359254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7" idx="7"/>
              <a:endCxn id="6" idx="3"/>
            </p:cNvCxnSpPr>
            <p:nvPr/>
          </p:nvCxnSpPr>
          <p:spPr>
            <a:xfrm flipV="1">
              <a:off x="7457649" y="4007708"/>
              <a:ext cx="381706" cy="359254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6" idx="1"/>
              <a:endCxn id="4" idx="5"/>
            </p:cNvCxnSpPr>
            <p:nvPr/>
          </p:nvCxnSpPr>
          <p:spPr>
            <a:xfrm flipH="1" flipV="1">
              <a:off x="7457649" y="3351574"/>
              <a:ext cx="381706" cy="332844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16"/>
            <p:cNvSpPr/>
            <p:nvPr/>
          </p:nvSpPr>
          <p:spPr>
            <a:xfrm>
              <a:off x="5676609" y="3708903"/>
              <a:ext cx="495591" cy="274320"/>
            </a:xfrm>
            <a:prstGeom prst="roundRect">
              <a:avLst/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048209" y="2514599"/>
              <a:ext cx="495591" cy="274320"/>
            </a:xfrm>
            <a:prstGeom prst="roundRect">
              <a:avLst/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048209" y="4907280"/>
              <a:ext cx="495591" cy="274320"/>
            </a:xfrm>
            <a:prstGeom prst="roundRect">
              <a:avLst/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8400614" y="3708903"/>
              <a:ext cx="436741" cy="274320"/>
            </a:xfrm>
            <a:prstGeom prst="roundRect">
              <a:avLst/>
            </a:prstGeom>
            <a:solidFill>
              <a:srgbClr val="D3A600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2" name="Straight Connector 21"/>
            <p:cNvCxnSpPr>
              <a:stCxn id="18" idx="2"/>
              <a:endCxn id="4" idx="0"/>
            </p:cNvCxnSpPr>
            <p:nvPr/>
          </p:nvCxnSpPr>
          <p:spPr>
            <a:xfrm flipH="1">
              <a:off x="7296004" y="2788919"/>
              <a:ext cx="1" cy="17241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0" idx="1"/>
              <a:endCxn id="6" idx="6"/>
            </p:cNvCxnSpPr>
            <p:nvPr/>
          </p:nvCxnSpPr>
          <p:spPr>
            <a:xfrm flipH="1">
              <a:off x="8229600" y="3846063"/>
              <a:ext cx="171014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0"/>
              <a:endCxn id="7" idx="4"/>
            </p:cNvCxnSpPr>
            <p:nvPr/>
          </p:nvCxnSpPr>
          <p:spPr>
            <a:xfrm flipH="1" flipV="1">
              <a:off x="7296004" y="4757207"/>
              <a:ext cx="1" cy="150073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7" idx="3"/>
              <a:endCxn id="5" idx="2"/>
            </p:cNvCxnSpPr>
            <p:nvPr/>
          </p:nvCxnSpPr>
          <p:spPr>
            <a:xfrm>
              <a:off x="6172200" y="3846063"/>
              <a:ext cx="200680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Spanning tree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arbitrary topology</a:t>
            </a:r>
          </a:p>
          <a:p>
            <a:r>
              <a:rPr lang="en-US" dirty="0"/>
              <a:t>Pick subset of links that form a spanning tree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05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has two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 root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Destination</a:t>
            </a:r>
            <a:r>
              <a:rPr lang="en-US" dirty="0"/>
              <a:t> to which shortest paths go</a:t>
            </a:r>
          </a:p>
          <a:p>
            <a:pPr lvl="1"/>
            <a:r>
              <a:rPr lang="en-US" dirty="0"/>
              <a:t>Pick the one with the smallest identifier (MAC </a:t>
            </a:r>
            <a:r>
              <a:rPr lang="en-US" dirty="0" err="1"/>
              <a:t>addr</a:t>
            </a:r>
            <a:r>
              <a:rPr lang="en-US" dirty="0"/>
              <a:t>.)</a:t>
            </a:r>
          </a:p>
          <a:p>
            <a:r>
              <a:rPr lang="en-US" dirty="0"/>
              <a:t>Compute shortest paths to the root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No shortest path can have a cycle</a:t>
            </a:r>
          </a:p>
          <a:p>
            <a:pPr lvl="1"/>
            <a:r>
              <a:rPr lang="en-US" dirty="0"/>
              <a:t>Only keep the links on shortest-paths</a:t>
            </a:r>
          </a:p>
          <a:p>
            <a:pPr lvl="1"/>
            <a:r>
              <a:rPr lang="en-US" dirty="0"/>
              <a:t>Break ties in some way (so we only keep one shortest path from each node)</a:t>
            </a:r>
          </a:p>
          <a:p>
            <a:r>
              <a:rPr lang="en-US" dirty="0">
                <a:solidFill>
                  <a:srgbClr val="0000FF"/>
                </a:solidFill>
              </a:rPr>
              <a:t>Ethernet’s spanning tree construction does both with a single algorithm 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8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 are multiple shortest paths to the root, choose the path that uses the neighbor switch with the lower ID</a:t>
            </a:r>
          </a:p>
          <a:p>
            <a:pPr lvl="1"/>
            <a:r>
              <a:rPr lang="en-US" dirty="0"/>
              <a:t>One could use any tiebreaking system, but this is an easy one to remember and implement</a:t>
            </a:r>
          </a:p>
          <a:p>
            <a:pPr lvl="3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5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a spanning tree</a:t>
            </a:r>
          </a:p>
        </p:txBody>
      </p:sp>
      <p:sp>
        <p:nvSpPr>
          <p:cNvPr id="992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Messages (Y, d, X)</a:t>
            </a:r>
          </a:p>
          <a:p>
            <a:pPr lvl="1"/>
            <a:r>
              <a:rPr lang="en-US" dirty="0"/>
              <a:t>From node X</a:t>
            </a:r>
          </a:p>
          <a:p>
            <a:pPr lvl="1"/>
            <a:r>
              <a:rPr lang="en-US" dirty="0"/>
              <a:t>Proposing Y as the root</a:t>
            </a:r>
          </a:p>
          <a:p>
            <a:pPr lvl="1"/>
            <a:r>
              <a:rPr lang="en-US" dirty="0"/>
              <a:t>Advertising a distance d to Y</a:t>
            </a:r>
          </a:p>
          <a:p>
            <a:r>
              <a:rPr lang="en-US" dirty="0"/>
              <a:t>Switches elect the node with smallest identifier (MAC address) as root</a:t>
            </a:r>
          </a:p>
          <a:p>
            <a:r>
              <a:rPr lang="en-US" dirty="0"/>
              <a:t>Each switch determines if a link is on its shortest path to the root; excludes it from the tree if not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5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the spanning tree algorithm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each switch proposes itself as the root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Switch X announces (X, 0, X) to its neighbors</a:t>
            </a:r>
          </a:p>
          <a:p>
            <a:r>
              <a:rPr lang="en-US" dirty="0"/>
              <a:t>Switches update their view of the root</a:t>
            </a:r>
          </a:p>
          <a:p>
            <a:pPr lvl="1"/>
            <a:r>
              <a:rPr lang="en-US" dirty="0"/>
              <a:t>Upon receiving (Y, d, Z) from Z, check Y’s id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If Y’s id  &lt; current root: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set root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=</a:t>
            </a:r>
            <a:r>
              <a:rPr lang="en-US" dirty="0">
                <a:solidFill>
                  <a:srgbClr val="0000FF"/>
                </a:solidFill>
              </a:rPr>
              <a:t> Y</a:t>
            </a:r>
          </a:p>
          <a:p>
            <a:r>
              <a:rPr lang="en-US" dirty="0"/>
              <a:t>Switches compute their distance from the root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Add 1 to the shortest distance received from a neighbor</a:t>
            </a:r>
          </a:p>
          <a:p>
            <a:r>
              <a:rPr lang="en-US" dirty="0"/>
              <a:t>If root or shortest distance to it </a:t>
            </a:r>
            <a:r>
              <a:rPr lang="en-US" dirty="0">
                <a:solidFill>
                  <a:srgbClr val="0000FF"/>
                </a:solidFill>
              </a:rPr>
              <a:t>changed</a:t>
            </a:r>
            <a:r>
              <a:rPr lang="en-US" dirty="0"/>
              <a:t>, send neighbors updated message (Y, d+1, X)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5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990600"/>
            <a:ext cx="91440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90826" y="736837"/>
            <a:ext cx="2459037" cy="2651125"/>
            <a:chOff x="6145213" y="2390775"/>
            <a:chExt cx="2459037" cy="2651125"/>
          </a:xfrm>
          <a:effectLst/>
        </p:grpSpPr>
        <p:sp>
          <p:nvSpPr>
            <p:cNvPr id="80901" name="Oval 4"/>
            <p:cNvSpPr>
              <a:spLocks noChangeArrowheads="1"/>
            </p:cNvSpPr>
            <p:nvPr/>
          </p:nvSpPr>
          <p:spPr bwMode="auto">
            <a:xfrm>
              <a:off x="7259638" y="239077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>
                  <a:latin typeface="Helvetica" charset="0"/>
                </a:rPr>
                <a:t>1</a:t>
              </a:r>
            </a:p>
          </p:txBody>
        </p:sp>
        <p:sp>
          <p:nvSpPr>
            <p:cNvPr id="80902" name="Oval 5"/>
            <p:cNvSpPr>
              <a:spLocks noChangeArrowheads="1"/>
            </p:cNvSpPr>
            <p:nvPr/>
          </p:nvSpPr>
          <p:spPr bwMode="auto">
            <a:xfrm>
              <a:off x="6453188" y="3235325"/>
              <a:ext cx="422275" cy="384175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3" name="Oval 6"/>
            <p:cNvSpPr>
              <a:spLocks noChangeArrowheads="1"/>
            </p:cNvSpPr>
            <p:nvPr/>
          </p:nvSpPr>
          <p:spPr bwMode="auto">
            <a:xfrm>
              <a:off x="8066088" y="3235325"/>
              <a:ext cx="422275" cy="384175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4" name="Oval 7"/>
            <p:cNvSpPr>
              <a:spLocks noChangeArrowheads="1"/>
            </p:cNvSpPr>
            <p:nvPr/>
          </p:nvSpPr>
          <p:spPr bwMode="auto">
            <a:xfrm>
              <a:off x="7183438" y="3811588"/>
              <a:ext cx="422275" cy="384175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5" name="Oval 8"/>
            <p:cNvSpPr>
              <a:spLocks noChangeArrowheads="1"/>
            </p:cNvSpPr>
            <p:nvPr/>
          </p:nvSpPr>
          <p:spPr bwMode="auto">
            <a:xfrm>
              <a:off x="8181975" y="4464050"/>
              <a:ext cx="422275" cy="384175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6" name="Oval 9"/>
            <p:cNvSpPr>
              <a:spLocks noChangeArrowheads="1"/>
            </p:cNvSpPr>
            <p:nvPr/>
          </p:nvSpPr>
          <p:spPr bwMode="auto">
            <a:xfrm>
              <a:off x="6145213" y="4233863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7" name="Oval 10"/>
            <p:cNvSpPr>
              <a:spLocks noChangeArrowheads="1"/>
            </p:cNvSpPr>
            <p:nvPr/>
          </p:nvSpPr>
          <p:spPr bwMode="auto">
            <a:xfrm>
              <a:off x="6951663" y="4656138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908" name="Line 11"/>
            <p:cNvSpPr>
              <a:spLocks noChangeShapeType="1"/>
            </p:cNvSpPr>
            <p:nvPr/>
          </p:nvSpPr>
          <p:spPr bwMode="auto">
            <a:xfrm flipH="1">
              <a:off x="6799263" y="2735263"/>
              <a:ext cx="536575" cy="5381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9" name="Line 12"/>
            <p:cNvSpPr>
              <a:spLocks noChangeShapeType="1"/>
            </p:cNvSpPr>
            <p:nvPr/>
          </p:nvSpPr>
          <p:spPr bwMode="auto">
            <a:xfrm>
              <a:off x="7643813" y="2697163"/>
              <a:ext cx="498475" cy="6524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0" name="Line 13"/>
            <p:cNvSpPr>
              <a:spLocks noChangeShapeType="1"/>
            </p:cNvSpPr>
            <p:nvPr/>
          </p:nvSpPr>
          <p:spPr bwMode="auto">
            <a:xfrm>
              <a:off x="6799263" y="3541713"/>
              <a:ext cx="422275" cy="3460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1" name="Line 14"/>
            <p:cNvSpPr>
              <a:spLocks noChangeShapeType="1"/>
            </p:cNvSpPr>
            <p:nvPr/>
          </p:nvSpPr>
          <p:spPr bwMode="auto">
            <a:xfrm>
              <a:off x="7527925" y="4117975"/>
              <a:ext cx="692150" cy="4222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2" name="Line 15"/>
            <p:cNvSpPr>
              <a:spLocks noChangeShapeType="1"/>
            </p:cNvSpPr>
            <p:nvPr/>
          </p:nvSpPr>
          <p:spPr bwMode="auto">
            <a:xfrm>
              <a:off x="8296275" y="3619500"/>
              <a:ext cx="115888" cy="84455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3" name="Line 16"/>
            <p:cNvSpPr>
              <a:spLocks noChangeShapeType="1"/>
            </p:cNvSpPr>
            <p:nvPr/>
          </p:nvSpPr>
          <p:spPr bwMode="auto">
            <a:xfrm>
              <a:off x="7489825" y="2773363"/>
              <a:ext cx="844550" cy="1728787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4" name="Line 17"/>
            <p:cNvSpPr>
              <a:spLocks noChangeShapeType="1"/>
            </p:cNvSpPr>
            <p:nvPr/>
          </p:nvSpPr>
          <p:spPr bwMode="auto">
            <a:xfrm flipV="1">
              <a:off x="6529388" y="4117975"/>
              <a:ext cx="692150" cy="230188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5" name="Line 18"/>
            <p:cNvSpPr>
              <a:spLocks noChangeShapeType="1"/>
            </p:cNvSpPr>
            <p:nvPr/>
          </p:nvSpPr>
          <p:spPr bwMode="auto">
            <a:xfrm flipV="1">
              <a:off x="7183438" y="4156075"/>
              <a:ext cx="190500" cy="500063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6" name="Line 19"/>
            <p:cNvSpPr>
              <a:spLocks noChangeShapeType="1"/>
            </p:cNvSpPr>
            <p:nvPr/>
          </p:nvSpPr>
          <p:spPr bwMode="auto">
            <a:xfrm flipH="1" flipV="1">
              <a:off x="6489700" y="4540250"/>
              <a:ext cx="501650" cy="2698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17" name="Text Box 20"/>
            <p:cNvSpPr txBox="1">
              <a:spLocks noChangeArrowheads="1"/>
            </p:cNvSpPr>
            <p:nvPr/>
          </p:nvSpPr>
          <p:spPr bwMode="auto">
            <a:xfrm>
              <a:off x="7221538" y="3811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Helvetica" charset="0"/>
                </a:rPr>
                <a:t>2</a:t>
              </a:r>
            </a:p>
          </p:txBody>
        </p:sp>
        <p:sp>
          <p:nvSpPr>
            <p:cNvPr id="80918" name="Text Box 21"/>
            <p:cNvSpPr txBox="1">
              <a:spLocks noChangeArrowheads="1"/>
            </p:cNvSpPr>
            <p:nvPr/>
          </p:nvSpPr>
          <p:spPr bwMode="auto">
            <a:xfrm>
              <a:off x="64912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80919" name="Text Box 22"/>
            <p:cNvSpPr txBox="1">
              <a:spLocks noChangeArrowheads="1"/>
            </p:cNvSpPr>
            <p:nvPr/>
          </p:nvSpPr>
          <p:spPr bwMode="auto">
            <a:xfrm>
              <a:off x="6184900" y="4222750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Helvetica" charset="0"/>
                </a:rPr>
                <a:t>4</a:t>
              </a:r>
            </a:p>
          </p:txBody>
        </p:sp>
        <p:sp>
          <p:nvSpPr>
            <p:cNvPr id="80920" name="Text Box 23"/>
            <p:cNvSpPr txBox="1">
              <a:spLocks noChangeArrowheads="1"/>
            </p:cNvSpPr>
            <p:nvPr/>
          </p:nvSpPr>
          <p:spPr bwMode="auto">
            <a:xfrm>
              <a:off x="81041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5</a:t>
              </a:r>
            </a:p>
          </p:txBody>
        </p:sp>
        <p:sp>
          <p:nvSpPr>
            <p:cNvPr id="80921" name="Text Box 24"/>
            <p:cNvSpPr txBox="1">
              <a:spLocks noChangeArrowheads="1"/>
            </p:cNvSpPr>
            <p:nvPr/>
          </p:nvSpPr>
          <p:spPr bwMode="auto">
            <a:xfrm>
              <a:off x="8220075" y="44529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Helvetica" charset="0"/>
                </a:rPr>
                <a:t>6</a:t>
              </a:r>
            </a:p>
          </p:txBody>
        </p:sp>
        <p:sp>
          <p:nvSpPr>
            <p:cNvPr id="80922" name="Text Box 25"/>
            <p:cNvSpPr txBox="1">
              <a:spLocks noChangeArrowheads="1"/>
            </p:cNvSpPr>
            <p:nvPr/>
          </p:nvSpPr>
          <p:spPr bwMode="auto">
            <a:xfrm>
              <a:off x="7010400" y="4645025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latin typeface="Helvetica" charset="0"/>
                </a:rPr>
                <a:t>7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79006" y="389874"/>
            <a:ext cx="3353708" cy="3095441"/>
            <a:chOff x="379006" y="389874"/>
            <a:chExt cx="3353708" cy="3095441"/>
          </a:xfrm>
          <a:effectLst/>
        </p:grpSpPr>
        <p:sp>
          <p:nvSpPr>
            <p:cNvPr id="4" name="TextBox 3"/>
            <p:cNvSpPr txBox="1"/>
            <p:nvPr/>
          </p:nvSpPr>
          <p:spPr>
            <a:xfrm>
              <a:off x="1693365" y="389874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(1,0,1)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12041" y="1850427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(2,0,2)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9656" y="1348813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(3,0,3)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79006" y="2274981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(4,0,4)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41888" y="1341451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(5,0,5)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04428" y="3083718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(6,0,6)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1774" y="3115983"/>
              <a:ext cx="7908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(7,0,7)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917721" y="533812"/>
            <a:ext cx="2459037" cy="2651125"/>
            <a:chOff x="6145213" y="2390775"/>
            <a:chExt cx="2459037" cy="2651125"/>
          </a:xfrm>
          <a:effectLst/>
        </p:grpSpPr>
        <p:sp>
          <p:nvSpPr>
            <p:cNvPr id="37" name="Oval 4"/>
            <p:cNvSpPr>
              <a:spLocks noChangeArrowheads="1"/>
            </p:cNvSpPr>
            <p:nvPr/>
          </p:nvSpPr>
          <p:spPr bwMode="auto">
            <a:xfrm>
              <a:off x="7259638" y="239077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auto">
            <a:xfrm>
              <a:off x="6453188" y="323532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8066088" y="323532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7"/>
            <p:cNvSpPr>
              <a:spLocks noChangeArrowheads="1"/>
            </p:cNvSpPr>
            <p:nvPr/>
          </p:nvSpPr>
          <p:spPr bwMode="auto">
            <a:xfrm>
              <a:off x="7183438" y="3811588"/>
              <a:ext cx="422275" cy="384175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8"/>
            <p:cNvSpPr>
              <a:spLocks noChangeArrowheads="1"/>
            </p:cNvSpPr>
            <p:nvPr/>
          </p:nvSpPr>
          <p:spPr bwMode="auto">
            <a:xfrm>
              <a:off x="8181975" y="4464050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6145213" y="4233863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6951663" y="4656138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 flipH="1">
              <a:off x="6799263" y="2735263"/>
              <a:ext cx="536575" cy="5381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2"/>
            <p:cNvSpPr>
              <a:spLocks noChangeShapeType="1"/>
            </p:cNvSpPr>
            <p:nvPr/>
          </p:nvSpPr>
          <p:spPr bwMode="auto">
            <a:xfrm>
              <a:off x="7643813" y="2697163"/>
              <a:ext cx="498475" cy="6524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6799263" y="3541713"/>
              <a:ext cx="422275" cy="3460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7527925" y="4117975"/>
              <a:ext cx="692150" cy="4222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5"/>
            <p:cNvSpPr>
              <a:spLocks noChangeShapeType="1"/>
            </p:cNvSpPr>
            <p:nvPr/>
          </p:nvSpPr>
          <p:spPr bwMode="auto">
            <a:xfrm>
              <a:off x="8296275" y="3619500"/>
              <a:ext cx="115888" cy="84455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16"/>
            <p:cNvSpPr>
              <a:spLocks noChangeShapeType="1"/>
            </p:cNvSpPr>
            <p:nvPr/>
          </p:nvSpPr>
          <p:spPr bwMode="auto">
            <a:xfrm>
              <a:off x="7489825" y="2773363"/>
              <a:ext cx="844550" cy="1728787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7"/>
            <p:cNvSpPr>
              <a:spLocks noChangeShapeType="1"/>
            </p:cNvSpPr>
            <p:nvPr/>
          </p:nvSpPr>
          <p:spPr bwMode="auto">
            <a:xfrm flipV="1">
              <a:off x="6529388" y="4117975"/>
              <a:ext cx="692150" cy="230188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8"/>
            <p:cNvSpPr>
              <a:spLocks noChangeShapeType="1"/>
            </p:cNvSpPr>
            <p:nvPr/>
          </p:nvSpPr>
          <p:spPr bwMode="auto">
            <a:xfrm flipV="1">
              <a:off x="7183438" y="4156075"/>
              <a:ext cx="190500" cy="500063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19"/>
            <p:cNvSpPr>
              <a:spLocks noChangeShapeType="1"/>
            </p:cNvSpPr>
            <p:nvPr/>
          </p:nvSpPr>
          <p:spPr bwMode="auto">
            <a:xfrm flipH="1" flipV="1">
              <a:off x="6489700" y="4540250"/>
              <a:ext cx="501650" cy="2698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7221538" y="3811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2</a:t>
              </a:r>
            </a:p>
          </p:txBody>
        </p:sp>
        <p:sp>
          <p:nvSpPr>
            <p:cNvPr id="54" name="Text Box 21"/>
            <p:cNvSpPr txBox="1">
              <a:spLocks noChangeArrowheads="1"/>
            </p:cNvSpPr>
            <p:nvPr/>
          </p:nvSpPr>
          <p:spPr bwMode="auto">
            <a:xfrm>
              <a:off x="64912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6184900" y="4222750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4</a:t>
              </a:r>
            </a:p>
          </p:txBody>
        </p:sp>
        <p:sp>
          <p:nvSpPr>
            <p:cNvPr id="56" name="Text Box 23"/>
            <p:cNvSpPr txBox="1">
              <a:spLocks noChangeArrowheads="1"/>
            </p:cNvSpPr>
            <p:nvPr/>
          </p:nvSpPr>
          <p:spPr bwMode="auto">
            <a:xfrm>
              <a:off x="81041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5</a:t>
              </a:r>
            </a:p>
          </p:txBody>
        </p:sp>
        <p:sp>
          <p:nvSpPr>
            <p:cNvPr id="57" name="Text Box 24"/>
            <p:cNvSpPr txBox="1">
              <a:spLocks noChangeArrowheads="1"/>
            </p:cNvSpPr>
            <p:nvPr/>
          </p:nvSpPr>
          <p:spPr bwMode="auto">
            <a:xfrm>
              <a:off x="8220075" y="44529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58" name="Text Box 25"/>
            <p:cNvSpPr txBox="1">
              <a:spLocks noChangeArrowheads="1"/>
            </p:cNvSpPr>
            <p:nvPr/>
          </p:nvSpPr>
          <p:spPr bwMode="auto">
            <a:xfrm>
              <a:off x="7010400" y="4645025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7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6820260" y="186849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(1,0,1)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8936" y="1647402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(2,0,2)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6551" y="1145788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(1,1,3)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6551" y="2036406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(2,1,4)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5492" y="1166536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(1,1,5)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39863" y="2809110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(1,1,6)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3435" y="2979682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(2,1,7)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370112" y="2214799"/>
            <a:ext cx="896112" cy="0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444305" y="3276600"/>
            <a:ext cx="0" cy="663599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6061593" y="4086099"/>
            <a:ext cx="2459037" cy="2651125"/>
            <a:chOff x="6145213" y="2390775"/>
            <a:chExt cx="2459037" cy="2651125"/>
          </a:xfrm>
          <a:effectLst/>
        </p:grpSpPr>
        <p:sp>
          <p:nvSpPr>
            <p:cNvPr id="74" name="Oval 4"/>
            <p:cNvSpPr>
              <a:spLocks noChangeArrowheads="1"/>
            </p:cNvSpPr>
            <p:nvPr/>
          </p:nvSpPr>
          <p:spPr bwMode="auto">
            <a:xfrm>
              <a:off x="7259638" y="239077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>
                  <a:latin typeface="Helvetica" charset="0"/>
                </a:rPr>
                <a:t>1</a:t>
              </a:r>
            </a:p>
          </p:txBody>
        </p:sp>
        <p:sp>
          <p:nvSpPr>
            <p:cNvPr id="75" name="Oval 5"/>
            <p:cNvSpPr>
              <a:spLocks noChangeArrowheads="1"/>
            </p:cNvSpPr>
            <p:nvPr/>
          </p:nvSpPr>
          <p:spPr bwMode="auto">
            <a:xfrm>
              <a:off x="6453188" y="323532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6"/>
            <p:cNvSpPr>
              <a:spLocks noChangeArrowheads="1"/>
            </p:cNvSpPr>
            <p:nvPr/>
          </p:nvSpPr>
          <p:spPr bwMode="auto">
            <a:xfrm>
              <a:off x="8066088" y="3235325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Oval 7"/>
            <p:cNvSpPr>
              <a:spLocks noChangeArrowheads="1"/>
            </p:cNvSpPr>
            <p:nvPr/>
          </p:nvSpPr>
          <p:spPr bwMode="auto">
            <a:xfrm>
              <a:off x="7183438" y="3811588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Oval 8"/>
            <p:cNvSpPr>
              <a:spLocks noChangeArrowheads="1"/>
            </p:cNvSpPr>
            <p:nvPr/>
          </p:nvSpPr>
          <p:spPr bwMode="auto">
            <a:xfrm>
              <a:off x="8181975" y="4464050"/>
              <a:ext cx="422275" cy="384175"/>
            </a:xfrm>
            <a:prstGeom prst="ellipse">
              <a:avLst/>
            </a:prstGeom>
            <a:solidFill>
              <a:srgbClr val="D3A6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Oval 9"/>
            <p:cNvSpPr>
              <a:spLocks noChangeArrowheads="1"/>
            </p:cNvSpPr>
            <p:nvPr/>
          </p:nvSpPr>
          <p:spPr bwMode="auto">
            <a:xfrm>
              <a:off x="6145213" y="4233863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Oval 10"/>
            <p:cNvSpPr>
              <a:spLocks noChangeArrowheads="1"/>
            </p:cNvSpPr>
            <p:nvPr/>
          </p:nvSpPr>
          <p:spPr bwMode="auto">
            <a:xfrm>
              <a:off x="6951663" y="4656138"/>
              <a:ext cx="422275" cy="382587"/>
            </a:xfrm>
            <a:prstGeom prst="ellipse">
              <a:avLst/>
            </a:prstGeom>
            <a:solidFill>
              <a:srgbClr val="CC99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11"/>
            <p:cNvSpPr>
              <a:spLocks noChangeShapeType="1"/>
            </p:cNvSpPr>
            <p:nvPr/>
          </p:nvSpPr>
          <p:spPr bwMode="auto">
            <a:xfrm flipH="1">
              <a:off x="6799263" y="2735263"/>
              <a:ext cx="536575" cy="5381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12"/>
            <p:cNvSpPr>
              <a:spLocks noChangeShapeType="1"/>
            </p:cNvSpPr>
            <p:nvPr/>
          </p:nvSpPr>
          <p:spPr bwMode="auto">
            <a:xfrm>
              <a:off x="7643813" y="2697163"/>
              <a:ext cx="498475" cy="652462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13"/>
            <p:cNvSpPr>
              <a:spLocks noChangeShapeType="1"/>
            </p:cNvSpPr>
            <p:nvPr/>
          </p:nvSpPr>
          <p:spPr bwMode="auto">
            <a:xfrm>
              <a:off x="6799263" y="3541713"/>
              <a:ext cx="422275" cy="3460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14"/>
            <p:cNvSpPr>
              <a:spLocks noChangeShapeType="1"/>
            </p:cNvSpPr>
            <p:nvPr/>
          </p:nvSpPr>
          <p:spPr bwMode="auto">
            <a:xfrm>
              <a:off x="7527925" y="4117975"/>
              <a:ext cx="692150" cy="4222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15"/>
            <p:cNvSpPr>
              <a:spLocks noChangeShapeType="1"/>
            </p:cNvSpPr>
            <p:nvPr/>
          </p:nvSpPr>
          <p:spPr bwMode="auto">
            <a:xfrm>
              <a:off x="8296275" y="3619500"/>
              <a:ext cx="115888" cy="844550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16"/>
            <p:cNvSpPr>
              <a:spLocks noChangeShapeType="1"/>
            </p:cNvSpPr>
            <p:nvPr/>
          </p:nvSpPr>
          <p:spPr bwMode="auto">
            <a:xfrm>
              <a:off x="7489825" y="2773363"/>
              <a:ext cx="844550" cy="1728787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17"/>
            <p:cNvSpPr>
              <a:spLocks noChangeShapeType="1"/>
            </p:cNvSpPr>
            <p:nvPr/>
          </p:nvSpPr>
          <p:spPr bwMode="auto">
            <a:xfrm flipV="1">
              <a:off x="6529388" y="4117975"/>
              <a:ext cx="692150" cy="230188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18"/>
            <p:cNvSpPr>
              <a:spLocks noChangeShapeType="1"/>
            </p:cNvSpPr>
            <p:nvPr/>
          </p:nvSpPr>
          <p:spPr bwMode="auto">
            <a:xfrm flipV="1">
              <a:off x="7183438" y="4156075"/>
              <a:ext cx="190500" cy="500063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19"/>
            <p:cNvSpPr>
              <a:spLocks noChangeShapeType="1"/>
            </p:cNvSpPr>
            <p:nvPr/>
          </p:nvSpPr>
          <p:spPr bwMode="auto">
            <a:xfrm flipH="1" flipV="1">
              <a:off x="6489700" y="4540250"/>
              <a:ext cx="501650" cy="269875"/>
            </a:xfrm>
            <a:prstGeom prst="line">
              <a:avLst/>
            </a:prstGeom>
            <a:noFill/>
            <a:ln w="3810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Text Box 20"/>
            <p:cNvSpPr txBox="1">
              <a:spLocks noChangeArrowheads="1"/>
            </p:cNvSpPr>
            <p:nvPr/>
          </p:nvSpPr>
          <p:spPr bwMode="auto">
            <a:xfrm>
              <a:off x="7221538" y="3811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2</a:t>
              </a:r>
            </a:p>
          </p:txBody>
        </p:sp>
        <p:sp>
          <p:nvSpPr>
            <p:cNvPr id="91" name="Text Box 21"/>
            <p:cNvSpPr txBox="1">
              <a:spLocks noChangeArrowheads="1"/>
            </p:cNvSpPr>
            <p:nvPr/>
          </p:nvSpPr>
          <p:spPr bwMode="auto">
            <a:xfrm>
              <a:off x="64912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3</a:t>
              </a:r>
            </a:p>
          </p:txBody>
        </p:sp>
        <p:sp>
          <p:nvSpPr>
            <p:cNvPr id="92" name="Text Box 22"/>
            <p:cNvSpPr txBox="1">
              <a:spLocks noChangeArrowheads="1"/>
            </p:cNvSpPr>
            <p:nvPr/>
          </p:nvSpPr>
          <p:spPr bwMode="auto">
            <a:xfrm>
              <a:off x="6184900" y="4222750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4</a:t>
              </a:r>
            </a:p>
          </p:txBody>
        </p:sp>
        <p:sp>
          <p:nvSpPr>
            <p:cNvPr id="93" name="Text Box 23"/>
            <p:cNvSpPr txBox="1">
              <a:spLocks noChangeArrowheads="1"/>
            </p:cNvSpPr>
            <p:nvPr/>
          </p:nvSpPr>
          <p:spPr bwMode="auto">
            <a:xfrm>
              <a:off x="8104188" y="3224213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5</a:t>
              </a:r>
            </a:p>
          </p:txBody>
        </p:sp>
        <p:sp>
          <p:nvSpPr>
            <p:cNvPr id="94" name="Text Box 24"/>
            <p:cNvSpPr txBox="1">
              <a:spLocks noChangeArrowheads="1"/>
            </p:cNvSpPr>
            <p:nvPr/>
          </p:nvSpPr>
          <p:spPr bwMode="auto">
            <a:xfrm>
              <a:off x="8220075" y="44529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6</a:t>
              </a:r>
            </a:p>
          </p:txBody>
        </p:sp>
        <p:sp>
          <p:nvSpPr>
            <p:cNvPr id="95" name="Text Box 25"/>
            <p:cNvSpPr txBox="1">
              <a:spLocks noChangeArrowheads="1"/>
            </p:cNvSpPr>
            <p:nvPr/>
          </p:nvSpPr>
          <p:spPr bwMode="auto">
            <a:xfrm>
              <a:off x="7010400" y="4645025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>
                  <a:latin typeface="Helvetica" charset="0"/>
                </a:rPr>
                <a:t>7</a:t>
              </a: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7579782" y="4086099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(1,0,1)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82808" y="5162341"/>
            <a:ext cx="798491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(1,2,2)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80423" y="4698075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(1,1,3)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80423" y="5588693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(2,1,4)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05965" y="4656943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(1,1,5)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75195" y="6432980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(1,1,6)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06168" y="6414226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(2,1,7)</a:t>
            </a:r>
          </a:p>
        </p:txBody>
      </p:sp>
      <p:sp>
        <p:nvSpPr>
          <p:cNvPr id="104" name="Oval 4"/>
          <p:cNvSpPr>
            <a:spLocks noChangeArrowheads="1"/>
          </p:cNvSpPr>
          <p:nvPr/>
        </p:nvSpPr>
        <p:spPr bwMode="auto">
          <a:xfrm>
            <a:off x="2281988" y="4016568"/>
            <a:ext cx="422275" cy="384175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>
                <a:latin typeface="Helvetica" charset="0"/>
              </a:rPr>
              <a:t>1</a:t>
            </a:r>
          </a:p>
        </p:txBody>
      </p:sp>
      <p:sp>
        <p:nvSpPr>
          <p:cNvPr id="105" name="Oval 5"/>
          <p:cNvSpPr>
            <a:spLocks noChangeArrowheads="1"/>
          </p:cNvSpPr>
          <p:nvPr/>
        </p:nvSpPr>
        <p:spPr bwMode="auto">
          <a:xfrm>
            <a:off x="1475538" y="4861118"/>
            <a:ext cx="422275" cy="384175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Oval 6"/>
          <p:cNvSpPr>
            <a:spLocks noChangeArrowheads="1"/>
          </p:cNvSpPr>
          <p:nvPr/>
        </p:nvSpPr>
        <p:spPr bwMode="auto">
          <a:xfrm>
            <a:off x="3088438" y="4861118"/>
            <a:ext cx="422275" cy="384175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" name="Oval 7"/>
          <p:cNvSpPr>
            <a:spLocks noChangeArrowheads="1"/>
          </p:cNvSpPr>
          <p:nvPr/>
        </p:nvSpPr>
        <p:spPr bwMode="auto">
          <a:xfrm>
            <a:off x="2205788" y="5437381"/>
            <a:ext cx="422275" cy="384175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Oval 8"/>
          <p:cNvSpPr>
            <a:spLocks noChangeArrowheads="1"/>
          </p:cNvSpPr>
          <p:nvPr/>
        </p:nvSpPr>
        <p:spPr bwMode="auto">
          <a:xfrm>
            <a:off x="3204325" y="6089843"/>
            <a:ext cx="422275" cy="384175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" name="Oval 9"/>
          <p:cNvSpPr>
            <a:spLocks noChangeArrowheads="1"/>
          </p:cNvSpPr>
          <p:nvPr/>
        </p:nvSpPr>
        <p:spPr bwMode="auto">
          <a:xfrm>
            <a:off x="1167563" y="5859656"/>
            <a:ext cx="422275" cy="382587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" name="Oval 10"/>
          <p:cNvSpPr>
            <a:spLocks noChangeArrowheads="1"/>
          </p:cNvSpPr>
          <p:nvPr/>
        </p:nvSpPr>
        <p:spPr bwMode="auto">
          <a:xfrm>
            <a:off x="1974013" y="6281931"/>
            <a:ext cx="422275" cy="382587"/>
          </a:xfrm>
          <a:prstGeom prst="ellipse">
            <a:avLst/>
          </a:prstGeom>
          <a:solidFill>
            <a:srgbClr val="D3A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Line 11"/>
          <p:cNvSpPr>
            <a:spLocks noChangeShapeType="1"/>
          </p:cNvSpPr>
          <p:nvPr/>
        </p:nvSpPr>
        <p:spPr bwMode="auto">
          <a:xfrm flipH="1">
            <a:off x="1821613" y="4361056"/>
            <a:ext cx="536575" cy="53816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Line 12"/>
          <p:cNvSpPr>
            <a:spLocks noChangeShapeType="1"/>
          </p:cNvSpPr>
          <p:nvPr/>
        </p:nvSpPr>
        <p:spPr bwMode="auto">
          <a:xfrm>
            <a:off x="2666163" y="4322956"/>
            <a:ext cx="498475" cy="65246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Line 13"/>
          <p:cNvSpPr>
            <a:spLocks noChangeShapeType="1"/>
          </p:cNvSpPr>
          <p:nvPr/>
        </p:nvSpPr>
        <p:spPr bwMode="auto">
          <a:xfrm>
            <a:off x="1821613" y="5167506"/>
            <a:ext cx="422275" cy="346075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" name="Line 14"/>
          <p:cNvSpPr>
            <a:spLocks noChangeShapeType="1"/>
          </p:cNvSpPr>
          <p:nvPr/>
        </p:nvSpPr>
        <p:spPr bwMode="auto">
          <a:xfrm>
            <a:off x="2550275" y="5743768"/>
            <a:ext cx="692150" cy="422275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Line 15"/>
          <p:cNvSpPr>
            <a:spLocks noChangeShapeType="1"/>
          </p:cNvSpPr>
          <p:nvPr/>
        </p:nvSpPr>
        <p:spPr bwMode="auto">
          <a:xfrm>
            <a:off x="3318625" y="5245293"/>
            <a:ext cx="115888" cy="84455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Line 16"/>
          <p:cNvSpPr>
            <a:spLocks noChangeShapeType="1"/>
          </p:cNvSpPr>
          <p:nvPr/>
        </p:nvSpPr>
        <p:spPr bwMode="auto">
          <a:xfrm>
            <a:off x="2512175" y="4399156"/>
            <a:ext cx="844550" cy="1728787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" name="Line 17"/>
          <p:cNvSpPr>
            <a:spLocks noChangeShapeType="1"/>
          </p:cNvSpPr>
          <p:nvPr/>
        </p:nvSpPr>
        <p:spPr bwMode="auto">
          <a:xfrm flipV="1">
            <a:off x="1551738" y="5743768"/>
            <a:ext cx="692150" cy="230188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Line 18"/>
          <p:cNvSpPr>
            <a:spLocks noChangeShapeType="1"/>
          </p:cNvSpPr>
          <p:nvPr/>
        </p:nvSpPr>
        <p:spPr bwMode="auto">
          <a:xfrm flipV="1">
            <a:off x="2205788" y="5781868"/>
            <a:ext cx="190500" cy="500063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Line 19"/>
          <p:cNvSpPr>
            <a:spLocks noChangeShapeType="1"/>
          </p:cNvSpPr>
          <p:nvPr/>
        </p:nvSpPr>
        <p:spPr bwMode="auto">
          <a:xfrm flipH="1" flipV="1">
            <a:off x="1512050" y="6166043"/>
            <a:ext cx="501650" cy="269875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0" name="Text Box 20"/>
          <p:cNvSpPr txBox="1">
            <a:spLocks noChangeArrowheads="1"/>
          </p:cNvSpPr>
          <p:nvPr/>
        </p:nvSpPr>
        <p:spPr bwMode="auto">
          <a:xfrm>
            <a:off x="2243888" y="5437381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2</a:t>
            </a:r>
          </a:p>
        </p:txBody>
      </p:sp>
      <p:sp>
        <p:nvSpPr>
          <p:cNvPr id="121" name="Text Box 21"/>
          <p:cNvSpPr txBox="1">
            <a:spLocks noChangeArrowheads="1"/>
          </p:cNvSpPr>
          <p:nvPr/>
        </p:nvSpPr>
        <p:spPr bwMode="auto">
          <a:xfrm>
            <a:off x="1513638" y="4850006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3</a:t>
            </a:r>
          </a:p>
        </p:txBody>
      </p:sp>
      <p:sp>
        <p:nvSpPr>
          <p:cNvPr id="122" name="Text Box 22"/>
          <p:cNvSpPr txBox="1">
            <a:spLocks noChangeArrowheads="1"/>
          </p:cNvSpPr>
          <p:nvPr/>
        </p:nvSpPr>
        <p:spPr bwMode="auto">
          <a:xfrm>
            <a:off x="1207250" y="584854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4</a:t>
            </a:r>
          </a:p>
        </p:txBody>
      </p:sp>
      <p:sp>
        <p:nvSpPr>
          <p:cNvPr id="123" name="Text Box 23"/>
          <p:cNvSpPr txBox="1">
            <a:spLocks noChangeArrowheads="1"/>
          </p:cNvSpPr>
          <p:nvPr/>
        </p:nvSpPr>
        <p:spPr bwMode="auto">
          <a:xfrm>
            <a:off x="3126538" y="4850006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5</a:t>
            </a:r>
          </a:p>
        </p:txBody>
      </p:sp>
      <p:sp>
        <p:nvSpPr>
          <p:cNvPr id="124" name="Text Box 24"/>
          <p:cNvSpPr txBox="1">
            <a:spLocks noChangeArrowheads="1"/>
          </p:cNvSpPr>
          <p:nvPr/>
        </p:nvSpPr>
        <p:spPr bwMode="auto">
          <a:xfrm>
            <a:off x="3242425" y="6078731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6</a:t>
            </a:r>
          </a:p>
        </p:txBody>
      </p:sp>
      <p:sp>
        <p:nvSpPr>
          <p:cNvPr id="125" name="Text Box 25"/>
          <p:cNvSpPr txBox="1">
            <a:spLocks noChangeArrowheads="1"/>
          </p:cNvSpPr>
          <p:nvPr/>
        </p:nvSpPr>
        <p:spPr bwMode="auto">
          <a:xfrm>
            <a:off x="2032750" y="6270818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85752" y="4016568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(1,0,1)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88778" y="5130158"/>
            <a:ext cx="779381" cy="338554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/>
              <a:t>(1,2,2)</a:t>
            </a:r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886393" y="4628544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(1,1,3)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86393" y="5519162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(1,3,4)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1935" y="4587412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(1,1,5)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81165" y="6363449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dirty="0"/>
              <a:t>(1,1,6)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312138" y="6344695"/>
            <a:ext cx="790826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(1,3,7)</a:t>
            </a:r>
          </a:p>
        </p:txBody>
      </p:sp>
      <p:cxnSp>
        <p:nvCxnSpPr>
          <p:cNvPr id="133" name="Straight Arrow Connector 132"/>
          <p:cNvCxnSpPr/>
          <p:nvPr/>
        </p:nvCxnSpPr>
        <p:spPr>
          <a:xfrm flipH="1" flipV="1">
            <a:off x="4278191" y="5499490"/>
            <a:ext cx="1005840" cy="0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9101C-E83F-68D7-6A43-270028C88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BEF03-5F1A-1259-C71C-FA2792D16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7AD44-FDD5-3640-B5FD-B68DA213B1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6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64" grpId="0"/>
      <p:bldP spid="6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4" grpId="1" animBg="1"/>
      <p:bldP spid="115" grpId="0" animBg="1"/>
      <p:bldP spid="115" grpId="1" animBg="1"/>
      <p:bldP spid="116" grpId="0" animBg="1"/>
      <p:bldP spid="117" grpId="0" animBg="1"/>
      <p:bldP spid="118" grpId="0" animBg="1"/>
      <p:bldP spid="119" grpId="0" animBg="1"/>
      <p:bldP spid="119" grpId="1" animBg="1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spanning tree algorithm</a:t>
            </a:r>
          </a:p>
        </p:txBody>
      </p:sp>
      <p:sp>
        <p:nvSpPr>
          <p:cNvPr id="10004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must react to failures</a:t>
            </a:r>
          </a:p>
          <a:p>
            <a:pPr lvl="1"/>
            <a:r>
              <a:rPr lang="en-US" dirty="0"/>
              <a:t>Failure of the root node</a:t>
            </a:r>
          </a:p>
          <a:p>
            <a:pPr lvl="1"/>
            <a:r>
              <a:rPr lang="en-US" dirty="0"/>
              <a:t>Failure of other switches and links</a:t>
            </a:r>
          </a:p>
          <a:p>
            <a:r>
              <a:rPr lang="en-US" dirty="0"/>
              <a:t>Root switch sends periodic root announcement messages </a:t>
            </a:r>
          </a:p>
          <a:p>
            <a:pPr lvl="1"/>
            <a:r>
              <a:rPr lang="en-US" dirty="0"/>
              <a:t>Other switches continue forwarding messages</a:t>
            </a:r>
          </a:p>
          <a:p>
            <a:r>
              <a:rPr lang="en-US" dirty="0"/>
              <a:t>Detecting failures through </a:t>
            </a:r>
            <a:r>
              <a:rPr lang="en-US" dirty="0">
                <a:solidFill>
                  <a:srgbClr val="0000FF"/>
                </a:solidFill>
              </a:rPr>
              <a:t>timeout</a:t>
            </a:r>
          </a:p>
          <a:p>
            <a:pPr lvl="1"/>
            <a:r>
              <a:rPr lang="en-US" dirty="0"/>
              <a:t>If no word from root, time out and claim to be the root!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Ethernet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/>
              <a:t>Forwarding </a:t>
            </a:r>
          </a:p>
          <a:p>
            <a:r>
              <a:rPr lang="en-US" dirty="0"/>
              <a:t>Discovery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51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on a spanning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Switches flood using the following rule: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(Ignore all ports not on spanning tree!)</a:t>
            </a:r>
          </a:p>
          <a:p>
            <a:pPr lvl="1"/>
            <a:r>
              <a:rPr lang="en-US" dirty="0"/>
              <a:t>Originating switch sends packet out all ports</a:t>
            </a:r>
          </a:p>
          <a:p>
            <a:pPr lvl="1"/>
            <a:r>
              <a:rPr lang="en-US" dirty="0"/>
              <a:t>When a packet arrives on one incoming port, send it out all ports other than the incoming port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2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on spanning tree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1219200" y="1828800"/>
            <a:ext cx="4724400" cy="3505200"/>
            <a:chOff x="1219200" y="1828800"/>
            <a:chExt cx="4724400" cy="3505200"/>
          </a:xfrm>
        </p:grpSpPr>
        <p:sp>
          <p:nvSpPr>
            <p:cNvPr id="36" name="Oval 35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8" name="Oval 37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5" name="Oval 54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6" name="Oval 55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7" name="Oval 56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8" name="Straight Connector 57"/>
            <p:cNvCxnSpPr>
              <a:stCxn id="36" idx="5"/>
              <a:endCxn id="42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>
              <a:stCxn id="36" idx="3"/>
              <a:endCxn id="38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>
              <a:stCxn id="38" idx="5"/>
              <a:endCxn id="55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>
              <a:endCxn id="54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>
              <a:stCxn id="56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>
              <a:endCxn id="56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>
              <a:endCxn id="53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Straight Connector 64"/>
            <p:cNvCxnSpPr>
              <a:endCxn id="57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>
              <a:endCxn id="41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Straight Connector 66"/>
            <p:cNvCxnSpPr>
              <a:endCxn id="40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>
              <a:endCxn id="40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>
              <a:endCxn id="40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>
              <a:endCxn id="41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>
              <a:stCxn id="42" idx="6"/>
              <a:endCxn id="56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/>
            <p:cNvCxnSpPr>
              <a:stCxn id="38" idx="6"/>
              <a:endCxn id="42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>
              <a:stCxn id="55" idx="0"/>
              <a:endCxn id="54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>
              <a:stCxn id="41" idx="7"/>
              <a:endCxn id="40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>
              <a:stCxn id="55" idx="0"/>
              <a:endCxn id="42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>
              <a:stCxn id="54" idx="0"/>
              <a:endCxn id="56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>
              <a:stCxn id="56" idx="7"/>
              <a:endCxn id="53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Straight Connector 78"/>
            <p:cNvCxnSpPr>
              <a:stCxn id="36" idx="7"/>
              <a:endCxn id="39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/>
            <p:cNvCxnSpPr>
              <a:stCxn id="42" idx="7"/>
              <a:endCxn id="39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77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/>
          <p:cNvGrpSpPr/>
          <p:nvPr/>
        </p:nvGrpSpPr>
        <p:grpSpPr>
          <a:xfrm>
            <a:off x="1233550" y="1829334"/>
            <a:ext cx="4724400" cy="3505200"/>
            <a:chOff x="1219200" y="1828800"/>
            <a:chExt cx="4724400" cy="3505200"/>
          </a:xfrm>
        </p:grpSpPr>
        <p:sp>
          <p:nvSpPr>
            <p:cNvPr id="117" name="Oval 116"/>
            <p:cNvSpPr/>
            <p:nvPr/>
          </p:nvSpPr>
          <p:spPr bwMode="auto">
            <a:xfrm>
              <a:off x="1828800" y="1828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8" name="Oval 117"/>
            <p:cNvSpPr/>
            <p:nvPr/>
          </p:nvSpPr>
          <p:spPr bwMode="auto">
            <a:xfrm>
              <a:off x="1219200" y="2971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3962400" y="2057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0" name="Oval 119"/>
            <p:cNvSpPr/>
            <p:nvPr/>
          </p:nvSpPr>
          <p:spPr bwMode="auto">
            <a:xfrm>
              <a:off x="3962400" y="43434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1" name="Oval 120"/>
            <p:cNvSpPr/>
            <p:nvPr/>
          </p:nvSpPr>
          <p:spPr bwMode="auto">
            <a:xfrm>
              <a:off x="2667000" y="5181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2" name="Oval 121"/>
            <p:cNvSpPr/>
            <p:nvPr/>
          </p:nvSpPr>
          <p:spPr bwMode="auto">
            <a:xfrm>
              <a:off x="2438400" y="3124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3" name="Oval 122"/>
            <p:cNvSpPr/>
            <p:nvPr/>
          </p:nvSpPr>
          <p:spPr bwMode="auto">
            <a:xfrm>
              <a:off x="5791200" y="2895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4" name="Oval 123"/>
            <p:cNvSpPr/>
            <p:nvPr/>
          </p:nvSpPr>
          <p:spPr bwMode="auto">
            <a:xfrm>
              <a:off x="2895600" y="37338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5" name="Oval 124"/>
            <p:cNvSpPr/>
            <p:nvPr/>
          </p:nvSpPr>
          <p:spPr bwMode="auto">
            <a:xfrm>
              <a:off x="1676400" y="46482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6" name="Oval 125"/>
            <p:cNvSpPr/>
            <p:nvPr/>
          </p:nvSpPr>
          <p:spPr bwMode="auto">
            <a:xfrm>
              <a:off x="3810000" y="3276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7" name="Oval 126"/>
            <p:cNvSpPr/>
            <p:nvPr/>
          </p:nvSpPr>
          <p:spPr bwMode="auto">
            <a:xfrm>
              <a:off x="5257800" y="44196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rgbClr val="0000FF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28" name="Straight Connector 127"/>
            <p:cNvCxnSpPr>
              <a:stCxn id="117" idx="5"/>
              <a:endCxn id="122" idx="0"/>
            </p:cNvCxnSpPr>
            <p:nvPr/>
          </p:nvCxnSpPr>
          <p:spPr bwMode="auto">
            <a:xfrm>
              <a:off x="1958882" y="1958882"/>
              <a:ext cx="5557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Straight Connector 128"/>
            <p:cNvCxnSpPr>
              <a:stCxn id="117" idx="3"/>
              <a:endCxn id="118" idx="0"/>
            </p:cNvCxnSpPr>
            <p:nvPr/>
          </p:nvCxnSpPr>
          <p:spPr bwMode="auto">
            <a:xfrm flipH="1">
              <a:off x="1295400" y="1958882"/>
              <a:ext cx="555718" cy="1012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0" name="Straight Connector 129"/>
            <p:cNvCxnSpPr>
              <a:stCxn id="118" idx="5"/>
              <a:endCxn id="125" idx="1"/>
            </p:cNvCxnSpPr>
            <p:nvPr/>
          </p:nvCxnSpPr>
          <p:spPr bwMode="auto">
            <a:xfrm>
              <a:off x="1349282" y="3101882"/>
              <a:ext cx="349436" cy="15686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1" name="Straight Connector 130"/>
            <p:cNvCxnSpPr>
              <a:endCxn id="124" idx="1"/>
            </p:cNvCxnSpPr>
            <p:nvPr/>
          </p:nvCxnSpPr>
          <p:spPr bwMode="auto">
            <a:xfrm>
              <a:off x="2590800" y="3200400"/>
              <a:ext cx="327118" cy="5557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2" name="Straight Connector 131"/>
            <p:cNvCxnSpPr>
              <a:stCxn id="126" idx="5"/>
            </p:cNvCxnSpPr>
            <p:nvPr/>
          </p:nvCxnSpPr>
          <p:spPr bwMode="auto">
            <a:xfrm>
              <a:off x="3940082" y="3406682"/>
              <a:ext cx="1362354" cy="1057554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Straight Connector 132"/>
            <p:cNvCxnSpPr>
              <a:endCxn id="126" idx="7"/>
            </p:cNvCxnSpPr>
            <p:nvPr/>
          </p:nvCxnSpPr>
          <p:spPr bwMode="auto">
            <a:xfrm flipH="1">
              <a:off x="3940082" y="2133600"/>
              <a:ext cx="98518" cy="1165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4" name="Straight Connector 133"/>
            <p:cNvCxnSpPr>
              <a:endCxn id="123" idx="4"/>
            </p:cNvCxnSpPr>
            <p:nvPr/>
          </p:nvCxnSpPr>
          <p:spPr bwMode="auto">
            <a:xfrm>
              <a:off x="4038600" y="2057400"/>
              <a:ext cx="1828800" cy="990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Straight Connector 134"/>
            <p:cNvCxnSpPr>
              <a:endCxn id="127" idx="0"/>
            </p:cNvCxnSpPr>
            <p:nvPr/>
          </p:nvCxnSpPr>
          <p:spPr bwMode="auto">
            <a:xfrm flipH="1">
              <a:off x="5334000" y="3048000"/>
              <a:ext cx="5334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6" name="Straight Connector 135"/>
            <p:cNvCxnSpPr>
              <a:endCxn id="121" idx="2"/>
            </p:cNvCxnSpPr>
            <p:nvPr/>
          </p:nvCxnSpPr>
          <p:spPr bwMode="auto">
            <a:xfrm>
              <a:off x="1752600" y="4648200"/>
              <a:ext cx="914400" cy="609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Straight Connector 136"/>
            <p:cNvCxnSpPr>
              <a:endCxn id="120" idx="3"/>
            </p:cNvCxnSpPr>
            <p:nvPr/>
          </p:nvCxnSpPr>
          <p:spPr bwMode="auto">
            <a:xfrm>
              <a:off x="2971800" y="3733800"/>
              <a:ext cx="1012918" cy="7396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Straight Connector 137"/>
            <p:cNvCxnSpPr>
              <a:endCxn id="120" idx="5"/>
            </p:cNvCxnSpPr>
            <p:nvPr/>
          </p:nvCxnSpPr>
          <p:spPr bwMode="auto">
            <a:xfrm flipH="1">
              <a:off x="4092482" y="4419600"/>
              <a:ext cx="1241518" cy="538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Straight Connector 138"/>
            <p:cNvCxnSpPr>
              <a:endCxn id="120" idx="1"/>
            </p:cNvCxnSpPr>
            <p:nvPr/>
          </p:nvCxnSpPr>
          <p:spPr bwMode="auto">
            <a:xfrm>
              <a:off x="3886200" y="3276600"/>
              <a:ext cx="985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Connector 139"/>
            <p:cNvCxnSpPr>
              <a:endCxn id="121" idx="0"/>
            </p:cNvCxnSpPr>
            <p:nvPr/>
          </p:nvCxnSpPr>
          <p:spPr bwMode="auto">
            <a:xfrm flipH="1">
              <a:off x="2743200" y="3810000"/>
              <a:ext cx="228600" cy="13716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Straight Connector 140"/>
            <p:cNvCxnSpPr>
              <a:stCxn id="122" idx="6"/>
              <a:endCxn id="126" idx="1"/>
            </p:cNvCxnSpPr>
            <p:nvPr/>
          </p:nvCxnSpPr>
          <p:spPr bwMode="auto">
            <a:xfrm>
              <a:off x="2590800" y="3200400"/>
              <a:ext cx="1241518" cy="985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Straight Connector 141"/>
            <p:cNvCxnSpPr>
              <a:stCxn id="118" idx="6"/>
              <a:endCxn id="122" idx="2"/>
            </p:cNvCxnSpPr>
            <p:nvPr/>
          </p:nvCxnSpPr>
          <p:spPr bwMode="auto">
            <a:xfrm>
              <a:off x="1371600" y="3048000"/>
              <a:ext cx="1066800" cy="152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Straight Connector 142"/>
            <p:cNvCxnSpPr>
              <a:stCxn id="125" idx="0"/>
              <a:endCxn id="124" idx="3"/>
            </p:cNvCxnSpPr>
            <p:nvPr/>
          </p:nvCxnSpPr>
          <p:spPr bwMode="auto">
            <a:xfrm flipV="1">
              <a:off x="1752600" y="3863882"/>
              <a:ext cx="1165318" cy="7843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stCxn id="121" idx="7"/>
              <a:endCxn id="120" idx="3"/>
            </p:cNvCxnSpPr>
            <p:nvPr/>
          </p:nvCxnSpPr>
          <p:spPr bwMode="auto">
            <a:xfrm flipV="1">
              <a:off x="2797082" y="4473482"/>
              <a:ext cx="1187636" cy="7304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stCxn id="125" idx="0"/>
              <a:endCxn id="122" idx="3"/>
            </p:cNvCxnSpPr>
            <p:nvPr/>
          </p:nvCxnSpPr>
          <p:spPr bwMode="auto">
            <a:xfrm flipV="1">
              <a:off x="1752600" y="3254282"/>
              <a:ext cx="708118" cy="13939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stCxn id="124" idx="0"/>
              <a:endCxn id="126" idx="2"/>
            </p:cNvCxnSpPr>
            <p:nvPr/>
          </p:nvCxnSpPr>
          <p:spPr bwMode="auto">
            <a:xfrm flipV="1">
              <a:off x="2971800" y="3352800"/>
              <a:ext cx="838200" cy="3810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stCxn id="126" idx="7"/>
              <a:endCxn id="123" idx="5"/>
            </p:cNvCxnSpPr>
            <p:nvPr/>
          </p:nvCxnSpPr>
          <p:spPr bwMode="auto">
            <a:xfrm flipV="1">
              <a:off x="3940082" y="3025682"/>
              <a:ext cx="1981200" cy="27323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stCxn id="117" idx="7"/>
              <a:endCxn id="119" idx="2"/>
            </p:cNvCxnSpPr>
            <p:nvPr/>
          </p:nvCxnSpPr>
          <p:spPr bwMode="auto">
            <a:xfrm>
              <a:off x="1958882" y="1851118"/>
              <a:ext cx="2003518" cy="28248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stCxn id="122" idx="7"/>
              <a:endCxn id="119" idx="0"/>
            </p:cNvCxnSpPr>
            <p:nvPr/>
          </p:nvCxnSpPr>
          <p:spPr bwMode="auto">
            <a:xfrm flipV="1">
              <a:off x="2568482" y="2057400"/>
              <a:ext cx="1470118" cy="108911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Flooding on spanning tree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1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isn’t flooding wasteful?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Yes, but we can use it to bootstrap more efficient forwarding</a:t>
            </a:r>
          </a:p>
          <a:p>
            <a:r>
              <a:rPr lang="en-US" dirty="0">
                <a:solidFill>
                  <a:srgbClr val="0000FF"/>
                </a:solidFill>
              </a:rPr>
              <a:t>Idea</a:t>
            </a:r>
            <a:r>
              <a:rPr lang="en-US" dirty="0"/>
              <a:t>: watch the packets going by, and learn from them</a:t>
            </a:r>
          </a:p>
          <a:p>
            <a:pPr lvl="1"/>
            <a:r>
              <a:rPr lang="en-US" dirty="0"/>
              <a:t>If node A sees a packet from node B come in on a particular port, it knows what port to use to reach B!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Works because there is only one path to B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6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Nodes can “learn” routes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Switch learns how to reach nodes by remembering where flooding packets came from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If flood packet </a:t>
            </a:r>
            <a:r>
              <a:rPr lang="en-US" u="sng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FF"/>
                </a:solidFill>
              </a:rPr>
              <a:t> Node A entered switch on port 4, then switch uses port 4 to send to Node A</a:t>
            </a:r>
          </a:p>
          <a:p>
            <a:pPr lvl="1"/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4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Flood first packet to node you are trying to reach</a:t>
            </a:r>
          </a:p>
          <a:p>
            <a:r>
              <a:rPr lang="en-US" dirty="0"/>
              <a:t>All switches learn where you are</a:t>
            </a:r>
          </a:p>
          <a:p>
            <a:r>
              <a:rPr lang="en-US" dirty="0"/>
              <a:t>When destination responds, some switches learn where it is…</a:t>
            </a:r>
          </a:p>
          <a:p>
            <a:pPr lvl="1"/>
            <a:r>
              <a:rPr lang="en-US" dirty="0"/>
              <a:t>Only some switches, because packet to you follows direct path, and is not flooded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1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flood packets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6670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endCxn id="9" idx="2"/>
          </p:cNvCxnSpPr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Rectangle 43"/>
          <p:cNvSpPr>
            <a:spLocks noChangeAspect="1"/>
          </p:cNvSpPr>
          <p:nvPr/>
        </p:nvSpPr>
        <p:spPr bwMode="auto">
          <a:xfrm>
            <a:off x="1600200" y="4572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7" name="Rectangle 46"/>
          <p:cNvSpPr>
            <a:spLocks noChangeAspect="1"/>
          </p:cNvSpPr>
          <p:nvPr/>
        </p:nvSpPr>
        <p:spPr bwMode="auto">
          <a:xfrm>
            <a:off x="2590800" y="5181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8" name="Rectangle 47"/>
          <p:cNvSpPr>
            <a:spLocks noChangeAspect="1"/>
          </p:cNvSpPr>
          <p:nvPr/>
        </p:nvSpPr>
        <p:spPr bwMode="auto">
          <a:xfrm>
            <a:off x="38862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9" name="Rectangle 48"/>
          <p:cNvSpPr>
            <a:spLocks noChangeAspect="1"/>
          </p:cNvSpPr>
          <p:nvPr/>
        </p:nvSpPr>
        <p:spPr bwMode="auto">
          <a:xfrm>
            <a:off x="5181600" y="4343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ectangle 49"/>
          <p:cNvSpPr>
            <a:spLocks noChangeAspect="1"/>
          </p:cNvSpPr>
          <p:nvPr/>
        </p:nvSpPr>
        <p:spPr bwMode="auto">
          <a:xfrm>
            <a:off x="3810000" y="32004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1" name="Rectangle 50"/>
          <p:cNvSpPr>
            <a:spLocks noChangeAspect="1"/>
          </p:cNvSpPr>
          <p:nvPr/>
        </p:nvSpPr>
        <p:spPr bwMode="auto">
          <a:xfrm>
            <a:off x="57912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2" name="Rectangle 51"/>
          <p:cNvSpPr>
            <a:spLocks noChangeAspect="1"/>
          </p:cNvSpPr>
          <p:nvPr/>
        </p:nvSpPr>
        <p:spPr bwMode="auto">
          <a:xfrm>
            <a:off x="3886200" y="1981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18" name="Rectangular Callout 17"/>
          <p:cNvSpPr/>
          <p:nvPr/>
        </p:nvSpPr>
        <p:spPr bwMode="auto">
          <a:xfrm>
            <a:off x="6261100" y="2057400"/>
            <a:ext cx="2895600" cy="1069848"/>
          </a:xfrm>
          <a:prstGeom prst="wedgeRectCallout">
            <a:avLst>
              <a:gd name="adj1" fmla="val -66009"/>
              <a:gd name="adj2" fmla="val 6368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286000" y="1295400"/>
            <a:ext cx="2895600" cy="1069848"/>
          </a:xfrm>
          <a:prstGeom prst="wedgeRectCallout">
            <a:avLst>
              <a:gd name="adj1" fmla="val -35746"/>
              <a:gd name="adj2" fmla="val 14440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A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Once a node has sent a flood message, all other switches know how to reach it….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B190-1B37-B635-3328-30112715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0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8" grpId="0" animBg="1"/>
      <p:bldP spid="53" grpId="0" animBg="1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B responds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828800" y="1828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219200" y="2971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962400" y="2057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962400" y="43434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2438400" y="3124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5791200" y="2895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895600" y="37338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1676400" y="46482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3810000" y="3276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257800" y="4419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16" name="Straight Connector 15"/>
          <p:cNvCxnSpPr>
            <a:stCxn id="5" idx="5"/>
            <a:endCxn id="10" idx="0"/>
          </p:cNvCxnSpPr>
          <p:nvPr/>
        </p:nvCxnSpPr>
        <p:spPr bwMode="auto">
          <a:xfrm>
            <a:off x="1958882" y="1958882"/>
            <a:ext cx="555718" cy="11653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5" idx="3"/>
            <a:endCxn id="6" idx="0"/>
          </p:cNvCxnSpPr>
          <p:nvPr/>
        </p:nvCxnSpPr>
        <p:spPr bwMode="auto">
          <a:xfrm flipH="1">
            <a:off x="1295400" y="1958882"/>
            <a:ext cx="555718" cy="1012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endCxn id="12" idx="1"/>
          </p:cNvCxnSpPr>
          <p:nvPr/>
        </p:nvCxnSpPr>
        <p:spPr bwMode="auto">
          <a:xfrm>
            <a:off x="2590800" y="3200400"/>
            <a:ext cx="327118" cy="5557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1" idx="4"/>
          </p:cNvCxnSpPr>
          <p:nvPr/>
        </p:nvCxnSpPr>
        <p:spPr bwMode="auto">
          <a:xfrm>
            <a:off x="4038600" y="2057400"/>
            <a:ext cx="1828800" cy="990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endCxn id="15" idx="0"/>
          </p:cNvCxnSpPr>
          <p:nvPr/>
        </p:nvCxnSpPr>
        <p:spPr bwMode="auto">
          <a:xfrm flipH="1">
            <a:off x="5334000" y="3048000"/>
            <a:ext cx="533400" cy="1371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1752600" y="4648200"/>
            <a:ext cx="914400" cy="6096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/>
          <p:cNvCxnSpPr>
            <a:endCxn id="8" idx="3"/>
          </p:cNvCxnSpPr>
          <p:nvPr/>
        </p:nvCxnSpPr>
        <p:spPr bwMode="auto">
          <a:xfrm>
            <a:off x="2971800" y="3733800"/>
            <a:ext cx="1012918" cy="7396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endCxn id="8" idx="5"/>
          </p:cNvCxnSpPr>
          <p:nvPr/>
        </p:nvCxnSpPr>
        <p:spPr bwMode="auto">
          <a:xfrm flipH="1">
            <a:off x="4092482" y="4419600"/>
            <a:ext cx="1241518" cy="5388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endCxn id="8" idx="1"/>
          </p:cNvCxnSpPr>
          <p:nvPr/>
        </p:nvCxnSpPr>
        <p:spPr bwMode="auto">
          <a:xfrm>
            <a:off x="3886200" y="3276600"/>
            <a:ext cx="98518" cy="10891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0" name="Straight Connector 69"/>
          <p:cNvCxnSpPr>
            <a:stCxn id="13" idx="0"/>
            <a:endCxn id="10" idx="3"/>
          </p:cNvCxnSpPr>
          <p:nvPr/>
        </p:nvCxnSpPr>
        <p:spPr bwMode="auto">
          <a:xfrm flipV="1">
            <a:off x="1752600" y="3254282"/>
            <a:ext cx="708118" cy="139391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ctangle 36"/>
          <p:cNvSpPr>
            <a:spLocks noChangeAspect="1"/>
          </p:cNvSpPr>
          <p:nvPr/>
        </p:nvSpPr>
        <p:spPr bwMode="auto">
          <a:xfrm>
            <a:off x="2438400" y="30480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Rectangle 42"/>
          <p:cNvSpPr>
            <a:spLocks noChangeAspect="1"/>
          </p:cNvSpPr>
          <p:nvPr/>
        </p:nvSpPr>
        <p:spPr bwMode="auto">
          <a:xfrm>
            <a:off x="2819400" y="3657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6" name="Rectangle 45"/>
          <p:cNvSpPr>
            <a:spLocks noChangeAspect="1"/>
          </p:cNvSpPr>
          <p:nvPr/>
        </p:nvSpPr>
        <p:spPr bwMode="auto">
          <a:xfrm>
            <a:off x="1143000" y="28956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0" y="44958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A</a:t>
            </a:r>
          </a:p>
        </p:txBody>
      </p:sp>
      <p:sp>
        <p:nvSpPr>
          <p:cNvPr id="53" name="Rectangular Callout 52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79606"/>
              <a:gd name="adj2" fmla="val 387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/>
                <a:cs typeface="Arial"/>
              </a:rPr>
              <a:t>When a node responds, </a:t>
            </a:r>
            <a:r>
              <a:rPr lang="en-US" sz="2800" u="sng" dirty="0">
                <a:latin typeface="Arial"/>
                <a:cs typeface="Arial"/>
              </a:rPr>
              <a:t>some</a:t>
            </a:r>
            <a:r>
              <a:rPr lang="en-US" sz="2800" dirty="0">
                <a:latin typeface="Arial"/>
                <a:cs typeface="Arial"/>
              </a:rPr>
              <a:t> of the switches learn where it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228600" y="31242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latin typeface="+mn-lt"/>
              </a:rPr>
              <a:t>Node B</a:t>
            </a:r>
          </a:p>
        </p:txBody>
      </p:sp>
      <p:sp>
        <p:nvSpPr>
          <p:cNvPr id="54" name="Rectangular Callout 53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55044"/>
              <a:gd name="adj2" fmla="val 11473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2" name="Rectangular Callout 41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41009"/>
              <a:gd name="adj2" fmla="val 168151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45" name="Rectangle 44"/>
          <p:cNvSpPr>
            <a:spLocks noChangeAspect="1"/>
          </p:cNvSpPr>
          <p:nvPr/>
        </p:nvSpPr>
        <p:spPr bwMode="auto">
          <a:xfrm>
            <a:off x="1828800" y="18288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5" name="Rectangle 54"/>
          <p:cNvSpPr>
            <a:spLocks noChangeAspect="1"/>
          </p:cNvSpPr>
          <p:nvPr/>
        </p:nvSpPr>
        <p:spPr bwMode="auto">
          <a:xfrm>
            <a:off x="3886200" y="4267200"/>
            <a:ext cx="228600" cy="228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1" name="Rectangular Callout 40"/>
          <p:cNvSpPr/>
          <p:nvPr/>
        </p:nvSpPr>
        <p:spPr bwMode="auto">
          <a:xfrm>
            <a:off x="2590800" y="1219200"/>
            <a:ext cx="2895600" cy="1069848"/>
          </a:xfrm>
          <a:prstGeom prst="wedgeRectCallout">
            <a:avLst>
              <a:gd name="adj1" fmla="val -12062"/>
              <a:gd name="adj2" fmla="val 232254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Node B can be reached</a:t>
            </a:r>
          </a:p>
          <a:p>
            <a:pPr lvl="0" algn="ctr"/>
            <a:r>
              <a:rPr lang="en-US" dirty="0">
                <a:solidFill>
                  <a:srgbClr val="F47A00"/>
                </a:solidFill>
                <a:ea typeface="ＭＳ Ｐゴシック" charset="0"/>
                <a:cs typeface="ＭＳ Ｐゴシック" charset="0"/>
              </a:rPr>
              <a:t> through this port</a:t>
            </a:r>
          </a:p>
        </p:txBody>
      </p:sp>
      <p:sp>
        <p:nvSpPr>
          <p:cNvPr id="56" name="Oval 55"/>
          <p:cNvSpPr/>
          <p:nvPr/>
        </p:nvSpPr>
        <p:spPr bwMode="auto">
          <a:xfrm>
            <a:off x="2590800" y="5181600"/>
            <a:ext cx="152400" cy="15240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3" grpId="0" animBg="1"/>
      <p:bldP spid="46" grpId="0" animBg="1"/>
      <p:bldP spid="53" grpId="0" animBg="1"/>
      <p:bldP spid="54" grpId="0" animBg="1"/>
      <p:bldP spid="42" grpId="0" animBg="1"/>
      <p:bldP spid="45" grpId="0" animBg="1"/>
      <p:bldP spid="55" grpId="0" animBg="1"/>
      <p:bldP spid="4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Ethernet switches are “self learning”</a:t>
            </a:r>
            <a:endParaRPr lang="en-US" dirty="0"/>
          </a:p>
        </p:txBody>
      </p:sp>
      <p:sp>
        <p:nvSpPr>
          <p:cNvPr id="665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packet arrives:</a:t>
            </a:r>
          </a:p>
          <a:p>
            <a:pPr lvl="1"/>
            <a:r>
              <a:rPr lang="en-US" dirty="0"/>
              <a:t>Inspect source MAC address, associate with incoming port</a:t>
            </a:r>
          </a:p>
          <a:p>
            <a:pPr lvl="1"/>
            <a:r>
              <a:rPr lang="en-US" dirty="0"/>
              <a:t>Store mapping in the switch table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time-to-live</a:t>
            </a:r>
            <a:r>
              <a:rPr lang="en-US" dirty="0"/>
              <a:t> field to eventually forget mapping</a:t>
            </a:r>
          </a:p>
        </p:txBody>
      </p:sp>
      <p:sp>
        <p:nvSpPr>
          <p:cNvPr id="66569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0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2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6574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5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6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7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578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6579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6580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6581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6582" name="Rectangle 21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Rectangle 22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Text Box 23"/>
          <p:cNvSpPr txBox="1">
            <a:spLocks noChangeArrowheads="1"/>
          </p:cNvSpPr>
          <p:nvPr/>
        </p:nvSpPr>
        <p:spPr bwMode="auto">
          <a:xfrm>
            <a:off x="457200" y="3886200"/>
            <a:ext cx="2814638" cy="707886"/>
          </a:xfrm>
          <a:prstGeom prst="rect">
            <a:avLst/>
          </a:prstGeom>
          <a:noFill/>
          <a:ln w="3810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dirty="0">
                <a:latin typeface="Helvetica" charset="0"/>
              </a:rPr>
              <a:t>Packet tells switch how to reach A.</a:t>
            </a:r>
          </a:p>
        </p:txBody>
      </p:sp>
      <p:sp>
        <p:nvSpPr>
          <p:cNvPr id="66585" name="Line 24"/>
          <p:cNvSpPr>
            <a:spLocks noChangeShapeType="1"/>
          </p:cNvSpPr>
          <p:nvPr/>
        </p:nvSpPr>
        <p:spPr bwMode="auto">
          <a:xfrm>
            <a:off x="3227388" y="4695825"/>
            <a:ext cx="69215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6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learning: Handling misses</a:t>
            </a:r>
          </a:p>
        </p:txBody>
      </p:sp>
      <p:sp>
        <p:nvSpPr>
          <p:cNvPr id="686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When packet arrives with unfamiliar destination</a:t>
            </a:r>
          </a:p>
          <a:p>
            <a:r>
              <a:rPr lang="en-US"/>
              <a:t>Forward packet out all other ports</a:t>
            </a:r>
          </a:p>
          <a:p>
            <a:r>
              <a:rPr lang="en-US"/>
              <a:t>Response may teach switch about that destination</a:t>
            </a:r>
            <a:endParaRPr lang="en-US" dirty="0"/>
          </a:p>
        </p:txBody>
      </p:sp>
      <p:sp>
        <p:nvSpPr>
          <p:cNvPr id="68617" name="Rectangle 4"/>
          <p:cNvSpPr>
            <a:spLocks noChangeArrowheads="1"/>
          </p:cNvSpPr>
          <p:nvPr/>
        </p:nvSpPr>
        <p:spPr bwMode="auto">
          <a:xfrm>
            <a:off x="3975100" y="5227638"/>
            <a:ext cx="355600" cy="88900"/>
          </a:xfrm>
          <a:prstGeom prst="rect">
            <a:avLst/>
          </a:prstGeom>
          <a:solidFill>
            <a:srgbClr val="CC99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l"/>
          </a:scene3d>
          <a:sp3d extrusionH="430200" prstMaterial="legacyMatte">
            <a:bevelT w="13500" h="13500" prst="angle"/>
            <a:bevelB w="13500" h="13500" prst="angle"/>
            <a:extrusionClr>
              <a:srgbClr val="CC99FF"/>
            </a:extrusionClr>
          </a:sp3d>
        </p:spPr>
        <p:txBody>
          <a:bodyPr wrap="none" anchor="ctr">
            <a:flatTx/>
          </a:bodyPr>
          <a:lstStyle/>
          <a:p>
            <a:endParaRPr lang="en-US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3968750" y="3946525"/>
          <a:ext cx="5127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3946525"/>
                        <a:ext cx="5127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998913" y="62071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62071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5383213" y="4975225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307948" imgH="1084823" progId="MS_ClipArt_Gallery.2">
                  <p:embed/>
                </p:oleObj>
              </mc:Choice>
              <mc:Fallback>
                <p:oleObj name="Clip" r:id="rId3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3213" y="4975225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2551113" y="4986338"/>
          <a:ext cx="5127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307948" imgH="1084823" progId="MS_ClipArt_Gallery.2">
                  <p:embed/>
                </p:oleObj>
              </mc:Choice>
              <mc:Fallback>
                <p:oleObj name="Clip" r:id="rId5" imgW="1307948" imgH="1084823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4986338"/>
                        <a:ext cx="5127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Rectangle 9"/>
          <p:cNvSpPr>
            <a:spLocks noChangeArrowheads="1"/>
          </p:cNvSpPr>
          <p:nvPr/>
        </p:nvSpPr>
        <p:spPr bwMode="auto">
          <a:xfrm>
            <a:off x="3033713" y="5129213"/>
            <a:ext cx="153987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Rectangle 10"/>
          <p:cNvSpPr>
            <a:spLocks noChangeArrowheads="1"/>
          </p:cNvSpPr>
          <p:nvPr/>
        </p:nvSpPr>
        <p:spPr bwMode="auto">
          <a:xfrm>
            <a:off x="5289550" y="5129213"/>
            <a:ext cx="153988" cy="1317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0" name="Rectangle 11"/>
          <p:cNvSpPr>
            <a:spLocks noChangeArrowheads="1"/>
          </p:cNvSpPr>
          <p:nvPr/>
        </p:nvSpPr>
        <p:spPr bwMode="auto">
          <a:xfrm>
            <a:off x="4210050" y="4386263"/>
            <a:ext cx="120650" cy="207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1" name="Rectangle 12"/>
          <p:cNvSpPr>
            <a:spLocks noChangeArrowheads="1"/>
          </p:cNvSpPr>
          <p:nvPr/>
        </p:nvSpPr>
        <p:spPr bwMode="auto">
          <a:xfrm>
            <a:off x="4217988" y="6013450"/>
            <a:ext cx="120650" cy="2079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8622" name="Line 13"/>
          <p:cNvSpPr>
            <a:spLocks noChangeShapeType="1"/>
          </p:cNvSpPr>
          <p:nvPr/>
        </p:nvSpPr>
        <p:spPr bwMode="auto">
          <a:xfrm>
            <a:off x="3187700" y="5184775"/>
            <a:ext cx="842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3" name="Line 14"/>
          <p:cNvSpPr>
            <a:spLocks noChangeShapeType="1"/>
          </p:cNvSpPr>
          <p:nvPr/>
        </p:nvSpPr>
        <p:spPr bwMode="auto">
          <a:xfrm>
            <a:off x="4256088" y="45974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4" name="Line 15"/>
          <p:cNvSpPr>
            <a:spLocks noChangeShapeType="1"/>
          </p:cNvSpPr>
          <p:nvPr/>
        </p:nvSpPr>
        <p:spPr bwMode="auto">
          <a:xfrm flipH="1">
            <a:off x="4419600" y="5184775"/>
            <a:ext cx="852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5" name="Line 16"/>
          <p:cNvSpPr>
            <a:spLocks noChangeShapeType="1"/>
          </p:cNvSpPr>
          <p:nvPr/>
        </p:nvSpPr>
        <p:spPr bwMode="auto">
          <a:xfrm flipV="1">
            <a:off x="4256088" y="5305425"/>
            <a:ext cx="11112" cy="687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8626" name="Text Box 17"/>
          <p:cNvSpPr txBox="1">
            <a:spLocks noChangeArrowheads="1"/>
          </p:cNvSpPr>
          <p:nvPr/>
        </p:nvSpPr>
        <p:spPr bwMode="auto">
          <a:xfrm>
            <a:off x="2090738" y="49260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A</a:t>
            </a:r>
          </a:p>
        </p:txBody>
      </p:sp>
      <p:sp>
        <p:nvSpPr>
          <p:cNvPr id="68627" name="Text Box 18"/>
          <p:cNvSpPr txBox="1">
            <a:spLocks noChangeArrowheads="1"/>
          </p:cNvSpPr>
          <p:nvPr/>
        </p:nvSpPr>
        <p:spPr bwMode="auto">
          <a:xfrm>
            <a:off x="4587875" y="388937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B</a:t>
            </a:r>
          </a:p>
        </p:txBody>
      </p:sp>
      <p:sp>
        <p:nvSpPr>
          <p:cNvPr id="68628" name="Text Box 19"/>
          <p:cNvSpPr txBox="1">
            <a:spLocks noChangeArrowheads="1"/>
          </p:cNvSpPr>
          <p:nvPr/>
        </p:nvSpPr>
        <p:spPr bwMode="auto">
          <a:xfrm>
            <a:off x="6008688" y="4964113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C</a:t>
            </a:r>
          </a:p>
        </p:txBody>
      </p:sp>
      <p:sp>
        <p:nvSpPr>
          <p:cNvPr id="68629" name="Text Box 20"/>
          <p:cNvSpPr txBox="1">
            <a:spLocks noChangeArrowheads="1"/>
          </p:cNvSpPr>
          <p:nvPr/>
        </p:nvSpPr>
        <p:spPr bwMode="auto">
          <a:xfrm>
            <a:off x="4548188" y="61547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Helvetica" charset="0"/>
              </a:rPr>
              <a:t>D</a:t>
            </a:r>
          </a:p>
        </p:txBody>
      </p:sp>
      <p:sp>
        <p:nvSpPr>
          <p:cNvPr id="68631" name="Rectangle 22"/>
          <p:cNvSpPr>
            <a:spLocks noChangeArrowheads="1"/>
          </p:cNvSpPr>
          <p:nvPr/>
        </p:nvSpPr>
        <p:spPr bwMode="auto">
          <a:xfrm>
            <a:off x="3421063" y="4927600"/>
            <a:ext cx="460375" cy="153988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2" name="Rectangle 23"/>
          <p:cNvSpPr>
            <a:spLocks noChangeArrowheads="1"/>
          </p:cNvSpPr>
          <p:nvPr/>
        </p:nvSpPr>
        <p:spPr bwMode="auto">
          <a:xfrm>
            <a:off x="3727450" y="4927600"/>
            <a:ext cx="153988" cy="153988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3" name="Freeform 24"/>
          <p:cNvSpPr>
            <a:spLocks/>
          </p:cNvSpPr>
          <p:nvPr/>
        </p:nvSpPr>
        <p:spPr bwMode="auto">
          <a:xfrm>
            <a:off x="3957638" y="4581525"/>
            <a:ext cx="179387" cy="363538"/>
          </a:xfrm>
          <a:custGeom>
            <a:avLst/>
            <a:gdLst>
              <a:gd name="T0" fmla="*/ 0 w 113"/>
              <a:gd name="T1" fmla="*/ 2147483647 h 229"/>
              <a:gd name="T2" fmla="*/ 2147483647 w 113"/>
              <a:gd name="T3" fmla="*/ 2147483647 h 229"/>
              <a:gd name="T4" fmla="*/ 2147483647 w 113"/>
              <a:gd name="T5" fmla="*/ 0 h 229"/>
              <a:gd name="T6" fmla="*/ 0 60000 65536"/>
              <a:gd name="T7" fmla="*/ 0 60000 65536"/>
              <a:gd name="T8" fmla="*/ 0 60000 65536"/>
              <a:gd name="T9" fmla="*/ 0 w 113"/>
              <a:gd name="T10" fmla="*/ 0 h 229"/>
              <a:gd name="T11" fmla="*/ 113 w 113"/>
              <a:gd name="T12" fmla="*/ 229 h 2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3" h="229">
                <a:moveTo>
                  <a:pt x="0" y="218"/>
                </a:moveTo>
                <a:cubicBezTo>
                  <a:pt x="40" y="223"/>
                  <a:pt x="81" y="229"/>
                  <a:pt x="97" y="193"/>
                </a:cubicBezTo>
                <a:cubicBezTo>
                  <a:pt x="113" y="157"/>
                  <a:pt x="105" y="78"/>
                  <a:pt x="97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4" name="Freeform 25"/>
          <p:cNvSpPr>
            <a:spLocks/>
          </p:cNvSpPr>
          <p:nvPr/>
        </p:nvSpPr>
        <p:spPr bwMode="auto">
          <a:xfrm>
            <a:off x="3649663" y="5272088"/>
            <a:ext cx="498475" cy="538162"/>
          </a:xfrm>
          <a:custGeom>
            <a:avLst/>
            <a:gdLst>
              <a:gd name="T0" fmla="*/ 0 w 314"/>
              <a:gd name="T1" fmla="*/ 0 h 339"/>
              <a:gd name="T2" fmla="*/ 2147483647 w 314"/>
              <a:gd name="T3" fmla="*/ 2147483647 h 339"/>
              <a:gd name="T4" fmla="*/ 2147483647 w 314"/>
              <a:gd name="T5" fmla="*/ 2147483647 h 339"/>
              <a:gd name="T6" fmla="*/ 0 60000 65536"/>
              <a:gd name="T7" fmla="*/ 0 60000 65536"/>
              <a:gd name="T8" fmla="*/ 0 60000 65536"/>
              <a:gd name="T9" fmla="*/ 0 w 314"/>
              <a:gd name="T10" fmla="*/ 0 h 339"/>
              <a:gd name="T11" fmla="*/ 314 w 314"/>
              <a:gd name="T12" fmla="*/ 339 h 3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4" h="339">
                <a:moveTo>
                  <a:pt x="0" y="0"/>
                </a:moveTo>
                <a:cubicBezTo>
                  <a:pt x="109" y="32"/>
                  <a:pt x="218" y="65"/>
                  <a:pt x="266" y="121"/>
                </a:cubicBezTo>
                <a:cubicBezTo>
                  <a:pt x="314" y="177"/>
                  <a:pt x="302" y="258"/>
                  <a:pt x="290" y="339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26"/>
          <p:cNvSpPr>
            <a:spLocks noChangeShapeType="1"/>
          </p:cNvSpPr>
          <p:nvPr/>
        </p:nvSpPr>
        <p:spPr bwMode="auto">
          <a:xfrm>
            <a:off x="3957638" y="5003800"/>
            <a:ext cx="1228725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9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learning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loop by restricting to spanning tree</a:t>
            </a:r>
          </a:p>
          <a:p>
            <a:pPr lvl="1"/>
            <a:r>
              <a:rPr lang="en-US" dirty="0"/>
              <a:t>This makes flooding possible</a:t>
            </a:r>
          </a:p>
          <a:p>
            <a:r>
              <a:rPr lang="en-US" dirty="0"/>
              <a:t>Flooding allows packet to reach destination</a:t>
            </a:r>
          </a:p>
          <a:p>
            <a:r>
              <a:rPr lang="en-US" dirty="0"/>
              <a:t>And in the process switches learn how to reach source of flood</a:t>
            </a:r>
          </a:p>
          <a:p>
            <a:r>
              <a:rPr lang="en-US" dirty="0"/>
              <a:t>No route “computation”</a:t>
            </a:r>
          </a:p>
          <a:p>
            <a:r>
              <a:rPr lang="en-US" dirty="0"/>
              <a:t>Forwarding entries a consequence of traffic pattern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6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Contrast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Packets forwarded on all available links</a:t>
            </a:r>
          </a:p>
          <a:p>
            <a:r>
              <a:rPr lang="en-US" sz="2000" dirty="0"/>
              <a:t>Addresses can be aggregated</a:t>
            </a:r>
          </a:p>
          <a:p>
            <a:r>
              <a:rPr lang="en-US" sz="2000" dirty="0"/>
              <a:t>Routing protocol computes loop-free paths</a:t>
            </a:r>
          </a:p>
          <a:p>
            <a:r>
              <a:rPr lang="en-US" sz="2000" dirty="0"/>
              <a:t>Forwarding table computed by routing protocol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2400" dirty="0"/>
              <a:t>Ethernet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000" dirty="0"/>
              <a:t>Packets forwarded on subset of links (spanning tree)</a:t>
            </a:r>
          </a:p>
          <a:p>
            <a:r>
              <a:rPr lang="en-US" sz="2000" dirty="0"/>
              <a:t>Flat addresses</a:t>
            </a:r>
          </a:p>
          <a:p>
            <a:r>
              <a:rPr lang="en-US" sz="2000" dirty="0"/>
              <a:t>“Routing” protocol computes loop-free topology</a:t>
            </a:r>
          </a:p>
          <a:p>
            <a:r>
              <a:rPr lang="en-US" sz="2000" dirty="0"/>
              <a:t>Forwarding table derived from data packets(+ spanning tree for floods) </a:t>
            </a:r>
          </a:p>
          <a:p>
            <a:endParaRPr lang="en-US" sz="2000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F967-1287-0948-92AE-55309D19614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4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of Ethernet’s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/>
                <a:ea typeface="Arial" charset="0"/>
                <a:cs typeface="Arial"/>
              </a:rPr>
              <a:t>Plug-n-Play: zero-configuration / self-*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800" dirty="0">
                <a:latin typeface="Arial"/>
                <a:ea typeface="Arial" charset="0"/>
                <a:cs typeface="Arial"/>
              </a:rPr>
              <a:t>Simple</a:t>
            </a:r>
          </a:p>
          <a:p>
            <a:r>
              <a:rPr lang="en-US" sz="2800" dirty="0">
                <a:solidFill>
                  <a:srgbClr val="0000FF"/>
                </a:solidFill>
                <a:latin typeface="Arial"/>
                <a:ea typeface="Arial" charset="0"/>
                <a:cs typeface="Arial"/>
              </a:rPr>
              <a:t>Cheap</a:t>
            </a:r>
          </a:p>
          <a:p>
            <a:endParaRPr lang="en-US" sz="28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800" dirty="0">
              <a:latin typeface="Arial"/>
              <a:ea typeface="Arial" charset="0"/>
              <a:cs typeface="Arial"/>
            </a:endParaRPr>
          </a:p>
          <a:p>
            <a:endParaRPr lang="en-US" dirty="0">
              <a:latin typeface="Arial"/>
              <a:ea typeface="Arial" charset="0"/>
              <a:cs typeface="Arial"/>
            </a:endParaRPr>
          </a:p>
          <a:p>
            <a:pPr lvl="8"/>
            <a:endParaRPr lang="en-US" dirty="0">
              <a:latin typeface="Arial"/>
              <a:cs typeface="Arial"/>
            </a:endParaRPr>
          </a:p>
          <a:p>
            <a:pPr lvl="8"/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9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Ethernet’s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FF"/>
                </a:solidFill>
                <a:latin typeface="Arial"/>
                <a:ea typeface="Arial" charset="0"/>
                <a:cs typeface="Arial"/>
              </a:rPr>
              <a:t>Much of the network bandwidth goes unused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  <a:latin typeface="Arial"/>
                <a:ea typeface="Arial" charset="0"/>
                <a:cs typeface="Arial"/>
              </a:rPr>
              <a:t>Forwarding is only over the spanning tree</a:t>
            </a:r>
            <a:endParaRPr lang="en-US" sz="2800" dirty="0">
              <a:solidFill>
                <a:srgbClr val="0000FF"/>
              </a:solidFill>
              <a:latin typeface="Arial"/>
              <a:ea typeface="Arial" charset="0"/>
              <a:cs typeface="Arial"/>
            </a:endParaRPr>
          </a:p>
          <a:p>
            <a:r>
              <a:rPr lang="en-US" sz="2800" dirty="0">
                <a:latin typeface="Arial"/>
                <a:ea typeface="Arial" charset="0"/>
                <a:cs typeface="Arial"/>
              </a:rPr>
              <a:t>Delay in reestablishing spanning tree</a:t>
            </a:r>
          </a:p>
          <a:p>
            <a:pPr lvl="1"/>
            <a:r>
              <a:rPr lang="en-US" sz="2400" dirty="0">
                <a:latin typeface="Arial"/>
                <a:ea typeface="Arial" charset="0"/>
                <a:cs typeface="Arial"/>
              </a:rPr>
              <a:t>Network is “down” until spanning tree rebuilt</a:t>
            </a:r>
          </a:p>
          <a:p>
            <a:pPr lvl="1"/>
            <a:r>
              <a:rPr lang="en-US" sz="2400" dirty="0">
                <a:latin typeface="Arial"/>
                <a:ea typeface="Arial" charset="0"/>
                <a:cs typeface="Arial"/>
              </a:rPr>
              <a:t>Rebuilt spanning tree may be quite different</a:t>
            </a:r>
            <a:endParaRPr lang="en-US" dirty="0">
              <a:latin typeface="Arial"/>
              <a:cs typeface="Arial"/>
            </a:endParaRPr>
          </a:p>
          <a:p>
            <a:r>
              <a:rPr lang="en-US" sz="2800" dirty="0">
                <a:latin typeface="Arial"/>
                <a:cs typeface="Arial"/>
              </a:rPr>
              <a:t>Slow to react to host movement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Entries must time out</a:t>
            </a:r>
          </a:p>
          <a:p>
            <a:r>
              <a:rPr lang="en-US" sz="2800" dirty="0">
                <a:latin typeface="Arial"/>
                <a:cs typeface="Arial"/>
              </a:rPr>
              <a:t>Poor predictability </a:t>
            </a:r>
          </a:p>
          <a:p>
            <a:pPr lvl="1"/>
            <a:r>
              <a:rPr lang="en-US" sz="2400" dirty="0">
                <a:latin typeface="Arial"/>
                <a:cs typeface="Arial"/>
              </a:rPr>
              <a:t>Location of root and traffic pattern determines forwarding efficiency</a:t>
            </a:r>
            <a:endParaRPr lang="en-US" sz="2800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sz="2800" dirty="0">
              <a:latin typeface="Arial"/>
              <a:ea typeface="Arial" charset="0"/>
              <a:cs typeface="Arial"/>
            </a:endParaRPr>
          </a:p>
          <a:p>
            <a:endParaRPr lang="en-US" dirty="0">
              <a:latin typeface="Arial"/>
              <a:ea typeface="Arial" charset="0"/>
              <a:cs typeface="Arial"/>
            </a:endParaRPr>
          </a:p>
          <a:p>
            <a:pPr lvl="8"/>
            <a:endParaRPr lang="en-US" dirty="0">
              <a:latin typeface="Arial"/>
              <a:cs typeface="Arial"/>
            </a:endParaRPr>
          </a:p>
          <a:p>
            <a:pPr lvl="8"/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3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50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layer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Frames and framing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Addressing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Routing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Forwarding </a:t>
            </a:r>
          </a:p>
          <a:p>
            <a:r>
              <a:rPr lang="en-US" dirty="0"/>
              <a:t>Discovery and bootstrapping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57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host is “born” knowing only its MAC address</a:t>
            </a:r>
          </a:p>
          <a:p>
            <a:r>
              <a:rPr lang="en-US" dirty="0"/>
              <a:t>Must </a:t>
            </a:r>
            <a:r>
              <a:rPr lang="en-US" dirty="0">
                <a:solidFill>
                  <a:srgbClr val="0000FF"/>
                </a:solidFill>
              </a:rPr>
              <a:t>discover</a:t>
            </a:r>
            <a:r>
              <a:rPr lang="en-US" dirty="0"/>
              <a:t> lots of information before it can communicate with a remote host B</a:t>
            </a:r>
          </a:p>
          <a:p>
            <a:pPr lvl="1"/>
            <a:r>
              <a:rPr lang="en-US" dirty="0"/>
              <a:t>What is my IP address?  </a:t>
            </a:r>
          </a:p>
          <a:p>
            <a:pPr lvl="1"/>
            <a:r>
              <a:rPr lang="en-US" dirty="0"/>
              <a:t>What is B’s IP address? (remote) </a:t>
            </a:r>
          </a:p>
          <a:p>
            <a:pPr lvl="1"/>
            <a:r>
              <a:rPr lang="en-US" dirty="0"/>
              <a:t>What is B’s MAC address? (if B is local)</a:t>
            </a:r>
          </a:p>
          <a:p>
            <a:pPr lvl="1"/>
            <a:r>
              <a:rPr lang="en-US" dirty="0"/>
              <a:t>What is my first-hop router’s address? (if B is not local)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pPr lvl="1"/>
            <a:r>
              <a:rPr lang="en-US" dirty="0"/>
              <a:t>ARP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Address Resolution Protocol</a:t>
            </a:r>
          </a:p>
          <a:p>
            <a:pPr lvl="1"/>
            <a:r>
              <a:rPr lang="en-US" dirty="0"/>
              <a:t>DHCP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Confined to a single local-area network (LAN) </a:t>
            </a:r>
          </a:p>
          <a:p>
            <a:pPr lvl="1"/>
            <a:r>
              <a:rPr lang="en-US" dirty="0"/>
              <a:t>Rely on broadcast capability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1450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278619" y="460991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31450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278619" y="490201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3609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494519" y="506711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3018019" y="5587812"/>
            <a:ext cx="2819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4547470" y="5575112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058063" y="4628962"/>
            <a:ext cx="70852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dirty="0">
                <a:solidFill>
                  <a:srgbClr val="000000"/>
                </a:solidFill>
              </a:rPr>
              <a:t>Hosts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3352800" y="5949619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4335803" y="5981512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4547470" y="6396379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730315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4730315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946215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3662369" y="4616322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Line 6"/>
          <p:cNvSpPr>
            <a:spLocks noChangeShapeType="1"/>
          </p:cNvSpPr>
          <p:nvPr/>
        </p:nvSpPr>
        <p:spPr bwMode="auto">
          <a:xfrm>
            <a:off x="3662369" y="4908422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8"/>
          <p:cNvSpPr>
            <a:spLocks noChangeShapeType="1"/>
          </p:cNvSpPr>
          <p:nvPr/>
        </p:nvSpPr>
        <p:spPr bwMode="auto">
          <a:xfrm>
            <a:off x="3878269" y="5073522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280A49E-9A99-063A-7AE7-19B86B4C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75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20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ARP and 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layer discovery protocols</a:t>
            </a:r>
          </a:p>
          <a:p>
            <a:r>
              <a:rPr lang="en-US" dirty="0"/>
              <a:t>Serve two functions </a:t>
            </a:r>
          </a:p>
          <a:p>
            <a:pPr lvl="1"/>
            <a:r>
              <a:rPr lang="en-US" dirty="0"/>
              <a:t>Discovery of local end-hosts</a:t>
            </a:r>
          </a:p>
          <a:p>
            <a:pPr lvl="2"/>
            <a:r>
              <a:rPr lang="en-US" dirty="0"/>
              <a:t>For communication between hosts on the same LAN</a:t>
            </a:r>
          </a:p>
          <a:p>
            <a:pPr lvl="1"/>
            <a:r>
              <a:rPr lang="en-US" dirty="0"/>
              <a:t>Bootstrap communication with remote hosts</a:t>
            </a:r>
          </a:p>
          <a:p>
            <a:pPr lvl="2"/>
            <a:r>
              <a:rPr lang="en-US" dirty="0"/>
              <a:t>What’s my IP address?</a:t>
            </a:r>
          </a:p>
          <a:p>
            <a:pPr lvl="2"/>
            <a:r>
              <a:rPr lang="en-US" dirty="0"/>
              <a:t>Who/where is my local DNS server?</a:t>
            </a:r>
          </a:p>
          <a:p>
            <a:pPr lvl="2"/>
            <a:r>
              <a:rPr lang="en-US" dirty="0"/>
              <a:t>Who/where is my first hop router?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Host Configuration Protocol</a:t>
            </a:r>
          </a:p>
          <a:p>
            <a:pPr lvl="1"/>
            <a:r>
              <a:rPr lang="en-US" dirty="0"/>
              <a:t>Defined in RFC 2131</a:t>
            </a:r>
          </a:p>
          <a:p>
            <a:r>
              <a:rPr lang="en-US" dirty="0"/>
              <a:t>A host uses DHCP to discover</a:t>
            </a:r>
          </a:p>
          <a:p>
            <a:pPr lvl="1"/>
            <a:r>
              <a:rPr lang="en-US" dirty="0"/>
              <a:t>Its own IP address </a:t>
            </a:r>
          </a:p>
          <a:p>
            <a:pPr lvl="1"/>
            <a:r>
              <a:rPr lang="en-US" dirty="0"/>
              <a:t>Its netmask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local DNS name server(s) </a:t>
            </a:r>
          </a:p>
          <a:p>
            <a:pPr lvl="1"/>
            <a:r>
              <a:rPr lang="en-US" dirty="0"/>
              <a:t>IP address(</a:t>
            </a:r>
            <a:r>
              <a:rPr lang="en-US" dirty="0" err="1"/>
              <a:t>es</a:t>
            </a:r>
            <a:r>
              <a:rPr lang="en-US" dirty="0"/>
              <a:t>) for its first-hop “default” router(s) 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66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 </a:t>
            </a:r>
          </a:p>
          <a:p>
            <a:pPr lvl="1"/>
            <a:r>
              <a:rPr lang="en-US" dirty="0"/>
              <a:t>IP address pool, netmask, DNS servers, etc.</a:t>
            </a:r>
          </a:p>
          <a:p>
            <a:pPr lvl="1"/>
            <a:r>
              <a:rPr lang="en-US" dirty="0"/>
              <a:t>Application that listens on UDP port 67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9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pPr lvl="1"/>
            <a:r>
              <a:rPr lang="en-US" dirty="0"/>
              <a:t>L2 broadcast, to MAC address FF:FF:FF:FF:FF:FF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2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pPr lvl="1"/>
            <a:r>
              <a:rPr lang="en-US" dirty="0"/>
              <a:t>Proposed IP address for client, lease time</a:t>
            </a:r>
          </a:p>
          <a:p>
            <a:pPr lvl="1"/>
            <a:r>
              <a:rPr lang="en-US" dirty="0"/>
              <a:t>Other parameters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86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DHCP: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discovery</a:t>
            </a:r>
            <a:r>
              <a:rPr lang="en-US" dirty="0"/>
              <a:t>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</a:t>
            </a:r>
            <a:r>
              <a:rPr lang="en-US" dirty="0">
                <a:solidFill>
                  <a:srgbClr val="0000FF"/>
                </a:solidFill>
              </a:rPr>
              <a:t>request</a:t>
            </a:r>
            <a:r>
              <a:rPr lang="en-US" dirty="0"/>
              <a:t> message</a:t>
            </a:r>
          </a:p>
          <a:p>
            <a:pPr lvl="1"/>
            <a:r>
              <a:rPr lang="en-US" dirty="0"/>
              <a:t>Specifies which offer it wants </a:t>
            </a:r>
          </a:p>
          <a:p>
            <a:pPr lvl="1"/>
            <a:r>
              <a:rPr lang="en-US" dirty="0"/>
              <a:t>Echoes accepted parameters</a:t>
            </a:r>
          </a:p>
          <a:p>
            <a:pPr lvl="1"/>
            <a:r>
              <a:rPr lang="en-US" dirty="0"/>
              <a:t>Other DHCP servers learn they were not chosen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242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8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DHCP: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or more local DHCP servers maintain required information</a:t>
            </a:r>
          </a:p>
          <a:p>
            <a:r>
              <a:rPr lang="en-US" dirty="0"/>
              <a:t>Client broadcasts a DHCP discovery message</a:t>
            </a:r>
          </a:p>
          <a:p>
            <a:r>
              <a:rPr lang="en-US" dirty="0"/>
              <a:t>One or more DHCP servers responds with a DHCP “offer” message</a:t>
            </a:r>
          </a:p>
          <a:p>
            <a:r>
              <a:rPr lang="en-US" dirty="0"/>
              <a:t>Client broadcasts a DHCP request message</a:t>
            </a:r>
          </a:p>
          <a:p>
            <a:r>
              <a:rPr lang="en-US" dirty="0"/>
              <a:t>Selected DHCP server responds with an ACK</a:t>
            </a:r>
          </a:p>
          <a:p>
            <a:r>
              <a:rPr lang="en-US" dirty="0">
                <a:solidFill>
                  <a:srgbClr val="0000FF"/>
                </a:solidFill>
              </a:rPr>
              <a:t>DHCP “relay agents” used when the DHCP server is not on the same broadcast domain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63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DHCP uses “soft state”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state: if not refreshed, state is forgotten</a:t>
            </a:r>
          </a:p>
          <a:p>
            <a:pPr lvl="1"/>
            <a:r>
              <a:rPr lang="en-US" dirty="0"/>
              <a:t>Hard state: allocation/revocation is deliberate</a:t>
            </a:r>
          </a:p>
          <a:p>
            <a:r>
              <a:rPr lang="en-US" dirty="0"/>
              <a:t>Implementation:</a:t>
            </a:r>
          </a:p>
          <a:p>
            <a:pPr lvl="1"/>
            <a:r>
              <a:rPr lang="en-US" dirty="0"/>
              <a:t>Address allocations have a </a:t>
            </a:r>
            <a:r>
              <a:rPr lang="en-US" dirty="0">
                <a:solidFill>
                  <a:srgbClr val="0000FF"/>
                </a:solidFill>
              </a:rPr>
              <a:t>lease</a:t>
            </a:r>
            <a:r>
              <a:rPr lang="en-US" dirty="0"/>
              <a:t> period</a:t>
            </a:r>
          </a:p>
          <a:p>
            <a:pPr lvl="1"/>
            <a:r>
              <a:rPr lang="en-US" dirty="0"/>
              <a:t>Server sets a timer for each allocation</a:t>
            </a:r>
          </a:p>
          <a:p>
            <a:pPr lvl="1"/>
            <a:r>
              <a:rPr lang="en-US" dirty="0"/>
              <a:t>Client must request a refresh before lease expires</a:t>
            </a:r>
          </a:p>
          <a:p>
            <a:pPr lvl="1"/>
            <a:r>
              <a:rPr lang="en-US" dirty="0"/>
              <a:t>Server resets timer when a refresh arrives and ACKs</a:t>
            </a:r>
          </a:p>
          <a:p>
            <a:pPr lvl="2"/>
            <a:r>
              <a:rPr lang="en-US" dirty="0"/>
              <a:t>OR reclaims allocated address when timer expires</a:t>
            </a:r>
          </a:p>
          <a:p>
            <a:r>
              <a:rPr lang="en-US" dirty="0"/>
              <a:t>Simple, yet robust under failure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 state under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876800"/>
            <a:ext cx="7924800" cy="1143000"/>
          </a:xfrm>
        </p:spPr>
        <p:txBody>
          <a:bodyPr/>
          <a:lstStyle/>
          <a:p>
            <a:r>
              <a:rPr lang="en-US" sz="2400" dirty="0"/>
              <a:t>What happens when host XYZ fails? </a:t>
            </a:r>
          </a:p>
          <a:p>
            <a:pPr lvl="1"/>
            <a:r>
              <a:rPr lang="en-US" sz="2000" dirty="0"/>
              <a:t>Refreshes from XYZ stop</a:t>
            </a:r>
          </a:p>
          <a:p>
            <a:pPr lvl="1"/>
            <a:r>
              <a:rPr lang="en-US" sz="2000" dirty="0"/>
              <a:t>Server reclaims </a:t>
            </a:r>
            <a:r>
              <a:rPr lang="en-US" sz="2000" dirty="0" err="1"/>
              <a:t>a.b.c.d</a:t>
            </a:r>
            <a:r>
              <a:rPr lang="en-US" sz="2000" dirty="0"/>
              <a:t> after O(lease period)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403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2739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1403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2739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3562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4898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185047" y="4034731"/>
            <a:ext cx="3647676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6542774" y="403473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484620" y="4409238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6331107" y="4441131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725619" y="307594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>
            <a:off x="6725619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941519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657673" y="3075941"/>
            <a:ext cx="431800" cy="431800"/>
          </a:xfrm>
          <a:prstGeom prst="rect">
            <a:avLst/>
          </a:prstGeom>
          <a:solidFill>
            <a:schemeClr val="accent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5657673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5873573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5573839" y="3047914"/>
            <a:ext cx="58028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</a:rPr>
              <a:t>XYZ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252455" y="305857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4252455" y="335067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4468355" y="351577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110459" y="2485479"/>
            <a:ext cx="71694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rgbClr val="000000"/>
                </a:solidFill>
              </a:rPr>
              <a:t>DHCP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4468355" y="1500701"/>
            <a:ext cx="3364368" cy="791943"/>
          </a:xfrm>
          <a:prstGeom prst="wedgeEllipseCallout">
            <a:avLst>
              <a:gd name="adj1" fmla="val -12599"/>
              <a:gd name="adj2" fmla="val 137504"/>
            </a:avLst>
          </a:prstGeom>
          <a:solidFill>
            <a:schemeClr val="bg2">
              <a:lumMod val="9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mine from (now’, </a:t>
            </a:r>
            <a:r>
              <a:rPr lang="en-US" sz="1800" b="0" dirty="0" err="1">
                <a:solidFill>
                  <a:srgbClr val="000000"/>
                </a:solidFill>
              </a:rPr>
              <a:t>now’+lease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9" name="Oval Callout 28"/>
          <p:cNvSpPr/>
          <p:nvPr/>
        </p:nvSpPr>
        <p:spPr>
          <a:xfrm>
            <a:off x="268940" y="1940699"/>
            <a:ext cx="3287060" cy="791943"/>
          </a:xfrm>
          <a:prstGeom prst="wedgeEllipseCallout">
            <a:avLst>
              <a:gd name="adj1" fmla="val 76221"/>
              <a:gd name="adj2" fmla="val 111090"/>
            </a:avLst>
          </a:prstGeom>
          <a:solidFill>
            <a:schemeClr val="tx1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XYZ’s from (now, </a:t>
            </a:r>
            <a:r>
              <a:rPr lang="en-US" sz="1800" b="0" dirty="0" err="1">
                <a:solidFill>
                  <a:srgbClr val="000000"/>
                </a:solidFill>
              </a:rPr>
              <a:t>now+c.lease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2" name="Lightning Bolt 31"/>
          <p:cNvSpPr/>
          <p:nvPr/>
        </p:nvSpPr>
        <p:spPr>
          <a:xfrm>
            <a:off x="5494528" y="2852428"/>
            <a:ext cx="504098" cy="498164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0" name="Footer Placeholder 2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 state under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876800"/>
            <a:ext cx="7924800" cy="1143000"/>
          </a:xfrm>
        </p:spPr>
        <p:txBody>
          <a:bodyPr/>
          <a:lstStyle/>
          <a:p>
            <a:r>
              <a:rPr lang="en-US" sz="2400" dirty="0"/>
              <a:t>What happens when server fails? </a:t>
            </a:r>
          </a:p>
          <a:p>
            <a:pPr lvl="1"/>
            <a:r>
              <a:rPr lang="en-US" sz="2000" dirty="0"/>
              <a:t>ACKs from server stop</a:t>
            </a:r>
          </a:p>
          <a:p>
            <a:pPr lvl="1"/>
            <a:r>
              <a:rPr lang="en-US" sz="2000" dirty="0"/>
              <a:t>XYZ releases address  after O(lease period); send new request</a:t>
            </a:r>
          </a:p>
          <a:p>
            <a:pPr lvl="1"/>
            <a:r>
              <a:rPr lang="en-US" sz="2000" dirty="0"/>
              <a:t>A new DHCP server can come up from a `cold start’ and we are back on track in ~lease time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403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2739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1403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2739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3562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4898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185047" y="4034731"/>
            <a:ext cx="3647676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6542774" y="403473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484620" y="4409238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6331107" y="4441131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725619" y="307594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>
            <a:off x="6725619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941519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657673" y="3075941"/>
            <a:ext cx="431800" cy="431800"/>
          </a:xfrm>
          <a:prstGeom prst="rect">
            <a:avLst/>
          </a:prstGeom>
          <a:solidFill>
            <a:schemeClr val="accent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5657673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5873573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5573839" y="3047914"/>
            <a:ext cx="58028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</a:rPr>
              <a:t>XYZ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252455" y="305857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4252455" y="335067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4468355" y="351577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110459" y="2485479"/>
            <a:ext cx="71694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rgbClr val="000000"/>
                </a:solidFill>
              </a:rPr>
              <a:t>DHCP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31" name="Oval Callout 30"/>
          <p:cNvSpPr/>
          <p:nvPr/>
        </p:nvSpPr>
        <p:spPr>
          <a:xfrm>
            <a:off x="4468355" y="1500701"/>
            <a:ext cx="3364368" cy="791943"/>
          </a:xfrm>
          <a:prstGeom prst="wedgeEllipseCallout">
            <a:avLst>
              <a:gd name="adj1" fmla="val -12599"/>
              <a:gd name="adj2" fmla="val 137504"/>
            </a:avLst>
          </a:prstGeom>
          <a:solidFill>
            <a:schemeClr val="bg2">
              <a:lumMod val="9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mine from (now’, </a:t>
            </a:r>
            <a:r>
              <a:rPr lang="en-US" sz="1800" b="0" dirty="0" err="1">
                <a:solidFill>
                  <a:srgbClr val="000000"/>
                </a:solidFill>
              </a:rPr>
              <a:t>now’+lease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2" name="Oval Callout 31"/>
          <p:cNvSpPr/>
          <p:nvPr/>
        </p:nvSpPr>
        <p:spPr>
          <a:xfrm>
            <a:off x="268940" y="1940699"/>
            <a:ext cx="3287060" cy="791943"/>
          </a:xfrm>
          <a:prstGeom prst="wedgeEllipseCallout">
            <a:avLst>
              <a:gd name="adj1" fmla="val 76221"/>
              <a:gd name="adj2" fmla="val 111090"/>
            </a:avLst>
          </a:prstGeom>
          <a:solidFill>
            <a:schemeClr val="tx1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XYZ’s from (now, </a:t>
            </a:r>
            <a:r>
              <a:rPr lang="en-US" sz="1800" b="0" dirty="0" err="1">
                <a:solidFill>
                  <a:srgbClr val="000000"/>
                </a:solidFill>
              </a:rPr>
              <a:t>now+c.lease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0" name="Lightning Bolt 29"/>
          <p:cNvSpPr/>
          <p:nvPr/>
        </p:nvSpPr>
        <p:spPr>
          <a:xfrm>
            <a:off x="4150132" y="3047914"/>
            <a:ext cx="504098" cy="498164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30A3129-8C49-9840-B8AB-C3D473C3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00D7BE-4888-7159-0E45-44BA71CF0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66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 state under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4876800"/>
            <a:ext cx="7924800" cy="1143000"/>
          </a:xfrm>
        </p:spPr>
        <p:txBody>
          <a:bodyPr/>
          <a:lstStyle/>
          <a:p>
            <a:r>
              <a:rPr lang="en-US" sz="2400" dirty="0"/>
              <a:t>What happens if the network fails?</a:t>
            </a:r>
          </a:p>
          <a:p>
            <a:pPr lvl="1"/>
            <a:r>
              <a:rPr lang="en-US" sz="2000" dirty="0"/>
              <a:t>Refreshes and ACKs don’t get through </a:t>
            </a:r>
          </a:p>
          <a:p>
            <a:pPr lvl="1"/>
            <a:r>
              <a:rPr lang="en-US" sz="2000" dirty="0"/>
              <a:t>XYZ release address; DHCP server reclaims it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1403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273923" y="306953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51403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7273923" y="336163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3562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7489823" y="352673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185047" y="4034731"/>
            <a:ext cx="3647676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6542774" y="403473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5484620" y="4409238"/>
            <a:ext cx="90088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200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14" name="Oval 25"/>
          <p:cNvSpPr>
            <a:spLocks noChangeArrowheads="1"/>
          </p:cNvSpPr>
          <p:nvPr/>
        </p:nvSpPr>
        <p:spPr bwMode="auto">
          <a:xfrm>
            <a:off x="6331107" y="4441131"/>
            <a:ext cx="431800" cy="431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725619" y="307594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7"/>
          <p:cNvSpPr>
            <a:spLocks noChangeShapeType="1"/>
          </p:cNvSpPr>
          <p:nvPr/>
        </p:nvSpPr>
        <p:spPr bwMode="auto">
          <a:xfrm>
            <a:off x="6725619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6941519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657673" y="3075941"/>
            <a:ext cx="431800" cy="431800"/>
          </a:xfrm>
          <a:prstGeom prst="rect">
            <a:avLst/>
          </a:prstGeom>
          <a:solidFill>
            <a:schemeClr val="accent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5657673" y="336804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5873573" y="353314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5573839" y="3047914"/>
            <a:ext cx="58028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chemeClr val="bg1"/>
                </a:solidFill>
              </a:rPr>
              <a:t>XYZ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4252455" y="305857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4252455" y="335067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9"/>
          <p:cNvSpPr>
            <a:spLocks noChangeShapeType="1"/>
          </p:cNvSpPr>
          <p:nvPr/>
        </p:nvSpPr>
        <p:spPr bwMode="auto">
          <a:xfrm>
            <a:off x="4468355" y="351577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4110459" y="2485479"/>
            <a:ext cx="716944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dirty="0">
                <a:solidFill>
                  <a:srgbClr val="000000"/>
                </a:solidFill>
              </a:rPr>
              <a:t>DHCP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30" name="Lightning Bolt 29"/>
          <p:cNvSpPr/>
          <p:nvPr/>
        </p:nvSpPr>
        <p:spPr>
          <a:xfrm>
            <a:off x="4684255" y="3774696"/>
            <a:ext cx="504098" cy="498164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Callout 30"/>
          <p:cNvSpPr/>
          <p:nvPr/>
        </p:nvSpPr>
        <p:spPr>
          <a:xfrm>
            <a:off x="4468355" y="1500701"/>
            <a:ext cx="3364368" cy="791943"/>
          </a:xfrm>
          <a:prstGeom prst="wedgeEllipseCallout">
            <a:avLst>
              <a:gd name="adj1" fmla="val -12599"/>
              <a:gd name="adj2" fmla="val 137504"/>
            </a:avLst>
          </a:prstGeom>
          <a:solidFill>
            <a:schemeClr val="bg2">
              <a:lumMod val="9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mine from (now’, </a:t>
            </a:r>
            <a:r>
              <a:rPr lang="en-US" sz="1800" b="0" dirty="0" err="1">
                <a:solidFill>
                  <a:srgbClr val="000000"/>
                </a:solidFill>
              </a:rPr>
              <a:t>now’+lease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2" name="Oval Callout 31"/>
          <p:cNvSpPr/>
          <p:nvPr/>
        </p:nvSpPr>
        <p:spPr>
          <a:xfrm>
            <a:off x="268940" y="1940699"/>
            <a:ext cx="3287060" cy="791943"/>
          </a:xfrm>
          <a:prstGeom prst="wedgeEllipseCallout">
            <a:avLst>
              <a:gd name="adj1" fmla="val 76221"/>
              <a:gd name="adj2" fmla="val 111090"/>
            </a:avLst>
          </a:prstGeom>
          <a:solidFill>
            <a:schemeClr val="tx1">
              <a:lumMod val="20000"/>
              <a:lumOff val="80000"/>
            </a:schemeClr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1" dirty="0" err="1">
                <a:solidFill>
                  <a:srgbClr val="000000"/>
                </a:solidFill>
              </a:rPr>
              <a:t>a.b.c.d</a:t>
            </a:r>
            <a:r>
              <a:rPr lang="en-US" sz="1800" b="0" dirty="0">
                <a:solidFill>
                  <a:srgbClr val="000000"/>
                </a:solidFill>
              </a:rPr>
              <a:t> is XYZ’s from (now, </a:t>
            </a:r>
            <a:r>
              <a:rPr lang="en-US" sz="1800" b="0" dirty="0" err="1">
                <a:solidFill>
                  <a:srgbClr val="000000"/>
                </a:solidFill>
              </a:rPr>
              <a:t>now+c.lease</a:t>
            </a:r>
            <a:r>
              <a:rPr lang="en-US" sz="1800" b="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7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1981200" y="2209800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DHCP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6232135" y="2252563"/>
            <a:ext cx="759824" cy="52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  <a:br>
              <a:rPr lang="en-US" sz="1400" b="0" dirty="0">
                <a:solidFill>
                  <a:srgbClr val="000000"/>
                </a:solidFill>
              </a:rPr>
            </a:br>
            <a:r>
              <a:rPr lang="en-US" sz="1400" b="0" dirty="0">
                <a:solidFill>
                  <a:srgbClr val="000000"/>
                </a:solidFill>
              </a:rPr>
              <a:t>Server </a:t>
            </a:r>
          </a:p>
        </p:txBody>
      </p:sp>
      <p:sp>
        <p:nvSpPr>
          <p:cNvPr id="40" name="Title 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we there yet?</a:t>
            </a: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9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51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2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3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6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7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59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1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62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4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5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6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Oval Callout 34"/>
          <p:cNvSpPr/>
          <p:nvPr/>
        </p:nvSpPr>
        <p:spPr>
          <a:xfrm>
            <a:off x="-33454" y="4038600"/>
            <a:ext cx="3677139" cy="1795414"/>
          </a:xfrm>
          <a:prstGeom prst="wedgeEllipseCallout">
            <a:avLst>
              <a:gd name="adj1" fmla="val 51764"/>
              <a:gd name="adj2" fmla="val -98733"/>
            </a:avLst>
          </a:prstGeom>
          <a:solidFill>
            <a:srgbClr val="D3A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228600" y="4191000"/>
            <a:ext cx="3203909" cy="156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 eaLnBrk="0" hangingPunct="0"/>
            <a:r>
              <a:rPr lang="en-US" sz="1600" b="0" u="sng" dirty="0"/>
              <a:t>What I learnt from DHCP</a:t>
            </a:r>
          </a:p>
          <a:p>
            <a:pPr algn="ctr" eaLnBrk="0" hangingPunct="0"/>
            <a:r>
              <a:rPr lang="en-US" sz="1600" b="0" dirty="0"/>
              <a:t>my IP: 1.2.3.48</a:t>
            </a:r>
          </a:p>
          <a:p>
            <a:pPr algn="ctr" eaLnBrk="0" hangingPunct="0"/>
            <a:r>
              <a:rPr lang="en-US" sz="1600" b="0" dirty="0" err="1"/>
              <a:t>netmask</a:t>
            </a:r>
            <a:r>
              <a:rPr lang="en-US" sz="1600" b="0" dirty="0"/>
              <a:t>: 1.2.3.0/24 (255.255.255.0)</a:t>
            </a:r>
          </a:p>
          <a:p>
            <a:pPr algn="ctr" eaLnBrk="0" hangingPunct="0"/>
            <a:r>
              <a:rPr lang="en-US" sz="1600" b="0" dirty="0"/>
              <a:t>Local DNS: 1.2.3.156</a:t>
            </a:r>
          </a:p>
          <a:p>
            <a:pPr algn="ctr" eaLnBrk="0" hangingPunct="0"/>
            <a:r>
              <a:rPr lang="en-US" sz="1600" b="0" dirty="0"/>
              <a:t>router: 1.2.3.19</a:t>
            </a:r>
          </a:p>
        </p:txBody>
      </p:sp>
      <p:sp>
        <p:nvSpPr>
          <p:cNvPr id="73" name="Date Placeholder 7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4" name="Footer Placeholder 7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5" name="Slide Number Placeholder 7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1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packets over link Layer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800600"/>
            <a:ext cx="7924800" cy="1219200"/>
          </a:xfrm>
        </p:spPr>
        <p:txBody>
          <a:bodyPr/>
          <a:lstStyle/>
          <a:p>
            <a:r>
              <a:rPr lang="en-US"/>
              <a:t>Link layer only understands MAC addresses</a:t>
            </a:r>
          </a:p>
          <a:p>
            <a:pPr lvl="1"/>
            <a:r>
              <a:rPr lang="en-US" dirty="0"/>
              <a:t>Translate the destination IP address to MAC address</a:t>
            </a:r>
          </a:p>
          <a:p>
            <a:pPr lvl="1"/>
            <a:r>
              <a:rPr lang="en-US" dirty="0"/>
              <a:t>Encapsulate the IP packet in a link-level (Ethernet) frame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2998752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4927980" y="276671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2998752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4927980" y="305881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214652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5143880" y="322391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2043476" y="3731911"/>
            <a:ext cx="4911808" cy="127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7" name="Line 12"/>
          <p:cNvSpPr>
            <a:spLocks noChangeShapeType="1"/>
          </p:cNvSpPr>
          <p:nvPr/>
        </p:nvSpPr>
        <p:spPr bwMode="auto">
          <a:xfrm>
            <a:off x="4401203" y="3731911"/>
            <a:ext cx="0" cy="35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433619" y="4106418"/>
            <a:ext cx="71974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Router</a:t>
            </a:r>
          </a:p>
        </p:txBody>
      </p:sp>
      <p:sp>
        <p:nvSpPr>
          <p:cNvPr id="29" name="Oval 25"/>
          <p:cNvSpPr>
            <a:spLocks noChangeArrowheads="1"/>
          </p:cNvSpPr>
          <p:nvPr/>
        </p:nvSpPr>
        <p:spPr bwMode="auto">
          <a:xfrm>
            <a:off x="4189536" y="4038600"/>
            <a:ext cx="431800" cy="431800"/>
          </a:xfrm>
          <a:prstGeom prst="ellipse">
            <a:avLst/>
          </a:prstGeom>
          <a:solidFill>
            <a:srgbClr val="D3A600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4379676" y="2773121"/>
            <a:ext cx="431800" cy="431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4379676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2" name="Line 9"/>
          <p:cNvSpPr>
            <a:spLocks noChangeShapeType="1"/>
          </p:cNvSpPr>
          <p:nvPr/>
        </p:nvSpPr>
        <p:spPr bwMode="auto">
          <a:xfrm>
            <a:off x="4595576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516102" y="2773121"/>
            <a:ext cx="431800" cy="431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4" name="Line 6"/>
          <p:cNvSpPr>
            <a:spLocks noChangeShapeType="1"/>
          </p:cNvSpPr>
          <p:nvPr/>
        </p:nvSpPr>
        <p:spPr bwMode="auto">
          <a:xfrm>
            <a:off x="3516102" y="30652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5" name="Line 8"/>
          <p:cNvSpPr>
            <a:spLocks noChangeShapeType="1"/>
          </p:cNvSpPr>
          <p:nvPr/>
        </p:nvSpPr>
        <p:spPr bwMode="auto">
          <a:xfrm>
            <a:off x="3732002" y="32303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4868738" y="273377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4335032" y="274018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8" name="Rectangle 13"/>
          <p:cNvSpPr>
            <a:spLocks noChangeArrowheads="1"/>
          </p:cNvSpPr>
          <p:nvPr/>
        </p:nvSpPr>
        <p:spPr bwMode="auto">
          <a:xfrm>
            <a:off x="3446695" y="2745094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39" name="Rectangle 13"/>
          <p:cNvSpPr>
            <a:spLocks noChangeArrowheads="1"/>
          </p:cNvSpPr>
          <p:nvPr/>
        </p:nvSpPr>
        <p:spPr bwMode="auto">
          <a:xfrm>
            <a:off x="2956783" y="2736905"/>
            <a:ext cx="55143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Host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 bwMode="auto">
          <a:xfrm>
            <a:off x="2110884" y="2755758"/>
            <a:ext cx="431800" cy="431800"/>
          </a:xfrm>
          <a:prstGeom prst="rect">
            <a:avLst/>
          </a:prstGeom>
          <a:solidFill>
            <a:srgbClr val="3366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2110884" y="3047858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2326784" y="3212958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6361819" y="2798521"/>
            <a:ext cx="431800" cy="431800"/>
          </a:xfrm>
          <a:prstGeom prst="rect">
            <a:avLst/>
          </a:prstGeom>
          <a:solidFill>
            <a:srgbClr val="008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6361819" y="3090621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6" name="Line 9"/>
          <p:cNvSpPr>
            <a:spLocks noChangeShapeType="1"/>
          </p:cNvSpPr>
          <p:nvPr/>
        </p:nvSpPr>
        <p:spPr bwMode="auto">
          <a:xfrm>
            <a:off x="6577719" y="3255721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 b="0"/>
          </a:p>
        </p:txBody>
      </p:sp>
      <p:sp>
        <p:nvSpPr>
          <p:cNvPr id="48" name="Rectangle 13"/>
          <p:cNvSpPr>
            <a:spLocks noChangeArrowheads="1"/>
          </p:cNvSpPr>
          <p:nvPr/>
        </p:nvSpPr>
        <p:spPr bwMode="auto">
          <a:xfrm>
            <a:off x="6299799" y="2762861"/>
            <a:ext cx="56265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DNS</a:t>
            </a:r>
          </a:p>
        </p:txBody>
      </p:sp>
      <p:sp>
        <p:nvSpPr>
          <p:cNvPr id="49" name="Rectangle 13"/>
          <p:cNvSpPr>
            <a:spLocks noChangeArrowheads="1"/>
          </p:cNvSpPr>
          <p:nvPr/>
        </p:nvSpPr>
        <p:spPr bwMode="auto">
          <a:xfrm>
            <a:off x="3325363" y="2432225"/>
            <a:ext cx="82875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1.2.3.48</a:t>
            </a: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6103801" y="2461795"/>
            <a:ext cx="928139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400" b="0" dirty="0">
                <a:solidFill>
                  <a:srgbClr val="000000"/>
                </a:solidFill>
              </a:rPr>
              <a:t>1.2.3.156</a:t>
            </a:r>
          </a:p>
        </p:txBody>
      </p:sp>
      <p:sp>
        <p:nvSpPr>
          <p:cNvPr id="2" name="Rectangle 1"/>
          <p:cNvSpPr/>
          <p:nvPr/>
        </p:nvSpPr>
        <p:spPr>
          <a:xfrm>
            <a:off x="5680929" y="3237864"/>
            <a:ext cx="1745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rgbClr val="008000"/>
                </a:solidFill>
                <a:ea typeface="Arial" charset="0"/>
                <a:cs typeface="Arial" charset="0"/>
              </a:rPr>
              <a:t>58-23-D7-FA-20-B0</a:t>
            </a:r>
            <a:endParaRPr lang="en-US" sz="1400" b="0" dirty="0">
              <a:solidFill>
                <a:srgbClr val="008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52772" y="3212958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a typeface="Arial" charset="0"/>
                <a:cs typeface="Arial" charset="0"/>
              </a:rPr>
              <a:t>90-E2-A1-09-66-1B</a:t>
            </a:r>
            <a:endParaRPr lang="en-US" sz="1400" b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389473" y="3409763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1.2.3.53</a:t>
            </a: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389473" y="374603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>
                <a:latin typeface="+mn-lt"/>
              </a:rPr>
              <a:t>1.2.3.156</a:t>
            </a: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89473" y="4082611"/>
            <a:ext cx="1227480" cy="307777"/>
          </a:xfrm>
          <a:prstGeom prst="rect">
            <a:avLst/>
          </a:prstGeom>
          <a:solidFill>
            <a:srgbClr val="99CCFF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endParaRPr lang="en-US" sz="1400" b="0">
              <a:latin typeface="+mn-lt"/>
            </a:endParaRPr>
          </a:p>
        </p:txBody>
      </p:sp>
      <p:sp>
        <p:nvSpPr>
          <p:cNvPr id="56" name="Text Box 19"/>
          <p:cNvSpPr txBox="1">
            <a:spLocks noChangeArrowheads="1"/>
          </p:cNvSpPr>
          <p:nvPr/>
        </p:nvSpPr>
        <p:spPr bwMode="auto">
          <a:xfrm>
            <a:off x="467141" y="3027554"/>
            <a:ext cx="9894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+mn-lt"/>
              </a:rPr>
              <a:t>IP packet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CEE0B-29A9-8D48-BC8D-8B7AEB54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36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ARP: Address Resolution Protocol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host maintains an ARP table</a:t>
            </a:r>
          </a:p>
          <a:p>
            <a:pPr lvl="1"/>
            <a:r>
              <a:rPr lang="en-US" dirty="0"/>
              <a:t>List of (IP address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MAC address) pairs</a:t>
            </a:r>
          </a:p>
          <a:p>
            <a:r>
              <a:rPr lang="en-US" dirty="0"/>
              <a:t>Consult the table when sending a packet</a:t>
            </a:r>
          </a:p>
          <a:p>
            <a:pPr lvl="1"/>
            <a:r>
              <a:rPr lang="en-US" dirty="0"/>
              <a:t>Map dest. IP address to dest. MAC address</a:t>
            </a:r>
          </a:p>
          <a:p>
            <a:pPr lvl="1"/>
            <a:r>
              <a:rPr lang="en-US" dirty="0"/>
              <a:t>Encapsulate (IP) data packet with MAC header; xmit</a:t>
            </a:r>
          </a:p>
          <a:p>
            <a:r>
              <a:rPr lang="en-US" dirty="0">
                <a:solidFill>
                  <a:srgbClr val="0000FF"/>
                </a:solidFill>
              </a:rPr>
              <a:t>What if IP address not in the table?</a:t>
            </a:r>
          </a:p>
          <a:p>
            <a:pPr lvl="1"/>
            <a:r>
              <a:rPr lang="en-US" dirty="0"/>
              <a:t>Sender broadcasts: Who has IP address 1.2.3.156?</a:t>
            </a:r>
          </a:p>
          <a:p>
            <a:pPr lvl="1"/>
            <a:r>
              <a:rPr lang="en-US" dirty="0"/>
              <a:t>Receiver replies: MAC address 58-23-D7-FA-20-B0</a:t>
            </a:r>
          </a:p>
          <a:p>
            <a:pPr lvl="1"/>
            <a:r>
              <a:rPr lang="en-US" dirty="0"/>
              <a:t>Sender caches result in its ARP table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6777"/>
            <a:ext cx="8229600" cy="4411662"/>
          </a:xfrm>
        </p:spPr>
        <p:txBody>
          <a:bodyPr/>
          <a:lstStyle/>
          <a:p>
            <a:r>
              <a:rPr lang="en-US" sz="2400" dirty="0">
                <a:cs typeface="Arial" charset="0"/>
              </a:rPr>
              <a:t>Look up the MAC address of the first hop router</a:t>
            </a:r>
          </a:p>
          <a:p>
            <a:pPr lvl="1"/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1.2.3.48 uses ARP to find MAC address for first-hop router </a:t>
            </a:r>
            <a:r>
              <a:rPr lang="en-US" sz="2000" b="1" dirty="0">
                <a:solidFill>
                  <a:srgbClr val="000090"/>
                </a:solidFill>
                <a:ea typeface="Arial" charset="0"/>
                <a:cs typeface="Arial" charset="0"/>
              </a:rPr>
              <a:t>1.2.3.19</a:t>
            </a: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 rather than ultimate destination IP address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the destination is not local?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Uses netmask (discovered via DHCP)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ea typeface="Arial" charset="0"/>
                <a:cs typeface="Arial" charset="0"/>
              </a:rPr>
              <a:t>How does the red host know about 1.2.3.19?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rgbClr val="000090"/>
                </a:solidFill>
                <a:ea typeface="Arial" charset="0"/>
                <a:cs typeface="Arial" charset="0"/>
              </a:rPr>
              <a:t>Also DHCP</a:t>
            </a: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cs typeface="Arial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400" dirty="0">
              <a:cs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88940" y="4343212"/>
            <a:ext cx="8342327" cy="2390775"/>
            <a:chOff x="133" y="2589"/>
            <a:chExt cx="5255" cy="1506"/>
          </a:xfrm>
        </p:grpSpPr>
        <p:sp>
          <p:nvSpPr>
            <p:cNvPr id="57354" name="Line 5"/>
            <p:cNvSpPr>
              <a:spLocks noChangeShapeType="1"/>
            </p:cNvSpPr>
            <p:nvPr/>
          </p:nvSpPr>
          <p:spPr bwMode="auto">
            <a:xfrm>
              <a:off x="628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5" name="Line 6"/>
            <p:cNvSpPr>
              <a:spLocks noChangeShapeType="1"/>
            </p:cNvSpPr>
            <p:nvPr/>
          </p:nvSpPr>
          <p:spPr bwMode="auto">
            <a:xfrm>
              <a:off x="820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6" name="Line 7"/>
            <p:cNvSpPr>
              <a:spLocks noChangeShapeType="1"/>
            </p:cNvSpPr>
            <p:nvPr/>
          </p:nvSpPr>
          <p:spPr bwMode="auto">
            <a:xfrm>
              <a:off x="13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7" name="Line 8"/>
            <p:cNvSpPr>
              <a:spLocks noChangeShapeType="1"/>
            </p:cNvSpPr>
            <p:nvPr/>
          </p:nvSpPr>
          <p:spPr bwMode="auto">
            <a:xfrm>
              <a:off x="206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58" name="Rectangle 9"/>
            <p:cNvSpPr>
              <a:spLocks noChangeArrowheads="1"/>
            </p:cNvSpPr>
            <p:nvPr/>
          </p:nvSpPr>
          <p:spPr bwMode="auto">
            <a:xfrm>
              <a:off x="647" y="3028"/>
              <a:ext cx="361" cy="213"/>
            </a:xfrm>
            <a:prstGeom prst="rect">
              <a:avLst/>
            </a:prstGeom>
            <a:solidFill>
              <a:srgbClr val="FF33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59" name="Rectangle 10"/>
            <p:cNvSpPr>
              <a:spLocks noChangeArrowheads="1"/>
            </p:cNvSpPr>
            <p:nvPr/>
          </p:nvSpPr>
          <p:spPr bwMode="auto">
            <a:xfrm>
              <a:off x="1207" y="3028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/>
                <a:t>host</a:t>
              </a:r>
            </a:p>
          </p:txBody>
        </p:sp>
        <p:sp>
          <p:nvSpPr>
            <p:cNvPr id="57360" name="Rectangle 11"/>
            <p:cNvSpPr>
              <a:spLocks noChangeArrowheads="1"/>
            </p:cNvSpPr>
            <p:nvPr/>
          </p:nvSpPr>
          <p:spPr bwMode="auto">
            <a:xfrm>
              <a:off x="1867" y="3028"/>
              <a:ext cx="388" cy="213"/>
            </a:xfrm>
            <a:prstGeom prst="rect">
              <a:avLst/>
            </a:prstGeom>
            <a:solidFill>
              <a:srgbClr val="0099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accent2"/>
                  </a:solidFill>
                </a:rPr>
                <a:t>DNS</a:t>
              </a:r>
            </a:p>
          </p:txBody>
        </p:sp>
        <p:sp>
          <p:nvSpPr>
            <p:cNvPr id="57361" name="Text Box 12"/>
            <p:cNvSpPr txBox="1">
              <a:spLocks noChangeArrowheads="1"/>
            </p:cNvSpPr>
            <p:nvPr/>
          </p:nvSpPr>
          <p:spPr bwMode="auto">
            <a:xfrm>
              <a:off x="1588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62" name="Line 13"/>
            <p:cNvSpPr>
              <a:spLocks noChangeShapeType="1"/>
            </p:cNvSpPr>
            <p:nvPr/>
          </p:nvSpPr>
          <p:spPr bwMode="auto">
            <a:xfrm>
              <a:off x="3556" y="3402"/>
              <a:ext cx="163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3" name="Line 14"/>
            <p:cNvSpPr>
              <a:spLocks noChangeShapeType="1"/>
            </p:cNvSpPr>
            <p:nvPr/>
          </p:nvSpPr>
          <p:spPr bwMode="auto">
            <a:xfrm>
              <a:off x="3748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4" name="Line 15"/>
            <p:cNvSpPr>
              <a:spLocks noChangeShapeType="1"/>
            </p:cNvSpPr>
            <p:nvPr/>
          </p:nvSpPr>
          <p:spPr bwMode="auto">
            <a:xfrm>
              <a:off x="4324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5" name="Line 16"/>
            <p:cNvSpPr>
              <a:spLocks noChangeShapeType="1"/>
            </p:cNvSpPr>
            <p:nvPr/>
          </p:nvSpPr>
          <p:spPr bwMode="auto">
            <a:xfrm>
              <a:off x="4996" y="321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66" name="Rectangle 17"/>
            <p:cNvSpPr>
              <a:spLocks noChangeArrowheads="1"/>
            </p:cNvSpPr>
            <p:nvPr/>
          </p:nvSpPr>
          <p:spPr bwMode="auto">
            <a:xfrm>
              <a:off x="3571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7" name="Rectangle 18"/>
            <p:cNvSpPr>
              <a:spLocks noChangeArrowheads="1"/>
            </p:cNvSpPr>
            <p:nvPr/>
          </p:nvSpPr>
          <p:spPr bwMode="auto">
            <a:xfrm>
              <a:off x="4135" y="3027"/>
              <a:ext cx="361" cy="213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57368" name="Rectangle 19"/>
            <p:cNvSpPr>
              <a:spLocks noChangeArrowheads="1"/>
            </p:cNvSpPr>
            <p:nvPr/>
          </p:nvSpPr>
          <p:spPr bwMode="auto">
            <a:xfrm>
              <a:off x="4810" y="3027"/>
              <a:ext cx="361" cy="213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57369" name="Text Box 20"/>
            <p:cNvSpPr txBox="1">
              <a:spLocks noChangeArrowheads="1"/>
            </p:cNvSpPr>
            <p:nvPr/>
          </p:nvSpPr>
          <p:spPr bwMode="auto">
            <a:xfrm>
              <a:off x="4516" y="2969"/>
              <a:ext cx="22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57370" name="AutoShape 21"/>
            <p:cNvSpPr>
              <a:spLocks noChangeArrowheads="1"/>
            </p:cNvSpPr>
            <p:nvPr/>
          </p:nvSpPr>
          <p:spPr bwMode="auto">
            <a:xfrm>
              <a:off x="2740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1" name="Line 22"/>
            <p:cNvSpPr>
              <a:spLocks noChangeShapeType="1"/>
            </p:cNvSpPr>
            <p:nvPr/>
          </p:nvSpPr>
          <p:spPr bwMode="auto">
            <a:xfrm>
              <a:off x="1791" y="3377"/>
              <a:ext cx="0" cy="4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2" name="AutoShape 23"/>
            <p:cNvSpPr>
              <a:spLocks noChangeArrowheads="1"/>
            </p:cNvSpPr>
            <p:nvPr/>
          </p:nvSpPr>
          <p:spPr bwMode="auto">
            <a:xfrm>
              <a:off x="3892" y="3855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  <p:sp>
          <p:nvSpPr>
            <p:cNvPr id="57373" name="Line 24"/>
            <p:cNvSpPr>
              <a:spLocks noChangeShapeType="1"/>
            </p:cNvSpPr>
            <p:nvPr/>
          </p:nvSpPr>
          <p:spPr bwMode="auto">
            <a:xfrm flipH="1">
              <a:off x="4090" y="3394"/>
              <a:ext cx="0" cy="4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4" name="Line 25"/>
            <p:cNvSpPr>
              <a:spLocks noChangeShapeType="1"/>
            </p:cNvSpPr>
            <p:nvPr/>
          </p:nvSpPr>
          <p:spPr bwMode="auto">
            <a:xfrm>
              <a:off x="1972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5" name="Line 26"/>
            <p:cNvSpPr>
              <a:spLocks noChangeShapeType="1"/>
            </p:cNvSpPr>
            <p:nvPr/>
          </p:nvSpPr>
          <p:spPr bwMode="auto">
            <a:xfrm>
              <a:off x="3124" y="3951"/>
              <a:ext cx="76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57376" name="Text Box 27"/>
            <p:cNvSpPr txBox="1">
              <a:spLocks noChangeArrowheads="1"/>
            </p:cNvSpPr>
            <p:nvPr/>
          </p:nvSpPr>
          <p:spPr bwMode="auto">
            <a:xfrm>
              <a:off x="133" y="2589"/>
              <a:ext cx="19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1.2.3.0/24 (255.255.255.0)</a:t>
              </a:r>
            </a:p>
          </p:txBody>
        </p:sp>
        <p:sp>
          <p:nvSpPr>
            <p:cNvPr id="57377" name="Text Box 28"/>
            <p:cNvSpPr txBox="1">
              <a:spLocks noChangeArrowheads="1"/>
            </p:cNvSpPr>
            <p:nvPr/>
          </p:nvSpPr>
          <p:spPr bwMode="auto">
            <a:xfrm>
              <a:off x="4625" y="2822"/>
              <a:ext cx="76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5.6.7.0/24</a:t>
              </a:r>
            </a:p>
          </p:txBody>
        </p:sp>
        <p:sp>
          <p:nvSpPr>
            <p:cNvPr id="57379" name="Text Box 30"/>
            <p:cNvSpPr txBox="1">
              <a:spLocks noChangeArrowheads="1"/>
            </p:cNvSpPr>
            <p:nvPr/>
          </p:nvSpPr>
          <p:spPr bwMode="auto">
            <a:xfrm>
              <a:off x="1731" y="2822"/>
              <a:ext cx="7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latin typeface="+mn-lt"/>
                </a:rPr>
                <a:t>1.2.3.156</a:t>
              </a:r>
            </a:p>
          </p:txBody>
        </p:sp>
        <p:sp>
          <p:nvSpPr>
            <p:cNvPr id="57380" name="Text Box 31"/>
            <p:cNvSpPr txBox="1">
              <a:spLocks noChangeArrowheads="1"/>
            </p:cNvSpPr>
            <p:nvPr/>
          </p:nvSpPr>
          <p:spPr bwMode="auto">
            <a:xfrm>
              <a:off x="511" y="282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FF3300"/>
                  </a:solidFill>
                  <a:latin typeface="+mn-lt"/>
                </a:rPr>
                <a:t>1.2.3.48</a:t>
              </a:r>
            </a:p>
          </p:txBody>
        </p:sp>
        <p:sp>
          <p:nvSpPr>
            <p:cNvPr id="57381" name="Text Box 32"/>
            <p:cNvSpPr txBox="1">
              <a:spLocks noChangeArrowheads="1"/>
            </p:cNvSpPr>
            <p:nvPr/>
          </p:nvSpPr>
          <p:spPr bwMode="auto">
            <a:xfrm>
              <a:off x="1825" y="3612"/>
              <a:ext cx="64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>
                  <a:latin typeface="+mn-lt"/>
                </a:rPr>
                <a:t>1.2.3.19</a:t>
              </a:r>
            </a:p>
          </p:txBody>
        </p:sp>
        <p:sp>
          <p:nvSpPr>
            <p:cNvPr id="57382" name="AutoShape 33"/>
            <p:cNvSpPr>
              <a:spLocks noChangeArrowheads="1"/>
            </p:cNvSpPr>
            <p:nvPr/>
          </p:nvSpPr>
          <p:spPr bwMode="auto">
            <a:xfrm>
              <a:off x="1601" y="3853"/>
              <a:ext cx="384" cy="240"/>
            </a:xfrm>
            <a:prstGeom prst="roundRect">
              <a:avLst>
                <a:gd name="adj" fmla="val 16667"/>
              </a:avLst>
            </a:prstGeom>
            <a:solidFill>
              <a:srgbClr val="D3A6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sz="1600" b="0"/>
                <a:t>router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982912" y="1892771"/>
            <a:ext cx="5018088" cy="4424375"/>
            <a:chOff x="2839" y="1413"/>
            <a:chExt cx="3161" cy="2787"/>
          </a:xfrm>
        </p:grpSpPr>
        <p:sp>
          <p:nvSpPr>
            <p:cNvPr id="57351" name="Oval 36"/>
            <p:cNvSpPr>
              <a:spLocks noChangeArrowheads="1"/>
            </p:cNvSpPr>
            <p:nvPr/>
          </p:nvSpPr>
          <p:spPr bwMode="auto">
            <a:xfrm>
              <a:off x="2839" y="3959"/>
              <a:ext cx="791" cy="241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352" name="Oval 37"/>
            <p:cNvSpPr>
              <a:spLocks noChangeArrowheads="1"/>
            </p:cNvSpPr>
            <p:nvPr/>
          </p:nvSpPr>
          <p:spPr bwMode="auto">
            <a:xfrm>
              <a:off x="5232" y="1413"/>
              <a:ext cx="768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7353" name="AutoShape 38"/>
            <p:cNvCxnSpPr>
              <a:cxnSpLocks noChangeShapeType="1"/>
              <a:stCxn id="57352" idx="4"/>
              <a:endCxn id="57351" idx="0"/>
            </p:cNvCxnSpPr>
            <p:nvPr/>
          </p:nvCxnSpPr>
          <p:spPr bwMode="auto">
            <a:xfrm flipH="1">
              <a:off x="3235" y="1653"/>
              <a:ext cx="2381" cy="2306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7" name="Group 35"/>
          <p:cNvGrpSpPr>
            <a:grpSpLocks/>
          </p:cNvGrpSpPr>
          <p:nvPr/>
        </p:nvGrpSpPr>
        <p:grpSpPr bwMode="auto">
          <a:xfrm>
            <a:off x="355608" y="2972378"/>
            <a:ext cx="3073400" cy="1749438"/>
            <a:chOff x="2631" y="1800"/>
            <a:chExt cx="1936" cy="1102"/>
          </a:xfrm>
        </p:grpSpPr>
        <p:sp>
          <p:nvSpPr>
            <p:cNvPr id="48" name="Oval 36"/>
            <p:cNvSpPr>
              <a:spLocks noChangeArrowheads="1"/>
            </p:cNvSpPr>
            <p:nvPr/>
          </p:nvSpPr>
          <p:spPr bwMode="auto">
            <a:xfrm>
              <a:off x="2631" y="2664"/>
              <a:ext cx="1936" cy="238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3463" y="1800"/>
              <a:ext cx="740" cy="240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50" name="AutoShape 38"/>
            <p:cNvCxnSpPr>
              <a:cxnSpLocks noChangeShapeType="1"/>
              <a:stCxn id="49" idx="4"/>
              <a:endCxn id="48" idx="0"/>
            </p:cNvCxnSpPr>
            <p:nvPr/>
          </p:nvCxnSpPr>
          <p:spPr bwMode="auto">
            <a:xfrm flipH="1">
              <a:off x="3599" y="2040"/>
              <a:ext cx="234" cy="624"/>
            </a:xfrm>
            <a:prstGeom prst="straightConnector1">
              <a:avLst/>
            </a:prstGeom>
            <a:noFill/>
            <a:ln w="22225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Freeform 14"/>
          <p:cNvSpPr/>
          <p:nvPr/>
        </p:nvSpPr>
        <p:spPr>
          <a:xfrm>
            <a:off x="1455187" y="5393450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destination is remote?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 in both ARP and DHCP</a:t>
            </a:r>
          </a:p>
        </p:txBody>
      </p:sp>
      <p:sp>
        <p:nvSpPr>
          <p:cNvPr id="92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Broadcasting</a:t>
            </a:r>
            <a:r>
              <a:rPr lang="en-US" dirty="0"/>
              <a:t>: Can use broadcast to make contact</a:t>
            </a:r>
          </a:p>
          <a:p>
            <a:pPr lvl="1"/>
            <a:r>
              <a:rPr lang="en-US" dirty="0"/>
              <a:t>Scalable because of limited size</a:t>
            </a:r>
          </a:p>
          <a:p>
            <a:r>
              <a:rPr lang="en-US" dirty="0">
                <a:solidFill>
                  <a:srgbClr val="0000FF"/>
                </a:solidFill>
              </a:rPr>
              <a:t>Caching</a:t>
            </a:r>
            <a:r>
              <a:rPr lang="en-US" dirty="0"/>
              <a:t>: remember the past for a while</a:t>
            </a:r>
          </a:p>
          <a:p>
            <a:pPr lvl="1"/>
            <a:r>
              <a:rPr lang="en-US" dirty="0"/>
              <a:t>Store the information you learn to reduce overhead</a:t>
            </a:r>
          </a:p>
          <a:p>
            <a:r>
              <a:rPr lang="en-US" dirty="0">
                <a:solidFill>
                  <a:srgbClr val="0000FF"/>
                </a:solidFill>
              </a:rPr>
              <a:t>Soft state</a:t>
            </a:r>
            <a:r>
              <a:rPr lang="en-US" dirty="0"/>
              <a:t>: eventually forget the past</a:t>
            </a:r>
          </a:p>
          <a:p>
            <a:pPr lvl="1"/>
            <a:r>
              <a:rPr lang="en-US" dirty="0"/>
              <a:t>Associate a time-to-live field with the information</a:t>
            </a:r>
          </a:p>
          <a:p>
            <a:pPr lvl="1"/>
            <a:r>
              <a:rPr lang="en-US" dirty="0"/>
              <a:t>… and either refresh or discard the information</a:t>
            </a:r>
          </a:p>
          <a:p>
            <a:pPr lvl="1"/>
            <a:r>
              <a:rPr lang="en-US" dirty="0"/>
              <a:t>Key for robustness in the face of unpredictable change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72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resolution in the networking stack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256467"/>
              </p:ext>
            </p:extLst>
          </p:nvPr>
        </p:nvGraphicFramePr>
        <p:xfrm>
          <a:off x="381000" y="2252663"/>
          <a:ext cx="8534400" cy="33861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63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667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Resolution</a:t>
                      </a:r>
                    </a:p>
                    <a:p>
                      <a:pPr algn="ctr"/>
                      <a:r>
                        <a:rPr lang="en-US" sz="1600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App.</a:t>
                      </a:r>
                    </a:p>
                    <a:p>
                      <a:pPr algn="ctr"/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cse.umich.edu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Organizational hierarchy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~ manual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Network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123.45.6.78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topological</a:t>
                      </a:r>
                      <a:r>
                        <a:rPr lang="en-US" sz="1600" baseline="0" dirty="0"/>
                        <a:t> hierarchy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DHCP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4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Link layer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45-CC-4E-12-F0-97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vendor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(flat)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hard-coded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Up-Down Arrow 4"/>
          <p:cNvSpPr/>
          <p:nvPr/>
        </p:nvSpPr>
        <p:spPr bwMode="auto">
          <a:xfrm>
            <a:off x="7620000" y="3962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22977" y="3962400"/>
            <a:ext cx="671979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DNS</a:t>
            </a:r>
          </a:p>
        </p:txBody>
      </p:sp>
      <p:sp>
        <p:nvSpPr>
          <p:cNvPr id="8" name="Up-Down Arrow 7"/>
          <p:cNvSpPr/>
          <p:nvPr/>
        </p:nvSpPr>
        <p:spPr bwMode="auto">
          <a:xfrm>
            <a:off x="7620000" y="4724400"/>
            <a:ext cx="152400" cy="457200"/>
          </a:xfrm>
          <a:prstGeom prst="upDownArrow">
            <a:avLst/>
          </a:prstGeom>
          <a:solidFill>
            <a:srgbClr val="D3A600"/>
          </a:solidFill>
          <a:ln w="9525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Arial" charset="0"/>
              <a:cs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27147" y="4781490"/>
            <a:ext cx="659155" cy="369332"/>
          </a:xfrm>
          <a:prstGeom prst="rect">
            <a:avLst/>
          </a:prstGeom>
          <a:solidFill>
            <a:srgbClr val="D3A600"/>
          </a:solidFill>
        </p:spPr>
        <p:txBody>
          <a:bodyPr wrap="none" rtlCol="0">
            <a:spAutoFit/>
          </a:bodyPr>
          <a:lstStyle/>
          <a:p>
            <a:r>
              <a:rPr lang="en-US" sz="1800" b="0" dirty="0">
                <a:ea typeface="Arial" charset="0"/>
                <a:cs typeface="Arial" charset="0"/>
              </a:rPr>
              <a:t>ARP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669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Discovery mechanisms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two approaches</a:t>
            </a:r>
          </a:p>
          <a:p>
            <a:pPr lvl="1"/>
            <a:r>
              <a:rPr lang="en-US" dirty="0"/>
              <a:t>Broadcast (ARP, DHCP)</a:t>
            </a:r>
          </a:p>
          <a:p>
            <a:pPr lvl="2"/>
            <a:r>
              <a:rPr lang="en-US" dirty="0"/>
              <a:t>Flooding does not scale </a:t>
            </a:r>
          </a:p>
          <a:p>
            <a:pPr lvl="2"/>
            <a:r>
              <a:rPr lang="en-US" dirty="0"/>
              <a:t>No centralized point of failure</a:t>
            </a:r>
          </a:p>
          <a:p>
            <a:pPr lvl="2"/>
            <a:r>
              <a:rPr lang="en-US" dirty="0"/>
              <a:t>Zero configuration</a:t>
            </a:r>
          </a:p>
          <a:p>
            <a:pPr lvl="1"/>
            <a:r>
              <a:rPr lang="en-US" dirty="0"/>
              <a:t>Directory service (DNS)</a:t>
            </a:r>
          </a:p>
          <a:p>
            <a:pPr lvl="2"/>
            <a:r>
              <a:rPr lang="en-US" dirty="0"/>
              <a:t>No flooding = scalable</a:t>
            </a:r>
          </a:p>
          <a:p>
            <a:pPr lvl="2"/>
            <a:r>
              <a:rPr lang="en-US" dirty="0"/>
              <a:t>Root of the directory is vulnerable (caching is key)</a:t>
            </a:r>
          </a:p>
          <a:p>
            <a:pPr lvl="2"/>
            <a:r>
              <a:rPr lang="en-US" dirty="0"/>
              <a:t>Needs configuration to bootstrap (local, root servers, etc.)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2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9FE1-A717-EE46-8503-66467BA7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 Translation (NAT)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57510-D4BE-1E4F-8048-1B6BE0DA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April 7, 2025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E909D-1635-4246-87B6-DDF2FA1B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EECS 489 – Lecture 18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41374-1067-DA4B-AF88-FFA1AA3A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" name="Freeform 80">
            <a:extLst>
              <a:ext uri="{FF2B5EF4-FFF2-40B4-BE49-F238E27FC236}">
                <a16:creationId xmlns:a16="http://schemas.microsoft.com/office/drawing/2014/main" id="{24FC6443-2933-044A-8B75-A1EBF5F12E50}"/>
              </a:ext>
            </a:extLst>
          </p:cNvPr>
          <p:cNvSpPr>
            <a:spLocks/>
          </p:cNvSpPr>
          <p:nvPr/>
        </p:nvSpPr>
        <p:spPr bwMode="auto">
          <a:xfrm>
            <a:off x="4152900" y="1871663"/>
            <a:ext cx="3738563" cy="269716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FFCB05"/>
          </a:solidFill>
          <a:ln>
            <a:noFill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62294FC3-86F0-2849-8DEB-F6D021850652}"/>
              </a:ext>
            </a:extLst>
          </p:cNvPr>
          <p:cNvSpPr>
            <a:spLocks/>
          </p:cNvSpPr>
          <p:nvPr/>
        </p:nvSpPr>
        <p:spPr bwMode="auto">
          <a:xfrm>
            <a:off x="0" y="2579688"/>
            <a:ext cx="3849688" cy="1425575"/>
          </a:xfrm>
          <a:custGeom>
            <a:avLst/>
            <a:gdLst>
              <a:gd name="T0" fmla="*/ 2147483647 w 2425"/>
              <a:gd name="T1" fmla="*/ 2147483647 h 898"/>
              <a:gd name="T2" fmla="*/ 2147483647 w 2425"/>
              <a:gd name="T3" fmla="*/ 2147483647 h 898"/>
              <a:gd name="T4" fmla="*/ 2147483647 w 2425"/>
              <a:gd name="T5" fmla="*/ 2147483647 h 898"/>
              <a:gd name="T6" fmla="*/ 2147483647 w 2425"/>
              <a:gd name="T7" fmla="*/ 2147483647 h 898"/>
              <a:gd name="T8" fmla="*/ 2147483647 w 2425"/>
              <a:gd name="T9" fmla="*/ 2147483647 h 898"/>
              <a:gd name="T10" fmla="*/ 2147483647 w 2425"/>
              <a:gd name="T11" fmla="*/ 2147483647 h 898"/>
              <a:gd name="T12" fmla="*/ 2147483647 w 2425"/>
              <a:gd name="T13" fmla="*/ 2147483647 h 898"/>
              <a:gd name="T14" fmla="*/ 2147483647 w 2425"/>
              <a:gd name="T15" fmla="*/ 2147483647 h 8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25"/>
              <a:gd name="T25" fmla="*/ 0 h 898"/>
              <a:gd name="T26" fmla="*/ 2425 w 2425"/>
              <a:gd name="T27" fmla="*/ 898 h 89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25" h="898">
                <a:moveTo>
                  <a:pt x="2056" y="289"/>
                </a:moveTo>
                <a:cubicBezTo>
                  <a:pt x="1826" y="223"/>
                  <a:pt x="1133" y="113"/>
                  <a:pt x="810" y="75"/>
                </a:cubicBezTo>
                <a:cubicBezTo>
                  <a:pt x="487" y="37"/>
                  <a:pt x="230" y="0"/>
                  <a:pt x="115" y="60"/>
                </a:cubicBezTo>
                <a:cubicBezTo>
                  <a:pt x="0" y="120"/>
                  <a:pt x="121" y="301"/>
                  <a:pt x="121" y="433"/>
                </a:cubicBezTo>
                <a:cubicBezTo>
                  <a:pt x="121" y="565"/>
                  <a:pt x="25" y="802"/>
                  <a:pt x="115" y="850"/>
                </a:cubicBezTo>
                <a:cubicBezTo>
                  <a:pt x="205" y="898"/>
                  <a:pt x="316" y="784"/>
                  <a:pt x="662" y="721"/>
                </a:cubicBezTo>
                <a:cubicBezTo>
                  <a:pt x="1008" y="658"/>
                  <a:pt x="1961" y="544"/>
                  <a:pt x="2193" y="472"/>
                </a:cubicBezTo>
                <a:cubicBezTo>
                  <a:pt x="2425" y="400"/>
                  <a:pt x="2292" y="327"/>
                  <a:pt x="2056" y="289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BA24ED4A-0CF7-5444-AA73-00649D4FA7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3182938"/>
            <a:ext cx="1214438" cy="11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3DA38E9F-9523-BB40-81C9-60EA9A521E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3233738"/>
            <a:ext cx="300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69C94B46-02C4-5D4A-B107-77E9060EC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7238" y="2446338"/>
            <a:ext cx="133350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EC5EA779-8D82-A343-B9AD-DE9DC87120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13588" y="3951288"/>
            <a:ext cx="17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D43830B-AEF6-7D4E-B1F8-C595CD63B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2176463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10.0.0.1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25A93900-3325-964B-95E9-9412CE581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2944813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10.0.0.2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311D58D2-9B6C-3547-B154-63B415FB0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2" y="3751263"/>
            <a:ext cx="919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10.0.0.3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FD582FC9-05E6-E844-9D70-3517202D4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988" y="2667000"/>
            <a:ext cx="9191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10.0.0.4</a:t>
            </a: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4C786196-807A-DA47-BA73-93F064BC9A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1813" y="2944813"/>
            <a:ext cx="85725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7CEB553A-99F4-6C44-ABE6-9B30B0955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3324225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/>
              <a:t>138.76.29.7</a:t>
            </a:r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1B028D83-D3E8-2B45-B90C-BFA22001F0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2025" y="3271838"/>
            <a:ext cx="85725" cy="128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" name="Line 79">
            <a:extLst>
              <a:ext uri="{FF2B5EF4-FFF2-40B4-BE49-F238E27FC236}">
                <a16:creationId xmlns:a16="http://schemas.microsoft.com/office/drawing/2014/main" id="{D60281AC-6B19-8149-A441-58291AE0A3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438" y="3222625"/>
            <a:ext cx="3025775" cy="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1" name="Text Box 81">
            <a:extLst>
              <a:ext uri="{FF2B5EF4-FFF2-40B4-BE49-F238E27FC236}">
                <a16:creationId xmlns:a16="http://schemas.microsoft.com/office/drawing/2014/main" id="{5335D8D1-D9FA-4948-805B-B3FC3610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1674813"/>
            <a:ext cx="2279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local network</a:t>
            </a:r>
          </a:p>
          <a:p>
            <a:pPr algn="ctr"/>
            <a:r>
              <a:rPr lang="en-US" altLang="en-US" sz="1800" dirty="0"/>
              <a:t>(e.g., home network)</a:t>
            </a:r>
          </a:p>
          <a:p>
            <a:pPr algn="ctr"/>
            <a:r>
              <a:rPr lang="en-US" altLang="en-US" sz="1800" dirty="0"/>
              <a:t>10.0.0/24</a:t>
            </a:r>
          </a:p>
        </p:txBody>
      </p:sp>
      <p:sp>
        <p:nvSpPr>
          <p:cNvPr id="22" name="Line 82">
            <a:extLst>
              <a:ext uri="{FF2B5EF4-FFF2-40B4-BE49-F238E27FC236}">
                <a16:creationId xmlns:a16="http://schemas.microsoft.com/office/drawing/2014/main" id="{8AD4C68B-60FC-B344-8236-0FFA293FC5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1900238"/>
            <a:ext cx="1385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" name="Line 83">
            <a:extLst>
              <a:ext uri="{FF2B5EF4-FFF2-40B4-BE49-F238E27FC236}">
                <a16:creationId xmlns:a16="http://schemas.microsoft.com/office/drawing/2014/main" id="{2542CA56-2AA3-674F-838A-33E26BD63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3838" y="1760538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4" name="Line 84">
            <a:extLst>
              <a:ext uri="{FF2B5EF4-FFF2-40B4-BE49-F238E27FC236}">
                <a16:creationId xmlns:a16="http://schemas.microsoft.com/office/drawing/2014/main" id="{39E5E53F-E25B-B14A-8465-51B78084E16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73538" y="1887538"/>
            <a:ext cx="89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" name="Line 86">
            <a:extLst>
              <a:ext uri="{FF2B5EF4-FFF2-40B4-BE49-F238E27FC236}">
                <a16:creationId xmlns:a16="http://schemas.microsoft.com/office/drawing/2014/main" id="{147D78EA-7B1E-F34B-893A-46EC5C58D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8100" y="1900238"/>
            <a:ext cx="1385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6" name="Line 87">
            <a:extLst>
              <a:ext uri="{FF2B5EF4-FFF2-40B4-BE49-F238E27FC236}">
                <a16:creationId xmlns:a16="http://schemas.microsoft.com/office/drawing/2014/main" id="{78A0BE2F-8156-8C48-948D-548A5A67984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6763" y="1887538"/>
            <a:ext cx="898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7" name="Text Box 88">
            <a:extLst>
              <a:ext uri="{FF2B5EF4-FFF2-40B4-BE49-F238E27FC236}">
                <a16:creationId xmlns:a16="http://schemas.microsoft.com/office/drawing/2014/main" id="{9057C80B-D88F-4744-AAC6-549EC8E7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4175" y="1662113"/>
            <a:ext cx="95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 dirty="0"/>
              <a:t>rest of</a:t>
            </a:r>
          </a:p>
          <a:p>
            <a:pPr algn="ctr"/>
            <a:r>
              <a:rPr lang="en-US" altLang="en-US" sz="1800" dirty="0"/>
              <a:t>Internet</a:t>
            </a:r>
          </a:p>
        </p:txBody>
      </p:sp>
      <p:sp>
        <p:nvSpPr>
          <p:cNvPr id="28" name="Text Box 90">
            <a:extLst>
              <a:ext uri="{FF2B5EF4-FFF2-40B4-BE49-F238E27FC236}">
                <a16:creationId xmlns:a16="http://schemas.microsoft.com/office/drawing/2014/main" id="{573FE924-429D-994F-902F-378448226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4741863"/>
            <a:ext cx="3531736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packets with source or </a:t>
            </a:r>
          </a:p>
          <a:p>
            <a:pPr>
              <a:lnSpc>
                <a:spcPct val="85000"/>
              </a:lnSpc>
            </a:pP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destination in this network</a:t>
            </a:r>
          </a:p>
          <a:p>
            <a:pPr>
              <a:lnSpc>
                <a:spcPct val="85000"/>
              </a:lnSpc>
            </a:pP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have 10.0.0/24 address for </a:t>
            </a:r>
          </a:p>
          <a:p>
            <a:pPr>
              <a:lnSpc>
                <a:spcPct val="85000"/>
              </a:lnSpc>
            </a:pP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source, destination (as usual)</a:t>
            </a:r>
          </a:p>
        </p:txBody>
      </p:sp>
      <p:sp>
        <p:nvSpPr>
          <p:cNvPr id="29" name="Text Box 92">
            <a:extLst>
              <a:ext uri="{FF2B5EF4-FFF2-40B4-BE49-F238E27FC236}">
                <a16:creationId xmlns:a16="http://schemas.microsoft.com/office/drawing/2014/main" id="{1A2092D4-6BBB-7D4E-9A3E-EB9A7EE82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746625"/>
            <a:ext cx="3684588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5000"/>
              </a:lnSpc>
            </a:pPr>
            <a:r>
              <a:rPr lang="en-US" altLang="en-US" sz="2000" b="0" i="1" dirty="0">
                <a:solidFill>
                  <a:srgbClr val="0000FF"/>
                </a:solidFill>
                <a:cs typeface="Arial" panose="020B0604020202020204" pitchFamily="34" charset="0"/>
              </a:rPr>
              <a:t>all</a:t>
            </a: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 packets </a:t>
            </a:r>
            <a:r>
              <a:rPr lang="en-US" altLang="en-US" sz="2000" b="0" i="1" dirty="0">
                <a:solidFill>
                  <a:srgbClr val="0000FF"/>
                </a:solidFill>
                <a:cs typeface="Arial" panose="020B0604020202020204" pitchFamily="34" charset="0"/>
              </a:rPr>
              <a:t>leaving</a:t>
            </a: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 local</a:t>
            </a:r>
          </a:p>
          <a:p>
            <a:pPr algn="r">
              <a:lnSpc>
                <a:spcPct val="85000"/>
              </a:lnSpc>
            </a:pP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network have </a:t>
            </a:r>
            <a:r>
              <a:rPr lang="en-US" altLang="en-US" sz="2000" b="0" i="1" dirty="0">
                <a:solidFill>
                  <a:schemeClr val="accent2"/>
                </a:solidFill>
                <a:cs typeface="Arial" panose="020B0604020202020204" pitchFamily="34" charset="0"/>
              </a:rPr>
              <a:t>same</a:t>
            </a: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 single source NAT IP address: 138.76.29.7,</a:t>
            </a:r>
            <a:r>
              <a:rPr lang="en-US" altLang="en-US" sz="2000" b="0" i="1" dirty="0">
                <a:solidFill>
                  <a:srgbClr val="0000FF"/>
                </a:solidFill>
                <a:cs typeface="Arial" panose="020B0604020202020204" pitchFamily="34" charset="0"/>
              </a:rPr>
              <a:t>different</a:t>
            </a:r>
            <a:r>
              <a:rPr lang="en-US" altLang="en-US" sz="2000" b="0" dirty="0">
                <a:solidFill>
                  <a:schemeClr val="accent2"/>
                </a:solidFill>
                <a:cs typeface="Arial" panose="020B0604020202020204" pitchFamily="34" charset="0"/>
              </a:rPr>
              <a:t> source port numbers</a:t>
            </a:r>
          </a:p>
        </p:txBody>
      </p:sp>
      <p:sp>
        <p:nvSpPr>
          <p:cNvPr id="30" name="Line 96">
            <a:extLst>
              <a:ext uri="{FF2B5EF4-FFF2-40B4-BE49-F238E27FC236}">
                <a16:creationId xmlns:a16="http://schemas.microsoft.com/office/drawing/2014/main" id="{21266BBF-607B-994B-A1D3-842BE539B7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8063" y="3344863"/>
            <a:ext cx="668337" cy="1427162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" name="Line 97">
            <a:extLst>
              <a:ext uri="{FF2B5EF4-FFF2-40B4-BE49-F238E27FC236}">
                <a16:creationId xmlns:a16="http://schemas.microsoft.com/office/drawing/2014/main" id="{8DA389C8-4EF0-4A49-A61B-0A72201954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6688" y="3308350"/>
            <a:ext cx="668337" cy="142716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32" name="Group 98">
            <a:extLst>
              <a:ext uri="{FF2B5EF4-FFF2-40B4-BE49-F238E27FC236}">
                <a16:creationId xmlns:a16="http://schemas.microsoft.com/office/drawing/2014/main" id="{F656E344-AFCA-F147-8818-BD3A92D69624}"/>
              </a:ext>
            </a:extLst>
          </p:cNvPr>
          <p:cNvGrpSpPr>
            <a:grpSpLocks/>
          </p:cNvGrpSpPr>
          <p:nvPr/>
        </p:nvGrpSpPr>
        <p:grpSpPr bwMode="auto">
          <a:xfrm>
            <a:off x="3633788" y="3059113"/>
            <a:ext cx="900112" cy="347662"/>
            <a:chOff x="4396" y="1245"/>
            <a:chExt cx="672" cy="248"/>
          </a:xfrm>
        </p:grpSpPr>
        <p:sp>
          <p:nvSpPr>
            <p:cNvPr id="33" name="Oval 407">
              <a:extLst>
                <a:ext uri="{FF2B5EF4-FFF2-40B4-BE49-F238E27FC236}">
                  <a16:creationId xmlns:a16="http://schemas.microsoft.com/office/drawing/2014/main" id="{E7F35E4C-E761-3443-AB94-3E6D38E43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410">
              <a:extLst>
                <a:ext uri="{FF2B5EF4-FFF2-40B4-BE49-F238E27FC236}">
                  <a16:creationId xmlns:a16="http://schemas.microsoft.com/office/drawing/2014/main" id="{33F1BB3A-EF78-CF46-A105-8AA750C34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" name="Oval 411">
              <a:extLst>
                <a:ext uri="{FF2B5EF4-FFF2-40B4-BE49-F238E27FC236}">
                  <a16:creationId xmlns:a16="http://schemas.microsoft.com/office/drawing/2014/main" id="{6CD2F540-25A7-B142-AEE2-C89B67ED6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6" name="Group 102">
              <a:extLst>
                <a:ext uri="{FF2B5EF4-FFF2-40B4-BE49-F238E27FC236}">
                  <a16:creationId xmlns:a16="http://schemas.microsoft.com/office/drawing/2014/main" id="{6067B3F3-56F7-D742-A586-6BF7336F49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39" name="Freeform 103">
                <a:extLst>
                  <a:ext uri="{FF2B5EF4-FFF2-40B4-BE49-F238E27FC236}">
                    <a16:creationId xmlns:a16="http://schemas.microsoft.com/office/drawing/2014/main" id="{ED4334B2-7B56-9947-84BA-0084C468E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104">
                <a:extLst>
                  <a:ext uri="{FF2B5EF4-FFF2-40B4-BE49-F238E27FC236}">
                    <a16:creationId xmlns:a16="http://schemas.microsoft.com/office/drawing/2014/main" id="{06647A71-16E2-DD42-AB63-FC55653E7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Line 105">
              <a:extLst>
                <a:ext uri="{FF2B5EF4-FFF2-40B4-BE49-F238E27FC236}">
                  <a16:creationId xmlns:a16="http://schemas.microsoft.com/office/drawing/2014/main" id="{714CA624-E0DF-394C-9E53-F19A1559C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0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06">
              <a:extLst>
                <a:ext uri="{FF2B5EF4-FFF2-40B4-BE49-F238E27FC236}">
                  <a16:creationId xmlns:a16="http://schemas.microsoft.com/office/drawing/2014/main" id="{BECF10EF-2633-8B4E-9AD5-C40423DE6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7"/>
              <a:ext cx="0" cy="10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107">
            <a:extLst>
              <a:ext uri="{FF2B5EF4-FFF2-40B4-BE49-F238E27FC236}">
                <a16:creationId xmlns:a16="http://schemas.microsoft.com/office/drawing/2014/main" id="{08E1BBD1-9B3D-5C47-A049-F7A04CF6829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07250" y="2239963"/>
            <a:ext cx="641350" cy="558800"/>
            <a:chOff x="-44" y="1473"/>
            <a:chExt cx="981" cy="1105"/>
          </a:xfrm>
        </p:grpSpPr>
        <p:pic>
          <p:nvPicPr>
            <p:cNvPr id="42" name="Picture 108" descr="desktop_computer_stylized_medium">
              <a:extLst>
                <a:ext uri="{FF2B5EF4-FFF2-40B4-BE49-F238E27FC236}">
                  <a16:creationId xmlns:a16="http://schemas.microsoft.com/office/drawing/2014/main" id="{06217CA9-3939-D24C-9BE3-65337A5981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109">
              <a:extLst>
                <a:ext uri="{FF2B5EF4-FFF2-40B4-BE49-F238E27FC236}">
                  <a16:creationId xmlns:a16="http://schemas.microsoft.com/office/drawing/2014/main" id="{5AE51AAA-7640-3E47-BF44-CFE029C42D1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4" name="Group 110">
            <a:extLst>
              <a:ext uri="{FF2B5EF4-FFF2-40B4-BE49-F238E27FC236}">
                <a16:creationId xmlns:a16="http://schemas.microsoft.com/office/drawing/2014/main" id="{235A20DC-F090-4D40-A06F-80C263E405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46938" y="2916238"/>
            <a:ext cx="641350" cy="558800"/>
            <a:chOff x="-44" y="1473"/>
            <a:chExt cx="981" cy="1105"/>
          </a:xfrm>
        </p:grpSpPr>
        <p:pic>
          <p:nvPicPr>
            <p:cNvPr id="45" name="Picture 111" descr="desktop_computer_stylized_medium">
              <a:extLst>
                <a:ext uri="{FF2B5EF4-FFF2-40B4-BE49-F238E27FC236}">
                  <a16:creationId xmlns:a16="http://schemas.microsoft.com/office/drawing/2014/main" id="{E3D5922C-EF4D-0B49-B10A-341A23F28D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Freeform 112">
              <a:extLst>
                <a:ext uri="{FF2B5EF4-FFF2-40B4-BE49-F238E27FC236}">
                  <a16:creationId xmlns:a16="http://schemas.microsoft.com/office/drawing/2014/main" id="{4CD4DA90-9C6C-7847-9567-A3C9D2DC65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7" name="Group 113">
            <a:extLst>
              <a:ext uri="{FF2B5EF4-FFF2-40B4-BE49-F238E27FC236}">
                <a16:creationId xmlns:a16="http://schemas.microsoft.com/office/drawing/2014/main" id="{2B3E9826-C5D4-8B4F-8B52-C552F9D60B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254875" y="3670300"/>
            <a:ext cx="641350" cy="558800"/>
            <a:chOff x="-44" y="1473"/>
            <a:chExt cx="981" cy="1105"/>
          </a:xfrm>
        </p:grpSpPr>
        <p:pic>
          <p:nvPicPr>
            <p:cNvPr id="48" name="Picture 114" descr="desktop_computer_stylized_medium">
              <a:extLst>
                <a:ext uri="{FF2B5EF4-FFF2-40B4-BE49-F238E27FC236}">
                  <a16:creationId xmlns:a16="http://schemas.microsoft.com/office/drawing/2014/main" id="{CD08601D-58E2-4944-A946-B926693F01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Freeform 115">
              <a:extLst>
                <a:ext uri="{FF2B5EF4-FFF2-40B4-BE49-F238E27FC236}">
                  <a16:creationId xmlns:a16="http://schemas.microsoft.com/office/drawing/2014/main" id="{31CF552C-D6D8-C940-976B-84290B4DE0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747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9098-83B6-1C45-B0B9-EE9B1888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NAT-enabled device must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1877-E643-6D45-B49E-1AF53BED2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Outgoing: </a:t>
            </a:r>
            <a:r>
              <a:rPr lang="en-US" sz="2400" dirty="0">
                <a:solidFill>
                  <a:srgbClr val="0000FF"/>
                </a:solidFill>
              </a:rPr>
              <a:t>replace</a:t>
            </a:r>
            <a:r>
              <a:rPr lang="en-US" sz="2400" dirty="0"/>
              <a:t> (source IP address, port #) of every outgoing packet to (NAT IP address, new port #)</a:t>
            </a:r>
          </a:p>
          <a:p>
            <a:pPr lvl="1"/>
            <a:r>
              <a:rPr lang="en-US" sz="2000" dirty="0"/>
              <a:t>remote clients/servers will respond using (NAT IP address, new port #) as destination </a:t>
            </a:r>
            <a:r>
              <a:rPr lang="en-US" sz="2000" dirty="0" err="1"/>
              <a:t>addr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>
                <a:solidFill>
                  <a:srgbClr val="0000FF"/>
                </a:solidFill>
              </a:rPr>
              <a:t>Remember</a:t>
            </a:r>
            <a:r>
              <a:rPr lang="en-US" sz="2400" dirty="0"/>
              <a:t> (in NAT translation table) every (source IP address, port #)  to (NAT IP address, new port #) translation pair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Incoming: </a:t>
            </a:r>
            <a:r>
              <a:rPr lang="en-US" sz="2400" dirty="0">
                <a:solidFill>
                  <a:srgbClr val="0000FF"/>
                </a:solidFill>
              </a:rPr>
              <a:t>replace</a:t>
            </a:r>
            <a:r>
              <a:rPr lang="en-US" sz="2400" dirty="0"/>
              <a:t> (NAT IP address, new port #) in </a:t>
            </a:r>
            <a:r>
              <a:rPr lang="en-US" sz="2400" dirty="0" err="1"/>
              <a:t>dest</a:t>
            </a:r>
            <a:r>
              <a:rPr lang="en-US" sz="2400" dirty="0"/>
              <a:t> fields of every incoming packet with corresponding (source IP address, port #) stored in NAT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9BE2-359B-FF49-AF4F-8F3E71EB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April 7, 2025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429AC-F012-9749-9627-2A5E29CF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EECS 489 – Lecture 18</a:t>
            </a:r>
            <a:endParaRPr lang="en-US" sz="1050" b="0" dirty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3379F-D972-F948-8EA1-AF559458D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2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Spanning tree enables Ethernet to efficiently flood a network to learn routes while forwarding packets</a:t>
            </a:r>
          </a:p>
          <a:p>
            <a:r>
              <a:rPr lang="en-US" dirty="0"/>
              <a:t>DHCP and ARP form the discovery backplane of networking and make everything work together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7,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Lecture 18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1490453260</TotalTime>
  <Pages>7</Pages>
  <Words>3111</Words>
  <Application>Microsoft Macintosh PowerPoint</Application>
  <PresentationFormat>On-screen Show (4:3)</PresentationFormat>
  <Paragraphs>657</Paragraphs>
  <Slides>53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ＭＳ Ｐゴシック</vt:lpstr>
      <vt:lpstr>Arial</vt:lpstr>
      <vt:lpstr>Arial Black</vt:lpstr>
      <vt:lpstr>Courier New</vt:lpstr>
      <vt:lpstr>Gill Sans</vt:lpstr>
      <vt:lpstr>Helvetica</vt:lpstr>
      <vt:lpstr>Monotype Sorts</vt:lpstr>
      <vt:lpstr>Times New Roman</vt:lpstr>
      <vt:lpstr>Wingdings</vt:lpstr>
      <vt:lpstr>dbllineb</vt:lpstr>
      <vt:lpstr>Clip</vt:lpstr>
      <vt:lpstr>EECS 489 Computer Networks  Winter 2025</vt:lpstr>
      <vt:lpstr>Agenda</vt:lpstr>
      <vt:lpstr>Ethernet vs. PPP</vt:lpstr>
      <vt:lpstr>Ethernet topics</vt:lpstr>
      <vt:lpstr>Flooding (still) leads to loops</vt:lpstr>
      <vt:lpstr>Spanning tree approach</vt:lpstr>
      <vt:lpstr>Algorithm has two aspects</vt:lpstr>
      <vt:lpstr>Breaking ties</vt:lpstr>
      <vt:lpstr>Constructing a spanning tree</vt:lpstr>
      <vt:lpstr>Steps in the spanning tree algorithm</vt:lpstr>
      <vt:lpstr>PowerPoint Presentation</vt:lpstr>
      <vt:lpstr>Robust spanning tree algorithm</vt:lpstr>
      <vt:lpstr>Ethernet topics</vt:lpstr>
      <vt:lpstr>Flooding on a spanning tree</vt:lpstr>
      <vt:lpstr>Flooding on spanning tree</vt:lpstr>
      <vt:lpstr>Flooding on spanning tree</vt:lpstr>
      <vt:lpstr>But isn’t flooding wasteful?</vt:lpstr>
      <vt:lpstr>Nodes can “learn” routes</vt:lpstr>
      <vt:lpstr>General approach</vt:lpstr>
      <vt:lpstr>Learning from flood packets</vt:lpstr>
      <vt:lpstr>Node B responds</vt:lpstr>
      <vt:lpstr>Ethernet switches are “self learning”</vt:lpstr>
      <vt:lpstr>Self learning: Handling misses</vt:lpstr>
      <vt:lpstr>Summary of learning approach</vt:lpstr>
      <vt:lpstr>Contrast</vt:lpstr>
      <vt:lpstr>Strengths of Ethernet’s approach</vt:lpstr>
      <vt:lpstr>Weaknesses of Ethernet’s approach</vt:lpstr>
      <vt:lpstr>5-minute break!</vt:lpstr>
      <vt:lpstr>Link layer topics</vt:lpstr>
      <vt:lpstr>Discovery</vt:lpstr>
      <vt:lpstr>ARP and DHCP</vt:lpstr>
      <vt:lpstr>ARP and DHCP</vt:lpstr>
      <vt:lpstr>DHCP</vt:lpstr>
      <vt:lpstr>DHCP: Operation</vt:lpstr>
      <vt:lpstr>DHCP: Operation</vt:lpstr>
      <vt:lpstr>DHCP: Operation</vt:lpstr>
      <vt:lpstr>DHCP: Operation</vt:lpstr>
      <vt:lpstr>DHCP: Operation</vt:lpstr>
      <vt:lpstr>DHCP: Operation</vt:lpstr>
      <vt:lpstr>DHCP uses “soft state”</vt:lpstr>
      <vt:lpstr>Soft state under failure</vt:lpstr>
      <vt:lpstr>Soft state under failure</vt:lpstr>
      <vt:lpstr>Soft state under failure</vt:lpstr>
      <vt:lpstr>Are we there yet?</vt:lpstr>
      <vt:lpstr>Sending packets over link Layer</vt:lpstr>
      <vt:lpstr>ARP: Address Resolution Protocol</vt:lpstr>
      <vt:lpstr>What if the destination is remote?</vt:lpstr>
      <vt:lpstr>Key ideas in both ARP and DHCP</vt:lpstr>
      <vt:lpstr>ID resolution in the networking stack</vt:lpstr>
      <vt:lpstr>Discovery mechanisms</vt:lpstr>
      <vt:lpstr>Network Address Translation (NAT)</vt:lpstr>
      <vt:lpstr>NAT-enabled device must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1245</cp:revision>
  <cp:lastPrinted>1999-09-08T17:25:07Z</cp:lastPrinted>
  <dcterms:created xsi:type="dcterms:W3CDTF">2014-01-14T18:15:50Z</dcterms:created>
  <dcterms:modified xsi:type="dcterms:W3CDTF">2025-04-03T18:58:44Z</dcterms:modified>
  <cp:category/>
</cp:coreProperties>
</file>