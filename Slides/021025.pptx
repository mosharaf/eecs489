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8" r:id="rId2"/>
    <p:sldId id="487" r:id="rId3"/>
    <p:sldId id="539" r:id="rId4"/>
    <p:sldId id="514" r:id="rId5"/>
    <p:sldId id="515" r:id="rId6"/>
    <p:sldId id="516" r:id="rId7"/>
    <p:sldId id="517" r:id="rId8"/>
    <p:sldId id="559" r:id="rId9"/>
    <p:sldId id="558" r:id="rId10"/>
    <p:sldId id="518" r:id="rId11"/>
    <p:sldId id="519" r:id="rId12"/>
    <p:sldId id="562" r:id="rId13"/>
    <p:sldId id="569" r:id="rId14"/>
    <p:sldId id="520" r:id="rId15"/>
    <p:sldId id="521" r:id="rId16"/>
    <p:sldId id="522" r:id="rId17"/>
    <p:sldId id="523" r:id="rId18"/>
    <p:sldId id="531" r:id="rId19"/>
    <p:sldId id="525" r:id="rId20"/>
    <p:sldId id="526" r:id="rId21"/>
    <p:sldId id="532" r:id="rId22"/>
    <p:sldId id="533" r:id="rId23"/>
    <p:sldId id="534" r:id="rId24"/>
    <p:sldId id="535" r:id="rId25"/>
    <p:sldId id="530" r:id="rId26"/>
    <p:sldId id="536" r:id="rId27"/>
    <p:sldId id="502" r:id="rId28"/>
    <p:sldId id="537" r:id="rId29"/>
    <p:sldId id="540" r:id="rId30"/>
    <p:sldId id="541" r:id="rId31"/>
    <p:sldId id="542" r:id="rId32"/>
    <p:sldId id="543" r:id="rId33"/>
    <p:sldId id="545" r:id="rId34"/>
    <p:sldId id="547" r:id="rId35"/>
    <p:sldId id="548" r:id="rId36"/>
    <p:sldId id="549" r:id="rId37"/>
    <p:sldId id="550" r:id="rId38"/>
    <p:sldId id="554" r:id="rId39"/>
    <p:sldId id="552" r:id="rId40"/>
    <p:sldId id="553" r:id="rId41"/>
    <p:sldId id="557" r:id="rId42"/>
    <p:sldId id="556" r:id="rId43"/>
    <p:sldId id="512" r:id="rId44"/>
    <p:sldId id="573" r:id="rId45"/>
    <p:sldId id="544" r:id="rId4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4"/>
    <p:restoredTop sz="91408"/>
  </p:normalViewPr>
  <p:slideViewPr>
    <p:cSldViewPr>
      <p:cViewPr varScale="1">
        <p:scale>
          <a:sx n="108" d="100"/>
          <a:sy n="108" d="100"/>
        </p:scale>
        <p:origin x="13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8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0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687A-3431-6852-EC5D-CF79BA40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C51C2-0BBE-8EE4-F3D1-EA2252304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10C77-C39A-A8DE-DD7D-0317FB1D5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4ED20-8ADD-9750-2634-C14FCDC60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47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2D759AB-56F7-F243-83EF-1DC089F8D502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8E57-AD09-BE8A-BDE1-A1352A34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1F8F9-FBC5-0E0E-5BC0-B3600E763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4C983-9969-F8C7-2722-34004B2BA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D266A-0288-074A-13D7-7E7D395DD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04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853705C-35BF-A442-8E55-A6E2782461EE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08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73B7972-42B7-8F4F-9165-E6B81B7CBFF4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676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01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0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1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February 10,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9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congestion control wrap-up</a:t>
            </a:r>
          </a:p>
          <a:p>
            <a:r>
              <a:rPr lang="en-US" dirty="0"/>
              <a:t>TCP throughput equation</a:t>
            </a:r>
          </a:p>
          <a:p>
            <a:r>
              <a:rPr lang="en-US" dirty="0"/>
              <a:t>Problems with congestion control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  <a:p>
            <a:pPr lvl="1"/>
            <a:r>
              <a:rPr lang="en-US" dirty="0"/>
              <a:t>Restrict window to RWND to make sure that the receiver isn’t overwhelmed</a:t>
            </a:r>
          </a:p>
          <a:p>
            <a:r>
              <a:rPr lang="en-US" dirty="0"/>
              <a:t>Congestion Control</a:t>
            </a:r>
          </a:p>
          <a:p>
            <a:pPr lvl="1"/>
            <a:r>
              <a:rPr lang="en-US" dirty="0"/>
              <a:t>Restrict window to CWND to make sure that the network isn’t overwhelmed</a:t>
            </a:r>
          </a:p>
          <a:p>
            <a:r>
              <a:rPr lang="en-US" dirty="0"/>
              <a:t>Together</a:t>
            </a:r>
          </a:p>
          <a:p>
            <a:pPr lvl="1"/>
            <a:r>
              <a:rPr lang="en-US" dirty="0"/>
              <a:t>Restrict window to </a:t>
            </a:r>
            <a:r>
              <a:rPr lang="en-US" dirty="0">
                <a:solidFill>
                  <a:srgbClr val="0000FF"/>
                </a:solidFill>
              </a:rPr>
              <a:t>min{RWND, CWND}</a:t>
            </a:r>
            <a:r>
              <a:rPr lang="en-US" dirty="0"/>
              <a:t> to make sure that neither the receiver nor the network are overwhelmed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6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States at sender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</a:t>
            </a:r>
            <a:r>
              <a:rPr lang="en-US" dirty="0"/>
              <a:t> (initialized to a small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 (initialized to a large constant)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Timer</a:t>
            </a:r>
          </a:p>
          <a:p>
            <a:r>
              <a:rPr lang="en-US" dirty="0"/>
              <a:t>Events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ACK</a:t>
            </a:r>
            <a:r>
              <a:rPr lang="en-US" dirty="0"/>
              <a:t> (new data)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Timeout</a:t>
            </a:r>
            <a:r>
              <a:rPr lang="en-US" dirty="0"/>
              <a:t>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CWND &lt; ssthresh</a:t>
            </a:r>
          </a:p>
          <a:p>
            <a:pPr lvl="1"/>
            <a:r>
              <a:rPr lang="en-US"/>
              <a:t>CWND += 1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34000" y="1981200"/>
            <a:ext cx="3352800" cy="1371600"/>
          </a:xfrm>
          <a:prstGeom prst="wedgeRoundRectCallout">
            <a:avLst>
              <a:gd name="adj1" fmla="val -118358"/>
              <a:gd name="adj2" fmla="val -18268"/>
              <a:gd name="adj3" fmla="val 16667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0" y="2029361"/>
            <a:ext cx="27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CWND packets per RTT </a:t>
            </a:r>
          </a:p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Hence, after one RTT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with no drops: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solidFill>
                  <a:srgbClr val="0000FF"/>
                </a:solidFill>
                <a:latin typeface="+mn-lt"/>
              </a:rPr>
              <a:t>    CWND = 2xCWND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1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C0E1-614E-4980-7532-219328D3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D49E-4576-576C-68CC-74CFA20C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A984-108E-43BD-8A8F-2806D9AA8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CWND &lt;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/>
              <a:t>CWND += 1</a:t>
            </a:r>
          </a:p>
          <a:p>
            <a:pPr lvl="1"/>
            <a:endParaRPr lang="en-US" dirty="0"/>
          </a:p>
          <a:p>
            <a:r>
              <a:rPr lang="en-US" dirty="0"/>
              <a:t>Else </a:t>
            </a:r>
          </a:p>
          <a:p>
            <a:pPr lvl="1"/>
            <a:r>
              <a:rPr lang="en-US" dirty="0"/>
              <a:t>CWND = CWND + 1/CWND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56E382F-E530-C703-C3A3-18CF1E6EBF8B}"/>
              </a:ext>
            </a:extLst>
          </p:cNvPr>
          <p:cNvSpPr/>
          <p:nvPr/>
        </p:nvSpPr>
        <p:spPr bwMode="auto">
          <a:xfrm>
            <a:off x="5506121" y="17526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BB09C-1C82-1233-7254-447CAE64A6D9}"/>
              </a:ext>
            </a:extLst>
          </p:cNvPr>
          <p:cNvSpPr txBox="1"/>
          <p:nvPr/>
        </p:nvSpPr>
        <p:spPr>
          <a:xfrm>
            <a:off x="5980135" y="2038290"/>
            <a:ext cx="2706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+mn-lt"/>
              </a:rPr>
              <a:t>Slow start 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phase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CFD766C-E949-85F5-D390-C68581E24AAD}"/>
              </a:ext>
            </a:extLst>
          </p:cNvPr>
          <p:cNvGrpSpPr/>
          <p:nvPr/>
        </p:nvGrpSpPr>
        <p:grpSpPr>
          <a:xfrm>
            <a:off x="3829721" y="4920880"/>
            <a:ext cx="3352800" cy="1371600"/>
            <a:chOff x="5105400" y="4267200"/>
            <a:chExt cx="3352800" cy="1371600"/>
          </a:xfrm>
        </p:grpSpPr>
        <p:sp>
          <p:nvSpPr>
            <p:cNvPr id="8" name="Rounded Rectangular Callout 7">
              <a:extLst>
                <a:ext uri="{FF2B5EF4-FFF2-40B4-BE49-F238E27FC236}">
                  <a16:creationId xmlns:a16="http://schemas.microsoft.com/office/drawing/2014/main" id="{C47E3CF5-73D4-B5E6-FCF3-AA9CF289D553}"/>
                </a:ext>
              </a:extLst>
            </p:cNvPr>
            <p:cNvSpPr/>
            <p:nvPr/>
          </p:nvSpPr>
          <p:spPr bwMode="auto">
            <a:xfrm>
              <a:off x="5105400" y="4267200"/>
              <a:ext cx="3352800" cy="1371600"/>
            </a:xfrm>
            <a:prstGeom prst="wedgeRoundRectCallout">
              <a:avLst>
                <a:gd name="adj1" fmla="val -61310"/>
                <a:gd name="adj2" fmla="val -117752"/>
                <a:gd name="adj3" fmla="val 16667"/>
              </a:avLst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D1CEDA-5C58-FD6D-B23A-686DB00191C5}"/>
                </a:ext>
              </a:extLst>
            </p:cNvPr>
            <p:cNvSpPr txBox="1"/>
            <p:nvPr/>
          </p:nvSpPr>
          <p:spPr>
            <a:xfrm>
              <a:off x="5105400" y="4315361"/>
              <a:ext cx="273773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CWND packets per RTT </a:t>
              </a:r>
            </a:p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Hence, after one RTT 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latin typeface="+mn-lt"/>
                </a:rPr>
                <a:t>with no drops: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solidFill>
                    <a:srgbClr val="0000FF"/>
                  </a:solidFill>
                  <a:latin typeface="+mn-lt"/>
                </a:rPr>
                <a:t>    CWND = CWND + 1</a:t>
              </a:r>
            </a:p>
          </p:txBody>
        </p:sp>
      </p:grpSp>
      <p:sp>
        <p:nvSpPr>
          <p:cNvPr id="10" name="Right Brace 9">
            <a:extLst>
              <a:ext uri="{FF2B5EF4-FFF2-40B4-BE49-F238E27FC236}">
                <a16:creationId xmlns:a16="http://schemas.microsoft.com/office/drawing/2014/main" id="{00F01C8A-5EF0-F9D6-1FB1-B158F641B877}"/>
              </a:ext>
            </a:extLst>
          </p:cNvPr>
          <p:cNvSpPr/>
          <p:nvPr/>
        </p:nvSpPr>
        <p:spPr bwMode="auto">
          <a:xfrm>
            <a:off x="5506121" y="34290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D4B9D6-24F8-708E-BEEB-47A24A00D66D}"/>
              </a:ext>
            </a:extLst>
          </p:cNvPr>
          <p:cNvSpPr txBox="1"/>
          <p:nvPr/>
        </p:nvSpPr>
        <p:spPr>
          <a:xfrm>
            <a:off x="6096000" y="3524072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i="1" dirty="0">
                <a:solidFill>
                  <a:srgbClr val="0000FF"/>
                </a:solidFill>
                <a:latin typeface="+mn-lt"/>
              </a:rPr>
              <a:t>Congestion </a:t>
            </a:r>
            <a:br>
              <a:rPr lang="en-US" sz="2400" i="1" dirty="0">
                <a:solidFill>
                  <a:srgbClr val="0000FF"/>
                </a:solidFill>
                <a:latin typeface="+mn-lt"/>
              </a:rPr>
            </a:br>
            <a:r>
              <a:rPr lang="en-US" sz="2400" i="1" dirty="0">
                <a:solidFill>
                  <a:srgbClr val="0000FF"/>
                </a:solidFill>
                <a:latin typeface="+mn-lt"/>
              </a:rPr>
              <a:t>avoidance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 phase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9C94A3E-4D93-BBB2-883A-C4BD82A18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B3070CC-8F78-166E-30D0-9543F17E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F159C1E-A62B-14FD-A8CB-6F0F745B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3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916B-D854-1EBB-CBEC-FE2CAF5F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2729-8C75-CDAA-5FCC-CC08AEE0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TimeOut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3E4A-A6D8-6C10-C99A-E6311CF12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Timeout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</a:t>
            </a:r>
            <a:r>
              <a:rPr lang="en-US" dirty="0"/>
              <a:t>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</a:t>
            </a:r>
            <a:r>
              <a:rPr lang="en-US" dirty="0">
                <a:solidFill>
                  <a:srgbClr val="0000FF"/>
                </a:solidFill>
              </a:rPr>
              <a:t> 1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D795BF-3DBF-5220-A70D-7D89CAA0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7467584-7639-CF3C-3B67-6C522635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4AA3DCF-5434-AFF7-ED6D-FF9AB97F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44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AIMD leads to TCP sawtooth</a:t>
            </a:r>
          </a:p>
        </p:txBody>
      </p:sp>
      <p:sp>
        <p:nvSpPr>
          <p:cNvPr id="84995" name="Freeform 3"/>
          <p:cNvSpPr>
            <a:spLocks/>
          </p:cNvSpPr>
          <p:nvPr/>
        </p:nvSpPr>
        <p:spPr bwMode="auto">
          <a:xfrm>
            <a:off x="914400" y="26193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3447819" y="2452984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85001" name="Text Box 9"/>
          <p:cNvSpPr txBox="1">
            <a:spLocks noChangeArrowheads="1"/>
          </p:cNvSpPr>
          <p:nvPr/>
        </p:nvSpPr>
        <p:spPr bwMode="auto">
          <a:xfrm>
            <a:off x="3011257" y="2057697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dirty="0">
                <a:latin typeface="Arial" charset="0"/>
                <a:ea typeface="Arial" charset="0"/>
                <a:cs typeface="Arial" charset="0"/>
              </a:rPr>
              <a:t>Loss</a:t>
            </a:r>
          </a:p>
        </p:txBody>
      </p:sp>
      <p:sp>
        <p:nvSpPr>
          <p:cNvPr id="85003" name="AutoShape 11"/>
          <p:cNvSpPr>
            <a:spLocks noChangeArrowheads="1"/>
          </p:cNvSpPr>
          <p:nvPr/>
        </p:nvSpPr>
        <p:spPr bwMode="auto">
          <a:xfrm>
            <a:off x="1828800" y="5638800"/>
            <a:ext cx="1447800" cy="609600"/>
          </a:xfrm>
          <a:prstGeom prst="wedgeRectCallout">
            <a:avLst>
              <a:gd name="adj1" fmla="val -43968"/>
              <a:gd name="adj2" fmla="val -12344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Exponential</a:t>
            </a:r>
            <a:b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</a:b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“</a:t>
            </a:r>
            <a:r>
              <a:rPr lang="en-US" altLang="ja-JP" sz="1600" b="0">
                <a:solidFill>
                  <a:schemeClr val="bg1"/>
                </a:solidFill>
                <a:ea typeface="Arial" charset="0"/>
                <a:cs typeface="Arial" charset="0"/>
              </a:rPr>
              <a:t>slow start</a:t>
            </a: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”</a:t>
            </a:r>
            <a:endParaRPr lang="en-US" sz="1600" b="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7123113" y="551497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t</a:t>
            </a:r>
          </a:p>
        </p:txBody>
      </p:sp>
      <p:sp>
        <p:nvSpPr>
          <p:cNvPr id="85005" name="Text Box 13"/>
          <p:cNvSpPr txBox="1">
            <a:spLocks noChangeArrowheads="1"/>
          </p:cNvSpPr>
          <p:nvPr/>
        </p:nvSpPr>
        <p:spPr bwMode="auto">
          <a:xfrm>
            <a:off x="341313" y="2085975"/>
            <a:ext cx="1278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Window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5002" name="Freeform 10"/>
          <p:cNvSpPr>
            <a:spLocks/>
          </p:cNvSpPr>
          <p:nvPr/>
        </p:nvSpPr>
        <p:spPr bwMode="auto">
          <a:xfrm>
            <a:off x="914400" y="39909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5009" name="Line 17"/>
          <p:cNvSpPr>
            <a:spLocks noChangeShapeType="1"/>
          </p:cNvSpPr>
          <p:nvPr/>
        </p:nvSpPr>
        <p:spPr bwMode="auto">
          <a:xfrm flipV="1">
            <a:off x="2736853" y="3325177"/>
            <a:ext cx="698496" cy="6657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79CD6233-935E-2E4E-87ED-FE2AEAF5D6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8999" y="3325177"/>
            <a:ext cx="6350" cy="20373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07E7129F-3A83-E14F-82EC-21D68CBF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995" y="4371975"/>
            <a:ext cx="1354263" cy="609600"/>
          </a:xfrm>
          <a:prstGeom prst="wedgeRectCallout">
            <a:avLst>
              <a:gd name="adj1" fmla="val -53569"/>
              <a:gd name="adj2" fmla="val 8693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Multiplicative Decrease</a:t>
            </a:r>
          </a:p>
        </p:txBody>
      </p:sp>
      <p:sp>
        <p:nvSpPr>
          <p:cNvPr id="23" name="AutoShape 11">
            <a:extLst>
              <a:ext uri="{FF2B5EF4-FFF2-40B4-BE49-F238E27FC236}">
                <a16:creationId xmlns:a16="http://schemas.microsoft.com/office/drawing/2014/main" id="{AD4AFEFE-849A-264E-A5BC-F88DD060C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063" y="2695575"/>
            <a:ext cx="1447800" cy="609600"/>
          </a:xfrm>
          <a:prstGeom prst="wedgeRectCallout">
            <a:avLst>
              <a:gd name="adj1" fmla="val 36558"/>
              <a:gd name="adj2" fmla="val 10906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Additive Increase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25B197-5527-264B-A8FE-BF3F34ABDC8E}"/>
              </a:ext>
            </a:extLst>
          </p:cNvPr>
          <p:cNvGrpSpPr/>
          <p:nvPr/>
        </p:nvGrpSpPr>
        <p:grpSpPr>
          <a:xfrm>
            <a:off x="3428999" y="3362917"/>
            <a:ext cx="2825752" cy="1999657"/>
            <a:chOff x="914400" y="3362917"/>
            <a:chExt cx="2825752" cy="1999657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A199AD31-CF64-E941-89F1-1B399AA4A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0" y="4343399"/>
              <a:ext cx="1828800" cy="1019175"/>
            </a:xfrm>
            <a:custGeom>
              <a:avLst/>
              <a:gdLst>
                <a:gd name="T0" fmla="*/ 2147483647 w 1152"/>
                <a:gd name="T1" fmla="*/ 0 h 864"/>
                <a:gd name="T2" fmla="*/ 2147483647 w 1152"/>
                <a:gd name="T3" fmla="*/ 2147483647 h 864"/>
                <a:gd name="T4" fmla="*/ 2147483647 w 1152"/>
                <a:gd name="T5" fmla="*/ 2147483647 h 864"/>
                <a:gd name="T6" fmla="*/ 2147483647 w 1152"/>
                <a:gd name="T7" fmla="*/ 2147483647 h 864"/>
                <a:gd name="T8" fmla="*/ 0 w 1152"/>
                <a:gd name="T9" fmla="*/ 2147483647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E9FD253A-9747-D54F-AA39-751E209C6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852" y="3362918"/>
              <a:ext cx="1003300" cy="98047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C87DAE9D-C079-2E42-8CC2-670899A97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7451" y="3362917"/>
              <a:ext cx="6350" cy="199965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29" name="Line 4">
            <a:extLst>
              <a:ext uri="{FF2B5EF4-FFF2-40B4-BE49-F238E27FC236}">
                <a16:creationId xmlns:a16="http://schemas.microsoft.com/office/drawing/2014/main" id="{9D8BF732-2B0E-1644-B965-B66CC0572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6179" y="2432029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2" name="Line 26">
            <a:extLst>
              <a:ext uri="{FF2B5EF4-FFF2-40B4-BE49-F238E27FC236}">
                <a16:creationId xmlns:a16="http://schemas.microsoft.com/office/drawing/2014/main" id="{854771B4-FF75-7678-2A7F-D66C736F36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47985" y="3058479"/>
            <a:ext cx="1828800" cy="1295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27">
            <a:extLst>
              <a:ext uri="{FF2B5EF4-FFF2-40B4-BE49-F238E27FC236}">
                <a16:creationId xmlns:a16="http://schemas.microsoft.com/office/drawing/2014/main" id="{27BE8F3A-9D6D-DBED-5102-75C94DD42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785" y="2372679"/>
            <a:ext cx="182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 err="1">
                <a:latin typeface="Arial" charset="0"/>
              </a:rPr>
              <a:t>SSThresh</a:t>
            </a:r>
            <a:endParaRPr lang="en-US" dirty="0">
              <a:latin typeface="Arial" charset="0"/>
            </a:endParaRPr>
          </a:p>
          <a:p>
            <a:pPr algn="ctr" eaLnBrk="1" hangingPunct="1"/>
            <a:r>
              <a:rPr lang="en-US" dirty="0">
                <a:latin typeface="Arial" charset="0"/>
              </a:rPr>
              <a:t>Set to Here</a:t>
            </a:r>
          </a:p>
        </p:txBody>
      </p:sp>
    </p:spTree>
    <p:extLst>
      <p:ext uri="{BB962C8B-B14F-4D97-AF65-F5344CB8AC3E}">
        <p14:creationId xmlns:p14="http://schemas.microsoft.com/office/powerpoint/2010/main" val="170487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  <p:bldP spid="85001" grpId="0"/>
      <p:bldP spid="85003" grpId="0" animBg="1"/>
      <p:bldP spid="85002" grpId="0" animBg="1"/>
      <p:bldP spid="85009" grpId="0" animBg="1"/>
      <p:bldP spid="21" grpId="0" animBg="1"/>
      <p:bldP spid="22" grpId="0" animBg="1"/>
      <p:bldP spid="23" grpId="0" animBg="1"/>
      <p:bldP spid="29" grpId="0" animBg="1"/>
      <p:bldP spid="2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1A9CB-6DFD-F92D-0AF1-688FA220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C779-C890-FA7E-F7C0-62895D34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 Implementation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E25A6-979F-7624-FFAC-6E1624DD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States at sender</a:t>
            </a:r>
          </a:p>
          <a:p>
            <a:pPr lvl="1"/>
            <a:r>
              <a:rPr lang="en-US" dirty="0"/>
              <a:t>CWND (initialized to a small constant)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(initialized to a large constant)</a:t>
            </a:r>
          </a:p>
          <a:p>
            <a:pPr lvl="1"/>
            <a:r>
              <a:rPr lang="en-US" dirty="0"/>
              <a:t>Timer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dupACKcount</a:t>
            </a:r>
            <a:endParaRPr lang="en-US" dirty="0"/>
          </a:p>
          <a:p>
            <a:r>
              <a:rPr lang="en-US" dirty="0"/>
              <a:t>Events </a:t>
            </a:r>
          </a:p>
          <a:p>
            <a:pPr lvl="1"/>
            <a:r>
              <a:rPr lang="en-US" dirty="0"/>
              <a:t>ACK (new data) </a:t>
            </a:r>
          </a:p>
          <a:p>
            <a:pPr lvl="1"/>
            <a:r>
              <a:rPr lang="en-US" dirty="0"/>
              <a:t>Timeout 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dupACK</a:t>
            </a:r>
            <a:r>
              <a:rPr lang="en-US" dirty="0"/>
              <a:t> (duplicate ACK for old data)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AA3E16C-B7D8-596E-1F8B-6C3DCD39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DD40700-1BC1-B711-F310-E1D1D4EA7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46811DC-2DE1-E70E-F72B-21C151E2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3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Event: dupACK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dupACKcount</a:t>
            </a:r>
            <a:r>
              <a:rPr lang="en-US" dirty="0"/>
              <a:t> ++ </a:t>
            </a:r>
          </a:p>
          <a:p>
            <a:r>
              <a:rPr lang="en-US" dirty="0"/>
              <a:t>If </a:t>
            </a:r>
            <a:r>
              <a:rPr lang="en-US" dirty="0" err="1"/>
              <a:t>dupACKcount</a:t>
            </a:r>
            <a:r>
              <a:rPr lang="en-US" dirty="0"/>
              <a:t> = 3 </a:t>
            </a:r>
            <a:r>
              <a:rPr lang="en-US" dirty="0">
                <a:solidFill>
                  <a:srgbClr val="0000FF"/>
                </a:solidFill>
              </a:rPr>
              <a:t>/* fast retransmit  */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= CWND/2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103427" name="Freeform 3"/>
          <p:cNvSpPr>
            <a:spLocks/>
          </p:cNvSpPr>
          <p:nvPr/>
        </p:nvSpPr>
        <p:spPr bwMode="auto">
          <a:xfrm>
            <a:off x="914400" y="20351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8" name="Freeform 4"/>
          <p:cNvSpPr>
            <a:spLocks/>
          </p:cNvSpPr>
          <p:nvPr/>
        </p:nvSpPr>
        <p:spPr bwMode="auto">
          <a:xfrm>
            <a:off x="914400" y="34067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504113" y="48768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t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341313" y="1501775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Window</a:t>
            </a:r>
          </a:p>
        </p:txBody>
      </p:sp>
      <p:sp>
        <p:nvSpPr>
          <p:cNvPr id="986119" name="Text Box 7"/>
          <p:cNvSpPr txBox="1">
            <a:spLocks noChangeArrowheads="1"/>
          </p:cNvSpPr>
          <p:nvPr/>
        </p:nvSpPr>
        <p:spPr bwMode="auto">
          <a:xfrm>
            <a:off x="655638" y="5528203"/>
            <a:ext cx="7832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400" b="0" dirty="0">
                <a:solidFill>
                  <a:srgbClr val="0000FF"/>
                </a:solidFill>
                <a:latin typeface="Arial" charset="0"/>
              </a:rPr>
              <a:t>Slow-start restart:</a:t>
            </a:r>
            <a:r>
              <a:rPr lang="en-US" sz="2400" b="0" dirty="0">
                <a:latin typeface="Arial" charset="0"/>
              </a:rPr>
              <a:t> Go back to CWND = 1 MSS, but take advantage of knowing the previous value of CWND</a:t>
            </a:r>
          </a:p>
        </p:txBody>
      </p:sp>
      <p:sp>
        <p:nvSpPr>
          <p:cNvPr id="103432" name="Freeform 8"/>
          <p:cNvSpPr>
            <a:spLocks/>
          </p:cNvSpPr>
          <p:nvPr/>
        </p:nvSpPr>
        <p:spPr bwMode="auto">
          <a:xfrm>
            <a:off x="2743200" y="2873375"/>
            <a:ext cx="2667000" cy="1524000"/>
          </a:xfrm>
          <a:custGeom>
            <a:avLst/>
            <a:gdLst>
              <a:gd name="T0" fmla="*/ 0 w 1680"/>
              <a:gd name="T1" fmla="*/ 2147483647 h 960"/>
              <a:gd name="T2" fmla="*/ 0 w 1680"/>
              <a:gd name="T3" fmla="*/ 2147483647 h 960"/>
              <a:gd name="T4" fmla="*/ 2147483647 w 1680"/>
              <a:gd name="T5" fmla="*/ 2147483647 h 960"/>
              <a:gd name="T6" fmla="*/ 2147483647 w 1680"/>
              <a:gd name="T7" fmla="*/ 2147483647 h 960"/>
              <a:gd name="T8" fmla="*/ 2147483647 w 1680"/>
              <a:gd name="T9" fmla="*/ 0 h 9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960"/>
              <a:gd name="T17" fmla="*/ 1680 w 1680"/>
              <a:gd name="T18" fmla="*/ 960 h 9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960">
                <a:moveTo>
                  <a:pt x="0" y="336"/>
                </a:moveTo>
                <a:lnTo>
                  <a:pt x="0" y="816"/>
                </a:lnTo>
                <a:lnTo>
                  <a:pt x="384" y="528"/>
                </a:lnTo>
                <a:lnTo>
                  <a:pt x="384" y="960"/>
                </a:lnTo>
                <a:lnTo>
                  <a:pt x="1680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5410200" y="2873375"/>
            <a:ext cx="0" cy="1981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828800" y="3852864"/>
            <a:ext cx="4711700" cy="1709738"/>
            <a:chOff x="1152" y="2379"/>
            <a:chExt cx="2968" cy="1077"/>
          </a:xfrm>
        </p:grpSpPr>
        <p:sp>
          <p:nvSpPr>
            <p:cNvPr id="103450" name="Freeform 11"/>
            <p:cNvSpPr>
              <a:spLocks/>
            </p:cNvSpPr>
            <p:nvPr/>
          </p:nvSpPr>
          <p:spPr bwMode="auto">
            <a:xfrm>
              <a:off x="3544" y="2379"/>
              <a:ext cx="576" cy="624"/>
            </a:xfrm>
            <a:custGeom>
              <a:avLst/>
              <a:gdLst>
                <a:gd name="T0" fmla="*/ 36 w 1152"/>
                <a:gd name="T1" fmla="*/ 0 h 864"/>
                <a:gd name="T2" fmla="*/ 33 w 1152"/>
                <a:gd name="T3" fmla="*/ 66 h 864"/>
                <a:gd name="T4" fmla="*/ 26 w 1152"/>
                <a:gd name="T5" fmla="*/ 123 h 864"/>
                <a:gd name="T6" fmla="*/ 12 w 1152"/>
                <a:gd name="T7" fmla="*/ 160 h 864"/>
                <a:gd name="T8" fmla="*/ 0 w 1152"/>
                <a:gd name="T9" fmla="*/ 170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3451" name="AutoShape 12"/>
            <p:cNvSpPr>
              <a:spLocks noChangeArrowheads="1"/>
            </p:cNvSpPr>
            <p:nvPr/>
          </p:nvSpPr>
          <p:spPr bwMode="auto">
            <a:xfrm>
              <a:off x="1152" y="2880"/>
              <a:ext cx="1824" cy="576"/>
            </a:xfrm>
            <a:prstGeom prst="wedgeRectCallout">
              <a:avLst>
                <a:gd name="adj1" fmla="val 106361"/>
                <a:gd name="adj2" fmla="val -71009"/>
              </a:avLst>
            </a:prstGeom>
            <a:solidFill>
              <a:srgbClr val="D3A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sz="1600" b="0" dirty="0">
                  <a:ea typeface="Arial" charset="0"/>
                  <a:cs typeface="Arial" charset="0"/>
                </a:rPr>
                <a:t>Slow start in operation until it reaches half of previous CWND, i.e., </a:t>
              </a:r>
              <a:r>
                <a:rPr lang="en-US" sz="1600" b="0" i="1" dirty="0">
                  <a:ea typeface="Arial" charset="0"/>
                  <a:cs typeface="Arial" charset="0"/>
                </a:rPr>
                <a:t>SSTHRESH</a:t>
              </a:r>
              <a:endParaRPr lang="en-US" sz="1600" b="0" dirty="0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724400" y="3171748"/>
            <a:ext cx="4114800" cy="1452562"/>
            <a:chOff x="2976" y="1965"/>
            <a:chExt cx="2592" cy="915"/>
          </a:xfrm>
        </p:grpSpPr>
        <p:sp>
          <p:nvSpPr>
            <p:cNvPr id="103447" name="Freeform 14"/>
            <p:cNvSpPr>
              <a:spLocks/>
            </p:cNvSpPr>
            <p:nvPr/>
          </p:nvSpPr>
          <p:spPr bwMode="auto">
            <a:xfrm>
              <a:off x="4560" y="1965"/>
              <a:ext cx="1008" cy="624"/>
            </a:xfrm>
            <a:custGeom>
              <a:avLst/>
              <a:gdLst>
                <a:gd name="T0" fmla="*/ 0 w 1008"/>
                <a:gd name="T1" fmla="*/ 0 h 624"/>
                <a:gd name="T2" fmla="*/ 0 w 1008"/>
                <a:gd name="T3" fmla="*/ 624 h 624"/>
                <a:gd name="T4" fmla="*/ 720 w 1008"/>
                <a:gd name="T5" fmla="*/ 48 h 624"/>
                <a:gd name="T6" fmla="*/ 720 w 1008"/>
                <a:gd name="T7" fmla="*/ 576 h 624"/>
                <a:gd name="T8" fmla="*/ 1008 w 1008"/>
                <a:gd name="T9" fmla="*/ 336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624"/>
                <a:gd name="T17" fmla="*/ 1008 w 1008"/>
                <a:gd name="T18" fmla="*/ 624 h 6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624">
                  <a:moveTo>
                    <a:pt x="0" y="0"/>
                  </a:moveTo>
                  <a:lnTo>
                    <a:pt x="0" y="624"/>
                  </a:lnTo>
                  <a:lnTo>
                    <a:pt x="720" y="48"/>
                  </a:lnTo>
                  <a:lnTo>
                    <a:pt x="720" y="576"/>
                  </a:lnTo>
                  <a:lnTo>
                    <a:pt x="1008" y="336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8" name="Line 15"/>
            <p:cNvSpPr>
              <a:spLocks noChangeShapeType="1"/>
            </p:cNvSpPr>
            <p:nvPr/>
          </p:nvSpPr>
          <p:spPr bwMode="auto">
            <a:xfrm flipV="1">
              <a:off x="4128" y="1968"/>
              <a:ext cx="432" cy="43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9" name="Line 16"/>
            <p:cNvSpPr>
              <a:spLocks noChangeShapeType="1"/>
            </p:cNvSpPr>
            <p:nvPr/>
          </p:nvSpPr>
          <p:spPr bwMode="auto">
            <a:xfrm flipV="1">
              <a:off x="2976" y="2352"/>
              <a:ext cx="1136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105400" y="1816100"/>
            <a:ext cx="1411288" cy="1079500"/>
            <a:chOff x="3216" y="1144"/>
            <a:chExt cx="889" cy="680"/>
          </a:xfrm>
        </p:grpSpPr>
        <p:sp>
          <p:nvSpPr>
            <p:cNvPr id="103444" name="Line 18"/>
            <p:cNvSpPr>
              <a:spLocks noChangeShapeType="1"/>
            </p:cNvSpPr>
            <p:nvPr/>
          </p:nvSpPr>
          <p:spPr bwMode="auto">
            <a:xfrm flipH="1">
              <a:off x="3485" y="1344"/>
              <a:ext cx="163" cy="46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5" name="Text Box 19"/>
            <p:cNvSpPr txBox="1">
              <a:spLocks noChangeArrowheads="1"/>
            </p:cNvSpPr>
            <p:nvPr/>
          </p:nvSpPr>
          <p:spPr bwMode="auto">
            <a:xfrm>
              <a:off x="3216" y="1144"/>
              <a:ext cx="8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Timeout</a:t>
              </a:r>
            </a:p>
          </p:txBody>
        </p:sp>
        <p:sp>
          <p:nvSpPr>
            <p:cNvPr id="103446" name="Line 20"/>
            <p:cNvSpPr>
              <a:spLocks noChangeShapeType="1"/>
            </p:cNvSpPr>
            <p:nvPr/>
          </p:nvSpPr>
          <p:spPr bwMode="auto">
            <a:xfrm>
              <a:off x="3408" y="182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981200" y="1981200"/>
            <a:ext cx="2362200" cy="2425700"/>
            <a:chOff x="1248" y="1248"/>
            <a:chExt cx="1488" cy="1528"/>
          </a:xfrm>
        </p:grpSpPr>
        <p:sp>
          <p:nvSpPr>
            <p:cNvPr id="103441" name="Text Box 22"/>
            <p:cNvSpPr txBox="1">
              <a:spLocks noChangeArrowheads="1"/>
            </p:cNvSpPr>
            <p:nvPr/>
          </p:nvSpPr>
          <p:spPr bwMode="auto">
            <a:xfrm>
              <a:off x="1248" y="1248"/>
              <a:ext cx="148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Fast Retransmission</a:t>
              </a:r>
            </a:p>
          </p:txBody>
        </p:sp>
        <p:cxnSp>
          <p:nvCxnSpPr>
            <p:cNvPr id="103442" name="AutoShape 23"/>
            <p:cNvCxnSpPr>
              <a:cxnSpLocks noChangeShapeType="1"/>
              <a:stCxn id="103441" idx="2"/>
              <a:endCxn id="103432" idx="1"/>
            </p:cNvCxnSpPr>
            <p:nvPr/>
          </p:nvCxnSpPr>
          <p:spPr bwMode="auto">
            <a:xfrm flipH="1">
              <a:off x="1722" y="1690"/>
              <a:ext cx="270" cy="93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03443" name="AutoShape 24"/>
            <p:cNvCxnSpPr>
              <a:cxnSpLocks noChangeShapeType="1"/>
              <a:stCxn id="103441" idx="2"/>
              <a:endCxn id="103432" idx="3"/>
            </p:cNvCxnSpPr>
            <p:nvPr/>
          </p:nvCxnSpPr>
          <p:spPr bwMode="auto">
            <a:xfrm>
              <a:off x="1992" y="1690"/>
              <a:ext cx="120" cy="108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410200" y="1905000"/>
            <a:ext cx="2895600" cy="1981200"/>
            <a:chOff x="3408" y="1200"/>
            <a:chExt cx="1824" cy="1248"/>
          </a:xfrm>
        </p:grpSpPr>
        <p:sp>
          <p:nvSpPr>
            <p:cNvPr id="103439" name="Line 26"/>
            <p:cNvSpPr>
              <a:spLocks noChangeShapeType="1"/>
            </p:cNvSpPr>
            <p:nvPr/>
          </p:nvSpPr>
          <p:spPr bwMode="auto">
            <a:xfrm flipH="1">
              <a:off x="3408" y="1632"/>
              <a:ext cx="1152" cy="8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0" name="Text Box 27"/>
            <p:cNvSpPr txBox="1">
              <a:spLocks noChangeArrowheads="1"/>
            </p:cNvSpPr>
            <p:nvPr/>
          </p:nvSpPr>
          <p:spPr bwMode="auto">
            <a:xfrm>
              <a:off x="4080" y="1200"/>
              <a:ext cx="115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dirty="0" err="1">
                  <a:latin typeface="Arial" charset="0"/>
                </a:rPr>
                <a:t>SSThresh</a:t>
              </a:r>
              <a:endParaRPr lang="en-US" dirty="0">
                <a:latin typeface="Arial" charset="0"/>
              </a:endParaRPr>
            </a:p>
            <a:p>
              <a:pPr algn="ctr" eaLnBrk="1" hangingPunct="1"/>
              <a:r>
                <a:rPr lang="en-US" dirty="0">
                  <a:latin typeface="Arial" charset="0"/>
                </a:rPr>
                <a:t>Set to Here</a:t>
              </a:r>
            </a:p>
          </p:txBody>
        </p:sp>
      </p:grp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0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AIMD?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three issues</a:t>
            </a:r>
          </a:p>
          <a:p>
            <a:pPr lvl="1"/>
            <a:r>
              <a:rPr lang="en-US" dirty="0"/>
              <a:t>Finding available bottleneck bandwidth</a:t>
            </a:r>
          </a:p>
          <a:p>
            <a:pPr lvl="1"/>
            <a:r>
              <a:rPr lang="en-US" dirty="0"/>
              <a:t>Adjusting to bandwidth variations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Sharing bandwidth</a:t>
            </a:r>
          </a:p>
          <a:p>
            <a:endParaRPr lang="en-US" dirty="0"/>
          </a:p>
          <a:p>
            <a:r>
              <a:rPr lang="en-US" dirty="0"/>
              <a:t>Two goals for bandwidth sharing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Efficiency</a:t>
            </a:r>
            <a:r>
              <a:rPr lang="en-US" dirty="0"/>
              <a:t>: High utilization of link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Fairness</a:t>
            </a:r>
            <a:r>
              <a:rPr lang="en-US" dirty="0"/>
              <a:t>: Each flow gets equal share</a:t>
            </a:r>
          </a:p>
          <a:p>
            <a:pPr lvl="1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4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800600" y="1398588"/>
            <a:ext cx="2178050" cy="2057400"/>
            <a:chOff x="3024" y="881"/>
            <a:chExt cx="1372" cy="1296"/>
          </a:xfrm>
        </p:grpSpPr>
        <p:sp>
          <p:nvSpPr>
            <p:cNvPr id="135194" name="Freeform 3"/>
            <p:cNvSpPr>
              <a:spLocks/>
            </p:cNvSpPr>
            <p:nvPr/>
          </p:nvSpPr>
          <p:spPr bwMode="auto">
            <a:xfrm>
              <a:off x="3024" y="881"/>
              <a:ext cx="1008" cy="1296"/>
            </a:xfrm>
            <a:custGeom>
              <a:avLst/>
              <a:gdLst>
                <a:gd name="T0" fmla="*/ 0 w 1008"/>
                <a:gd name="T1" fmla="*/ 1248 h 1296"/>
                <a:gd name="T2" fmla="*/ 1008 w 1008"/>
                <a:gd name="T3" fmla="*/ 288 h 1296"/>
                <a:gd name="T4" fmla="*/ 576 w 1008"/>
                <a:gd name="T5" fmla="*/ 0 h 1296"/>
                <a:gd name="T6" fmla="*/ 0 w 1008"/>
                <a:gd name="T7" fmla="*/ 129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296"/>
                <a:gd name="T14" fmla="*/ 1008 w 100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296">
                  <a:moveTo>
                    <a:pt x="0" y="1248"/>
                  </a:moveTo>
                  <a:lnTo>
                    <a:pt x="1008" y="288"/>
                  </a:lnTo>
                  <a:lnTo>
                    <a:pt x="576" y="0"/>
                  </a:lnTo>
                  <a:lnTo>
                    <a:pt x="0" y="1296"/>
                  </a:lnTo>
                </a:path>
              </a:pathLst>
            </a:cu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5" name="Text Box 4"/>
            <p:cNvSpPr txBox="1">
              <a:spLocks noChangeArrowheads="1"/>
            </p:cNvSpPr>
            <p:nvPr/>
          </p:nvSpPr>
          <p:spPr bwMode="auto">
            <a:xfrm>
              <a:off x="3681" y="1248"/>
              <a:ext cx="715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</a:t>
              </a:r>
            </a:p>
          </p:txBody>
        </p:sp>
        <p:sp>
          <p:nvSpPr>
            <p:cNvPr id="135196" name="Oval 5"/>
            <p:cNvSpPr>
              <a:spLocks noChangeArrowheads="1"/>
            </p:cNvSpPr>
            <p:nvPr/>
          </p:nvSpPr>
          <p:spPr bwMode="auto">
            <a:xfrm>
              <a:off x="3552" y="163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7" name="Line 6"/>
            <p:cNvSpPr>
              <a:spLocks noChangeShapeType="1"/>
            </p:cNvSpPr>
            <p:nvPr/>
          </p:nvSpPr>
          <p:spPr bwMode="auto">
            <a:xfrm flipH="1">
              <a:off x="3072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AIMD is fair and efficient</a:t>
            </a:r>
          </a:p>
        </p:txBody>
      </p:sp>
      <p:sp>
        <p:nvSpPr>
          <p:cNvPr id="2783255" name="Rectangle 2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2995612" cy="4419600"/>
          </a:xfrm>
        </p:spPr>
        <p:txBody>
          <a:bodyPr/>
          <a:lstStyle/>
          <a:p>
            <a:r>
              <a:rPr lang="en-US" sz="2400" dirty="0"/>
              <a:t>Increase: </a:t>
            </a:r>
            <a:r>
              <a:rPr lang="en-US" sz="2400" dirty="0" err="1"/>
              <a:t>x+a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Converges to fairness</a:t>
            </a:r>
          </a:p>
        </p:txBody>
      </p:sp>
      <p:sp>
        <p:nvSpPr>
          <p:cNvPr id="135172" name="Line 8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5" name="Line 11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8" name="Line 14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9" name="Line 15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80" name="Text Box 16"/>
          <p:cNvSpPr txBox="1">
            <a:spLocks noChangeArrowheads="1"/>
          </p:cNvSpPr>
          <p:nvPr/>
        </p:nvSpPr>
        <p:spPr bwMode="auto">
          <a:xfrm>
            <a:off x="4992387" y="16764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810001" y="2286000"/>
            <a:ext cx="1624013" cy="3429000"/>
            <a:chOff x="2400" y="1440"/>
            <a:chExt cx="1023" cy="2160"/>
          </a:xfrm>
        </p:grpSpPr>
        <p:sp>
          <p:nvSpPr>
            <p:cNvPr id="135190" name="Text Box 18"/>
            <p:cNvSpPr txBox="1">
              <a:spLocks noChangeArrowheads="1"/>
            </p:cNvSpPr>
            <p:nvPr/>
          </p:nvSpPr>
          <p:spPr bwMode="auto">
            <a:xfrm>
              <a:off x="2573" y="2208"/>
              <a:ext cx="8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5191" name="Oval 19"/>
            <p:cNvSpPr>
              <a:spLocks noChangeArrowheads="1"/>
            </p:cNvSpPr>
            <p:nvPr/>
          </p:nvSpPr>
          <p:spPr bwMode="auto">
            <a:xfrm>
              <a:off x="3024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2" name="Line 20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3" name="Line 21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82" name="Oval 22"/>
          <p:cNvSpPr>
            <a:spLocks noChangeArrowheads="1"/>
          </p:cNvSpPr>
          <p:nvPr/>
        </p:nvSpPr>
        <p:spPr bwMode="auto">
          <a:xfrm>
            <a:off x="5334000" y="2133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3810000" y="2667000"/>
            <a:ext cx="1905000" cy="3048000"/>
            <a:chOff x="2400" y="1680"/>
            <a:chExt cx="1200" cy="1920"/>
          </a:xfrm>
        </p:grpSpPr>
        <p:sp>
          <p:nvSpPr>
            <p:cNvPr id="135185" name="Line 25"/>
            <p:cNvSpPr>
              <a:spLocks noChangeShapeType="1"/>
            </p:cNvSpPr>
            <p:nvPr/>
          </p:nvSpPr>
          <p:spPr bwMode="auto">
            <a:xfrm flipH="1">
              <a:off x="3408" y="1824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6" name="Line 26"/>
            <p:cNvSpPr>
              <a:spLocks noChangeShapeType="1"/>
            </p:cNvSpPr>
            <p:nvPr/>
          </p:nvSpPr>
          <p:spPr bwMode="auto">
            <a:xfrm flipH="1">
              <a:off x="3264" y="1680"/>
              <a:ext cx="288" cy="48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7" name="Line 27"/>
            <p:cNvSpPr>
              <a:spLocks noChangeShapeType="1"/>
            </p:cNvSpPr>
            <p:nvPr/>
          </p:nvSpPr>
          <p:spPr bwMode="auto">
            <a:xfrm flipV="1">
              <a:off x="3264" y="182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8" name="Line 28"/>
            <p:cNvSpPr>
              <a:spLocks noChangeShapeType="1"/>
            </p:cNvSpPr>
            <p:nvPr/>
          </p:nvSpPr>
          <p:spPr bwMode="auto">
            <a:xfrm flipV="1">
              <a:off x="2400" y="2160"/>
              <a:ext cx="86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9" name="Line 29"/>
            <p:cNvSpPr>
              <a:spLocks noChangeShapeType="1"/>
            </p:cNvSpPr>
            <p:nvPr/>
          </p:nvSpPr>
          <p:spPr bwMode="auto">
            <a:xfrm flipV="1">
              <a:off x="2400" y="2112"/>
              <a:ext cx="1008" cy="1488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78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3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325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done yet!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Problem</a:t>
            </a:r>
            <a:r>
              <a:rPr lang="en-US" dirty="0"/>
              <a:t>: congestion avoidance too slow in recovering from an isolated loss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9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TCP connection with:</a:t>
            </a:r>
          </a:p>
          <a:p>
            <a:pPr lvl="1"/>
            <a:r>
              <a:rPr lang="en-US" dirty="0"/>
              <a:t>CWND=10 packets</a:t>
            </a:r>
          </a:p>
          <a:p>
            <a:pPr lvl="1"/>
            <a:r>
              <a:rPr lang="en-US" dirty="0"/>
              <a:t>Last ACK was for packet # 101</a:t>
            </a:r>
          </a:p>
          <a:p>
            <a:pPr lvl="2"/>
            <a:r>
              <a:rPr lang="en-US" dirty="0"/>
              <a:t>i.e., receiver expecting next packet to have seq. no. 101</a:t>
            </a:r>
          </a:p>
          <a:p>
            <a:r>
              <a:rPr lang="en-US" dirty="0"/>
              <a:t>10 packets [101, 102, 103,…, 110] are in flight</a:t>
            </a:r>
          </a:p>
          <a:p>
            <a:pPr lvl="1"/>
            <a:r>
              <a:rPr lang="en-US" dirty="0"/>
              <a:t>Packet 101 is dropped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Timeline: [</a:t>
            </a:r>
            <a:r>
              <a:rPr lang="en-US" dirty="0">
                <a:solidFill>
                  <a:srgbClr val="D3A600"/>
                </a:solidFill>
              </a:rPr>
              <a:t>101</a:t>
            </a:r>
            <a:r>
              <a:rPr lang="en-US" dirty="0"/>
              <a:t>, 102, …, 110]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ACK 101 (due to 102)  </a:t>
            </a:r>
            <a:r>
              <a:rPr lang="en-US" sz="2000" dirty="0" err="1"/>
              <a:t>cwnd</a:t>
            </a:r>
            <a:r>
              <a:rPr lang="en-US" sz="2000" dirty="0"/>
              <a:t>=10  dupACK#1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103)  </a:t>
            </a:r>
            <a:r>
              <a:rPr lang="en-US" sz="2000" dirty="0" err="1"/>
              <a:t>cwnd</a:t>
            </a:r>
            <a:r>
              <a:rPr lang="en-US" sz="2000" dirty="0"/>
              <a:t>=10  dupACK#2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104)  </a:t>
            </a:r>
            <a:r>
              <a:rPr lang="en-US" sz="2000" dirty="0" err="1"/>
              <a:t>cwnd</a:t>
            </a:r>
            <a:r>
              <a:rPr lang="en-US" sz="2000" dirty="0"/>
              <a:t>=10  dupACK#3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RETRANSMIT 101 </a:t>
            </a:r>
            <a:r>
              <a:rPr lang="en-US" sz="2000" dirty="0" err="1">
                <a:solidFill>
                  <a:srgbClr val="0000FF"/>
                </a:solidFill>
              </a:rPr>
              <a:t>ssthresh</a:t>
            </a:r>
            <a:r>
              <a:rPr lang="en-US" sz="2000" dirty="0">
                <a:solidFill>
                  <a:srgbClr val="0000FF"/>
                </a:solidFill>
              </a:rPr>
              <a:t>=5  </a:t>
            </a:r>
            <a:r>
              <a:rPr lang="en-US" sz="2000" dirty="0" err="1">
                <a:solidFill>
                  <a:srgbClr val="0000FF"/>
                </a:solidFill>
              </a:rPr>
              <a:t>cwnd</a:t>
            </a:r>
            <a:r>
              <a:rPr lang="en-US" sz="2000" dirty="0">
                <a:solidFill>
                  <a:srgbClr val="0000FF"/>
                </a:solidFill>
              </a:rPr>
              <a:t>= 5</a:t>
            </a:r>
          </a:p>
          <a:p>
            <a:r>
              <a:rPr lang="en-US" sz="2000" dirty="0"/>
              <a:t>ACK 101 (due to 105)  </a:t>
            </a:r>
            <a:r>
              <a:rPr lang="en-US" sz="2000" dirty="0" err="1"/>
              <a:t>cwnd</a:t>
            </a:r>
            <a:r>
              <a:rPr lang="en-US" sz="2000" dirty="0"/>
              <a:t>=5 + 1/5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106)  </a:t>
            </a:r>
            <a:r>
              <a:rPr lang="en-US" sz="2000" dirty="0" err="1"/>
              <a:t>cwnd</a:t>
            </a:r>
            <a:r>
              <a:rPr lang="en-US" sz="2000" dirty="0"/>
              <a:t>=5 + 2/5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107)  </a:t>
            </a:r>
            <a:r>
              <a:rPr lang="en-US" sz="2000" dirty="0" err="1"/>
              <a:t>cwnd</a:t>
            </a:r>
            <a:r>
              <a:rPr lang="en-US" sz="2000" dirty="0"/>
              <a:t>=5 + 3/5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108)  </a:t>
            </a:r>
            <a:r>
              <a:rPr lang="en-US" sz="2000" dirty="0" err="1"/>
              <a:t>cwnd</a:t>
            </a:r>
            <a:r>
              <a:rPr lang="en-US" sz="2000" dirty="0"/>
              <a:t>=5 + 4/5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109)  </a:t>
            </a:r>
            <a:r>
              <a:rPr lang="en-US" sz="2000" dirty="0" err="1"/>
              <a:t>cwnd</a:t>
            </a:r>
            <a:r>
              <a:rPr lang="en-US" sz="2000" dirty="0"/>
              <a:t>=5 + 5/5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110)  </a:t>
            </a:r>
            <a:r>
              <a:rPr lang="en-US" sz="2000" dirty="0" err="1"/>
              <a:t>cwnd</a:t>
            </a:r>
            <a:r>
              <a:rPr lang="en-US" sz="2000" dirty="0"/>
              <a:t>=6 + 1/6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ACK 111 (due to 101)  </a:t>
            </a:r>
            <a:r>
              <a:rPr lang="en-US" sz="2000" dirty="0">
                <a:solidFill>
                  <a:srgbClr val="0000FF"/>
                </a:solidFill>
                <a:sym typeface="Wingdings"/>
              </a:rPr>
              <a:t> only now can we transmit new packets</a:t>
            </a:r>
          </a:p>
          <a:p>
            <a:r>
              <a:rPr lang="en-US" sz="2000" dirty="0">
                <a:solidFill>
                  <a:srgbClr val="0000FF"/>
                </a:solidFill>
                <a:sym typeface="Wingdings"/>
              </a:rPr>
              <a:t>Plus no packets in flight so ACK “clocking” (to increase CWND) stalls for another RTT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472934" y="432137"/>
            <a:ext cx="718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07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 Fast recovery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 Grant the sender temporary “credit” for each dupACK so as to keep packets in flight</a:t>
            </a:r>
          </a:p>
          <a:p>
            <a:r>
              <a:rPr lang="en-US" dirty="0"/>
              <a:t>If </a:t>
            </a:r>
            <a:r>
              <a:rPr lang="en-US" dirty="0" err="1"/>
              <a:t>dupACKcount</a:t>
            </a:r>
            <a:r>
              <a:rPr lang="en-US" dirty="0"/>
              <a:t> = 3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1"/>
            <a:r>
              <a:rPr lang="en-US" dirty="0"/>
              <a:t> CWND = </a:t>
            </a:r>
            <a:r>
              <a:rPr lang="en-US" dirty="0" err="1"/>
              <a:t>ssthresh</a:t>
            </a:r>
            <a:r>
              <a:rPr lang="en-US" dirty="0">
                <a:solidFill>
                  <a:srgbClr val="0000FF"/>
                </a:solidFill>
              </a:rPr>
              <a:t> + 3</a:t>
            </a:r>
          </a:p>
          <a:p>
            <a:r>
              <a:rPr lang="en-US" dirty="0">
                <a:solidFill>
                  <a:srgbClr val="0000FF"/>
                </a:solidFill>
              </a:rPr>
              <a:t>While in fast recovery</a:t>
            </a:r>
          </a:p>
          <a:p>
            <a:pPr lvl="1"/>
            <a:r>
              <a:rPr lang="en-US" dirty="0"/>
              <a:t>CWND = CWND + 1 for each additional dupACK</a:t>
            </a:r>
          </a:p>
          <a:p>
            <a:r>
              <a:rPr lang="en-US" dirty="0">
                <a:solidFill>
                  <a:srgbClr val="0000FF"/>
                </a:solidFill>
              </a:rPr>
              <a:t>Exit fast recovery</a:t>
            </a:r>
            <a:r>
              <a:rPr lang="en-US" dirty="0"/>
              <a:t> after receiving new ACK</a:t>
            </a:r>
          </a:p>
          <a:p>
            <a:pPr lvl="1"/>
            <a:r>
              <a:rPr lang="en-US" dirty="0"/>
              <a:t>set CWND = </a:t>
            </a:r>
            <a:r>
              <a:rPr lang="en-US" dirty="0" err="1"/>
              <a:t>ssthresh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TCP connection with:</a:t>
            </a:r>
          </a:p>
          <a:p>
            <a:pPr lvl="1"/>
            <a:r>
              <a:rPr lang="en-US" dirty="0"/>
              <a:t>CWND=10 packets</a:t>
            </a:r>
          </a:p>
          <a:p>
            <a:pPr lvl="1"/>
            <a:r>
              <a:rPr lang="en-US" dirty="0"/>
              <a:t>Last ACK was for packet # 101</a:t>
            </a:r>
          </a:p>
          <a:p>
            <a:pPr lvl="2"/>
            <a:r>
              <a:rPr lang="en-US" dirty="0"/>
              <a:t>i.e., receiver expecting next packet to have seq. no. 101</a:t>
            </a:r>
          </a:p>
          <a:p>
            <a:r>
              <a:rPr lang="en-US" dirty="0"/>
              <a:t>10 packets [101, 102, 103,…, 110] are in flight</a:t>
            </a:r>
          </a:p>
          <a:p>
            <a:pPr lvl="1"/>
            <a:r>
              <a:rPr lang="en-US" dirty="0"/>
              <a:t>Packet 101 is dropped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55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Timeline: [</a:t>
            </a:r>
            <a:r>
              <a:rPr lang="en-US" dirty="0">
                <a:solidFill>
                  <a:srgbClr val="D3A600"/>
                </a:solidFill>
              </a:rPr>
              <a:t>101</a:t>
            </a:r>
            <a:r>
              <a:rPr lang="en-US" dirty="0"/>
              <a:t>, 102, …, 110]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ACK 101 (due to 102)  </a:t>
            </a:r>
            <a:r>
              <a:rPr lang="en-US" sz="2000" dirty="0" err="1"/>
              <a:t>cwnd</a:t>
            </a:r>
            <a:r>
              <a:rPr lang="en-US" sz="2000" dirty="0"/>
              <a:t>=10  dup#1</a:t>
            </a:r>
          </a:p>
          <a:p>
            <a:r>
              <a:rPr lang="en-US" sz="2000" dirty="0"/>
              <a:t>ACK 101 (due to 103)  </a:t>
            </a:r>
            <a:r>
              <a:rPr lang="en-US" sz="2000" dirty="0" err="1"/>
              <a:t>cwnd</a:t>
            </a:r>
            <a:r>
              <a:rPr lang="en-US" sz="2000" dirty="0"/>
              <a:t>=10  dup#2</a:t>
            </a:r>
          </a:p>
          <a:p>
            <a:r>
              <a:rPr lang="en-US" sz="2000" dirty="0"/>
              <a:t>ACK 101 (due to 104)  </a:t>
            </a:r>
            <a:r>
              <a:rPr lang="en-US" sz="2000" dirty="0" err="1"/>
              <a:t>cwnd</a:t>
            </a:r>
            <a:r>
              <a:rPr lang="en-US" sz="2000" dirty="0"/>
              <a:t>=10  dup#3</a:t>
            </a:r>
          </a:p>
          <a:p>
            <a:r>
              <a:rPr lang="en-US" sz="2000" dirty="0">
                <a:solidFill>
                  <a:srgbClr val="0000FF"/>
                </a:solidFill>
              </a:rPr>
              <a:t>RETRANSMIT 101 </a:t>
            </a:r>
            <a:r>
              <a:rPr lang="en-US" sz="2000" dirty="0" err="1">
                <a:solidFill>
                  <a:srgbClr val="0000FF"/>
                </a:solidFill>
              </a:rPr>
              <a:t>ssthresh</a:t>
            </a:r>
            <a:r>
              <a:rPr lang="en-US" sz="2000" dirty="0">
                <a:solidFill>
                  <a:srgbClr val="0000FF"/>
                </a:solidFill>
              </a:rPr>
              <a:t>=5  </a:t>
            </a:r>
            <a:r>
              <a:rPr lang="en-US" sz="2000" dirty="0" err="1">
                <a:solidFill>
                  <a:srgbClr val="0000FF"/>
                </a:solidFill>
              </a:rPr>
              <a:t>cwnd</a:t>
            </a:r>
            <a:r>
              <a:rPr lang="en-US" sz="2000" dirty="0">
                <a:solidFill>
                  <a:srgbClr val="0000FF"/>
                </a:solidFill>
              </a:rPr>
              <a:t>= 8 (5+3)</a:t>
            </a:r>
          </a:p>
          <a:p>
            <a:r>
              <a:rPr lang="en-US" sz="2000" dirty="0"/>
              <a:t>ACK 101 (due to 105)  </a:t>
            </a:r>
            <a:r>
              <a:rPr lang="en-US" sz="2000" dirty="0" err="1"/>
              <a:t>cwnd</a:t>
            </a:r>
            <a:r>
              <a:rPr lang="en-US" sz="2000" dirty="0"/>
              <a:t>= 9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106)  </a:t>
            </a:r>
            <a:r>
              <a:rPr lang="en-US" sz="2000" dirty="0" err="1"/>
              <a:t>cwnd</a:t>
            </a:r>
            <a:r>
              <a:rPr lang="en-US" sz="2000" dirty="0"/>
              <a:t>=10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107)  </a:t>
            </a:r>
            <a:r>
              <a:rPr lang="en-US" sz="2000" dirty="0" err="1"/>
              <a:t>cwnd</a:t>
            </a:r>
            <a:r>
              <a:rPr lang="en-US" sz="2000" dirty="0"/>
              <a:t>=11 (</a:t>
            </a:r>
            <a:r>
              <a:rPr lang="en-US" sz="2000" dirty="0" err="1"/>
              <a:t>xmit</a:t>
            </a:r>
            <a:r>
              <a:rPr lang="en-US" sz="2000" dirty="0"/>
              <a:t> 111)</a:t>
            </a:r>
          </a:p>
          <a:p>
            <a:r>
              <a:rPr lang="en-US" sz="2000" dirty="0"/>
              <a:t>ACK 101 (due to 108)  </a:t>
            </a:r>
            <a:r>
              <a:rPr lang="en-US" sz="2000" dirty="0" err="1"/>
              <a:t>cwnd</a:t>
            </a:r>
            <a:r>
              <a:rPr lang="en-US" sz="2000" dirty="0"/>
              <a:t>=12 (</a:t>
            </a:r>
            <a:r>
              <a:rPr lang="en-US" sz="2000" dirty="0" err="1"/>
              <a:t>xmit</a:t>
            </a:r>
            <a:r>
              <a:rPr lang="en-US" sz="2000" dirty="0"/>
              <a:t> 112)</a:t>
            </a:r>
          </a:p>
          <a:p>
            <a:r>
              <a:rPr lang="en-US" sz="2000" dirty="0"/>
              <a:t>ACK 101 (due to 109)  </a:t>
            </a:r>
            <a:r>
              <a:rPr lang="en-US" sz="2000" dirty="0" err="1"/>
              <a:t>cwnd</a:t>
            </a:r>
            <a:r>
              <a:rPr lang="en-US" sz="2000" dirty="0"/>
              <a:t>=13 (</a:t>
            </a:r>
            <a:r>
              <a:rPr lang="en-US" sz="2000" dirty="0" err="1"/>
              <a:t>xmit</a:t>
            </a:r>
            <a:r>
              <a:rPr lang="en-US" sz="2000" dirty="0"/>
              <a:t> 113)</a:t>
            </a:r>
          </a:p>
          <a:p>
            <a:r>
              <a:rPr lang="en-US" sz="2000" dirty="0"/>
              <a:t>ACK 101 (due to 110)  </a:t>
            </a:r>
            <a:r>
              <a:rPr lang="en-US" sz="2000" dirty="0" err="1"/>
              <a:t>cwnd</a:t>
            </a:r>
            <a:r>
              <a:rPr lang="en-US" sz="2000" dirty="0"/>
              <a:t>=14 (</a:t>
            </a:r>
            <a:r>
              <a:rPr lang="en-US" sz="2000" dirty="0" err="1"/>
              <a:t>xmit</a:t>
            </a:r>
            <a:r>
              <a:rPr lang="en-US" sz="2000" dirty="0"/>
              <a:t> 114)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ACK 111 (due to 101) </a:t>
            </a:r>
            <a:r>
              <a:rPr lang="en-US" sz="2000" dirty="0" err="1">
                <a:solidFill>
                  <a:srgbClr val="0000FF"/>
                </a:solidFill>
              </a:rPr>
              <a:t>cwnd</a:t>
            </a:r>
            <a:r>
              <a:rPr lang="en-US" sz="2000" dirty="0">
                <a:solidFill>
                  <a:srgbClr val="0000FF"/>
                </a:solidFill>
              </a:rPr>
              <a:t> = 5 (</a:t>
            </a:r>
            <a:r>
              <a:rPr lang="en-US" sz="2000" dirty="0" err="1">
                <a:solidFill>
                  <a:srgbClr val="0000FF"/>
                </a:solidFill>
              </a:rPr>
              <a:t>xmit</a:t>
            </a:r>
            <a:r>
              <a:rPr lang="en-US" sz="2000" dirty="0">
                <a:solidFill>
                  <a:srgbClr val="0000FF"/>
                </a:solidFill>
              </a:rPr>
              <a:t> 115)  </a:t>
            </a:r>
            <a:r>
              <a:rPr lang="en-US" sz="2000" dirty="0">
                <a:solidFill>
                  <a:srgbClr val="0000FF"/>
                </a:solidFill>
                <a:sym typeface="Wingdings"/>
              </a:rPr>
              <a:t> exiting fast recovery</a:t>
            </a:r>
          </a:p>
          <a:p>
            <a:r>
              <a:rPr lang="en-US" sz="2000" dirty="0">
                <a:solidFill>
                  <a:srgbClr val="0000FF"/>
                </a:solidFill>
                <a:sym typeface="Wingdings"/>
              </a:rPr>
              <a:t>Packets 111-114 already in flight</a:t>
            </a:r>
          </a:p>
          <a:p>
            <a:r>
              <a:rPr lang="en-US" sz="2000" dirty="0">
                <a:sym typeface="Wingdings"/>
              </a:rPr>
              <a:t>ACK 112 (due to 111) </a:t>
            </a:r>
            <a:r>
              <a:rPr lang="en-US" sz="2000" dirty="0" err="1">
                <a:sym typeface="Wingdings"/>
              </a:rPr>
              <a:t>cwnd</a:t>
            </a:r>
            <a:r>
              <a:rPr lang="en-US" sz="2000" dirty="0">
                <a:sym typeface="Wingdings"/>
              </a:rPr>
              <a:t> = 5 + 1/5   back in cong. avoidance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472934" y="432137"/>
            <a:ext cx="718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6000" dirty="0">
              <a:solidFill>
                <a:srgbClr val="FF0000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53EF-BF28-5307-F420-EBF1EEDF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E573-6AE3-4D46-3384-DBFCC8F0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TCP state machine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D038B4A-5B34-0841-4F04-EFB0D87E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CF7C3D-A5D6-B631-3059-971839AF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660107-D069-5AB8-1E5C-99CA4AF9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370013A-36E5-010C-CE87-2999A672294A}"/>
              </a:ext>
            </a:extLst>
          </p:cNvPr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77D6DD-BB3C-6267-006E-E13985073145}"/>
              </a:ext>
            </a:extLst>
          </p:cNvPr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577A9C-5AF1-10F7-EE20-49DA1BB4C54A}"/>
              </a:ext>
            </a:extLst>
          </p:cNvPr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97575E-0A91-CBA7-3DC5-9A7861F97840}"/>
              </a:ext>
            </a:extLst>
          </p:cNvPr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47D398-20EE-C062-6B4C-59984BD508B5}"/>
              </a:ext>
            </a:extLst>
          </p:cNvPr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9E85E9-2BB2-7DAF-CBA8-0503CB8BF7A5}"/>
              </a:ext>
            </a:extLst>
          </p:cNvPr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195AB7-2DB0-FA2B-4140-647B89C31D77}"/>
              </a:ext>
            </a:extLst>
          </p:cNvPr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48D271-B33E-0076-660C-775BE3FE94BB}"/>
              </a:ext>
            </a:extLst>
          </p:cNvPr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A712DC-32FD-DC20-A438-F4A992BDA6F7}"/>
              </a:ext>
            </a:extLst>
          </p:cNvPr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BE6113-9076-DA88-C754-0F95B80BD0D4}"/>
              </a:ext>
            </a:extLst>
          </p:cNvPr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CCFDA8-B1EB-B237-42BA-D747AAA0B632}"/>
              </a:ext>
            </a:extLst>
          </p:cNvPr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E5E5B48-6E7C-EB43-46BB-B8D60D9CD52B}"/>
              </a:ext>
            </a:extLst>
          </p:cNvPr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D25904-C913-6D96-3FF4-9F689D2E4B5C}"/>
              </a:ext>
            </a:extLst>
          </p:cNvPr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E8E885-914E-899F-2246-0B2E6F483F35}"/>
              </a:ext>
            </a:extLst>
          </p:cNvPr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2B6C67-0C3B-8582-C755-E08FD1A404F7}"/>
              </a:ext>
            </a:extLst>
          </p:cNvPr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28B8DAA6-BC68-A992-829A-F99F847CC810}"/>
              </a:ext>
            </a:extLst>
          </p:cNvPr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2F39EE-FEC3-7B04-0EB9-05CDB814B922}"/>
              </a:ext>
            </a:extLst>
          </p:cNvPr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1F632AC8-3083-7066-094F-2C8F6F02DBDE}"/>
              </a:ext>
            </a:extLst>
          </p:cNvPr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DACA2F-1EFD-D487-49F6-C6CBD1B7133A}"/>
              </a:ext>
            </a:extLst>
          </p:cNvPr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C4AA6020-6EB4-E974-87A7-4B484B920340}"/>
              </a:ext>
            </a:extLst>
          </p:cNvPr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5AD772-76E9-2888-2314-7FC27F2B3360}"/>
              </a:ext>
            </a:extLst>
          </p:cNvPr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6D8442E6-7C40-AA4B-EE78-C97C2B2AC655}"/>
              </a:ext>
            </a:extLst>
          </p:cNvPr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861760-B3AC-2DF3-6908-4D4D97C807FB}"/>
              </a:ext>
            </a:extLst>
          </p:cNvPr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51EE1702-97FB-43D5-542A-8BAE670BFFD8}"/>
              </a:ext>
            </a:extLst>
          </p:cNvPr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F60802-CE4E-7875-B051-199A2E53A6AF}"/>
              </a:ext>
            </a:extLst>
          </p:cNvPr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52AFE518-F1BA-671E-03A8-5091AE22BE9D}"/>
              </a:ext>
            </a:extLst>
          </p:cNvPr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4E4BC1-77D9-8BB9-9383-71CCC4E2A611}"/>
              </a:ext>
            </a:extLst>
          </p:cNvPr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1157141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A157-8AE9-65A4-97E7-794CAF55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3F42-F5D6-A337-462D-9A012C70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Timeouts ➔ Slow Start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C9CEB0-E5EC-7D4E-DCBB-826D9EB1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E983AC-7759-C786-948E-46AA96E3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1FB3C07-E875-FB5B-49DE-ACD5DDEF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BC631B-794C-020D-14EB-13BB0D19C20E}"/>
              </a:ext>
            </a:extLst>
          </p:cNvPr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72E93D-D77B-0BF0-1C85-921D2425004F}"/>
              </a:ext>
            </a:extLst>
          </p:cNvPr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B79BE5-A8AD-A5B9-E47A-035133B704E2}"/>
              </a:ext>
            </a:extLst>
          </p:cNvPr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BEE40B-6E21-603B-9D54-998B8D2EB042}"/>
              </a:ext>
            </a:extLst>
          </p:cNvPr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BDD9E2-BF62-19C0-5378-E42592A14797}"/>
              </a:ext>
            </a:extLst>
          </p:cNvPr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29ACE-46AB-A0D2-7965-BEC583B9AFDD}"/>
              </a:ext>
            </a:extLst>
          </p:cNvPr>
          <p:cNvSpPr txBox="1"/>
          <p:nvPr/>
        </p:nvSpPr>
        <p:spPr>
          <a:xfrm>
            <a:off x="3886200" y="2785646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timeout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3C52B7-9107-A99D-D711-1C98CDCF2A18}"/>
              </a:ext>
            </a:extLst>
          </p:cNvPr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618D32-7E20-A479-DEA6-DC8686D13BC5}"/>
              </a:ext>
            </a:extLst>
          </p:cNvPr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8572E03-71C9-9A69-09F2-C4F8EA7E7309}"/>
              </a:ext>
            </a:extLst>
          </p:cNvPr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E44082-26D9-4239-3962-EE97F4AC1ABA}"/>
              </a:ext>
            </a:extLst>
          </p:cNvPr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0164D6-D192-5EE3-4F21-4DEB83F1A17C}"/>
              </a:ext>
            </a:extLst>
          </p:cNvPr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DC2851A-A569-D9D7-D774-D975ABDE8C51}"/>
              </a:ext>
            </a:extLst>
          </p:cNvPr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6FC1B6-5EDC-09CE-29A2-BD3F7F28CC97}"/>
              </a:ext>
            </a:extLst>
          </p:cNvPr>
          <p:cNvSpPr txBox="1"/>
          <p:nvPr/>
        </p:nvSpPr>
        <p:spPr>
          <a:xfrm>
            <a:off x="3352800" y="3733800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timeout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063FB0-C4FC-A6E2-375C-8FA279F6A092}"/>
              </a:ext>
            </a:extLst>
          </p:cNvPr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22672A-A6D5-FC2E-DB4B-AB34876AC904}"/>
              </a:ext>
            </a:extLst>
          </p:cNvPr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3B8F454C-1E71-7E00-E667-0FE370ADD4ED}"/>
              </a:ext>
            </a:extLst>
          </p:cNvPr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D6B27A-E164-E3F7-8B6A-7DF9A36ACB9A}"/>
              </a:ext>
            </a:extLst>
          </p:cNvPr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CDFE657C-BA8E-4D4B-3D15-8E495CACD830}"/>
              </a:ext>
            </a:extLst>
          </p:cNvPr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978396-55F5-2238-CA50-CE46E12BD096}"/>
              </a:ext>
            </a:extLst>
          </p:cNvPr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F1FF3F69-5DFD-F661-68F8-91871A5E6FD7}"/>
              </a:ext>
            </a:extLst>
          </p:cNvPr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D22EAB-18E5-7F09-AD11-EC9A5BB3A1AA}"/>
              </a:ext>
            </a:extLst>
          </p:cNvPr>
          <p:cNvSpPr txBox="1"/>
          <p:nvPr/>
        </p:nvSpPr>
        <p:spPr>
          <a:xfrm>
            <a:off x="685800" y="1600200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timeout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6B93FA8-FB88-E28F-94B9-780582E0A781}"/>
              </a:ext>
            </a:extLst>
          </p:cNvPr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E710E6-B1EC-D5A9-0DFF-4BD4A92E237C}"/>
              </a:ext>
            </a:extLst>
          </p:cNvPr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53A8340E-07AA-0504-4FD5-DF4813DD4ED2}"/>
              </a:ext>
            </a:extLst>
          </p:cNvPr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B63D22-D2B2-5454-5D62-BBC1FF0BE8E2}"/>
              </a:ext>
            </a:extLst>
          </p:cNvPr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8450C2DB-2ACD-C927-89C0-D77D3BA0E236}"/>
              </a:ext>
            </a:extLst>
          </p:cNvPr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50F386-5FC4-F51C-037B-79C3AFDB5380}"/>
              </a:ext>
            </a:extLst>
          </p:cNvPr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2752651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476D-DD83-67C6-BD3B-590043CF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0727-A4DA-F0CE-4038-4DAB8AE7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dupACKs ➔ Fast Recovery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050E8B1-BA4A-7B41-2B3E-19A0CB24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61A25A6-1933-EC1F-34D1-5FADC165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F22406-0FED-6CE8-FA6B-EADD083B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1C7D8F-108B-4FE1-6DA7-CBC07D644D7E}"/>
              </a:ext>
            </a:extLst>
          </p:cNvPr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AC3464-5CB9-6192-0D75-5EA280560E58}"/>
              </a:ext>
            </a:extLst>
          </p:cNvPr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4F6CF5-2A2A-57CF-9820-F9D0486AEC7B}"/>
              </a:ext>
            </a:extLst>
          </p:cNvPr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52384F-6D1E-F2C6-2149-B6946106737D}"/>
              </a:ext>
            </a:extLst>
          </p:cNvPr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0F4C20-01EF-3CD0-4050-4BD36FDDD240}"/>
              </a:ext>
            </a:extLst>
          </p:cNvPr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08012-6887-8277-A98E-415C75EC1F73}"/>
              </a:ext>
            </a:extLst>
          </p:cNvPr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B343F6-41A9-AC16-C3A7-580E511C6911}"/>
              </a:ext>
            </a:extLst>
          </p:cNvPr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0E65DF-896C-5C5A-EE52-07D1F0AFEF11}"/>
              </a:ext>
            </a:extLst>
          </p:cNvPr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A20284-BF23-6A2E-C530-F0E967507195}"/>
              </a:ext>
            </a:extLst>
          </p:cNvPr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90D4DC-6576-4BB9-9E9B-6C1654DCB756}"/>
              </a:ext>
            </a:extLst>
          </p:cNvPr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8B9763-3F01-13C7-BE1F-091A7F031C6A}"/>
              </a:ext>
            </a:extLst>
          </p:cNvPr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4946CBF-472B-499F-1233-21CCD932CBE5}"/>
              </a:ext>
            </a:extLst>
          </p:cNvPr>
          <p:cNvSpPr txBox="1"/>
          <p:nvPr/>
        </p:nvSpPr>
        <p:spPr>
          <a:xfrm>
            <a:off x="2286000" y="4495800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00FF"/>
                </a:solidFill>
                <a:latin typeface="+mn-lt"/>
              </a:rPr>
              <a:t>dupACK</a:t>
            </a:r>
            <a:r>
              <a:rPr lang="en-US" i="1" dirty="0">
                <a:solidFill>
                  <a:srgbClr val="0000FF"/>
                </a:solidFill>
                <a:latin typeface="+mn-lt"/>
              </a:rPr>
              <a:t>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638D79-7180-DDE5-AC8E-3FF59AA1E6D0}"/>
              </a:ext>
            </a:extLst>
          </p:cNvPr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F1974D-44B3-7080-FACD-3D402555757F}"/>
              </a:ext>
            </a:extLst>
          </p:cNvPr>
          <p:cNvSpPr txBox="1"/>
          <p:nvPr/>
        </p:nvSpPr>
        <p:spPr>
          <a:xfrm>
            <a:off x="6096000" y="4038600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00FF"/>
                </a:solidFill>
                <a:latin typeface="+mn-lt"/>
              </a:rPr>
              <a:t>dupACK</a:t>
            </a:r>
            <a:r>
              <a:rPr lang="en-US" i="1" dirty="0">
                <a:solidFill>
                  <a:srgbClr val="0000FF"/>
                </a:solidFill>
                <a:latin typeface="+mn-lt"/>
              </a:rPr>
              <a:t>=3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FC1067-1DA1-A3AD-9CE0-C765A8321965}"/>
              </a:ext>
            </a:extLst>
          </p:cNvPr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4B2B5E2-963F-671C-ADFA-D5D2BF857F84}"/>
              </a:ext>
            </a:extLst>
          </p:cNvPr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A3888F-AF2C-AD77-3740-DED6AF65B1A7}"/>
              </a:ext>
            </a:extLst>
          </p:cNvPr>
          <p:cNvSpPr txBox="1"/>
          <p:nvPr/>
        </p:nvSpPr>
        <p:spPr>
          <a:xfrm>
            <a:off x="2133600" y="5749881"/>
            <a:ext cx="1002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dupACK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D25BDB20-63FD-8B07-05BA-9C0434CD7A12}"/>
              </a:ext>
            </a:extLst>
          </p:cNvPr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604C2A-21AE-D1CF-B71B-9DA9D6F52965}"/>
              </a:ext>
            </a:extLst>
          </p:cNvPr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2F7766E6-9F1D-9F51-8DD1-2B7BEAC8ED37}"/>
              </a:ext>
            </a:extLst>
          </p:cNvPr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171A72-2BF7-0AF0-C0E8-2B44649326EB}"/>
              </a:ext>
            </a:extLst>
          </p:cNvPr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CA4C2DA-8EB2-68A3-2A8E-B34EDA579202}"/>
              </a:ext>
            </a:extLst>
          </p:cNvPr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7DF2F3-BD49-DD9E-FE93-7D97396249C7}"/>
              </a:ext>
            </a:extLst>
          </p:cNvPr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5F83ED6D-88A1-3860-98C2-053F4EB8D26A}"/>
              </a:ext>
            </a:extLst>
          </p:cNvPr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CEAC4E-247F-4494-8668-237406476E30}"/>
              </a:ext>
            </a:extLst>
          </p:cNvPr>
          <p:cNvSpPr txBox="1"/>
          <p:nvPr/>
        </p:nvSpPr>
        <p:spPr>
          <a:xfrm>
            <a:off x="152860" y="2209800"/>
            <a:ext cx="1039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0000FF"/>
                </a:solidFill>
                <a:latin typeface="+mn-lt"/>
              </a:rPr>
              <a:t>dupACK</a:t>
            </a:r>
            <a:endParaRPr lang="en-US" i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6133216-405D-6483-451E-5697C5D62D24}"/>
              </a:ext>
            </a:extLst>
          </p:cNvPr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DBA491-F4CF-9CB7-78DD-4152F1796A2E}"/>
              </a:ext>
            </a:extLst>
          </p:cNvPr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1654883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6455-A718-10E9-935B-A3190223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BBFF-5682-579F-AD5D-57BD5E28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ACK changes state ONLY from Fast Recovery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FCA038-7604-B36D-8FF1-1E8F0277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4C81E2E-41D6-DA13-7728-0A14C847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C96079D-C76A-4ECF-7A39-6124FAA0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7A1129-AD20-710F-C81A-6B5937F151FB}"/>
              </a:ext>
            </a:extLst>
          </p:cNvPr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3D7C00-1BDC-79BC-747C-C0399647B6FA}"/>
              </a:ext>
            </a:extLst>
          </p:cNvPr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042F51-9D5B-B14F-05C9-32E202E7E79B}"/>
              </a:ext>
            </a:extLst>
          </p:cNvPr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C2F7A4-F8BA-3463-CA90-4EEB742CA5A8}"/>
              </a:ext>
            </a:extLst>
          </p:cNvPr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567FE1-1681-703B-7798-8AFBA3374F1C}"/>
              </a:ext>
            </a:extLst>
          </p:cNvPr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F1B57-7BA6-1364-5E11-65C09DFFE050}"/>
              </a:ext>
            </a:extLst>
          </p:cNvPr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01245C-F754-2D35-E8C8-5FA76FE82F96}"/>
              </a:ext>
            </a:extLst>
          </p:cNvPr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0CE1E8-4ACF-973E-3CD7-A3CF91D42C1A}"/>
              </a:ext>
            </a:extLst>
          </p:cNvPr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0DEC62-80E4-86DB-408F-EB211D97497C}"/>
              </a:ext>
            </a:extLst>
          </p:cNvPr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0C4BBE-9D71-D0C2-BD42-285549CF9AE3}"/>
              </a:ext>
            </a:extLst>
          </p:cNvPr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FE99B6D-1069-E6ED-7B7B-925833CC4741}"/>
              </a:ext>
            </a:extLst>
          </p:cNvPr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447B510-FE59-70AD-9806-5444E90AE8E5}"/>
              </a:ext>
            </a:extLst>
          </p:cNvPr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60821-4B87-E00D-87E1-6D67831A3FFC}"/>
              </a:ext>
            </a:extLst>
          </p:cNvPr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7D36A7-D331-7887-BA0B-24A2B4D2BDF3}"/>
              </a:ext>
            </a:extLst>
          </p:cNvPr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854453-25EB-AFD4-F5FB-1C46FF2D58E7}"/>
              </a:ext>
            </a:extLst>
          </p:cNvPr>
          <p:cNvSpPr txBox="1"/>
          <p:nvPr/>
        </p:nvSpPr>
        <p:spPr>
          <a:xfrm>
            <a:off x="4951082" y="3810000"/>
            <a:ext cx="1076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new ACK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2E458AB-38A2-DAA0-55AD-F6A802EBE74E}"/>
              </a:ext>
            </a:extLst>
          </p:cNvPr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037228-93C3-EC87-747C-571525F626E9}"/>
              </a:ext>
            </a:extLst>
          </p:cNvPr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51A0713C-BE71-16EE-DE0A-1EACC13A7342}"/>
              </a:ext>
            </a:extLst>
          </p:cNvPr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D9AE50-05C5-849A-414B-BFCD49A6449C}"/>
              </a:ext>
            </a:extLst>
          </p:cNvPr>
          <p:cNvSpPr txBox="1"/>
          <p:nvPr/>
        </p:nvSpPr>
        <p:spPr>
          <a:xfrm>
            <a:off x="442682" y="3349823"/>
            <a:ext cx="1076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new ACK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EC24997-2BEE-F5D9-CFA1-66FAA8D260B8}"/>
              </a:ext>
            </a:extLst>
          </p:cNvPr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AAFDC3-0556-7ECC-3C23-96022A027AAA}"/>
              </a:ext>
            </a:extLst>
          </p:cNvPr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07AA75B-CB20-2519-7949-38558A0AF6FA}"/>
              </a:ext>
            </a:extLst>
          </p:cNvPr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E5DA3F-C09F-12C1-F1A9-CE1C9790EF77}"/>
              </a:ext>
            </a:extLst>
          </p:cNvPr>
          <p:cNvSpPr txBox="1"/>
          <p:nvPr/>
        </p:nvSpPr>
        <p:spPr>
          <a:xfrm>
            <a:off x="8183679" y="1929824"/>
            <a:ext cx="641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new </a:t>
            </a:r>
            <a:br>
              <a:rPr lang="en-US" i="1" dirty="0">
                <a:solidFill>
                  <a:srgbClr val="0000FF"/>
                </a:solidFill>
                <a:latin typeface="+mn-lt"/>
              </a:rPr>
            </a:br>
            <a:r>
              <a:rPr lang="en-US" i="1" dirty="0">
                <a:solidFill>
                  <a:srgbClr val="0000FF"/>
                </a:solidFill>
                <a:latin typeface="+mn-lt"/>
              </a:rPr>
              <a:t>ACK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8C1AF34-C0D6-0DB5-866D-63DE219DE031}"/>
              </a:ext>
            </a:extLst>
          </p:cNvPr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F00C86-46A8-1718-4A00-81ACD3731969}"/>
              </a:ext>
            </a:extLst>
          </p:cNvPr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A17B393-81D4-C882-DDDB-EF72DD1BEA13}"/>
              </a:ext>
            </a:extLst>
          </p:cNvPr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432A50-718E-1152-2ABA-1CBA00546310}"/>
              </a:ext>
            </a:extLst>
          </p:cNvPr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3288140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1795-37CF-849B-FB9F-21FD615E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F4CE-79D7-6201-33BA-EDAB2A95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TCP state machine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B65A34C-B983-D425-4450-C9448F5A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309C1D5-8207-7BA4-26E2-A591B84E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3B5AD39-559A-E4F2-38A4-70E0414F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8B86D7-0DB4-FF70-4CDA-331F6B2CFEDC}"/>
              </a:ext>
            </a:extLst>
          </p:cNvPr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F39A3A-CDAB-F387-8D92-D8A454DCF8CC}"/>
              </a:ext>
            </a:extLst>
          </p:cNvPr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A1A4AD-B787-AFDF-45CC-1E0699FF4E4E}"/>
              </a:ext>
            </a:extLst>
          </p:cNvPr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87004E-4A46-6505-1BC2-806D6C7087D7}"/>
              </a:ext>
            </a:extLst>
          </p:cNvPr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F7E390-3E6C-BE1E-CD01-E92AED9C55E4}"/>
              </a:ext>
            </a:extLst>
          </p:cNvPr>
          <p:cNvSpPr txBox="1"/>
          <p:nvPr/>
        </p:nvSpPr>
        <p:spPr>
          <a:xfrm>
            <a:off x="3608636" y="2252246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CWND &gt; </a:t>
            </a:r>
            <a:r>
              <a:rPr lang="en-US" i="1" dirty="0" err="1">
                <a:solidFill>
                  <a:srgbClr val="0000FF"/>
                </a:solidFill>
                <a:latin typeface="+mn-lt"/>
              </a:rPr>
              <a:t>ssthresh</a:t>
            </a:r>
            <a:endParaRPr lang="en-US" i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6134E-D2F0-22DC-2A00-7328A6B1A57E}"/>
              </a:ext>
            </a:extLst>
          </p:cNvPr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2BEDBB-9ABD-2B74-43EA-BB78596DB7B5}"/>
              </a:ext>
            </a:extLst>
          </p:cNvPr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5F6A9A-82A0-12F9-FD3A-0D4F1803CDF7}"/>
              </a:ext>
            </a:extLst>
          </p:cNvPr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F79874-DD29-71F9-67B3-618A42803F5D}"/>
              </a:ext>
            </a:extLst>
          </p:cNvPr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C26C01-1E89-2995-3523-7631F0FD8AF0}"/>
              </a:ext>
            </a:extLst>
          </p:cNvPr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262812-56CD-E6D8-6108-ECD19A279D74}"/>
              </a:ext>
            </a:extLst>
          </p:cNvPr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1176AF9-8F65-7256-4717-06968C7E9FC1}"/>
              </a:ext>
            </a:extLst>
          </p:cNvPr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3C95D2-80C9-99C3-289B-3037157A4D7B}"/>
              </a:ext>
            </a:extLst>
          </p:cNvPr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582BC2-6D09-101D-0F16-659651790BCF}"/>
              </a:ext>
            </a:extLst>
          </p:cNvPr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5BE910-7F5D-F3A4-5C14-27CBFBE39EEE}"/>
              </a:ext>
            </a:extLst>
          </p:cNvPr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12CA79C-B870-0105-E2EF-83AC69BD656B}"/>
              </a:ext>
            </a:extLst>
          </p:cNvPr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C333D1-C70F-D3C6-16B0-16C2289A6A30}"/>
              </a:ext>
            </a:extLst>
          </p:cNvPr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0948718C-E5F1-96CE-4B6D-0128071ED2FE}"/>
              </a:ext>
            </a:extLst>
          </p:cNvPr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0CEB24-844E-9A0E-D50D-6844F4A145ED}"/>
              </a:ext>
            </a:extLst>
          </p:cNvPr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40A75009-B56F-0C14-5F86-D452AF215D59}"/>
              </a:ext>
            </a:extLst>
          </p:cNvPr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8D0894-8EBC-307A-2142-D14D87869B49}"/>
              </a:ext>
            </a:extLst>
          </p:cNvPr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E994AD8-2A3A-4244-506E-8355C3BC1EA9}"/>
              </a:ext>
            </a:extLst>
          </p:cNvPr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484816-46FD-03E0-99F4-492D22438306}"/>
              </a:ext>
            </a:extLst>
          </p:cNvPr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009EEC7-92ED-62AE-57EE-B64E54AD6C93}"/>
              </a:ext>
            </a:extLst>
          </p:cNvPr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46E133-2B69-DFDE-551D-74EE6AF2FCEE}"/>
              </a:ext>
            </a:extLst>
          </p:cNvPr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4DA00169-1667-3201-DEBF-DFDE00E2B681}"/>
              </a:ext>
            </a:extLst>
          </p:cNvPr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1B207E-A3AC-16CA-0908-1B780278B221}"/>
              </a:ext>
            </a:extLst>
          </p:cNvPr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2127616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25985-CD7C-ED67-53AD-0D2137A6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>
            <a:extLst>
              <a:ext uri="{FF2B5EF4-FFF2-40B4-BE49-F238E27FC236}">
                <a16:creationId xmlns:a16="http://schemas.microsoft.com/office/drawing/2014/main" id="{43C32E8C-2D66-D600-302A-201724061A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flavors </a:t>
            </a:r>
          </a:p>
        </p:txBody>
      </p:sp>
      <p:sp>
        <p:nvSpPr>
          <p:cNvPr id="1043459" name="Rectangle 3">
            <a:extLst>
              <a:ext uri="{FF2B5EF4-FFF2-40B4-BE49-F238E27FC236}">
                <a16:creationId xmlns:a16="http://schemas.microsoft.com/office/drawing/2014/main" id="{AE79E501-C552-17F9-ED80-0B8B96D576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TCP-Tahoe</a:t>
            </a:r>
          </a:p>
          <a:p>
            <a:pPr lvl="1"/>
            <a:r>
              <a:rPr lang="en-US" dirty="0"/>
              <a:t>CWND =1 on 3 dupACKs</a:t>
            </a:r>
          </a:p>
          <a:p>
            <a:r>
              <a:rPr lang="en-US" dirty="0"/>
              <a:t>TCP-Reno</a:t>
            </a:r>
          </a:p>
          <a:p>
            <a:pPr lvl="1"/>
            <a:r>
              <a:rPr lang="en-US" dirty="0"/>
              <a:t>CWND =1 on timeout</a:t>
            </a:r>
          </a:p>
          <a:p>
            <a:pPr lvl="1"/>
            <a:r>
              <a:rPr lang="en-US" dirty="0"/>
              <a:t>CWND = CWND/2 on 3 dupACKs</a:t>
            </a:r>
          </a:p>
          <a:p>
            <a:r>
              <a:rPr lang="en-US" dirty="0"/>
              <a:t>TCP-</a:t>
            </a:r>
            <a:r>
              <a:rPr lang="en-US" dirty="0" err="1"/>
              <a:t>newReno</a:t>
            </a:r>
            <a:endParaRPr lang="en-US" dirty="0"/>
          </a:p>
          <a:p>
            <a:pPr lvl="1"/>
            <a:r>
              <a:rPr lang="en-US" dirty="0"/>
              <a:t>TCP-Reno + improved fast recovery</a:t>
            </a:r>
          </a:p>
          <a:p>
            <a:r>
              <a:rPr lang="en-US" dirty="0"/>
              <a:t>TCP-SACK</a:t>
            </a:r>
          </a:p>
          <a:p>
            <a:pPr lvl="1"/>
            <a:r>
              <a:rPr lang="en-US" dirty="0"/>
              <a:t>Incorporates selective acknowledgements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6C5310-0BB9-5E04-962D-1651DC51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37E13C-98C6-A20D-3399-17F90E847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715E49-A905-1710-95EE-5B7BF642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0F53E587-BB0D-C602-5F1F-DED44D8E2B35}"/>
              </a:ext>
            </a:extLst>
          </p:cNvPr>
          <p:cNvSpPr/>
          <p:nvPr/>
        </p:nvSpPr>
        <p:spPr bwMode="auto">
          <a:xfrm>
            <a:off x="6400800" y="3429000"/>
            <a:ext cx="2514600" cy="1066800"/>
          </a:xfrm>
          <a:prstGeom prst="wedgeRoundRectCallout">
            <a:avLst>
              <a:gd name="adj1" fmla="val -168598"/>
              <a:gd name="adj2" fmla="val 35905"/>
              <a:gd name="adj3" fmla="val 16667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772F7-FFD9-7427-FF4A-E6728385D543}"/>
              </a:ext>
            </a:extLst>
          </p:cNvPr>
          <p:cNvSpPr txBox="1"/>
          <p:nvPr/>
        </p:nvSpPr>
        <p:spPr>
          <a:xfrm>
            <a:off x="6694741" y="3505200"/>
            <a:ext cx="19111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+mn-lt"/>
              </a:rPr>
              <a:t>Our default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assumption</a:t>
            </a:r>
          </a:p>
        </p:txBody>
      </p:sp>
    </p:spTree>
    <p:extLst>
      <p:ext uri="{BB962C8B-B14F-4D97-AF65-F5344CB8AC3E}">
        <p14:creationId xmlns:p14="http://schemas.microsoft.com/office/powerpoint/2010/main" val="62839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  <p:bldP spid="2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FD8BB-BD8B-10D4-E41F-D63F15D3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530" name="Rectangle 2">
            <a:extLst>
              <a:ext uri="{FF2B5EF4-FFF2-40B4-BE49-F238E27FC236}">
                <a16:creationId xmlns:a16="http://schemas.microsoft.com/office/drawing/2014/main" id="{358ABED5-C135-2BEF-ECDC-D2C399DF8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they coexist? </a:t>
            </a:r>
          </a:p>
        </p:txBody>
      </p:sp>
      <p:sp>
        <p:nvSpPr>
          <p:cNvPr id="1046531" name="Rectangle 3">
            <a:extLst>
              <a:ext uri="{FF2B5EF4-FFF2-40B4-BE49-F238E27FC236}">
                <a16:creationId xmlns:a16="http://schemas.microsoft.com/office/drawing/2014/main" id="{78B86FA5-1F4D-2A8D-258C-F34EC85F8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follow the same principle</a:t>
            </a:r>
          </a:p>
          <a:p>
            <a:pPr lvl="1"/>
            <a:r>
              <a:rPr lang="en-US" dirty="0"/>
              <a:t>Increase CWND on good news</a:t>
            </a:r>
          </a:p>
          <a:p>
            <a:pPr lvl="1"/>
            <a:r>
              <a:rPr lang="en-US" dirty="0"/>
              <a:t>Decrease CWND on bad news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2F5E-780B-EEE6-8B3F-213819F2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686F4-70F0-D35B-2E1D-8EA45A7E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730-7121-81BE-0C08-7553BC03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4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Throughput Equation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58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latin typeface="Times New Roman" charset="0"/>
              </a:rPr>
              <a:t>cwnd</a:t>
            </a: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257800" y="2800350"/>
            <a:ext cx="3276600" cy="3295650"/>
            <a:chOff x="4800600" y="3028950"/>
            <a:chExt cx="3276600" cy="3295650"/>
          </a:xfrm>
        </p:grpSpPr>
        <p:sp>
          <p:nvSpPr>
            <p:cNvPr id="24602" name="Oval 52"/>
            <p:cNvSpPr>
              <a:spLocks noChangeArrowheads="1"/>
            </p:cNvSpPr>
            <p:nvPr/>
          </p:nvSpPr>
          <p:spPr bwMode="auto">
            <a:xfrm>
              <a:off x="4800600" y="3028950"/>
              <a:ext cx="685800" cy="609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4603" name="Straight Connector 60"/>
            <p:cNvCxnSpPr>
              <a:cxnSpLocks noChangeShapeType="1"/>
              <a:stCxn id="24602" idx="5"/>
              <a:endCxn id="24605" idx="0"/>
            </p:cNvCxnSpPr>
            <p:nvPr/>
          </p:nvCxnSpPr>
          <p:spPr bwMode="auto">
            <a:xfrm rot="16200000" flipH="1">
              <a:off x="5839619" y="3096419"/>
              <a:ext cx="412750" cy="13192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24604" name="Group 5"/>
            <p:cNvGrpSpPr>
              <a:grpSpLocks/>
            </p:cNvGrpSpPr>
            <p:nvPr/>
          </p:nvGrpSpPr>
          <p:grpSpPr bwMode="auto">
            <a:xfrm>
              <a:off x="5334000" y="3962400"/>
              <a:ext cx="2743200" cy="2362200"/>
              <a:chOff x="5334000" y="3962400"/>
              <a:chExt cx="2743200" cy="2362200"/>
            </a:xfrm>
          </p:grpSpPr>
          <p:sp>
            <p:nvSpPr>
              <p:cNvPr id="24605" name="Oval 53"/>
              <p:cNvSpPr>
                <a:spLocks noChangeArrowheads="1"/>
              </p:cNvSpPr>
              <p:nvPr/>
            </p:nvSpPr>
            <p:spPr bwMode="auto">
              <a:xfrm>
                <a:off x="5334000" y="3962400"/>
                <a:ext cx="2743200" cy="2362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6" name="Freeform 55"/>
              <p:cNvSpPr>
                <a:spLocks noChangeArrowheads="1"/>
              </p:cNvSpPr>
              <p:nvPr/>
            </p:nvSpPr>
            <p:spPr bwMode="auto">
              <a:xfrm>
                <a:off x="5614988" y="5478463"/>
                <a:ext cx="542925" cy="338137"/>
              </a:xfrm>
              <a:custGeom>
                <a:avLst/>
                <a:gdLst>
                  <a:gd name="T0" fmla="*/ 0 w 542872"/>
                  <a:gd name="T1" fmla="*/ 333430 h 339324"/>
                  <a:gd name="T2" fmla="*/ 281266 w 542872"/>
                  <a:gd name="T3" fmla="*/ 333430 h 339324"/>
                  <a:gd name="T4" fmla="*/ 281266 w 542872"/>
                  <a:gd name="T5" fmla="*/ 152424 h 339324"/>
                  <a:gd name="T6" fmla="*/ 543137 w 542872"/>
                  <a:gd name="T7" fmla="*/ 152424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7" name="Freeform 56"/>
              <p:cNvSpPr>
                <a:spLocks noChangeArrowheads="1"/>
              </p:cNvSpPr>
              <p:nvPr/>
            </p:nvSpPr>
            <p:spPr bwMode="auto">
              <a:xfrm>
                <a:off x="6153150" y="513873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8" name="Freeform 57"/>
              <p:cNvSpPr>
                <a:spLocks noChangeArrowheads="1"/>
              </p:cNvSpPr>
              <p:nvPr/>
            </p:nvSpPr>
            <p:spPr bwMode="auto">
              <a:xfrm>
                <a:off x="6691313" y="4799013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9" name="Freeform 58"/>
              <p:cNvSpPr>
                <a:spLocks noChangeArrowheads="1"/>
              </p:cNvSpPr>
              <p:nvPr/>
            </p:nvSpPr>
            <p:spPr bwMode="auto">
              <a:xfrm>
                <a:off x="7229475" y="445928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TextBox 65"/>
              <p:cNvSpPr txBox="1">
                <a:spLocks noChangeArrowheads="1"/>
              </p:cNvSpPr>
              <p:nvPr/>
            </p:nvSpPr>
            <p:spPr bwMode="auto">
              <a:xfrm>
                <a:off x="5826125" y="4821238"/>
                <a:ext cx="327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/>
                  <a:t>1</a:t>
                </a:r>
              </a:p>
            </p:txBody>
          </p:sp>
          <p:sp>
            <p:nvSpPr>
              <p:cNvPr id="24611" name="TextBox 66"/>
              <p:cNvSpPr txBox="1">
                <a:spLocks noChangeArrowheads="1"/>
              </p:cNvSpPr>
              <p:nvPr/>
            </p:nvSpPr>
            <p:spPr bwMode="auto">
              <a:xfrm>
                <a:off x="6781800" y="5619750"/>
                <a:ext cx="708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charset="0"/>
                    <a:cs typeface="Times New Roman" charset="0"/>
                  </a:rPr>
                  <a:t>RTT</a:t>
                </a:r>
              </a:p>
            </p:txBody>
          </p:sp>
          <p:cxnSp>
            <p:nvCxnSpPr>
              <p:cNvPr id="24612" name="Straight Arrow Connector 68"/>
              <p:cNvCxnSpPr>
                <a:cxnSpLocks noChangeShapeType="1"/>
              </p:cNvCxnSpPr>
              <p:nvPr/>
            </p:nvCxnSpPr>
            <p:spPr bwMode="auto">
              <a:xfrm rot="10800000">
                <a:off x="7085013" y="4953000"/>
                <a:ext cx="1587" cy="663575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4613" name="Straight Arrow Connector 69"/>
              <p:cNvCxnSpPr>
                <a:cxnSpLocks noChangeShapeType="1"/>
              </p:cNvCxnSpPr>
              <p:nvPr/>
            </p:nvCxnSpPr>
            <p:spPr bwMode="auto">
              <a:xfrm>
                <a:off x="6153150" y="5027613"/>
                <a:ext cx="819150" cy="1587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</p:grp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362" imgH="228501" progId="Equation.3">
                  <p:embed/>
                </p:oleObj>
              </mc:Choice>
              <mc:Fallback>
                <p:oleObj name="Equation" r:id="rId2" imgW="317362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393359" progId="Equation.3">
                  <p:embed/>
                </p:oleObj>
              </mc:Choice>
              <mc:Fallback>
                <p:oleObj name="Equation" r:id="rId4" imgW="355292" imgH="393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6" name="TextBox 5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41" name="Rounded Rectangular Callout 40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7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792BE-4556-A84C-88DC-CC3CE7143D3B}"/>
              </a:ext>
            </a:extLst>
          </p:cNvPr>
          <p:cNvSpPr txBox="1"/>
          <p:nvPr/>
        </p:nvSpPr>
        <p:spPr>
          <a:xfrm>
            <a:off x="3200400" y="6290846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</a:rPr>
              <a:t>in MSS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863698"/>
              </p:ext>
            </p:extLst>
          </p:nvPr>
        </p:nvGraphicFramePr>
        <p:xfrm>
          <a:off x="3057525" y="4495800"/>
          <a:ext cx="4257675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1511300" progId="Equation.3">
                  <p:embed/>
                </p:oleObj>
              </mc:Choice>
              <mc:Fallback>
                <p:oleObj name="Equation" r:id="rId2" imgW="2717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495800"/>
                        <a:ext cx="4257675" cy="236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 err="1">
                <a:latin typeface="Times New Roman" charset="0"/>
              </a:rPr>
              <a:t>cwnd</a:t>
            </a:r>
            <a:endParaRPr lang="en-US" i="1" dirty="0">
              <a:latin typeface="Times New Roman" charset="0"/>
            </a:endParaRP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362" imgH="228501" progId="Equation.3">
                  <p:embed/>
                </p:oleObj>
              </mc:Choice>
              <mc:Fallback>
                <p:oleObj name="Equation" r:id="rId4" imgW="317362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292" imgH="393359" progId="Equation.3">
                  <p:embed/>
                </p:oleObj>
              </mc:Choice>
              <mc:Fallback>
                <p:oleObj name="Equation" r:id="rId6" imgW="355292" imgH="393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2743200" y="5486400"/>
            <a:ext cx="4800600" cy="55103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743200" y="5867400"/>
            <a:ext cx="525780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6" name="Rounded Rectangular Callout 25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30" name="Rounded Rectangular Callout 29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2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(1): </a:t>
            </a:r>
            <a:br>
              <a:rPr lang="en-US" dirty="0"/>
            </a:br>
            <a:r>
              <a:rPr lang="en-US" dirty="0"/>
              <a:t>Different RTTs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2667000"/>
            <a:ext cx="8229600" cy="1219200"/>
          </a:xfrm>
        </p:spPr>
        <p:txBody>
          <a:bodyPr/>
          <a:lstStyle/>
          <a:p>
            <a:r>
              <a:rPr lang="en-US" sz="2400" dirty="0"/>
              <a:t>Flows get throughput inversely proportional to RTT</a:t>
            </a:r>
          </a:p>
          <a:p>
            <a:r>
              <a:rPr lang="en-US" sz="2400" dirty="0">
                <a:solidFill>
                  <a:srgbClr val="0000FF"/>
                </a:solidFill>
              </a:rPr>
              <a:t>TCP unfair in the face of heterogeneous RTTs!</a:t>
            </a:r>
            <a:endParaRPr lang="en-US" sz="2000" dirty="0">
              <a:solidFill>
                <a:srgbClr val="0000FF"/>
              </a:solidFill>
            </a:endParaRPr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28925" y="1600200"/>
          <a:ext cx="32686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469900" progId="Equation.3">
                  <p:embed/>
                </p:oleObj>
              </mc:Choice>
              <mc:Fallback>
                <p:oleObj name="Equation" r:id="rId2" imgW="1663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1600200"/>
                        <a:ext cx="32686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1524000" y="3743325"/>
            <a:ext cx="6324600" cy="2286000"/>
            <a:chOff x="1152" y="1728"/>
            <a:chExt cx="3984" cy="1440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2736" y="2442"/>
              <a:ext cx="611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421" y="2175"/>
              <a:ext cx="105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endParaRPr lang="en-US" b="0">
                <a:latin typeface="Tahoma" charset="0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152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A1</a:t>
              </a: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1152" y="2819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 dirty="0">
                  <a:latin typeface="Tahoma" charset="0"/>
                </a:rPr>
                <a:t>A2</a:t>
              </a:r>
            </a:p>
          </p:txBody>
        </p:sp>
        <p:sp>
          <p:nvSpPr>
            <p:cNvPr id="20" name="Rectangle 22"/>
            <p:cNvSpPr>
              <a:spLocks noChangeArrowheads="1"/>
            </p:cNvSpPr>
            <p:nvPr/>
          </p:nvSpPr>
          <p:spPr bwMode="auto">
            <a:xfrm>
              <a:off x="4831" y="2867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 dirty="0">
                  <a:latin typeface="Tahoma" charset="0"/>
                </a:rPr>
                <a:t>B2</a:t>
              </a:r>
            </a:p>
          </p:txBody>
        </p:sp>
        <p:sp>
          <p:nvSpPr>
            <p:cNvPr id="21" name="Rectangle 31"/>
            <p:cNvSpPr>
              <a:spLocks noChangeArrowheads="1"/>
            </p:cNvSpPr>
            <p:nvPr/>
          </p:nvSpPr>
          <p:spPr bwMode="auto">
            <a:xfrm>
              <a:off x="4831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 dirty="0">
                  <a:latin typeface="Tahoma" charset="0"/>
                </a:rPr>
                <a:t>B1</a:t>
              </a:r>
            </a:p>
          </p:txBody>
        </p:sp>
        <p:sp>
          <p:nvSpPr>
            <p:cNvPr id="25" name="Line 38"/>
            <p:cNvSpPr>
              <a:spLocks noChangeShapeType="1"/>
            </p:cNvSpPr>
            <p:nvPr/>
          </p:nvSpPr>
          <p:spPr bwMode="auto">
            <a:xfrm flipV="1">
              <a:off x="3072" y="2448"/>
              <a:ext cx="0" cy="282"/>
            </a:xfrm>
            <a:prstGeom prst="line">
              <a:avLst/>
            </a:prstGeom>
            <a:noFill/>
            <a:ln w="12700">
              <a:solidFill>
                <a:srgbClr val="000090"/>
              </a:solidFill>
              <a:prstDash val="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</p:grpSp>
      <p:pic>
        <p:nvPicPr>
          <p:cNvPr id="2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657725"/>
            <a:ext cx="645226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657725"/>
            <a:ext cx="645226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62400" y="5343525"/>
            <a:ext cx="1291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i="1" dirty="0">
                <a:solidFill>
                  <a:srgbClr val="000090"/>
                </a:solidFill>
                <a:latin typeface="+mn-lt"/>
              </a:rPr>
              <a:t>bottleneck</a:t>
            </a:r>
          </a:p>
          <a:p>
            <a:pPr algn="ctr"/>
            <a:r>
              <a:rPr lang="en-US" sz="1800" b="0" i="1" dirty="0">
                <a:solidFill>
                  <a:srgbClr val="000090"/>
                </a:solidFill>
                <a:latin typeface="+mn-lt"/>
              </a:rPr>
              <a:t>link</a:t>
            </a:r>
          </a:p>
        </p:txBody>
      </p:sp>
      <p:sp>
        <p:nvSpPr>
          <p:cNvPr id="44" name="Freeform 43"/>
          <p:cNvSpPr/>
          <p:nvPr/>
        </p:nvSpPr>
        <p:spPr>
          <a:xfrm>
            <a:off x="1877020" y="4152943"/>
            <a:ext cx="5701910" cy="580982"/>
          </a:xfrm>
          <a:custGeom>
            <a:avLst/>
            <a:gdLst>
              <a:gd name="connsiteX0" fmla="*/ 0 w 5701910"/>
              <a:gd name="connsiteY0" fmla="*/ 27020 h 580982"/>
              <a:gd name="connsiteX1" fmla="*/ 2702327 w 5701910"/>
              <a:gd name="connsiteY1" fmla="*/ 580929 h 580982"/>
              <a:gd name="connsiteX2" fmla="*/ 5701910 w 5701910"/>
              <a:gd name="connsiteY2" fmla="*/ 0 h 58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01910" h="580982">
                <a:moveTo>
                  <a:pt x="0" y="27020"/>
                </a:moveTo>
                <a:cubicBezTo>
                  <a:pt x="876004" y="306226"/>
                  <a:pt x="1752009" y="585432"/>
                  <a:pt x="2702327" y="580929"/>
                </a:cubicBezTo>
                <a:cubicBezTo>
                  <a:pt x="3652645" y="576426"/>
                  <a:pt x="5701910" y="0"/>
                  <a:pt x="5701910" y="0"/>
                </a:cubicBezTo>
              </a:path>
            </a:pathLst>
          </a:custGeom>
          <a:ln w="38100" cmpd="sng">
            <a:solidFill>
              <a:srgbClr val="D3A600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Freeform 44"/>
          <p:cNvSpPr/>
          <p:nvPr/>
        </p:nvSpPr>
        <p:spPr>
          <a:xfrm rot="10800000">
            <a:off x="1765690" y="4991142"/>
            <a:ext cx="5701910" cy="580982"/>
          </a:xfrm>
          <a:custGeom>
            <a:avLst/>
            <a:gdLst>
              <a:gd name="connsiteX0" fmla="*/ 0 w 5701910"/>
              <a:gd name="connsiteY0" fmla="*/ 27020 h 580982"/>
              <a:gd name="connsiteX1" fmla="*/ 2702327 w 5701910"/>
              <a:gd name="connsiteY1" fmla="*/ 580929 h 580982"/>
              <a:gd name="connsiteX2" fmla="*/ 5701910 w 5701910"/>
              <a:gd name="connsiteY2" fmla="*/ 0 h 58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01910" h="580982">
                <a:moveTo>
                  <a:pt x="0" y="27020"/>
                </a:moveTo>
                <a:cubicBezTo>
                  <a:pt x="876004" y="306226"/>
                  <a:pt x="1752009" y="585432"/>
                  <a:pt x="2702327" y="580929"/>
                </a:cubicBezTo>
                <a:cubicBezTo>
                  <a:pt x="3652645" y="576426"/>
                  <a:pt x="5701910" y="0"/>
                  <a:pt x="5701910" y="0"/>
                </a:cubicBezTo>
              </a:path>
            </a:pathLst>
          </a:custGeom>
          <a:ln w="38100" cmpd="sng">
            <a:solidFill>
              <a:schemeClr val="accent6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894909" y="404812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i="1" dirty="0">
                <a:solidFill>
                  <a:srgbClr val="D3A600"/>
                </a:solidFill>
                <a:latin typeface="+mn-lt"/>
              </a:rPr>
              <a:t>100ms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67400" y="5202793"/>
            <a:ext cx="95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accent6"/>
                </a:solidFill>
                <a:latin typeface="+mn-lt"/>
              </a:rPr>
              <a:t>200ms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2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(2): </a:t>
            </a:r>
            <a:br>
              <a:rPr lang="en-US"/>
            </a:br>
            <a:r>
              <a:rPr lang="en-US"/>
              <a:t>High-speed TCP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RTT = 100ms, MSS=1500bytes, BW=100Gbps</a:t>
            </a:r>
          </a:p>
          <a:p>
            <a:r>
              <a:rPr lang="en-US" dirty="0"/>
              <a:t>What value of p is required to reach 100Gbps throughput?</a:t>
            </a:r>
          </a:p>
          <a:p>
            <a:pPr lvl="1"/>
            <a:r>
              <a:rPr lang="en-US" dirty="0"/>
              <a:t>~ 2 x 10</a:t>
            </a:r>
            <a:r>
              <a:rPr lang="en-US" baseline="30000" dirty="0"/>
              <a:t>-12</a:t>
            </a:r>
          </a:p>
          <a:p>
            <a:r>
              <a:rPr lang="en-US" dirty="0"/>
              <a:t>How long between drops?</a:t>
            </a:r>
          </a:p>
          <a:p>
            <a:pPr lvl="1"/>
            <a:r>
              <a:rPr lang="en-US" dirty="0"/>
              <a:t>~ 16.6 hours</a:t>
            </a:r>
          </a:p>
          <a:p>
            <a:r>
              <a:rPr lang="en-US" dirty="0"/>
              <a:t>How much data has been sent in this time?</a:t>
            </a:r>
          </a:p>
          <a:p>
            <a:pPr lvl="1"/>
            <a:r>
              <a:rPr lang="en-US" dirty="0"/>
              <a:t>~ 6 </a:t>
            </a:r>
            <a:r>
              <a:rPr lang="en-US" dirty="0" err="1"/>
              <a:t>petabits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838130"/>
              </p:ext>
            </p:extLst>
          </p:nvPr>
        </p:nvGraphicFramePr>
        <p:xfrm>
          <a:off x="5715000" y="261937"/>
          <a:ext cx="32686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469900" progId="Equation.3">
                  <p:embed/>
                </p:oleObj>
              </mc:Choice>
              <mc:Fallback>
                <p:oleObj name="Equation" r:id="rId2" imgW="1663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61937"/>
                        <a:ext cx="32686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4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(3): </a:t>
            </a:r>
            <a:br>
              <a:rPr lang="en-US" dirty="0"/>
            </a:br>
            <a:r>
              <a:rPr lang="en-US" dirty="0"/>
              <a:t>Rate-based 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throughput is swings between W/2 to W</a:t>
            </a:r>
          </a:p>
          <a:p>
            <a:r>
              <a:rPr lang="en-US" dirty="0"/>
              <a:t>Apps may prefer steady rates (e.g., streaming)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rgbClr val="0000FF"/>
                </a:solidFill>
              </a:rPr>
              <a:t>Equation-Based Congestion Control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Ignore TCP’s increase/decrease rules and just follow the equation</a:t>
            </a:r>
          </a:p>
          <a:p>
            <a:pPr lvl="1"/>
            <a:r>
              <a:rPr lang="en-US" dirty="0"/>
              <a:t>Measure drop percentage p, and set rate accordingly</a:t>
            </a:r>
          </a:p>
          <a:p>
            <a:r>
              <a:rPr lang="en-US" dirty="0"/>
              <a:t>Following the TCP equation ensures “TCP friendliness”</a:t>
            </a:r>
          </a:p>
          <a:p>
            <a:pPr lvl="1"/>
            <a:r>
              <a:rPr lang="en-US" dirty="0"/>
              <a:t>i.e., use no more than TCP does in similar setting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4567"/>
              </p:ext>
            </p:extLst>
          </p:nvPr>
        </p:nvGraphicFramePr>
        <p:xfrm>
          <a:off x="5715000" y="261937"/>
          <a:ext cx="32686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469900" progId="Equation.3">
                  <p:embed/>
                </p:oleObj>
              </mc:Choice>
              <mc:Fallback>
                <p:oleObj name="Equation" r:id="rId2" imgW="1663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61937"/>
                        <a:ext cx="32686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(4): </a:t>
            </a:r>
            <a:br>
              <a:rPr lang="en-US" dirty="0"/>
            </a:br>
            <a:r>
              <a:rPr lang="en-US" dirty="0"/>
              <a:t>Loss not due to congestion?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will confuse corruption with congestion</a:t>
            </a:r>
          </a:p>
          <a:p>
            <a:r>
              <a:rPr lang="en-US" dirty="0"/>
              <a:t>Flow will cut its rate</a:t>
            </a:r>
          </a:p>
          <a:p>
            <a:pPr lvl="1"/>
            <a:r>
              <a:rPr lang="en-US" dirty="0"/>
              <a:t>Throughput ~ 1/</a:t>
            </a:r>
            <a:r>
              <a:rPr lang="en-US" dirty="0" err="1"/>
              <a:t>sqrt</a:t>
            </a:r>
            <a:r>
              <a:rPr lang="en-US" dirty="0"/>
              <a:t>(p) where p is loss prob.</a:t>
            </a:r>
          </a:p>
          <a:p>
            <a:pPr lvl="1"/>
            <a:r>
              <a:rPr lang="en-US" dirty="0"/>
              <a:t>Applies even for non-congestion losses!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4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(5): </a:t>
            </a:r>
            <a:br>
              <a:rPr lang="en-US" dirty="0"/>
            </a:br>
            <a:r>
              <a:rPr lang="en-US" dirty="0"/>
              <a:t>Short flows cannot ramp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50% of flows have &lt; 1500B to send; 80% &lt; 100KB</a:t>
            </a:r>
          </a:p>
          <a:p>
            <a:r>
              <a:rPr lang="en-US">
                <a:sym typeface="Wingdings"/>
              </a:rPr>
              <a:t>Implications </a:t>
            </a:r>
          </a:p>
          <a:p>
            <a:pPr lvl="1"/>
            <a:r>
              <a:rPr lang="en-US">
                <a:sym typeface="Wingdings"/>
              </a:rPr>
              <a:t>Short flows never leave slow start!</a:t>
            </a:r>
          </a:p>
          <a:p>
            <a:pPr lvl="2"/>
            <a:r>
              <a:rPr lang="en-US">
                <a:sym typeface="Wingdings"/>
              </a:rPr>
              <a:t>They never attain their fair share</a:t>
            </a:r>
          </a:p>
          <a:p>
            <a:pPr lvl="1"/>
            <a:r>
              <a:rPr lang="en-US">
                <a:sym typeface="Wingdings"/>
              </a:rPr>
              <a:t>Too few packets to trigger dupACKs </a:t>
            </a:r>
          </a:p>
          <a:p>
            <a:pPr lvl="2"/>
            <a:r>
              <a:rPr lang="en-US">
                <a:sym typeface="Wingdings"/>
              </a:rPr>
              <a:t>Isolated loss may lead to timeouts</a:t>
            </a:r>
          </a:p>
          <a:p>
            <a:pPr lvl="2"/>
            <a:r>
              <a:rPr lang="en-US">
                <a:sym typeface="Wingdings"/>
              </a:rPr>
              <a:t>At  typical timeout values of ~500ms, might severely impact flow completion time</a:t>
            </a:r>
          </a:p>
          <a:p>
            <a:pPr lvl="1"/>
            <a:endParaRPr lang="en-US">
              <a:sym typeface="Wingdings"/>
            </a:endParaRPr>
          </a:p>
          <a:p>
            <a:pPr lvl="1"/>
            <a:endParaRPr lang="en-US" dirty="0">
              <a:sym typeface="Wingding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3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(6): </a:t>
            </a:r>
            <a:br>
              <a:rPr lang="en-US" dirty="0"/>
            </a:br>
            <a:r>
              <a:rPr lang="en-US" dirty="0"/>
              <a:t>Short flows share long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flow deliberately overshoots capacity, until it experiences a drop</a:t>
            </a:r>
          </a:p>
          <a:p>
            <a:r>
              <a:rPr lang="en-US" dirty="0"/>
              <a:t>Means that delays are large, and are large for everyone</a:t>
            </a:r>
          </a:p>
          <a:p>
            <a:pPr lvl="1"/>
            <a:r>
              <a:rPr lang="en-US" dirty="0"/>
              <a:t>Consider a flow transferring a 10GB file sharing a  </a:t>
            </a:r>
            <a:br>
              <a:rPr lang="en-US" dirty="0"/>
            </a:br>
            <a:r>
              <a:rPr lang="en-US" dirty="0"/>
              <a:t>bottleneck link with 10 flows transferring 100B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Larger flows dominate smaller ones</a:t>
            </a:r>
          </a:p>
          <a:p>
            <a:endParaRPr lang="en-US" dirty="0"/>
          </a:p>
          <a:p>
            <a:pPr lvl="3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8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(7): </a:t>
            </a:r>
            <a:br>
              <a:rPr lang="en-US" dirty="0"/>
            </a:br>
            <a:r>
              <a:rPr lang="en-US" dirty="0"/>
              <a:t>Cheating</a:t>
            </a:r>
          </a:p>
        </p:txBody>
      </p:sp>
      <p:sp>
        <p:nvSpPr>
          <p:cNvPr id="1050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easy ways to cheat</a:t>
            </a:r>
          </a:p>
          <a:p>
            <a:pPr lvl="1"/>
            <a:r>
              <a:rPr lang="en-US" dirty="0"/>
              <a:t>Increasing CWND faster than +1 MSS per RTT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970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(7): </a:t>
            </a:r>
            <a:br>
              <a:rPr lang="en-US"/>
            </a:br>
            <a:r>
              <a:rPr lang="en-US"/>
              <a:t>Cheating</a:t>
            </a:r>
            <a:endParaRPr lang="en-US" dirty="0"/>
          </a:p>
        </p:txBody>
      </p:sp>
      <p:sp>
        <p:nvSpPr>
          <p:cNvPr id="105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easy ways to cheat</a:t>
            </a:r>
          </a:p>
          <a:p>
            <a:pPr lvl="1"/>
            <a:r>
              <a:rPr lang="en-US" dirty="0"/>
              <a:t>Increasing CWND faster than +1 MSS per RTT</a:t>
            </a:r>
          </a:p>
          <a:p>
            <a:pPr lvl="1"/>
            <a:r>
              <a:rPr lang="en-US" dirty="0"/>
              <a:t>Using large initial CWND</a:t>
            </a:r>
          </a:p>
          <a:p>
            <a:pPr lvl="2"/>
            <a:r>
              <a:rPr lang="en-US" dirty="0"/>
              <a:t>Common practice by many companies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1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(7): </a:t>
            </a:r>
            <a:br>
              <a:rPr lang="en-US" dirty="0"/>
            </a:br>
            <a:r>
              <a:rPr lang="en-US" dirty="0"/>
              <a:t>Cheating</a:t>
            </a:r>
          </a:p>
        </p:txBody>
      </p:sp>
      <p:sp>
        <p:nvSpPr>
          <p:cNvPr id="105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easy ways to cheat</a:t>
            </a:r>
          </a:p>
          <a:p>
            <a:pPr lvl="1"/>
            <a:r>
              <a:rPr lang="en-US" dirty="0"/>
              <a:t>Increasing CWND faster than +1 MSS per RTT</a:t>
            </a:r>
          </a:p>
          <a:p>
            <a:pPr lvl="1"/>
            <a:r>
              <a:rPr lang="en-US" dirty="0"/>
              <a:t>Using large initial CWND</a:t>
            </a:r>
          </a:p>
          <a:p>
            <a:pPr lvl="2"/>
            <a:r>
              <a:rPr lang="en-US" dirty="0"/>
              <a:t>Common practice by many companies</a:t>
            </a:r>
          </a:p>
          <a:p>
            <a:pPr lvl="1"/>
            <a:r>
              <a:rPr lang="en-US" dirty="0"/>
              <a:t>Opening many connections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0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many connections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Assume </a:t>
            </a:r>
          </a:p>
          <a:p>
            <a:pPr lvl="1"/>
            <a:r>
              <a:rPr lang="en-US" dirty="0"/>
              <a:t>A starts 10 connections to B</a:t>
            </a:r>
          </a:p>
          <a:p>
            <a:pPr lvl="1"/>
            <a:r>
              <a:rPr lang="en-US" dirty="0"/>
              <a:t>D starts 1 connection to E</a:t>
            </a:r>
          </a:p>
          <a:p>
            <a:pPr lvl="1"/>
            <a:r>
              <a:rPr lang="en-US" dirty="0"/>
              <a:t>Each connection gets about the same throughput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Then A gets 10 times more throughput than D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039813" y="1277938"/>
            <a:ext cx="74803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1600200" y="1527175"/>
            <a:ext cx="5264150" cy="1673225"/>
            <a:chOff x="1309" y="834"/>
            <a:chExt cx="3316" cy="1054"/>
          </a:xfrm>
        </p:grpSpPr>
        <p:sp>
          <p:nvSpPr>
            <p:cNvPr id="1054725" name="Rectangle 5"/>
            <p:cNvSpPr>
              <a:spLocks noChangeArrowheads="1"/>
            </p:cNvSpPr>
            <p:nvPr/>
          </p:nvSpPr>
          <p:spPr bwMode="auto">
            <a:xfrm>
              <a:off x="1309" y="1006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A</a:t>
              </a:r>
            </a:p>
          </p:txBody>
        </p:sp>
        <p:sp>
          <p:nvSpPr>
            <p:cNvPr id="1054726" name="Rectangle 6"/>
            <p:cNvSpPr>
              <a:spLocks noChangeArrowheads="1"/>
            </p:cNvSpPr>
            <p:nvPr/>
          </p:nvSpPr>
          <p:spPr bwMode="auto">
            <a:xfrm>
              <a:off x="2443" y="1180"/>
              <a:ext cx="1048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27" name="Rectangle 7"/>
            <p:cNvSpPr>
              <a:spLocks noChangeArrowheads="1"/>
            </p:cNvSpPr>
            <p:nvPr/>
          </p:nvSpPr>
          <p:spPr bwMode="auto">
            <a:xfrm>
              <a:off x="4320" y="1006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B</a:t>
              </a:r>
            </a:p>
          </p:txBody>
        </p:sp>
        <p:sp>
          <p:nvSpPr>
            <p:cNvPr id="1054728" name="Line 8"/>
            <p:cNvSpPr>
              <a:spLocks noChangeShapeType="1"/>
            </p:cNvSpPr>
            <p:nvPr/>
          </p:nvSpPr>
          <p:spPr bwMode="auto">
            <a:xfrm>
              <a:off x="1614" y="1156"/>
              <a:ext cx="829" cy="10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29" name="Line 9"/>
            <p:cNvSpPr>
              <a:spLocks noChangeShapeType="1"/>
            </p:cNvSpPr>
            <p:nvPr/>
          </p:nvSpPr>
          <p:spPr bwMode="auto">
            <a:xfrm flipV="1">
              <a:off x="3491" y="1156"/>
              <a:ext cx="829" cy="10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30" name="Text Box 10"/>
            <p:cNvSpPr txBox="1">
              <a:spLocks noChangeArrowheads="1"/>
            </p:cNvSpPr>
            <p:nvPr/>
          </p:nvSpPr>
          <p:spPr bwMode="auto">
            <a:xfrm>
              <a:off x="3578" y="891"/>
              <a:ext cx="10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endParaRPr lang="en-US" sz="2200" b="0">
                <a:latin typeface="Tahoma" charset="0"/>
                <a:cs typeface="+mn-cs"/>
              </a:endParaRPr>
            </a:p>
          </p:txBody>
        </p:sp>
        <p:sp>
          <p:nvSpPr>
            <p:cNvPr id="1054731" name="Text Box 11"/>
            <p:cNvSpPr txBox="1">
              <a:spLocks noChangeArrowheads="1"/>
            </p:cNvSpPr>
            <p:nvPr/>
          </p:nvSpPr>
          <p:spPr bwMode="auto">
            <a:xfrm>
              <a:off x="1833" y="834"/>
              <a:ext cx="220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2900" b="0">
                  <a:solidFill>
                    <a:srgbClr val="CC0000"/>
                  </a:solidFill>
                  <a:latin typeface="Tahoma" charset="0"/>
                  <a:cs typeface="+mn-cs"/>
                </a:rPr>
                <a:t>x</a:t>
              </a:r>
            </a:p>
          </p:txBody>
        </p:sp>
        <p:sp>
          <p:nvSpPr>
            <p:cNvPr id="1054732" name="Rectangle 12"/>
            <p:cNvSpPr>
              <a:spLocks noChangeArrowheads="1"/>
            </p:cNvSpPr>
            <p:nvPr/>
          </p:nvSpPr>
          <p:spPr bwMode="auto">
            <a:xfrm>
              <a:off x="1309" y="1392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D</a:t>
              </a:r>
            </a:p>
          </p:txBody>
        </p:sp>
        <p:sp>
          <p:nvSpPr>
            <p:cNvPr id="1054733" name="Rectangle 13"/>
            <p:cNvSpPr>
              <a:spLocks noChangeArrowheads="1"/>
            </p:cNvSpPr>
            <p:nvPr/>
          </p:nvSpPr>
          <p:spPr bwMode="auto">
            <a:xfrm>
              <a:off x="4320" y="1392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E</a:t>
              </a:r>
            </a:p>
          </p:txBody>
        </p:sp>
        <p:sp>
          <p:nvSpPr>
            <p:cNvPr id="1054734" name="Line 14"/>
            <p:cNvSpPr>
              <a:spLocks noChangeShapeType="1"/>
            </p:cNvSpPr>
            <p:nvPr/>
          </p:nvSpPr>
          <p:spPr bwMode="auto">
            <a:xfrm flipV="1">
              <a:off x="1614" y="1392"/>
              <a:ext cx="829" cy="127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35" name="Line 15"/>
            <p:cNvSpPr>
              <a:spLocks noChangeShapeType="1"/>
            </p:cNvSpPr>
            <p:nvPr/>
          </p:nvSpPr>
          <p:spPr bwMode="auto">
            <a:xfrm>
              <a:off x="3491" y="1392"/>
              <a:ext cx="829" cy="127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36" name="Text Box 16"/>
            <p:cNvSpPr txBox="1">
              <a:spLocks noChangeArrowheads="1"/>
            </p:cNvSpPr>
            <p:nvPr/>
          </p:nvSpPr>
          <p:spPr bwMode="auto">
            <a:xfrm>
              <a:off x="1954" y="1566"/>
              <a:ext cx="106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endParaRPr lang="en-US" sz="2900" b="0">
                <a:latin typeface="Tahoma" charset="0"/>
                <a:cs typeface="+mn-cs"/>
              </a:endParaRPr>
            </a:p>
          </p:txBody>
        </p:sp>
        <p:sp>
          <p:nvSpPr>
            <p:cNvPr id="1054737" name="Text Box 17"/>
            <p:cNvSpPr txBox="1">
              <a:spLocks noChangeArrowheads="1"/>
            </p:cNvSpPr>
            <p:nvPr/>
          </p:nvSpPr>
          <p:spPr bwMode="auto">
            <a:xfrm>
              <a:off x="1833" y="1223"/>
              <a:ext cx="220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2900" b="0">
                  <a:solidFill>
                    <a:srgbClr val="0000FF"/>
                  </a:solidFill>
                  <a:latin typeface="Tahoma" charset="0"/>
                  <a:cs typeface="+mn-cs"/>
                </a:rPr>
                <a:t>y</a:t>
              </a:r>
            </a:p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5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(8): </a:t>
            </a:r>
            <a:br>
              <a:rPr lang="en-US" dirty="0"/>
            </a:br>
            <a:r>
              <a:rPr lang="en-US" dirty="0"/>
              <a:t>CC intertwined with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CWND adjusted based on ACKs and timeouts</a:t>
            </a:r>
          </a:p>
          <a:p>
            <a:r>
              <a:rPr lang="en-US" dirty="0"/>
              <a:t>Cumulative ACKs and fast retransmit/recovery rules</a:t>
            </a:r>
          </a:p>
          <a:p>
            <a:r>
              <a:rPr lang="en-US" dirty="0"/>
              <a:t>Complicates evolution </a:t>
            </a:r>
          </a:p>
          <a:p>
            <a:pPr lvl="1"/>
            <a:r>
              <a:rPr lang="en-US" dirty="0"/>
              <a:t>Changing from cumulative to selective ACKs is hard</a:t>
            </a:r>
          </a:p>
          <a:p>
            <a:r>
              <a:rPr lang="en-US" dirty="0"/>
              <a:t>Sometimes we want CC but not reliability </a:t>
            </a:r>
          </a:p>
          <a:p>
            <a:pPr lvl="1"/>
            <a:r>
              <a:rPr lang="en-US" dirty="0"/>
              <a:t>e.g., real-time applications</a:t>
            </a:r>
          </a:p>
          <a:p>
            <a:r>
              <a:rPr lang="en-US" dirty="0"/>
              <a:t>We may also want </a:t>
            </a:r>
            <a:r>
              <a:rPr lang="en-US"/>
              <a:t>reliability without CC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8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ular Callout 18"/>
          <p:cNvSpPr/>
          <p:nvPr/>
        </p:nvSpPr>
        <p:spPr bwMode="auto">
          <a:xfrm>
            <a:off x="6858000" y="4800600"/>
            <a:ext cx="2207019" cy="762000"/>
          </a:xfrm>
          <a:prstGeom prst="wedgeRoundRectCallout">
            <a:avLst>
              <a:gd name="adj1" fmla="val -68501"/>
              <a:gd name="adj2" fmla="val 1031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TCP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Misled by non-congestion losses</a:t>
            </a:r>
          </a:p>
          <a:p>
            <a:r>
              <a:rPr lang="en-US" sz="2400" dirty="0"/>
              <a:t>Fills up queues leading to high delays</a:t>
            </a:r>
          </a:p>
          <a:p>
            <a:r>
              <a:rPr lang="en-US" sz="2400" dirty="0"/>
              <a:t>Short flows complete before discovering available capacity</a:t>
            </a:r>
          </a:p>
          <a:p>
            <a:r>
              <a:rPr lang="en-US" sz="2400" dirty="0"/>
              <a:t>AIMD impractical for high speed links </a:t>
            </a:r>
          </a:p>
          <a:p>
            <a:r>
              <a:rPr lang="en-US" sz="2400" dirty="0"/>
              <a:t>Saw tooth discovery too choppy for some apps</a:t>
            </a:r>
          </a:p>
          <a:p>
            <a:r>
              <a:rPr lang="en-US" sz="2400" dirty="0"/>
              <a:t>Unfair under heterogeneous RTTs</a:t>
            </a:r>
          </a:p>
          <a:p>
            <a:r>
              <a:rPr lang="en-US" sz="2400" dirty="0"/>
              <a:t>Tight coupling with reliability mechanisms</a:t>
            </a:r>
          </a:p>
          <a:p>
            <a:r>
              <a:rPr lang="en-US" sz="2400" dirty="0"/>
              <a:t>End hosts can cheat</a:t>
            </a:r>
          </a:p>
          <a:p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705600" y="1295400"/>
            <a:ext cx="2362200" cy="762000"/>
            <a:chOff x="6248400" y="2057400"/>
            <a:chExt cx="2743865" cy="762000"/>
          </a:xfrm>
        </p:grpSpPr>
        <p:sp>
          <p:nvSpPr>
            <p:cNvPr id="7" name="Rounded Rectangular Callout 6"/>
            <p:cNvSpPr/>
            <p:nvPr/>
          </p:nvSpPr>
          <p:spPr bwMode="auto">
            <a:xfrm>
              <a:off x="6324600" y="2057400"/>
              <a:ext cx="2667000" cy="762000"/>
            </a:xfrm>
            <a:prstGeom prst="wedgeRoundRectCallout">
              <a:avLst>
                <a:gd name="adj1" fmla="val -59678"/>
                <a:gd name="adj2" fmla="val 3388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48400" y="2118955"/>
              <a:ext cx="274386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Routers tell endpoints 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  if they’re congested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993452" y="2895599"/>
            <a:ext cx="2133600" cy="1790993"/>
            <a:chOff x="6324600" y="2550885"/>
            <a:chExt cx="2743865" cy="741613"/>
          </a:xfrm>
        </p:grpSpPr>
        <p:sp>
          <p:nvSpPr>
            <p:cNvPr id="12" name="Rounded Rectangular Callout 11"/>
            <p:cNvSpPr/>
            <p:nvPr/>
          </p:nvSpPr>
          <p:spPr bwMode="auto">
            <a:xfrm>
              <a:off x="6324600" y="2550885"/>
              <a:ext cx="2667001" cy="378634"/>
            </a:xfrm>
            <a:prstGeom prst="wedgeRoundRectCallout">
              <a:avLst>
                <a:gd name="adj1" fmla="val -71945"/>
                <a:gd name="adj2" fmla="val -2260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24600" y="2567025"/>
              <a:ext cx="2743865" cy="725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Routers tell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 endpoints what 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rate to send at</a:t>
              </a:r>
            </a:p>
          </p:txBody>
        </p:sp>
      </p:grpSp>
      <p:sp>
        <p:nvSpPr>
          <p:cNvPr id="15" name="Oval 14"/>
          <p:cNvSpPr/>
          <p:nvPr/>
        </p:nvSpPr>
        <p:spPr bwMode="auto">
          <a:xfrm>
            <a:off x="723900" y="1524000"/>
            <a:ext cx="5943600" cy="11430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2400" y="2438400"/>
            <a:ext cx="6477000" cy="22098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28600" y="4800600"/>
            <a:ext cx="6477000" cy="6858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0638" y="4915192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0000FF"/>
                </a:solidFill>
                <a:latin typeface="+mn-lt"/>
              </a:rPr>
              <a:t>Routers enforce</a:t>
            </a:r>
            <a:br>
              <a:rPr lang="en-US" b="0" dirty="0">
                <a:solidFill>
                  <a:srgbClr val="0000FF"/>
                </a:solidFill>
                <a:latin typeface="+mn-lt"/>
              </a:rPr>
            </a:br>
            <a:r>
              <a:rPr lang="en-US" b="0" dirty="0">
                <a:solidFill>
                  <a:srgbClr val="0000FF"/>
                </a:solidFill>
                <a:latin typeface="+mn-lt"/>
              </a:rPr>
              <a:t>fair sharing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85800" y="5791200"/>
            <a:ext cx="7924800" cy="762000"/>
            <a:chOff x="838200" y="5791200"/>
            <a:chExt cx="7620000" cy="762000"/>
          </a:xfrm>
        </p:grpSpPr>
        <p:sp>
          <p:nvSpPr>
            <p:cNvPr id="4" name="Rounded Rectangle 3"/>
            <p:cNvSpPr/>
            <p:nvPr/>
          </p:nvSpPr>
          <p:spPr bwMode="auto">
            <a:xfrm>
              <a:off x="838200" y="5791200"/>
              <a:ext cx="7620000" cy="762000"/>
            </a:xfrm>
            <a:prstGeom prst="roundRect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05090" y="5939135"/>
              <a:ext cx="7369175" cy="461665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0" dirty="0">
                  <a:solidFill>
                    <a:srgbClr val="0000FF"/>
                  </a:solidFill>
                  <a:latin typeface="+mn-lt"/>
                </a:rPr>
                <a:t>Could fix many of these with some help from routers!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79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 build="p"/>
      <p:bldP spid="15" grpId="0" animBg="1"/>
      <p:bldP spid="16" grpId="0" animBg="1"/>
      <p:bldP spid="17" grpId="0" animBg="1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works even though it has many flaws</a:t>
            </a:r>
          </a:p>
          <a:p>
            <a:r>
              <a:rPr lang="en-US" dirty="0"/>
              <a:t>Many of them can be fixed via assistance from the network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Starting </a:t>
            </a:r>
            <a:r>
              <a:rPr lang="en-US">
                <a:solidFill>
                  <a:schemeClr val="accent6"/>
                </a:solidFill>
              </a:rPr>
              <a:t>from next </a:t>
            </a:r>
            <a:r>
              <a:rPr lang="en-US" dirty="0">
                <a:solidFill>
                  <a:schemeClr val="accent6"/>
                </a:solidFill>
              </a:rPr>
              <a:t>lecture: The Network Layer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NO lecture on Feb 12!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FC39-E27B-5857-015C-D3816CBC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0FA53-0657-AE20-C5D8-2A3C37991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F6149-3633-42C3-5430-47369163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6D9EE-EECF-B168-0707-E1FD788A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DD74A-121F-ADA5-4E89-1FA8A2CE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77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55E5-63CD-3DDD-97B8-DC006EB4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EA67-22EF-7D86-2228-58471B61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Adapting TCP to high 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BA92-7759-3BC2-D92E-5CF0A0BB8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past a threshold speed, increase CWND faster </a:t>
            </a:r>
          </a:p>
          <a:p>
            <a:pPr lvl="1"/>
            <a:r>
              <a:rPr lang="en-US" dirty="0"/>
              <a:t>A proposed standard [Floyd’03]: once speed is past some threshold, change equation to p</a:t>
            </a:r>
            <a:r>
              <a:rPr lang="en-US" baseline="30000" dirty="0"/>
              <a:t>-.8</a:t>
            </a:r>
            <a:r>
              <a:rPr lang="en-US" dirty="0"/>
              <a:t> rather than p</a:t>
            </a:r>
            <a:r>
              <a:rPr lang="en-US" baseline="30000" dirty="0"/>
              <a:t>-.5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Let the additive constant in AIMD depend on CWND</a:t>
            </a:r>
          </a:p>
          <a:p>
            <a:r>
              <a:rPr lang="en-US" dirty="0"/>
              <a:t>Other approaches?</a:t>
            </a:r>
          </a:p>
          <a:p>
            <a:pPr lvl="1"/>
            <a:r>
              <a:rPr lang="en-US" dirty="0"/>
              <a:t>Multiple simultaneous connections (</a:t>
            </a:r>
            <a:r>
              <a:rPr lang="en-US" dirty="0">
                <a:solidFill>
                  <a:srgbClr val="0000FF"/>
                </a:solidFill>
              </a:rPr>
              <a:t>hack but works today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Router-assisted approaches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5F3523D-ABA6-4D18-CF85-95688EBB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5607B4B-6DB4-0392-2E2F-3D1B1705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9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338C7E-6814-41E6-6C5C-8509696D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2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1490454757</TotalTime>
  <Pages>7</Pages>
  <Words>2437</Words>
  <Application>Microsoft Macintosh PowerPoint</Application>
  <PresentationFormat>On-screen Show (4:3)</PresentationFormat>
  <Paragraphs>533</Paragraphs>
  <Slides>45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ＭＳ Ｐゴシック</vt:lpstr>
      <vt:lpstr>Arial</vt:lpstr>
      <vt:lpstr>Arial Black</vt:lpstr>
      <vt:lpstr>Courier New</vt:lpstr>
      <vt:lpstr>Gill Sans</vt:lpstr>
      <vt:lpstr>Monotype Sorts</vt:lpstr>
      <vt:lpstr>Tahoma</vt:lpstr>
      <vt:lpstr>Times New Roman</vt:lpstr>
      <vt:lpstr>Wingdings</vt:lpstr>
      <vt:lpstr>Zapf Dingbats</vt:lpstr>
      <vt:lpstr>dbllineb</vt:lpstr>
      <vt:lpstr>Equation</vt:lpstr>
      <vt:lpstr>EECS 489 Computer Networks  Winter 2025</vt:lpstr>
      <vt:lpstr>Agenda</vt:lpstr>
      <vt:lpstr>Recap</vt:lpstr>
      <vt:lpstr>CC Implementation</vt:lpstr>
      <vt:lpstr>Event: ACK (new data)</vt:lpstr>
      <vt:lpstr>Event: ACK (new data)</vt:lpstr>
      <vt:lpstr>Event: TimeOut</vt:lpstr>
      <vt:lpstr>AIMD leads to TCP sawtooth</vt:lpstr>
      <vt:lpstr>CC Implementation (cont.)</vt:lpstr>
      <vt:lpstr>Event: dupACK</vt:lpstr>
      <vt:lpstr>Example</vt:lpstr>
      <vt:lpstr>Why AIMD?</vt:lpstr>
      <vt:lpstr>AIMD is fair and efficient</vt:lpstr>
      <vt:lpstr>Not done yet!</vt:lpstr>
      <vt:lpstr>Example</vt:lpstr>
      <vt:lpstr>Timeline: [101, 102, …, 110]</vt:lpstr>
      <vt:lpstr>Solution: Fast recovery</vt:lpstr>
      <vt:lpstr>Example</vt:lpstr>
      <vt:lpstr>Timeline: [101, 102, …, 110]</vt:lpstr>
      <vt:lpstr> TCP state machine</vt:lpstr>
      <vt:lpstr>Timeouts ➔ Slow Start</vt:lpstr>
      <vt:lpstr>dupACKs ➔ Fast Recovery</vt:lpstr>
      <vt:lpstr>New ACK changes state ONLY from Fast Recovery</vt:lpstr>
      <vt:lpstr> TCP state machine</vt:lpstr>
      <vt:lpstr>TCP flavors </vt:lpstr>
      <vt:lpstr>How can they coexist? </vt:lpstr>
      <vt:lpstr>5-minute break!</vt:lpstr>
      <vt:lpstr>TCP Throughput Equation</vt:lpstr>
      <vt:lpstr>A simple model for TCP throughput</vt:lpstr>
      <vt:lpstr>A simple model for TCP throughput</vt:lpstr>
      <vt:lpstr>Implications (1):  Different RTTs</vt:lpstr>
      <vt:lpstr>Implications (2):  High-speed TCP</vt:lpstr>
      <vt:lpstr>Implications (3):  Rate-based CC</vt:lpstr>
      <vt:lpstr>Implications (4):  Loss not due to congestion?</vt:lpstr>
      <vt:lpstr>Implications (5):  Short flows cannot ramp up</vt:lpstr>
      <vt:lpstr>Implications (6):  Short flows share long delays</vt:lpstr>
      <vt:lpstr>Implications (7):  Cheating</vt:lpstr>
      <vt:lpstr>Implications (7):  Cheating</vt:lpstr>
      <vt:lpstr>Implications (7):  Cheating</vt:lpstr>
      <vt:lpstr>Open many connections</vt:lpstr>
      <vt:lpstr>Implications (8):  CC intertwined with reliability</vt:lpstr>
      <vt:lpstr>Recap: TCP problems</vt:lpstr>
      <vt:lpstr>Summary</vt:lpstr>
      <vt:lpstr>PowerPoint Presentation</vt:lpstr>
      <vt:lpstr>Adapting TCP to high speed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1253</cp:revision>
  <cp:lastPrinted>1999-09-08T17:25:07Z</cp:lastPrinted>
  <dcterms:created xsi:type="dcterms:W3CDTF">2014-01-14T18:15:50Z</dcterms:created>
  <dcterms:modified xsi:type="dcterms:W3CDTF">2025-02-06T04:01:07Z</dcterms:modified>
  <cp:category/>
</cp:coreProperties>
</file>