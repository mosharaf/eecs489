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07"/>
  </p:notesMasterIdLst>
  <p:handoutMasterIdLst>
    <p:handoutMasterId r:id="rId108"/>
  </p:handoutMasterIdLst>
  <p:sldIdLst>
    <p:sldId id="258" r:id="rId2"/>
    <p:sldId id="487" r:id="rId3"/>
    <p:sldId id="626" r:id="rId4"/>
    <p:sldId id="490" r:id="rId5"/>
    <p:sldId id="484" r:id="rId6"/>
    <p:sldId id="486" r:id="rId7"/>
    <p:sldId id="493" r:id="rId8"/>
    <p:sldId id="485" r:id="rId9"/>
    <p:sldId id="503" r:id="rId10"/>
    <p:sldId id="504" r:id="rId11"/>
    <p:sldId id="506" r:id="rId12"/>
    <p:sldId id="632" r:id="rId13"/>
    <p:sldId id="508" r:id="rId14"/>
    <p:sldId id="509" r:id="rId15"/>
    <p:sldId id="510" r:id="rId16"/>
    <p:sldId id="629" r:id="rId17"/>
    <p:sldId id="636" r:id="rId18"/>
    <p:sldId id="637" r:id="rId19"/>
    <p:sldId id="516" r:id="rId20"/>
    <p:sldId id="517" r:id="rId21"/>
    <p:sldId id="492" r:id="rId22"/>
    <p:sldId id="635" r:id="rId23"/>
    <p:sldId id="640" r:id="rId24"/>
    <p:sldId id="542" r:id="rId25"/>
    <p:sldId id="540" r:id="rId26"/>
    <p:sldId id="519" r:id="rId27"/>
    <p:sldId id="543" r:id="rId28"/>
    <p:sldId id="546" r:id="rId29"/>
    <p:sldId id="563" r:id="rId30"/>
    <p:sldId id="559" r:id="rId31"/>
    <p:sldId id="560" r:id="rId32"/>
    <p:sldId id="561" r:id="rId33"/>
    <p:sldId id="562" r:id="rId34"/>
    <p:sldId id="544" r:id="rId35"/>
    <p:sldId id="498" r:id="rId36"/>
    <p:sldId id="627" r:id="rId37"/>
    <p:sldId id="567" r:id="rId38"/>
    <p:sldId id="568" r:id="rId39"/>
    <p:sldId id="569" r:id="rId40"/>
    <p:sldId id="572" r:id="rId41"/>
    <p:sldId id="573" r:id="rId42"/>
    <p:sldId id="575" r:id="rId43"/>
    <p:sldId id="576" r:id="rId44"/>
    <p:sldId id="577" r:id="rId45"/>
    <p:sldId id="582" r:id="rId46"/>
    <p:sldId id="583" r:id="rId47"/>
    <p:sldId id="584" r:id="rId48"/>
    <p:sldId id="585" r:id="rId49"/>
    <p:sldId id="586" r:id="rId50"/>
    <p:sldId id="587" r:id="rId51"/>
    <p:sldId id="588" r:id="rId52"/>
    <p:sldId id="589" r:id="rId53"/>
    <p:sldId id="592" r:id="rId54"/>
    <p:sldId id="594" r:id="rId55"/>
    <p:sldId id="595" r:id="rId56"/>
    <p:sldId id="596" r:id="rId57"/>
    <p:sldId id="603" r:id="rId58"/>
    <p:sldId id="625" r:id="rId59"/>
    <p:sldId id="605" r:id="rId60"/>
    <p:sldId id="606" r:id="rId61"/>
    <p:sldId id="607" r:id="rId62"/>
    <p:sldId id="604" r:id="rId63"/>
    <p:sldId id="597" r:id="rId64"/>
    <p:sldId id="623" r:id="rId65"/>
    <p:sldId id="608" r:id="rId66"/>
    <p:sldId id="609" r:id="rId67"/>
    <p:sldId id="610" r:id="rId68"/>
    <p:sldId id="611" r:id="rId69"/>
    <p:sldId id="612" r:id="rId70"/>
    <p:sldId id="613" r:id="rId71"/>
    <p:sldId id="614" r:id="rId72"/>
    <p:sldId id="615" r:id="rId73"/>
    <p:sldId id="616" r:id="rId74"/>
    <p:sldId id="617" r:id="rId75"/>
    <p:sldId id="618" r:id="rId76"/>
    <p:sldId id="619" r:id="rId77"/>
    <p:sldId id="620" r:id="rId78"/>
    <p:sldId id="621" r:id="rId79"/>
    <p:sldId id="622" r:id="rId80"/>
    <p:sldId id="630" r:id="rId81"/>
    <p:sldId id="628" r:id="rId82"/>
    <p:sldId id="547" r:id="rId83"/>
    <p:sldId id="548" r:id="rId84"/>
    <p:sldId id="549" r:id="rId85"/>
    <p:sldId id="550" r:id="rId86"/>
    <p:sldId id="551" r:id="rId87"/>
    <p:sldId id="552" r:id="rId88"/>
    <p:sldId id="553" r:id="rId89"/>
    <p:sldId id="554" r:id="rId90"/>
    <p:sldId id="564" r:id="rId91"/>
    <p:sldId id="555" r:id="rId92"/>
    <p:sldId id="556" r:id="rId93"/>
    <p:sldId id="557" r:id="rId94"/>
    <p:sldId id="631" r:id="rId95"/>
    <p:sldId id="500" r:id="rId96"/>
    <p:sldId id="501" r:id="rId97"/>
    <p:sldId id="641" r:id="rId98"/>
    <p:sldId id="600" r:id="rId99"/>
    <p:sldId id="633" r:id="rId100"/>
    <p:sldId id="634" r:id="rId101"/>
    <p:sldId id="638" r:id="rId102"/>
    <p:sldId id="598" r:id="rId103"/>
    <p:sldId id="599" r:id="rId104"/>
    <p:sldId id="639" r:id="rId105"/>
    <p:sldId id="601" r:id="rId10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1"/>
    <p:restoredTop sz="96197"/>
  </p:normalViewPr>
  <p:slideViewPr>
    <p:cSldViewPr>
      <p:cViewPr>
        <p:scale>
          <a:sx n="119" d="100"/>
          <a:sy n="119" d="100"/>
        </p:scale>
        <p:origin x="15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netlivestats.com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8413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4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36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hape 10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890" name="Shape 10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3177508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098502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hape 24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4034" name="Shape 24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2291151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25703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5822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15584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https://www.internetlivestats.com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37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58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6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5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64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/>
          <a:p>
            <a:r>
              <a:rPr lang="en-US">
                <a:ea typeface="ＭＳ Ｐゴシック" charset="0"/>
                <a:cs typeface="ＭＳ Ｐゴシック" charset="0"/>
              </a:rPr>
              <a:t>Row vs column</a:t>
            </a:r>
          </a:p>
        </p:txBody>
      </p:sp>
      <p:sp>
        <p:nvSpPr>
          <p:cNvPr id="106499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896610A-824C-E640-895C-51CF8E6845E5}" type="slidenum">
              <a:rPr lang="en-US" sz="1200" b="0">
                <a:latin typeface="Times New Roman" charset="0"/>
              </a:rPr>
              <a:pPr eaLnBrk="1" hangingPunct="1"/>
              <a:t>55</a:t>
            </a:fld>
            <a:endParaRPr lang="en-US" sz="12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895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8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0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Shape 9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77" name="Shape 9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3439665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85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66769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01" name="Shape 5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7732268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5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27" name="Shape 5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2200" dirty="0"/>
              <a:t>DSLAM: Digital</a:t>
            </a:r>
            <a:r>
              <a:rPr lang="en-US" sz="2200" baseline="0" dirty="0"/>
              <a:t> Subscriber Line Access Multiplexer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723331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33" name="Shape 5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96700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078043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47" name="Shape 6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2200" dirty="0"/>
              <a:t>CMTS: Cable</a:t>
            </a:r>
            <a:r>
              <a:rPr lang="en-US" sz="2200" baseline="0" dirty="0"/>
              <a:t> Modem Termination System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3057930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6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695" name="Shape 6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37690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34710407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7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84" name="Shape 7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5181469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78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90" name="Shape 7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376240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Shape 79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96" name="Shape 7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6072640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Shape 127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75" name="Shape 127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806803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853736-755B-554A-9366-004E68471B24}" type="slidenum">
              <a:rPr lang="en-US" sz="1200" b="0">
                <a:latin typeface="Times New Roman" charset="0"/>
              </a:rPr>
              <a:pPr eaLnBrk="1" hangingPunct="1"/>
              <a:t>83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440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4C4FE38-6329-B04C-BCBE-FB1D65C42D43}" type="slidenum">
              <a:rPr lang="en-US" sz="1200" b="0">
                <a:latin typeface="Times New Roman" charset="0"/>
              </a:rPr>
              <a:pPr eaLnBrk="1" hangingPunct="1"/>
              <a:t>84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82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8BE3C76-D595-8D46-A91B-86F5BF7B1C89}" type="slidenum">
              <a:rPr lang="en-US" sz="1200" b="0">
                <a:latin typeface="Times New Roman" charset="0"/>
              </a:rPr>
              <a:pPr eaLnBrk="1" hangingPunct="1"/>
              <a:t>85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952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558521-12D8-B245-8229-7FDFF185F9C1}" type="slidenum">
              <a:rPr lang="en-US" sz="1200" b="0">
                <a:latin typeface="Times New Roman" charset="0"/>
              </a:rPr>
              <a:pPr eaLnBrk="1" hangingPunct="1"/>
              <a:t>86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6546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16304B0-336D-0845-BF35-1E49F82C2A99}" type="slidenum">
              <a:rPr lang="en-US" sz="1200" b="0">
                <a:latin typeface="Times New Roman" charset="0"/>
              </a:rPr>
              <a:pPr eaLnBrk="1" hangingPunct="1"/>
              <a:t>87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2709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B2A70AA-1ECE-264E-8176-899DBEDF86AA}" type="slidenum">
              <a:rPr lang="en-US" sz="1200" b="0">
                <a:latin typeface="Times New Roman" charset="0"/>
              </a:rPr>
              <a:pPr eaLnBrk="1" hangingPunct="1"/>
              <a:t>88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077" tIns="45539" rIns="91077" bIns="45539"/>
          <a:lstStyle/>
          <a:p>
            <a:pPr defTabSz="85592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0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6E34E85-D807-6D41-8AC9-35115CB73774}" type="slidenum">
              <a:rPr lang="en-US" sz="1200" b="0">
                <a:latin typeface="Times New Roman" charset="0"/>
              </a:rPr>
              <a:pPr eaLnBrk="1" hangingPunct="1"/>
              <a:t>89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077" tIns="45539" rIns="91077" bIns="45539"/>
          <a:lstStyle/>
          <a:p>
            <a:pPr defTabSz="855921"/>
            <a:r>
              <a:rPr lang="en-US">
                <a:ea typeface="ＭＳ Ｐゴシック" charset="0"/>
                <a:cs typeface="ＭＳ Ｐゴシック" charset="0"/>
              </a:rPr>
              <a:t>Why the delays in the first pass of the establishment, but not in subsequent passes (or in teardown)?</a:t>
            </a:r>
          </a:p>
        </p:txBody>
      </p:sp>
    </p:spTree>
    <p:extLst>
      <p:ext uri="{BB962C8B-B14F-4D97-AF65-F5344CB8AC3E}">
        <p14:creationId xmlns:p14="http://schemas.microsoft.com/office/powerpoint/2010/main" val="18367559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6E34E85-D807-6D41-8AC9-35115CB73774}" type="slidenum">
              <a:rPr lang="en-US" sz="1200" b="0">
                <a:latin typeface="Times New Roman" charset="0"/>
              </a:rPr>
              <a:pPr eaLnBrk="1" hangingPunct="1"/>
              <a:t>90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077" tIns="45539" rIns="91077" bIns="45539"/>
          <a:lstStyle/>
          <a:p>
            <a:pPr defTabSz="855921"/>
            <a:r>
              <a:rPr lang="en-US">
                <a:ea typeface="ＭＳ Ｐゴシック" charset="0"/>
                <a:cs typeface="ＭＳ Ｐゴシック" charset="0"/>
              </a:rPr>
              <a:t>Why the delays in the first pass of the establishment, but not in subsequent passes (or in teardown)?</a:t>
            </a:r>
          </a:p>
        </p:txBody>
      </p:sp>
    </p:spTree>
    <p:extLst>
      <p:ext uri="{BB962C8B-B14F-4D97-AF65-F5344CB8AC3E}">
        <p14:creationId xmlns:p14="http://schemas.microsoft.com/office/powerpoint/2010/main" val="15171139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A9210E-846A-734B-9296-5410C62C894F}" type="slidenum">
              <a:rPr lang="en-US" sz="1200" b="0">
                <a:latin typeface="Times New Roman" charset="0"/>
              </a:rPr>
              <a:pPr eaLnBrk="1" hangingPunct="1"/>
              <a:t>91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077" tIns="45539" rIns="91077" bIns="45539"/>
          <a:lstStyle/>
          <a:p>
            <a:pPr defTabSz="855921"/>
            <a:r>
              <a:rPr lang="en-US">
                <a:ea typeface="ＭＳ Ｐゴシック" charset="0"/>
                <a:cs typeface="ＭＳ Ｐゴシック" charset="0"/>
              </a:rPr>
              <a:t>Why the delays in the first pass of the establishment, but not in subsequent passes (or in teardown)?</a:t>
            </a:r>
          </a:p>
        </p:txBody>
      </p:sp>
    </p:spTree>
    <p:extLst>
      <p:ext uri="{BB962C8B-B14F-4D97-AF65-F5344CB8AC3E}">
        <p14:creationId xmlns:p14="http://schemas.microsoft.com/office/powerpoint/2010/main" val="37263157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BE86E8E-9C73-A345-8861-F87B1D852876}" type="slidenum">
              <a:rPr lang="en-US" sz="1200" b="0">
                <a:latin typeface="Times New Roman" charset="0"/>
              </a:rPr>
              <a:pPr eaLnBrk="1" hangingPunct="1"/>
              <a:t>92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077" tIns="45539" rIns="91077" bIns="45539"/>
          <a:lstStyle/>
          <a:p>
            <a:pPr defTabSz="855921"/>
            <a:r>
              <a:rPr lang="en-US" dirty="0">
                <a:ea typeface="ＭＳ Ｐゴシック" charset="0"/>
                <a:cs typeface="ＭＳ Ｐゴシック" charset="0"/>
              </a:rPr>
              <a:t>Why the delays in the first pass of the establishment, but not in subsequent passes (or in teardown)?</a:t>
            </a:r>
          </a:p>
        </p:txBody>
      </p:sp>
    </p:spTree>
    <p:extLst>
      <p:ext uri="{BB962C8B-B14F-4D97-AF65-F5344CB8AC3E}">
        <p14:creationId xmlns:p14="http://schemas.microsoft.com/office/powerpoint/2010/main" val="34104782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CF55224C-F64D-7F42-B37C-56E1D94BD4EE}" type="slidenum">
              <a:rPr lang="en-US" sz="1200" b="0">
                <a:latin typeface="Times New Roman" charset="0"/>
              </a:rPr>
              <a:pPr eaLnBrk="1" hangingPunct="1"/>
              <a:t>93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679450"/>
            <a:ext cx="4629150" cy="3471863"/>
          </a:xfrm>
          <a:solidFill>
            <a:srgbClr val="FFFFFF"/>
          </a:solidFill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378477"/>
            <a:ext cx="5034856" cy="4074584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077" tIns="45539" rIns="91077" bIns="45539"/>
          <a:lstStyle/>
          <a:p>
            <a:pPr defTabSz="855921"/>
            <a:r>
              <a:rPr lang="en-US">
                <a:ea typeface="ＭＳ Ｐゴシック" charset="0"/>
                <a:cs typeface="ＭＳ Ｐゴシック" charset="0"/>
              </a:rPr>
              <a:t>Why the delays in the first pass of the establishment, but not in subsequent passes (or in teardown)?</a:t>
            </a:r>
          </a:p>
        </p:txBody>
      </p:sp>
    </p:spTree>
    <p:extLst>
      <p:ext uri="{BB962C8B-B14F-4D97-AF65-F5344CB8AC3E}">
        <p14:creationId xmlns:p14="http://schemas.microsoft.com/office/powerpoint/2010/main" val="42177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January 8,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Class policies, logistics, and roadmap</a:t>
            </a:r>
          </a:p>
          <a:p>
            <a:r>
              <a:rPr lang="en-US" dirty="0"/>
              <a:t>Overview of the basics</a:t>
            </a:r>
          </a:p>
          <a:p>
            <a:pPr lvl="1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How do we evaluate a network?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What is a network made of?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7F12BF-C03B-0F4B-A29D-927C4D53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4D5F6-EA2B-8FDD-C5DF-BB3A1921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E7D52C-051C-2A4B-8C9B-D0BCC249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0D0C-1F49-D048-BBDF-A5B95899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96F5-ADD7-334F-8F42-9C210965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63604D26-EB3E-A543-8E4D-2D8AEED49775}"/>
              </a:ext>
            </a:extLst>
          </p:cNvPr>
          <p:cNvSpPr txBox="1">
            <a:spLocks/>
          </p:cNvSpPr>
          <p:nvPr/>
        </p:nvSpPr>
        <p:spPr bwMode="auto">
          <a:xfrm>
            <a:off x="914400" y="5334000"/>
            <a:ext cx="7315200" cy="914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1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18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5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>
                <a:solidFill>
                  <a:srgbClr val="0000FF"/>
                </a:solidFill>
              </a:rPr>
              <a:t>Office hours: See course webpage</a:t>
            </a:r>
          </a:p>
          <a:p>
            <a:r>
              <a:rPr lang="en-US" b="0" kern="0" dirty="0">
                <a:solidFill>
                  <a:srgbClr val="0000FF"/>
                </a:solidFill>
              </a:rPr>
              <a:t>No office hours this week or discussions this week</a:t>
            </a:r>
          </a:p>
        </p:txBody>
      </p:sp>
      <p:pic>
        <p:nvPicPr>
          <p:cNvPr id="8" name="Picture 7" descr="A person in a suit and tie&#10;&#10;Description automatically generated">
            <a:extLst>
              <a:ext uri="{FF2B5EF4-FFF2-40B4-BE49-F238E27FC236}">
                <a16:creationId xmlns:a16="http://schemas.microsoft.com/office/drawing/2014/main" id="{C0F0CFD9-15F0-3420-407B-AC04EF313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" r="5240"/>
          <a:stretch/>
        </p:blipFill>
        <p:spPr>
          <a:xfrm>
            <a:off x="6370319" y="1752600"/>
            <a:ext cx="2468881" cy="2468880"/>
          </a:xfrm>
          <a:prstGeom prst="rect">
            <a:avLst/>
          </a:prstGeom>
        </p:spPr>
      </p:pic>
      <p:pic>
        <p:nvPicPr>
          <p:cNvPr id="16" name="Picture 15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0BD01B29-7512-DB68-E500-CC99B2F49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6" t="11905" r="12003" b="11905"/>
          <a:stretch/>
        </p:blipFill>
        <p:spPr>
          <a:xfrm>
            <a:off x="3337559" y="1752600"/>
            <a:ext cx="2468881" cy="2468880"/>
          </a:xfrm>
          <a:prstGeom prst="rect">
            <a:avLst/>
          </a:prstGeom>
        </p:spPr>
      </p:pic>
      <p:pic>
        <p:nvPicPr>
          <p:cNvPr id="20" name="Picture 19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1C907BA8-575F-5195-21B7-D0E7BDBDA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2468880" cy="24688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62D07AF-32C0-034F-A9E5-05772D27FF15}"/>
              </a:ext>
            </a:extLst>
          </p:cNvPr>
          <p:cNvSpPr txBox="1"/>
          <p:nvPr/>
        </p:nvSpPr>
        <p:spPr>
          <a:xfrm>
            <a:off x="734372" y="4439186"/>
            <a:ext cx="1609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Aditya </a:t>
            </a:r>
            <a:r>
              <a:rPr lang="en-US" dirty="0" err="1"/>
              <a:t>Singhvi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6A05F-6226-3C3F-4470-12736AA87FFF}"/>
              </a:ext>
            </a:extLst>
          </p:cNvPr>
          <p:cNvSpPr txBox="1"/>
          <p:nvPr/>
        </p:nvSpPr>
        <p:spPr>
          <a:xfrm>
            <a:off x="3987544" y="4439186"/>
            <a:ext cx="1168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Efe Akinci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076BC-B8A2-A58D-2966-1F8E3DDD68D2}"/>
              </a:ext>
            </a:extLst>
          </p:cNvPr>
          <p:cNvSpPr txBox="1"/>
          <p:nvPr/>
        </p:nvSpPr>
        <p:spPr>
          <a:xfrm>
            <a:off x="6684475" y="4439186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Alex de la Iglesia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59537A4-DC57-D1C6-1662-B7AA6060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Mosharaf Chowdhury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@Michigan since 2016</a:t>
            </a:r>
          </a:p>
          <a:p>
            <a:r>
              <a:rPr lang="en-US" sz="2400" dirty="0"/>
              <a:t>Research: </a:t>
            </a:r>
            <a:r>
              <a:rPr lang="en-US" sz="2400" dirty="0" err="1"/>
              <a:t>SymbioticLab.org</a:t>
            </a:r>
            <a:endParaRPr lang="en-US" sz="2400" dirty="0"/>
          </a:p>
          <a:p>
            <a:endParaRPr lang="en-US" dirty="0"/>
          </a:p>
          <a:p>
            <a:r>
              <a:rPr lang="en-US" sz="2400" dirty="0">
                <a:solidFill>
                  <a:srgbClr val="0000FF"/>
                </a:solidFill>
              </a:rPr>
              <a:t>Office hours: Thursdays 2:45PM – 3:45PM (in-person @ 4820 BBB)</a:t>
            </a:r>
            <a:endParaRPr lang="en-US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No office hours this week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Lectures will be recorded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0575F0-EA35-C249-A48C-E13190DC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pic>
        <p:nvPicPr>
          <p:cNvPr id="8" name="Picture 7" descr="A person smiling for the picture&#10;&#10;Description automatically generated with medium confidence">
            <a:extLst>
              <a:ext uri="{FF2B5EF4-FFF2-40B4-BE49-F238E27FC236}">
                <a16:creationId xmlns:a16="http://schemas.microsoft.com/office/drawing/2014/main" id="{2C16D324-418E-2B4B-AD03-2E6BC00FD2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182671"/>
            <a:ext cx="2286000" cy="2286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7182C-2FD1-71D6-14CC-AF7B5DA2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489 in EECS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EECS 281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High-level logic ⇒ Programs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Coding skills learned in 281 are critical for 489 assignments</a:t>
            </a:r>
          </a:p>
          <a:p>
            <a:r>
              <a:rPr lang="en-US" i="1" dirty="0">
                <a:solidFill>
                  <a:srgbClr val="0000FF"/>
                </a:solidFill>
              </a:rPr>
              <a:t>EECS 482</a:t>
            </a:r>
          </a:p>
          <a:p>
            <a:pPr lvl="1"/>
            <a:r>
              <a:rPr lang="en-US" dirty="0"/>
              <a:t>How do machines work?</a:t>
            </a:r>
          </a:p>
          <a:p>
            <a:pPr lvl="1"/>
            <a:r>
              <a:rPr lang="en-US" dirty="0"/>
              <a:t>Execute programs, interact with users, etc.</a:t>
            </a:r>
          </a:p>
          <a:p>
            <a:pPr lvl="1"/>
            <a:r>
              <a:rPr lang="en-US" dirty="0"/>
              <a:t>Prior 482 experience is not needed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46DEA2-868F-0B46-AF03-5A21A2A0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7017-AA62-A31A-3AC5-04989E15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9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missing?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How do we access </a:t>
            </a:r>
            <a:r>
              <a:rPr lang="en-US" i="1" dirty="0">
                <a:solidFill>
                  <a:srgbClr val="0000FF"/>
                </a:solidFill>
              </a:rPr>
              <a:t>most</a:t>
            </a:r>
            <a:r>
              <a:rPr lang="en-US" dirty="0">
                <a:solidFill>
                  <a:srgbClr val="0000FF"/>
                </a:solidFill>
              </a:rPr>
              <a:t> services?</a:t>
            </a:r>
          </a:p>
          <a:p>
            <a:pPr lvl="1"/>
            <a:r>
              <a:rPr lang="en-US" dirty="0"/>
              <a:t>Examples include search engines, social networks, video streaming, etc.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How do two machines communicate?</a:t>
            </a:r>
          </a:p>
          <a:p>
            <a:pPr lvl="1"/>
            <a:r>
              <a:rPr lang="en-US" dirty="0"/>
              <a:t>When they are directly connected</a:t>
            </a:r>
          </a:p>
          <a:p>
            <a:pPr lvl="1"/>
            <a:r>
              <a:rPr lang="en-US" dirty="0"/>
              <a:t>When they are not directly connected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Using a network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C3207E-C900-164A-B99B-3C0EEB7F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41364-5829-8514-F48B-552C8AB2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is a network?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 of “links” that interconnect “nodes” in order to move “information” between nodes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We will focus primarily on the Internet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4038600" y="3124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33528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038600" y="47244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482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257800" y="4267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257800" y="3505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67000" y="32766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6670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667000" y="44958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853" name="Straight Connector 14"/>
          <p:cNvCxnSpPr>
            <a:cxnSpLocks noChangeShapeType="1"/>
            <a:stCxn id="11" idx="5"/>
            <a:endCxn id="5" idx="1"/>
          </p:cNvCxnSpPr>
          <p:nvPr/>
        </p:nvCxnSpPr>
        <p:spPr bwMode="auto">
          <a:xfrm>
            <a:off x="2927350" y="35369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traight Connector 15"/>
          <p:cNvCxnSpPr>
            <a:cxnSpLocks noChangeShapeType="1"/>
            <a:stCxn id="12" idx="6"/>
            <a:endCxn id="5" idx="2"/>
          </p:cNvCxnSpPr>
          <p:nvPr/>
        </p:nvCxnSpPr>
        <p:spPr bwMode="auto">
          <a:xfrm>
            <a:off x="29718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Straight Connector 18"/>
          <p:cNvCxnSpPr>
            <a:cxnSpLocks noChangeShapeType="1"/>
            <a:stCxn id="13" idx="7"/>
            <a:endCxn id="5" idx="3"/>
          </p:cNvCxnSpPr>
          <p:nvPr/>
        </p:nvCxnSpPr>
        <p:spPr bwMode="auto">
          <a:xfrm flipV="1">
            <a:off x="2927350" y="41465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Straight Connector 21"/>
          <p:cNvCxnSpPr>
            <a:cxnSpLocks noChangeShapeType="1"/>
            <a:stCxn id="6" idx="0"/>
            <a:endCxn id="7" idx="4"/>
          </p:cNvCxnSpPr>
          <p:nvPr/>
        </p:nvCxnSpPr>
        <p:spPr bwMode="auto">
          <a:xfrm flipV="1">
            <a:off x="41910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Straight Connector 24"/>
          <p:cNvCxnSpPr>
            <a:cxnSpLocks noChangeShapeType="1"/>
            <a:stCxn id="7" idx="0"/>
            <a:endCxn id="4" idx="4"/>
          </p:cNvCxnSpPr>
          <p:nvPr/>
        </p:nvCxnSpPr>
        <p:spPr bwMode="auto">
          <a:xfrm flipV="1">
            <a:off x="4191000" y="34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Straight Connector 28"/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36576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Connector 32"/>
          <p:cNvCxnSpPr>
            <a:cxnSpLocks noChangeShapeType="1"/>
            <a:stCxn id="8" idx="2"/>
            <a:endCxn id="7" idx="6"/>
          </p:cNvCxnSpPr>
          <p:nvPr/>
        </p:nvCxnSpPr>
        <p:spPr bwMode="auto">
          <a:xfrm flipH="1">
            <a:off x="4343400" y="4038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Straight Connector 35"/>
          <p:cNvCxnSpPr>
            <a:cxnSpLocks noChangeShapeType="1"/>
            <a:stCxn id="8" idx="7"/>
            <a:endCxn id="10" idx="3"/>
          </p:cNvCxnSpPr>
          <p:nvPr/>
        </p:nvCxnSpPr>
        <p:spPr bwMode="auto">
          <a:xfrm flipV="1">
            <a:off x="4908550" y="3765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Straight Connector 38"/>
          <p:cNvCxnSpPr>
            <a:cxnSpLocks noChangeShapeType="1"/>
            <a:stCxn id="8" idx="5"/>
            <a:endCxn id="9" idx="1"/>
          </p:cNvCxnSpPr>
          <p:nvPr/>
        </p:nvCxnSpPr>
        <p:spPr bwMode="auto">
          <a:xfrm>
            <a:off x="4908550" y="4146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Straight Connector 47"/>
          <p:cNvCxnSpPr>
            <a:cxnSpLocks noChangeShapeType="1"/>
            <a:stCxn id="5" idx="7"/>
            <a:endCxn id="4" idx="3"/>
          </p:cNvCxnSpPr>
          <p:nvPr/>
        </p:nvCxnSpPr>
        <p:spPr bwMode="auto">
          <a:xfrm flipV="1">
            <a:off x="3613150" y="3384550"/>
            <a:ext cx="4699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Straight Connector 50"/>
          <p:cNvCxnSpPr>
            <a:cxnSpLocks noChangeShapeType="1"/>
            <a:stCxn id="5" idx="5"/>
            <a:endCxn id="6" idx="1"/>
          </p:cNvCxnSpPr>
          <p:nvPr/>
        </p:nvCxnSpPr>
        <p:spPr bwMode="auto">
          <a:xfrm>
            <a:off x="3613150" y="4146550"/>
            <a:ext cx="4699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4" name="Straight Connector 52"/>
          <p:cNvCxnSpPr>
            <a:cxnSpLocks noChangeShapeType="1"/>
            <a:stCxn id="4" idx="5"/>
            <a:endCxn id="8" idx="1"/>
          </p:cNvCxnSpPr>
          <p:nvPr/>
        </p:nvCxnSpPr>
        <p:spPr bwMode="auto">
          <a:xfrm>
            <a:off x="4298950" y="3384550"/>
            <a:ext cx="3937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F8EB5-9854-0A42-A915-32B0FE4D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4AC8B10-45A8-EF40-BD70-81A7D47B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EECS 489 about?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about (at a high level)</a:t>
            </a:r>
          </a:p>
          <a:p>
            <a:pPr lvl="1"/>
            <a:r>
              <a:rPr lang="en-US" dirty="0"/>
              <a:t>How the Internet works</a:t>
            </a:r>
          </a:p>
          <a:p>
            <a:pPr lvl="1"/>
            <a:r>
              <a:rPr lang="en-US" dirty="0"/>
              <a:t>Why it works the way it does</a:t>
            </a:r>
          </a:p>
          <a:p>
            <a:pPr lvl="1"/>
            <a:r>
              <a:rPr lang="en-US" dirty="0"/>
              <a:t>How to reason about complicated design problems</a:t>
            </a:r>
          </a:p>
          <a:p>
            <a:endParaRPr lang="en-US" dirty="0"/>
          </a:p>
          <a:p>
            <a:r>
              <a:rPr lang="en-US" dirty="0"/>
              <a:t>What it’s not about</a:t>
            </a:r>
          </a:p>
          <a:p>
            <a:pPr lvl="1"/>
            <a:r>
              <a:rPr lang="en-US" dirty="0"/>
              <a:t>How to write web services</a:t>
            </a:r>
          </a:p>
          <a:p>
            <a:pPr lvl="1"/>
            <a:r>
              <a:rPr lang="en-US" dirty="0"/>
              <a:t>How to design web pages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F2EDA9-7AA4-034B-AB95-6C7A91A3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0EBA8-194C-C0BD-CCCF-FFC74457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4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workload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assignments/projects</a:t>
            </a:r>
          </a:p>
          <a:p>
            <a:pPr lvl="1"/>
            <a:r>
              <a:rPr lang="en-US" dirty="0"/>
              <a:t>First one is an individual assignment</a:t>
            </a:r>
          </a:p>
          <a:p>
            <a:pPr lvl="1"/>
            <a:r>
              <a:rPr lang="en-US" dirty="0"/>
              <a:t>The rest are done as groups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dirty="0"/>
              <a:t>Exams:</a:t>
            </a:r>
          </a:p>
          <a:p>
            <a:pPr lvl="1"/>
            <a:r>
              <a:rPr lang="en-US" dirty="0"/>
              <a:t>Midterm: Week of February 24 (</a:t>
            </a:r>
            <a:r>
              <a:rPr lang="en-US" dirty="0">
                <a:solidFill>
                  <a:srgbClr val="0000FF"/>
                </a:solidFill>
              </a:rPr>
              <a:t>TBD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Final: April 29, 1:30 PM – 3:30 PM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Final covers only the materials after midterm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28CA7C-B5D3-0245-8D12-F8040B58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7452A6-6E64-1940-7956-AE170D60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438604"/>
              </p:ext>
            </p:extLst>
          </p:nvPr>
        </p:nvGraphicFramePr>
        <p:xfrm>
          <a:off x="685800" y="1600200"/>
          <a:ext cx="7924800" cy="414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1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2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3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4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Midterm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Bonus Quizzes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06187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901FD-E0E6-8541-BF4F-0E52F2EA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3512C-1811-A545-AD5E-A11B96EA23EE}"/>
              </a:ext>
            </a:extLst>
          </p:cNvPr>
          <p:cNvSpPr/>
          <p:nvPr/>
        </p:nvSpPr>
        <p:spPr bwMode="auto">
          <a:xfrm>
            <a:off x="685800" y="5181600"/>
            <a:ext cx="79248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16CCD3-AC90-D101-05F9-0502B506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Assignment 1:</a:t>
            </a:r>
            <a:r>
              <a:rPr lang="en-US" dirty="0"/>
              <a:t> measure end-to-end throughput and delay of networks (i.e., simple speed test)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2:</a:t>
            </a:r>
            <a:r>
              <a:rPr lang="en-US" dirty="0"/>
              <a:t> video streaming from CDNs (i.e., simple Netflix)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3:</a:t>
            </a:r>
            <a:r>
              <a:rPr lang="en-US" dirty="0"/>
              <a:t> reliable transport (i.e., how to transfer data over an unreliable network)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4:</a:t>
            </a:r>
            <a:r>
              <a:rPr lang="en-US" dirty="0"/>
              <a:t> router design (i.e., how do internal elements of the network work)</a:t>
            </a:r>
            <a:endParaRPr lang="en-US" dirty="0">
              <a:solidFill>
                <a:srgbClr val="0000FF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FF"/>
                </a:solidFill>
              </a:rPr>
              <a:t>All on (emulated) realistic networks using </a:t>
            </a:r>
            <a:r>
              <a:rPr lang="en-US" i="1" dirty="0">
                <a:solidFill>
                  <a:srgbClr val="0000FF"/>
                </a:solidFill>
              </a:rPr>
              <a:t>mininet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B12BB7-B989-A044-B7EB-3CAC4CFE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9B03-C0FF-0228-8CEC-7C3F9BEE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A8D0-6198-E24B-BDCC-32092C03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Quizzes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1CD7C36-E54E-AE4C-AF91-C10BCC1B3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~10 MCQ and solution key for each of the 20 lectures</a:t>
            </a:r>
          </a:p>
          <a:p>
            <a:r>
              <a:rPr lang="en-US" dirty="0">
                <a:solidFill>
                  <a:srgbClr val="0000FF"/>
                </a:solidFill>
              </a:rPr>
              <a:t>Made online sometime after the lecture; live for at least 48 hours</a:t>
            </a:r>
          </a:p>
          <a:p>
            <a:r>
              <a:rPr lang="en-US" dirty="0"/>
              <a:t>Completing all counts for a maximum of </a:t>
            </a:r>
            <a:r>
              <a:rPr lang="en-US" dirty="0">
                <a:solidFill>
                  <a:srgbClr val="0000FF"/>
                </a:solidFill>
              </a:rPr>
              <a:t>2% on top</a:t>
            </a:r>
            <a:r>
              <a:rPr lang="en-US" dirty="0"/>
              <a:t> of your final grade</a:t>
            </a:r>
          </a:p>
          <a:p>
            <a:pPr lvl="1"/>
            <a:r>
              <a:rPr lang="en-US" dirty="0"/>
              <a:t>How well you do doesn’t matter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6280A-E452-1E4C-9CE8-35BBEDE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54C3B-B2F6-AB42-BBD0-5F6AC474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281DCA4-50EC-DA4B-AA05-89C8A5D48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EB9F8D-F1F6-3510-3D55-85BEA353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7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Enrollment and wait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Wait-listed students will be admitted in the order of wait list</a:t>
            </a:r>
          </a:p>
          <a:p>
            <a:endParaRPr lang="en-US" altLang="x-none" dirty="0">
              <a:solidFill>
                <a:srgbClr val="0000FF"/>
              </a:solidFill>
            </a:endParaRPr>
          </a:p>
          <a:p>
            <a:r>
              <a:rPr lang="en-US" altLang="x-none" dirty="0">
                <a:solidFill>
                  <a:srgbClr val="0000FF"/>
                </a:solidFill>
              </a:rPr>
              <a:t>If you</a:t>
            </a:r>
            <a:r>
              <a:rPr lang="en-US" altLang="en-US" dirty="0">
                <a:solidFill>
                  <a:srgbClr val="0000FF"/>
                </a:solidFill>
              </a:rPr>
              <a:t>’</a:t>
            </a:r>
            <a:r>
              <a:rPr lang="en-US" altLang="x-none" dirty="0">
                <a:solidFill>
                  <a:srgbClr val="0000FF"/>
                </a:solidFill>
              </a:rPr>
              <a:t>re planning to drop, please do so soon!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E4051-2BDD-154F-815F-12DD6065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4D76-41A1-A925-9D68-A179109A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3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Website: </a:t>
            </a:r>
            <a:r>
              <a:rPr lang="en-US" dirty="0">
                <a:solidFill>
                  <a:srgbClr val="0000FF"/>
                </a:solidFill>
              </a:rPr>
              <a:t>https://</a:t>
            </a:r>
            <a:r>
              <a:rPr lang="en-US" dirty="0" err="1">
                <a:solidFill>
                  <a:srgbClr val="0000FF"/>
                </a:solidFill>
              </a:rPr>
              <a:t>github.com</a:t>
            </a:r>
            <a:r>
              <a:rPr lang="en-US" dirty="0">
                <a:solidFill>
                  <a:srgbClr val="0000FF"/>
                </a:solidFill>
              </a:rPr>
              <a:t>/</a:t>
            </a:r>
            <a:r>
              <a:rPr lang="en-US" dirty="0" err="1">
                <a:solidFill>
                  <a:srgbClr val="0000FF"/>
                </a:solidFill>
              </a:rPr>
              <a:t>mosharaf</a:t>
            </a:r>
            <a:r>
              <a:rPr lang="en-US" dirty="0">
                <a:solidFill>
                  <a:srgbClr val="0000FF"/>
                </a:solidFill>
              </a:rPr>
              <a:t>/eecs489/</a:t>
            </a:r>
          </a:p>
          <a:p>
            <a:pPr lvl="1"/>
            <a:r>
              <a:rPr lang="en-US" dirty="0"/>
              <a:t>Assignments, lecture slides</a:t>
            </a:r>
          </a:p>
          <a:p>
            <a:r>
              <a:rPr lang="en-US" dirty="0"/>
              <a:t>Confidential content on </a:t>
            </a:r>
            <a:r>
              <a:rPr lang="en-US" dirty="0">
                <a:solidFill>
                  <a:srgbClr val="0000FF"/>
                </a:solidFill>
              </a:rPr>
              <a:t>Canvas </a:t>
            </a:r>
            <a:r>
              <a:rPr lang="en-US" dirty="0"/>
              <a:t>&amp;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Gradescope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Ed for all communication</a:t>
            </a:r>
          </a:p>
          <a:p>
            <a:pPr lvl="1"/>
            <a:r>
              <a:rPr lang="en-US" dirty="0"/>
              <a:t>Sign up at </a:t>
            </a:r>
            <a:r>
              <a:rPr lang="en-US" dirty="0">
                <a:solidFill>
                  <a:srgbClr val="0000FF"/>
                </a:solidFill>
              </a:rPr>
              <a:t>https://</a:t>
            </a:r>
            <a:r>
              <a:rPr lang="en-US" dirty="0" err="1">
                <a:solidFill>
                  <a:srgbClr val="0000FF"/>
                </a:solidFill>
              </a:rPr>
              <a:t>edstem.org</a:t>
            </a:r>
            <a:r>
              <a:rPr lang="en-US" dirty="0">
                <a:solidFill>
                  <a:srgbClr val="0000FF"/>
                </a:solidFill>
              </a:rPr>
              <a:t>/us/join/jwtp2b</a:t>
            </a:r>
          </a:p>
          <a:p>
            <a:endParaRPr lang="en-US" dirty="0"/>
          </a:p>
          <a:p>
            <a:r>
              <a:rPr lang="en-US" dirty="0"/>
              <a:t>Assignment submission via </a:t>
            </a:r>
            <a:r>
              <a:rPr lang="en-US" dirty="0">
                <a:solidFill>
                  <a:srgbClr val="0000FF"/>
                </a:solidFill>
              </a:rPr>
              <a:t>g489.eecs.umich.edu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5F844E-2BBE-7045-A675-03F2CA0C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50BF2-5F30-B42E-314A-8345B99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on late submission, re-grade request, cheating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description in the course webpage</a:t>
            </a:r>
          </a:p>
          <a:p>
            <a:r>
              <a:rPr lang="en-US" altLang="x-none" dirty="0">
                <a:solidFill>
                  <a:srgbClr val="0000FF"/>
                </a:solidFill>
              </a:rPr>
              <a:t>Don’t cheat!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E72AC9-6ACB-F949-AFA4-CC30934A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4ABC0-2C90-B010-6AFF-8073F03A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Internet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46C31-BFB8-185C-BB06-6242C4C5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D9DCD7-B5FF-A826-BD50-643234E1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home…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521B8-7BF1-9789-FC70-96E0CBBF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74FF-3DC3-CDE8-AB52-59CE721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F74AC-80DD-3C56-E551-1A7972EE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Graphic 8" descr="Internet with solid fill">
            <a:extLst>
              <a:ext uri="{FF2B5EF4-FFF2-40B4-BE49-F238E27FC236}">
                <a16:creationId xmlns:a16="http://schemas.microsoft.com/office/drawing/2014/main" id="{415B25F1-E18F-B815-DC88-01D2E2EB6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4518660"/>
            <a:ext cx="914400" cy="914400"/>
          </a:xfrm>
          <a:prstGeom prst="rect">
            <a:avLst/>
          </a:prstGeom>
        </p:spPr>
      </p:pic>
      <p:pic>
        <p:nvPicPr>
          <p:cNvPr id="11" name="Graphic 10" descr="Wireless router with solid fill">
            <a:extLst>
              <a:ext uri="{FF2B5EF4-FFF2-40B4-BE49-F238E27FC236}">
                <a16:creationId xmlns:a16="http://schemas.microsoft.com/office/drawing/2014/main" id="{7EE8A9B2-C8EC-17E2-2F3F-F39271393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6739" y="3276600"/>
            <a:ext cx="914400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DE6FA5-68FF-8561-B278-6841A853EF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630" y="3413760"/>
            <a:ext cx="640080" cy="640080"/>
          </a:xfrm>
          <a:prstGeom prst="rect">
            <a:avLst/>
          </a:prstGeom>
        </p:spPr>
      </p:pic>
      <p:pic>
        <p:nvPicPr>
          <p:cNvPr id="15" name="Graphic 14" descr="Server with solid fill">
            <a:extLst>
              <a:ext uri="{FF2B5EF4-FFF2-40B4-BE49-F238E27FC236}">
                <a16:creationId xmlns:a16="http://schemas.microsoft.com/office/drawing/2014/main" id="{B1F9E876-3250-4A7B-9B59-8FEEA9665C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200" y="3276600"/>
            <a:ext cx="914400" cy="914400"/>
          </a:xfrm>
          <a:prstGeom prst="rect">
            <a:avLst/>
          </a:prstGeom>
        </p:spPr>
      </p:pic>
      <p:pic>
        <p:nvPicPr>
          <p:cNvPr id="17" name="Graphic 16" descr="Phone Vibration with solid fill">
            <a:extLst>
              <a:ext uri="{FF2B5EF4-FFF2-40B4-BE49-F238E27FC236}">
                <a16:creationId xmlns:a16="http://schemas.microsoft.com/office/drawing/2014/main" id="{C8F13207-9113-8E0D-7F4C-C8CC24310C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8240" y="3368040"/>
            <a:ext cx="731520" cy="731520"/>
          </a:xfrm>
          <a:prstGeom prst="rect">
            <a:avLst/>
          </a:prstGeom>
        </p:spPr>
      </p:pic>
      <p:pic>
        <p:nvPicPr>
          <p:cNvPr id="19" name="Graphic 18" descr="Fax with solid fill">
            <a:extLst>
              <a:ext uri="{FF2B5EF4-FFF2-40B4-BE49-F238E27FC236}">
                <a16:creationId xmlns:a16="http://schemas.microsoft.com/office/drawing/2014/main" id="{62722FA3-7EC0-9D2D-12F9-9027419D7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58240" y="2217420"/>
            <a:ext cx="731520" cy="73152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3A9CFC-4F82-4437-DB0C-2DA297A78924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1889760" y="2583180"/>
            <a:ext cx="1386840" cy="6934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3D842D-6048-C3BE-BFE1-AA30DF8DE6DA}"/>
              </a:ext>
            </a:extLst>
          </p:cNvPr>
          <p:cNvCxnSpPr>
            <a:cxnSpLocks/>
            <a:stCxn id="15" idx="1"/>
            <a:endCxn id="13" idx="3"/>
          </p:cNvCxnSpPr>
          <p:nvPr/>
        </p:nvCxnSpPr>
        <p:spPr bwMode="auto">
          <a:xfrm flipH="1">
            <a:off x="5426710" y="3733800"/>
            <a:ext cx="15074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44DD78-8107-0927-E723-F5F5B9B41EB1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>
            <a:off x="4041139" y="3733800"/>
            <a:ext cx="74549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E32EBB-25B5-8920-28DE-026C4644B645}"/>
              </a:ext>
            </a:extLst>
          </p:cNvPr>
          <p:cNvCxnSpPr>
            <a:cxnSpLocks/>
          </p:cNvCxnSpPr>
          <p:nvPr/>
        </p:nvCxnSpPr>
        <p:spPr bwMode="auto">
          <a:xfrm flipH="1">
            <a:off x="1981200" y="3733800"/>
            <a:ext cx="1143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964882-BAE7-D81A-4F89-AEFF9B994E32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1981200" y="4191000"/>
            <a:ext cx="1295400" cy="7848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39" name="Shape 31">
            <a:extLst>
              <a:ext uri="{FF2B5EF4-FFF2-40B4-BE49-F238E27FC236}">
                <a16:creationId xmlns:a16="http://schemas.microsoft.com/office/drawing/2014/main" id="{3E0E0610-C083-CC1F-D8F7-F8E7C05B6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" y="5368488"/>
            <a:ext cx="258953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Devices</a:t>
            </a: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41EBAA60-6E24-8242-13D7-282F9F8AC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944" y="4271100"/>
            <a:ext cx="1114428" cy="81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WiFi</a:t>
            </a:r>
          </a:p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router</a:t>
            </a:r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DBB4B38A-8D97-2D51-A2B4-A5FAC8E0D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069" y="4252555"/>
            <a:ext cx="1473200" cy="81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Internet</a:t>
            </a:r>
          </a:p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modem</a:t>
            </a:r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CE156953-FC7A-687B-B782-3E097D26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4437221"/>
            <a:ext cx="2590801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ISP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769647C-7676-2C35-C4C2-00F4AB795C96}"/>
              </a:ext>
            </a:extLst>
          </p:cNvPr>
          <p:cNvCxnSpPr>
            <a:cxnSpLocks/>
          </p:cNvCxnSpPr>
          <p:nvPr/>
        </p:nvCxnSpPr>
        <p:spPr bwMode="auto">
          <a:xfrm flipH="1">
            <a:off x="7856855" y="2583180"/>
            <a:ext cx="1591945" cy="7188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0AEA936-6517-9012-DA71-CED8417E79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001000" y="3962400"/>
            <a:ext cx="1447800" cy="4748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40615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90F-E6B8-324A-7E66-0736A824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Across the world…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D955B-6490-6E42-B575-5A7136D5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38A21-9048-3D8F-541E-F7D051A0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7BF2D-B840-8C5A-019F-D8A2C255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Graphic 5" descr="Server with solid fill">
            <a:extLst>
              <a:ext uri="{FF2B5EF4-FFF2-40B4-BE49-F238E27FC236}">
                <a16:creationId xmlns:a16="http://schemas.microsoft.com/office/drawing/2014/main" id="{48A6F7FC-3D41-2D63-7215-B02FFBCC6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3952" y="4572000"/>
            <a:ext cx="914400" cy="914400"/>
          </a:xfrm>
          <a:prstGeom prst="rect">
            <a:avLst/>
          </a:prstGeom>
        </p:spPr>
      </p:pic>
      <p:pic>
        <p:nvPicPr>
          <p:cNvPr id="7" name="Graphic 6" descr="Server with solid fill">
            <a:extLst>
              <a:ext uri="{FF2B5EF4-FFF2-40B4-BE49-F238E27FC236}">
                <a16:creationId xmlns:a16="http://schemas.microsoft.com/office/drawing/2014/main" id="{D1A4F558-A80B-D6C8-710B-C142406F6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495800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633DD8-7CBB-3BBC-1CF7-E73F4DDC871D}"/>
              </a:ext>
            </a:extLst>
          </p:cNvPr>
          <p:cNvCxnSpPr>
            <a:cxnSpLocks/>
          </p:cNvCxnSpPr>
          <p:nvPr/>
        </p:nvCxnSpPr>
        <p:spPr bwMode="auto">
          <a:xfrm flipH="1">
            <a:off x="-1287145" y="2533650"/>
            <a:ext cx="1744345" cy="844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5573B7-0A5A-6358-86AA-BFB5BC0FB0E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-1143000" y="3886200"/>
            <a:ext cx="160020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pic>
        <p:nvPicPr>
          <p:cNvPr id="10" name="Graphic 9" descr="Server with solid fill">
            <a:extLst>
              <a:ext uri="{FF2B5EF4-FFF2-40B4-BE49-F238E27FC236}">
                <a16:creationId xmlns:a16="http://schemas.microsoft.com/office/drawing/2014/main" id="{64C6DCEC-CA33-3195-E58D-C9C0E5DAA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6600" y="3136900"/>
            <a:ext cx="914400" cy="914400"/>
          </a:xfrm>
          <a:prstGeom prst="rect">
            <a:avLst/>
          </a:prstGeom>
        </p:spPr>
      </p:pic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140A791A-95BA-137C-36BF-C813A4C40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1619250"/>
            <a:ext cx="914400" cy="91440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98B2D28E-6CFB-3761-D36B-95BA2EDE9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5400" y="5010150"/>
            <a:ext cx="914400" cy="914400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428E5A1C-2F4E-F997-5019-839516909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8700" y="2971800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990A64C8-9452-FBEB-60D2-F1048F03C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133600"/>
            <a:ext cx="914400" cy="9144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715AD6-57BF-8A7F-59E1-317CE81A7E8D}"/>
              </a:ext>
            </a:extLst>
          </p:cNvPr>
          <p:cNvCxnSpPr>
            <a:cxnSpLocks/>
            <a:stCxn id="11" idx="1"/>
            <a:endCxn id="14" idx="3"/>
          </p:cNvCxnSpPr>
          <p:nvPr/>
        </p:nvCxnSpPr>
        <p:spPr bwMode="auto">
          <a:xfrm flipH="1">
            <a:off x="1371600" y="2076450"/>
            <a:ext cx="3048000" cy="514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37F7489-D9CC-D702-2644-E657DA5D04F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334000" y="2076450"/>
            <a:ext cx="990600" cy="6318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10B82B-318E-AF02-0240-688BD2D36CF6}"/>
              </a:ext>
            </a:extLst>
          </p:cNvPr>
          <p:cNvCxnSpPr>
            <a:cxnSpLocks/>
          </p:cNvCxnSpPr>
          <p:nvPr/>
        </p:nvCxnSpPr>
        <p:spPr bwMode="auto">
          <a:xfrm flipH="1">
            <a:off x="3505200" y="5067300"/>
            <a:ext cx="1295400" cy="2254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73DA43-02FF-2D08-BDCA-571F055AB351}"/>
              </a:ext>
            </a:extLst>
          </p:cNvPr>
          <p:cNvCxnSpPr>
            <a:cxnSpLocks/>
          </p:cNvCxnSpPr>
          <p:nvPr/>
        </p:nvCxnSpPr>
        <p:spPr bwMode="auto">
          <a:xfrm flipH="1">
            <a:off x="4191000" y="3409950"/>
            <a:ext cx="1676402" cy="1460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350CB-2F55-4094-2FB4-79899498321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71600" y="4940300"/>
            <a:ext cx="1193800" cy="469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8B34E6-C062-CE6E-9FCB-EA41626E34A5}"/>
              </a:ext>
            </a:extLst>
          </p:cNvPr>
          <p:cNvCxnSpPr>
            <a:cxnSpLocks/>
          </p:cNvCxnSpPr>
          <p:nvPr/>
        </p:nvCxnSpPr>
        <p:spPr bwMode="auto">
          <a:xfrm flipH="1">
            <a:off x="5848352" y="3987800"/>
            <a:ext cx="711200" cy="1022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DEE871-AA06-2164-5692-0085223517D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71600" y="3025775"/>
            <a:ext cx="1905000" cy="6683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0A463F-EDD0-C286-2812-F2591845C3FD}"/>
              </a:ext>
            </a:extLst>
          </p:cNvPr>
          <p:cNvCxnSpPr>
            <a:cxnSpLocks/>
            <a:endCxn id="13" idx="3"/>
          </p:cNvCxnSpPr>
          <p:nvPr/>
        </p:nvCxnSpPr>
        <p:spPr bwMode="auto">
          <a:xfrm flipH="1">
            <a:off x="7023100" y="3429000"/>
            <a:ext cx="8255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pic>
        <p:nvPicPr>
          <p:cNvPr id="52" name="Graphic 51" descr="Cloud with solid fill">
            <a:extLst>
              <a:ext uri="{FF2B5EF4-FFF2-40B4-BE49-F238E27FC236}">
                <a16:creationId xmlns:a16="http://schemas.microsoft.com/office/drawing/2014/main" id="{5F1D4394-32A9-1500-DDD1-966DAF630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00" y="2952750"/>
            <a:ext cx="914400" cy="914400"/>
          </a:xfrm>
          <a:prstGeom prst="rect">
            <a:avLst/>
          </a:prstGeom>
        </p:spPr>
      </p:pic>
      <p:sp>
        <p:nvSpPr>
          <p:cNvPr id="53" name="Shape 31">
            <a:extLst>
              <a:ext uri="{FF2B5EF4-FFF2-40B4-BE49-F238E27FC236}">
                <a16:creationId xmlns:a16="http://schemas.microsoft.com/office/drawing/2014/main" id="{EEEE7B71-FE6C-930D-7D95-3F7AB9F77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3767068"/>
            <a:ext cx="147320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991628491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hape 65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7" name="Shape 66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8" name="Shape 67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0" name="Shape 69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1" name="Shape 70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2" name="Shape 71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76" name="Shape 75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7" name="Shape 76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7" name="Shape 77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8" name="Shape 78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0" name="Shape 79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2" name="Shape 81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83" name="Shape 82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3" name="Shape 83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4" name="Shape 84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6" name="Shape 85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6" name="Shape 86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7" name="Shape 87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8" name="Shape 88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9" name="Shape 89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0" name="Shape 90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1" name="Shape 91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95" name="Shape 94"/>
          <p:cNvSpPr>
            <a:spLocks noChangeArrowheads="1"/>
          </p:cNvSpPr>
          <p:nvPr/>
        </p:nvSpPr>
        <p:spPr bwMode="auto">
          <a:xfrm>
            <a:off x="1426750" y="5691188"/>
            <a:ext cx="53540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95" name="Shape 95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" name="Shape 56"/>
          <p:cNvSpPr>
            <a:spLocks noChangeArrowheads="1"/>
          </p:cNvSpPr>
          <p:nvPr/>
        </p:nvSpPr>
        <p:spPr bwMode="auto">
          <a:xfrm>
            <a:off x="3041650" y="5055256"/>
            <a:ext cx="928135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1" name="Shape 31"/>
          <p:cNvSpPr>
            <a:spLocks noChangeArrowheads="1"/>
          </p:cNvSpPr>
          <p:nvPr/>
        </p:nvSpPr>
        <p:spPr bwMode="auto">
          <a:xfrm>
            <a:off x="228600" y="3739287"/>
            <a:ext cx="208915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consists of many end-systems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9B685-F4C8-384D-A857-2B766C77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71DB-32E8-5B1A-A11A-C6E604FA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96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2" name="Shape 142"/>
          <p:cNvSpPr>
            <a:spLocks noChangeArrowheads="1"/>
          </p:cNvSpPr>
          <p:nvPr/>
        </p:nvSpPr>
        <p:spPr bwMode="auto">
          <a:xfrm>
            <a:off x="2890838" y="5886995"/>
            <a:ext cx="4957762" cy="379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dirty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Providers (ISPs)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by many parties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93DB2-B1F6-2F45-9C3D-0774AE0B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68CE2-29ED-8D6C-1C5F-E9F76E70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855EB149-CD32-EB75-902F-A10BBA6D1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739287"/>
            <a:ext cx="208915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10" name="Shape 94">
            <a:extLst>
              <a:ext uri="{FF2B5EF4-FFF2-40B4-BE49-F238E27FC236}">
                <a16:creationId xmlns:a16="http://schemas.microsoft.com/office/drawing/2014/main" id="{7BA9785D-C595-84CF-C057-B7A74C000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750" y="5691188"/>
            <a:ext cx="535400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11" name="Shape 56">
            <a:extLst>
              <a:ext uri="{FF2B5EF4-FFF2-40B4-BE49-F238E27FC236}">
                <a16:creationId xmlns:a16="http://schemas.microsoft.com/office/drawing/2014/main" id="{833F2E53-63D4-0A11-077F-D00A81A49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5055256"/>
            <a:ext cx="928135" cy="4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4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38393424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federated system: Logical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Internet ties together different networks </a:t>
            </a:r>
            <a:r>
              <a:rPr lang="en-US" dirty="0">
                <a:solidFill>
                  <a:srgbClr val="0000FF"/>
                </a:solidFill>
              </a:rPr>
              <a:t>by the </a:t>
            </a:r>
            <a:r>
              <a:rPr lang="en-US" b="1" dirty="0">
                <a:solidFill>
                  <a:srgbClr val="0000FF"/>
                </a:solidFill>
              </a:rPr>
              <a:t>IP protocol</a:t>
            </a:r>
            <a:endParaRPr lang="en-US" dirty="0"/>
          </a:p>
          <a:p>
            <a:pPr lvl="1"/>
            <a:r>
              <a:rPr lang="en-US" i="1" dirty="0"/>
              <a:t>A common interface binds them all together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34" name="Group 33"/>
          <p:cNvGrpSpPr>
            <a:grpSpLocks noChangeAspect="1"/>
          </p:cNvGrpSpPr>
          <p:nvPr/>
        </p:nvGrpSpPr>
        <p:grpSpPr>
          <a:xfrm>
            <a:off x="2255458" y="3200400"/>
            <a:ext cx="4633085" cy="2743200"/>
            <a:chOff x="554038" y="1527175"/>
            <a:chExt cx="7947025" cy="4705350"/>
          </a:xfrm>
        </p:grpSpPr>
        <p:sp>
          <p:nvSpPr>
            <p:cNvPr id="35" name="Shape 105"/>
            <p:cNvSpPr/>
            <p:nvPr/>
          </p:nvSpPr>
          <p:spPr>
            <a:xfrm>
              <a:off x="5106988" y="3697288"/>
              <a:ext cx="2751137" cy="1606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7"/>
                  </a:cubicBezTo>
                  <a:cubicBezTo>
                    <a:pt x="12954" y="20639"/>
                    <a:pt x="6724" y="20639"/>
                    <a:pt x="2882" y="16797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06"/>
            <p:cNvSpPr/>
            <p:nvPr/>
          </p:nvSpPr>
          <p:spPr>
            <a:xfrm>
              <a:off x="2071688" y="1946275"/>
              <a:ext cx="3643312" cy="1901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" name="Shape 107"/>
            <p:cNvSpPr/>
            <p:nvPr/>
          </p:nvSpPr>
          <p:spPr>
            <a:xfrm>
              <a:off x="1098550" y="4241800"/>
              <a:ext cx="2820988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0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1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2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3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4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6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7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8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9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0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1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2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4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5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6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7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8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9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2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3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4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6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Shape 143"/>
            <p:cNvSpPr>
              <a:spLocks noChangeArrowheads="1"/>
            </p:cNvSpPr>
            <p:nvPr/>
          </p:nvSpPr>
          <p:spPr bwMode="auto">
            <a:xfrm>
              <a:off x="4352132" y="2267311"/>
              <a:ext cx="1376361" cy="968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x-none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Google</a:t>
              </a:r>
            </a:p>
            <a:p>
              <a:pPr algn="ctr" eaLnBrk="1" hangingPunct="1"/>
              <a:r>
                <a:rPr lang="en-US" altLang="x-none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Fiber</a:t>
              </a:r>
            </a:p>
          </p:txBody>
        </p:sp>
        <p:sp>
          <p:nvSpPr>
            <p:cNvPr id="69" name="Shape 144"/>
            <p:cNvSpPr>
              <a:spLocks noChangeArrowheads="1"/>
            </p:cNvSpPr>
            <p:nvPr/>
          </p:nvSpPr>
          <p:spPr bwMode="auto">
            <a:xfrm>
              <a:off x="2717800" y="5114150"/>
              <a:ext cx="1092199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x-none" sz="1600" b="0">
                  <a:solidFill>
                    <a:srgbClr val="0000FF"/>
                  </a:solidFill>
                  <a:latin typeface="Arial" charset="0"/>
                  <a:sym typeface="Calibri" charset="0"/>
                </a:rPr>
                <a:t>AT&amp;T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  <p:sp>
          <p:nvSpPr>
            <p:cNvPr id="70" name="Shape 145"/>
            <p:cNvSpPr>
              <a:spLocks noChangeArrowheads="1"/>
            </p:cNvSpPr>
            <p:nvPr/>
          </p:nvSpPr>
          <p:spPr bwMode="auto">
            <a:xfrm>
              <a:off x="4852987" y="4606944"/>
              <a:ext cx="1870076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x-none" sz="1600" b="0">
                  <a:solidFill>
                    <a:srgbClr val="0000FF"/>
                  </a:solidFill>
                  <a:latin typeface="Arial" charset="0"/>
                  <a:sym typeface="Calibri" charset="0"/>
                </a:rPr>
                <a:t>Comcast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F92560-9337-CE4F-981B-8DEF25A6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ECD3F-303A-9466-3C04-D7749111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01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2A4F-12E1-1265-EAF2-F44CA148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federated system: Physical 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AACB-FE34-B0FF-88D0-7618A748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1D62B-A00C-769E-CAB3-09523E1F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A56D9-BEDA-CE8D-C082-859B47C3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2" descr="Map of the Internet">
            <a:extLst>
              <a:ext uri="{FF2B5EF4-FFF2-40B4-BE49-F238E27FC236}">
                <a16:creationId xmlns:a16="http://schemas.microsoft.com/office/drawing/2014/main" id="{CA451F9C-1517-D6B6-335C-6AECB9966A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42" y="1600200"/>
            <a:ext cx="618991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9D3C2-245E-F38C-347A-8C7B03B22BA4}"/>
              </a:ext>
            </a:extLst>
          </p:cNvPr>
          <p:cNvSpPr txBox="1"/>
          <p:nvPr/>
        </p:nvSpPr>
        <p:spPr>
          <a:xfrm>
            <a:off x="2362199" y="601980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dirty="0"/>
              <a:t>https://</a:t>
            </a:r>
            <a:r>
              <a:rPr lang="en-US" sz="1100" b="0" dirty="0" err="1"/>
              <a:t>kmcd.dev</a:t>
            </a:r>
            <a:r>
              <a:rPr lang="en-US" sz="1100" b="0" dirty="0"/>
              <a:t>/posts/internet-map-2023/</a:t>
            </a:r>
          </a:p>
        </p:txBody>
      </p:sp>
    </p:spTree>
    <p:extLst>
      <p:ext uri="{BB962C8B-B14F-4D97-AF65-F5344CB8AC3E}">
        <p14:creationId xmlns:p14="http://schemas.microsoft.com/office/powerpoint/2010/main" val="1692870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A8BDD1-B625-8EAF-912F-95890790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is a switched network (of networks)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EDC1E1-6B50-F6E1-11A1-40196BB7F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13049-A681-7730-607C-4B037697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2D95B-A7FE-F077-4D05-500F1E26F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83743-6F94-B674-2863-A7DFEB70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59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pPr lvl="1"/>
            <a:r>
              <a:rPr lang="en-US" dirty="0"/>
              <a:t>Why?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</a:p>
          <a:p>
            <a:pPr lvl="1"/>
            <a:r>
              <a:rPr lang="en-US" dirty="0"/>
              <a:t>For example, directly connecting N nodes to each other would require N</a:t>
            </a:r>
            <a:r>
              <a:rPr lang="en-US" baseline="30000" dirty="0"/>
              <a:t>2 </a:t>
            </a:r>
            <a:r>
              <a:rPr lang="en-US" dirty="0"/>
              <a:t>links!</a:t>
            </a:r>
            <a:endParaRPr lang="en-US" baseline="30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3EFCF-8BE7-C8BB-75F3-9937D792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need to share the network?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Freeform 46"/>
          <p:cNvSpPr>
            <a:spLocks noChangeAspect="1"/>
          </p:cNvSpPr>
          <p:nvPr/>
        </p:nvSpPr>
        <p:spPr>
          <a:xfrm rot="21345852">
            <a:off x="4122253" y="1507063"/>
            <a:ext cx="3762198" cy="2404265"/>
          </a:xfrm>
          <a:custGeom>
            <a:avLst/>
            <a:gdLst>
              <a:gd name="connsiteX0" fmla="*/ 59559 w 5120482"/>
              <a:gd name="connsiteY0" fmla="*/ 0 h 3144012"/>
              <a:gd name="connsiteX1" fmla="*/ 414384 w 5120482"/>
              <a:gd name="connsiteY1" fmla="*/ 1456737 h 3144012"/>
              <a:gd name="connsiteX2" fmla="*/ 3159608 w 5120482"/>
              <a:gd name="connsiteY2" fmla="*/ 3118911 h 3144012"/>
              <a:gd name="connsiteX3" fmla="*/ 5120482 w 5120482"/>
              <a:gd name="connsiteY3" fmla="*/ 2502599 h 314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0482" h="3144012">
                <a:moveTo>
                  <a:pt x="59559" y="0"/>
                </a:moveTo>
                <a:cubicBezTo>
                  <a:pt x="-21366" y="468459"/>
                  <a:pt x="-102291" y="936918"/>
                  <a:pt x="414384" y="1456737"/>
                </a:cubicBezTo>
                <a:cubicBezTo>
                  <a:pt x="931059" y="1976556"/>
                  <a:pt x="2375258" y="2944601"/>
                  <a:pt x="3159608" y="3118911"/>
                </a:cubicBezTo>
                <a:cubicBezTo>
                  <a:pt x="3943958" y="3293221"/>
                  <a:pt x="5120482" y="2502599"/>
                  <a:pt x="5120482" y="2502599"/>
                </a:cubicBezTo>
              </a:path>
            </a:pathLst>
          </a:custGeom>
          <a:noFill/>
          <a:ln w="38100" cmpd="sng">
            <a:solidFill>
              <a:schemeClr val="accent2">
                <a:lumMod val="75000"/>
              </a:schemeClr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50" name="Freeform 49"/>
          <p:cNvSpPr>
            <a:spLocks noChangeAspect="1"/>
          </p:cNvSpPr>
          <p:nvPr/>
        </p:nvSpPr>
        <p:spPr>
          <a:xfrm rot="21430433">
            <a:off x="2828431" y="1352269"/>
            <a:ext cx="5486400" cy="3592619"/>
          </a:xfrm>
          <a:custGeom>
            <a:avLst/>
            <a:gdLst>
              <a:gd name="connsiteX0" fmla="*/ 0 w 7301923"/>
              <a:gd name="connsiteY0" fmla="*/ 0 h 4538296"/>
              <a:gd name="connsiteX1" fmla="*/ 1512675 w 7301923"/>
              <a:gd name="connsiteY1" fmla="*/ 1662174 h 4538296"/>
              <a:gd name="connsiteX2" fmla="*/ 4818149 w 7301923"/>
              <a:gd name="connsiteY2" fmla="*/ 3567138 h 4538296"/>
              <a:gd name="connsiteX3" fmla="*/ 7301923 w 7301923"/>
              <a:gd name="connsiteY3" fmla="*/ 4538296 h 453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923" h="4538296">
                <a:moveTo>
                  <a:pt x="0" y="0"/>
                </a:moveTo>
                <a:cubicBezTo>
                  <a:pt x="354825" y="533825"/>
                  <a:pt x="709650" y="1067651"/>
                  <a:pt x="1512675" y="1662174"/>
                </a:cubicBezTo>
                <a:cubicBezTo>
                  <a:pt x="2315700" y="2256697"/>
                  <a:pt x="3853274" y="3087784"/>
                  <a:pt x="4818149" y="3567138"/>
                </a:cubicBezTo>
                <a:cubicBezTo>
                  <a:pt x="5783024" y="4046492"/>
                  <a:pt x="7000011" y="4376436"/>
                  <a:pt x="7301923" y="4538296"/>
                </a:cubicBezTo>
              </a:path>
            </a:pathLst>
          </a:custGeom>
          <a:ln w="38100" cmpd="sng">
            <a:solidFill>
              <a:srgbClr val="D3A600"/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1038" y="1758921"/>
            <a:ext cx="2399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0000FF"/>
                </a:solidFill>
              </a:rPr>
              <a:t>Switch and link resources</a:t>
            </a:r>
          </a:p>
        </p:txBody>
      </p:sp>
      <p:cxnSp>
        <p:nvCxnSpPr>
          <p:cNvPr id="41" name="Straight Arrow Connector 40"/>
          <p:cNvCxnSpPr>
            <a:stCxn id="3" idx="2"/>
            <a:endCxn id="36" idx="3"/>
          </p:cNvCxnSpPr>
          <p:nvPr/>
        </p:nvCxnSpPr>
        <p:spPr bwMode="auto">
          <a:xfrm flipH="1">
            <a:off x="4322763" y="2713028"/>
            <a:ext cx="2638012" cy="37704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/>
          <p:cNvCxnSpPr>
            <a:stCxn id="3" idx="2"/>
            <a:endCxn id="38" idx="0"/>
          </p:cNvCxnSpPr>
          <p:nvPr/>
        </p:nvCxnSpPr>
        <p:spPr bwMode="auto">
          <a:xfrm flipH="1">
            <a:off x="6286501" y="2713028"/>
            <a:ext cx="674274" cy="14573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Straight Arrow Connector 53"/>
          <p:cNvCxnSpPr>
            <a:stCxn id="3" idx="2"/>
          </p:cNvCxnSpPr>
          <p:nvPr/>
        </p:nvCxnSpPr>
        <p:spPr bwMode="auto">
          <a:xfrm flipH="1">
            <a:off x="5126545" y="2713028"/>
            <a:ext cx="1834230" cy="101560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EE4E1-83FE-3B1B-8B5E-31920EAC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2C323D-B633-CC94-8848-5EA5AE466153}"/>
              </a:ext>
            </a:extLst>
          </p:cNvPr>
          <p:cNvCxnSpPr>
            <a:cxnSpLocks/>
          </p:cNvCxnSpPr>
          <p:nvPr/>
        </p:nvCxnSpPr>
        <p:spPr bwMode="auto">
          <a:xfrm flipV="1">
            <a:off x="4322763" y="3646488"/>
            <a:ext cx="1508712" cy="17421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10A08D4-CCCB-4DCC-4198-7E9E3AC09199}"/>
              </a:ext>
            </a:extLst>
          </p:cNvPr>
          <p:cNvCxnSpPr>
            <a:cxnSpLocks/>
          </p:cNvCxnSpPr>
          <p:nvPr/>
        </p:nvCxnSpPr>
        <p:spPr bwMode="auto">
          <a:xfrm flipV="1">
            <a:off x="4322763" y="3277394"/>
            <a:ext cx="491038" cy="20811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1C8E8FD-B6FA-13B4-87D7-FF66783A5223}"/>
              </a:ext>
            </a:extLst>
          </p:cNvPr>
          <p:cNvSpPr txBox="1"/>
          <p:nvPr/>
        </p:nvSpPr>
        <p:spPr>
          <a:xfrm>
            <a:off x="3169477" y="5335587"/>
            <a:ext cx="239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ysClr val="windowText" lastClr="000000"/>
                </a:solidFill>
              </a:rPr>
              <a:t>paths</a:t>
            </a:r>
          </a:p>
        </p:txBody>
      </p:sp>
    </p:spTree>
    <p:extLst>
      <p:ext uri="{BB962C8B-B14F-4D97-AF65-F5344CB8AC3E}">
        <p14:creationId xmlns:p14="http://schemas.microsoft.com/office/powerpoint/2010/main" val="46072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3" grpId="0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13" name="Shape 199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4" name="Shape 200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5" name="Shape 201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6" name="Shape 20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7" name="Shape 20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8" name="Shape 20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2" name="Shape 20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3" name="Shape 20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6" name="Shape 21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8" name="Shape 21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9" name="Shape 21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6" name="Shape 21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2" name="Shape 21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9" name="Shape 21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1" name="Shape 22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6" name="Shape 22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7" name="Shape 22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8" name="Shape 22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25" name="Shape 225"/>
          <p:cNvSpPr>
            <a:spLocks noChangeArrowheads="1"/>
          </p:cNvSpPr>
          <p:nvPr/>
        </p:nvSpPr>
        <p:spPr bwMode="auto">
          <a:xfrm>
            <a:off x="114300" y="3756025"/>
            <a:ext cx="325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26" name="Shape 226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0" name="Shape 230"/>
          <p:cNvSpPr>
            <a:spLocks noChangeArrowheads="1"/>
          </p:cNvSpPr>
          <p:nvPr/>
        </p:nvSpPr>
        <p:spPr bwMode="auto">
          <a:xfrm>
            <a:off x="5946775" y="2939058"/>
            <a:ext cx="3098800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31" name="Shape 231"/>
          <p:cNvSpPr>
            <a:spLocks noChangeArrowheads="1"/>
          </p:cNvSpPr>
          <p:nvPr/>
        </p:nvSpPr>
        <p:spPr bwMode="auto">
          <a:xfrm>
            <a:off x="152400" y="1442988"/>
            <a:ext cx="2089150" cy="9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 err="1">
                <a:solidFill>
                  <a:srgbClr val="0000FF"/>
                </a:solidFill>
                <a:latin typeface="Arial" charset="0"/>
                <a:sym typeface="Calibri" charset="0"/>
              </a:rPr>
              <a:t>Tiktok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server</a:t>
            </a:r>
          </a:p>
        </p:txBody>
      </p:sp>
      <p:sp>
        <p:nvSpPr>
          <p:cNvPr id="232" name="Shape 232"/>
          <p:cNvSpPr>
            <a:spLocks noChangeArrowheads="1"/>
          </p:cNvSpPr>
          <p:nvPr/>
        </p:nvSpPr>
        <p:spPr bwMode="auto">
          <a:xfrm>
            <a:off x="5535614" y="5725120"/>
            <a:ext cx="3379786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3000" b="0" dirty="0" err="1">
                <a:solidFill>
                  <a:srgbClr val="0000FF"/>
                </a:solidFill>
                <a:latin typeface="Arial" charset="0"/>
                <a:sym typeface="Calibri" charset="0"/>
              </a:rPr>
              <a:t>Tiktok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app</a:t>
            </a:r>
          </a:p>
        </p:txBody>
      </p:sp>
      <p:pic>
        <p:nvPicPr>
          <p:cNvPr id="233" name="Picture 23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3652838"/>
            <a:ext cx="6415088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" name="Picture 23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2663" y="1847850"/>
            <a:ext cx="4672012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" name="Shape 237"/>
          <p:cNvSpPr>
            <a:spLocks noChangeArrowheads="1"/>
          </p:cNvSpPr>
          <p:nvPr/>
        </p:nvSpPr>
        <p:spPr bwMode="auto">
          <a:xfrm>
            <a:off x="2527300" y="5867996"/>
            <a:ext cx="3100388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PUBG client</a:t>
            </a:r>
          </a:p>
        </p:txBody>
      </p:sp>
      <p:sp>
        <p:nvSpPr>
          <p:cNvPr id="238" name="Shape 238"/>
          <p:cNvSpPr>
            <a:spLocks noChangeArrowheads="1"/>
          </p:cNvSpPr>
          <p:nvPr/>
        </p:nvSpPr>
        <p:spPr bwMode="auto">
          <a:xfrm>
            <a:off x="4114800" y="1673821"/>
            <a:ext cx="2822575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PUBG server</a:t>
            </a:r>
          </a:p>
        </p:txBody>
      </p:sp>
      <p:pic>
        <p:nvPicPr>
          <p:cNvPr id="239" name="Picture 238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43163" y="2049463"/>
            <a:ext cx="1722437" cy="372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among many services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2F9E0-9757-AF45-8A84-0BB812D9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93CC-1811-D750-E3D6-C190A019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1715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dvAuto="0"/>
      <p:bldP spid="230" grpId="0" advAuto="0"/>
      <p:bldP spid="231" grpId="0" advAuto="0"/>
      <p:bldP spid="232" grpId="0" advAuto="0"/>
      <p:bldP spid="233" grpId="0" animBg="1" advAuto="0"/>
      <p:bldP spid="235" grpId="0" animBg="1" advAuto="0"/>
      <p:bldP spid="237" grpId="0" advAuto="0"/>
      <p:bldP spid="238" grpId="0" advAuto="0"/>
      <p:bldP spid="239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share 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Resource </a:t>
            </a:r>
            <a:r>
              <a:rPr lang="en-US" dirty="0">
                <a:solidFill>
                  <a:srgbClr val="0000FF"/>
                </a:solidFill>
              </a:rPr>
              <a:t>reserved</a:t>
            </a:r>
            <a:r>
              <a:rPr lang="en-US" dirty="0"/>
              <a:t> per connection</a:t>
            </a:r>
          </a:p>
          <a:p>
            <a:pPr lvl="1"/>
            <a:r>
              <a:rPr lang="en-US" dirty="0"/>
              <a:t>Admission control: per connection</a:t>
            </a:r>
          </a:p>
          <a:p>
            <a:r>
              <a:rPr lang="en-US" dirty="0"/>
              <a:t>Packet switching via statistical multiplexing</a:t>
            </a:r>
          </a:p>
          <a:p>
            <a:pPr lvl="1"/>
            <a:r>
              <a:rPr lang="en-US" dirty="0"/>
              <a:t>Packets treated independently, </a:t>
            </a:r>
            <a:r>
              <a:rPr lang="en-US" dirty="0">
                <a:solidFill>
                  <a:srgbClr val="0000FF"/>
                </a:solidFill>
              </a:rPr>
              <a:t>on-demand</a:t>
            </a:r>
          </a:p>
          <a:p>
            <a:pPr lvl="1"/>
            <a:r>
              <a:rPr lang="en-US" dirty="0"/>
              <a:t>Admission control: per packet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8CFD7-CD1E-7760-82CD-7B743FB3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2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Circuit </a:t>
            </a:r>
            <a:r>
              <a:rPr lang="en-US" dirty="0">
                <a:ea typeface="ＭＳ Ｐゴシック" charset="0"/>
                <a:cs typeface="ＭＳ Ｐゴシック" charset="0"/>
              </a:rPr>
              <a:t>s</a:t>
            </a: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witching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Reservation establishes a “circuit” within a switch</a:t>
            </a:r>
          </a:p>
        </p:txBody>
      </p:sp>
      <p:sp>
        <p:nvSpPr>
          <p:cNvPr id="1244" name="Shape 1244"/>
          <p:cNvSpPr/>
          <p:nvPr/>
        </p:nvSpPr>
        <p:spPr>
          <a:xfrm>
            <a:off x="3679032" y="2723555"/>
            <a:ext cx="1785938" cy="2027039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5" name="Shape 1245"/>
          <p:cNvSpPr/>
          <p:nvPr/>
        </p:nvSpPr>
        <p:spPr>
          <a:xfrm>
            <a:off x="4095654" y="3299914"/>
            <a:ext cx="1018608" cy="697928"/>
          </a:xfrm>
          <a:prstGeom prst="line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6" name="Shape 1246"/>
          <p:cNvSpPr/>
          <p:nvPr/>
        </p:nvSpPr>
        <p:spPr>
          <a:xfrm flipV="1">
            <a:off x="2285999" y="3274826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3271713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0" name="Shape 1250"/>
          <p:cNvSpPr/>
          <p:nvPr/>
        </p:nvSpPr>
        <p:spPr>
          <a:xfrm>
            <a:off x="3920155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1" name="Shape 1251"/>
          <p:cNvSpPr/>
          <p:nvPr/>
        </p:nvSpPr>
        <p:spPr>
          <a:xfrm>
            <a:off x="4973858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950765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951456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6" name="Shape 1256"/>
          <p:cNvSpPr/>
          <p:nvPr/>
        </p:nvSpPr>
        <p:spPr>
          <a:xfrm>
            <a:off x="3911225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7" name="Shape 1257"/>
          <p:cNvSpPr/>
          <p:nvPr/>
        </p:nvSpPr>
        <p:spPr>
          <a:xfrm>
            <a:off x="4964928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54614" y="2265308"/>
            <a:ext cx="847900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/>
              <a:t>switch</a:t>
            </a:r>
          </a:p>
        </p:txBody>
      </p:sp>
      <p:sp>
        <p:nvSpPr>
          <p:cNvPr id="1259" name="Shape 1259"/>
          <p:cNvSpPr/>
          <p:nvPr/>
        </p:nvSpPr>
        <p:spPr>
          <a:xfrm>
            <a:off x="1537028" y="2997538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220361" y="3711913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22AA0-F800-219D-470E-E3F60858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6478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245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</p:txBody>
      </p:sp>
      <p:sp>
        <p:nvSpPr>
          <p:cNvPr id="49" name="Content Placeholder 4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reservation request to </a:t>
            </a:r>
            <a:r>
              <a:rPr lang="en-US" sz="2800" dirty="0" err="1"/>
              <a:t>dst</a:t>
            </a:r>
            <a:endParaRPr lang="en-US" sz="2800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Switches </a:t>
            </a:r>
            <a:r>
              <a:rPr lang="en-US" sz="2800" dirty="0">
                <a:solidFill>
                  <a:srgbClr val="0000FF"/>
                </a:solidFill>
              </a:rPr>
              <a:t>create</a:t>
            </a:r>
            <a:r>
              <a:rPr lang="en-US" sz="2800" dirty="0"/>
              <a:t> circuit </a:t>
            </a:r>
            <a:r>
              <a:rPr lang="en-US" sz="2800" i="1" dirty="0"/>
              <a:t>after</a:t>
            </a:r>
            <a:r>
              <a:rPr lang="en-US" sz="2800" dirty="0"/>
              <a:t> admission control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sends</a:t>
            </a:r>
            <a:r>
              <a:rPr lang="en-US" sz="2800" dirty="0"/>
              <a:t> data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</a:t>
            </a:r>
            <a:r>
              <a:rPr lang="en-US" sz="2800" dirty="0">
                <a:solidFill>
                  <a:srgbClr val="0000FF"/>
                </a:solidFill>
              </a:rPr>
              <a:t>teardown</a:t>
            </a:r>
            <a:r>
              <a:rPr lang="en-US" sz="2800" dirty="0"/>
              <a:t> request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48" name="Group 47"/>
          <p:cNvGrpSpPr>
            <a:grpSpLocks noChangeAspect="1"/>
          </p:cNvGrpSpPr>
          <p:nvPr/>
        </p:nvGrpSpPr>
        <p:grpSpPr>
          <a:xfrm rot="16200000">
            <a:off x="4333262" y="2456484"/>
            <a:ext cx="4572000" cy="2707033"/>
            <a:chOff x="554038" y="1527175"/>
            <a:chExt cx="7947025" cy="4705350"/>
          </a:xfrm>
        </p:grpSpPr>
        <p:sp>
          <p:nvSpPr>
            <p:cNvPr id="13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4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5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6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7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8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9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3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4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7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9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0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3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4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5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7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8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6" name="Shape 1260"/>
          <p:cNvSpPr/>
          <p:nvPr/>
        </p:nvSpPr>
        <p:spPr>
          <a:xfrm>
            <a:off x="7695134" y="220408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47" name="Shape 1259"/>
          <p:cNvSpPr/>
          <p:nvPr/>
        </p:nvSpPr>
        <p:spPr>
          <a:xfrm>
            <a:off x="5670483" y="528955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51" name="Rectangular Callout 50"/>
          <p:cNvSpPr/>
          <p:nvPr/>
        </p:nvSpPr>
        <p:spPr bwMode="auto">
          <a:xfrm>
            <a:off x="5279627" y="3351857"/>
            <a:ext cx="926092" cy="364987"/>
          </a:xfrm>
          <a:prstGeom prst="wedgeRectCallout">
            <a:avLst>
              <a:gd name="adj1" fmla="val 34021"/>
              <a:gd name="adj2" fmla="val 9342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Rectangular Callout 51"/>
          <p:cNvSpPr/>
          <p:nvPr/>
        </p:nvSpPr>
        <p:spPr bwMode="auto">
          <a:xfrm>
            <a:off x="7305891" y="2803954"/>
            <a:ext cx="926092" cy="364987"/>
          </a:xfrm>
          <a:prstGeom prst="wedgeRectCallout">
            <a:avLst>
              <a:gd name="adj1" fmla="val -73249"/>
              <a:gd name="adj2" fmla="val -33382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34503" y="37462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5557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2618-3078-504B-7EA4-5329CC5A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3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uiExpand="1" build="p"/>
      <p:bldP spid="51" grpId="0" animBg="1"/>
      <p:bldP spid="52" grpId="0" animBg="1"/>
      <p:bldP spid="53" grpId="0"/>
      <p:bldP spid="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Circuit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Predictable performance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Simple/fast switching (once circuit established)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Complexity and delay from circuit setup/teardown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Inefficient when traffic is bursty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Switch fails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dirty="0">
                <a:ea typeface="ＭＳ Ｐゴシック" charset="0"/>
                <a:cs typeface="ＭＳ Ｐゴシック" charset="0"/>
              </a:rPr>
              <a:t> its circuit(s) fails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0645-4E37-D97E-376F-3B10E11EF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</p:txBody>
      </p:sp>
      <p:sp>
        <p:nvSpPr>
          <p:cNvPr id="1244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5999" y="2619748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30485" y="2742572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93A6EF-6972-C58D-F857-A9DDFCDE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3412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 L 0.15417 -0.00231 L 0.26893 0.07083 L 0.45886 0.07523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231 L 0.15538 -0.00231 L 0.27101 0.00185 L 0.46268 0.00208 " pathEditMode="relative" rAng="0" ptsTypes="AAAA">
                                      <p:cBhvr>
                                        <p:cTn id="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25" y="2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15417 -0.00232 L 0.26893 0.07083 L 0.45886 0.07523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" grpId="0" animBg="1" advAuto="0"/>
      <p:bldP spid="1246" grpId="0" animBg="1" advAuto="0"/>
      <p:bldP spid="1247" grpId="0" animBg="1" advAuto="0"/>
      <p:bldP spid="1248" grpId="0" animBg="1" advAuto="0"/>
      <p:bldP spid="1249" grpId="0" animBg="1" advAuto="0"/>
      <p:bldP spid="1252" grpId="0" animBg="1" advAuto="0"/>
      <p:bldP spid="1253" grpId="0" animBg="1" advAuto="0"/>
      <p:bldP spid="1254" grpId="0" animBg="1" advAuto="0"/>
      <p:bldP spid="1255" grpId="0" animBg="1" advAuto="0"/>
      <p:bldP spid="1258" grpId="0" animBg="1" advAuto="0"/>
      <p:bldP spid="1260" grpId="0" animBg="1" advAuto="0"/>
      <p:bldP spid="2" grpId="0" animBg="1"/>
      <p:bldP spid="2" grpId="1" animBg="1"/>
      <p:bldP spid="23" grpId="0" animBg="1"/>
      <p:bldP spid="23" grpId="1" animBg="1"/>
      <p:bldP spid="25" grpId="0" animBg="1"/>
      <p:bldP spid="2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419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  <a:p>
            <a:r>
              <a:rPr lang="en-US" dirty="0">
                <a:solidFill>
                  <a:srgbClr val="0000FF"/>
                </a:solidFill>
              </a:rPr>
              <a:t>With buffers to absolve transient overloads</a:t>
            </a:r>
          </a:p>
        </p:txBody>
      </p:sp>
      <p:sp>
        <p:nvSpPr>
          <p:cNvPr id="29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Rectangle 1"/>
          <p:cNvSpPr/>
          <p:nvPr/>
        </p:nvSpPr>
        <p:spPr>
          <a:xfrm>
            <a:off x="2285999" y="2675563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393156" y="2726905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2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34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00FF"/>
                </a:solidFill>
              </a:rPr>
              <a:t>dst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14915" y="2926216"/>
            <a:ext cx="595792" cy="550155"/>
            <a:chOff x="6096000" y="4330700"/>
            <a:chExt cx="2031982" cy="1320800"/>
          </a:xfrm>
        </p:grpSpPr>
        <p:sp>
          <p:nvSpPr>
            <p:cNvPr id="20" name="Shape 1123"/>
            <p:cNvSpPr/>
            <p:nvPr/>
          </p:nvSpPr>
          <p:spPr>
            <a:xfrm flipH="1" flipV="1">
              <a:off x="8123810" y="4330700"/>
              <a:ext cx="10" cy="132080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1" name="Shape 1125"/>
            <p:cNvSpPr/>
            <p:nvPr/>
          </p:nvSpPr>
          <p:spPr>
            <a:xfrm>
              <a:off x="6096000" y="4354555"/>
              <a:ext cx="2031982" cy="2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" name="Shape 1126"/>
            <p:cNvSpPr/>
            <p:nvPr/>
          </p:nvSpPr>
          <p:spPr>
            <a:xfrm>
              <a:off x="6096000" y="5625112"/>
              <a:ext cx="2029169" cy="705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2DDE2-2495-046A-7442-7789EE2D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0784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0.15417 -0.00231 L 0.26893 0.07083 L 0.45886 0.07523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09063 -7.40741E-7 L 0.15851 -0.05625 L 0.27049 -0.06065 " pathEditMode="relative" rAng="0" ptsTypes="AAAA">
                                      <p:cBhvr>
                                        <p:cTn id="1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4" y="-303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0.08073 -0.00115 L 0.14097 0.03866 L 0.24115 0.04144 " pathEditMode="relative" rAng="0" ptsTypes="AAAA">
                                      <p:cBhvr>
                                        <p:cTn id="16" dur="1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4" grpId="0" animBg="1"/>
      <p:bldP spid="24" grpId="1" animBg="1"/>
      <p:bldP spid="26" grpId="0" animBg="1"/>
      <p:bldP spid="2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Packet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Efficient use of network resources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Simpler to implement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Robust: can “route around trouble” 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Unpredictable performance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Requires buffer management and congestion control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1566B-2E4B-F7F2-B501-B22DA61A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Results in unpredictability</a:t>
            </a:r>
          </a:p>
          <a:p>
            <a:pPr lvl="1"/>
            <a:r>
              <a:rPr lang="en-US" dirty="0"/>
              <a:t>Works well except for the extreme cases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2BAE-1A0B-6238-FD73-474DEE81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56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MASSIVE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5+ Billion</a:t>
            </a:r>
            <a:r>
              <a:rPr lang="en-US" dirty="0"/>
              <a:t> users</a:t>
            </a:r>
          </a:p>
          <a:p>
            <a:r>
              <a:rPr lang="en-US" dirty="0">
                <a:solidFill>
                  <a:srgbClr val="0000FF"/>
                </a:solidFill>
              </a:rPr>
              <a:t>&gt;1.1 Billion</a:t>
            </a:r>
            <a:r>
              <a:rPr lang="en-US" dirty="0"/>
              <a:t> websites</a:t>
            </a:r>
          </a:p>
          <a:p>
            <a:r>
              <a:rPr lang="en-US" dirty="0">
                <a:solidFill>
                  <a:srgbClr val="0000FF"/>
                </a:solidFill>
              </a:rPr>
              <a:t>~350 Billion</a:t>
            </a:r>
            <a:r>
              <a:rPr lang="en-US" dirty="0"/>
              <a:t> emails sent per day</a:t>
            </a:r>
          </a:p>
          <a:p>
            <a:r>
              <a:rPr lang="en-US" dirty="0">
                <a:solidFill>
                  <a:srgbClr val="0000FF"/>
                </a:solidFill>
              </a:rPr>
              <a:t>&gt;6.9 Billion</a:t>
            </a:r>
            <a:r>
              <a:rPr lang="en-US" dirty="0"/>
              <a:t> smartphones</a:t>
            </a:r>
          </a:p>
          <a:p>
            <a:r>
              <a:rPr lang="en-US" dirty="0">
                <a:solidFill>
                  <a:srgbClr val="0000FF"/>
                </a:solidFill>
              </a:rPr>
              <a:t>&gt;3 Billion</a:t>
            </a:r>
            <a:r>
              <a:rPr lang="en-US" dirty="0"/>
              <a:t> monthly active Facebook users </a:t>
            </a:r>
          </a:p>
          <a:p>
            <a:r>
              <a:rPr lang="en-US" dirty="0">
                <a:solidFill>
                  <a:srgbClr val="0000FF"/>
                </a:solidFill>
              </a:rPr>
              <a:t>&gt;1 Billion</a:t>
            </a:r>
            <a:r>
              <a:rPr lang="en-US" dirty="0"/>
              <a:t> hours of YouTube watched per day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A70D79-4EA6-CE46-9E88-DA01D49A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7DC4D-BE26-F524-B6B6-35C749E4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06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8B3004-3A16-1D4F-936E-29F183C0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7A04F1-11E1-9816-E1F1-2C116AF3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4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a network?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DA0A98-4E28-314B-9B38-340EA895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533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  <a:p>
            <a:r>
              <a:rPr lang="en-US" dirty="0"/>
              <a:t>Loss </a:t>
            </a:r>
          </a:p>
          <a:p>
            <a:r>
              <a:rPr lang="en-US" dirty="0"/>
              <a:t>Throughput</a:t>
            </a:r>
          </a:p>
          <a:p>
            <a:pPr marL="222987" indent="0">
              <a:buNone/>
            </a:pPr>
            <a:r>
              <a:rPr lang="en-US" i="1" dirty="0">
                <a:solidFill>
                  <a:srgbClr val="800080"/>
                </a:solidFill>
              </a:rPr>
              <a:t>	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1788D-976B-A2B3-A3C6-F20B062D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9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send a packet from its source to destination?</a:t>
            </a:r>
          </a:p>
          <a:p>
            <a:pPr marL="222987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9DED5-B39B-F981-2453-21B2D1D9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2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240C0D-DE4F-A09D-95D8-770E7ABD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BF46C74-5EE5-8FF2-43AB-B834D6D9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2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Transmission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push all the bits of a packet into a link?</a:t>
            </a:r>
          </a:p>
          <a:p>
            <a:r>
              <a:rPr lang="en-US" dirty="0"/>
              <a:t>Packet size / Bandwidth of the link</a:t>
            </a:r>
          </a:p>
          <a:p>
            <a:pPr lvl="1"/>
            <a:r>
              <a:rPr lang="en-US" dirty="0"/>
              <a:t>1000 bits / 100 Mbits per sec = 10</a:t>
            </a:r>
            <a:r>
              <a:rPr lang="en-US" baseline="30000" dirty="0"/>
              <a:t>-5</a:t>
            </a:r>
            <a:r>
              <a:rPr lang="en-US" dirty="0"/>
              <a:t> sec</a:t>
            </a:r>
          </a:p>
          <a:p>
            <a:pPr lvl="1"/>
            <a:r>
              <a:rPr lang="en-US" dirty="0"/>
              <a:t>1000 bits / 1 </a:t>
            </a:r>
            <a:r>
              <a:rPr lang="en-US" dirty="0" err="1"/>
              <a:t>Gbits</a:t>
            </a:r>
            <a:r>
              <a:rPr lang="en-US" dirty="0"/>
              <a:t> per sec = 10</a:t>
            </a:r>
            <a:r>
              <a:rPr lang="en-US" baseline="30000" dirty="0"/>
              <a:t>-6</a:t>
            </a:r>
            <a:r>
              <a:rPr lang="en-US" dirty="0"/>
              <a:t> sec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E81A6-17AD-ACAB-193D-E7E7DD5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600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Propagation delay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move one bit from one end of a link to the other?</a:t>
            </a:r>
          </a:p>
          <a:p>
            <a:r>
              <a:rPr lang="en-US" dirty="0"/>
              <a:t>Link length / Propagation speed of link </a:t>
            </a:r>
          </a:p>
          <a:p>
            <a:pPr lvl="1"/>
            <a:r>
              <a:rPr lang="en-US" dirty="0"/>
              <a:t>E.g., 30 kilometers / </a:t>
            </a:r>
            <a:r>
              <a:rPr lang="en-US" dirty="0">
                <a:solidFill>
                  <a:srgbClr val="0000FF"/>
                </a:solidFill>
              </a:rPr>
              <a:t>3*10</a:t>
            </a:r>
            <a:r>
              <a:rPr lang="en-US" baseline="30000" dirty="0">
                <a:solidFill>
                  <a:srgbClr val="0000FF"/>
                </a:solidFill>
              </a:rPr>
              <a:t>8</a:t>
            </a:r>
            <a:r>
              <a:rPr lang="en-US" dirty="0">
                <a:solidFill>
                  <a:srgbClr val="0000FF"/>
                </a:solidFill>
              </a:rPr>
              <a:t> meters per sec</a:t>
            </a:r>
            <a:r>
              <a:rPr lang="en-US" dirty="0"/>
              <a:t> = 10</a:t>
            </a:r>
            <a:r>
              <a:rPr lang="en-US" baseline="30000" dirty="0"/>
              <a:t>-4</a:t>
            </a:r>
            <a:r>
              <a:rPr lang="en-US" dirty="0"/>
              <a:t> sec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29CBA-DC4C-B0D9-5599-035729D2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9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0182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21914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1Mbps,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one bit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800 bits=800x1/10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99060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FF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when that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bit reaches B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724400"/>
            <a:ext cx="2514600" cy="1524000"/>
            <a:chOff x="6629400" y="4724400"/>
            <a:chExt cx="2514600" cy="167640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The last bit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(800x1/10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)+1/10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= 1.8ms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800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38EB4-C1A7-7A5C-4C42-863E2445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22" grpId="0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Queuing delay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1B9C6-FDFE-EAAE-BFA8-445E87C1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280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593851" y="2471741"/>
            <a:ext cx="2639336" cy="3139503"/>
            <a:chOff x="2266809" y="3515363"/>
            <a:chExt cx="3753723" cy="4465071"/>
          </a:xfrm>
        </p:grpSpPr>
        <p:sp>
          <p:nvSpPr>
            <p:cNvPr id="29" name="Rectangle 28"/>
            <p:cNvSpPr/>
            <p:nvPr/>
          </p:nvSpPr>
          <p:spPr bwMode="auto">
            <a:xfrm rot="1739168">
              <a:off x="5084516" y="505290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 rot="1739168">
              <a:off x="4655538" y="4833905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 rot="1739168">
              <a:off x="3497299" y="419946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 rot="1739168">
              <a:off x="2266809" y="3515363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 rot="20179596">
              <a:off x="2609431" y="7438567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 rot="20179596">
              <a:off x="5587039" y="613313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 rot="20179596">
              <a:off x="3998981" y="682936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4876801" y="4038601"/>
            <a:ext cx="3276600" cy="381000"/>
            <a:chOff x="2590800" y="5943600"/>
            <a:chExt cx="3276600" cy="381000"/>
          </a:xfrm>
        </p:grpSpPr>
        <p:cxnSp>
          <p:nvCxnSpPr>
            <p:cNvPr id="94217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18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7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2748119" y="2735405"/>
            <a:ext cx="753322" cy="42519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2649575" y="5199716"/>
            <a:ext cx="901363" cy="3831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4219" name="Straight Connector 16"/>
          <p:cNvCxnSpPr>
            <a:cxnSpLocks noChangeShapeType="1"/>
          </p:cNvCxnSpPr>
          <p:nvPr/>
        </p:nvCxnSpPr>
        <p:spPr bwMode="auto">
          <a:xfrm rot="1739168">
            <a:off x="1236304" y="30715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4220" name="Straight Connector 17"/>
          <p:cNvCxnSpPr>
            <a:cxnSpLocks noChangeShapeType="1"/>
          </p:cNvCxnSpPr>
          <p:nvPr/>
        </p:nvCxnSpPr>
        <p:spPr bwMode="auto">
          <a:xfrm rot="1739168">
            <a:off x="1051216" y="34056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 rot="20179596">
            <a:off x="1005137" y="492501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rot="20179596">
            <a:off x="1158117" y="527395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3493D-1A36-8D2E-D11A-A5E1BFB7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7" name="Group 1"/>
          <p:cNvGrpSpPr>
            <a:grpSpLocks/>
          </p:cNvGrpSpPr>
          <p:nvPr/>
        </p:nvGrpSpPr>
        <p:grpSpPr bwMode="auto">
          <a:xfrm rot="1739168">
            <a:off x="1143000" y="3048000"/>
            <a:ext cx="3276600" cy="381000"/>
            <a:chOff x="2590800" y="5943600"/>
            <a:chExt cx="3276600" cy="381000"/>
          </a:xfrm>
        </p:grpSpPr>
        <p:cxnSp>
          <p:nvCxnSpPr>
            <p:cNvPr id="95248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249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2"/>
          <p:cNvGrpSpPr/>
          <p:nvPr/>
        </p:nvGrpSpPr>
        <p:grpSpPr>
          <a:xfrm rot="20179596">
            <a:off x="1081627" y="4908984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5239" name="Group 38"/>
          <p:cNvGrpSpPr>
            <a:grpSpLocks/>
          </p:cNvGrpSpPr>
          <p:nvPr/>
        </p:nvGrpSpPr>
        <p:grpSpPr bwMode="auto">
          <a:xfrm>
            <a:off x="4919663" y="4037018"/>
            <a:ext cx="3276600" cy="382587"/>
            <a:chOff x="2590800" y="5941430"/>
            <a:chExt cx="3276600" cy="383170"/>
          </a:xfrm>
        </p:grpSpPr>
        <p:cxnSp>
          <p:nvCxnSpPr>
            <p:cNvPr id="95242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243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Rectangle 41"/>
            <p:cNvSpPr/>
            <p:nvPr/>
          </p:nvSpPr>
          <p:spPr bwMode="auto">
            <a:xfrm>
              <a:off x="5153025" y="5943018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4813300" y="5941430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8862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8956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181601" y="2667000"/>
            <a:ext cx="3124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No overload!</a:t>
            </a:r>
          </a:p>
        </p:txBody>
      </p:sp>
      <p:sp>
        <p:nvSpPr>
          <p:cNvPr id="28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5584555" y="3816660"/>
            <a:ext cx="90136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1" name="Rectangle 50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3434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2C475-0E09-1C86-A080-B440E976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36" name="Rectangle 35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4" name="TextBox 5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200" y="6020356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00"/>
                </a:solidFill>
                <a:ea typeface="Arial" charset="0"/>
                <a:cs typeface="Arial" charset="0"/>
              </a:rPr>
              <a:t>Not a rare event!</a:t>
            </a:r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6269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0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1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2" name="Straight Arrow Connector 11"/>
          <p:cNvCxnSpPr>
            <a:cxnSpLocks noChangeShapeType="1"/>
            <a:stCxn id="10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69" name="Group 68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70" name="Straight Connector 6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9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grpSp>
        <p:nvGrpSpPr>
          <p:cNvPr id="96261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96272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73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5CCF8-8638-164C-B088-CFC1A52A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56ACB-22E4-E354-1835-911B115F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8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7290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729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29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29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7291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7292" name="Straight Arrow Connector 11"/>
          <p:cNvCxnSpPr>
            <a:cxnSpLocks noChangeShapeType="1"/>
            <a:stCxn id="97291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40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2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TextBox 4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grpSp>
        <p:nvGrpSpPr>
          <p:cNvPr id="59" name="Group 58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0" name="Rectangle 59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1"/>
          <p:cNvGrpSpPr>
            <a:grpSpLocks/>
          </p:cNvGrpSpPr>
          <p:nvPr/>
        </p:nvGrpSpPr>
        <p:grpSpPr bwMode="auto">
          <a:xfrm rot="1739168">
            <a:off x="1142605" y="3039776"/>
            <a:ext cx="3276600" cy="399498"/>
            <a:chOff x="2590800" y="5935445"/>
            <a:chExt cx="3276600" cy="399802"/>
          </a:xfrm>
        </p:grpSpPr>
        <p:sp>
          <p:nvSpPr>
            <p:cNvPr id="68" name="Rectangle 67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1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E8BC3-6FEC-9683-E258-4A0D2F69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2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8314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8322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20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21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8315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8316" name="Straight Arrow Connector 11"/>
          <p:cNvCxnSpPr>
            <a:cxnSpLocks noChangeShapeType="1"/>
            <a:stCxn id="98315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grpSp>
        <p:nvGrpSpPr>
          <p:cNvPr id="61" name="Group 60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2" name="Rectangle 61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71" name="Rectangle 70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3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53780-ABE0-961D-0E9E-150E13E40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336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7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934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4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4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9338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9339" name="Straight Arrow Connector 11"/>
          <p:cNvCxnSpPr>
            <a:cxnSpLocks noChangeShapeType="1"/>
            <a:stCxn id="99338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99341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grpSp>
        <p:nvGrpSpPr>
          <p:cNvPr id="48" name="Group 47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9" name="Rectangle 48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4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7" name="Rectangle 56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9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DF200-7597-1A2B-F319-EE00D1EA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2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2ECE4-CBC9-44FB-E063-611823CB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67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</a:t>
            </a:r>
            <a:r>
              <a:rPr lang="en-US" dirty="0">
                <a:solidFill>
                  <a:srgbClr val="0000FF"/>
                </a:solidFill>
              </a:rPr>
              <a:t>sit in the buffer </a:t>
            </a:r>
            <a:r>
              <a:rPr lang="en-US" dirty="0"/>
              <a:t>before it is processed?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Depends on traffic pattern</a:t>
            </a:r>
          </a:p>
          <a:p>
            <a:pPr lvl="1"/>
            <a:r>
              <a:rPr lang="en-US" dirty="0"/>
              <a:t>Arrival rate at the queue</a:t>
            </a:r>
          </a:p>
          <a:p>
            <a:pPr lvl="1"/>
            <a:r>
              <a:rPr lang="en-US" dirty="0"/>
              <a:t>Nature of arriving traffic (bursty or not?)</a:t>
            </a:r>
          </a:p>
          <a:p>
            <a:pPr lvl="1"/>
            <a:r>
              <a:rPr lang="en-US" dirty="0"/>
              <a:t>Bandwidth of outgoing link</a:t>
            </a:r>
          </a:p>
          <a:p>
            <a:endParaRPr lang="en-US" dirty="0"/>
          </a:p>
          <a:p>
            <a:r>
              <a:rPr lang="en-US" dirty="0"/>
              <a:t>Not easy to compute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20666-CB78-C643-DEBE-D5768763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queueing theory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Arrival process: how packets arrive</a:t>
            </a:r>
          </a:p>
          <a:p>
            <a:pPr lvl="1"/>
            <a:r>
              <a:rPr lang="en-US" dirty="0"/>
              <a:t>Average rate A</a:t>
            </a:r>
          </a:p>
          <a:p>
            <a:pPr lvl="1"/>
            <a:endParaRPr lang="en-US" dirty="0"/>
          </a:p>
          <a:p>
            <a:r>
              <a:rPr lang="en-US" dirty="0"/>
              <a:t>W: average time packets wait in the queue</a:t>
            </a:r>
          </a:p>
          <a:p>
            <a:pPr lvl="1"/>
            <a:r>
              <a:rPr lang="en-US" dirty="0"/>
              <a:t>W for “waiting time” </a:t>
            </a:r>
            <a:r>
              <a:rPr lang="en-US" dirty="0">
                <a:solidFill>
                  <a:srgbClr val="0000FF"/>
                </a:solidFill>
              </a:rPr>
              <a:t>(queuing delay)</a:t>
            </a:r>
          </a:p>
          <a:p>
            <a:endParaRPr lang="en-US" dirty="0"/>
          </a:p>
          <a:p>
            <a:r>
              <a:rPr lang="en-US" dirty="0"/>
              <a:t>L: average number of packets waiting in the queue</a:t>
            </a:r>
          </a:p>
          <a:p>
            <a:pPr lvl="1"/>
            <a:r>
              <a:rPr lang="en-US" dirty="0"/>
              <a:t>L for “length of queue”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EA245-C0C8-8941-111A-115B3EC7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Little’s Law (1961)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L = A x W</a:t>
            </a:r>
          </a:p>
          <a:p>
            <a:endParaRPr lang="en-US" dirty="0"/>
          </a:p>
          <a:p>
            <a:r>
              <a:rPr lang="en-US" dirty="0"/>
              <a:t>Compute L: count packets in queue every second</a:t>
            </a:r>
          </a:p>
          <a:p>
            <a:endParaRPr lang="en-US" dirty="0"/>
          </a:p>
          <a:p>
            <a:r>
              <a:rPr lang="en-US" dirty="0"/>
              <a:t>Why do you care?</a:t>
            </a:r>
          </a:p>
          <a:p>
            <a:pPr lvl="1"/>
            <a:r>
              <a:rPr lang="en-US" dirty="0"/>
              <a:t>Easy to compute L, harder to compute 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6FC3A-1361-38BF-487D-E0B5BB8A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32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4. Processing Delay</a:t>
            </a:r>
            <a:endParaRPr lang="en-US" dirty="0"/>
          </a:p>
        </p:txBody>
      </p:sp>
      <p:sp>
        <p:nvSpPr>
          <p:cNvPr id="699" name="Shape 699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0"/>
              </a:spcBef>
            </a:lvl1pPr>
          </a:lstStyle>
          <a:p>
            <a:pPr lvl="0"/>
            <a:r>
              <a:rPr lang="en-US" dirty="0"/>
              <a:t>How long does the switch take to process a  packet?</a:t>
            </a:r>
          </a:p>
          <a:p>
            <a:pPr lvl="1"/>
            <a:r>
              <a:rPr lang="en-US" dirty="0"/>
              <a:t>Negligible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0C035-FB65-001A-1CF9-A217CD66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78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676400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709129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703039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718214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718214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+propagation</a:t>
            </a:r>
            <a:r>
              <a:rPr sz="1969" b="0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A94C2-EC8A-F4D6-7902-BEA2671A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503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9D5E-2056-194B-A101-F493B513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Trip Time (RTT)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80911-4B5E-2846-BF9A-91A19745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for a packet to go from a source to a destination and to come back</a:t>
            </a:r>
          </a:p>
          <a:p>
            <a:endParaRPr lang="en-US" dirty="0"/>
          </a:p>
          <a:p>
            <a:r>
              <a:rPr lang="en-US" dirty="0"/>
              <a:t>Why do we care?</a:t>
            </a:r>
          </a:p>
          <a:p>
            <a:pPr lvl="1"/>
            <a:r>
              <a:rPr lang="en-US" dirty="0"/>
              <a:t>Measuring delay is hard from one end</a:t>
            </a:r>
          </a:p>
          <a:p>
            <a:endParaRPr lang="en-US" dirty="0"/>
          </a:p>
          <a:p>
            <a:r>
              <a:rPr lang="en-US" dirty="0"/>
              <a:t>RTT/2 equals </a:t>
            </a:r>
            <a:r>
              <a:rPr lang="en-US" i="1" dirty="0"/>
              <a:t>average</a:t>
            </a:r>
            <a:r>
              <a:rPr lang="en-US" dirty="0"/>
              <a:t> end-to-end delay</a:t>
            </a:r>
          </a:p>
          <a:p>
            <a:pPr lvl="1"/>
            <a:r>
              <a:rPr lang="en-US" dirty="0"/>
              <a:t>Why not exact?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39496-470B-C94E-A8C8-8C1E5E4E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634A6-B25D-764E-A79A-EEE16FBD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ED192-2C57-D8E5-2D9A-5228BEE0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fraction of the packets sent to a destination are dropped?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C1B04-C8E7-D3FE-0744-6DD6F23F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34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what rate is </a:t>
            </a:r>
            <a:r>
              <a:rPr lang="en-US" dirty="0">
                <a:solidFill>
                  <a:srgbClr val="0000FF"/>
                </a:solidFill>
              </a:rPr>
              <a:t>the destination receiving data </a:t>
            </a:r>
            <a:r>
              <a:rPr lang="en-US" dirty="0"/>
              <a:t>from the source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FD1FC-7675-95BF-6D92-6A8AF627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60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959"/>
          <p:cNvSpPr/>
          <p:nvPr/>
        </p:nvSpPr>
        <p:spPr>
          <a:xfrm>
            <a:off x="3429000" y="4515329"/>
            <a:ext cx="4098726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F/R  + propagation delay</a:t>
            </a:r>
          </a:p>
        </p:txBody>
      </p:sp>
      <p:sp>
        <p:nvSpPr>
          <p:cNvPr id="960" name="Shape 960"/>
          <p:cNvSpPr/>
          <p:nvPr/>
        </p:nvSpPr>
        <p:spPr>
          <a:xfrm>
            <a:off x="4000499" y="4304109"/>
            <a:ext cx="2982516" cy="892969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961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62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Throughput</a:t>
            </a:r>
          </a:p>
        </p:txBody>
      </p:sp>
      <p:sp>
        <p:nvSpPr>
          <p:cNvPr id="964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965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66" name="Shape 966"/>
          <p:cNvSpPr/>
          <p:nvPr/>
        </p:nvSpPr>
        <p:spPr>
          <a:xfrm>
            <a:off x="817959" y="1716880"/>
            <a:ext cx="49732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Bandwidth</a:t>
            </a:r>
            <a:r>
              <a:rPr sz="2531" b="0" dirty="0"/>
              <a:t> R bits/sec</a:t>
            </a:r>
          </a:p>
        </p:txBody>
      </p:sp>
      <p:sp>
        <p:nvSpPr>
          <p:cNvPr id="968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Average throughput = </a:t>
            </a:r>
          </a:p>
        </p:txBody>
      </p:sp>
      <p:sp>
        <p:nvSpPr>
          <p:cNvPr id="972" name="Shape 972"/>
          <p:cNvSpPr/>
          <p:nvPr/>
        </p:nvSpPr>
        <p:spPr>
          <a:xfrm>
            <a:off x="625078" y="4515329"/>
            <a:ext cx="2732484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Transfer time</a:t>
            </a:r>
            <a:r>
              <a:rPr lang="en-US" sz="2531" b="0" dirty="0"/>
              <a:t> (T)</a:t>
            </a:r>
            <a:r>
              <a:rPr sz="2531" b="0" dirty="0"/>
              <a:t> =</a:t>
            </a:r>
          </a:p>
        </p:txBody>
      </p:sp>
      <p:sp>
        <p:nvSpPr>
          <p:cNvPr id="973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974" name="Shape 974"/>
          <p:cNvSpPr/>
          <p:nvPr/>
        </p:nvSpPr>
        <p:spPr>
          <a:xfrm>
            <a:off x="3910011" y="5253641"/>
            <a:ext cx="1838325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F/T </a:t>
            </a:r>
            <a:r>
              <a:rPr lang="en-US" sz="2800" b="0" dirty="0"/>
              <a:t>≈</a:t>
            </a:r>
            <a:r>
              <a:rPr lang="en-US" sz="2531" b="0" dirty="0"/>
              <a:t> R</a:t>
            </a:r>
            <a:endParaRPr sz="2531" b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33F8E-8759-ABA0-C630-279A904A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0747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 animBg="1" advAuto="0"/>
      <p:bldP spid="960" grpId="0" animBg="1" advAuto="0"/>
      <p:bldP spid="965" grpId="0" animBg="1" advAuto="0"/>
      <p:bldP spid="966" grpId="0" animBg="1" advAuto="0"/>
      <p:bldP spid="968" grpId="0" animBg="1" advAuto="0"/>
      <p:bldP spid="972" grpId="0" animBg="1" advAuto="0"/>
      <p:bldP spid="973" grpId="0" animBg="1" advAuto="0"/>
      <p:bldP spid="974" grpId="0" animBg="1" advAuto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throughput</a:t>
            </a:r>
          </a:p>
        </p:txBody>
      </p:sp>
      <p:sp>
        <p:nvSpPr>
          <p:cNvPr id="5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7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8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" name="Shape 966"/>
          <p:cNvSpPr/>
          <p:nvPr/>
        </p:nvSpPr>
        <p:spPr>
          <a:xfrm>
            <a:off x="817959" y="1716880"/>
            <a:ext cx="29920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Bandwidth</a:t>
            </a:r>
            <a:r>
              <a:rPr sz="2531" b="0" dirty="0"/>
              <a:t> R</a:t>
            </a:r>
          </a:p>
        </p:txBody>
      </p:sp>
      <p:sp>
        <p:nvSpPr>
          <p:cNvPr id="10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12" name="Shape 981"/>
          <p:cNvSpPr>
            <a:spLocks noChangeAspect="1"/>
          </p:cNvSpPr>
          <p:nvPr/>
        </p:nvSpPr>
        <p:spPr>
          <a:xfrm>
            <a:off x="4114799" y="2029336"/>
            <a:ext cx="914400" cy="914400"/>
          </a:xfrm>
          <a:prstGeom prst="roundRect">
            <a:avLst>
              <a:gd name="adj" fmla="val 11538"/>
            </a:avLst>
          </a:prstGeom>
          <a:solidFill>
            <a:srgbClr val="D6D6D6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" name="Shape 966"/>
          <p:cNvSpPr/>
          <p:nvPr/>
        </p:nvSpPr>
        <p:spPr>
          <a:xfrm>
            <a:off x="5129212" y="1716880"/>
            <a:ext cx="38623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Bandwidth</a:t>
            </a:r>
            <a:r>
              <a:rPr sz="2531" b="0" dirty="0"/>
              <a:t> R</a:t>
            </a:r>
            <a:r>
              <a:rPr lang="en-US" sz="2531" b="0" dirty="0"/>
              <a:t>’ &gt; R</a:t>
            </a:r>
            <a:endParaRPr sz="2531" b="0" dirty="0"/>
          </a:p>
        </p:txBody>
      </p:sp>
      <p:sp>
        <p:nvSpPr>
          <p:cNvPr id="14" name="Shape 965"/>
          <p:cNvSpPr/>
          <p:nvPr/>
        </p:nvSpPr>
        <p:spPr>
          <a:xfrm flipH="1" flipV="1">
            <a:off x="5867400" y="2170709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15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Average throughput = </a:t>
            </a:r>
          </a:p>
        </p:txBody>
      </p:sp>
      <p:sp>
        <p:nvSpPr>
          <p:cNvPr id="16" name="Shape 974"/>
          <p:cNvSpPr/>
          <p:nvPr/>
        </p:nvSpPr>
        <p:spPr>
          <a:xfrm>
            <a:off x="3910012" y="5274352"/>
            <a:ext cx="21859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>
                <a:solidFill>
                  <a:srgbClr val="0000FF"/>
                </a:solidFill>
              </a:rPr>
              <a:t>min{</a:t>
            </a:r>
            <a:r>
              <a:rPr sz="2531" b="0">
                <a:solidFill>
                  <a:srgbClr val="0000FF"/>
                </a:solidFill>
              </a:rPr>
              <a:t>R</a:t>
            </a:r>
            <a:r>
              <a:rPr lang="en-US" sz="2531" b="0">
                <a:solidFill>
                  <a:srgbClr val="0000FF"/>
                </a:solidFill>
              </a:rPr>
              <a:t>, R’} = R</a:t>
            </a:r>
            <a:endParaRPr sz="2531" b="0" dirty="0">
              <a:solidFill>
                <a:srgbClr val="0000FF"/>
              </a:solidFill>
            </a:endParaRPr>
          </a:p>
        </p:txBody>
      </p:sp>
      <p:sp>
        <p:nvSpPr>
          <p:cNvPr id="23" name="Shape 1001"/>
          <p:cNvSpPr/>
          <p:nvPr/>
        </p:nvSpPr>
        <p:spPr>
          <a:xfrm>
            <a:off x="2840396" y="4172890"/>
            <a:ext cx="41148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 b="0" dirty="0">
                <a:solidFill>
                  <a:srgbClr val="0000FF"/>
                </a:solidFill>
              </a:rPr>
              <a:t>bottleneck link</a:t>
            </a:r>
          </a:p>
        </p:txBody>
      </p:sp>
      <p:sp>
        <p:nvSpPr>
          <p:cNvPr id="24" name="Shape 1002"/>
          <p:cNvSpPr/>
          <p:nvPr/>
        </p:nvSpPr>
        <p:spPr>
          <a:xfrm flipH="1">
            <a:off x="3912028" y="2492393"/>
            <a:ext cx="0" cy="1737360"/>
          </a:xfrm>
          <a:prstGeom prst="line">
            <a:avLst/>
          </a:prstGeom>
          <a:ln w="38100">
            <a:solidFill>
              <a:srgbClr val="0000FF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800" b="0">
              <a:solidFill>
                <a:srgbClr val="0000FF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FB29-DAD1-E6D0-7CB5-FC876645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dvAuto="0"/>
      <p:bldP spid="14" grpId="0" animBg="1" advAuto="0"/>
      <p:bldP spid="15" grpId="0" animBg="1" advAuto="0"/>
      <p:bldP spid="16" grpId="0" animBg="1" advAuto="0"/>
      <p:bldP spid="23" grpId="0" animBg="1" advAuto="0"/>
      <p:bldP spid="24" grpId="0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On-demand or via reservation</a:t>
            </a:r>
          </a:p>
          <a:p>
            <a:pPr lvl="0"/>
            <a:r>
              <a:rPr lang="en-US" dirty="0"/>
              <a:t>How do we evaluate a network? </a:t>
            </a:r>
          </a:p>
          <a:p>
            <a:pPr lvl="1"/>
            <a:r>
              <a:rPr lang="en-US" dirty="0"/>
              <a:t>Bandwidth, delay, loss, 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C5656-31A7-80DC-1276-2FF3147B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62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2A0CA-5954-8675-FD4D-1DDEFCBD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01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network made of?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45898-0FC8-9589-F49E-635399DC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999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network made of?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4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45" name="Shape 56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6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47" name="Shape 142"/>
          <p:cNvSpPr>
            <a:spLocks noChangeArrowheads="1"/>
          </p:cNvSpPr>
          <p:nvPr/>
        </p:nvSpPr>
        <p:spPr bwMode="auto">
          <a:xfrm>
            <a:off x="2509838" y="5810250"/>
            <a:ext cx="44021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1835A-0D88-5929-7CD3-DF6C2D5C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76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network made of?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1" name="Shape 143"/>
          <p:cNvSpPr>
            <a:spLocks noChangeArrowheads="1"/>
          </p:cNvSpPr>
          <p:nvPr/>
        </p:nvSpPr>
        <p:spPr bwMode="auto">
          <a:xfrm>
            <a:off x="1931988" y="3243263"/>
            <a:ext cx="40036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phone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2320-4D09-6007-E1F5-3CE0FDB8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300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network made of?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1" name="Shape 143"/>
          <p:cNvSpPr>
            <a:spLocks noChangeArrowheads="1"/>
          </p:cNvSpPr>
          <p:nvPr/>
        </p:nvSpPr>
        <p:spPr bwMode="auto">
          <a:xfrm>
            <a:off x="1931988" y="3243263"/>
            <a:ext cx="40036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phone company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CFBE-81B7-BF22-502C-F7962AD8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996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last hop</a:t>
            </a:r>
          </a:p>
        </p:txBody>
      </p:sp>
      <p:sp>
        <p:nvSpPr>
          <p:cNvPr id="495" name="Shape 495"/>
          <p:cNvSpPr/>
          <p:nvPr/>
        </p:nvSpPr>
        <p:spPr>
          <a:xfrm>
            <a:off x="1443162" y="3768827"/>
            <a:ext cx="6105954" cy="20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496" name="Shape 496"/>
          <p:cNvSpPr/>
          <p:nvPr/>
        </p:nvSpPr>
        <p:spPr>
          <a:xfrm>
            <a:off x="1250156" y="3598663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97" name="Shape 497"/>
          <p:cNvSpPr/>
          <p:nvPr/>
        </p:nvSpPr>
        <p:spPr>
          <a:xfrm>
            <a:off x="7322344" y="355401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98" name="Shape 498"/>
          <p:cNvSpPr/>
          <p:nvPr/>
        </p:nvSpPr>
        <p:spPr>
          <a:xfrm>
            <a:off x="383977" y="3887399"/>
            <a:ext cx="208954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home PC</a:t>
            </a:r>
          </a:p>
        </p:txBody>
      </p:sp>
      <p:sp>
        <p:nvSpPr>
          <p:cNvPr id="499" name="Shape 499"/>
          <p:cNvSpPr/>
          <p:nvPr/>
        </p:nvSpPr>
        <p:spPr>
          <a:xfrm>
            <a:off x="7000509" y="3985625"/>
            <a:ext cx="107080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switch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30A8E-044E-7D79-1116-35E3DA42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488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/>
          <p:nvPr/>
        </p:nvSpPr>
        <p:spPr>
          <a:xfrm>
            <a:off x="4509492" y="5009554"/>
            <a:ext cx="3437930" cy="2491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75000"/>
              <a:alpha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04" name="Shape 504"/>
          <p:cNvSpPr/>
          <p:nvPr/>
        </p:nvSpPr>
        <p:spPr>
          <a:xfrm flipV="1">
            <a:off x="2736504" y="3983449"/>
            <a:ext cx="1" cy="103358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505" name="Shape 505"/>
          <p:cNvSpPr/>
          <p:nvPr/>
        </p:nvSpPr>
        <p:spPr>
          <a:xfrm>
            <a:off x="5223867" y="2241351"/>
            <a:ext cx="3053954" cy="2705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06" name="Shape 506"/>
          <p:cNvSpPr/>
          <p:nvPr/>
        </p:nvSpPr>
        <p:spPr>
          <a:xfrm>
            <a:off x="2884289" y="3769151"/>
            <a:ext cx="3155004" cy="542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507" name="Shape 507"/>
          <p:cNvSpPr/>
          <p:nvPr/>
        </p:nvSpPr>
        <p:spPr>
          <a:xfrm>
            <a:off x="5930482" y="3767716"/>
            <a:ext cx="1677748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connect?</a:t>
            </a:r>
          </a:p>
        </p:txBody>
      </p:sp>
      <p:sp>
        <p:nvSpPr>
          <p:cNvPr id="509" name="Shape 509"/>
          <p:cNvSpPr/>
          <p:nvPr/>
        </p:nvSpPr>
        <p:spPr>
          <a:xfrm flipV="1">
            <a:off x="1443157" y="3766376"/>
            <a:ext cx="1268150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510" name="Shape 510"/>
          <p:cNvSpPr/>
          <p:nvPr/>
        </p:nvSpPr>
        <p:spPr>
          <a:xfrm>
            <a:off x="1250156" y="3598663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11" name="Shape 511"/>
          <p:cNvSpPr/>
          <p:nvPr/>
        </p:nvSpPr>
        <p:spPr>
          <a:xfrm>
            <a:off x="383977" y="3887399"/>
            <a:ext cx="208954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home PC</a:t>
            </a:r>
          </a:p>
        </p:txBody>
      </p:sp>
      <p:sp>
        <p:nvSpPr>
          <p:cNvPr id="512" name="Shape 512"/>
          <p:cNvSpPr/>
          <p:nvPr/>
        </p:nvSpPr>
        <p:spPr>
          <a:xfrm>
            <a:off x="7000509" y="3985625"/>
            <a:ext cx="107080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switch</a:t>
            </a:r>
          </a:p>
        </p:txBody>
      </p:sp>
      <p:sp>
        <p:nvSpPr>
          <p:cNvPr id="513" name="Shape 513"/>
          <p:cNvSpPr/>
          <p:nvPr/>
        </p:nvSpPr>
        <p:spPr>
          <a:xfrm>
            <a:off x="2509242" y="3295055"/>
            <a:ext cx="446484" cy="93761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96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14" name="Shape 514"/>
          <p:cNvSpPr/>
          <p:nvPr/>
        </p:nvSpPr>
        <p:spPr>
          <a:xfrm>
            <a:off x="1795338" y="2762258"/>
            <a:ext cx="205780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 dirty="0"/>
              <a:t>DSL modem</a:t>
            </a:r>
          </a:p>
        </p:txBody>
      </p:sp>
      <p:sp>
        <p:nvSpPr>
          <p:cNvPr id="515" name="Shape 515"/>
          <p:cNvSpPr/>
          <p:nvPr/>
        </p:nvSpPr>
        <p:spPr>
          <a:xfrm>
            <a:off x="5312846" y="2762258"/>
            <a:ext cx="1309654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 dirty="0"/>
              <a:t>DSLAM</a:t>
            </a:r>
          </a:p>
        </p:txBody>
      </p:sp>
      <p:sp>
        <p:nvSpPr>
          <p:cNvPr id="516" name="Shape 516"/>
          <p:cNvSpPr/>
          <p:nvPr/>
        </p:nvSpPr>
        <p:spPr>
          <a:xfrm>
            <a:off x="6742373" y="2563723"/>
            <a:ext cx="1411027" cy="81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400" dirty="0"/>
              <a:t>central office</a:t>
            </a:r>
          </a:p>
        </p:txBody>
      </p:sp>
      <p:sp>
        <p:nvSpPr>
          <p:cNvPr id="517" name="Shape 517"/>
          <p:cNvSpPr/>
          <p:nvPr/>
        </p:nvSpPr>
        <p:spPr>
          <a:xfrm>
            <a:off x="3612211" y="3342688"/>
            <a:ext cx="1734450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phone line</a:t>
            </a:r>
          </a:p>
        </p:txBody>
      </p:sp>
      <p:sp>
        <p:nvSpPr>
          <p:cNvPr id="518" name="Shape 518"/>
          <p:cNvSpPr/>
          <p:nvPr/>
        </p:nvSpPr>
        <p:spPr>
          <a:xfrm>
            <a:off x="2562820" y="493811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01199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19" name="Shape 519"/>
          <p:cNvSpPr/>
          <p:nvPr/>
        </p:nvSpPr>
        <p:spPr>
          <a:xfrm>
            <a:off x="1723430" y="5360797"/>
            <a:ext cx="208954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119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telephone</a:t>
            </a:r>
          </a:p>
        </p:txBody>
      </p:sp>
      <p:sp>
        <p:nvSpPr>
          <p:cNvPr id="520" name="Shape 520"/>
          <p:cNvSpPr/>
          <p:nvPr/>
        </p:nvSpPr>
        <p:spPr>
          <a:xfrm flipH="1" flipV="1">
            <a:off x="5914980" y="4027287"/>
            <a:ext cx="1" cy="1007584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521" name="Shape 521"/>
          <p:cNvSpPr/>
          <p:nvPr/>
        </p:nvSpPr>
        <p:spPr>
          <a:xfrm>
            <a:off x="5697141" y="3295055"/>
            <a:ext cx="446484" cy="93761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22" name="Shape 522"/>
          <p:cNvSpPr/>
          <p:nvPr/>
        </p:nvSpPr>
        <p:spPr>
          <a:xfrm>
            <a:off x="5152430" y="5145354"/>
            <a:ext cx="2089547" cy="93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119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telephone network</a:t>
            </a:r>
          </a:p>
        </p:txBody>
      </p:sp>
      <p:sp>
        <p:nvSpPr>
          <p:cNvPr id="523" name="Shape 523"/>
          <p:cNvSpPr/>
          <p:nvPr/>
        </p:nvSpPr>
        <p:spPr>
          <a:xfrm flipV="1">
            <a:off x="7688414" y="3774746"/>
            <a:ext cx="687385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524" name="Shape 524"/>
          <p:cNvSpPr/>
          <p:nvPr/>
        </p:nvSpPr>
        <p:spPr>
          <a:xfrm>
            <a:off x="7322344" y="355401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25" name="Shape 525"/>
          <p:cNvSpPr/>
          <p:nvPr/>
        </p:nvSpPr>
        <p:spPr>
          <a:xfrm>
            <a:off x="8441354" y="3402359"/>
            <a:ext cx="389530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...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FDB27-2BA7-239C-377F-CF0C78F5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1928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" grpId="0" animBg="1" advAuto="0"/>
      <p:bldP spid="504" grpId="0" animBg="1" advAuto="0"/>
      <p:bldP spid="505" grpId="0" animBg="1" advAuto="0"/>
      <p:bldP spid="506" grpId="0" animBg="1" advAuto="0"/>
      <p:bldP spid="507" grpId="0" animBg="1" advAuto="0"/>
      <p:bldP spid="509" grpId="0" animBg="1" advAuto="0"/>
      <p:bldP spid="513" grpId="0" animBg="1" advAuto="0"/>
      <p:bldP spid="514" grpId="0" animBg="1" advAuto="0"/>
      <p:bldP spid="515" grpId="0" animBg="1" advAuto="0"/>
      <p:bldP spid="516" grpId="0" animBg="1" advAuto="0"/>
      <p:bldP spid="517" grpId="0" animBg="1" advAuto="0"/>
      <p:bldP spid="518" grpId="0" animBg="1" advAuto="0"/>
      <p:bldP spid="519" grpId="0" animBg="1" advAuto="0"/>
      <p:bldP spid="520" grpId="0" animBg="1" advAuto="0"/>
      <p:bldP spid="521" grpId="0" animBg="1" advAuto="0"/>
      <p:bldP spid="522" grpId="0" animBg="1" advAuto="0"/>
      <p:bldP spid="523" grpId="0" animBg="1" advAuto="0"/>
      <p:bldP spid="525" grpId="0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Subscriber Line (DSL)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Twisted pair copper</a:t>
            </a:r>
          </a:p>
          <a:p>
            <a:r>
              <a:rPr lang="en-US" dirty="0"/>
              <a:t>3 separate channels</a:t>
            </a:r>
          </a:p>
          <a:p>
            <a:pPr lvl="1"/>
            <a:r>
              <a:rPr lang="en-US" dirty="0"/>
              <a:t>downstream data channel</a:t>
            </a:r>
          </a:p>
          <a:p>
            <a:pPr lvl="1"/>
            <a:r>
              <a:rPr lang="en-US" dirty="0"/>
              <a:t>upstream data channel</a:t>
            </a:r>
          </a:p>
          <a:p>
            <a:pPr lvl="1"/>
            <a:r>
              <a:rPr lang="en-US" dirty="0"/>
              <a:t>2-way phone channel</a:t>
            </a:r>
          </a:p>
          <a:p>
            <a:r>
              <a:rPr lang="en-US" dirty="0"/>
              <a:t>up to 25 Mbps downstream</a:t>
            </a:r>
          </a:p>
          <a:p>
            <a:r>
              <a:rPr lang="en-US" dirty="0"/>
              <a:t>up to 2.5 Mbps upstream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C1EBA-3092-8829-A754-EE1D4755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811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4" name="Shape 144"/>
          <p:cNvSpPr>
            <a:spLocks noChangeArrowheads="1"/>
          </p:cNvSpPr>
          <p:nvPr/>
        </p:nvSpPr>
        <p:spPr bwMode="auto">
          <a:xfrm>
            <a:off x="1103313" y="5135563"/>
            <a:ext cx="33416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cable company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an cable provider as an ISP?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33ED0-AEDC-80E5-856B-2CDD39E4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194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/>
          <p:nvPr/>
        </p:nvSpPr>
        <p:spPr>
          <a:xfrm>
            <a:off x="5241726" y="2125265"/>
            <a:ext cx="3437930" cy="2705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27" name="Shape 627"/>
          <p:cNvSpPr/>
          <p:nvPr/>
        </p:nvSpPr>
        <p:spPr>
          <a:xfrm>
            <a:off x="2884282" y="3765230"/>
            <a:ext cx="168771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28" name="Shape 628"/>
          <p:cNvSpPr/>
          <p:nvPr/>
        </p:nvSpPr>
        <p:spPr>
          <a:xfrm flipV="1">
            <a:off x="6349008" y="3760221"/>
            <a:ext cx="1268150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30" name="Shape 630"/>
          <p:cNvSpPr/>
          <p:nvPr/>
        </p:nvSpPr>
        <p:spPr>
          <a:xfrm flipV="1">
            <a:off x="1443157" y="3766376"/>
            <a:ext cx="1268150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31" name="Shape 631"/>
          <p:cNvSpPr/>
          <p:nvPr/>
        </p:nvSpPr>
        <p:spPr>
          <a:xfrm>
            <a:off x="1250156" y="3598663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32" name="Shape 632"/>
          <p:cNvSpPr/>
          <p:nvPr/>
        </p:nvSpPr>
        <p:spPr>
          <a:xfrm>
            <a:off x="383977" y="3887399"/>
            <a:ext cx="208954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home PC</a:t>
            </a:r>
          </a:p>
        </p:txBody>
      </p:sp>
      <p:sp>
        <p:nvSpPr>
          <p:cNvPr id="633" name="Shape 633"/>
          <p:cNvSpPr/>
          <p:nvPr/>
        </p:nvSpPr>
        <p:spPr>
          <a:xfrm>
            <a:off x="7000509" y="3985625"/>
            <a:ext cx="107080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switch</a:t>
            </a:r>
          </a:p>
        </p:txBody>
      </p:sp>
      <p:sp>
        <p:nvSpPr>
          <p:cNvPr id="634" name="Shape 634"/>
          <p:cNvSpPr/>
          <p:nvPr/>
        </p:nvSpPr>
        <p:spPr>
          <a:xfrm>
            <a:off x="2509242" y="3295055"/>
            <a:ext cx="446484" cy="93761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96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35" name="Shape 635"/>
          <p:cNvSpPr/>
          <p:nvPr/>
        </p:nvSpPr>
        <p:spPr>
          <a:xfrm>
            <a:off x="1759742" y="2341432"/>
            <a:ext cx="2018110" cy="93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cable modem</a:t>
            </a:r>
          </a:p>
        </p:txBody>
      </p:sp>
      <p:sp>
        <p:nvSpPr>
          <p:cNvPr id="636" name="Shape 636"/>
          <p:cNvSpPr/>
          <p:nvPr/>
        </p:nvSpPr>
        <p:spPr>
          <a:xfrm>
            <a:off x="5709615" y="2762258"/>
            <a:ext cx="1090043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CMTS</a:t>
            </a:r>
          </a:p>
        </p:txBody>
      </p:sp>
      <p:sp>
        <p:nvSpPr>
          <p:cNvPr id="637" name="Shape 637"/>
          <p:cNvSpPr/>
          <p:nvPr/>
        </p:nvSpPr>
        <p:spPr>
          <a:xfrm>
            <a:off x="6902996" y="2484256"/>
            <a:ext cx="1472803" cy="81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400" dirty="0"/>
              <a:t>cable head end</a:t>
            </a:r>
          </a:p>
        </p:txBody>
      </p:sp>
      <p:sp>
        <p:nvSpPr>
          <p:cNvPr id="638" name="Shape 638"/>
          <p:cNvSpPr/>
          <p:nvPr/>
        </p:nvSpPr>
        <p:spPr>
          <a:xfrm>
            <a:off x="3121283" y="3315899"/>
            <a:ext cx="1173399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copper</a:t>
            </a:r>
          </a:p>
        </p:txBody>
      </p:sp>
      <p:sp>
        <p:nvSpPr>
          <p:cNvPr id="639" name="Shape 639"/>
          <p:cNvSpPr/>
          <p:nvPr/>
        </p:nvSpPr>
        <p:spPr>
          <a:xfrm>
            <a:off x="4589858" y="3765325"/>
            <a:ext cx="168771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40" name="Shape 640"/>
          <p:cNvSpPr/>
          <p:nvPr/>
        </p:nvSpPr>
        <p:spPr>
          <a:xfrm>
            <a:off x="5973961" y="3295055"/>
            <a:ext cx="446484" cy="93761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41" name="Shape 641"/>
          <p:cNvSpPr/>
          <p:nvPr/>
        </p:nvSpPr>
        <p:spPr>
          <a:xfrm>
            <a:off x="4947814" y="3315899"/>
            <a:ext cx="772648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fiber</a:t>
            </a:r>
          </a:p>
        </p:txBody>
      </p:sp>
      <p:sp>
        <p:nvSpPr>
          <p:cNvPr id="642" name="Shape 642"/>
          <p:cNvSpPr/>
          <p:nvPr/>
        </p:nvSpPr>
        <p:spPr>
          <a:xfrm>
            <a:off x="4420195" y="3598663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5E5E5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43" name="Shape 643"/>
          <p:cNvSpPr/>
          <p:nvPr/>
        </p:nvSpPr>
        <p:spPr>
          <a:xfrm flipV="1">
            <a:off x="7688414" y="3774746"/>
            <a:ext cx="687385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44" name="Shape 644"/>
          <p:cNvSpPr/>
          <p:nvPr/>
        </p:nvSpPr>
        <p:spPr>
          <a:xfrm>
            <a:off x="8441354" y="3402359"/>
            <a:ext cx="389530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...</a:t>
            </a:r>
          </a:p>
        </p:txBody>
      </p:sp>
      <p:sp>
        <p:nvSpPr>
          <p:cNvPr id="645" name="Shape 645"/>
          <p:cNvSpPr/>
          <p:nvPr/>
        </p:nvSpPr>
        <p:spPr>
          <a:xfrm>
            <a:off x="7322344" y="355401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via cable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01551-DB04-161B-D250-92BFA6D8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1170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" grpId="0" animBg="1" advAuto="0"/>
      <p:bldP spid="627" grpId="0" animBg="1" advAuto="0"/>
      <p:bldP spid="628" grpId="0" animBg="1" advAuto="0"/>
      <p:bldP spid="630" grpId="0" animBg="1" advAuto="0"/>
      <p:bldP spid="634" grpId="0" animBg="1" advAuto="0"/>
      <p:bldP spid="635" grpId="0" animBg="1" advAuto="0"/>
      <p:bldP spid="636" grpId="0" animBg="1" advAuto="0"/>
      <p:bldP spid="637" grpId="0" animBg="1" advAuto="0"/>
      <p:bldP spid="638" grpId="0" animBg="1" advAuto="0"/>
      <p:bldP spid="639" grpId="0" animBg="1" advAuto="0"/>
      <p:bldP spid="640" grpId="0" animBg="1" advAuto="0"/>
      <p:bldP spid="641" grpId="0" animBg="1" advAuto="0"/>
      <p:bldP spid="642" grpId="0" animBg="1" advAuto="0"/>
      <p:bldP spid="643" grpId="0" animBg="1" advAuto="0"/>
      <p:bldP spid="644" grpId="0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Coaxial copper &amp; fiber</a:t>
            </a:r>
          </a:p>
          <a:p>
            <a:r>
              <a:rPr lang="en-US" dirty="0"/>
              <a:t>Up to 42.8 Mbps downstream</a:t>
            </a:r>
          </a:p>
          <a:p>
            <a:r>
              <a:rPr lang="en-US" dirty="0"/>
              <a:t>Up to 30.7 Mbps upstream</a:t>
            </a:r>
          </a:p>
          <a:p>
            <a:r>
              <a:rPr lang="en-US" dirty="0"/>
              <a:t>Shared broadcast medium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53C3-EA01-70F3-049E-1DF6DD4A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806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chemeClr val="bg1">
                <a:lumMod val="50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other means?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0" name="Shape 145"/>
          <p:cNvSpPr>
            <a:spLocks noChangeArrowheads="1"/>
          </p:cNvSpPr>
          <p:nvPr/>
        </p:nvSpPr>
        <p:spPr bwMode="auto">
          <a:xfrm>
            <a:off x="4371975" y="4618038"/>
            <a:ext cx="41624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university net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EAAE0F-C2B3-F5C0-98A3-0DD204AF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06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</a:t>
            </a:r>
          </a:p>
        </p:txBody>
      </p:sp>
      <p:sp>
        <p:nvSpPr>
          <p:cNvPr id="774" name="Shape 774"/>
          <p:cNvSpPr/>
          <p:nvPr/>
        </p:nvSpPr>
        <p:spPr>
          <a:xfrm flipV="1">
            <a:off x="1443162" y="3766307"/>
            <a:ext cx="6862326" cy="252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800"/>
          </a:p>
        </p:txBody>
      </p:sp>
      <p:sp>
        <p:nvSpPr>
          <p:cNvPr id="775" name="Shape 775"/>
          <p:cNvSpPr/>
          <p:nvPr/>
        </p:nvSpPr>
        <p:spPr>
          <a:xfrm>
            <a:off x="1250156" y="3598663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776" name="Shape 776"/>
          <p:cNvSpPr/>
          <p:nvPr/>
        </p:nvSpPr>
        <p:spPr>
          <a:xfrm>
            <a:off x="7152680" y="3446859"/>
            <a:ext cx="625078" cy="625078"/>
          </a:xfrm>
          <a:prstGeom prst="roundRect">
            <a:avLst>
              <a:gd name="adj" fmla="val 21429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777" name="Shape 777"/>
          <p:cNvSpPr/>
          <p:nvPr/>
        </p:nvSpPr>
        <p:spPr>
          <a:xfrm>
            <a:off x="383977" y="3887399"/>
            <a:ext cx="2089547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workstation</a:t>
            </a:r>
          </a:p>
        </p:txBody>
      </p:sp>
      <p:sp>
        <p:nvSpPr>
          <p:cNvPr id="778" name="Shape 778"/>
          <p:cNvSpPr/>
          <p:nvPr/>
        </p:nvSpPr>
        <p:spPr>
          <a:xfrm>
            <a:off x="6181005" y="4127370"/>
            <a:ext cx="2571751" cy="93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“aggregate” switch</a:t>
            </a:r>
          </a:p>
        </p:txBody>
      </p:sp>
      <p:sp>
        <p:nvSpPr>
          <p:cNvPr id="779" name="Shape 779"/>
          <p:cNvSpPr/>
          <p:nvPr/>
        </p:nvSpPr>
        <p:spPr>
          <a:xfrm>
            <a:off x="2402618" y="3280180"/>
            <a:ext cx="2473524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Ethernet cable</a:t>
            </a:r>
          </a:p>
        </p:txBody>
      </p:sp>
      <p:sp>
        <p:nvSpPr>
          <p:cNvPr id="780" name="Shape 780"/>
          <p:cNvSpPr/>
          <p:nvPr/>
        </p:nvSpPr>
        <p:spPr>
          <a:xfrm>
            <a:off x="5357813" y="355401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00"/>
          </a:p>
        </p:txBody>
      </p:sp>
      <p:sp>
        <p:nvSpPr>
          <p:cNvPr id="781" name="Shape 781"/>
          <p:cNvSpPr/>
          <p:nvPr/>
        </p:nvSpPr>
        <p:spPr>
          <a:xfrm>
            <a:off x="4782885" y="4127369"/>
            <a:ext cx="1580555" cy="93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“local” switch</a:t>
            </a:r>
          </a:p>
        </p:txBody>
      </p:sp>
      <p:sp>
        <p:nvSpPr>
          <p:cNvPr id="782" name="Shape 782"/>
          <p:cNvSpPr/>
          <p:nvPr/>
        </p:nvSpPr>
        <p:spPr>
          <a:xfrm>
            <a:off x="8441354" y="3414125"/>
            <a:ext cx="370294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/>
              <a:t>...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64A92-515E-CC88-30F9-E0441A1A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568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" grpId="0" animBg="1" advAuto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Twisted pair copper</a:t>
            </a:r>
          </a:p>
          <a:p>
            <a:r>
              <a:rPr lang="en-US" dirty="0"/>
              <a:t>100 Mbps, 1 Gbps, 10 Gbps (each direction)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2EBC0-F8DC-5242-0333-150D53B7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014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other ways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Cellular (smart phones)</a:t>
            </a:r>
          </a:p>
          <a:p>
            <a:r>
              <a:rPr lang="en-US" dirty="0"/>
              <a:t>Satellite (remote areas)</a:t>
            </a:r>
          </a:p>
          <a:p>
            <a:r>
              <a:rPr lang="en-US" dirty="0"/>
              <a:t>Fiber to the Home (home)</a:t>
            </a:r>
          </a:p>
          <a:p>
            <a:r>
              <a:rPr lang="en-US" dirty="0"/>
              <a:t>Optical carrier (Internet backbone)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6D801-3FF6-6C30-B546-A6786F64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1559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WiFi?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" name="Shape 800"/>
          <p:cNvSpPr/>
          <p:nvPr/>
        </p:nvSpPr>
        <p:spPr>
          <a:xfrm>
            <a:off x="1750218" y="5848945"/>
            <a:ext cx="1518048" cy="919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812" dirty="0">
                <a:solidFill>
                  <a:schemeClr val="accent3"/>
                </a:solidFill>
              </a:rPr>
              <a:t>WiFi</a:t>
            </a:r>
            <a:endParaRPr sz="2812" dirty="0">
              <a:solidFill>
                <a:schemeClr val="accent3"/>
              </a:solidFill>
            </a:endParaRPr>
          </a:p>
        </p:txBody>
      </p:sp>
      <p:sp>
        <p:nvSpPr>
          <p:cNvPr id="48" name="Shape 801"/>
          <p:cNvSpPr/>
          <p:nvPr/>
        </p:nvSpPr>
        <p:spPr>
          <a:xfrm>
            <a:off x="6607969" y="5232797"/>
            <a:ext cx="1580555" cy="104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812" dirty="0">
                <a:solidFill>
                  <a:schemeClr val="accent3"/>
                </a:solidFill>
              </a:rPr>
              <a:t>WiFi</a:t>
            </a:r>
            <a:endParaRPr sz="2812" dirty="0">
              <a:solidFill>
                <a:schemeClr val="accent3"/>
              </a:solidFill>
            </a:endParaRPr>
          </a:p>
        </p:txBody>
      </p:sp>
      <p:sp>
        <p:nvSpPr>
          <p:cNvPr id="49" name="Shape 802"/>
          <p:cNvSpPr/>
          <p:nvPr/>
        </p:nvSpPr>
        <p:spPr>
          <a:xfrm>
            <a:off x="535781" y="1884164"/>
            <a:ext cx="1678782" cy="1044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812" dirty="0">
                <a:solidFill>
                  <a:schemeClr val="accent3"/>
                </a:solidFill>
              </a:rPr>
              <a:t>WiFi</a:t>
            </a:r>
            <a:endParaRPr sz="2812" dirty="0">
              <a:solidFill>
                <a:schemeClr val="accent3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1E68-B7BB-8135-4457-57A19F71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 advAuto="0"/>
      <p:bldP spid="48" grpId="0" animBg="1" advAuto="0"/>
      <p:bldP spid="49" grpId="0" animBg="1" advAuto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95D5-BFBC-1547-BA85-28624216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3885-8D79-B541-B228-AC3BF64F9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A956-1E93-B94E-9F05-9C5605EF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C784F-7732-2744-A2B9-EADBFBE8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9EE8-BD34-D650-FDAC-AF857937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631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on Circuit Switching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A08FA-D99D-5B34-B303-F56D589C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128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kinds of circuits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division multiplexing</a:t>
            </a:r>
          </a:p>
          <a:p>
            <a:pPr lvl="1"/>
            <a:r>
              <a:rPr lang="en-US" dirty="0"/>
              <a:t>divide time in time slots</a:t>
            </a:r>
          </a:p>
          <a:p>
            <a:pPr lvl="1"/>
            <a:r>
              <a:rPr lang="en-US" dirty="0"/>
              <a:t>separate time slot per circuit</a:t>
            </a:r>
          </a:p>
          <a:p>
            <a:endParaRPr lang="en-US" dirty="0"/>
          </a:p>
          <a:p>
            <a:r>
              <a:rPr lang="en-US" dirty="0"/>
              <a:t>Frequency division multiplexing</a:t>
            </a:r>
          </a:p>
          <a:p>
            <a:pPr lvl="1"/>
            <a:r>
              <a:rPr lang="en-US" dirty="0"/>
              <a:t>divide frequency spectrum in </a:t>
            </a:r>
            <a:br>
              <a:rPr lang="en-US" dirty="0"/>
            </a:br>
            <a:r>
              <a:rPr lang="en-US" dirty="0"/>
              <a:t>frequency bands</a:t>
            </a:r>
          </a:p>
          <a:p>
            <a:pPr lvl="1"/>
            <a:r>
              <a:rPr lang="en-US" dirty="0"/>
              <a:t>separate frequency band per circuit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798798" y="1676400"/>
            <a:ext cx="1951376" cy="1299618"/>
            <a:chOff x="885825" y="3910013"/>
            <a:chExt cx="2879725" cy="1848346"/>
          </a:xfrm>
        </p:grpSpPr>
        <p:sp>
          <p:nvSpPr>
            <p:cNvPr id="6" name="Text Box 16"/>
            <p:cNvSpPr txBox="1">
              <a:spLocks noChangeArrowheads="1"/>
            </p:cNvSpPr>
            <p:nvPr/>
          </p:nvSpPr>
          <p:spPr bwMode="auto">
            <a:xfrm>
              <a:off x="1791117" y="5257799"/>
              <a:ext cx="1038979" cy="500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87"/>
                <a:t>time</a:t>
              </a:r>
            </a:p>
          </p:txBody>
        </p:sp>
        <p:sp>
          <p:nvSpPr>
            <p:cNvPr id="7" name="Line 17"/>
            <p:cNvSpPr>
              <a:spLocks noChangeShapeType="1"/>
            </p:cNvSpPr>
            <p:nvPr/>
          </p:nvSpPr>
          <p:spPr bwMode="auto">
            <a:xfrm flipV="1">
              <a:off x="885825" y="5330825"/>
              <a:ext cx="287972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922338" y="3910013"/>
              <a:ext cx="231775" cy="1112837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1152525" y="3910013"/>
              <a:ext cx="231775" cy="111283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1384300" y="3910013"/>
              <a:ext cx="231775" cy="11128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1614488" y="3910013"/>
              <a:ext cx="231775" cy="111283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1844675" y="3910013"/>
              <a:ext cx="231775" cy="111283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2073275" y="3910013"/>
              <a:ext cx="231775" cy="1112837"/>
            </a:xfrm>
            <a:prstGeom prst="rect">
              <a:avLst/>
            </a:pr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2305050" y="3910013"/>
              <a:ext cx="231775" cy="1112837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2535238" y="3910013"/>
              <a:ext cx="231775" cy="111283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2767013" y="3910013"/>
              <a:ext cx="231775" cy="11128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2997200" y="3910013"/>
              <a:ext cx="231775" cy="111283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3227388" y="3910013"/>
              <a:ext cx="231775" cy="111283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3455988" y="3910013"/>
              <a:ext cx="231775" cy="1112837"/>
            </a:xfrm>
            <a:prstGeom prst="rect">
              <a:avLst/>
            </a:pr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502462" y="3741693"/>
            <a:ext cx="2195026" cy="1439907"/>
            <a:chOff x="4923115" y="3724777"/>
            <a:chExt cx="3719235" cy="2047870"/>
          </a:xfrm>
        </p:grpSpPr>
        <p:grpSp>
          <p:nvGrpSpPr>
            <p:cNvPr id="21" name="Group 5"/>
            <p:cNvGrpSpPr>
              <a:grpSpLocks/>
            </p:cNvGrpSpPr>
            <p:nvPr/>
          </p:nvGrpSpPr>
          <p:grpSpPr bwMode="auto">
            <a:xfrm>
              <a:off x="5838825" y="3927475"/>
              <a:ext cx="2803525" cy="1152525"/>
              <a:chOff x="3315" y="2474"/>
              <a:chExt cx="2129" cy="726"/>
            </a:xfrm>
          </p:grpSpPr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3315" y="2474"/>
                <a:ext cx="2129" cy="121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27" name="Rectangle 7"/>
              <p:cNvSpPr>
                <a:spLocks noChangeArrowheads="1"/>
              </p:cNvSpPr>
              <p:nvPr/>
            </p:nvSpPr>
            <p:spPr bwMode="auto">
              <a:xfrm>
                <a:off x="3315" y="2716"/>
                <a:ext cx="2129" cy="1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28" name="Rectangle 8"/>
              <p:cNvSpPr>
                <a:spLocks noChangeArrowheads="1"/>
              </p:cNvSpPr>
              <p:nvPr/>
            </p:nvSpPr>
            <p:spPr bwMode="auto">
              <a:xfrm>
                <a:off x="3315" y="2595"/>
                <a:ext cx="2129" cy="121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29" name="Rectangle 9"/>
              <p:cNvSpPr>
                <a:spLocks noChangeArrowheads="1"/>
              </p:cNvSpPr>
              <p:nvPr/>
            </p:nvSpPr>
            <p:spPr bwMode="auto">
              <a:xfrm>
                <a:off x="3315" y="2837"/>
                <a:ext cx="2129" cy="12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30" name="Rectangle 10"/>
              <p:cNvSpPr>
                <a:spLocks noChangeArrowheads="1"/>
              </p:cNvSpPr>
              <p:nvPr/>
            </p:nvSpPr>
            <p:spPr bwMode="auto">
              <a:xfrm>
                <a:off x="3315" y="2958"/>
                <a:ext cx="2129" cy="121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31" name="Rectangle 11"/>
              <p:cNvSpPr>
                <a:spLocks noChangeArrowheads="1"/>
              </p:cNvSpPr>
              <p:nvPr/>
            </p:nvSpPr>
            <p:spPr bwMode="auto">
              <a:xfrm>
                <a:off x="3315" y="3079"/>
                <a:ext cx="2129" cy="121"/>
              </a:xfrm>
              <a:prstGeom prst="rect">
                <a:avLst/>
              </a:prstGeom>
              <a:solidFill>
                <a:srgbClr val="80008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  <p:sp>
          <p:nvSpPr>
            <p:cNvPr id="22" name="Line 12"/>
            <p:cNvSpPr>
              <a:spLocks noChangeShapeType="1"/>
            </p:cNvSpPr>
            <p:nvPr/>
          </p:nvSpPr>
          <p:spPr bwMode="auto">
            <a:xfrm flipV="1">
              <a:off x="5570538" y="3929063"/>
              <a:ext cx="0" cy="1150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6546499" y="5272087"/>
              <a:ext cx="1192918" cy="500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87" dirty="0"/>
                <a:t>time</a:t>
              </a:r>
            </a:p>
          </p:txBody>
        </p:sp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 rot="16200000">
              <a:off x="4258974" y="4388918"/>
              <a:ext cx="1924633" cy="596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87"/>
                <a:t>frequency</a:t>
              </a:r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6032500" y="5348288"/>
              <a:ext cx="2457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</p:grp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79472AD-D1C3-3AF5-A174-56621AF3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06485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86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87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88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89" name="Line 13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1990" name="Line 14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1991" name="Line 15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199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9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1994" name="Line 53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1995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1996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1997" name="Line 62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41998" name="Text Box 63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pic>
        <p:nvPicPr>
          <p:cNvPr id="4199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0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01" name="Rectangle 66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2002" name="Rectangle 67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2003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20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CA498-E268-C7B4-E867-154357DE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311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34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35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36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37" name="Line 13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4038" name="Line 14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4039" name="Line 15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4040" name="AutoShape 16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4041" name="Line 59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4042" name="Line 68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44043" name="Text Box 69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44044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45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4046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4047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4404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50" name="Rectangle 76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4051" name="Rectangle 77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4052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8F9F6-53C3-DCFD-8B29-7C1A7CE9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703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82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83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84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85" name="Line 13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6086" name="Line 14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6087" name="Line 15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6088" name="AutoShape 16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6089" name="Line 63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6090" name="Line 72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46091" name="Text Box 73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4609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9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609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609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4609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8" name="Rectangle 80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6099" name="Rectangle 81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610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6101" name="AutoShape 16"/>
          <p:cNvSpPr>
            <a:spLocks noChangeArrowheads="1"/>
          </p:cNvSpPr>
          <p:nvPr/>
        </p:nvSpPr>
        <p:spPr bwMode="auto">
          <a:xfrm rot="5400000">
            <a:off x="4502151" y="2627315"/>
            <a:ext cx="182562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5B5AF-F96A-E5A6-79BE-34F91F57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012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30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31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32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33" name="Line 13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4" name="Line 14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5" name="Line 15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6" name="AutoShape 16"/>
          <p:cNvSpPr>
            <a:spLocks noChangeArrowheads="1"/>
          </p:cNvSpPr>
          <p:nvPr/>
        </p:nvSpPr>
        <p:spPr bwMode="auto">
          <a:xfrm rot="5400000">
            <a:off x="4502151" y="2627315"/>
            <a:ext cx="182562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7" name="AutoShape 17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8" name="AutoShape 60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39" name="Line 65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48140" name="Line 74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48141" name="Text Box 75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4814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4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4814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4814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4814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4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8" name="Rectangle 8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8149" name="Rectangle 8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4815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BD177-0CDE-7B0B-4C85-A31AD0B0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402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78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79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80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81" name="Line 13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2" name="Line 14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3" name="Line 15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4" name="AutoShape 16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5" name="AutoShape 17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6" name="AutoShape 18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8" name="AutoShape 61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89" name="Line 70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0190" name="Line 79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50191" name="Text Box 80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5019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9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019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5019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5019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9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8" name="Rectangle 87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0199" name="Rectangle 88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020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AutoShape 53"/>
          <p:cNvSpPr>
            <a:spLocks/>
          </p:cNvSpPr>
          <p:nvPr/>
        </p:nvSpPr>
        <p:spPr bwMode="auto">
          <a:xfrm>
            <a:off x="1846263" y="3200400"/>
            <a:ext cx="76200" cy="838200"/>
          </a:xfrm>
          <a:prstGeom prst="leftBrace">
            <a:avLst>
              <a:gd name="adj1" fmla="val 91667"/>
              <a:gd name="adj2" fmla="val 36366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30" name="Shape 1261"/>
          <p:cNvSpPr/>
          <p:nvPr/>
        </p:nvSpPr>
        <p:spPr>
          <a:xfrm>
            <a:off x="-69201" y="3235298"/>
            <a:ext cx="18722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establishment</a:t>
            </a:r>
            <a:endParaRPr sz="218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3190-2564-7A0E-9BA0-DF43C2F6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7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9"/>
          <p:cNvSpPr>
            <a:spLocks noChangeArrowheads="1"/>
          </p:cNvSpPr>
          <p:nvPr/>
        </p:nvSpPr>
        <p:spPr bwMode="auto">
          <a:xfrm>
            <a:off x="1066800" y="3086100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26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27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28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29" name="AutoShape 13"/>
          <p:cNvSpPr>
            <a:spLocks noChangeArrowheads="1"/>
          </p:cNvSpPr>
          <p:nvPr/>
        </p:nvSpPr>
        <p:spPr bwMode="auto">
          <a:xfrm rot="5400000">
            <a:off x="3714751" y="2401888"/>
            <a:ext cx="1766887" cy="5176838"/>
          </a:xfrm>
          <a:prstGeom prst="parallelogram">
            <a:avLst>
              <a:gd name="adj" fmla="val 25000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rPr>
              <a:t>Data</a:t>
            </a:r>
          </a:p>
        </p:txBody>
      </p:sp>
      <p:sp>
        <p:nvSpPr>
          <p:cNvPr id="52230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1" name="Line 15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2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3" name="AutoShape 17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4" name="AutoShape 18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5" name="AutoShape 19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6" name="AutoShape 53"/>
          <p:cNvSpPr>
            <a:spLocks/>
          </p:cNvSpPr>
          <p:nvPr/>
        </p:nvSpPr>
        <p:spPr bwMode="auto">
          <a:xfrm>
            <a:off x="1846263" y="3200400"/>
            <a:ext cx="76200" cy="838200"/>
          </a:xfrm>
          <a:prstGeom prst="leftBrace">
            <a:avLst>
              <a:gd name="adj1" fmla="val 91667"/>
              <a:gd name="adj2" fmla="val 36366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2237" name="AutoShape 54"/>
          <p:cNvSpPr>
            <a:spLocks/>
          </p:cNvSpPr>
          <p:nvPr/>
        </p:nvSpPr>
        <p:spPr bwMode="auto">
          <a:xfrm>
            <a:off x="1844675" y="4114800"/>
            <a:ext cx="76200" cy="1219200"/>
          </a:xfrm>
          <a:prstGeom prst="leftBrace">
            <a:avLst>
              <a:gd name="adj1" fmla="val 133333"/>
              <a:gd name="adj2" fmla="val 36366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r>
              <a:rPr lang="en-US" sz="1617" dirty="0">
                <a:latin typeface="PMingLiU" charset="0"/>
              </a:rPr>
              <a:t>                </a:t>
            </a:r>
            <a:r>
              <a:rPr lang="en-US" sz="1617" dirty="0">
                <a:solidFill>
                  <a:srgbClr val="000000"/>
                </a:solidFill>
                <a:latin typeface="PMingLiU" charset="0"/>
              </a:rPr>
              <a:t>   </a:t>
            </a:r>
          </a:p>
        </p:txBody>
      </p:sp>
      <p:sp>
        <p:nvSpPr>
          <p:cNvPr id="52238" name="AutoShape 63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39" name="Line 72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2240" name="Line 81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52241" name="Text Box 82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5224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4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224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5224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5224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4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8" name="Rectangle 89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2249" name="Rectangle 90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225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261"/>
          <p:cNvSpPr/>
          <p:nvPr/>
        </p:nvSpPr>
        <p:spPr>
          <a:xfrm>
            <a:off x="-69201" y="3235298"/>
            <a:ext cx="18722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establishment</a:t>
            </a:r>
            <a:endParaRPr sz="2180" dirty="0"/>
          </a:p>
        </p:txBody>
      </p:sp>
      <p:sp>
        <p:nvSpPr>
          <p:cNvPr id="32" name="Shape 1261"/>
          <p:cNvSpPr/>
          <p:nvPr/>
        </p:nvSpPr>
        <p:spPr>
          <a:xfrm>
            <a:off x="828445" y="4279774"/>
            <a:ext cx="10178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Data </a:t>
            </a:r>
            <a:br>
              <a:rPr lang="en-US" sz="2180" dirty="0"/>
            </a:br>
            <a:r>
              <a:rPr lang="en-US" sz="2180" dirty="0"/>
              <a:t>transfer</a:t>
            </a:r>
            <a:endParaRPr sz="218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2FD63-7B03-064D-5F05-B9A5E6E8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051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4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5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6" name="AutoShape 13"/>
          <p:cNvSpPr>
            <a:spLocks noChangeArrowheads="1"/>
          </p:cNvSpPr>
          <p:nvPr/>
        </p:nvSpPr>
        <p:spPr bwMode="auto">
          <a:xfrm rot="5400000">
            <a:off x="3714751" y="2401888"/>
            <a:ext cx="1766887" cy="5176838"/>
          </a:xfrm>
          <a:prstGeom prst="parallelogram">
            <a:avLst>
              <a:gd name="adj" fmla="val 25000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rPr>
              <a:t>Data</a:t>
            </a:r>
          </a:p>
        </p:txBody>
      </p:sp>
      <p:sp>
        <p:nvSpPr>
          <p:cNvPr id="54277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78" name="Line 15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79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0" name="AutoShape 17"/>
          <p:cNvSpPr>
            <a:spLocks noChangeArrowheads="1"/>
          </p:cNvSpPr>
          <p:nvPr/>
        </p:nvSpPr>
        <p:spPr bwMode="auto">
          <a:xfrm rot="16200000" flipH="1">
            <a:off x="4409282" y="3615534"/>
            <a:ext cx="368300" cy="5176837"/>
          </a:xfrm>
          <a:prstGeom prst="parallelogram">
            <a:avLst>
              <a:gd name="adj" fmla="val 8089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1" name="AutoShape 18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2" name="AutoShape 19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3" name="AutoShape 20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4" name="AutoShape 54"/>
          <p:cNvSpPr>
            <a:spLocks/>
          </p:cNvSpPr>
          <p:nvPr/>
        </p:nvSpPr>
        <p:spPr bwMode="auto">
          <a:xfrm>
            <a:off x="1842975" y="3200400"/>
            <a:ext cx="76200" cy="838200"/>
          </a:xfrm>
          <a:prstGeom prst="leftBrace">
            <a:avLst>
              <a:gd name="adj1" fmla="val 91667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4285" name="AutoShape 55"/>
          <p:cNvSpPr>
            <a:spLocks/>
          </p:cNvSpPr>
          <p:nvPr/>
        </p:nvSpPr>
        <p:spPr bwMode="auto">
          <a:xfrm>
            <a:off x="1844675" y="4114800"/>
            <a:ext cx="76200" cy="1219200"/>
          </a:xfrm>
          <a:prstGeom prst="leftBrace">
            <a:avLst>
              <a:gd name="adj1" fmla="val 13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r>
              <a:rPr lang="en-US" sz="1617" dirty="0">
                <a:latin typeface="PMingLiU" charset="0"/>
              </a:rPr>
              <a:t>             </a:t>
            </a:r>
            <a:br>
              <a:rPr lang="en-US" sz="1617" dirty="0">
                <a:latin typeface="PMingLiU" charset="0"/>
              </a:rPr>
            </a:b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4286" name="AutoShape 56"/>
          <p:cNvSpPr>
            <a:spLocks/>
          </p:cNvSpPr>
          <p:nvPr/>
        </p:nvSpPr>
        <p:spPr bwMode="auto">
          <a:xfrm>
            <a:off x="1846263" y="5486400"/>
            <a:ext cx="76200" cy="762000"/>
          </a:xfrm>
          <a:prstGeom prst="leftBrace">
            <a:avLst>
              <a:gd name="adj1" fmla="val 8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latin typeface="PMingLiU" charset="0"/>
            </a:endParaRPr>
          </a:p>
        </p:txBody>
      </p:sp>
      <p:sp>
        <p:nvSpPr>
          <p:cNvPr id="54287" name="AutoShape 65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8" name="Line 74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9" name="Line 83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54290" name="Text Box 84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54291" name="AutoShape 85"/>
          <p:cNvSpPr>
            <a:spLocks noChangeArrowheads="1"/>
          </p:cNvSpPr>
          <p:nvPr/>
        </p:nvSpPr>
        <p:spPr bwMode="auto">
          <a:xfrm rot="5400000">
            <a:off x="4341019" y="3202781"/>
            <a:ext cx="457200" cy="5176838"/>
          </a:xfrm>
          <a:prstGeom prst="parallelogram">
            <a:avLst>
              <a:gd name="adj" fmla="val 84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9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9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9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5429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5429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98" name="Rectangle 9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4299" name="Rectangle 9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430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261"/>
          <p:cNvSpPr/>
          <p:nvPr/>
        </p:nvSpPr>
        <p:spPr>
          <a:xfrm>
            <a:off x="-69201" y="3235298"/>
            <a:ext cx="18722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establishment</a:t>
            </a:r>
            <a:endParaRPr sz="2180" dirty="0"/>
          </a:p>
        </p:txBody>
      </p:sp>
      <p:sp>
        <p:nvSpPr>
          <p:cNvPr id="34" name="Shape 1261"/>
          <p:cNvSpPr/>
          <p:nvPr/>
        </p:nvSpPr>
        <p:spPr>
          <a:xfrm>
            <a:off x="828445" y="4279774"/>
            <a:ext cx="10178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Data </a:t>
            </a:r>
            <a:br>
              <a:rPr lang="en-US" sz="2180" dirty="0"/>
            </a:br>
            <a:r>
              <a:rPr lang="en-US" sz="2180" dirty="0"/>
              <a:t>transfer</a:t>
            </a:r>
            <a:endParaRPr sz="2180" dirty="0"/>
          </a:p>
        </p:txBody>
      </p:sp>
      <p:sp>
        <p:nvSpPr>
          <p:cNvPr id="35" name="Shape 1261"/>
          <p:cNvSpPr/>
          <p:nvPr/>
        </p:nvSpPr>
        <p:spPr>
          <a:xfrm>
            <a:off x="544631" y="5573377"/>
            <a:ext cx="1298345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teardown</a:t>
            </a:r>
            <a:endParaRPr sz="218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82407-6E2E-1736-8B6D-2437169F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123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4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5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76" name="AutoShape 13"/>
          <p:cNvSpPr>
            <a:spLocks noChangeArrowheads="1"/>
          </p:cNvSpPr>
          <p:nvPr/>
        </p:nvSpPr>
        <p:spPr bwMode="auto">
          <a:xfrm rot="5400000">
            <a:off x="3714751" y="2401888"/>
            <a:ext cx="1766887" cy="5176838"/>
          </a:xfrm>
          <a:prstGeom prst="parallelogram">
            <a:avLst>
              <a:gd name="adj" fmla="val 25000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rPr>
              <a:t>Data</a:t>
            </a:r>
          </a:p>
        </p:txBody>
      </p:sp>
      <p:sp>
        <p:nvSpPr>
          <p:cNvPr id="54277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78" name="Line 15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79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0" name="AutoShape 17"/>
          <p:cNvSpPr>
            <a:spLocks noChangeArrowheads="1"/>
          </p:cNvSpPr>
          <p:nvPr/>
        </p:nvSpPr>
        <p:spPr bwMode="auto">
          <a:xfrm rot="16200000" flipH="1">
            <a:off x="4409282" y="3615534"/>
            <a:ext cx="368300" cy="5176837"/>
          </a:xfrm>
          <a:prstGeom prst="parallelogram">
            <a:avLst>
              <a:gd name="adj" fmla="val 8089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1" name="AutoShape 18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2" name="AutoShape 19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3" name="AutoShape 20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4" name="AutoShape 54"/>
          <p:cNvSpPr>
            <a:spLocks/>
          </p:cNvSpPr>
          <p:nvPr/>
        </p:nvSpPr>
        <p:spPr bwMode="auto">
          <a:xfrm>
            <a:off x="1842975" y="3200400"/>
            <a:ext cx="76200" cy="838200"/>
          </a:xfrm>
          <a:prstGeom prst="leftBrace">
            <a:avLst>
              <a:gd name="adj1" fmla="val 91667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4285" name="AutoShape 55"/>
          <p:cNvSpPr>
            <a:spLocks/>
          </p:cNvSpPr>
          <p:nvPr/>
        </p:nvSpPr>
        <p:spPr bwMode="auto">
          <a:xfrm>
            <a:off x="1844675" y="4114800"/>
            <a:ext cx="76200" cy="1219200"/>
          </a:xfrm>
          <a:prstGeom prst="leftBrace">
            <a:avLst>
              <a:gd name="adj1" fmla="val 13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r>
              <a:rPr lang="en-US" sz="1617" dirty="0">
                <a:latin typeface="PMingLiU" charset="0"/>
              </a:rPr>
              <a:t>             </a:t>
            </a:r>
            <a:br>
              <a:rPr lang="en-US" sz="1617" dirty="0">
                <a:latin typeface="PMingLiU" charset="0"/>
              </a:rPr>
            </a:b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4286" name="AutoShape 56"/>
          <p:cNvSpPr>
            <a:spLocks/>
          </p:cNvSpPr>
          <p:nvPr/>
        </p:nvSpPr>
        <p:spPr bwMode="auto">
          <a:xfrm>
            <a:off x="1846263" y="5486400"/>
            <a:ext cx="76200" cy="762000"/>
          </a:xfrm>
          <a:prstGeom prst="leftBrace">
            <a:avLst>
              <a:gd name="adj1" fmla="val 8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latin typeface="PMingLiU" charset="0"/>
            </a:endParaRPr>
          </a:p>
        </p:txBody>
      </p:sp>
      <p:sp>
        <p:nvSpPr>
          <p:cNvPr id="54287" name="AutoShape 65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8" name="Line 74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89" name="Line 83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54290" name="Text Box 84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54291" name="AutoShape 85"/>
          <p:cNvSpPr>
            <a:spLocks noChangeArrowheads="1"/>
          </p:cNvSpPr>
          <p:nvPr/>
        </p:nvSpPr>
        <p:spPr bwMode="auto">
          <a:xfrm rot="5400000">
            <a:off x="4341019" y="3202781"/>
            <a:ext cx="457200" cy="5176838"/>
          </a:xfrm>
          <a:prstGeom prst="parallelogram">
            <a:avLst>
              <a:gd name="adj" fmla="val 84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4292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93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4294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54295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5429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98" name="Rectangle 9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4299" name="Rectangle 9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4300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Why the delays?</a:t>
            </a:r>
          </a:p>
        </p:txBody>
      </p:sp>
      <p:sp>
        <p:nvSpPr>
          <p:cNvPr id="33" name="Shape 1261"/>
          <p:cNvSpPr/>
          <p:nvPr/>
        </p:nvSpPr>
        <p:spPr>
          <a:xfrm>
            <a:off x="-69201" y="3235298"/>
            <a:ext cx="18722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establishment</a:t>
            </a:r>
            <a:endParaRPr sz="2180" dirty="0"/>
          </a:p>
        </p:txBody>
      </p:sp>
      <p:sp>
        <p:nvSpPr>
          <p:cNvPr id="34" name="Shape 1261"/>
          <p:cNvSpPr/>
          <p:nvPr/>
        </p:nvSpPr>
        <p:spPr>
          <a:xfrm>
            <a:off x="828445" y="4279774"/>
            <a:ext cx="10178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Data </a:t>
            </a:r>
            <a:br>
              <a:rPr lang="en-US" sz="2180" dirty="0"/>
            </a:br>
            <a:r>
              <a:rPr lang="en-US" sz="2180" dirty="0"/>
              <a:t>transfer</a:t>
            </a:r>
            <a:endParaRPr sz="2180" dirty="0"/>
          </a:p>
        </p:txBody>
      </p:sp>
      <p:sp>
        <p:nvSpPr>
          <p:cNvPr id="35" name="Shape 1261"/>
          <p:cNvSpPr/>
          <p:nvPr/>
        </p:nvSpPr>
        <p:spPr>
          <a:xfrm>
            <a:off x="544631" y="5573377"/>
            <a:ext cx="1298345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teardown</a:t>
            </a:r>
            <a:endParaRPr sz="2180" dirty="0"/>
          </a:p>
        </p:txBody>
      </p:sp>
      <p:sp>
        <p:nvSpPr>
          <p:cNvPr id="2" name="Oval 1"/>
          <p:cNvSpPr/>
          <p:nvPr/>
        </p:nvSpPr>
        <p:spPr bwMode="auto">
          <a:xfrm>
            <a:off x="3520440" y="3223896"/>
            <a:ext cx="365760" cy="365760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5257800" y="3429000"/>
            <a:ext cx="365760" cy="365760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0D108-B2FD-0C37-EBF1-887FF858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988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7346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7347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7348" name="AutoShape 13"/>
          <p:cNvSpPr>
            <a:spLocks noChangeArrowheads="1"/>
          </p:cNvSpPr>
          <p:nvPr/>
        </p:nvSpPr>
        <p:spPr bwMode="auto">
          <a:xfrm rot="5400000">
            <a:off x="3714751" y="2401888"/>
            <a:ext cx="1766887" cy="5176838"/>
          </a:xfrm>
          <a:prstGeom prst="parallelogram">
            <a:avLst>
              <a:gd name="adj" fmla="val 25000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TW" sz="2391" i="1" dirty="0">
              <a:solidFill>
                <a:srgbClr val="CCFFFF"/>
              </a:solidFill>
              <a:ea typeface="PMingLiU" charset="0"/>
              <a:cs typeface="PMingLiU" charset="0"/>
            </a:endParaRPr>
          </a:p>
        </p:txBody>
      </p:sp>
      <p:sp>
        <p:nvSpPr>
          <p:cNvPr id="57349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0" name="AutoShape 17"/>
          <p:cNvSpPr>
            <a:spLocks noChangeArrowheads="1"/>
          </p:cNvSpPr>
          <p:nvPr/>
        </p:nvSpPr>
        <p:spPr bwMode="auto">
          <a:xfrm rot="16200000" flipH="1">
            <a:off x="4409282" y="3615534"/>
            <a:ext cx="368300" cy="5176837"/>
          </a:xfrm>
          <a:prstGeom prst="parallelogram">
            <a:avLst>
              <a:gd name="adj" fmla="val 8089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1" name="AutoShape 18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2" name="AutoShape 19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3" name="AutoShape 20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4" name="AutoShape 54"/>
          <p:cNvSpPr>
            <a:spLocks/>
          </p:cNvSpPr>
          <p:nvPr/>
        </p:nvSpPr>
        <p:spPr bwMode="auto">
          <a:xfrm>
            <a:off x="1828800" y="3200400"/>
            <a:ext cx="76200" cy="838200"/>
          </a:xfrm>
          <a:prstGeom prst="leftBrace">
            <a:avLst>
              <a:gd name="adj1" fmla="val 91667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7355" name="AutoShape 55"/>
          <p:cNvSpPr>
            <a:spLocks/>
          </p:cNvSpPr>
          <p:nvPr/>
        </p:nvSpPr>
        <p:spPr bwMode="auto">
          <a:xfrm>
            <a:off x="1844675" y="4114800"/>
            <a:ext cx="76200" cy="1219200"/>
          </a:xfrm>
          <a:prstGeom prst="leftBrace">
            <a:avLst>
              <a:gd name="adj1" fmla="val 13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r>
              <a:rPr lang="en-US" sz="1617" dirty="0">
                <a:latin typeface="PMingLiU" charset="0"/>
              </a:rPr>
              <a:t>             </a:t>
            </a:r>
            <a:br>
              <a:rPr lang="en-US" sz="1617" dirty="0">
                <a:latin typeface="PMingLiU" charset="0"/>
              </a:rPr>
            </a:br>
            <a:endParaRPr lang="en-US" sz="1617" dirty="0">
              <a:solidFill>
                <a:srgbClr val="000000"/>
              </a:solidFill>
              <a:latin typeface="PMingLiU" charset="0"/>
            </a:endParaRPr>
          </a:p>
        </p:txBody>
      </p:sp>
      <p:sp>
        <p:nvSpPr>
          <p:cNvPr id="57356" name="AutoShape 56"/>
          <p:cNvSpPr>
            <a:spLocks/>
          </p:cNvSpPr>
          <p:nvPr/>
        </p:nvSpPr>
        <p:spPr bwMode="auto">
          <a:xfrm>
            <a:off x="1846263" y="5486400"/>
            <a:ext cx="76200" cy="762000"/>
          </a:xfrm>
          <a:prstGeom prst="leftBrace">
            <a:avLst>
              <a:gd name="adj1" fmla="val 83333"/>
              <a:gd name="adj2" fmla="val 3636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687" tIns="45845" rIns="91687" bIns="229236" anchor="ctr"/>
          <a:lstStyle/>
          <a:p>
            <a:pPr eaLnBrk="0" hangingPunct="0">
              <a:spcBef>
                <a:spcPct val="50000"/>
              </a:spcBef>
              <a:spcAft>
                <a:spcPts val="1000"/>
              </a:spcAft>
            </a:pPr>
            <a:endParaRPr lang="en-US" sz="1617" dirty="0">
              <a:latin typeface="PMingLiU" charset="0"/>
            </a:endParaRPr>
          </a:p>
        </p:txBody>
      </p:sp>
      <p:sp>
        <p:nvSpPr>
          <p:cNvPr id="57357" name="AutoShape 65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58" name="Line 83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57359" name="Text Box 84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57360" name="AutoShape 85"/>
          <p:cNvSpPr>
            <a:spLocks noChangeArrowheads="1"/>
          </p:cNvSpPr>
          <p:nvPr/>
        </p:nvSpPr>
        <p:spPr bwMode="auto">
          <a:xfrm rot="5400000">
            <a:off x="4341019" y="3202781"/>
            <a:ext cx="457200" cy="5176838"/>
          </a:xfrm>
          <a:prstGeom prst="parallelogram">
            <a:avLst>
              <a:gd name="adj" fmla="val 84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61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7362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57363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57364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5736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6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67" name="Rectangle 9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7368" name="Rectangle 9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57369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1" name="AutoShape 13"/>
          <p:cNvSpPr>
            <a:spLocks noChangeArrowheads="1"/>
          </p:cNvSpPr>
          <p:nvPr/>
        </p:nvSpPr>
        <p:spPr bwMode="auto">
          <a:xfrm rot="5400000">
            <a:off x="4036219" y="2135981"/>
            <a:ext cx="1066800" cy="5176838"/>
          </a:xfrm>
          <a:prstGeom prst="parallelogram">
            <a:avLst>
              <a:gd name="adj" fmla="val 454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TW" sz="2391" i="1">
              <a:solidFill>
                <a:srgbClr val="000000"/>
              </a:solidFill>
              <a:ea typeface="PMingLiU" charset="0"/>
              <a:cs typeface="PMingLiU" charset="0"/>
            </a:endParaRPr>
          </a:p>
        </p:txBody>
      </p:sp>
      <p:sp>
        <p:nvSpPr>
          <p:cNvPr id="32" name="AutoShape 13"/>
          <p:cNvSpPr>
            <a:spLocks noChangeArrowheads="1"/>
          </p:cNvSpPr>
          <p:nvPr/>
        </p:nvSpPr>
        <p:spPr bwMode="auto">
          <a:xfrm rot="5400000">
            <a:off x="4188619" y="2669381"/>
            <a:ext cx="762000" cy="5176838"/>
          </a:xfrm>
          <a:prstGeom prst="parallelogram">
            <a:avLst>
              <a:gd name="adj" fmla="val 6207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TW" sz="2391" i="1">
              <a:solidFill>
                <a:srgbClr val="000000"/>
              </a:solidFill>
              <a:ea typeface="PMingLiU" charset="0"/>
              <a:cs typeface="PMingLiU" charset="0"/>
            </a:endParaRPr>
          </a:p>
        </p:txBody>
      </p:sp>
      <p:sp>
        <p:nvSpPr>
          <p:cNvPr id="57372" name="Line 15"/>
          <p:cNvSpPr>
            <a:spLocks noChangeShapeType="1"/>
          </p:cNvSpPr>
          <p:nvPr/>
        </p:nvSpPr>
        <p:spPr bwMode="auto">
          <a:xfrm>
            <a:off x="2005013" y="2787651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73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57374" name="Line 74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35" name="Shape 1261"/>
          <p:cNvSpPr/>
          <p:nvPr/>
        </p:nvSpPr>
        <p:spPr>
          <a:xfrm>
            <a:off x="-69201" y="3235298"/>
            <a:ext cx="18722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establishment</a:t>
            </a:r>
            <a:endParaRPr sz="2180" dirty="0"/>
          </a:p>
        </p:txBody>
      </p:sp>
      <p:sp>
        <p:nvSpPr>
          <p:cNvPr id="36" name="Shape 1261"/>
          <p:cNvSpPr/>
          <p:nvPr/>
        </p:nvSpPr>
        <p:spPr>
          <a:xfrm>
            <a:off x="828445" y="4279774"/>
            <a:ext cx="1017820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Data </a:t>
            </a:r>
            <a:br>
              <a:rPr lang="en-US" sz="2180" dirty="0"/>
            </a:br>
            <a:r>
              <a:rPr lang="en-US" sz="2180" dirty="0"/>
              <a:t>transfer</a:t>
            </a:r>
            <a:endParaRPr sz="2180" dirty="0"/>
          </a:p>
        </p:txBody>
      </p:sp>
      <p:sp>
        <p:nvSpPr>
          <p:cNvPr id="37" name="Shape 1261"/>
          <p:cNvSpPr/>
          <p:nvPr/>
        </p:nvSpPr>
        <p:spPr>
          <a:xfrm>
            <a:off x="544631" y="5573377"/>
            <a:ext cx="1298345" cy="7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r">
              <a:defRPr sz="1800" b="0">
                <a:solidFill>
                  <a:srgbClr val="000000"/>
                </a:solidFill>
              </a:defRPr>
            </a:pPr>
            <a:r>
              <a:rPr lang="en-US" sz="2180" dirty="0"/>
              <a:t>Circuit</a:t>
            </a:r>
            <a:br>
              <a:rPr lang="en-US" sz="2180" dirty="0"/>
            </a:br>
            <a:r>
              <a:rPr lang="en-US" sz="2180" dirty="0"/>
              <a:t> teardown</a:t>
            </a:r>
            <a:endParaRPr sz="218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269B8-C363-390E-6194-49F29AB3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0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5" grpId="0" animBg="1" advAuto="0"/>
      <p:bldP spid="36" grpId="0" animBg="1" advAuto="0"/>
      <p:bldP spid="37" grpId="0" animBg="1" advAuto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0418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0419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0420" name="AutoShape 13"/>
          <p:cNvSpPr>
            <a:spLocks noChangeArrowheads="1"/>
          </p:cNvSpPr>
          <p:nvPr/>
        </p:nvSpPr>
        <p:spPr bwMode="auto">
          <a:xfrm rot="5400000">
            <a:off x="3714751" y="2401888"/>
            <a:ext cx="1766887" cy="5176838"/>
          </a:xfrm>
          <a:prstGeom prst="parallelogram">
            <a:avLst>
              <a:gd name="adj" fmla="val 25000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rPr>
              <a:t>Data</a:t>
            </a:r>
          </a:p>
        </p:txBody>
      </p:sp>
      <p:sp>
        <p:nvSpPr>
          <p:cNvPr id="60421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2" name="Line 15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3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4" name="AutoShape 17"/>
          <p:cNvSpPr>
            <a:spLocks noChangeArrowheads="1"/>
          </p:cNvSpPr>
          <p:nvPr/>
        </p:nvSpPr>
        <p:spPr bwMode="auto">
          <a:xfrm rot="16200000" flipH="1">
            <a:off x="4409282" y="3615534"/>
            <a:ext cx="368300" cy="5176837"/>
          </a:xfrm>
          <a:prstGeom prst="parallelogram">
            <a:avLst>
              <a:gd name="adj" fmla="val 8089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5" name="AutoShape 18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6" name="AutoShape 19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27" name="AutoShape 20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31" name="AutoShape 65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32" name="Line 74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33" name="Line 83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60434" name="Text Box 84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60435" name="AutoShape 85"/>
          <p:cNvSpPr>
            <a:spLocks noChangeArrowheads="1"/>
          </p:cNvSpPr>
          <p:nvPr/>
        </p:nvSpPr>
        <p:spPr bwMode="auto">
          <a:xfrm rot="5400000">
            <a:off x="4341019" y="3202781"/>
            <a:ext cx="457200" cy="5176838"/>
          </a:xfrm>
          <a:prstGeom prst="parallelogram">
            <a:avLst>
              <a:gd name="adj" fmla="val 84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0436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0437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0438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60439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6044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41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42" name="Rectangle 9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60443" name="Rectangle 9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60444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Timing in circuit switching </a:t>
            </a:r>
            <a:endParaRPr lang="en-US" dirty="0">
              <a:latin typeface="+mj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2822D-7AA3-9F96-97C0-A1275C8C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039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0"/>
          <p:cNvSpPr>
            <a:spLocks noChangeArrowheads="1"/>
          </p:cNvSpPr>
          <p:nvPr/>
        </p:nvSpPr>
        <p:spPr bwMode="auto">
          <a:xfrm>
            <a:off x="3151188" y="35194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2466" name="Rectangle 11"/>
          <p:cNvSpPr>
            <a:spLocks noChangeArrowheads="1"/>
          </p:cNvSpPr>
          <p:nvPr/>
        </p:nvSpPr>
        <p:spPr bwMode="auto">
          <a:xfrm>
            <a:off x="1066800" y="38115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2467" name="Rectangle 12"/>
          <p:cNvSpPr>
            <a:spLocks noChangeArrowheads="1"/>
          </p:cNvSpPr>
          <p:nvPr/>
        </p:nvSpPr>
        <p:spPr bwMode="auto">
          <a:xfrm>
            <a:off x="3151188" y="4256088"/>
            <a:ext cx="0" cy="12700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2468" name="AutoShape 13"/>
          <p:cNvSpPr>
            <a:spLocks noChangeArrowheads="1"/>
          </p:cNvSpPr>
          <p:nvPr/>
        </p:nvSpPr>
        <p:spPr bwMode="auto">
          <a:xfrm rot="5400000">
            <a:off x="4327526" y="1789113"/>
            <a:ext cx="541337" cy="5176838"/>
          </a:xfrm>
          <a:prstGeom prst="parallelogram">
            <a:avLst>
              <a:gd name="adj" fmla="val 71921"/>
            </a:avLst>
          </a:prstGeom>
          <a:solidFill>
            <a:srgbClr val="C1CE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962" tIns="45982" rIns="91962" bIns="45982" anchor="ctr"/>
          <a:lstStyle/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TW" sz="492" i="1" dirty="0">
              <a:solidFill>
                <a:srgbClr val="000000"/>
              </a:solidFill>
              <a:ea typeface="PMingLiU" charset="0"/>
              <a:cs typeface="PMingLiU" charset="0"/>
            </a:endParaRPr>
          </a:p>
        </p:txBody>
      </p:sp>
      <p:sp>
        <p:nvSpPr>
          <p:cNvPr id="62469" name="Line 14"/>
          <p:cNvSpPr>
            <a:spLocks noChangeShapeType="1"/>
          </p:cNvSpPr>
          <p:nvPr/>
        </p:nvSpPr>
        <p:spPr bwMode="auto">
          <a:xfrm>
            <a:off x="3729038" y="2967038"/>
            <a:ext cx="3175" cy="3365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0" name="Line 15"/>
          <p:cNvSpPr>
            <a:spLocks noChangeShapeType="1"/>
          </p:cNvSpPr>
          <p:nvPr/>
        </p:nvSpPr>
        <p:spPr bwMode="auto">
          <a:xfrm>
            <a:off x="2005013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1" name="Line 16"/>
          <p:cNvSpPr>
            <a:spLocks noChangeShapeType="1"/>
          </p:cNvSpPr>
          <p:nvPr/>
        </p:nvSpPr>
        <p:spPr bwMode="auto">
          <a:xfrm>
            <a:off x="7181850" y="2795588"/>
            <a:ext cx="0" cy="3536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2" name="AutoShape 17"/>
          <p:cNvSpPr>
            <a:spLocks noChangeArrowheads="1"/>
          </p:cNvSpPr>
          <p:nvPr/>
        </p:nvSpPr>
        <p:spPr bwMode="auto">
          <a:xfrm rot="16200000" flipH="1">
            <a:off x="4409282" y="2409034"/>
            <a:ext cx="368300" cy="5176837"/>
          </a:xfrm>
          <a:prstGeom prst="parallelogram">
            <a:avLst>
              <a:gd name="adj" fmla="val 8089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3" name="AutoShape 18"/>
          <p:cNvSpPr>
            <a:spLocks noChangeArrowheads="1"/>
          </p:cNvSpPr>
          <p:nvPr/>
        </p:nvSpPr>
        <p:spPr bwMode="auto">
          <a:xfrm rot="16200000" flipH="1">
            <a:off x="4441825" y="1366841"/>
            <a:ext cx="303213" cy="5176837"/>
          </a:xfrm>
          <a:prstGeom prst="parallelogram">
            <a:avLst>
              <a:gd name="adj" fmla="val 795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4" name="AutoShape 19"/>
          <p:cNvSpPr>
            <a:spLocks noChangeArrowheads="1"/>
          </p:cNvSpPr>
          <p:nvPr/>
        </p:nvSpPr>
        <p:spPr bwMode="auto">
          <a:xfrm rot="5400000">
            <a:off x="4502153" y="2635253"/>
            <a:ext cx="182563" cy="1725613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5" name="AutoShape 20"/>
          <p:cNvSpPr>
            <a:spLocks noChangeArrowheads="1"/>
          </p:cNvSpPr>
          <p:nvPr/>
        </p:nvSpPr>
        <p:spPr bwMode="auto">
          <a:xfrm rot="5400000">
            <a:off x="2775744" y="2451894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8" name="AutoShape 65"/>
          <p:cNvSpPr>
            <a:spLocks noChangeArrowheads="1"/>
          </p:cNvSpPr>
          <p:nvPr/>
        </p:nvSpPr>
        <p:spPr bwMode="auto">
          <a:xfrm rot="5400000">
            <a:off x="6226969" y="2829719"/>
            <a:ext cx="184150" cy="1725612"/>
          </a:xfrm>
          <a:prstGeom prst="parallelogram">
            <a:avLst>
              <a:gd name="adj" fmla="val 63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79" name="Line 74"/>
          <p:cNvSpPr>
            <a:spLocks noChangeShapeType="1"/>
          </p:cNvSpPr>
          <p:nvPr/>
        </p:nvSpPr>
        <p:spPr bwMode="auto">
          <a:xfrm flipH="1">
            <a:off x="5453063" y="2954338"/>
            <a:ext cx="0" cy="3422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rot="10800000" vert="eaVert" wrap="none" lIns="92109" tIns="46056" rIns="92109" bIns="46056" anchor="ctr"/>
          <a:lstStyle/>
          <a:p>
            <a:endParaRPr lang="en-US" sz="1125"/>
          </a:p>
        </p:txBody>
      </p:sp>
      <p:sp>
        <p:nvSpPr>
          <p:cNvPr id="62480" name="Line 83"/>
          <p:cNvSpPr>
            <a:spLocks noChangeShapeType="1"/>
          </p:cNvSpPr>
          <p:nvPr/>
        </p:nvSpPr>
        <p:spPr bwMode="auto">
          <a:xfrm>
            <a:off x="7543800" y="46482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91429" tIns="45715" rIns="91429" bIns="45715">
            <a:spAutoFit/>
          </a:bodyPr>
          <a:lstStyle/>
          <a:p>
            <a:endParaRPr lang="en-US" sz="1125"/>
          </a:p>
        </p:txBody>
      </p:sp>
      <p:sp>
        <p:nvSpPr>
          <p:cNvPr id="62481" name="Text Box 84"/>
          <p:cNvSpPr txBox="1">
            <a:spLocks noChangeArrowheads="1"/>
          </p:cNvSpPr>
          <p:nvPr/>
        </p:nvSpPr>
        <p:spPr bwMode="auto">
          <a:xfrm>
            <a:off x="7558090" y="5268915"/>
            <a:ext cx="526084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406" b="0">
                <a:latin typeface="Arial" charset="0"/>
              </a:rPr>
              <a:t>time</a:t>
            </a:r>
          </a:p>
        </p:txBody>
      </p:sp>
      <p:sp>
        <p:nvSpPr>
          <p:cNvPr id="62482" name="AutoShape 85"/>
          <p:cNvSpPr>
            <a:spLocks noChangeArrowheads="1"/>
          </p:cNvSpPr>
          <p:nvPr/>
        </p:nvSpPr>
        <p:spPr bwMode="auto">
          <a:xfrm rot="5400000">
            <a:off x="4341019" y="1983581"/>
            <a:ext cx="457200" cy="5176838"/>
          </a:xfrm>
          <a:prstGeom prst="parallelogram">
            <a:avLst>
              <a:gd name="adj" fmla="val 84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2109" tIns="46056" rIns="92109" bIns="46056" anchor="ctr"/>
          <a:lstStyle/>
          <a:p>
            <a:endParaRPr lang="en-US" sz="1406"/>
          </a:p>
        </p:txBody>
      </p:sp>
      <p:sp>
        <p:nvSpPr>
          <p:cNvPr id="62483" name="Freeform 31"/>
          <p:cNvSpPr>
            <a:spLocks/>
          </p:cNvSpPr>
          <p:nvPr/>
        </p:nvSpPr>
        <p:spPr bwMode="auto">
          <a:xfrm>
            <a:off x="2289176" y="2185991"/>
            <a:ext cx="908050" cy="1587"/>
          </a:xfrm>
          <a:custGeom>
            <a:avLst/>
            <a:gdLst>
              <a:gd name="T0" fmla="*/ 2147483647 w 573"/>
              <a:gd name="T1" fmla="*/ 0 h 1587"/>
              <a:gd name="T2" fmla="*/ 2147483647 w 573"/>
              <a:gd name="T3" fmla="*/ 0 h 1587"/>
              <a:gd name="T4" fmla="*/ 0 w 573"/>
              <a:gd name="T5" fmla="*/ 0 h 1587"/>
              <a:gd name="T6" fmla="*/ 0 60000 65536"/>
              <a:gd name="T7" fmla="*/ 0 60000 65536"/>
              <a:gd name="T8" fmla="*/ 0 60000 65536"/>
              <a:gd name="T9" fmla="*/ 0 w 573"/>
              <a:gd name="T10" fmla="*/ 0 h 1587"/>
              <a:gd name="T11" fmla="*/ 573 w 5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3" h="1587">
                <a:moveTo>
                  <a:pt x="573" y="0"/>
                </a:moveTo>
                <a:lnTo>
                  <a:pt x="286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2484" name="Freeform 36"/>
          <p:cNvSpPr>
            <a:spLocks/>
          </p:cNvSpPr>
          <p:nvPr/>
        </p:nvSpPr>
        <p:spPr bwMode="auto">
          <a:xfrm>
            <a:off x="5697541" y="2185991"/>
            <a:ext cx="1019175" cy="1587"/>
          </a:xfrm>
          <a:custGeom>
            <a:avLst/>
            <a:gdLst>
              <a:gd name="T0" fmla="*/ 0 w 643"/>
              <a:gd name="T1" fmla="*/ 0 h 1587"/>
              <a:gd name="T2" fmla="*/ 2147483647 w 643"/>
              <a:gd name="T3" fmla="*/ 0 h 1587"/>
              <a:gd name="T4" fmla="*/ 2147483647 w 643"/>
              <a:gd name="T5" fmla="*/ 0 h 1587"/>
              <a:gd name="T6" fmla="*/ 0 60000 65536"/>
              <a:gd name="T7" fmla="*/ 0 60000 65536"/>
              <a:gd name="T8" fmla="*/ 0 60000 65536"/>
              <a:gd name="T9" fmla="*/ 0 w 643"/>
              <a:gd name="T10" fmla="*/ 0 h 1587"/>
              <a:gd name="T11" fmla="*/ 643 w 64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3" h="1587">
                <a:moveTo>
                  <a:pt x="0" y="0"/>
                </a:moveTo>
                <a:lnTo>
                  <a:pt x="321" y="0"/>
                </a:lnTo>
                <a:lnTo>
                  <a:pt x="643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9" tIns="45715" rIns="91429" bIns="45715"/>
          <a:lstStyle/>
          <a:p>
            <a:endParaRPr lang="en-US" sz="1125"/>
          </a:p>
        </p:txBody>
      </p:sp>
      <p:sp>
        <p:nvSpPr>
          <p:cNvPr id="62485" name="Line 54"/>
          <p:cNvSpPr>
            <a:spLocks noChangeShapeType="1"/>
          </p:cNvSpPr>
          <p:nvPr/>
        </p:nvSpPr>
        <p:spPr bwMode="auto">
          <a:xfrm>
            <a:off x="2359028" y="2205038"/>
            <a:ext cx="912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62486" name="Line 56"/>
          <p:cNvSpPr>
            <a:spLocks noChangeShapeType="1"/>
          </p:cNvSpPr>
          <p:nvPr/>
        </p:nvSpPr>
        <p:spPr bwMode="auto">
          <a:xfrm>
            <a:off x="5783263" y="2205038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pic>
        <p:nvPicPr>
          <p:cNvPr id="6248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016" y="1831975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8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6416" y="1828801"/>
            <a:ext cx="68738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89" name="Rectangle 92"/>
          <p:cNvSpPr>
            <a:spLocks noChangeArrowheads="1"/>
          </p:cNvSpPr>
          <p:nvPr/>
        </p:nvSpPr>
        <p:spPr bwMode="auto">
          <a:xfrm>
            <a:off x="3505200" y="2022475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62490" name="Rectangle 93"/>
          <p:cNvSpPr>
            <a:spLocks noChangeArrowheads="1"/>
          </p:cNvSpPr>
          <p:nvPr/>
        </p:nvSpPr>
        <p:spPr bwMode="auto">
          <a:xfrm>
            <a:off x="5181600" y="2057401"/>
            <a:ext cx="488950" cy="415925"/>
          </a:xfrm>
          <a:prstGeom prst="rect">
            <a:avLst/>
          </a:prstGeom>
          <a:solidFill>
            <a:srgbClr val="00009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endParaRPr lang="en-US" sz="1125"/>
          </a:p>
        </p:txBody>
      </p:sp>
      <p:sp>
        <p:nvSpPr>
          <p:cNvPr id="62491" name="Line 56"/>
          <p:cNvSpPr>
            <a:spLocks noChangeShapeType="1"/>
          </p:cNvSpPr>
          <p:nvPr/>
        </p:nvSpPr>
        <p:spPr bwMode="auto">
          <a:xfrm>
            <a:off x="4116388" y="2209800"/>
            <a:ext cx="989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77" tIns="44445" rIns="90477" bIns="44445"/>
          <a:lstStyle/>
          <a:p>
            <a:endParaRPr lang="en-US" sz="1125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Timing in circuit switching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4474B-F06B-F759-305C-F1880DFC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398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345E-4072-FD4B-938F-698EF714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F75BE-8C93-1C44-B383-53D862F1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1A249-A166-DC48-AE02-9AE37975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3664B-7DF1-1401-3F95-2A4A9081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830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found the right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really know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we do know</a:t>
            </a:r>
          </a:p>
          <a:p>
            <a:pPr lvl="1"/>
            <a:r>
              <a:rPr lang="en-US" dirty="0"/>
              <a:t>The early Internet pioneers produced a solution that was successful beyond all imagining </a:t>
            </a:r>
          </a:p>
          <a:p>
            <a:pPr lvl="1"/>
            <a:r>
              <a:rPr lang="en-US" dirty="0"/>
              <a:t>Several enduring </a:t>
            </a:r>
            <a:r>
              <a:rPr lang="en-US" dirty="0">
                <a:solidFill>
                  <a:srgbClr val="0000FF"/>
                </a:solidFill>
              </a:rPr>
              <a:t>architectural principles and practices </a:t>
            </a:r>
            <a:r>
              <a:rPr lang="en-US" dirty="0"/>
              <a:t>emerged from their work</a:t>
            </a:r>
          </a:p>
          <a:p>
            <a:endParaRPr lang="en-US" dirty="0"/>
          </a:p>
          <a:p>
            <a:r>
              <a:rPr lang="en-US" dirty="0"/>
              <a:t>Still, it is just one design with many questions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9828DD-9BA3-6346-8F82-B33F0F57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32D10-EDAD-EB70-624F-BDD5D49D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6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is a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x-none" dirty="0">
                <a:solidFill>
                  <a:srgbClr val="000000"/>
                </a:solidFill>
              </a:rPr>
              <a:t>In how to reason through the design of a </a:t>
            </a:r>
            <a:r>
              <a:rPr lang="en-US" altLang="x-none" u="sng" dirty="0">
                <a:solidFill>
                  <a:srgbClr val="000000"/>
                </a:solidFill>
              </a:rPr>
              <a:t>very</a:t>
            </a:r>
            <a:r>
              <a:rPr lang="en-US" altLang="x-none" dirty="0">
                <a:solidFill>
                  <a:srgbClr val="000000"/>
                </a:solidFill>
              </a:rPr>
              <a:t> complex system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our goals and constraints?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</a:t>
            </a:r>
            <a:r>
              <a:rPr lang="en-US" altLang="en-US" dirty="0">
                <a:solidFill>
                  <a:srgbClr val="0000FF"/>
                </a:solidFill>
              </a:rPr>
              <a:t>’</a:t>
            </a:r>
            <a:r>
              <a:rPr lang="en-US" altLang="x-none" dirty="0">
                <a:solidFill>
                  <a:srgbClr val="0000FF"/>
                </a:solidFill>
              </a:rPr>
              <a:t>s the right prioritization of goals?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How do we decompose a problem? 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Who does what? How?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interfaces between components?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tradeoffs between design options?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F61AA50-A857-8445-A2A9-84B60DBA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2CF4A-6A1B-545D-3849-690C956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3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A111-856C-8DF9-9F3C-D066A137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AADC3-6A32-3363-DE48-E7FA1FF2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9C034-5459-1417-C894-2D2028D9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19EDB-455D-4434-F526-21435C68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504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Transmission delay decreases as bandwidth increases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view of a link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3622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8956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4290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Group 8"/>
          <p:cNvGrpSpPr>
            <a:grpSpLocks/>
          </p:cNvGrpSpPr>
          <p:nvPr/>
        </p:nvGrpSpPr>
        <p:grpSpPr>
          <a:xfrm>
            <a:off x="1783080" y="3124200"/>
            <a:ext cx="6675120" cy="9144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10" name="Straight Connector 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" name="TextBox 14"/>
          <p:cNvSpPr txBox="1"/>
          <p:nvPr/>
        </p:nvSpPr>
        <p:spPr>
          <a:xfrm>
            <a:off x="3962400" y="4191000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4876800" y="4391055"/>
            <a:ext cx="12954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 rot="16200000">
            <a:off x="516146" y="338134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bandwidth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flipV="1">
            <a:off x="1449735" y="3095655"/>
            <a:ext cx="0" cy="9714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ight Brace 20"/>
          <p:cNvSpPr/>
          <p:nvPr/>
        </p:nvSpPr>
        <p:spPr bwMode="auto">
          <a:xfrm rot="16200000">
            <a:off x="2487507" y="2743200"/>
            <a:ext cx="274320" cy="457200"/>
          </a:xfrm>
          <a:prstGeom prst="rightBrace">
            <a:avLst>
              <a:gd name="adj1" fmla="val 28086"/>
              <a:gd name="adj2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77199" y="2450068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00FF"/>
                </a:solidFill>
              </a:rPr>
              <a:t>transmission delay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10AE2-C5F9-5CD8-3A40-11666B70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  <a:p>
            <a:r>
              <a:rPr lang="en-US" sz="2400" dirty="0"/>
              <a:t>Bandwidth-Delay Product (BDP) </a:t>
            </a:r>
          </a:p>
          <a:p>
            <a:pPr lvl="1"/>
            <a:r>
              <a:rPr lang="en-US" sz="2000" dirty="0"/>
              <a:t>Number of bits “in flight” at any time</a:t>
            </a:r>
          </a:p>
          <a:p>
            <a:r>
              <a:rPr lang="en-US" sz="2400" dirty="0"/>
              <a:t>BDP = bandwidth × propagation delay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92784" y="2152270"/>
            <a:ext cx="240639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chemeClr val="accent3"/>
                </a:solidFill>
                <a:ea typeface="Arial" charset="0"/>
                <a:cs typeface="Arial" charset="0"/>
              </a:rPr>
              <a:t>delay x bandwidth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link:  BDP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24B8DB4-B7C4-E17D-45E1-5E470C4E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Same city over a slow link: 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~100Mbps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~0.1msec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10,000bits (1.25KBytes)</a:t>
            </a:r>
          </a:p>
          <a:p>
            <a:pPr marL="0" indent="0">
              <a:buNone/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Cross-country over fast link: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~10Gbps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~10msec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</a:t>
            </a:r>
            <a:r>
              <a:rPr lang="en-US" baseline="30000" dirty="0"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bits (12.5MBytes)</a:t>
            </a:r>
          </a:p>
          <a:p>
            <a:pPr lvl="1"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BDP Examples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12EC8-DBF0-07C8-CB68-AFBB6D77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43-9AF4-2E6A-B443-0E9556CA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46403-7E7C-6939-1439-A824332C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FF63A-2108-D75E-A54A-6C99D37E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7ABF0-EF0A-1D4F-6EFC-D2A5F49A4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1E262-5A3A-CDFF-5A76-82DC00D8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035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4381500" y="1790702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one bit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800 bits=800x1/10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26162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when that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bit reaches B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114800"/>
            <a:ext cx="2514600" cy="2133600"/>
            <a:chOff x="6629400" y="4053840"/>
            <a:chExt cx="2514600" cy="234696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The last bit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(800x1/10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)+1/10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 dirty="0">
                  <a:solidFill>
                    <a:srgbClr val="0000FF"/>
                  </a:solidFill>
                  <a:cs typeface="Arial" charset="0"/>
                </a:rPr>
                <a:t>= 1.0008ms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053840"/>
              <a:ext cx="381000" cy="7467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448A0-FABC-A307-F6AF-35BF3AAB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5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51329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46236E88-BC2E-8CF5-4953-68162687B4C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89628" y="1790702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2A20E1A9-3551-8EC9-3B3A-5A32DA970E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89628" y="2052326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AB8196D9-AE77-70DB-B230-C5BDEC74DE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89628" y="2313950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3E49B5BB-C7A3-521D-05BD-439D594A04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89628" y="2574290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12" name="AutoShape 17">
            <a:extLst>
              <a:ext uri="{FF2B5EF4-FFF2-40B4-BE49-F238E27FC236}">
                <a16:creationId xmlns:a16="http://schemas.microsoft.com/office/drawing/2014/main" id="{4F56D108-1E5C-EC83-C54F-E19C2ECFE2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89628" y="2835914"/>
            <a:ext cx="609602" cy="3886200"/>
          </a:xfrm>
          <a:prstGeom prst="parallelogram">
            <a:avLst>
              <a:gd name="adj" fmla="val 58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 dirty="0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2556" name="Line 18"/>
          <p:cNvSpPr>
            <a:spLocks noChangeShapeType="1"/>
          </p:cNvSpPr>
          <p:nvPr/>
        </p:nvSpPr>
        <p:spPr bwMode="auto">
          <a:xfrm>
            <a:off x="27432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557" name="Line 18"/>
          <p:cNvSpPr>
            <a:spLocks noChangeShapeType="1"/>
          </p:cNvSpPr>
          <p:nvPr/>
        </p:nvSpPr>
        <p:spPr bwMode="auto">
          <a:xfrm>
            <a:off x="66294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large file using 100-byte packets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94C88-86A0-744C-A7AD-35C5C4D9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2D0A0-1284-38AE-7D67-DBCDFABE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B966-BCFB-C32A-E0C9-09428CE8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73095-2C7B-3F66-9352-FA9CFCA0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26D5-D50D-0E22-8949-13C20B1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7B154-EBBE-8731-F4B2-73411FCB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647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8,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53" name="Rectangle 52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overload leads to packet drop/loss</a:t>
            </a: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 rot="5400000">
            <a:off x="4381500" y="28575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 rot="5400000">
            <a:off x="4381500" y="25527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8" name="&quot;No&quot; Symbol 37"/>
          <p:cNvSpPr/>
          <p:nvPr/>
        </p:nvSpPr>
        <p:spPr bwMode="auto">
          <a:xfrm>
            <a:off x="4306837" y="2362200"/>
            <a:ext cx="457200" cy="457200"/>
          </a:xfrm>
          <a:prstGeom prst="noSmoking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82C7F-CA7A-1F0C-35B3-34C5C711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54245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1490474851</TotalTime>
  <Pages>7</Pages>
  <Words>3536</Words>
  <Application>Microsoft Macintosh PowerPoint</Application>
  <PresentationFormat>On-screen Show (4:3)</PresentationFormat>
  <Paragraphs>926</Paragraphs>
  <Slides>105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6" baseType="lpstr">
      <vt:lpstr>ＭＳ Ｐゴシック</vt:lpstr>
      <vt:lpstr>PMingLiU</vt:lpstr>
      <vt:lpstr>Arial</vt:lpstr>
      <vt:lpstr>Arial Black</vt:lpstr>
      <vt:lpstr>Calibri</vt:lpstr>
      <vt:lpstr>Courier New</vt:lpstr>
      <vt:lpstr>Gill Sans</vt:lpstr>
      <vt:lpstr>Monotype Sorts</vt:lpstr>
      <vt:lpstr>Times New Roman</vt:lpstr>
      <vt:lpstr>Wingdings</vt:lpstr>
      <vt:lpstr>dbllineb</vt:lpstr>
      <vt:lpstr>EECS 489 Computer Networks  Winter 2025</vt:lpstr>
      <vt:lpstr>Agenda</vt:lpstr>
      <vt:lpstr>Staff</vt:lpstr>
      <vt:lpstr>Mosharaf Chowdhury</vt:lpstr>
      <vt:lpstr>489 in EECS curriculum</vt:lpstr>
      <vt:lpstr>What is missing?</vt:lpstr>
      <vt:lpstr>What is a network? </vt:lpstr>
      <vt:lpstr>What is EECS 489 about?</vt:lpstr>
      <vt:lpstr>Class workload</vt:lpstr>
      <vt:lpstr>Grading</vt:lpstr>
      <vt:lpstr>The assignments</vt:lpstr>
      <vt:lpstr>Bonus Quizzes</vt:lpstr>
      <vt:lpstr>Enrollment and wait list</vt:lpstr>
      <vt:lpstr>Communication protocol</vt:lpstr>
      <vt:lpstr>Policies on late submission, re-grade request, cheating …</vt:lpstr>
      <vt:lpstr>Let’s Talk Internet</vt:lpstr>
      <vt:lpstr>From the home…</vt:lpstr>
      <vt:lpstr>Across the world…</vt:lpstr>
      <vt:lpstr>The Internet consists of many end-systems</vt:lpstr>
      <vt:lpstr>Managed by many parties</vt:lpstr>
      <vt:lpstr>A federated system: Logical view</vt:lpstr>
      <vt:lpstr>A federated system: Physical view</vt:lpstr>
      <vt:lpstr>Internet is a switched network (of networks)</vt:lpstr>
      <vt:lpstr>Switched networks</vt:lpstr>
      <vt:lpstr>When do we need to share the network?</vt:lpstr>
      <vt:lpstr>Shared among many services</vt:lpstr>
      <vt:lpstr>Two ways to share switched networks</vt:lpstr>
      <vt:lpstr>Circuit switching</vt:lpstr>
      <vt:lpstr>Circuit switching</vt:lpstr>
      <vt:lpstr>Circuit switching</vt:lpstr>
      <vt:lpstr>Packet switching</vt:lpstr>
      <vt:lpstr>Packet switching</vt:lpstr>
      <vt:lpstr>Packet switching</vt:lpstr>
      <vt:lpstr>Statistical multiplexing</vt:lpstr>
      <vt:lpstr>MASSIVE Scale</vt:lpstr>
      <vt:lpstr>5-minute break!</vt:lpstr>
      <vt:lpstr>How do we evaluate a network?</vt:lpstr>
      <vt:lpstr>Performance metrics</vt:lpstr>
      <vt:lpstr>Delay</vt:lpstr>
      <vt:lpstr>Delay</vt:lpstr>
      <vt:lpstr>A network link</vt:lpstr>
      <vt:lpstr>1. Transmission delay</vt:lpstr>
      <vt:lpstr>2. Propagation delay</vt:lpstr>
      <vt:lpstr>Packet delay Sending a 100-byte packet</vt:lpstr>
      <vt:lpstr>3. Queuing delay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</vt:lpstr>
      <vt:lpstr>Basic queueing theory terminology</vt:lpstr>
      <vt:lpstr>Little’s Law (1961)</vt:lpstr>
      <vt:lpstr>4. Processing Delay</vt:lpstr>
      <vt:lpstr>End-to-end delay</vt:lpstr>
      <vt:lpstr>Round Trip Time (RTT)</vt:lpstr>
      <vt:lpstr>Loss</vt:lpstr>
      <vt:lpstr>Throughput</vt:lpstr>
      <vt:lpstr>Link Throughput</vt:lpstr>
      <vt:lpstr>End-to-end throughput</vt:lpstr>
      <vt:lpstr>Summary</vt:lpstr>
      <vt:lpstr>PowerPoint Presentation</vt:lpstr>
      <vt:lpstr>What is the network made of?</vt:lpstr>
      <vt:lpstr>What is a network made of?</vt:lpstr>
      <vt:lpstr>What is a network made of?</vt:lpstr>
      <vt:lpstr>What is a network made of?</vt:lpstr>
      <vt:lpstr>The last hop</vt:lpstr>
      <vt:lpstr>How do we connect?</vt:lpstr>
      <vt:lpstr>Digital Subscriber Line (DSL)</vt:lpstr>
      <vt:lpstr>How about an cable provider as an ISP?</vt:lpstr>
      <vt:lpstr>Connecting via cable</vt:lpstr>
      <vt:lpstr>Cable</vt:lpstr>
      <vt:lpstr>Any other means?</vt:lpstr>
      <vt:lpstr>Ethernet</vt:lpstr>
      <vt:lpstr>Ethernet</vt:lpstr>
      <vt:lpstr>Many other ways</vt:lpstr>
      <vt:lpstr>Where is WiFi?</vt:lpstr>
      <vt:lpstr>PowerPoint Presentation</vt:lpstr>
      <vt:lpstr>Details on Circuit Switching</vt:lpstr>
      <vt:lpstr>Many kinds of circuits</vt:lpstr>
      <vt:lpstr>Timing in circuit switching </vt:lpstr>
      <vt:lpstr>Timing in circuit switching </vt:lpstr>
      <vt:lpstr>Timing in circuit switching </vt:lpstr>
      <vt:lpstr>Timing in circuit switching </vt:lpstr>
      <vt:lpstr>Timing in circuit switching </vt:lpstr>
      <vt:lpstr>Timing in circuit switching </vt:lpstr>
      <vt:lpstr>Timing in circuit switching </vt:lpstr>
      <vt:lpstr>Why the delays?</vt:lpstr>
      <vt:lpstr>Timing in circuit switching </vt:lpstr>
      <vt:lpstr>Timing in circuit switching </vt:lpstr>
      <vt:lpstr>Timing in circuit switching </vt:lpstr>
      <vt:lpstr>PowerPoint Presentation</vt:lpstr>
      <vt:lpstr>Have we found the right solution?</vt:lpstr>
      <vt:lpstr>The Internet is a lesson</vt:lpstr>
      <vt:lpstr>PowerPoint Presentation</vt:lpstr>
      <vt:lpstr>Pipe view of a link</vt:lpstr>
      <vt:lpstr>A network link:  BDP</vt:lpstr>
      <vt:lpstr>BDP Examples</vt:lpstr>
      <vt:lpstr>PowerPoint Presentation</vt:lpstr>
      <vt:lpstr>Packet delay Sending a 100-byte packet</vt:lpstr>
      <vt:lpstr>Sending a large file using 100-byte packets</vt:lpstr>
      <vt:lpstr>PowerPoint Presentation</vt:lpstr>
      <vt:lpstr>Persistent overload leads to packet drop/loss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1350</cp:revision>
  <cp:lastPrinted>1999-09-08T17:25:07Z</cp:lastPrinted>
  <dcterms:created xsi:type="dcterms:W3CDTF">2014-01-14T18:15:50Z</dcterms:created>
  <dcterms:modified xsi:type="dcterms:W3CDTF">2025-01-08T19:47:42Z</dcterms:modified>
  <cp:category/>
</cp:coreProperties>
</file>