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633" r:id="rId2"/>
    <p:sldId id="638" r:id="rId3"/>
    <p:sldId id="487" r:id="rId4"/>
    <p:sldId id="635" r:id="rId5"/>
    <p:sldId id="634" r:id="rId6"/>
    <p:sldId id="636" r:id="rId7"/>
    <p:sldId id="637" r:id="rId8"/>
    <p:sldId id="599" r:id="rId9"/>
    <p:sldId id="601" r:id="rId10"/>
    <p:sldId id="600" r:id="rId11"/>
    <p:sldId id="602" r:id="rId12"/>
    <p:sldId id="598" r:id="rId13"/>
    <p:sldId id="603" r:id="rId14"/>
    <p:sldId id="604" r:id="rId15"/>
    <p:sldId id="605" r:id="rId16"/>
    <p:sldId id="607" r:id="rId17"/>
    <p:sldId id="608" r:id="rId18"/>
    <p:sldId id="609" r:id="rId19"/>
    <p:sldId id="610" r:id="rId20"/>
    <p:sldId id="611" r:id="rId21"/>
    <p:sldId id="606" r:id="rId22"/>
    <p:sldId id="612" r:id="rId23"/>
    <p:sldId id="616" r:id="rId24"/>
    <p:sldId id="614" r:id="rId25"/>
    <p:sldId id="632" r:id="rId26"/>
    <p:sldId id="615" r:id="rId27"/>
    <p:sldId id="613" r:id="rId28"/>
    <p:sldId id="618" r:id="rId29"/>
    <p:sldId id="619" r:id="rId30"/>
    <p:sldId id="620" r:id="rId31"/>
    <p:sldId id="621" r:id="rId32"/>
    <p:sldId id="622" r:id="rId33"/>
    <p:sldId id="623" r:id="rId34"/>
    <p:sldId id="624" r:id="rId35"/>
    <p:sldId id="625" r:id="rId36"/>
    <p:sldId id="617" r:id="rId37"/>
    <p:sldId id="627" r:id="rId38"/>
    <p:sldId id="628" r:id="rId39"/>
    <p:sldId id="629" r:id="rId40"/>
    <p:sldId id="626" r:id="rId41"/>
    <p:sldId id="631" r:id="rId42"/>
    <p:sldId id="630" r:id="rId43"/>
    <p:sldId id="639" r:id="rId44"/>
    <p:sldId id="597" r:id="rId4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99"/>
    <a:srgbClr val="D3A600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9"/>
    <p:restoredTop sz="96197"/>
  </p:normalViewPr>
  <p:slideViewPr>
    <p:cSldViewPr>
      <p:cViewPr varScale="1">
        <p:scale>
          <a:sx n="119" d="100"/>
          <a:sy n="119" d="100"/>
        </p:scale>
        <p:origin x="12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26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0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7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7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8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70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80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28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726E393-C360-5843-A496-63EA60DC7DC8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02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606A353-8C25-8144-93E4-85B5ED34151E}" type="slidenum">
              <a:rPr lang="en-US" sz="1300" b="0">
                <a:latin typeface="Times New Roman" charset="0"/>
              </a:rPr>
              <a:pPr eaLnBrk="1" hangingPunct="1"/>
              <a:t>19</a:t>
            </a:fld>
            <a:endParaRPr lang="en-US" sz="13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95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B00003-BB43-5244-9F35-114E019D855B}" type="slidenum">
              <a:rPr lang="en-US" sz="1300" b="0">
                <a:latin typeface="Times New Roman" charset="0"/>
              </a:rPr>
              <a:pPr eaLnBrk="1" hangingPunct="1"/>
              <a:t>23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294567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16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63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30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72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0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52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7E223B3-ED0D-0B48-B88B-1C353A074062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70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hape 29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7826" name="Shape 29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22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07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584025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January 13,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2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6432" indent="-401323">
              <a:spcBef>
                <a:spcPts val="1687"/>
              </a:spcBef>
              <a:buChar char="-"/>
              <a:defRPr sz="2500" i="1"/>
            </a:lvl2pPr>
            <a:lvl3pPr marL="1248576" indent="-401323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0720" indent="-401323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2864" indent="-401323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>
          <a:xfrm>
            <a:off x="8369300" y="6232525"/>
            <a:ext cx="198438" cy="200025"/>
          </a:xfrm>
          <a:noFill/>
          <a:ln w="12700">
            <a:miter lim="400000"/>
          </a:ln>
        </p:spPr>
        <p:txBody>
          <a:bodyPr/>
          <a:lstStyle>
            <a:lvl1pPr algn="r" defTabSz="914400">
              <a:defRPr b="1"/>
            </a:lvl1pPr>
          </a:lstStyle>
          <a:p>
            <a:fld id="{A5A01CA2-0DEA-164F-A2F3-BDAB2F49714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050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563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D9CA-905E-CCD9-03FB-192A1B55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EAE22-5DBC-0D96-A4D9-8285ABC77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 refers to the time to send data from </a:t>
            </a:r>
            <a:r>
              <a:rPr lang="en-US" dirty="0" err="1"/>
              <a:t>src</a:t>
            </a:r>
            <a:r>
              <a:rPr lang="en-US" dirty="0"/>
              <a:t> to </a:t>
            </a:r>
            <a:r>
              <a:rPr lang="en-US" dirty="0" err="1"/>
              <a:t>dst</a:t>
            </a:r>
            <a:endParaRPr lang="en-US" dirty="0"/>
          </a:p>
          <a:p>
            <a:pPr lvl="1"/>
            <a:r>
              <a:rPr lang="en-US" dirty="0"/>
              <a:t>It has </a:t>
            </a:r>
            <a:r>
              <a:rPr lang="en-US" dirty="0">
                <a:solidFill>
                  <a:srgbClr val="0000FF"/>
                </a:solidFill>
              </a:rPr>
              <a:t>four components</a:t>
            </a:r>
            <a:r>
              <a:rPr lang="en-US" dirty="0"/>
              <a:t>: transmission, propagation, queueing, and processing</a:t>
            </a:r>
          </a:p>
          <a:p>
            <a:r>
              <a:rPr lang="en-US" dirty="0"/>
              <a:t>Bandwidth is the characteristics of a link</a:t>
            </a:r>
          </a:p>
          <a:p>
            <a:r>
              <a:rPr lang="en-US" dirty="0"/>
              <a:t>Throughput is the rate at which a </a:t>
            </a:r>
            <a:r>
              <a:rPr lang="en-US" dirty="0" err="1"/>
              <a:t>src</a:t>
            </a:r>
            <a:r>
              <a:rPr lang="en-US" dirty="0"/>
              <a:t> and </a:t>
            </a:r>
            <a:r>
              <a:rPr lang="en-US" dirty="0" err="1"/>
              <a:t>dst</a:t>
            </a:r>
            <a:r>
              <a:rPr lang="en-US" dirty="0"/>
              <a:t> can communicate</a:t>
            </a:r>
          </a:p>
          <a:p>
            <a:pPr lvl="1"/>
            <a:r>
              <a:rPr lang="en-US" dirty="0"/>
              <a:t>Bounded by the bottleneck link on the path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FB697-6765-2251-D1F5-C9A17209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AC79E-F9C5-B81D-BF8B-0F3A1AA5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93054-5449-66F5-D41C-B5026073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4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communication organized?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00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4463-AF8F-2047-80D9-3A425010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350F-F31F-DA47-88B2-0476888B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744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E388BF67-6ACA-C248-B819-41FCF8D07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8086" y="5646242"/>
              <a:ext cx="950927" cy="59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5.6.7.*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9505" y="3810000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9509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1.2.3.*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(Some of) What happens…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0176-6FA9-0B46-A38D-C7C064EB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3FFB-734A-FA43-9AEC-5C5830C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070" y="3059506"/>
            <a:ext cx="11461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1.2.3.156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17" y="3059506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1.2.3.48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296" y="4313631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>
                <a:latin typeface="+mn-lt"/>
              </a:rPr>
              <a:t>1.2.3.19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3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/>
      <p:bldP spid="34" grpId="0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08C3F3-AAC9-6E48-B9A8-97405BE6ABB2}"/>
              </a:ext>
            </a:extLst>
          </p:cNvPr>
          <p:cNvSpPr/>
          <p:nvPr/>
        </p:nvSpPr>
        <p:spPr bwMode="auto">
          <a:xfrm>
            <a:off x="7697227" y="206248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938163-4198-9E43-BECD-168DA8278F1D}"/>
              </a:ext>
            </a:extLst>
          </p:cNvPr>
          <p:cNvSpPr/>
          <p:nvPr/>
        </p:nvSpPr>
        <p:spPr bwMode="auto">
          <a:xfrm>
            <a:off x="7697227" y="2057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E388BF67-6ACA-C248-B819-41FCF8D07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8086" y="5646242"/>
              <a:ext cx="950927" cy="59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5.6.7.*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9505" y="3810000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9509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1.2.3.*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(More of) What happens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0176-6FA9-0B46-A38D-C7C064EB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3FFB-734A-FA43-9AEC-5C5830C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070" y="3059506"/>
            <a:ext cx="11461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1.2.3.156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17" y="3059506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1.2.3.48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296" y="4313631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>
                <a:latin typeface="+mn-lt"/>
              </a:rPr>
              <a:t>1.2.3.19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 flipH="1"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BC495-69A2-1549-A24F-EED312FB8AF1}"/>
              </a:ext>
            </a:extLst>
          </p:cNvPr>
          <p:cNvSpPr/>
          <p:nvPr/>
        </p:nvSpPr>
        <p:spPr bwMode="auto">
          <a:xfrm>
            <a:off x="7697227" y="1676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46619C-F3D4-E048-8B84-FAB96EDA59D8}"/>
              </a:ext>
            </a:extLst>
          </p:cNvPr>
          <p:cNvSpPr/>
          <p:nvPr/>
        </p:nvSpPr>
        <p:spPr bwMode="auto">
          <a:xfrm>
            <a:off x="7697227" y="186944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57E1D-4E65-B943-BC57-4109740BBB13}"/>
              </a:ext>
            </a:extLst>
          </p:cNvPr>
          <p:cNvSpPr/>
          <p:nvPr/>
        </p:nvSpPr>
        <p:spPr bwMode="auto">
          <a:xfrm>
            <a:off x="7697227" y="225552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11111E-6 L -0.19445 0.43565 C -0.23525 0.5338 -0.29636 0.5868 -0.35955 0.5868 C -0.43212 0.5868 -0.48993 0.5338 -0.53073 0.43565 L -0.725 1.11111E-6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3.7037E-7 L -0.1948 0.42292 C -0.23559 0.51829 -0.29653 0.56968 -0.3599 0.56968 C -0.43247 0.56968 -0.49028 0.51829 -0.53108 0.42292 L -0.725 3.7037E-7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0.01667 C -0.00677 1.11111E-6 -0.03021 -0.01597 -0.03837 -0.01597 C -0.09028 -0.01597 -0.14375 0.24051 -0.14375 0.49722 C -0.14375 0.36782 -0.17049 0.24051 -0.19566 0.24051 C -0.2224 0.24051 -0.24757 0.36967 -0.24757 0.49722 C -0.24757 0.43333 -0.26094 0.36782 -0.27431 0.36782 C -0.28768 0.36782 -0.30105 0.43148 -0.30105 0.49722 C -0.30105 0.46435 -0.30764 0.43333 -0.31424 0.43333 C -0.32101 0.43333 -0.32761 0.4662 -0.32761 0.49722 C -0.32761 0.48055 -0.33108 0.46435 -0.33438 0.46435 C -0.33611 0.46435 -0.34098 0.48102 -0.34098 0.49722 C -0.34098 0.48912 -0.34271 0.48055 -0.34445 0.48055 C -0.34445 0.47847 -0.34792 0.48866 -0.34792 0.49722 C -0.34792 0.49282 -0.34792 0.48912 -0.34966 0.48912 C -0.34966 0.49097 -0.35139 0.49329 -0.35139 0.49722 C -0.35139 0.49514 -0.35139 0.49282 -0.35139 0.49097 C -0.35313 0.49097 -0.35313 0.49282 -0.35313 0.49514 C -0.35486 0.49514 -0.35486 0.49329 -0.35486 0.49097 C -0.3566 0.49097 -0.3566 0.49282 -0.3566 0.49514 " pathEditMode="relative" rAng="0" ptsTypes="AAAAAAAAAAAAAAAAAAA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30" y="2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-0.19462 0.36458 C -0.23559 0.44676 -0.29618 0.4912 -0.35955 0.4912 C -0.4323 0.4912 -0.49011 0.44676 -0.53108 0.36458 L -0.725 3.7037E-7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-0.19445 0.41042 C -0.23559 0.50278 -0.29636 0.55278 -0.3599 0.55278 C -0.4323 0.55278 -0.49011 0.50278 -0.53108 0.41042 L -0.725 -4.44444E-6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36" grpId="0" animBg="1"/>
      <p:bldP spid="3" grpId="0" animBg="1"/>
      <p:bldP spid="41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4463-AF8F-2047-80D9-3A425010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350F-F31F-DA47-88B2-0476888B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8FD97-E2A7-C844-B4EE-E1BC304EC53D}"/>
              </a:ext>
            </a:extLst>
          </p:cNvPr>
          <p:cNvSpPr/>
          <p:nvPr/>
        </p:nvSpPr>
        <p:spPr bwMode="auto">
          <a:xfrm>
            <a:off x="1983055" y="3220249"/>
            <a:ext cx="640080" cy="73152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87970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524000" y="2895600"/>
            <a:ext cx="7620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3600" b="0" i="1" dirty="0">
                <a:solidFill>
                  <a:srgbClr val="0000FF"/>
                </a:solidFill>
              </a:rPr>
              <a:t>Dear John,</a:t>
            </a:r>
          </a:p>
          <a:p>
            <a:pPr algn="l" eaLnBrk="1" hangingPunct="1"/>
            <a:endParaRPr lang="en-US" sz="3600" b="0" i="1" dirty="0">
              <a:solidFill>
                <a:srgbClr val="0000FF"/>
              </a:solidFill>
            </a:endParaRPr>
          </a:p>
          <a:p>
            <a:pPr algn="l" eaLnBrk="1" hangingPunct="1"/>
            <a:r>
              <a:rPr lang="en-US" sz="3600" b="0" i="1" dirty="0">
                <a:solidFill>
                  <a:srgbClr val="0000FF"/>
                </a:solidFill>
              </a:rPr>
              <a:t>Your days are numbered.</a:t>
            </a:r>
          </a:p>
          <a:p>
            <a:pPr algn="l" eaLnBrk="1" hangingPunct="1"/>
            <a:endParaRPr lang="en-US" sz="3600" b="0" i="1" dirty="0">
              <a:solidFill>
                <a:srgbClr val="0000FF"/>
              </a:solidFill>
            </a:endParaRPr>
          </a:p>
          <a:p>
            <a:pPr algn="l" eaLnBrk="1" hangingPunct="1"/>
            <a:r>
              <a:rPr lang="en-US" sz="3600" b="0" i="1" dirty="0">
                <a:solidFill>
                  <a:srgbClr val="0000FF"/>
                </a:solidFill>
              </a:rPr>
              <a:t>		--Pat</a:t>
            </a: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CEO A writes letter to CEO B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0397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CEO A writes letter to CEO B</a:t>
            </a:r>
          </a:p>
          <a:p>
            <a:pPr lvl="1"/>
            <a:r>
              <a:rPr lang="en-US" dirty="0"/>
              <a:t>Folds letter and hands it to administrative aide</a:t>
            </a:r>
          </a:p>
          <a:p>
            <a:r>
              <a:rPr lang="en-US" dirty="0"/>
              <a:t>Aide:</a:t>
            </a:r>
          </a:p>
          <a:p>
            <a:pPr lvl="1"/>
            <a:r>
              <a:rPr lang="en-US" dirty="0"/>
              <a:t>Puts letter in envelope with CEO B’s full name</a:t>
            </a:r>
          </a:p>
          <a:p>
            <a:pPr lvl="1"/>
            <a:r>
              <a:rPr lang="en-US" dirty="0"/>
              <a:t>Takes to FedEx</a:t>
            </a:r>
          </a:p>
          <a:p>
            <a:r>
              <a:rPr lang="en-US" dirty="0"/>
              <a:t>FedEx Office</a:t>
            </a:r>
          </a:p>
          <a:p>
            <a:pPr lvl="1"/>
            <a:r>
              <a:rPr lang="en-US" dirty="0"/>
              <a:t>Puts letter in larger envelope</a:t>
            </a:r>
          </a:p>
          <a:p>
            <a:pPr lvl="1"/>
            <a:r>
              <a:rPr lang="en-US" dirty="0"/>
              <a:t>Puts name and street address on FedEx envelope</a:t>
            </a:r>
          </a:p>
          <a:p>
            <a:pPr lvl="1"/>
            <a:r>
              <a:rPr lang="en-US" dirty="0"/>
              <a:t>Puts package on FedEx delivery truck</a:t>
            </a:r>
          </a:p>
          <a:p>
            <a:r>
              <a:rPr lang="en-US" dirty="0"/>
              <a:t>FedEx delivers to other company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97794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3" y="3352800"/>
            <a:ext cx="9143613" cy="2895600"/>
            <a:chOff x="0" y="2971800"/>
            <a:chExt cx="9144000" cy="2895600"/>
          </a:xfrm>
        </p:grpSpPr>
        <p:sp>
          <p:nvSpPr>
            <p:cNvPr id="16405" name="Rectangle 29"/>
            <p:cNvSpPr>
              <a:spLocks noChangeArrowheads="1"/>
            </p:cNvSpPr>
            <p:nvPr/>
          </p:nvSpPr>
          <p:spPr bwMode="auto">
            <a:xfrm>
              <a:off x="0" y="4953000"/>
              <a:ext cx="9144000" cy="914400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0" y="3962400"/>
              <a:ext cx="91440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7" name="Rectangle 1"/>
            <p:cNvSpPr>
              <a:spLocks noChangeArrowheads="1"/>
            </p:cNvSpPr>
            <p:nvPr/>
          </p:nvSpPr>
          <p:spPr bwMode="auto">
            <a:xfrm>
              <a:off x="0" y="2971800"/>
              <a:ext cx="9144000" cy="914400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0662" y="3581400"/>
            <a:ext cx="850900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868" y="4572000"/>
            <a:ext cx="852488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075" y="5486400"/>
            <a:ext cx="1108075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FedEx</a:t>
            </a:r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1916112" y="4043363"/>
            <a:ext cx="0" cy="5286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flipH="1">
            <a:off x="1911350" y="5029200"/>
            <a:ext cx="9525" cy="528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6927850" y="35766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850" y="45672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263" y="5481638"/>
            <a:ext cx="1108075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FedEx</a:t>
            </a: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>
            <a:off x="7353300" y="4038600"/>
            <a:ext cx="0" cy="528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arrow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7348538" y="5024438"/>
            <a:ext cx="9525" cy="5286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arrow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20"/>
          <p:cNvCxnSpPr>
            <a:cxnSpLocks noChangeShapeType="1"/>
            <a:stCxn id="8" idx="3"/>
            <a:endCxn id="17" idx="1"/>
          </p:cNvCxnSpPr>
          <p:nvPr/>
        </p:nvCxnSpPr>
        <p:spPr bwMode="auto">
          <a:xfrm flipV="1">
            <a:off x="2470150" y="5712619"/>
            <a:ext cx="4329113" cy="4763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4" name="TextBox 23"/>
          <p:cNvSpPr txBox="1"/>
          <p:nvPr/>
        </p:nvSpPr>
        <p:spPr>
          <a:xfrm>
            <a:off x="3048000" y="5486400"/>
            <a:ext cx="3505200" cy="461963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00FF"/>
                </a:solidFill>
                <a:latin typeface="+mn-lt"/>
              </a:rPr>
              <a:t>FedEx Envelope (FE)</a:t>
            </a:r>
          </a:p>
        </p:txBody>
      </p:sp>
      <p:sp>
        <p:nvSpPr>
          <p:cNvPr id="163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of the letter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3590925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Letter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400" y="4495800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Envelope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6716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3" y="3352800"/>
            <a:ext cx="9143613" cy="2895600"/>
            <a:chOff x="0" y="2971800"/>
            <a:chExt cx="9144000" cy="2895600"/>
          </a:xfrm>
        </p:grpSpPr>
        <p:sp>
          <p:nvSpPr>
            <p:cNvPr id="16405" name="Rectangle 29"/>
            <p:cNvSpPr>
              <a:spLocks noChangeArrowheads="1"/>
            </p:cNvSpPr>
            <p:nvPr/>
          </p:nvSpPr>
          <p:spPr bwMode="auto">
            <a:xfrm>
              <a:off x="0" y="4953000"/>
              <a:ext cx="9144000" cy="914400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0" y="3962400"/>
              <a:ext cx="91440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7" name="Rectangle 1"/>
            <p:cNvSpPr>
              <a:spLocks noChangeArrowheads="1"/>
            </p:cNvSpPr>
            <p:nvPr/>
          </p:nvSpPr>
          <p:spPr bwMode="auto">
            <a:xfrm>
              <a:off x="0" y="2971800"/>
              <a:ext cx="9144000" cy="914400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0662" y="3581400"/>
            <a:ext cx="850900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868" y="4572000"/>
            <a:ext cx="852488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075" y="5486400"/>
            <a:ext cx="1108075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FedEx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5766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850" y="45672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263" y="5481638"/>
            <a:ext cx="1108075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FedEx</a:t>
            </a:r>
          </a:p>
        </p:txBody>
      </p:sp>
      <p:sp>
        <p:nvSpPr>
          <p:cNvPr id="163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of the letter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“Peers” in same layer understand each other</a:t>
            </a:r>
          </a:p>
          <a:p>
            <a:r>
              <a:rPr lang="en-US" dirty="0"/>
              <a:t>No one else needs to</a:t>
            </a:r>
          </a:p>
          <a:p>
            <a:r>
              <a:rPr lang="en-US" dirty="0"/>
              <a:t>Lowest level has most packaging</a:t>
            </a:r>
          </a:p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581400" y="3590925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Letter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400" y="4495800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5600" y="3581400"/>
            <a:ext cx="3657600" cy="52387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Semantic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9400" y="4495800"/>
            <a:ext cx="365760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0" y="5486400"/>
            <a:ext cx="3505200" cy="461963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00FF"/>
                </a:solidFill>
                <a:latin typeface="+mn-lt"/>
              </a:rPr>
              <a:t>FedEx Envelope (FE)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9400" y="5410200"/>
            <a:ext cx="3657600" cy="52387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Location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254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0" grpId="1"/>
      <p:bldP spid="27" grpId="0" animBg="1"/>
      <p:bldP spid="26" grpId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Decompose</a:t>
            </a:r>
            <a:r>
              <a:rPr lang="en-US" dirty="0"/>
              <a:t> the problem into tasks</a:t>
            </a:r>
          </a:p>
          <a:p>
            <a:r>
              <a:rPr lang="en-US" dirty="0">
                <a:solidFill>
                  <a:srgbClr val="0000FF"/>
                </a:solidFill>
              </a:rPr>
              <a:t>Organize</a:t>
            </a:r>
            <a:r>
              <a:rPr lang="en-US" dirty="0"/>
              <a:t>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01CA2-0DEA-164F-A2F3-BDAB2F49714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6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Internet: Decomposition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9143613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9143613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9143613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9143613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91440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+mn-lt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local</a:t>
            </a: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global</a:t>
            </a:r>
            <a:r>
              <a:rPr lang="en-US" sz="2400" dirty="0">
                <a:latin typeface="+mn-lt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Reliable or </a:t>
            </a:r>
            <a:r>
              <a:rPr lang="en-US" sz="2400">
                <a:solidFill>
                  <a:schemeClr val="tx1">
                    <a:lumMod val="75000"/>
                  </a:schemeClr>
                </a:solidFill>
                <a:latin typeface="+mn-lt"/>
              </a:rPr>
              <a:t>unreliable transport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35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7113587" y="30480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organization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6019545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6019545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6019545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6019545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60198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+mn-lt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local</a:t>
            </a: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global</a:t>
            </a:r>
            <a:r>
              <a:rPr lang="en-US" sz="2400" dirty="0">
                <a:latin typeface="+mn-lt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Reliable or </a:t>
            </a:r>
            <a:r>
              <a:rPr lang="en-US" sz="2400">
                <a:solidFill>
                  <a:schemeClr val="tx1">
                    <a:lumMod val="75000"/>
                  </a:schemeClr>
                </a:solidFill>
                <a:latin typeface="+mn-lt"/>
              </a:rPr>
              <a:t>unreliable transport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9" name="Rectangle 2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2" name="Rectangle 31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5" name="Rectangle 3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38" name="Rectangle 37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602732" y="30535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81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layers</a:t>
            </a:r>
          </a:p>
        </p:txBody>
      </p:sp>
      <p:sp>
        <p:nvSpPr>
          <p:cNvPr id="88" name="Content Placeholder 87"/>
          <p:cNvSpPr>
            <a:spLocks noGrp="1"/>
          </p:cNvSpPr>
          <p:nvPr>
            <p:ph idx="1"/>
          </p:nvPr>
        </p:nvSpPr>
        <p:spPr>
          <a:xfrm>
            <a:off x="685800" y="1600200"/>
            <a:ext cx="5656314" cy="4419600"/>
          </a:xfrm>
        </p:spPr>
        <p:txBody>
          <a:bodyPr/>
          <a:lstStyle/>
          <a:p>
            <a:r>
              <a:rPr lang="en-US" dirty="0"/>
              <a:t>OSI stands for </a:t>
            </a:r>
            <a:r>
              <a:rPr lang="en-US" dirty="0">
                <a:solidFill>
                  <a:srgbClr val="0000FF"/>
                </a:solidFill>
              </a:rPr>
              <a:t>Open Systems Interconnection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Developed by the ISO</a:t>
            </a:r>
          </a:p>
          <a:p>
            <a:endParaRPr lang="en-US" dirty="0"/>
          </a:p>
          <a:p>
            <a:r>
              <a:rPr lang="en-US" dirty="0"/>
              <a:t>Session and presentation layers are often implemented as part of the application layer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7113587" y="2146997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9" name="Rectangle 28"/>
          <p:cNvSpPr>
            <a:spLocks/>
          </p:cNvSpPr>
          <p:nvPr/>
        </p:nvSpPr>
        <p:spPr bwMode="auto">
          <a:xfrm>
            <a:off x="7117085" y="2604641"/>
            <a:ext cx="1649412" cy="431800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7167809" y="2642741"/>
            <a:ext cx="1540967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Presentation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113587" y="3059810"/>
            <a:ext cx="1649412" cy="430213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370706" y="3097910"/>
            <a:ext cx="1131675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algn="ctr">
              <a:defRPr/>
            </a:pPr>
            <a:r>
              <a:rPr lang="en-US" sz="180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2732" y="21782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2732" y="263587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D3A600"/>
                </a:solidFill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2732" y="30902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D3A600"/>
                </a:solidFill>
              </a:rPr>
              <a:t>L5</a:t>
            </a:r>
          </a:p>
        </p:txBody>
      </p: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Rectangle 73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7" name="Rectangle 76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78" name="Group 77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Rectangle 79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1" name="Group 80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89" name="Footer Placeholder 8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170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01CA2-0DEA-164F-A2F3-BDAB2F49714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2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2" name="Rectangle 5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Rectangle 5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54" name="Group 53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5" name="Rectangle 5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Rectangle 5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57" name="Group 56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58" name="Rectangle 5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60" name="Group 59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61" name="Rectangle 6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" name="Rectangle 6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64" name="Rectangle 6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5" name="Rectangle 6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and protocols 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Communication between peer layers on</a:t>
            </a:r>
            <a:br>
              <a:rPr lang="en-US" dirty="0"/>
            </a:br>
            <a:r>
              <a:rPr lang="en-US" dirty="0"/>
              <a:t>different systems is defined by </a:t>
            </a:r>
            <a:r>
              <a:rPr lang="en-US" dirty="0">
                <a:solidFill>
                  <a:srgbClr val="0000FF"/>
                </a:solidFill>
              </a:rPr>
              <a:t>protocols</a:t>
            </a:r>
          </a:p>
          <a:p>
            <a:pPr lvl="1"/>
            <a:endParaRPr lang="en-US" dirty="0"/>
          </a:p>
        </p:txBody>
      </p:sp>
      <p:cxnSp>
        <p:nvCxnSpPr>
          <p:cNvPr id="20503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5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6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2" name="Rectangle 7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74" name="Group 73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5" name="Rectangle 7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8" name="Rectangle 7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1" name="Rectangle 8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3" name="Group 82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4" name="Rectangle 8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5" name="Rectangle 8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51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2255837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8" y="1524000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5022850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9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3349625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4186237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Line 11"/>
          <p:cNvSpPr>
            <a:spLocks noChangeShapeType="1"/>
          </p:cNvSpPr>
          <p:nvPr/>
        </p:nvSpPr>
        <p:spPr bwMode="auto">
          <a:xfrm>
            <a:off x="3843338" y="2057400"/>
            <a:ext cx="1825625" cy="608012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1" name="Line 12"/>
          <p:cNvSpPr>
            <a:spLocks noChangeShapeType="1"/>
          </p:cNvSpPr>
          <p:nvPr/>
        </p:nvSpPr>
        <p:spPr bwMode="auto">
          <a:xfrm>
            <a:off x="3843338" y="4033837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2" name="Line 13"/>
          <p:cNvSpPr>
            <a:spLocks noChangeShapeType="1"/>
          </p:cNvSpPr>
          <p:nvPr/>
        </p:nvSpPr>
        <p:spPr bwMode="auto">
          <a:xfrm flipH="1">
            <a:off x="3843338" y="3046412"/>
            <a:ext cx="1825625" cy="608013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3" name="Line 14"/>
          <p:cNvSpPr>
            <a:spLocks noChangeShapeType="1"/>
          </p:cNvSpPr>
          <p:nvPr/>
        </p:nvSpPr>
        <p:spPr bwMode="auto">
          <a:xfrm flipH="1">
            <a:off x="3843338" y="4946650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4" name="Rectangle 15"/>
          <p:cNvSpPr>
            <a:spLocks/>
          </p:cNvSpPr>
          <p:nvPr/>
        </p:nvSpPr>
        <p:spPr bwMode="auto">
          <a:xfrm>
            <a:off x="3862388" y="1709737"/>
            <a:ext cx="1425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dirty="0">
                <a:cs typeface="Times New Roman" charset="0"/>
              </a:rPr>
              <a:t>Friendly</a:t>
            </a:r>
            <a:br>
              <a:rPr lang="en-US" dirty="0">
                <a:cs typeface="Times New Roman" charset="0"/>
              </a:rPr>
            </a:br>
            <a:r>
              <a:rPr lang="en-US" dirty="0">
                <a:cs typeface="Times New Roman" charset="0"/>
              </a:rPr>
              <a:t> greeting</a:t>
            </a:r>
          </a:p>
        </p:txBody>
      </p:sp>
      <p:sp>
        <p:nvSpPr>
          <p:cNvPr id="21515" name="Rectangle 17"/>
          <p:cNvSpPr>
            <a:spLocks/>
          </p:cNvSpPr>
          <p:nvPr/>
        </p:nvSpPr>
        <p:spPr bwMode="auto">
          <a:xfrm>
            <a:off x="4169569" y="3965575"/>
            <a:ext cx="8112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Time?</a:t>
            </a:r>
          </a:p>
        </p:txBody>
      </p:sp>
      <p:sp>
        <p:nvSpPr>
          <p:cNvPr id="21516" name="Rectangle 18"/>
          <p:cNvSpPr>
            <a:spLocks/>
          </p:cNvSpPr>
          <p:nvPr/>
        </p:nvSpPr>
        <p:spPr bwMode="auto">
          <a:xfrm>
            <a:off x="4090662" y="4953000"/>
            <a:ext cx="9690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12:10 PM</a:t>
            </a:r>
            <a:endParaRPr lang="en-US" dirty="0">
              <a:cs typeface="Times New Roman" charset="0"/>
            </a:endParaRPr>
          </a:p>
        </p:txBody>
      </p:sp>
      <p:sp>
        <p:nvSpPr>
          <p:cNvPr id="21517" name="Rectangle 21"/>
          <p:cNvSpPr>
            <a:spLocks/>
          </p:cNvSpPr>
          <p:nvPr/>
        </p:nvSpPr>
        <p:spPr bwMode="auto">
          <a:xfrm>
            <a:off x="4019107" y="5486400"/>
            <a:ext cx="1112139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dirty="0">
                <a:cs typeface="Times New Roman" charset="0"/>
              </a:rPr>
              <a:t>Thanks!</a:t>
            </a:r>
            <a:br>
              <a:rPr lang="en-US" dirty="0">
                <a:cs typeface="Times New Roman" charset="0"/>
              </a:rPr>
            </a:br>
            <a:r>
              <a:rPr lang="en-US" dirty="0">
                <a:cs typeface="Times New Roman" charset="0"/>
              </a:rPr>
              <a:t> Let’s start</a:t>
            </a:r>
          </a:p>
        </p:txBody>
      </p:sp>
      <p:sp>
        <p:nvSpPr>
          <p:cNvPr id="21518" name="Rectangle 15"/>
          <p:cNvSpPr>
            <a:spLocks/>
          </p:cNvSpPr>
          <p:nvPr/>
        </p:nvSpPr>
        <p:spPr bwMode="auto">
          <a:xfrm>
            <a:off x="3862388" y="2822575"/>
            <a:ext cx="14255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Friendly</a:t>
            </a:r>
            <a:br>
              <a:rPr lang="en-US">
                <a:cs typeface="Times New Roman" charset="0"/>
              </a:rPr>
            </a:br>
            <a:r>
              <a:rPr lang="en-US">
                <a:cs typeface="Times New Roman" charset="0"/>
              </a:rPr>
              <a:t> greeting</a:t>
            </a:r>
          </a:p>
        </p:txBody>
      </p:sp>
      <p:sp>
        <p:nvSpPr>
          <p:cNvPr id="21519" name="Line 12"/>
          <p:cNvSpPr>
            <a:spLocks noChangeShapeType="1"/>
          </p:cNvSpPr>
          <p:nvPr/>
        </p:nvSpPr>
        <p:spPr bwMode="auto">
          <a:xfrm>
            <a:off x="3775075" y="5794375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pic>
        <p:nvPicPr>
          <p:cNvPr id="21520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795962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4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nimBg="1"/>
      <p:bldP spid="21511" grpId="0" animBg="1"/>
      <p:bldP spid="21512" grpId="0" animBg="1"/>
      <p:bldP spid="21513" grpId="0" animBg="1"/>
      <p:bldP spid="21514" grpId="0"/>
      <p:bldP spid="21515" grpId="0"/>
      <p:bldP spid="21516" grpId="0"/>
      <p:bldP spid="21517" grpId="0"/>
      <p:bldP spid="21518" grpId="0"/>
      <p:bldP spid="215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1597152" y="5171282"/>
            <a:ext cx="6099048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Data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457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agreement </a:t>
            </a:r>
            <a:r>
              <a:rPr lang="en-US"/>
              <a:t>between parties (in the same later) </a:t>
            </a:r>
            <a:r>
              <a:rPr lang="en-US" dirty="0"/>
              <a:t>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Header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instructions on how to process </a:t>
            </a:r>
            <a:r>
              <a:rPr lang="en-US" dirty="0">
                <a:solidFill>
                  <a:srgbClr val="0000FF"/>
                </a:solidFill>
              </a:rPr>
              <a:t>payload</a:t>
            </a:r>
          </a:p>
          <a:p>
            <a:pPr lvl="1"/>
            <a:r>
              <a:rPr lang="en-US" dirty="0"/>
              <a:t>Each protocol defines the format of </a:t>
            </a:r>
            <a:r>
              <a:rPr lang="en-US"/>
              <a:t>its headers</a:t>
            </a:r>
            <a:endParaRPr lang="en-US" dirty="0"/>
          </a:p>
          <a:p>
            <a:pPr lvl="2"/>
            <a:r>
              <a:rPr lang="en-US" dirty="0"/>
              <a:t>e.g., “the first 32 bits carry the destination address”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4" name="Text Box 52"/>
          <p:cNvSpPr txBox="1">
            <a:spLocks noChangeArrowheads="1"/>
          </p:cNvSpPr>
          <p:nvPr/>
        </p:nvSpPr>
        <p:spPr bwMode="auto">
          <a:xfrm>
            <a:off x="190500" y="6151563"/>
            <a:ext cx="105092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3352800" y="5171282"/>
            <a:ext cx="43434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Payload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600200" y="5171282"/>
            <a:ext cx="17526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Header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541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uiExpand="1" build="p"/>
      <p:bldP spid="19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agreement between parties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semantics</a:t>
            </a:r>
          </a:p>
          <a:p>
            <a:pPr lvl="1"/>
            <a:r>
              <a:rPr lang="en-US" dirty="0"/>
              <a:t>“First a hello, then a request…”</a:t>
            </a:r>
          </a:p>
          <a:p>
            <a:pPr lvl="1"/>
            <a:r>
              <a:rPr lang="en-US" dirty="0"/>
              <a:t>We will study many protocols later in the semester</a:t>
            </a:r>
          </a:p>
          <a:p>
            <a:r>
              <a:rPr lang="en-US" dirty="0"/>
              <a:t>Protocols exist at many levels, hardware, and software</a:t>
            </a:r>
          </a:p>
          <a:p>
            <a:pPr lvl="1"/>
            <a:r>
              <a:rPr lang="en-US" dirty="0"/>
              <a:t>Defined by standards bodies like IETF, IEEE, ITU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089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at different layers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86939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network layer protocol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53333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 dirty="0">
                <a:solidFill>
                  <a:srgbClr val="000000"/>
                </a:solidFill>
                <a:latin typeface="Arial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Ethernet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HTTP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B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585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4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>
                <a:solidFill>
                  <a:srgbClr val="0000FF"/>
                </a:solidFill>
              </a:rPr>
              <a:t>Assignment 1 is out today!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91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Decompose the problem into tasks</a:t>
            </a:r>
          </a:p>
          <a:p>
            <a:r>
              <a:rPr lang="en-US" dirty="0"/>
              <a:t>Organize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01CA2-0DEA-164F-A2F3-BDAB2F49714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987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gets implemented where?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1" name="Rectangle 1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27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Rectangle 36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Rectangle 39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42" name="Rectangle 4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45" name="Rectangle 44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Rectangle 45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2030078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</a:t>
            </a:r>
            <a:br>
              <a:rPr lang="en-US"/>
            </a:br>
            <a:r>
              <a:rPr lang="en-US"/>
              <a:t>at the end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wire, must make it up to application</a:t>
            </a:r>
          </a:p>
          <a:p>
            <a:pPr lvl="3"/>
            <a:endParaRPr lang="en-US" dirty="0"/>
          </a:p>
          <a:p>
            <a:r>
              <a:rPr lang="en-US" dirty="0"/>
              <a:t>Therefore, </a:t>
            </a:r>
            <a:r>
              <a:rPr lang="en-US" dirty="0">
                <a:solidFill>
                  <a:srgbClr val="0000FF"/>
                </a:solidFill>
              </a:rPr>
              <a:t>all layers must exist at host!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r>
              <a:rPr lang="en-US" dirty="0"/>
              <a:t>The network does not support reliable delivery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Transport layer (and above) not supported</a:t>
            </a:r>
          </a:p>
          <a:p>
            <a:endParaRPr lang="en-US" dirty="0">
              <a:sym typeface="Wingdings" charset="0"/>
            </a:endParaRPr>
          </a:p>
          <a:p>
            <a:endParaRPr lang="en-US" dirty="0">
              <a:sym typeface="Wingdings" charset="0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Diagram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95076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look: End system</a:t>
            </a:r>
          </a:p>
        </p:txBody>
      </p:sp>
      <p:sp>
        <p:nvSpPr>
          <p:cNvPr id="133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Web server, browser, mail, game </a:t>
            </a:r>
          </a:p>
          <a:p>
            <a:r>
              <a:rPr lang="en-US" dirty="0"/>
              <a:t>Transport and network layer </a:t>
            </a:r>
          </a:p>
          <a:p>
            <a:pPr lvl="1"/>
            <a:r>
              <a:rPr lang="en-US" dirty="0"/>
              <a:t>typically part of the operating system</a:t>
            </a:r>
          </a:p>
          <a:p>
            <a:r>
              <a:rPr lang="en-US" dirty="0"/>
              <a:t>Datalink  and physical layer</a:t>
            </a:r>
          </a:p>
          <a:p>
            <a:pPr lvl="1"/>
            <a:r>
              <a:rPr lang="en-US" dirty="0"/>
              <a:t>hardware/firmware/drivers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716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endParaRPr lang="en-US" dirty="0">
              <a:sym typeface="Wingdings" charset="0"/>
            </a:endParaRP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Switches</a:t>
            </a:r>
            <a:r>
              <a:rPr lang="en-US" dirty="0">
                <a:sym typeface="Wingdings" charset="0"/>
              </a:rPr>
              <a:t> implement only physical and datalink layers (L1, L2)</a:t>
            </a: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Routers</a:t>
            </a:r>
            <a:r>
              <a:rPr lang="en-US" dirty="0">
                <a:sym typeface="Wingdings" charset="0"/>
              </a:rPr>
              <a:t> implement the network layer too (L1, L2, L3) 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3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1480C-ED20-354C-8D4F-38F03EF2220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3" name="Shape 377"/>
          <p:cNvSpPr/>
          <p:nvPr/>
        </p:nvSpPr>
        <p:spPr bwMode="auto"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Shape 378"/>
          <p:cNvSpPr/>
          <p:nvPr/>
        </p:nvSpPr>
        <p:spPr bwMode="auto"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 bwMode="auto"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47" name="Shape 381"/>
          <p:cNvSpPr/>
          <p:nvPr/>
        </p:nvSpPr>
        <p:spPr bwMode="auto">
          <a:xfrm flipH="1" flipV="1">
            <a:off x="5461000" y="5145088"/>
            <a:ext cx="2141538" cy="9969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 bwMode="auto"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 bwMode="auto"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 bwMode="auto"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 bwMode="auto"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 bwMode="auto"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 bwMode="auto"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62" name="Shape 396"/>
          <p:cNvSpPr/>
          <p:nvPr/>
        </p:nvSpPr>
        <p:spPr bwMode="auto">
          <a:xfrm flipH="1">
            <a:off x="5440363" y="4283075"/>
            <a:ext cx="1798637" cy="8493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3" name="Shape 397"/>
          <p:cNvSpPr/>
          <p:nvPr/>
        </p:nvSpPr>
        <p:spPr bwMode="auto">
          <a:xfrm>
            <a:off x="5505450" y="5194300"/>
            <a:ext cx="790575" cy="1131888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4" name="Shape 398"/>
          <p:cNvSpPr/>
          <p:nvPr/>
        </p:nvSpPr>
        <p:spPr bwMode="auto">
          <a:xfrm>
            <a:off x="7072313" y="4062413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65" name="Shape 399"/>
          <p:cNvSpPr/>
          <p:nvPr/>
        </p:nvSpPr>
        <p:spPr bwMode="auto">
          <a:xfrm>
            <a:off x="6122988" y="614045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6" name="Shape 400"/>
          <p:cNvSpPr/>
          <p:nvPr/>
        </p:nvSpPr>
        <p:spPr bwMode="auto">
          <a:xfrm flipH="1" flipV="1">
            <a:off x="5505450" y="5108575"/>
            <a:ext cx="1724025" cy="49212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7" name="Shape 401"/>
          <p:cNvSpPr/>
          <p:nvPr/>
        </p:nvSpPr>
        <p:spPr bwMode="auto">
          <a:xfrm>
            <a:off x="7072313" y="5426075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9" name="Shape 403"/>
          <p:cNvSpPr/>
          <p:nvPr/>
        </p:nvSpPr>
        <p:spPr bwMode="auto">
          <a:xfrm>
            <a:off x="7404100" y="5911850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0" name="Shape 404"/>
          <p:cNvSpPr/>
          <p:nvPr/>
        </p:nvSpPr>
        <p:spPr bwMode="auto">
          <a:xfrm>
            <a:off x="3167063" y="3667125"/>
            <a:ext cx="2327275" cy="147796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 bwMode="auto">
          <a:xfrm>
            <a:off x="4999038" y="4316374"/>
            <a:ext cx="110126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 bwMode="auto">
          <a:xfrm>
            <a:off x="3197225" y="2579649"/>
            <a:ext cx="642805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link</a:t>
            </a:r>
          </a:p>
        </p:txBody>
      </p:sp>
      <p:sp>
        <p:nvSpPr>
          <p:cNvPr id="76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8" name="Shape 412"/>
          <p:cNvSpPr/>
          <p:nvPr/>
        </p:nvSpPr>
        <p:spPr bwMode="auto">
          <a:xfrm>
            <a:off x="5256213" y="4889500"/>
            <a:ext cx="460375" cy="51593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9" name="Shape 413"/>
          <p:cNvSpPr/>
          <p:nvPr/>
        </p:nvSpPr>
        <p:spPr bwMode="auto"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4200" b="0" kern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Internet Service Provider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37849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9CF9B-2E61-2745-A65C-A9A1FF7D72A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3" name="Shape 377"/>
          <p:cNvSpPr/>
          <p:nvPr/>
        </p:nvSpPr>
        <p:spPr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Shape 378"/>
          <p:cNvSpPr/>
          <p:nvPr/>
        </p:nvSpPr>
        <p:spPr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0" name="Shape 404"/>
          <p:cNvSpPr/>
          <p:nvPr/>
        </p:nvSpPr>
        <p:spPr>
          <a:xfrm>
            <a:off x="3962400" y="4114800"/>
            <a:ext cx="7620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>
          <a:xfrm>
            <a:off x="5486400" y="45719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>
          <a:xfrm>
            <a:off x="3197225" y="2579656"/>
            <a:ext cx="642791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link</a:t>
            </a:r>
          </a:p>
        </p:txBody>
      </p:sp>
      <p:grpSp>
        <p:nvGrpSpPr>
          <p:cNvPr id="34831" name="Group 1"/>
          <p:cNvGrpSpPr>
            <a:grpSpLocks/>
          </p:cNvGrpSpPr>
          <p:nvPr/>
        </p:nvGrpSpPr>
        <p:grpSpPr bwMode="auto">
          <a:xfrm>
            <a:off x="5867400" y="4343400"/>
            <a:ext cx="1905000" cy="2209800"/>
            <a:chOff x="5255956" y="4061776"/>
            <a:chExt cx="2516444" cy="2491424"/>
          </a:xfrm>
        </p:grpSpPr>
        <p:sp>
          <p:nvSpPr>
            <p:cNvPr id="47" name="Shape 381"/>
            <p:cNvSpPr/>
            <p:nvPr/>
          </p:nvSpPr>
          <p:spPr>
            <a:xfrm flipH="1" flipV="1">
              <a:off x="5461466" y="5144615"/>
              <a:ext cx="2141075" cy="996927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2" name="Shape 396"/>
            <p:cNvSpPr/>
            <p:nvPr/>
          </p:nvSpPr>
          <p:spPr>
            <a:xfrm flipH="1">
              <a:off x="5440495" y="4283713"/>
              <a:ext cx="1799257" cy="848373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3" name="Shape 397"/>
            <p:cNvSpPr/>
            <p:nvPr/>
          </p:nvSpPr>
          <p:spPr>
            <a:xfrm>
              <a:off x="5505504" y="5194730"/>
              <a:ext cx="790582" cy="1131164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4" name="Shape 398"/>
            <p:cNvSpPr/>
            <p:nvPr/>
          </p:nvSpPr>
          <p:spPr>
            <a:xfrm>
              <a:off x="7071990" y="406177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5" name="Shape 399"/>
            <p:cNvSpPr/>
            <p:nvPr/>
          </p:nvSpPr>
          <p:spPr>
            <a:xfrm>
              <a:off x="6122033" y="6139753"/>
              <a:ext cx="369078" cy="41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6" name="Shape 400"/>
            <p:cNvSpPr/>
            <p:nvPr/>
          </p:nvSpPr>
          <p:spPr>
            <a:xfrm flipH="1" flipV="1">
              <a:off x="5505504" y="5107029"/>
              <a:ext cx="1723764" cy="493989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7" name="Shape 401"/>
            <p:cNvSpPr/>
            <p:nvPr/>
          </p:nvSpPr>
          <p:spPr>
            <a:xfrm>
              <a:off x="7071990" y="542561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9" name="Shape 403"/>
            <p:cNvSpPr/>
            <p:nvPr/>
          </p:nvSpPr>
          <p:spPr>
            <a:xfrm>
              <a:off x="7403322" y="591244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78" name="Shape 412"/>
            <p:cNvSpPr/>
            <p:nvPr/>
          </p:nvSpPr>
          <p:spPr>
            <a:xfrm>
              <a:off x="5255956" y="4888671"/>
              <a:ext cx="461348" cy="51725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sp>
        <p:nvSpPr>
          <p:cNvPr id="79" name="Shape 413"/>
          <p:cNvSpPr/>
          <p:nvPr/>
        </p:nvSpPr>
        <p:spPr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0" name="Shape 404"/>
          <p:cNvSpPr/>
          <p:nvPr/>
        </p:nvSpPr>
        <p:spPr>
          <a:xfrm flipV="1">
            <a:off x="5334000" y="53340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1" name="Shape 404"/>
          <p:cNvSpPr/>
          <p:nvPr/>
        </p:nvSpPr>
        <p:spPr>
          <a:xfrm>
            <a:off x="5029200" y="4724400"/>
            <a:ext cx="8382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4200" b="0" kern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Internet Service Provider</a:t>
            </a:r>
          </a:p>
        </p:txBody>
      </p:sp>
      <p:sp>
        <p:nvSpPr>
          <p:cNvPr id="35" name="Shape 404"/>
          <p:cNvSpPr/>
          <p:nvPr/>
        </p:nvSpPr>
        <p:spPr>
          <a:xfrm flipH="1" flipV="1">
            <a:off x="3352800" y="3733800"/>
            <a:ext cx="381000" cy="2286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6" name="Shape 404"/>
          <p:cNvSpPr/>
          <p:nvPr/>
        </p:nvSpPr>
        <p:spPr>
          <a:xfrm flipH="1">
            <a:off x="3200400" y="4191000"/>
            <a:ext cx="685800" cy="5334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7" name="Shape 404"/>
          <p:cNvSpPr/>
          <p:nvPr/>
        </p:nvSpPr>
        <p:spPr>
          <a:xfrm flipH="1" flipV="1">
            <a:off x="4114800" y="46482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8" name="Shape 404"/>
          <p:cNvSpPr/>
          <p:nvPr/>
        </p:nvSpPr>
        <p:spPr>
          <a:xfrm flipV="1">
            <a:off x="4800600" y="4114800"/>
            <a:ext cx="1524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3" name="Shape 410"/>
          <p:cNvSpPr/>
          <p:nvPr/>
        </p:nvSpPr>
        <p:spPr>
          <a:xfrm>
            <a:off x="3733800" y="38100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2" name="Shape 410"/>
          <p:cNvSpPr/>
          <p:nvPr/>
        </p:nvSpPr>
        <p:spPr>
          <a:xfrm>
            <a:off x="4572000" y="44196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9" name="Shape 408"/>
          <p:cNvSpPr/>
          <p:nvPr/>
        </p:nvSpPr>
        <p:spPr>
          <a:xfrm>
            <a:off x="5939722" y="3581335"/>
            <a:ext cx="1223078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lang="en-US" sz="2800" b="0" kern="0" dirty="0">
                <a:solidFill>
                  <a:srgbClr val="D3A600"/>
                </a:solidFill>
                <a:latin typeface="Arial" charset="0"/>
                <a:ea typeface="Arial" charset="0"/>
                <a:cs typeface="Arial" charset="0"/>
              </a:rPr>
              <a:t>routers</a:t>
            </a:r>
            <a:endParaRPr sz="2800" b="0" kern="0" dirty="0">
              <a:solidFill>
                <a:srgbClr val="D3A600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34843" name="Straight Arrow Connector 4"/>
          <p:cNvCxnSpPr>
            <a:cxnSpLocks noChangeShapeType="1"/>
            <a:stCxn id="39" idx="1"/>
            <a:endCxn id="33" idx="3"/>
          </p:cNvCxnSpPr>
          <p:nvPr/>
        </p:nvCxnSpPr>
        <p:spPr bwMode="auto">
          <a:xfrm flipH="1">
            <a:off x="4194175" y="3848068"/>
            <a:ext cx="1745547" cy="220695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844" name="Straight Arrow Connector 41"/>
          <p:cNvCxnSpPr>
            <a:cxnSpLocks noChangeShapeType="1"/>
            <a:stCxn id="39" idx="1"/>
            <a:endCxn id="31" idx="0"/>
          </p:cNvCxnSpPr>
          <p:nvPr/>
        </p:nvCxnSpPr>
        <p:spPr bwMode="auto">
          <a:xfrm flipH="1">
            <a:off x="5029200" y="3848068"/>
            <a:ext cx="910522" cy="876332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8" name="Shape 408"/>
          <p:cNvSpPr/>
          <p:nvPr/>
        </p:nvSpPr>
        <p:spPr>
          <a:xfrm>
            <a:off x="1905000" y="36575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1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778976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Switches vs.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Switches do what routers do but </a:t>
            </a:r>
            <a:r>
              <a:rPr lang="en-US" dirty="0">
                <a:solidFill>
                  <a:srgbClr val="0000FF"/>
                </a:solidFill>
              </a:rPr>
              <a:t>don’t participate in global delivery</a:t>
            </a:r>
            <a:r>
              <a:rPr lang="en-US" dirty="0"/>
              <a:t>, just local delivery</a:t>
            </a:r>
          </a:p>
          <a:p>
            <a:pPr lvl="1"/>
            <a:r>
              <a:rPr lang="en-US" dirty="0"/>
              <a:t>Switches only need to support L1, L2</a:t>
            </a:r>
          </a:p>
          <a:p>
            <a:pPr lvl="1"/>
            <a:r>
              <a:rPr lang="en-US" dirty="0"/>
              <a:t>Routers support L1-L3</a:t>
            </a:r>
          </a:p>
          <a:p>
            <a:endParaRPr lang="en-US" dirty="0"/>
          </a:p>
          <a:p>
            <a:r>
              <a:rPr lang="en-US" dirty="0"/>
              <a:t>Won’t focus on the router/switch distinction</a:t>
            </a:r>
          </a:p>
          <a:p>
            <a:pPr lvl="1"/>
            <a:r>
              <a:rPr lang="en-US" dirty="0"/>
              <a:t>Almost all boxes support network layer these days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layer interact with its peers corresponding layer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546006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goes down to physical network</a:t>
            </a:r>
          </a:p>
          <a:p>
            <a:r>
              <a:rPr lang="en-US" dirty="0"/>
              <a:t>Then up to relevant layer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58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4"/>
          <p:cNvSpPr>
            <a:spLocks noChangeArrowheads="1"/>
          </p:cNvSpPr>
          <p:nvPr/>
        </p:nvSpPr>
        <p:spPr bwMode="auto">
          <a:xfrm>
            <a:off x="4765675" y="4267200"/>
            <a:ext cx="2522538" cy="2162175"/>
          </a:xfrm>
          <a:prstGeom prst="rect">
            <a:avLst/>
          </a:prstGeom>
          <a:solidFill>
            <a:srgbClr val="E6E6E6"/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2133600" y="4267200"/>
            <a:ext cx="2522538" cy="2162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protocol-centric diagram</a:t>
            </a: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2625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692150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795338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879475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grpSp>
        <p:nvGrpSpPr>
          <p:cNvPr id="46088" name="Group 7"/>
          <p:cNvGrpSpPr>
            <a:grpSpLocks/>
          </p:cNvGrpSpPr>
          <p:nvPr/>
        </p:nvGrpSpPr>
        <p:grpSpPr bwMode="auto">
          <a:xfrm>
            <a:off x="677863" y="4438650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9" name="Rectangle 8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50" name="Text Box 9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658813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090" name="Text Box 11"/>
          <p:cNvSpPr txBox="1">
            <a:spLocks noChangeArrowheads="1"/>
          </p:cNvSpPr>
          <p:nvPr/>
        </p:nvSpPr>
        <p:spPr bwMode="auto">
          <a:xfrm>
            <a:off x="722475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091" name="Line 12"/>
          <p:cNvSpPr>
            <a:spLocks noChangeShapeType="1"/>
          </p:cNvSpPr>
          <p:nvPr/>
        </p:nvSpPr>
        <p:spPr bwMode="auto">
          <a:xfrm>
            <a:off x="1136650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1136650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3" name="Line 14"/>
          <p:cNvSpPr>
            <a:spLocks noChangeShapeType="1"/>
          </p:cNvSpPr>
          <p:nvPr/>
        </p:nvSpPr>
        <p:spPr bwMode="auto">
          <a:xfrm>
            <a:off x="1136650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527050" y="1857375"/>
            <a:ext cx="1303338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7637463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6" name="Rectangle 17"/>
          <p:cNvSpPr>
            <a:spLocks noChangeArrowheads="1"/>
          </p:cNvSpPr>
          <p:nvPr/>
        </p:nvSpPr>
        <p:spPr bwMode="auto">
          <a:xfrm>
            <a:off x="7646988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7" name="Rectangle 18"/>
          <p:cNvSpPr>
            <a:spLocks noChangeArrowheads="1"/>
          </p:cNvSpPr>
          <p:nvPr/>
        </p:nvSpPr>
        <p:spPr bwMode="auto">
          <a:xfrm>
            <a:off x="7632700" y="4438650"/>
            <a:ext cx="914400" cy="582613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8" name="Rectangle 19"/>
          <p:cNvSpPr>
            <a:spLocks noChangeArrowheads="1"/>
          </p:cNvSpPr>
          <p:nvPr/>
        </p:nvSpPr>
        <p:spPr bwMode="auto">
          <a:xfrm>
            <a:off x="764857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099" name="Text Box 20"/>
          <p:cNvSpPr txBox="1">
            <a:spLocks noChangeArrowheads="1"/>
          </p:cNvSpPr>
          <p:nvPr/>
        </p:nvSpPr>
        <p:spPr bwMode="auto">
          <a:xfrm>
            <a:off x="7750175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7834313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7929563" y="4554538"/>
            <a:ext cx="402654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IP</a:t>
            </a:r>
          </a:p>
        </p:txBody>
      </p:sp>
      <p:sp>
        <p:nvSpPr>
          <p:cNvPr id="46102" name="Text Box 23"/>
          <p:cNvSpPr txBox="1">
            <a:spLocks noChangeArrowheads="1"/>
          </p:cNvSpPr>
          <p:nvPr/>
        </p:nvSpPr>
        <p:spPr bwMode="auto">
          <a:xfrm>
            <a:off x="77281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8091488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4" name="Line 25"/>
          <p:cNvSpPr>
            <a:spLocks noChangeShapeType="1"/>
          </p:cNvSpPr>
          <p:nvPr/>
        </p:nvSpPr>
        <p:spPr bwMode="auto">
          <a:xfrm>
            <a:off x="8091488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5" name="Line 26"/>
          <p:cNvSpPr>
            <a:spLocks noChangeShapeType="1"/>
          </p:cNvSpPr>
          <p:nvPr/>
        </p:nvSpPr>
        <p:spPr bwMode="auto">
          <a:xfrm>
            <a:off x="8091488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7481888" y="1857375"/>
            <a:ext cx="1303337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7" name="Line 28"/>
          <p:cNvSpPr>
            <a:spLocks noChangeShapeType="1"/>
          </p:cNvSpPr>
          <p:nvPr/>
        </p:nvSpPr>
        <p:spPr bwMode="auto">
          <a:xfrm>
            <a:off x="1128713" y="6254750"/>
            <a:ext cx="0" cy="373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8" name="Line 29"/>
          <p:cNvSpPr>
            <a:spLocks noChangeShapeType="1"/>
          </p:cNvSpPr>
          <p:nvPr/>
        </p:nvSpPr>
        <p:spPr bwMode="auto">
          <a:xfrm>
            <a:off x="796925" y="66278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46109" name="Group 30"/>
          <p:cNvGrpSpPr>
            <a:grpSpLocks/>
          </p:cNvGrpSpPr>
          <p:nvPr/>
        </p:nvGrpSpPr>
        <p:grpSpPr bwMode="auto">
          <a:xfrm>
            <a:off x="2894013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7" name="Rectangle 31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8" name="Text Box 32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grpSp>
        <p:nvGrpSpPr>
          <p:cNvPr id="46110" name="Group 33"/>
          <p:cNvGrpSpPr>
            <a:grpSpLocks/>
          </p:cNvGrpSpPr>
          <p:nvPr/>
        </p:nvGrpSpPr>
        <p:grpSpPr bwMode="auto">
          <a:xfrm>
            <a:off x="5538788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5" name="Rectangle 34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6" name="Text Box 35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111" name="Rectangle 36"/>
          <p:cNvSpPr>
            <a:spLocks noChangeArrowheads="1"/>
          </p:cNvSpPr>
          <p:nvPr/>
        </p:nvSpPr>
        <p:spPr bwMode="auto">
          <a:xfrm>
            <a:off x="22955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12" name="Text Box 37"/>
          <p:cNvSpPr txBox="1">
            <a:spLocks noChangeArrowheads="1"/>
          </p:cNvSpPr>
          <p:nvPr/>
        </p:nvSpPr>
        <p:spPr bwMode="auto">
          <a:xfrm>
            <a:off x="2351250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grpSp>
        <p:nvGrpSpPr>
          <p:cNvPr id="46113" name="Group 38"/>
          <p:cNvGrpSpPr>
            <a:grpSpLocks/>
          </p:cNvGrpSpPr>
          <p:nvPr/>
        </p:nvGrpSpPr>
        <p:grpSpPr bwMode="auto">
          <a:xfrm>
            <a:off x="6126739" y="5649119"/>
            <a:ext cx="1016864" cy="606425"/>
            <a:chOff x="280" y="3421"/>
            <a:chExt cx="646" cy="367"/>
          </a:xfrm>
          <a:solidFill>
            <a:schemeClr val="accent2">
              <a:lumMod val="75000"/>
              <a:lumOff val="25000"/>
            </a:schemeClr>
          </a:solidFill>
        </p:grpSpPr>
        <p:sp>
          <p:nvSpPr>
            <p:cNvPr id="46143" name="Rectangle 39"/>
            <p:cNvSpPr>
              <a:spLocks noChangeArrowheads="1"/>
            </p:cNvSpPr>
            <p:nvPr/>
          </p:nvSpPr>
          <p:spPr bwMode="auto">
            <a:xfrm>
              <a:off x="280" y="3421"/>
              <a:ext cx="64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rIns="0" anchor="ctr"/>
            <a:lstStyle/>
            <a:p>
              <a:pPr algn="ctr"/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46144" name="Text Box 40"/>
            <p:cNvSpPr txBox="1">
              <a:spLocks noChangeArrowheads="1"/>
            </p:cNvSpPr>
            <p:nvPr/>
          </p:nvSpPr>
          <p:spPr bwMode="auto">
            <a:xfrm>
              <a:off x="325" y="3429"/>
              <a:ext cx="565" cy="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600" b="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Ethernet</a:t>
              </a:r>
            </a:p>
            <a:p>
              <a:pPr algn="ctr">
                <a:lnSpc>
                  <a:spcPct val="90000"/>
                </a:lnSpc>
              </a:pPr>
              <a:r>
                <a:rPr lang="en-US" sz="1600" b="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interface</a:t>
              </a:r>
            </a:p>
          </p:txBody>
        </p:sp>
      </p:grpSp>
      <p:sp>
        <p:nvSpPr>
          <p:cNvPr id="46114" name="Line 41"/>
          <p:cNvSpPr>
            <a:spLocks noChangeShapeType="1"/>
          </p:cNvSpPr>
          <p:nvPr/>
        </p:nvSpPr>
        <p:spPr bwMode="auto">
          <a:xfrm flipH="1">
            <a:off x="2733675" y="6283325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5" name="Line 42"/>
          <p:cNvSpPr>
            <a:spLocks noChangeShapeType="1"/>
          </p:cNvSpPr>
          <p:nvPr/>
        </p:nvSpPr>
        <p:spPr bwMode="auto">
          <a:xfrm flipH="1">
            <a:off x="2714625" y="5046663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6" name="Line 43"/>
          <p:cNvSpPr>
            <a:spLocks noChangeShapeType="1"/>
          </p:cNvSpPr>
          <p:nvPr/>
        </p:nvSpPr>
        <p:spPr bwMode="auto">
          <a:xfrm>
            <a:off x="3517900" y="5060950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7" name="Rectangle 44"/>
          <p:cNvSpPr>
            <a:spLocks noChangeArrowheads="1"/>
          </p:cNvSpPr>
          <p:nvPr/>
        </p:nvSpPr>
        <p:spPr bwMode="auto">
          <a:xfrm>
            <a:off x="36036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18" name="Text Box 45"/>
          <p:cNvSpPr txBox="1">
            <a:spLocks noChangeArrowheads="1"/>
          </p:cNvSpPr>
          <p:nvPr/>
        </p:nvSpPr>
        <p:spPr bwMode="auto">
          <a:xfrm>
            <a:off x="3679988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19" name="Rectangle 46"/>
          <p:cNvSpPr>
            <a:spLocks noChangeArrowheads="1"/>
          </p:cNvSpPr>
          <p:nvPr/>
        </p:nvSpPr>
        <p:spPr bwMode="auto">
          <a:xfrm>
            <a:off x="4878388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20" name="Text Box 47"/>
          <p:cNvSpPr txBox="1">
            <a:spLocks noChangeArrowheads="1"/>
          </p:cNvSpPr>
          <p:nvPr/>
        </p:nvSpPr>
        <p:spPr bwMode="auto">
          <a:xfrm>
            <a:off x="49468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21" name="Line 48"/>
          <p:cNvSpPr>
            <a:spLocks noChangeShapeType="1"/>
          </p:cNvSpPr>
          <p:nvPr/>
        </p:nvSpPr>
        <p:spPr bwMode="auto">
          <a:xfrm flipH="1">
            <a:off x="6669088" y="6243638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2" name="Line 49"/>
          <p:cNvSpPr>
            <a:spLocks noChangeShapeType="1"/>
          </p:cNvSpPr>
          <p:nvPr/>
        </p:nvSpPr>
        <p:spPr bwMode="auto">
          <a:xfrm flipH="1">
            <a:off x="6211888" y="65897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3" name="Line 50"/>
          <p:cNvSpPr>
            <a:spLocks noChangeShapeType="1"/>
          </p:cNvSpPr>
          <p:nvPr/>
        </p:nvSpPr>
        <p:spPr bwMode="auto">
          <a:xfrm>
            <a:off x="8121650" y="6246813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4" name="Line 51"/>
          <p:cNvSpPr>
            <a:spLocks noChangeShapeType="1"/>
          </p:cNvSpPr>
          <p:nvPr/>
        </p:nvSpPr>
        <p:spPr bwMode="auto">
          <a:xfrm flipH="1">
            <a:off x="5291138" y="5073650"/>
            <a:ext cx="541337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5" name="Line 52"/>
          <p:cNvSpPr>
            <a:spLocks noChangeShapeType="1"/>
          </p:cNvSpPr>
          <p:nvPr/>
        </p:nvSpPr>
        <p:spPr bwMode="auto">
          <a:xfrm>
            <a:off x="6108700" y="5073650"/>
            <a:ext cx="527050" cy="595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6" name="Line 55"/>
          <p:cNvSpPr>
            <a:spLocks noChangeShapeType="1"/>
          </p:cNvSpPr>
          <p:nvPr/>
        </p:nvSpPr>
        <p:spPr bwMode="auto">
          <a:xfrm flipH="1">
            <a:off x="4043363" y="62452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7" name="Line 56"/>
          <p:cNvSpPr>
            <a:spLocks noChangeShapeType="1"/>
          </p:cNvSpPr>
          <p:nvPr/>
        </p:nvSpPr>
        <p:spPr bwMode="auto">
          <a:xfrm flipH="1">
            <a:off x="5303838" y="62579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8" name="Line 57"/>
          <p:cNvSpPr>
            <a:spLocks noChangeShapeType="1"/>
          </p:cNvSpPr>
          <p:nvPr/>
        </p:nvSpPr>
        <p:spPr bwMode="auto">
          <a:xfrm>
            <a:off x="4060825" y="6589713"/>
            <a:ext cx="12461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9" name="Text Box 58"/>
          <p:cNvSpPr txBox="1">
            <a:spLocks noChangeArrowheads="1"/>
          </p:cNvSpPr>
          <p:nvPr/>
        </p:nvSpPr>
        <p:spPr bwMode="auto">
          <a:xfrm>
            <a:off x="849313" y="1481138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0" name="Text Box 59"/>
          <p:cNvSpPr txBox="1">
            <a:spLocks noChangeArrowheads="1"/>
          </p:cNvSpPr>
          <p:nvPr/>
        </p:nvSpPr>
        <p:spPr bwMode="auto">
          <a:xfrm>
            <a:off x="7804150" y="1466850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1" name="Text Box 60"/>
          <p:cNvSpPr txBox="1">
            <a:spLocks noChangeArrowheads="1"/>
          </p:cNvSpPr>
          <p:nvPr/>
        </p:nvSpPr>
        <p:spPr bwMode="auto">
          <a:xfrm>
            <a:off x="2970213" y="3863975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2" name="Text Box 61"/>
          <p:cNvSpPr txBox="1">
            <a:spLocks noChangeArrowheads="1"/>
          </p:cNvSpPr>
          <p:nvPr/>
        </p:nvSpPr>
        <p:spPr bwMode="auto">
          <a:xfrm>
            <a:off x="5600700" y="3878263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3" name="Line 62"/>
          <p:cNvSpPr>
            <a:spLocks noChangeShapeType="1"/>
          </p:cNvSpPr>
          <p:nvPr/>
        </p:nvSpPr>
        <p:spPr bwMode="auto">
          <a:xfrm>
            <a:off x="1608138" y="2355850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4" name="Line 63"/>
          <p:cNvSpPr>
            <a:spLocks noChangeShapeType="1"/>
          </p:cNvSpPr>
          <p:nvPr/>
        </p:nvSpPr>
        <p:spPr bwMode="auto">
          <a:xfrm>
            <a:off x="1636713" y="3546475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5" name="Text Box 64"/>
          <p:cNvSpPr txBox="1">
            <a:spLocks noChangeArrowheads="1"/>
          </p:cNvSpPr>
          <p:nvPr/>
        </p:nvSpPr>
        <p:spPr bwMode="auto">
          <a:xfrm>
            <a:off x="3994150" y="1987550"/>
            <a:ext cx="1649277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HTTP message</a:t>
            </a:r>
          </a:p>
        </p:txBody>
      </p:sp>
      <p:sp>
        <p:nvSpPr>
          <p:cNvPr id="46136" name="Text Box 65"/>
          <p:cNvSpPr txBox="1">
            <a:spLocks noChangeArrowheads="1"/>
          </p:cNvSpPr>
          <p:nvPr/>
        </p:nvSpPr>
        <p:spPr bwMode="auto">
          <a:xfrm>
            <a:off x="4092575" y="3192463"/>
            <a:ext cx="1490581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TCP segment</a:t>
            </a:r>
          </a:p>
        </p:txBody>
      </p:sp>
      <p:sp>
        <p:nvSpPr>
          <p:cNvPr id="46137" name="Line 66"/>
          <p:cNvSpPr>
            <a:spLocks noChangeShapeType="1"/>
          </p:cNvSpPr>
          <p:nvPr/>
        </p:nvSpPr>
        <p:spPr bwMode="auto">
          <a:xfrm flipV="1">
            <a:off x="1609725" y="4751388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8" name="Line 67"/>
          <p:cNvSpPr>
            <a:spLocks noChangeShapeType="1"/>
          </p:cNvSpPr>
          <p:nvPr/>
        </p:nvSpPr>
        <p:spPr bwMode="auto">
          <a:xfrm flipV="1">
            <a:off x="3840163" y="4751388"/>
            <a:ext cx="1693863" cy="14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9" name="Line 68"/>
          <p:cNvSpPr>
            <a:spLocks noChangeShapeType="1"/>
          </p:cNvSpPr>
          <p:nvPr/>
        </p:nvSpPr>
        <p:spPr bwMode="auto">
          <a:xfrm flipV="1">
            <a:off x="6457950" y="4751388"/>
            <a:ext cx="1176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40" name="Text Box 69"/>
          <p:cNvSpPr txBox="1">
            <a:spLocks noChangeArrowheads="1"/>
          </p:cNvSpPr>
          <p:nvPr/>
        </p:nvSpPr>
        <p:spPr bwMode="auto">
          <a:xfrm>
            <a:off x="1765300" y="4343400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1" name="Text Box 70"/>
          <p:cNvSpPr txBox="1">
            <a:spLocks noChangeArrowheads="1"/>
          </p:cNvSpPr>
          <p:nvPr/>
        </p:nvSpPr>
        <p:spPr bwMode="auto">
          <a:xfrm>
            <a:off x="6553200" y="4371975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2" name="Text Box 71"/>
          <p:cNvSpPr txBox="1">
            <a:spLocks noChangeArrowheads="1"/>
          </p:cNvSpPr>
          <p:nvPr/>
        </p:nvSpPr>
        <p:spPr bwMode="auto">
          <a:xfrm>
            <a:off x="4189413" y="4357687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41A11-829E-554F-87F2-E649ED2C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86D70-BE0F-B64B-AFFF-78E09164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0193-71F9-334D-9136-A5F4AF37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10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" grpId="0" animBg="1"/>
      <p:bldP spid="59436" grpId="0" animBg="1"/>
      <p:bldP spid="46084" grpId="0" animBg="1"/>
      <p:bldP spid="46085" grpId="0" animBg="1"/>
      <p:bldP spid="46086" grpId="0"/>
      <p:bldP spid="46087" grpId="0"/>
      <p:bldP spid="46089" grpId="0" animBg="1"/>
      <p:bldP spid="46090" grpId="0" animBg="1"/>
      <p:bldP spid="46091" grpId="0" animBg="1"/>
      <p:bldP spid="46092" grpId="0" animBg="1"/>
      <p:bldP spid="46093" grpId="0" animBg="1"/>
      <p:bldP spid="46094" grpId="0" animBg="1"/>
      <p:bldP spid="46095" grpId="0" animBg="1"/>
      <p:bldP spid="46096" grpId="0" animBg="1"/>
      <p:bldP spid="46097" grpId="0" animBg="1"/>
      <p:bldP spid="46098" grpId="0" animBg="1"/>
      <p:bldP spid="46099" grpId="0"/>
      <p:bldP spid="46100" grpId="0"/>
      <p:bldP spid="46101" grpId="0"/>
      <p:bldP spid="46102" grpId="0" animBg="1"/>
      <p:bldP spid="46103" grpId="0" animBg="1"/>
      <p:bldP spid="46104" grpId="0" animBg="1"/>
      <p:bldP spid="46105" grpId="0" animBg="1"/>
      <p:bldP spid="46106" grpId="0" animBg="1"/>
      <p:bldP spid="46107" grpId="0" animBg="1"/>
      <p:bldP spid="46108" grpId="0" animBg="1"/>
      <p:bldP spid="46111" grpId="0" animBg="1"/>
      <p:bldP spid="46112" grpId="0" animBg="1"/>
      <p:bldP spid="46114" grpId="0" animBg="1"/>
      <p:bldP spid="46115" grpId="0" animBg="1"/>
      <p:bldP spid="46116" grpId="0" animBg="1"/>
      <p:bldP spid="46117" grpId="0" animBg="1"/>
      <p:bldP spid="46118" grpId="0" animBg="1"/>
      <p:bldP spid="46119" grpId="0" animBg="1"/>
      <p:bldP spid="46120" grpId="0" animBg="1"/>
      <p:bldP spid="46121" grpId="0" animBg="1"/>
      <p:bldP spid="46122" grpId="0" animBg="1"/>
      <p:bldP spid="46123" grpId="0" animBg="1"/>
      <p:bldP spid="46124" grpId="0" animBg="1"/>
      <p:bldP spid="46125" grpId="0" animBg="1"/>
      <p:bldP spid="46126" grpId="0" animBg="1"/>
      <p:bldP spid="46127" grpId="0" animBg="1"/>
      <p:bldP spid="46128" grpId="0" animBg="1"/>
      <p:bldP spid="46129" grpId="0"/>
      <p:bldP spid="46130" grpId="0"/>
      <p:bldP spid="46131" grpId="0"/>
      <p:bldP spid="46132" grpId="0"/>
      <p:bldP spid="46133" grpId="0" animBg="1"/>
      <p:bldP spid="46134" grpId="0" animBg="1"/>
      <p:bldP spid="46135" grpId="0"/>
      <p:bldP spid="46136" grpId="0"/>
      <p:bldP spid="46137" grpId="0" animBg="1"/>
      <p:bldP spid="46138" grpId="0" animBg="1"/>
      <p:bldP spid="46139" grpId="0" animBg="1"/>
      <p:bldP spid="46139" grpId="1" animBg="1"/>
      <p:bldP spid="46140" grpId="0" animBg="1"/>
      <p:bldP spid="46141" grpId="0" animBg="1"/>
      <p:bldP spid="4614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hape 2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layering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Why layers?</a:t>
            </a:r>
          </a:p>
        </p:txBody>
      </p:sp>
      <p:sp>
        <p:nvSpPr>
          <p:cNvPr id="290" name="Shape 29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Reduce complexity</a:t>
            </a:r>
          </a:p>
          <a:p>
            <a:r>
              <a:rPr lang="en-US" sz="2400" dirty="0"/>
              <a:t>Improve flexibility</a:t>
            </a:r>
          </a:p>
          <a:p>
            <a:r>
              <a:rPr lang="en-US" sz="2400" dirty="0"/>
              <a:t>Better manageability</a:t>
            </a:r>
          </a:p>
          <a:p>
            <a:endParaRPr lang="en-US" sz="24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dirty="0"/>
              <a:t>Why not?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/>
              <a:t>Higher overheads</a:t>
            </a:r>
          </a:p>
          <a:p>
            <a:r>
              <a:rPr lang="en-US" sz="2400" dirty="0"/>
              <a:t>Cross-layer </a:t>
            </a:r>
            <a:r>
              <a:rPr lang="en-US" sz="2400"/>
              <a:t>information is often useful</a:t>
            </a:r>
          </a:p>
          <a:p>
            <a:endParaRPr lang="en-US" sz="2400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F967-1287-0948-92AE-55309D19614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4400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90" grpId="0" uiExpand="1" build="p"/>
      <p:bldP spid="10" grpId="0" build="p"/>
      <p:bldP spid="11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5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hourglass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network-layer protocol (IP)</a:t>
            </a:r>
          </a:p>
          <a:p>
            <a:r>
              <a:rPr lang="en-US" dirty="0"/>
              <a:t>Allows arbitrary networks to interoperate</a:t>
            </a:r>
          </a:p>
          <a:p>
            <a:pPr lvl="1"/>
            <a:r>
              <a:rPr lang="en-US" dirty="0"/>
              <a:t>Any network that supports IP can exchange packets</a:t>
            </a:r>
          </a:p>
          <a:p>
            <a:r>
              <a:rPr lang="en-US" dirty="0">
                <a:solidFill>
                  <a:srgbClr val="0000FF"/>
                </a:solidFill>
              </a:rPr>
              <a:t>Decouples</a:t>
            </a:r>
            <a:r>
              <a:rPr lang="en-US" dirty="0"/>
              <a:t> applications from low-level networking technologies</a:t>
            </a:r>
          </a:p>
          <a:p>
            <a:pPr lvl="1"/>
            <a:r>
              <a:rPr lang="en-US" dirty="0"/>
              <a:t>Applications function on all networks</a:t>
            </a:r>
          </a:p>
          <a:p>
            <a:r>
              <a:rPr lang="en-US" dirty="0"/>
              <a:t>Supports simultaneous innovations above and below IP</a:t>
            </a:r>
          </a:p>
          <a:p>
            <a:r>
              <a:rPr lang="en-US" dirty="0"/>
              <a:t>But changing IP itself is hard (e.g., IPv4 </a:t>
            </a:r>
            <a:r>
              <a:rPr lang="en-US" dirty="0">
                <a:sym typeface="Wingdings"/>
              </a:rPr>
              <a:t> IPv6)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903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Placing network functionality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End-to-end arguments </a:t>
            </a:r>
            <a:r>
              <a:rPr lang="en-US" dirty="0"/>
              <a:t>by </a:t>
            </a:r>
            <a:r>
              <a:rPr lang="en-US" dirty="0" err="1"/>
              <a:t>Saltzer</a:t>
            </a:r>
            <a:r>
              <a:rPr lang="en-US" dirty="0"/>
              <a:t>, Reed, and Clark</a:t>
            </a:r>
          </a:p>
          <a:p>
            <a:pPr lvl="1"/>
            <a:r>
              <a:rPr lang="en-US" dirty="0"/>
              <a:t>Dumb network and smart end systems</a:t>
            </a:r>
          </a:p>
          <a:p>
            <a:pPr lvl="1"/>
            <a:r>
              <a:rPr lang="en-US" dirty="0"/>
              <a:t>Functions that can be </a:t>
            </a:r>
            <a:r>
              <a:rPr lang="en-US" i="1" dirty="0">
                <a:solidFill>
                  <a:srgbClr val="0000FF"/>
                </a:solidFill>
              </a:rPr>
              <a:t>completely</a:t>
            </a:r>
            <a:r>
              <a:rPr lang="en-US" dirty="0"/>
              <a:t> and </a:t>
            </a:r>
            <a:r>
              <a:rPr lang="en-US" i="1" dirty="0">
                <a:solidFill>
                  <a:srgbClr val="0000FF"/>
                </a:solidFill>
              </a:rPr>
              <a:t>correctly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implemented </a:t>
            </a:r>
            <a:r>
              <a:rPr lang="en-US" i="1" dirty="0">
                <a:solidFill>
                  <a:srgbClr val="0000FF"/>
                </a:solidFill>
              </a:rPr>
              <a:t>only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with the knowledge of application end host, should not be pushed into the network</a:t>
            </a:r>
          </a:p>
          <a:p>
            <a:pPr lvl="1"/>
            <a:r>
              <a:rPr lang="en-US" dirty="0"/>
              <a:t>Sometimes necessary to break this for performance and policy optimizations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Fate sharing</a:t>
            </a:r>
            <a:r>
              <a:rPr lang="en-US" dirty="0"/>
              <a:t>: fail together or don’t fail at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6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62DB-991F-EFCC-5BF7-064B3B3E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26F08-D915-EEA8-2A1D-15DA8553D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Fail together or don’t fail at all</a:t>
            </a:r>
          </a:p>
          <a:p>
            <a:pPr lvl="1"/>
            <a:r>
              <a:rPr lang="en-US" dirty="0"/>
              <a:t>“it is acceptable to lose the state information associated with an entity if, at the same time, the entity itself is lost”</a:t>
            </a:r>
          </a:p>
          <a:p>
            <a:pPr lvl="1"/>
            <a:r>
              <a:rPr lang="en-US" dirty="0"/>
              <a:t>e.g., state information (like browser session data) is kept only at the endpoints of a communication system (i.e., browser and server), rather than within the network itself</a:t>
            </a:r>
          </a:p>
          <a:p>
            <a:pPr lvl="2"/>
            <a:r>
              <a:rPr lang="en-US" dirty="0"/>
              <a:t>If a failure occurs, it affects only the endpoints and not the entire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E504D-FAE5-3916-4635-816DF407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15,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0DE44-04E8-3D21-DEE6-3A8D5590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C1E83-5FA4-4C54-F045-CC0BF155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7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Summary</a:t>
            </a:r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Layering is a good way to organize networks</a:t>
            </a:r>
          </a:p>
          <a:p>
            <a:pPr lvl="0"/>
            <a:r>
              <a:rPr lang="en-US" dirty="0"/>
              <a:t>Unified Internet layer decouples applications from networks</a:t>
            </a:r>
          </a:p>
          <a:p>
            <a:pPr lvl="0"/>
            <a:r>
              <a:rPr lang="en-US" dirty="0"/>
              <a:t>E2E argument encourages us to keep IP simple</a:t>
            </a:r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44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57808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1490456106</TotalTime>
  <Pages>7</Pages>
  <Words>1930</Words>
  <Application>Microsoft Macintosh PowerPoint</Application>
  <PresentationFormat>On-screen Show (4:3)</PresentationFormat>
  <Paragraphs>622</Paragraphs>
  <Slides>44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ＭＳ Ｐゴシック</vt:lpstr>
      <vt:lpstr>Arial</vt:lpstr>
      <vt:lpstr>Arial Black</vt:lpstr>
      <vt:lpstr>Calibri</vt:lpstr>
      <vt:lpstr>Courier New</vt:lpstr>
      <vt:lpstr>Gill Sans</vt:lpstr>
      <vt:lpstr>Helvetica</vt:lpstr>
      <vt:lpstr>Monotype Sorts</vt:lpstr>
      <vt:lpstr>Times New Roman</vt:lpstr>
      <vt:lpstr>Wingdings</vt:lpstr>
      <vt:lpstr>dbllineb</vt:lpstr>
      <vt:lpstr>EECS 489 Computer Networks  Winter 2025</vt:lpstr>
      <vt:lpstr>Recap</vt:lpstr>
      <vt:lpstr>Agenda</vt:lpstr>
      <vt:lpstr>What we want</vt:lpstr>
      <vt:lpstr>(Some of) What happens…</vt:lpstr>
      <vt:lpstr>(More of) What happens</vt:lpstr>
      <vt:lpstr>What we get</vt:lpstr>
      <vt:lpstr>Inspiration…</vt:lpstr>
      <vt:lpstr>Inspiration…</vt:lpstr>
      <vt:lpstr>The path of the letter</vt:lpstr>
      <vt:lpstr>The path of the letter</vt:lpstr>
      <vt:lpstr>Three steps</vt:lpstr>
      <vt:lpstr>Back to the Internet: Decomposition</vt:lpstr>
      <vt:lpstr>Communication organization</vt:lpstr>
      <vt:lpstr>OSI layers</vt:lpstr>
      <vt:lpstr>Layers</vt:lpstr>
      <vt:lpstr>Layers and protocols </vt:lpstr>
      <vt:lpstr>What is a Protocol?</vt:lpstr>
      <vt:lpstr>What is a Protocol?</vt:lpstr>
      <vt:lpstr>What is a Protocol?</vt:lpstr>
      <vt:lpstr>Protocols at different layers</vt:lpstr>
      <vt:lpstr>ONE network layer protocol</vt:lpstr>
      <vt:lpstr>Layer encapsulation:  Protocol headers</vt:lpstr>
      <vt:lpstr>5-minute break!</vt:lpstr>
      <vt:lpstr>Announcements</vt:lpstr>
      <vt:lpstr>Three steps</vt:lpstr>
      <vt:lpstr>What gets implemented where?</vt:lpstr>
      <vt:lpstr>What gets implemented  at the end systems?</vt:lpstr>
      <vt:lpstr>What gets implemented in  the network? </vt:lpstr>
      <vt:lpstr>Simple Diagram</vt:lpstr>
      <vt:lpstr>A closer look: End system</vt:lpstr>
      <vt:lpstr>What gets implemented in  the network? </vt:lpstr>
      <vt:lpstr>A closer look at the network</vt:lpstr>
      <vt:lpstr>A closer look at the network</vt:lpstr>
      <vt:lpstr>Switches vs. Routers</vt:lpstr>
      <vt:lpstr>Logical communication</vt:lpstr>
      <vt:lpstr>Physical communication</vt:lpstr>
      <vt:lpstr>A protocol-centric diagram</vt:lpstr>
      <vt:lpstr>Pros and cons of layering</vt:lpstr>
      <vt:lpstr>IP is the narrow waist of the layering hourglass</vt:lpstr>
      <vt:lpstr>Implications of hourglass </vt:lpstr>
      <vt:lpstr>Placing network functionality</vt:lpstr>
      <vt:lpstr>Fate sharing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1357</cp:revision>
  <cp:lastPrinted>1999-09-08T17:25:07Z</cp:lastPrinted>
  <dcterms:created xsi:type="dcterms:W3CDTF">2014-01-14T18:15:50Z</dcterms:created>
  <dcterms:modified xsi:type="dcterms:W3CDTF">2025-01-13T00:36:00Z</dcterms:modified>
  <cp:category/>
</cp:coreProperties>
</file>