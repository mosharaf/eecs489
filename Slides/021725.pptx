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648" r:id="rId1"/>
  </p:sldMasterIdLst>
  <p:notesMasterIdLst>
    <p:notesMasterId r:id="rId58"/>
  </p:notesMasterIdLst>
  <p:handoutMasterIdLst>
    <p:handoutMasterId r:id="rId59"/>
  </p:handoutMasterIdLst>
  <p:sldIdLst>
    <p:sldId id="258" r:id="rId2"/>
    <p:sldId id="487" r:id="rId3"/>
    <p:sldId id="514" r:id="rId4"/>
    <p:sldId id="515" r:id="rId5"/>
    <p:sldId id="516" r:id="rId6"/>
    <p:sldId id="517" r:id="rId7"/>
    <p:sldId id="519" r:id="rId8"/>
    <p:sldId id="518" r:id="rId9"/>
    <p:sldId id="520" r:id="rId10"/>
    <p:sldId id="521" r:id="rId11"/>
    <p:sldId id="523" r:id="rId12"/>
    <p:sldId id="524" r:id="rId13"/>
    <p:sldId id="525" r:id="rId14"/>
    <p:sldId id="526" r:id="rId15"/>
    <p:sldId id="527" r:id="rId16"/>
    <p:sldId id="528" r:id="rId17"/>
    <p:sldId id="529" r:id="rId18"/>
    <p:sldId id="530" r:id="rId19"/>
    <p:sldId id="531" r:id="rId20"/>
    <p:sldId id="532" r:id="rId21"/>
    <p:sldId id="533" r:id="rId22"/>
    <p:sldId id="534" r:id="rId23"/>
    <p:sldId id="535" r:id="rId24"/>
    <p:sldId id="536" r:id="rId25"/>
    <p:sldId id="539" r:id="rId26"/>
    <p:sldId id="540" r:id="rId27"/>
    <p:sldId id="542" r:id="rId28"/>
    <p:sldId id="543" r:id="rId29"/>
    <p:sldId id="546" r:id="rId30"/>
    <p:sldId id="547" r:id="rId31"/>
    <p:sldId id="548" r:id="rId32"/>
    <p:sldId id="549" r:id="rId33"/>
    <p:sldId id="502" r:id="rId34"/>
    <p:sldId id="575" r:id="rId35"/>
    <p:sldId id="550" r:id="rId36"/>
    <p:sldId id="551" r:id="rId37"/>
    <p:sldId id="552" r:id="rId38"/>
    <p:sldId id="554" r:id="rId39"/>
    <p:sldId id="555" r:id="rId40"/>
    <p:sldId id="556" r:id="rId41"/>
    <p:sldId id="557" r:id="rId42"/>
    <p:sldId id="558" r:id="rId43"/>
    <p:sldId id="567" r:id="rId44"/>
    <p:sldId id="560" r:id="rId45"/>
    <p:sldId id="561" r:id="rId46"/>
    <p:sldId id="562" r:id="rId47"/>
    <p:sldId id="563" r:id="rId48"/>
    <p:sldId id="568" r:id="rId49"/>
    <p:sldId id="565" r:id="rId50"/>
    <p:sldId id="576" r:id="rId51"/>
    <p:sldId id="569" r:id="rId52"/>
    <p:sldId id="570" r:id="rId53"/>
    <p:sldId id="572" r:id="rId54"/>
    <p:sldId id="571" r:id="rId55"/>
    <p:sldId id="573" r:id="rId56"/>
    <p:sldId id="512" r:id="rId57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9900"/>
    <a:srgbClr val="D3A600"/>
    <a:srgbClr val="333399"/>
    <a:srgbClr val="FFCB05"/>
    <a:srgbClr val="FF9900"/>
    <a:srgbClr val="00274C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72"/>
    <p:restoredTop sz="89789"/>
  </p:normalViewPr>
  <p:slideViewPr>
    <p:cSldViewPr>
      <p:cViewPr varScale="1">
        <p:scale>
          <a:sx n="106" d="100"/>
          <a:sy n="106" d="100"/>
        </p:scale>
        <p:origin x="1720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5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914EF427-E3A8-D542-91D3-317F25033480}" type="slidenum">
              <a:rPr lang="en-US" sz="1100" b="0">
                <a:latin typeface="Times New Roman" charset="0"/>
              </a:rPr>
              <a:pPr/>
              <a:t>1</a:t>
            </a:fld>
            <a:endParaRPr lang="en-US" sz="1100" b="0">
              <a:latin typeface="Times New Roman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31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443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960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004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57E223B3-ED0D-0B48-B88B-1C353A074062}" type="slidenum">
              <a:rPr lang="en-US" sz="1300" b="0">
                <a:latin typeface="Times New Roman" charset="0"/>
              </a:rPr>
              <a:pPr eaLnBrk="1" hangingPunct="1"/>
              <a:t>11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71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0950" y="708025"/>
            <a:ext cx="4814888" cy="3611563"/>
          </a:xfrm>
          <a:solidFill>
            <a:srgbClr val="FFFFFF"/>
          </a:solidFill>
          <a:ln/>
        </p:spPr>
      </p:sp>
      <p:sp>
        <p:nvSpPr>
          <p:cNvPr id="471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2975" y="4564063"/>
            <a:ext cx="5429250" cy="4333875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fr-F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46346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1BB7AE1D-933C-6F4B-A519-23E62013EB2E}" type="slidenum">
              <a:rPr lang="en-US" sz="1300" b="0">
                <a:latin typeface="Times New Roman" charset="0"/>
              </a:rPr>
              <a:pPr eaLnBrk="1" hangingPunct="1"/>
              <a:t>18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1922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31354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4605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2F151C3C-F8E8-0C49-AD22-28CFC2BDC263}" type="slidenum">
              <a:rPr lang="en-US" sz="1300" b="0">
                <a:latin typeface="Times New Roman" charset="0"/>
              </a:rPr>
              <a:pPr eaLnBrk="1" hangingPunct="1"/>
              <a:t>20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734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38398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9DC31C9-6D3B-3544-8EE9-1427378FF53B}" type="slidenum">
              <a:rPr lang="en-US" sz="1300" b="0">
                <a:latin typeface="Times New Roman" charset="0"/>
              </a:rPr>
              <a:pPr eaLnBrk="1" hangingPunct="1"/>
              <a:t>22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325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80597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9DC31C9-6D3B-3544-8EE9-1427378FF53B}" type="slidenum">
              <a:rPr lang="en-US" sz="1300" b="0">
                <a:latin typeface="Times New Roman" charset="0"/>
              </a:rPr>
              <a:pPr eaLnBrk="1" hangingPunct="1"/>
              <a:t>26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325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0756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6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CFB8DC4-C973-3B4E-8B9B-213E31135BEF}" type="slidenum">
              <a:rPr lang="en-US" sz="1300" b="0">
                <a:latin typeface="Times New Roman" charset="0"/>
              </a:rPr>
              <a:pPr eaLnBrk="1" hangingPunct="1"/>
              <a:t>29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397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397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1248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6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CFB8DC4-C973-3B4E-8B9B-213E31135BEF}" type="slidenum">
              <a:rPr lang="en-US" sz="1300" b="0">
                <a:latin typeface="Times New Roman" charset="0"/>
              </a:rPr>
              <a:pPr eaLnBrk="1" hangingPunct="1"/>
              <a:t>30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397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397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503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2F151C3C-F8E8-0C49-AD22-28CFC2BDC263}" type="slidenum">
              <a:rPr lang="en-US" sz="1300" b="0">
                <a:latin typeface="Times New Roman" charset="0"/>
              </a:rPr>
              <a:pPr eaLnBrk="1" hangingPunct="1"/>
              <a:t>35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734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322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2445EAA-09DF-C04F-97F6-8B62BFF3DAD6}" type="slidenum">
              <a:rPr lang="en-US" sz="1300" b="0">
                <a:latin typeface="Times New Roman" charset="0"/>
              </a:rPr>
              <a:pPr eaLnBrk="1" hangingPunct="1"/>
              <a:t>36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9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29732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2445EAA-09DF-C04F-97F6-8B62BFF3DAD6}" type="slidenum">
              <a:rPr lang="en-US" sz="1300" b="0">
                <a:latin typeface="Times New Roman" charset="0"/>
              </a:rPr>
              <a:pPr eaLnBrk="1" hangingPunct="1"/>
              <a:t>37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9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0770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2445EAA-09DF-C04F-97F6-8B62BFF3DAD6}" type="slidenum">
              <a:rPr lang="en-US" sz="1300" b="0">
                <a:latin typeface="Times New Roman" charset="0"/>
              </a:rPr>
              <a:pPr eaLnBrk="1" hangingPunct="1"/>
              <a:t>38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9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4541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75C712B4-5F53-514A-866E-4225DEFD290D}" type="slidenum">
              <a:rPr lang="en-US" sz="1300" b="0">
                <a:latin typeface="Times New Roman" charset="0"/>
              </a:rPr>
              <a:pPr eaLnBrk="1" hangingPunct="1"/>
              <a:t>42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5538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5539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24058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2445EAA-09DF-C04F-97F6-8B62BFF3DAD6}" type="slidenum">
              <a:rPr lang="en-US" sz="1300" b="0">
                <a:latin typeface="Times New Roman" charset="0"/>
              </a:rPr>
              <a:pPr eaLnBrk="1" hangingPunct="1"/>
              <a:t>45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9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87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C775ECBE-1740-AB43-9AD4-D1859A822463}" type="slidenum">
              <a:rPr lang="en-US" sz="1300" b="0">
                <a:latin typeface="Times New Roman" charset="0"/>
              </a:rPr>
              <a:pPr eaLnBrk="1" hangingPunct="1"/>
              <a:t>46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758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758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68389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A2275F76-7687-EA4B-81F4-114680FBF97A}" type="slidenum">
              <a:rPr lang="en-US" sz="1300" b="0">
                <a:latin typeface="Times New Roman" charset="0"/>
              </a:rPr>
              <a:pPr eaLnBrk="1" hangingPunct="1"/>
              <a:t>47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1682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1683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93202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7DBF99E3-00B1-094E-B8B8-E0A30FEF6BFF}" type="slidenum">
              <a:rPr lang="en-US" sz="1300" b="0">
                <a:latin typeface="Times New Roman" charset="0"/>
              </a:rPr>
              <a:pPr eaLnBrk="1" hangingPunct="1"/>
              <a:t>48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373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373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2684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EF5D3642-BD8E-2A45-962D-A5D80BB9D716}" type="slidenum">
              <a:rPr lang="en-US" sz="1300" b="0">
                <a:latin typeface="Times New Roman" charset="0"/>
              </a:rPr>
              <a:pPr eaLnBrk="1" hangingPunct="1"/>
              <a:t>49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5778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5779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68726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5995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5F9E32AA-7538-D44B-BB17-65E8A8E1DE8A}" type="slidenum">
              <a:rPr lang="en-US" sz="1300" b="0">
                <a:latin typeface="Times New Roman" charset="0"/>
              </a:rPr>
              <a:pPr eaLnBrk="1" hangingPunct="1"/>
              <a:t>52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7300" y="719138"/>
            <a:ext cx="4800600" cy="3600450"/>
          </a:xfrm>
          <a:solidFill>
            <a:srgbClr val="FFFFFF"/>
          </a:solidFill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6313" y="4560888"/>
            <a:ext cx="5362575" cy="4321175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spcBef>
                <a:spcPct val="0"/>
              </a:spcBef>
            </a:pPr>
            <a:endParaRPr lang="en-US" sz="240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55144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82204167-EFB0-2D48-A5F0-063C27AB3381}" type="slidenum">
              <a:rPr lang="en-US" sz="1300" b="0">
                <a:latin typeface="Times New Roman" charset="0"/>
              </a:rPr>
              <a:pPr eaLnBrk="1" hangingPunct="1"/>
              <a:t>53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31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12850" y="709613"/>
            <a:ext cx="4841875" cy="3630612"/>
          </a:xfrm>
          <a:ln/>
        </p:spPr>
      </p:sp>
      <p:sp>
        <p:nvSpPr>
          <p:cNvPr id="931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58850" y="4576763"/>
            <a:ext cx="5345113" cy="4340225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5134" tIns="47567" rIns="95134" bIns="47567"/>
          <a:lstStyle/>
          <a:p>
            <a:endParaRPr lang="en-GB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5079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February 17, 2025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EECS 489 – Lecture 10</a:t>
            </a:r>
          </a:p>
        </p:txBody>
      </p:sp>
    </p:spTree>
    <p:extLst>
      <p:ext uri="{BB962C8B-B14F-4D97-AF65-F5344CB8AC3E}">
        <p14:creationId xmlns:p14="http://schemas.microsoft.com/office/powerpoint/2010/main" val="3511964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190D881-957A-7944-A8D0-1584E528B88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404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1F2EB77-FB6C-2244-A076-ADF097535D4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20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36FED86-94EF-254D-90EE-B810FE8299E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82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1CF967-1287-0948-92AE-55309D19614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45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507A418-0CEB-9E4A-BA45-3B7D3D133EB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218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3D7AD44-FDD5-3640-B5FD-B68DA213B14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854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C1E35D2-F4F4-2848-A65C-22D2D75C674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227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309860-561E-FA4E-8AD9-21F393B80F8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2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500292D-9130-BA41-A2F4-8C3DF7A50D3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080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E995D8D-2725-7449-9768-A6F305723FF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46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t>Title Text</a:t>
            </a:r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hape 1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E2893C13-EE0C-EE4E-AB27-289AE4B3B289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63522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eaLnBrk="0" hangingPunct="0">
              <a:defRPr sz="750"/>
            </a:lvl1pPr>
          </a:lstStyle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0" hangingPunct="0">
              <a:defRPr sz="750"/>
            </a:lvl1pPr>
          </a:lstStyle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01000" y="6248400"/>
            <a:ext cx="609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defRPr sz="750"/>
            </a:lvl1pPr>
          </a:lstStyle>
          <a:p>
            <a:fld id="{6CABC02E-5657-E248-B9C6-199B1358382F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8" r:id="rId12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1"/>
          </a:solidFill>
          <a:effectLst/>
          <a:latin typeface="+mj-lt"/>
          <a:ea typeface="ＭＳ Ｐゴシック" charset="-128"/>
          <a:cs typeface="ＭＳ Ｐゴシック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57350" y="1257300"/>
            <a:ext cx="5829300" cy="2286000"/>
          </a:xfrm>
        </p:spPr>
        <p:txBody>
          <a:bodyPr/>
          <a:lstStyle/>
          <a:p>
            <a:pPr algn="ctr"/>
            <a: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  <a:t>EECS 489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  <a:t>Winter 2025</a:t>
            </a:r>
            <a:endParaRPr lang="en-US" dirty="0">
              <a:effectLst/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00100" y="3771900"/>
            <a:ext cx="7543800" cy="1828800"/>
          </a:xfrm>
        </p:spPr>
        <p:txBody>
          <a:bodyPr/>
          <a:lstStyle/>
          <a:p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Mosharaf Chowdhury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colleagues.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 layer basics</a:t>
            </a:r>
          </a:p>
          <a:p>
            <a:r>
              <a:rPr lang="en-US" dirty="0"/>
              <a:t>The Internet Protocol (IP)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</a:t>
            </a:r>
          </a:p>
        </p:txBody>
      </p:sp>
      <p:sp>
        <p:nvSpPr>
          <p:cNvPr id="44" name="Content Placeholder 4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Present everywhere</a:t>
            </a:r>
          </a:p>
          <a:p>
            <a:r>
              <a:rPr lang="en-US" dirty="0"/>
              <a:t>Performs </a:t>
            </a:r>
            <a:r>
              <a:rPr lang="en-US" dirty="0">
                <a:solidFill>
                  <a:srgbClr val="0000FF"/>
                </a:solidFill>
              </a:rPr>
              <a:t>addressing</a:t>
            </a:r>
            <a:r>
              <a:rPr lang="en-US" dirty="0"/>
              <a:t>, </a:t>
            </a:r>
            <a:r>
              <a:rPr lang="en-US" dirty="0">
                <a:solidFill>
                  <a:srgbClr val="0000FF"/>
                </a:solidFill>
              </a:rPr>
              <a:t>forwarding</a:t>
            </a:r>
            <a:r>
              <a:rPr lang="en-US" dirty="0"/>
              <a:t>, and </a:t>
            </a:r>
            <a:r>
              <a:rPr lang="en-US" dirty="0">
                <a:solidFill>
                  <a:srgbClr val="0000FF"/>
                </a:solidFill>
              </a:rPr>
              <a:t>routing</a:t>
            </a:r>
            <a:r>
              <a:rPr lang="en-US" dirty="0"/>
              <a:t>, among other tasks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066800" y="3822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2334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1066800" y="4203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9" name="Text Box 7"/>
          <p:cNvSpPr txBox="1">
            <a:spLocks noChangeArrowheads="1"/>
          </p:cNvSpPr>
          <p:nvPr/>
        </p:nvSpPr>
        <p:spPr bwMode="auto">
          <a:xfrm>
            <a:off x="13255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1066800" y="4584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13319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10668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13112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6477000" y="3822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15" name="Text Box 13"/>
          <p:cNvSpPr txBox="1">
            <a:spLocks noChangeArrowheads="1"/>
          </p:cNvSpPr>
          <p:nvPr/>
        </p:nvSpPr>
        <p:spPr bwMode="auto">
          <a:xfrm>
            <a:off x="66436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16" name="Rectangle 14"/>
          <p:cNvSpPr>
            <a:spLocks noChangeArrowheads="1"/>
          </p:cNvSpPr>
          <p:nvPr/>
        </p:nvSpPr>
        <p:spPr bwMode="auto">
          <a:xfrm>
            <a:off x="6477000" y="4203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67357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18" name="Rectangle 16"/>
          <p:cNvSpPr>
            <a:spLocks noChangeArrowheads="1"/>
          </p:cNvSpPr>
          <p:nvPr/>
        </p:nvSpPr>
        <p:spPr bwMode="auto">
          <a:xfrm>
            <a:off x="6477000" y="4584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67421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>
            <a:off x="64770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1" name="Text Box 19"/>
          <p:cNvSpPr txBox="1">
            <a:spLocks noChangeArrowheads="1"/>
          </p:cNvSpPr>
          <p:nvPr/>
        </p:nvSpPr>
        <p:spPr bwMode="auto">
          <a:xfrm>
            <a:off x="67214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>
            <a:off x="3706813" y="4203700"/>
            <a:ext cx="1703387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3965575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24" name="Rectangle 22"/>
          <p:cNvSpPr>
            <a:spLocks noChangeArrowheads="1"/>
          </p:cNvSpPr>
          <p:nvPr/>
        </p:nvSpPr>
        <p:spPr bwMode="auto">
          <a:xfrm>
            <a:off x="3706813" y="4584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5" name="Text Box 23"/>
          <p:cNvSpPr txBox="1">
            <a:spLocks noChangeArrowheads="1"/>
          </p:cNvSpPr>
          <p:nvPr/>
        </p:nvSpPr>
        <p:spPr bwMode="auto">
          <a:xfrm>
            <a:off x="3971925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6" name="Rectangle 24"/>
          <p:cNvSpPr>
            <a:spLocks noChangeArrowheads="1"/>
          </p:cNvSpPr>
          <p:nvPr/>
        </p:nvSpPr>
        <p:spPr bwMode="auto">
          <a:xfrm>
            <a:off x="3706813" y="4965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3951288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cxnSp>
        <p:nvCxnSpPr>
          <p:cNvPr id="28" name="AutoShape 26"/>
          <p:cNvCxnSpPr>
            <a:cxnSpLocks noChangeShapeType="1"/>
          </p:cNvCxnSpPr>
          <p:nvPr/>
        </p:nvCxnSpPr>
        <p:spPr bwMode="auto">
          <a:xfrm>
            <a:off x="2782888" y="5156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9" name="AutoShape 27"/>
          <p:cNvCxnSpPr>
            <a:cxnSpLocks noChangeShapeType="1"/>
          </p:cNvCxnSpPr>
          <p:nvPr/>
        </p:nvCxnSpPr>
        <p:spPr bwMode="auto">
          <a:xfrm>
            <a:off x="2782888" y="4775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0" name="AutoShape 28"/>
          <p:cNvCxnSpPr>
            <a:cxnSpLocks noChangeShapeType="1"/>
          </p:cNvCxnSpPr>
          <p:nvPr/>
        </p:nvCxnSpPr>
        <p:spPr bwMode="auto">
          <a:xfrm>
            <a:off x="2782888" y="4394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1" name="AutoShape 29"/>
          <p:cNvCxnSpPr>
            <a:cxnSpLocks noChangeShapeType="1"/>
          </p:cNvCxnSpPr>
          <p:nvPr/>
        </p:nvCxnSpPr>
        <p:spPr bwMode="auto">
          <a:xfrm>
            <a:off x="5422900" y="5156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2" name="AutoShape 30"/>
          <p:cNvCxnSpPr>
            <a:cxnSpLocks noChangeShapeType="1"/>
          </p:cNvCxnSpPr>
          <p:nvPr/>
        </p:nvCxnSpPr>
        <p:spPr bwMode="auto">
          <a:xfrm>
            <a:off x="5422900" y="4775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3" name="AutoShape 31"/>
          <p:cNvCxnSpPr>
            <a:cxnSpLocks noChangeShapeType="1"/>
          </p:cNvCxnSpPr>
          <p:nvPr/>
        </p:nvCxnSpPr>
        <p:spPr bwMode="auto">
          <a:xfrm>
            <a:off x="5422900" y="4394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4" name="AutoShape 32"/>
          <p:cNvCxnSpPr>
            <a:cxnSpLocks noChangeShapeType="1"/>
          </p:cNvCxnSpPr>
          <p:nvPr/>
        </p:nvCxnSpPr>
        <p:spPr bwMode="auto">
          <a:xfrm>
            <a:off x="2782888" y="4013200"/>
            <a:ext cx="3681412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36" name="Rectangle 34"/>
          <p:cNvSpPr>
            <a:spLocks noChangeArrowheads="1"/>
          </p:cNvSpPr>
          <p:nvPr/>
        </p:nvSpPr>
        <p:spPr bwMode="auto">
          <a:xfrm>
            <a:off x="1066800" y="3441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37" name="Text Box 35"/>
          <p:cNvSpPr txBox="1">
            <a:spLocks noChangeArrowheads="1"/>
          </p:cNvSpPr>
          <p:nvPr/>
        </p:nvSpPr>
        <p:spPr bwMode="auto">
          <a:xfrm>
            <a:off x="1143000" y="3441700"/>
            <a:ext cx="15811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Application</a:t>
            </a:r>
          </a:p>
        </p:txBody>
      </p:sp>
      <p:sp>
        <p:nvSpPr>
          <p:cNvPr id="38" name="Rectangle 36"/>
          <p:cNvSpPr>
            <a:spLocks noChangeArrowheads="1"/>
          </p:cNvSpPr>
          <p:nvPr/>
        </p:nvSpPr>
        <p:spPr bwMode="auto">
          <a:xfrm>
            <a:off x="6477000" y="3441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39" name="Text Box 37"/>
          <p:cNvSpPr txBox="1">
            <a:spLocks noChangeArrowheads="1"/>
          </p:cNvSpPr>
          <p:nvPr/>
        </p:nvSpPr>
        <p:spPr bwMode="auto">
          <a:xfrm>
            <a:off x="6510338" y="3441700"/>
            <a:ext cx="15811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Application</a:t>
            </a:r>
          </a:p>
        </p:txBody>
      </p:sp>
      <p:cxnSp>
        <p:nvCxnSpPr>
          <p:cNvPr id="40" name="AutoShape 38"/>
          <p:cNvCxnSpPr>
            <a:cxnSpLocks noChangeShapeType="1"/>
          </p:cNvCxnSpPr>
          <p:nvPr/>
        </p:nvCxnSpPr>
        <p:spPr bwMode="auto">
          <a:xfrm>
            <a:off x="2770188" y="3632200"/>
            <a:ext cx="3740150" cy="9525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41" name="Text Box 39"/>
          <p:cNvSpPr txBox="1">
            <a:spLocks noChangeArrowheads="1"/>
          </p:cNvSpPr>
          <p:nvPr/>
        </p:nvSpPr>
        <p:spPr bwMode="auto">
          <a:xfrm>
            <a:off x="817399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42" name="Text Box 40"/>
          <p:cNvSpPr txBox="1">
            <a:spLocks noChangeArrowheads="1"/>
          </p:cNvSpPr>
          <p:nvPr/>
        </p:nvSpPr>
        <p:spPr bwMode="auto">
          <a:xfrm>
            <a:off x="6229187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43" name="Text Box 41"/>
          <p:cNvSpPr txBox="1">
            <a:spLocks noChangeArrowheads="1"/>
          </p:cNvSpPr>
          <p:nvPr/>
        </p:nvSpPr>
        <p:spPr bwMode="auto">
          <a:xfrm>
            <a:off x="3887818" y="5499100"/>
            <a:ext cx="1339790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Switch</a:t>
            </a:r>
          </a:p>
        </p:txBody>
      </p:sp>
      <p:sp>
        <p:nvSpPr>
          <p:cNvPr id="45" name="Freeform 42"/>
          <p:cNvSpPr>
            <a:spLocks/>
          </p:cNvSpPr>
          <p:nvPr/>
        </p:nvSpPr>
        <p:spPr bwMode="auto">
          <a:xfrm>
            <a:off x="2667000" y="3457612"/>
            <a:ext cx="3866424" cy="1723988"/>
          </a:xfrm>
          <a:custGeom>
            <a:avLst/>
            <a:gdLst>
              <a:gd name="T0" fmla="*/ 0 w 2352"/>
              <a:gd name="T1" fmla="*/ 0 h 1968"/>
              <a:gd name="T2" fmla="*/ 0 w 2352"/>
              <a:gd name="T3" fmla="*/ 2147483647 h 1968"/>
              <a:gd name="T4" fmla="*/ 2147483647 w 2352"/>
              <a:gd name="T5" fmla="*/ 2147483647 h 1968"/>
              <a:gd name="T6" fmla="*/ 2147483647 w 2352"/>
              <a:gd name="T7" fmla="*/ 2147483647 h 1968"/>
              <a:gd name="T8" fmla="*/ 2147483647 w 2352"/>
              <a:gd name="T9" fmla="*/ 2147483647 h 1968"/>
              <a:gd name="T10" fmla="*/ 2147483647 w 2352"/>
              <a:gd name="T11" fmla="*/ 2147483647 h 1968"/>
              <a:gd name="T12" fmla="*/ 2147483647 w 2352"/>
              <a:gd name="T13" fmla="*/ 2147483647 h 1968"/>
              <a:gd name="T14" fmla="*/ 2147483647 w 2352"/>
              <a:gd name="T15" fmla="*/ 2147483647 h 1968"/>
              <a:gd name="T16" fmla="*/ 2147483647 w 2352"/>
              <a:gd name="T17" fmla="*/ 2147483647 h 1968"/>
              <a:gd name="T18" fmla="*/ 2147483647 w 2352"/>
              <a:gd name="T19" fmla="*/ 0 h 1968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2352"/>
              <a:gd name="T31" fmla="*/ 0 h 1968"/>
              <a:gd name="T32" fmla="*/ 2352 w 2352"/>
              <a:gd name="T33" fmla="*/ 1968 h 1968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2352" h="1968">
                <a:moveTo>
                  <a:pt x="0" y="0"/>
                </a:moveTo>
                <a:lnTo>
                  <a:pt x="0" y="1824"/>
                </a:lnTo>
                <a:lnTo>
                  <a:pt x="96" y="1968"/>
                </a:lnTo>
                <a:lnTo>
                  <a:pt x="864" y="1968"/>
                </a:lnTo>
                <a:lnTo>
                  <a:pt x="864" y="1200"/>
                </a:lnTo>
                <a:lnTo>
                  <a:pt x="1488" y="1200"/>
                </a:lnTo>
                <a:lnTo>
                  <a:pt x="1488" y="1968"/>
                </a:lnTo>
                <a:lnTo>
                  <a:pt x="2256" y="1968"/>
                </a:lnTo>
                <a:lnTo>
                  <a:pt x="2352" y="1824"/>
                </a:lnTo>
                <a:lnTo>
                  <a:pt x="2352" y="0"/>
                </a:lnTo>
              </a:path>
            </a:pathLst>
          </a:custGeom>
          <a:noFill/>
          <a:ln w="50800">
            <a:solidFill>
              <a:srgbClr val="D3A6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lIns="90474" tIns="44444" rIns="90474" bIns="44444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586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 and terminology</a:t>
            </a:r>
            <a:endParaRPr lang="en-US" dirty="0"/>
          </a:p>
        </p:txBody>
      </p:sp>
      <p:pic>
        <p:nvPicPr>
          <p:cNvPr id="98" name="Picture 97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8003" y="2359424"/>
            <a:ext cx="417443" cy="640080"/>
          </a:xfrm>
          <a:prstGeom prst="rect">
            <a:avLst/>
          </a:prstGeom>
        </p:spPr>
      </p:pic>
      <p:sp>
        <p:nvSpPr>
          <p:cNvPr id="4" name="Cloud 3"/>
          <p:cNvSpPr/>
          <p:nvPr/>
        </p:nvSpPr>
        <p:spPr bwMode="auto">
          <a:xfrm>
            <a:off x="2895600" y="3886200"/>
            <a:ext cx="2133600" cy="16002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Cloud 11"/>
          <p:cNvSpPr/>
          <p:nvPr/>
        </p:nvSpPr>
        <p:spPr bwMode="auto">
          <a:xfrm>
            <a:off x="1600200" y="2133600"/>
            <a:ext cx="2133600" cy="1600200"/>
          </a:xfrm>
          <a:prstGeom prst="cloud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Cloud 12"/>
          <p:cNvSpPr/>
          <p:nvPr/>
        </p:nvSpPr>
        <p:spPr bwMode="auto">
          <a:xfrm>
            <a:off x="5638800" y="2971800"/>
            <a:ext cx="2133600" cy="1600200"/>
          </a:xfrm>
          <a:prstGeom prst="cloud">
            <a:avLst/>
          </a:prstGeom>
          <a:solidFill>
            <a:schemeClr val="accent1">
              <a:lumMod val="90000"/>
            </a:schemeClr>
          </a:solidFill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Cube 10"/>
          <p:cNvSpPr/>
          <p:nvPr/>
        </p:nvSpPr>
        <p:spPr bwMode="auto">
          <a:xfrm>
            <a:off x="1524000" y="2895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7" name="Cube 16"/>
          <p:cNvSpPr/>
          <p:nvPr/>
        </p:nvSpPr>
        <p:spPr bwMode="auto">
          <a:xfrm>
            <a:off x="2514600" y="2895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8" name="Cube 17"/>
          <p:cNvSpPr/>
          <p:nvPr/>
        </p:nvSpPr>
        <p:spPr bwMode="auto">
          <a:xfrm>
            <a:off x="3276600" y="2514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9" name="Cube 18"/>
          <p:cNvSpPr/>
          <p:nvPr/>
        </p:nvSpPr>
        <p:spPr bwMode="auto">
          <a:xfrm>
            <a:off x="3124200" y="3276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0" name="Cube 19"/>
          <p:cNvSpPr/>
          <p:nvPr/>
        </p:nvSpPr>
        <p:spPr bwMode="auto">
          <a:xfrm>
            <a:off x="2209800" y="34290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1" name="Cube 20"/>
          <p:cNvSpPr/>
          <p:nvPr/>
        </p:nvSpPr>
        <p:spPr bwMode="auto">
          <a:xfrm>
            <a:off x="2895600" y="46482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2" name="Cube 21"/>
          <p:cNvSpPr/>
          <p:nvPr/>
        </p:nvSpPr>
        <p:spPr bwMode="auto">
          <a:xfrm>
            <a:off x="3124200" y="4038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3" name="Cube 22"/>
          <p:cNvSpPr/>
          <p:nvPr/>
        </p:nvSpPr>
        <p:spPr bwMode="auto">
          <a:xfrm>
            <a:off x="4572000" y="4038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4" name="Cube 23"/>
          <p:cNvSpPr/>
          <p:nvPr/>
        </p:nvSpPr>
        <p:spPr bwMode="auto">
          <a:xfrm>
            <a:off x="3429000" y="51054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5" name="Cube 24"/>
          <p:cNvSpPr/>
          <p:nvPr/>
        </p:nvSpPr>
        <p:spPr bwMode="auto">
          <a:xfrm>
            <a:off x="4343400" y="49530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6" name="Cube 25"/>
          <p:cNvSpPr/>
          <p:nvPr/>
        </p:nvSpPr>
        <p:spPr bwMode="auto">
          <a:xfrm>
            <a:off x="5638800" y="3657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7" name="Cube 26"/>
          <p:cNvSpPr/>
          <p:nvPr/>
        </p:nvSpPr>
        <p:spPr bwMode="auto">
          <a:xfrm>
            <a:off x="6096000" y="32004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8" name="Cube 27"/>
          <p:cNvSpPr/>
          <p:nvPr/>
        </p:nvSpPr>
        <p:spPr bwMode="auto">
          <a:xfrm>
            <a:off x="7391400" y="3657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9" name="Cube 28"/>
          <p:cNvSpPr/>
          <p:nvPr/>
        </p:nvSpPr>
        <p:spPr bwMode="auto">
          <a:xfrm>
            <a:off x="6400800" y="42672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0" name="Cube 29"/>
          <p:cNvSpPr/>
          <p:nvPr/>
        </p:nvSpPr>
        <p:spPr bwMode="auto">
          <a:xfrm>
            <a:off x="6858000" y="32004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1" name="Cube 30"/>
          <p:cNvSpPr/>
          <p:nvPr/>
        </p:nvSpPr>
        <p:spPr bwMode="auto">
          <a:xfrm>
            <a:off x="3810000" y="4419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2" name="Cube 31"/>
          <p:cNvSpPr/>
          <p:nvPr/>
        </p:nvSpPr>
        <p:spPr bwMode="auto">
          <a:xfrm>
            <a:off x="2667000" y="23622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33" name="Straight Connector 32"/>
          <p:cNvCxnSpPr/>
          <p:nvPr/>
        </p:nvCxnSpPr>
        <p:spPr bwMode="auto">
          <a:xfrm>
            <a:off x="1066800" y="3036910"/>
            <a:ext cx="394789" cy="156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5" name="Straight Connector 34"/>
          <p:cNvCxnSpPr/>
          <p:nvPr/>
        </p:nvCxnSpPr>
        <p:spPr bwMode="auto">
          <a:xfrm>
            <a:off x="3657600" y="2665435"/>
            <a:ext cx="394789" cy="156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6" name="Straight Connector 35"/>
          <p:cNvCxnSpPr/>
          <p:nvPr/>
        </p:nvCxnSpPr>
        <p:spPr bwMode="auto">
          <a:xfrm>
            <a:off x="7696200" y="3733800"/>
            <a:ext cx="394789" cy="156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7" name="Straight Connector 36"/>
          <p:cNvCxnSpPr/>
          <p:nvPr/>
        </p:nvCxnSpPr>
        <p:spPr bwMode="auto">
          <a:xfrm>
            <a:off x="2438400" y="4799035"/>
            <a:ext cx="394789" cy="156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2" name="Straight Connector 41"/>
          <p:cNvCxnSpPr>
            <a:stCxn id="11" idx="5"/>
            <a:endCxn id="32" idx="2"/>
          </p:cNvCxnSpPr>
          <p:nvPr/>
        </p:nvCxnSpPr>
        <p:spPr bwMode="auto">
          <a:xfrm flipV="1">
            <a:off x="1905000" y="2505075"/>
            <a:ext cx="762000" cy="4762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5" name="Straight Connector 44"/>
          <p:cNvCxnSpPr>
            <a:stCxn id="18" idx="3"/>
            <a:endCxn id="19" idx="0"/>
          </p:cNvCxnSpPr>
          <p:nvPr/>
        </p:nvCxnSpPr>
        <p:spPr bwMode="auto">
          <a:xfrm flipH="1">
            <a:off x="3343275" y="2743200"/>
            <a:ext cx="95250" cy="5334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8" name="Straight Connector 47"/>
          <p:cNvCxnSpPr>
            <a:endCxn id="20" idx="2"/>
          </p:cNvCxnSpPr>
          <p:nvPr/>
        </p:nvCxnSpPr>
        <p:spPr bwMode="auto">
          <a:xfrm>
            <a:off x="1828800" y="3124200"/>
            <a:ext cx="381000" cy="4476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/>
          <p:cNvCxnSpPr>
            <a:stCxn id="17" idx="3"/>
            <a:endCxn id="20" idx="0"/>
          </p:cNvCxnSpPr>
          <p:nvPr/>
        </p:nvCxnSpPr>
        <p:spPr bwMode="auto">
          <a:xfrm flipH="1">
            <a:off x="2428875" y="3124200"/>
            <a:ext cx="247650" cy="304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Connector 52"/>
          <p:cNvCxnSpPr>
            <a:stCxn id="20" idx="5"/>
            <a:endCxn id="19" idx="2"/>
          </p:cNvCxnSpPr>
          <p:nvPr/>
        </p:nvCxnSpPr>
        <p:spPr bwMode="auto">
          <a:xfrm flipV="1">
            <a:off x="2590800" y="3419475"/>
            <a:ext cx="533400" cy="952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9" name="Straight Connector 58"/>
          <p:cNvCxnSpPr>
            <a:stCxn id="18" idx="2"/>
          </p:cNvCxnSpPr>
          <p:nvPr/>
        </p:nvCxnSpPr>
        <p:spPr bwMode="auto">
          <a:xfrm flipH="1" flipV="1">
            <a:off x="3048000" y="2514600"/>
            <a:ext cx="228600" cy="1428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3" name="Straight Connector 62"/>
          <p:cNvCxnSpPr>
            <a:stCxn id="32" idx="3"/>
            <a:endCxn id="17" idx="0"/>
          </p:cNvCxnSpPr>
          <p:nvPr/>
        </p:nvCxnSpPr>
        <p:spPr bwMode="auto">
          <a:xfrm flipH="1">
            <a:off x="2733675" y="2590800"/>
            <a:ext cx="95250" cy="304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9" name="Straight Connector 68"/>
          <p:cNvCxnSpPr>
            <a:stCxn id="19" idx="3"/>
          </p:cNvCxnSpPr>
          <p:nvPr/>
        </p:nvCxnSpPr>
        <p:spPr bwMode="auto">
          <a:xfrm flipH="1">
            <a:off x="3276600" y="3505200"/>
            <a:ext cx="9525" cy="5143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4" name="Straight Connector 73"/>
          <p:cNvCxnSpPr>
            <a:stCxn id="31" idx="1"/>
          </p:cNvCxnSpPr>
          <p:nvPr/>
        </p:nvCxnSpPr>
        <p:spPr bwMode="auto">
          <a:xfrm flipH="1" flipV="1">
            <a:off x="3429001" y="4171950"/>
            <a:ext cx="542924" cy="304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6" name="Straight Connector 75"/>
          <p:cNvCxnSpPr>
            <a:stCxn id="21" idx="0"/>
            <a:endCxn id="22" idx="3"/>
          </p:cNvCxnSpPr>
          <p:nvPr/>
        </p:nvCxnSpPr>
        <p:spPr bwMode="auto">
          <a:xfrm flipV="1">
            <a:off x="3114675" y="4267200"/>
            <a:ext cx="171450" cy="381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9" name="Straight Connector 78"/>
          <p:cNvCxnSpPr>
            <a:endCxn id="24" idx="0"/>
          </p:cNvCxnSpPr>
          <p:nvPr/>
        </p:nvCxnSpPr>
        <p:spPr bwMode="auto">
          <a:xfrm>
            <a:off x="3267075" y="4800600"/>
            <a:ext cx="381000" cy="304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1" name="Straight Connector 80"/>
          <p:cNvCxnSpPr>
            <a:endCxn id="25" idx="0"/>
          </p:cNvCxnSpPr>
          <p:nvPr/>
        </p:nvCxnSpPr>
        <p:spPr bwMode="auto">
          <a:xfrm flipH="1">
            <a:off x="4562475" y="4267200"/>
            <a:ext cx="161926" cy="685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/>
          <p:cNvCxnSpPr>
            <a:stCxn id="23" idx="2"/>
            <a:endCxn id="31" idx="5"/>
          </p:cNvCxnSpPr>
          <p:nvPr/>
        </p:nvCxnSpPr>
        <p:spPr bwMode="auto">
          <a:xfrm flipH="1">
            <a:off x="4191000" y="4181475"/>
            <a:ext cx="381000" cy="3238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7" name="Straight Connector 86"/>
          <p:cNvCxnSpPr>
            <a:stCxn id="24" idx="4"/>
            <a:endCxn id="25" idx="2"/>
          </p:cNvCxnSpPr>
          <p:nvPr/>
        </p:nvCxnSpPr>
        <p:spPr bwMode="auto">
          <a:xfrm flipV="1">
            <a:off x="3752850" y="5095875"/>
            <a:ext cx="590550" cy="1524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0" name="Straight Connector 89"/>
          <p:cNvCxnSpPr>
            <a:stCxn id="24" idx="0"/>
            <a:endCxn id="31" idx="3"/>
          </p:cNvCxnSpPr>
          <p:nvPr/>
        </p:nvCxnSpPr>
        <p:spPr bwMode="auto">
          <a:xfrm flipV="1">
            <a:off x="3648075" y="4648200"/>
            <a:ext cx="323850" cy="4572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3" name="Straight Connector 92"/>
          <p:cNvCxnSpPr>
            <a:stCxn id="26" idx="2"/>
          </p:cNvCxnSpPr>
          <p:nvPr/>
        </p:nvCxnSpPr>
        <p:spPr bwMode="auto">
          <a:xfrm flipH="1">
            <a:off x="4953000" y="3800475"/>
            <a:ext cx="685800" cy="31432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6" name="Straight Connector 95"/>
          <p:cNvCxnSpPr>
            <a:stCxn id="26" idx="3"/>
            <a:endCxn id="29" idx="2"/>
          </p:cNvCxnSpPr>
          <p:nvPr/>
        </p:nvCxnSpPr>
        <p:spPr bwMode="auto">
          <a:xfrm>
            <a:off x="5800725" y="3886200"/>
            <a:ext cx="600075" cy="5238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9" name="Straight Connector 98"/>
          <p:cNvCxnSpPr>
            <a:stCxn id="28" idx="3"/>
            <a:endCxn id="29" idx="4"/>
          </p:cNvCxnSpPr>
          <p:nvPr/>
        </p:nvCxnSpPr>
        <p:spPr bwMode="auto">
          <a:xfrm flipH="1">
            <a:off x="6724650" y="3886200"/>
            <a:ext cx="828675" cy="5238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/>
          <p:cNvCxnSpPr>
            <a:stCxn id="30" idx="2"/>
            <a:endCxn id="27" idx="5"/>
          </p:cNvCxnSpPr>
          <p:nvPr/>
        </p:nvCxnSpPr>
        <p:spPr bwMode="auto">
          <a:xfrm flipH="1" flipV="1">
            <a:off x="6477000" y="3286125"/>
            <a:ext cx="381000" cy="571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5" name="Straight Connector 104"/>
          <p:cNvCxnSpPr>
            <a:stCxn id="27" idx="3"/>
            <a:endCxn id="26" idx="5"/>
          </p:cNvCxnSpPr>
          <p:nvPr/>
        </p:nvCxnSpPr>
        <p:spPr bwMode="auto">
          <a:xfrm flipH="1">
            <a:off x="6019800" y="3429000"/>
            <a:ext cx="238125" cy="31432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Connector 108"/>
          <p:cNvCxnSpPr>
            <a:stCxn id="28" idx="1"/>
            <a:endCxn id="30" idx="4"/>
          </p:cNvCxnSpPr>
          <p:nvPr/>
        </p:nvCxnSpPr>
        <p:spPr bwMode="auto">
          <a:xfrm flipH="1" flipV="1">
            <a:off x="7181850" y="3343275"/>
            <a:ext cx="371475" cy="3714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1" name="Straight Connector 110"/>
          <p:cNvCxnSpPr>
            <a:stCxn id="29" idx="0"/>
            <a:endCxn id="30" idx="3"/>
          </p:cNvCxnSpPr>
          <p:nvPr/>
        </p:nvCxnSpPr>
        <p:spPr bwMode="auto">
          <a:xfrm flipV="1">
            <a:off x="6619875" y="3429000"/>
            <a:ext cx="400050" cy="8382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 flipH="1" flipV="1">
            <a:off x="6553200" y="4549820"/>
            <a:ext cx="6895" cy="32698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3" name="Rounded Rectangle 72"/>
          <p:cNvSpPr/>
          <p:nvPr/>
        </p:nvSpPr>
        <p:spPr bwMode="auto">
          <a:xfrm>
            <a:off x="6096000" y="1524000"/>
            <a:ext cx="2133600" cy="121920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“End hosts”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b="0" dirty="0">
                <a:solidFill>
                  <a:schemeClr val="bg1"/>
                </a:solidFill>
              </a:rPr>
              <a:t>“Clients”, “Users”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“End points”</a:t>
            </a:r>
          </a:p>
        </p:txBody>
      </p:sp>
      <p:sp>
        <p:nvSpPr>
          <p:cNvPr id="123" name="Rounded Rectangle 122"/>
          <p:cNvSpPr/>
          <p:nvPr/>
        </p:nvSpPr>
        <p:spPr bwMode="auto">
          <a:xfrm>
            <a:off x="5486400" y="5707008"/>
            <a:ext cx="2743200" cy="609600"/>
          </a:xfrm>
          <a:prstGeom prst="roundRect">
            <a:avLst/>
          </a:prstGeom>
          <a:solidFill>
            <a:srgbClr val="0000FF"/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“Interior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Routers”</a:t>
            </a:r>
          </a:p>
        </p:txBody>
      </p:sp>
      <p:sp>
        <p:nvSpPr>
          <p:cNvPr id="125" name="Rounded Rectangle 124"/>
          <p:cNvSpPr/>
          <p:nvPr/>
        </p:nvSpPr>
        <p:spPr bwMode="auto">
          <a:xfrm>
            <a:off x="369849" y="266700"/>
            <a:ext cx="7620000" cy="94141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“Autonomous </a:t>
            </a:r>
            <a:r>
              <a:rPr lang="en-US" sz="2000" b="0" dirty="0">
                <a:solidFill>
                  <a:schemeClr val="bg1"/>
                </a:solidFill>
              </a:rPr>
              <a:t>System (AS)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” or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“Domain”</a:t>
            </a:r>
            <a:br>
              <a:rPr lang="en-US" sz="2000" b="0" dirty="0">
                <a:solidFill>
                  <a:schemeClr val="bg1"/>
                </a:solidFill>
              </a:rPr>
            </a:br>
            <a:r>
              <a:rPr lang="en-US" sz="2000" b="0" dirty="0">
                <a:solidFill>
                  <a:schemeClr val="bg1"/>
                </a:solidFill>
              </a:rPr>
              <a:t>Region of a network under a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single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administrative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entity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</p:txBody>
      </p:sp>
      <p:sp>
        <p:nvSpPr>
          <p:cNvPr id="3" name="Oval 2"/>
          <p:cNvSpPr/>
          <p:nvPr/>
        </p:nvSpPr>
        <p:spPr bwMode="auto">
          <a:xfrm>
            <a:off x="228600" y="2667000"/>
            <a:ext cx="1219200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4" name="Oval 63"/>
          <p:cNvSpPr/>
          <p:nvPr/>
        </p:nvSpPr>
        <p:spPr bwMode="auto">
          <a:xfrm>
            <a:off x="3771900" y="2219325"/>
            <a:ext cx="1219200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5" name="Oval 64"/>
          <p:cNvSpPr/>
          <p:nvPr/>
        </p:nvSpPr>
        <p:spPr bwMode="auto">
          <a:xfrm>
            <a:off x="7859751" y="3352800"/>
            <a:ext cx="945606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6" name="Oval 65"/>
          <p:cNvSpPr/>
          <p:nvPr/>
        </p:nvSpPr>
        <p:spPr bwMode="auto">
          <a:xfrm>
            <a:off x="1600200" y="4419600"/>
            <a:ext cx="1219200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7" name="Oval 66"/>
          <p:cNvSpPr/>
          <p:nvPr/>
        </p:nvSpPr>
        <p:spPr bwMode="auto">
          <a:xfrm>
            <a:off x="5934307" y="4781550"/>
            <a:ext cx="1219200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8" name="Oval 67"/>
          <p:cNvSpPr/>
          <p:nvPr/>
        </p:nvSpPr>
        <p:spPr bwMode="auto">
          <a:xfrm>
            <a:off x="4267200" y="3886200"/>
            <a:ext cx="838200" cy="6096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70" name="Oval 69"/>
          <p:cNvSpPr/>
          <p:nvPr/>
        </p:nvSpPr>
        <p:spPr bwMode="auto">
          <a:xfrm>
            <a:off x="5410200" y="3505200"/>
            <a:ext cx="838200" cy="6096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71" name="Oval 70"/>
          <p:cNvSpPr/>
          <p:nvPr/>
        </p:nvSpPr>
        <p:spPr bwMode="auto">
          <a:xfrm>
            <a:off x="2895600" y="3048000"/>
            <a:ext cx="838200" cy="6096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72" name="Oval 71"/>
          <p:cNvSpPr/>
          <p:nvPr/>
        </p:nvSpPr>
        <p:spPr bwMode="auto">
          <a:xfrm>
            <a:off x="2895600" y="3886200"/>
            <a:ext cx="838200" cy="6096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grpSp>
        <p:nvGrpSpPr>
          <p:cNvPr id="40" name="Group 39"/>
          <p:cNvGrpSpPr/>
          <p:nvPr/>
        </p:nvGrpSpPr>
        <p:grpSpPr>
          <a:xfrm>
            <a:off x="2438400" y="1208110"/>
            <a:ext cx="3505200" cy="2769583"/>
            <a:chOff x="2438400" y="1295400"/>
            <a:chExt cx="3505200" cy="2679311"/>
          </a:xfrm>
        </p:grpSpPr>
        <p:cxnSp>
          <p:nvCxnSpPr>
            <p:cNvPr id="15" name="Straight Arrow Connector 14"/>
            <p:cNvCxnSpPr/>
            <p:nvPr/>
          </p:nvCxnSpPr>
          <p:spPr bwMode="auto">
            <a:xfrm>
              <a:off x="2438400" y="1295400"/>
              <a:ext cx="76200" cy="914400"/>
            </a:xfrm>
            <a:prstGeom prst="straightConnector1">
              <a:avLst/>
            </a:prstGeom>
            <a:noFill/>
            <a:ln w="2857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75" name="Straight Arrow Connector 74"/>
            <p:cNvCxnSpPr>
              <a:endCxn id="4" idx="3"/>
            </p:cNvCxnSpPr>
            <p:nvPr/>
          </p:nvCxnSpPr>
          <p:spPr bwMode="auto">
            <a:xfrm>
              <a:off x="3962400" y="1295400"/>
              <a:ext cx="0" cy="2679311"/>
            </a:xfrm>
            <a:prstGeom prst="straightConnector1">
              <a:avLst/>
            </a:prstGeom>
            <a:noFill/>
            <a:ln w="2857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77" name="Straight Arrow Connector 76"/>
            <p:cNvCxnSpPr/>
            <p:nvPr/>
          </p:nvCxnSpPr>
          <p:spPr bwMode="auto">
            <a:xfrm>
              <a:off x="4485446" y="1295400"/>
              <a:ext cx="1458154" cy="2057399"/>
            </a:xfrm>
            <a:prstGeom prst="straightConnector1">
              <a:avLst/>
            </a:prstGeom>
            <a:noFill/>
            <a:ln w="2857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grpSp>
        <p:nvGrpSpPr>
          <p:cNvPr id="41" name="Group 40"/>
          <p:cNvGrpSpPr/>
          <p:nvPr/>
        </p:nvGrpSpPr>
        <p:grpSpPr>
          <a:xfrm>
            <a:off x="1371600" y="2667000"/>
            <a:ext cx="6019800" cy="2667000"/>
            <a:chOff x="1371600" y="2667000"/>
            <a:chExt cx="6019800" cy="2667000"/>
          </a:xfrm>
        </p:grpSpPr>
        <p:sp>
          <p:nvSpPr>
            <p:cNvPr id="80" name="Oval 79"/>
            <p:cNvSpPr/>
            <p:nvPr/>
          </p:nvSpPr>
          <p:spPr bwMode="auto">
            <a:xfrm>
              <a:off x="1371600" y="26670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2" name="Oval 81"/>
            <p:cNvSpPr/>
            <p:nvPr/>
          </p:nvSpPr>
          <p:spPr bwMode="auto">
            <a:xfrm>
              <a:off x="3581400" y="4267200"/>
              <a:ext cx="838200" cy="6096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3" name="Oval 82"/>
            <p:cNvSpPr/>
            <p:nvPr/>
          </p:nvSpPr>
          <p:spPr bwMode="auto">
            <a:xfrm>
              <a:off x="2362200" y="26670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5" name="Oval 84"/>
            <p:cNvSpPr/>
            <p:nvPr/>
          </p:nvSpPr>
          <p:spPr bwMode="auto">
            <a:xfrm>
              <a:off x="4191000" y="48006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6" name="Oval 85"/>
            <p:cNvSpPr/>
            <p:nvPr/>
          </p:nvSpPr>
          <p:spPr bwMode="auto">
            <a:xfrm>
              <a:off x="6705600" y="30480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8" name="Oval 87"/>
            <p:cNvSpPr/>
            <p:nvPr/>
          </p:nvSpPr>
          <p:spPr bwMode="auto">
            <a:xfrm>
              <a:off x="6248400" y="41148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</p:grpSp>
      <p:sp>
        <p:nvSpPr>
          <p:cNvPr id="91" name="Freeform 90"/>
          <p:cNvSpPr/>
          <p:nvPr/>
        </p:nvSpPr>
        <p:spPr>
          <a:xfrm>
            <a:off x="1064110" y="3266204"/>
            <a:ext cx="5565290" cy="1610596"/>
          </a:xfrm>
          <a:custGeom>
            <a:avLst/>
            <a:gdLst>
              <a:gd name="connsiteX0" fmla="*/ 0 w 5565290"/>
              <a:gd name="connsiteY0" fmla="*/ 11246 h 1610596"/>
              <a:gd name="connsiteX1" fmla="*/ 564396 w 5565290"/>
              <a:gd name="connsiteY1" fmla="*/ 42605 h 1610596"/>
              <a:gd name="connsiteX2" fmla="*/ 1285569 w 5565290"/>
              <a:gd name="connsiteY2" fmla="*/ 356204 h 1610596"/>
              <a:gd name="connsiteX3" fmla="*/ 2194874 w 5565290"/>
              <a:gd name="connsiteY3" fmla="*/ 356204 h 1610596"/>
              <a:gd name="connsiteX4" fmla="*/ 2257584 w 5565290"/>
              <a:gd name="connsiteY4" fmla="*/ 936360 h 1610596"/>
              <a:gd name="connsiteX5" fmla="*/ 2931724 w 5565290"/>
              <a:gd name="connsiteY5" fmla="*/ 1281318 h 1610596"/>
              <a:gd name="connsiteX6" fmla="*/ 3652897 w 5565290"/>
              <a:gd name="connsiteY6" fmla="*/ 1030440 h 1610596"/>
              <a:gd name="connsiteX7" fmla="*/ 4734656 w 5565290"/>
              <a:gd name="connsiteY7" fmla="*/ 560042 h 1610596"/>
              <a:gd name="connsiteX8" fmla="*/ 5502862 w 5565290"/>
              <a:gd name="connsiteY8" fmla="*/ 1296998 h 1610596"/>
              <a:gd name="connsiteX9" fmla="*/ 5518539 w 5565290"/>
              <a:gd name="connsiteY9" fmla="*/ 1610596 h 1610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5290" h="1610596">
                <a:moveTo>
                  <a:pt x="0" y="11246"/>
                </a:moveTo>
                <a:cubicBezTo>
                  <a:pt x="175067" y="-1821"/>
                  <a:pt x="350135" y="-14888"/>
                  <a:pt x="564396" y="42605"/>
                </a:cubicBezTo>
                <a:cubicBezTo>
                  <a:pt x="778657" y="100098"/>
                  <a:pt x="1013823" y="303938"/>
                  <a:pt x="1285569" y="356204"/>
                </a:cubicBezTo>
                <a:cubicBezTo>
                  <a:pt x="1557315" y="408471"/>
                  <a:pt x="2032872" y="259511"/>
                  <a:pt x="2194874" y="356204"/>
                </a:cubicBezTo>
                <a:cubicBezTo>
                  <a:pt x="2356876" y="452897"/>
                  <a:pt x="2134776" y="782174"/>
                  <a:pt x="2257584" y="936360"/>
                </a:cubicBezTo>
                <a:cubicBezTo>
                  <a:pt x="2380392" y="1090546"/>
                  <a:pt x="2699172" y="1265638"/>
                  <a:pt x="2931724" y="1281318"/>
                </a:cubicBezTo>
                <a:cubicBezTo>
                  <a:pt x="3164276" y="1296998"/>
                  <a:pt x="3352408" y="1150653"/>
                  <a:pt x="3652897" y="1030440"/>
                </a:cubicBezTo>
                <a:cubicBezTo>
                  <a:pt x="3953386" y="910227"/>
                  <a:pt x="4426329" y="515616"/>
                  <a:pt x="4734656" y="560042"/>
                </a:cubicBezTo>
                <a:cubicBezTo>
                  <a:pt x="5042983" y="604468"/>
                  <a:pt x="5372215" y="1121906"/>
                  <a:pt x="5502862" y="1296998"/>
                </a:cubicBezTo>
                <a:cubicBezTo>
                  <a:pt x="5633509" y="1472090"/>
                  <a:pt x="5518539" y="1610596"/>
                  <a:pt x="5518539" y="1610596"/>
                </a:cubicBezTo>
              </a:path>
            </a:pathLst>
          </a:custGeom>
          <a:ln w="38100" cmpd="sng">
            <a:solidFill>
              <a:srgbClr val="008000"/>
            </a:solidFill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92" name="Rounded Rectangle 91"/>
          <p:cNvSpPr/>
          <p:nvPr/>
        </p:nvSpPr>
        <p:spPr bwMode="auto">
          <a:xfrm>
            <a:off x="762000" y="3810000"/>
            <a:ext cx="2133600" cy="609600"/>
          </a:xfrm>
          <a:prstGeom prst="roundRect">
            <a:avLst/>
          </a:prstGeom>
          <a:solidFill>
            <a:srgbClr val="008000"/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“Route” or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“Path”</a:t>
            </a:r>
          </a:p>
        </p:txBody>
      </p:sp>
      <p:sp>
        <p:nvSpPr>
          <p:cNvPr id="124" name="Rounded Rectangle 123"/>
          <p:cNvSpPr/>
          <p:nvPr/>
        </p:nvSpPr>
        <p:spPr bwMode="auto">
          <a:xfrm>
            <a:off x="1371600" y="5553075"/>
            <a:ext cx="2743200" cy="609600"/>
          </a:xfrm>
          <a:prstGeom prst="roundRect">
            <a:avLst/>
          </a:prstGeom>
          <a:solidFill>
            <a:srgbClr val="D3A600"/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“Border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Routers”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94" name="Picture 9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7200" y="3465311"/>
            <a:ext cx="417443" cy="640080"/>
          </a:xfrm>
          <a:prstGeom prst="rect">
            <a:avLst/>
          </a:prstGeom>
        </p:spPr>
      </p:pic>
      <p:pic>
        <p:nvPicPr>
          <p:cNvPr id="95" name="Picture 9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4357" y="4899660"/>
            <a:ext cx="417443" cy="640080"/>
          </a:xfrm>
          <a:prstGeom prst="rect">
            <a:avLst/>
          </a:prstGeom>
        </p:spPr>
      </p:pic>
      <p:pic>
        <p:nvPicPr>
          <p:cNvPr id="97" name="Picture 9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10603" y="4478995"/>
            <a:ext cx="417443" cy="640080"/>
          </a:xfrm>
          <a:prstGeom prst="rect">
            <a:avLst/>
          </a:prstGeom>
        </p:spPr>
      </p:pic>
      <p:pic>
        <p:nvPicPr>
          <p:cNvPr id="100" name="Picture 99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7942" y="2778884"/>
            <a:ext cx="417443" cy="640080"/>
          </a:xfrm>
          <a:prstGeom prst="rect">
            <a:avLst/>
          </a:prstGeom>
        </p:spPr>
      </p:pic>
      <p:cxnSp>
        <p:nvCxnSpPr>
          <p:cNvPr id="101" name="Straight Connector 100"/>
          <p:cNvCxnSpPr>
            <a:stCxn id="31" idx="3"/>
          </p:cNvCxnSpPr>
          <p:nvPr/>
        </p:nvCxnSpPr>
        <p:spPr bwMode="auto">
          <a:xfrm>
            <a:off x="3971925" y="4648200"/>
            <a:ext cx="371475" cy="4476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585393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73" grpId="1" animBg="1"/>
      <p:bldP spid="123" grpId="0" animBg="1"/>
      <p:bldP spid="123" grpId="1" animBg="1"/>
      <p:bldP spid="125" grpId="0" animBg="1"/>
      <p:bldP spid="125" grpId="1" animBg="1"/>
      <p:bldP spid="3" grpId="0" animBg="1"/>
      <p:bldP spid="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8" grpId="0" animBg="1"/>
      <p:bldP spid="68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91" grpId="0" animBg="1"/>
      <p:bldP spid="92" grpId="0" animBg="1"/>
      <p:bldP spid="124" grpId="0" animBg="1"/>
      <p:bldP spid="124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Forwarding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5</a:t>
            </a:fld>
            <a:endParaRPr lang="en-US"/>
          </a:p>
        </p:txBody>
      </p:sp>
      <p:grpSp>
        <p:nvGrpSpPr>
          <p:cNvPr id="103" name="Group 37"/>
          <p:cNvGrpSpPr>
            <a:grpSpLocks noChangeAspect="1"/>
          </p:cNvGrpSpPr>
          <p:nvPr/>
        </p:nvGrpSpPr>
        <p:grpSpPr bwMode="auto">
          <a:xfrm>
            <a:off x="254868" y="2438832"/>
            <a:ext cx="914400" cy="240632"/>
            <a:chOff x="885372" y="3276600"/>
            <a:chExt cx="1172028" cy="228600"/>
          </a:xfrm>
        </p:grpSpPr>
        <p:sp>
          <p:nvSpPr>
            <p:cNvPr id="104" name="Rectangle 103"/>
            <p:cNvSpPr/>
            <p:nvPr/>
          </p:nvSpPr>
          <p:spPr>
            <a:xfrm>
              <a:off x="885372" y="3276600"/>
              <a:ext cx="791633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900" dirty="0"/>
                <a:t>111010010</a:t>
              </a:r>
              <a:endParaRPr lang="en-US" dirty="0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1677005" y="3276600"/>
              <a:ext cx="380395" cy="2286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800" dirty="0">
                  <a:solidFill>
                    <a:schemeClr val="tx1"/>
                  </a:solidFill>
                </a:rPr>
                <a:t>MIT</a:t>
              </a:r>
            </a:p>
          </p:txBody>
        </p:sp>
      </p:grpSp>
      <p:sp>
        <p:nvSpPr>
          <p:cNvPr id="108" name="Cube 107"/>
          <p:cNvSpPr/>
          <p:nvPr/>
        </p:nvSpPr>
        <p:spPr bwMode="auto">
          <a:xfrm>
            <a:off x="1524000" y="2895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0" name="Cube 109"/>
          <p:cNvSpPr/>
          <p:nvPr/>
        </p:nvSpPr>
        <p:spPr bwMode="auto">
          <a:xfrm>
            <a:off x="3124200" y="3276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2" name="Cube 111"/>
          <p:cNvSpPr/>
          <p:nvPr/>
        </p:nvSpPr>
        <p:spPr bwMode="auto">
          <a:xfrm>
            <a:off x="2209800" y="34290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3" name="Cube 112"/>
          <p:cNvSpPr/>
          <p:nvPr/>
        </p:nvSpPr>
        <p:spPr bwMode="auto">
          <a:xfrm>
            <a:off x="3124200" y="4038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4" name="Cube 113"/>
          <p:cNvSpPr/>
          <p:nvPr/>
        </p:nvSpPr>
        <p:spPr bwMode="auto">
          <a:xfrm>
            <a:off x="4572000" y="4038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5" name="Cube 114"/>
          <p:cNvSpPr/>
          <p:nvPr/>
        </p:nvSpPr>
        <p:spPr bwMode="auto">
          <a:xfrm>
            <a:off x="3429000" y="5105400"/>
            <a:ext cx="381000" cy="228600"/>
          </a:xfrm>
          <a:prstGeom prst="cube">
            <a:avLst/>
          </a:prstGeom>
          <a:solidFill>
            <a:schemeClr val="bg2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7" name="Cube 116"/>
          <p:cNvSpPr/>
          <p:nvPr/>
        </p:nvSpPr>
        <p:spPr bwMode="auto">
          <a:xfrm>
            <a:off x="4343400" y="4953000"/>
            <a:ext cx="381000" cy="228600"/>
          </a:xfrm>
          <a:prstGeom prst="cube">
            <a:avLst/>
          </a:prstGeom>
          <a:solidFill>
            <a:schemeClr val="bg2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8" name="Cube 117"/>
          <p:cNvSpPr/>
          <p:nvPr/>
        </p:nvSpPr>
        <p:spPr bwMode="auto">
          <a:xfrm>
            <a:off x="5638800" y="3657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9" name="Cube 118"/>
          <p:cNvSpPr/>
          <p:nvPr/>
        </p:nvSpPr>
        <p:spPr bwMode="auto">
          <a:xfrm>
            <a:off x="6400800" y="42672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0" name="Cube 119"/>
          <p:cNvSpPr/>
          <p:nvPr/>
        </p:nvSpPr>
        <p:spPr bwMode="auto">
          <a:xfrm>
            <a:off x="3810000" y="4419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121" name="Straight Connector 120"/>
          <p:cNvCxnSpPr/>
          <p:nvPr/>
        </p:nvCxnSpPr>
        <p:spPr bwMode="auto">
          <a:xfrm>
            <a:off x="1066800" y="3036910"/>
            <a:ext cx="394789" cy="1565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2" name="Straight Connector 121"/>
          <p:cNvCxnSpPr>
            <a:endCxn id="132" idx="2"/>
          </p:cNvCxnSpPr>
          <p:nvPr/>
        </p:nvCxnSpPr>
        <p:spPr bwMode="auto">
          <a:xfrm>
            <a:off x="1828800" y="3124200"/>
            <a:ext cx="381000" cy="447675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6" name="Straight Connector 125"/>
          <p:cNvCxnSpPr>
            <a:stCxn id="132" idx="5"/>
            <a:endCxn id="131" idx="2"/>
          </p:cNvCxnSpPr>
          <p:nvPr/>
        </p:nvCxnSpPr>
        <p:spPr bwMode="auto">
          <a:xfrm flipV="1">
            <a:off x="2590800" y="3419475"/>
            <a:ext cx="533400" cy="95250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7" name="Straight Connector 126"/>
          <p:cNvCxnSpPr>
            <a:stCxn id="131" idx="3"/>
          </p:cNvCxnSpPr>
          <p:nvPr/>
        </p:nvCxnSpPr>
        <p:spPr bwMode="auto">
          <a:xfrm flipH="1">
            <a:off x="3276600" y="3505200"/>
            <a:ext cx="9525" cy="514350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8" name="Straight Connector 127"/>
          <p:cNvCxnSpPr/>
          <p:nvPr/>
        </p:nvCxnSpPr>
        <p:spPr bwMode="auto">
          <a:xfrm flipH="1" flipV="1">
            <a:off x="3429001" y="4171950"/>
            <a:ext cx="542924" cy="304800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9" name="Straight Connector 128"/>
          <p:cNvCxnSpPr>
            <a:endCxn id="137" idx="0"/>
          </p:cNvCxnSpPr>
          <p:nvPr/>
        </p:nvCxnSpPr>
        <p:spPr bwMode="auto">
          <a:xfrm flipH="1">
            <a:off x="4562475" y="4267200"/>
            <a:ext cx="161926" cy="685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0" name="Straight Connector 129"/>
          <p:cNvCxnSpPr>
            <a:stCxn id="135" idx="2"/>
          </p:cNvCxnSpPr>
          <p:nvPr/>
        </p:nvCxnSpPr>
        <p:spPr bwMode="auto">
          <a:xfrm flipH="1">
            <a:off x="4191000" y="4181475"/>
            <a:ext cx="381000" cy="323850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1" name="Straight Connector 130"/>
          <p:cNvCxnSpPr>
            <a:stCxn id="136" idx="4"/>
            <a:endCxn id="137" idx="2"/>
          </p:cNvCxnSpPr>
          <p:nvPr/>
        </p:nvCxnSpPr>
        <p:spPr bwMode="auto">
          <a:xfrm flipV="1">
            <a:off x="3752850" y="5095875"/>
            <a:ext cx="590550" cy="1524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2" name="Straight Connector 131"/>
          <p:cNvCxnSpPr>
            <a:stCxn id="136" idx="0"/>
          </p:cNvCxnSpPr>
          <p:nvPr/>
        </p:nvCxnSpPr>
        <p:spPr bwMode="auto">
          <a:xfrm flipV="1">
            <a:off x="3648075" y="4648200"/>
            <a:ext cx="323850" cy="4572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3" name="Straight Connector 132"/>
          <p:cNvCxnSpPr>
            <a:stCxn id="138" idx="2"/>
          </p:cNvCxnSpPr>
          <p:nvPr/>
        </p:nvCxnSpPr>
        <p:spPr bwMode="auto">
          <a:xfrm flipH="1">
            <a:off x="4953000" y="3800475"/>
            <a:ext cx="685800" cy="314325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4" name="Straight Connector 133"/>
          <p:cNvCxnSpPr>
            <a:stCxn id="138" idx="3"/>
          </p:cNvCxnSpPr>
          <p:nvPr/>
        </p:nvCxnSpPr>
        <p:spPr bwMode="auto">
          <a:xfrm>
            <a:off x="5800725" y="3886200"/>
            <a:ext cx="600075" cy="523875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5" name="Straight Connector 134"/>
          <p:cNvCxnSpPr/>
          <p:nvPr/>
        </p:nvCxnSpPr>
        <p:spPr bwMode="auto">
          <a:xfrm flipH="1" flipV="1">
            <a:off x="6553200" y="4549820"/>
            <a:ext cx="6895" cy="326980"/>
          </a:xfrm>
          <a:prstGeom prst="line">
            <a:avLst/>
          </a:prstGeom>
          <a:noFill/>
          <a:ln w="38100" cap="flat" cmpd="sng" algn="ctr">
            <a:solidFill>
              <a:srgbClr val="0099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6" name="Picture 135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4357" y="4899660"/>
            <a:ext cx="417443" cy="640080"/>
          </a:xfrm>
          <a:prstGeom prst="rect">
            <a:avLst/>
          </a:prstGeom>
        </p:spPr>
      </p:pic>
      <p:pic>
        <p:nvPicPr>
          <p:cNvPr id="137" name="Picture 13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7942" y="2778884"/>
            <a:ext cx="417443" cy="640080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199112" y="3505200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umich.edu</a:t>
            </a:r>
            <a:endParaRPr lang="en-US" dirty="0"/>
          </a:p>
        </p:txBody>
      </p:sp>
      <p:sp>
        <p:nvSpPr>
          <p:cNvPr id="139" name="TextBox 138"/>
          <p:cNvSpPr txBox="1"/>
          <p:nvPr/>
        </p:nvSpPr>
        <p:spPr>
          <a:xfrm>
            <a:off x="6132865" y="5564459"/>
            <a:ext cx="9156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mit.edu</a:t>
            </a:r>
            <a:endParaRPr lang="en-US" dirty="0"/>
          </a:p>
        </p:txBody>
      </p:sp>
      <p:cxnSp>
        <p:nvCxnSpPr>
          <p:cNvPr id="140" name="Straight Connector 139"/>
          <p:cNvCxnSpPr/>
          <p:nvPr/>
        </p:nvCxnSpPr>
        <p:spPr bwMode="auto">
          <a:xfrm>
            <a:off x="3971925" y="4648200"/>
            <a:ext cx="371475" cy="4476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182247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1.85185E-6 L 0.10538 0.00162 " pathEditMode="relative" rAng="0" ptsTypes="AA">
                                      <p:cBhvr>
                                        <p:cTn id="11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60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0538 0.00162 L 0.28143 0.09213 " pathEditMode="relative" rAng="0" ptsTypes="AA">
                                      <p:cBhvr>
                                        <p:cTn id="15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802" y="45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143 0.09213 L 0.36372 0.21551 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15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Forwarding</a:t>
            </a:r>
          </a:p>
        </p:txBody>
      </p:sp>
      <p:sp>
        <p:nvSpPr>
          <p:cNvPr id="11" name="Cube 10"/>
          <p:cNvSpPr/>
          <p:nvPr/>
        </p:nvSpPr>
        <p:spPr bwMode="auto">
          <a:xfrm>
            <a:off x="1524000" y="2895600"/>
            <a:ext cx="381000" cy="228600"/>
          </a:xfrm>
          <a:prstGeom prst="cube">
            <a:avLst/>
          </a:prstGeom>
          <a:solidFill>
            <a:schemeClr val="bg2">
              <a:lumMod val="90000"/>
            </a:schemeClr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9" name="Cube 18"/>
          <p:cNvSpPr/>
          <p:nvPr/>
        </p:nvSpPr>
        <p:spPr bwMode="auto">
          <a:xfrm>
            <a:off x="3124200" y="3276600"/>
            <a:ext cx="381000" cy="228600"/>
          </a:xfrm>
          <a:prstGeom prst="cube">
            <a:avLst/>
          </a:prstGeom>
          <a:solidFill>
            <a:schemeClr val="bg2">
              <a:lumMod val="90000"/>
            </a:schemeClr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0" name="Cube 19"/>
          <p:cNvSpPr/>
          <p:nvPr/>
        </p:nvSpPr>
        <p:spPr bwMode="auto">
          <a:xfrm>
            <a:off x="2209800" y="3429000"/>
            <a:ext cx="381000" cy="228600"/>
          </a:xfrm>
          <a:prstGeom prst="cube">
            <a:avLst/>
          </a:prstGeom>
          <a:solidFill>
            <a:schemeClr val="bg2">
              <a:lumMod val="90000"/>
            </a:schemeClr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2" name="Cube 21"/>
          <p:cNvSpPr/>
          <p:nvPr/>
        </p:nvSpPr>
        <p:spPr bwMode="auto">
          <a:xfrm>
            <a:off x="3124200" y="4038600"/>
            <a:ext cx="381000" cy="228600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3" name="Cube 22"/>
          <p:cNvSpPr/>
          <p:nvPr/>
        </p:nvSpPr>
        <p:spPr bwMode="auto">
          <a:xfrm>
            <a:off x="4572000" y="4038600"/>
            <a:ext cx="381000" cy="228600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6" name="Cube 25"/>
          <p:cNvSpPr/>
          <p:nvPr/>
        </p:nvSpPr>
        <p:spPr bwMode="auto">
          <a:xfrm>
            <a:off x="5638800" y="3657600"/>
            <a:ext cx="381000" cy="228600"/>
          </a:xfrm>
          <a:prstGeom prst="cube">
            <a:avLst/>
          </a:prstGeom>
          <a:solidFill>
            <a:schemeClr val="bg2">
              <a:lumMod val="90000"/>
            </a:schemeClr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9" name="Cube 28"/>
          <p:cNvSpPr/>
          <p:nvPr/>
        </p:nvSpPr>
        <p:spPr bwMode="auto">
          <a:xfrm>
            <a:off x="6400800" y="4267200"/>
            <a:ext cx="381000" cy="228600"/>
          </a:xfrm>
          <a:prstGeom prst="cube">
            <a:avLst/>
          </a:prstGeom>
          <a:solidFill>
            <a:schemeClr val="bg2">
              <a:lumMod val="90000"/>
            </a:schemeClr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1" name="Cube 30"/>
          <p:cNvSpPr/>
          <p:nvPr/>
        </p:nvSpPr>
        <p:spPr bwMode="auto">
          <a:xfrm>
            <a:off x="3810000" y="4419600"/>
            <a:ext cx="381000" cy="228600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33" name="Straight Connector 32"/>
          <p:cNvCxnSpPr/>
          <p:nvPr/>
        </p:nvCxnSpPr>
        <p:spPr bwMode="auto">
          <a:xfrm>
            <a:off x="1066800" y="3036910"/>
            <a:ext cx="394789" cy="1565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8" name="Straight Connector 47"/>
          <p:cNvCxnSpPr>
            <a:endCxn id="20" idx="2"/>
          </p:cNvCxnSpPr>
          <p:nvPr/>
        </p:nvCxnSpPr>
        <p:spPr bwMode="auto">
          <a:xfrm>
            <a:off x="1828800" y="3124200"/>
            <a:ext cx="381000" cy="447675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Connector 52"/>
          <p:cNvCxnSpPr>
            <a:stCxn id="20" idx="5"/>
            <a:endCxn id="19" idx="2"/>
          </p:cNvCxnSpPr>
          <p:nvPr/>
        </p:nvCxnSpPr>
        <p:spPr bwMode="auto">
          <a:xfrm flipV="1">
            <a:off x="2590800" y="3419475"/>
            <a:ext cx="533400" cy="95250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9" name="Straight Connector 68"/>
          <p:cNvCxnSpPr>
            <a:stCxn id="19" idx="3"/>
          </p:cNvCxnSpPr>
          <p:nvPr/>
        </p:nvCxnSpPr>
        <p:spPr bwMode="auto">
          <a:xfrm flipH="1">
            <a:off x="3276600" y="3505200"/>
            <a:ext cx="9525" cy="514350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4" name="Straight Connector 73"/>
          <p:cNvCxnSpPr>
            <a:stCxn id="31" idx="1"/>
          </p:cNvCxnSpPr>
          <p:nvPr/>
        </p:nvCxnSpPr>
        <p:spPr bwMode="auto">
          <a:xfrm flipH="1" flipV="1">
            <a:off x="3429001" y="4171950"/>
            <a:ext cx="542924" cy="304800"/>
          </a:xfrm>
          <a:prstGeom prst="line">
            <a:avLst/>
          </a:prstGeom>
          <a:noFill/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/>
          <p:cNvCxnSpPr>
            <a:stCxn id="23" idx="2"/>
            <a:endCxn id="31" idx="5"/>
          </p:cNvCxnSpPr>
          <p:nvPr/>
        </p:nvCxnSpPr>
        <p:spPr bwMode="auto">
          <a:xfrm flipH="1">
            <a:off x="4191000" y="4181475"/>
            <a:ext cx="381000" cy="323850"/>
          </a:xfrm>
          <a:prstGeom prst="line">
            <a:avLst/>
          </a:prstGeom>
          <a:noFill/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7" name="Straight Connector 86"/>
          <p:cNvCxnSpPr/>
          <p:nvPr/>
        </p:nvCxnSpPr>
        <p:spPr bwMode="auto">
          <a:xfrm flipV="1">
            <a:off x="3752850" y="5095875"/>
            <a:ext cx="590550" cy="152400"/>
          </a:xfrm>
          <a:prstGeom prst="line">
            <a:avLst/>
          </a:prstGeom>
          <a:noFill/>
          <a:ln w="9525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0" name="Straight Connector 89"/>
          <p:cNvCxnSpPr>
            <a:endCxn id="31" idx="3"/>
          </p:cNvCxnSpPr>
          <p:nvPr/>
        </p:nvCxnSpPr>
        <p:spPr bwMode="auto">
          <a:xfrm flipV="1">
            <a:off x="3648075" y="4648200"/>
            <a:ext cx="323850" cy="457200"/>
          </a:xfrm>
          <a:prstGeom prst="line">
            <a:avLst/>
          </a:prstGeom>
          <a:noFill/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3" name="Straight Connector 92"/>
          <p:cNvCxnSpPr>
            <a:stCxn id="26" idx="2"/>
          </p:cNvCxnSpPr>
          <p:nvPr/>
        </p:nvCxnSpPr>
        <p:spPr bwMode="auto">
          <a:xfrm flipH="1">
            <a:off x="4953000" y="3800475"/>
            <a:ext cx="685800" cy="314325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6" name="Straight Connector 95"/>
          <p:cNvCxnSpPr>
            <a:stCxn id="26" idx="3"/>
            <a:endCxn id="29" idx="2"/>
          </p:cNvCxnSpPr>
          <p:nvPr/>
        </p:nvCxnSpPr>
        <p:spPr bwMode="auto">
          <a:xfrm>
            <a:off x="5800725" y="3886200"/>
            <a:ext cx="600075" cy="523875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 flipH="1" flipV="1">
            <a:off x="6553200" y="4549820"/>
            <a:ext cx="6895" cy="326980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95" name="Picture 9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4357" y="4899660"/>
            <a:ext cx="417443" cy="640080"/>
          </a:xfrm>
          <a:prstGeom prst="rect">
            <a:avLst/>
          </a:prstGeom>
        </p:spPr>
      </p:pic>
      <p:pic>
        <p:nvPicPr>
          <p:cNvPr id="100" name="Picture 99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7942" y="2778884"/>
            <a:ext cx="417443" cy="64008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99112" y="3505200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umich.edu</a:t>
            </a:r>
            <a:endParaRPr lang="en-US" dirty="0"/>
          </a:p>
        </p:txBody>
      </p:sp>
      <p:sp>
        <p:nvSpPr>
          <p:cNvPr id="101" name="TextBox 100"/>
          <p:cNvSpPr txBox="1"/>
          <p:nvPr/>
        </p:nvSpPr>
        <p:spPr>
          <a:xfrm>
            <a:off x="6132865" y="5564459"/>
            <a:ext cx="9156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mit.edu</a:t>
            </a:r>
            <a:endParaRPr lang="en-US" dirty="0"/>
          </a:p>
        </p:txBody>
      </p:sp>
      <p:cxnSp>
        <p:nvCxnSpPr>
          <p:cNvPr id="107" name="Straight Connector 106"/>
          <p:cNvCxnSpPr/>
          <p:nvPr/>
        </p:nvCxnSpPr>
        <p:spPr bwMode="auto">
          <a:xfrm>
            <a:off x="3971925" y="4648200"/>
            <a:ext cx="371475" cy="447675"/>
          </a:xfrm>
          <a:prstGeom prst="line">
            <a:avLst/>
          </a:prstGeom>
          <a:noFill/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64" name="Group 37"/>
          <p:cNvGrpSpPr>
            <a:grpSpLocks noChangeAspect="1"/>
          </p:cNvGrpSpPr>
          <p:nvPr/>
        </p:nvGrpSpPr>
        <p:grpSpPr bwMode="auto">
          <a:xfrm>
            <a:off x="3579309" y="3918284"/>
            <a:ext cx="914400" cy="240632"/>
            <a:chOff x="885372" y="3276600"/>
            <a:chExt cx="1172028" cy="228600"/>
          </a:xfrm>
        </p:grpSpPr>
        <p:sp>
          <p:nvSpPr>
            <p:cNvPr id="65" name="Rectangle 64"/>
            <p:cNvSpPr/>
            <p:nvPr/>
          </p:nvSpPr>
          <p:spPr>
            <a:xfrm>
              <a:off x="885372" y="3276600"/>
              <a:ext cx="791633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900" dirty="0"/>
                <a:t>111010010</a:t>
              </a:r>
              <a:endParaRPr lang="en-US" dirty="0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677005" y="3276600"/>
              <a:ext cx="380395" cy="2286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800" dirty="0">
                  <a:solidFill>
                    <a:schemeClr val="tx1"/>
                  </a:solidFill>
                </a:rPr>
                <a:t>MIT</a:t>
              </a:r>
            </a:p>
          </p:txBody>
        </p:sp>
      </p:grpSp>
      <p:sp>
        <p:nvSpPr>
          <p:cNvPr id="67" name="Cube 66"/>
          <p:cNvSpPr/>
          <p:nvPr/>
        </p:nvSpPr>
        <p:spPr bwMode="auto">
          <a:xfrm>
            <a:off x="3429000" y="5105400"/>
            <a:ext cx="381000" cy="228600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8" name="Cube 67"/>
          <p:cNvSpPr/>
          <p:nvPr/>
        </p:nvSpPr>
        <p:spPr bwMode="auto">
          <a:xfrm>
            <a:off x="4343400" y="4953000"/>
            <a:ext cx="381000" cy="228600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079979" y="4288273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8853" y="4307473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13354" y="5352736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41845" y="5181600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#4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470317"/>
              </p:ext>
            </p:extLst>
          </p:nvPr>
        </p:nvGraphicFramePr>
        <p:xfrm>
          <a:off x="6043961" y="1819275"/>
          <a:ext cx="2743200" cy="1716087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655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Destination 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Next</a:t>
                      </a:r>
                      <a:r>
                        <a:rPr lang="en-US" sz="1400" baseline="0" dirty="0">
                          <a:solidFill>
                            <a:srgbClr val="FFFFFF"/>
                          </a:solidFill>
                        </a:rPr>
                        <a:t> Hop</a:t>
                      </a:r>
                      <a:endParaRPr lang="en-US" sz="1400" dirty="0">
                        <a:solidFill>
                          <a:srgbClr val="FFFFFF"/>
                        </a:solidFill>
                      </a:endParaRP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8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UMICH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8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UCB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8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MIT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8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NYU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5" name="TextBox 74"/>
          <p:cNvSpPr txBox="1">
            <a:spLocks noChangeArrowheads="1"/>
          </p:cNvSpPr>
          <p:nvPr/>
        </p:nvSpPr>
        <p:spPr bwMode="auto">
          <a:xfrm>
            <a:off x="6328124" y="1439862"/>
            <a:ext cx="215423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600" dirty="0"/>
              <a:t>Forwarding Table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891561" y="2886075"/>
            <a:ext cx="2971800" cy="390525"/>
          </a:xfrm>
          <a:prstGeom prst="roundRect">
            <a:avLst/>
          </a:prstGeom>
          <a:solidFill>
            <a:srgbClr val="D3A600">
              <a:alpha val="24000"/>
            </a:srgbClr>
          </a:solidFill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357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4.07407E-6 L 0.19289 -0.08681 " pathEditMode="relative" rAng="0" ptsTypes="AA">
                                      <p:cBhvr>
                                        <p:cTn id="25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635" y="-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9289 -0.08681 L 0.34184 -0.02222 " pathEditMode="relative" rAng="0" ptsTypes="AA">
                                      <p:cBhvr>
                                        <p:cTn id="28" dur="1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639" y="44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4184 -0.02222 L 0.34184 0.1 " pathEditMode="relative" rAng="0" ptsTypes="AA">
                                      <p:cBhvr>
                                        <p:cTn id="31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/>
      <p:bldP spid="75" grpId="1"/>
      <p:bldP spid="77" grpId="0" animBg="1"/>
      <p:bldP spid="77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Directing a packet to the correct interface so that it progresses to its destination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Local</a:t>
            </a: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Read address from packet header</a:t>
            </a:r>
          </a:p>
          <a:p>
            <a:pPr lvl="1"/>
            <a:r>
              <a:rPr lang="en-US" dirty="0"/>
              <a:t>Search forwarding table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76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Setting up network-wide </a:t>
            </a:r>
            <a:r>
              <a:rPr lang="en-US" i="1" dirty="0"/>
              <a:t>forwarding tables</a:t>
            </a:r>
            <a:r>
              <a:rPr lang="en-US" dirty="0"/>
              <a:t> to enable end-to-end communication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Global</a:t>
            </a: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Using different routing protocols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67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Forwarding vs. routing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Forwarding: “</a:t>
            </a:r>
            <a:r>
              <a:rPr lang="en-US" dirty="0">
                <a:solidFill>
                  <a:srgbClr val="0000FF"/>
                </a:solidFill>
              </a:rPr>
              <a:t>data plane</a:t>
            </a:r>
            <a:r>
              <a:rPr lang="en-US" dirty="0"/>
              <a:t>” </a:t>
            </a:r>
          </a:p>
          <a:p>
            <a:pPr lvl="1"/>
            <a:r>
              <a:rPr lang="en-US" dirty="0"/>
              <a:t>Directing one data packet</a:t>
            </a:r>
          </a:p>
          <a:p>
            <a:pPr lvl="1"/>
            <a:r>
              <a:rPr lang="en-US" dirty="0"/>
              <a:t>Each router using local routing state</a:t>
            </a:r>
          </a:p>
          <a:p>
            <a:r>
              <a:rPr lang="en-US" dirty="0"/>
              <a:t>Routing: “</a:t>
            </a:r>
            <a:r>
              <a:rPr lang="en-US" dirty="0">
                <a:solidFill>
                  <a:srgbClr val="0000FF"/>
                </a:solidFill>
              </a:rPr>
              <a:t>control plane</a:t>
            </a:r>
            <a:r>
              <a:rPr lang="en-US" dirty="0"/>
              <a:t>” </a:t>
            </a:r>
          </a:p>
          <a:p>
            <a:pPr lvl="1"/>
            <a:r>
              <a:rPr lang="en-US" dirty="0"/>
              <a:t>Computing the forwarding tables that guide packets</a:t>
            </a:r>
          </a:p>
          <a:p>
            <a:pPr lvl="1"/>
            <a:r>
              <a:rPr lang="en-US" dirty="0"/>
              <a:t>Jointly computed by routers using a distributed algorithm</a:t>
            </a:r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Very different timescales!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210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IP layer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32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54"/>
          <p:cNvSpPr>
            <a:spLocks noChangeArrowheads="1"/>
          </p:cNvSpPr>
          <p:nvPr/>
        </p:nvSpPr>
        <p:spPr bwMode="auto">
          <a:xfrm>
            <a:off x="4765675" y="4267200"/>
            <a:ext cx="2522538" cy="2162175"/>
          </a:xfrm>
          <a:prstGeom prst="rect">
            <a:avLst/>
          </a:prstGeom>
          <a:solidFill>
            <a:srgbClr val="E6E6E6"/>
          </a:solidFill>
          <a:ln w="25400">
            <a:solidFill>
              <a:srgbClr val="FF0000"/>
            </a:solidFill>
            <a:prstDash val="sysDot"/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59436" name="Rectangle 53"/>
          <p:cNvSpPr>
            <a:spLocks noChangeArrowheads="1"/>
          </p:cNvSpPr>
          <p:nvPr/>
        </p:nvSpPr>
        <p:spPr bwMode="auto">
          <a:xfrm>
            <a:off x="2133600" y="4267200"/>
            <a:ext cx="2522538" cy="216217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25400">
            <a:solidFill>
              <a:srgbClr val="FF0000"/>
            </a:solidFill>
            <a:prstDash val="sysDot"/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pPr>
              <a:defRPr/>
            </a:pPr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Lecture 2: </a:t>
            </a:r>
            <a:br>
              <a:rPr lang="en-US" dirty="0"/>
            </a:br>
            <a:r>
              <a:rPr lang="en-US" dirty="0"/>
              <a:t>Layer encapsulation</a:t>
            </a:r>
          </a:p>
        </p:txBody>
      </p:sp>
      <p:sp>
        <p:nvSpPr>
          <p:cNvPr id="46084" name="Rectangle 3"/>
          <p:cNvSpPr>
            <a:spLocks noChangeArrowheads="1"/>
          </p:cNvSpPr>
          <p:nvPr/>
        </p:nvSpPr>
        <p:spPr bwMode="auto">
          <a:xfrm>
            <a:off x="682625" y="2058988"/>
            <a:ext cx="914400" cy="582612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85" name="Rectangle 4"/>
          <p:cNvSpPr>
            <a:spLocks noChangeArrowheads="1"/>
          </p:cNvSpPr>
          <p:nvPr/>
        </p:nvSpPr>
        <p:spPr bwMode="auto">
          <a:xfrm>
            <a:off x="692150" y="3251200"/>
            <a:ext cx="914400" cy="582613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86" name="Text Box 5"/>
          <p:cNvSpPr txBox="1">
            <a:spLocks noChangeArrowheads="1"/>
          </p:cNvSpPr>
          <p:nvPr/>
        </p:nvSpPr>
        <p:spPr bwMode="auto">
          <a:xfrm>
            <a:off x="795338" y="2159000"/>
            <a:ext cx="787375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 dirty="0">
                <a:latin typeface="Arial" charset="0"/>
                <a:ea typeface="Arial" charset="0"/>
                <a:cs typeface="Arial" charset="0"/>
              </a:rPr>
              <a:t>HTTP</a:t>
            </a:r>
          </a:p>
        </p:txBody>
      </p:sp>
      <p:sp>
        <p:nvSpPr>
          <p:cNvPr id="46087" name="Text Box 6"/>
          <p:cNvSpPr txBox="1">
            <a:spLocks noChangeArrowheads="1"/>
          </p:cNvSpPr>
          <p:nvPr/>
        </p:nvSpPr>
        <p:spPr bwMode="auto">
          <a:xfrm>
            <a:off x="879475" y="3349625"/>
            <a:ext cx="646311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>
                <a:latin typeface="Arial" charset="0"/>
                <a:ea typeface="Arial" charset="0"/>
                <a:cs typeface="Arial" charset="0"/>
              </a:rPr>
              <a:t>TCP</a:t>
            </a:r>
          </a:p>
        </p:txBody>
      </p:sp>
      <p:grpSp>
        <p:nvGrpSpPr>
          <p:cNvPr id="46088" name="Group 7"/>
          <p:cNvGrpSpPr>
            <a:grpSpLocks/>
          </p:cNvGrpSpPr>
          <p:nvPr/>
        </p:nvGrpSpPr>
        <p:grpSpPr bwMode="auto">
          <a:xfrm>
            <a:off x="677863" y="4438650"/>
            <a:ext cx="914400" cy="582613"/>
            <a:chOff x="323" y="2664"/>
            <a:chExt cx="576" cy="367"/>
          </a:xfrm>
          <a:solidFill>
            <a:schemeClr val="accent2">
              <a:lumMod val="50000"/>
              <a:lumOff val="50000"/>
            </a:schemeClr>
          </a:solidFill>
        </p:grpSpPr>
        <p:sp>
          <p:nvSpPr>
            <p:cNvPr id="46149" name="Rectangle 8"/>
            <p:cNvSpPr>
              <a:spLocks noChangeArrowheads="1"/>
            </p:cNvSpPr>
            <p:nvPr/>
          </p:nvSpPr>
          <p:spPr bwMode="auto">
            <a:xfrm>
              <a:off x="323" y="2664"/>
              <a:ext cx="576" cy="367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46150" name="Text Box 9"/>
            <p:cNvSpPr txBox="1">
              <a:spLocks noChangeArrowheads="1"/>
            </p:cNvSpPr>
            <p:nvPr/>
          </p:nvSpPr>
          <p:spPr bwMode="auto">
            <a:xfrm>
              <a:off x="500" y="2729"/>
              <a:ext cx="254" cy="23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 b="0">
                  <a:latin typeface="Arial" charset="0"/>
                  <a:ea typeface="Arial" charset="0"/>
                  <a:cs typeface="Arial" charset="0"/>
                </a:rPr>
                <a:t>IP</a:t>
              </a:r>
            </a:p>
          </p:txBody>
        </p:sp>
      </p:grpSp>
      <p:sp>
        <p:nvSpPr>
          <p:cNvPr id="46091" name="Line 12"/>
          <p:cNvSpPr>
            <a:spLocks noChangeShapeType="1"/>
          </p:cNvSpPr>
          <p:nvPr/>
        </p:nvSpPr>
        <p:spPr bwMode="auto">
          <a:xfrm>
            <a:off x="1136650" y="2633663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2" name="Line 13"/>
          <p:cNvSpPr>
            <a:spLocks noChangeShapeType="1"/>
          </p:cNvSpPr>
          <p:nvPr/>
        </p:nvSpPr>
        <p:spPr bwMode="auto">
          <a:xfrm>
            <a:off x="1136650" y="3840163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4" name="Rectangle 15"/>
          <p:cNvSpPr>
            <a:spLocks noChangeArrowheads="1"/>
          </p:cNvSpPr>
          <p:nvPr/>
        </p:nvSpPr>
        <p:spPr bwMode="auto">
          <a:xfrm>
            <a:off x="527050" y="1857375"/>
            <a:ext cx="1303338" cy="4848225"/>
          </a:xfrm>
          <a:prstGeom prst="rect">
            <a:avLst/>
          </a:prstGeom>
          <a:noFill/>
          <a:ln w="19050">
            <a:solidFill>
              <a:srgbClr val="3333FF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5" name="Rectangle 16"/>
          <p:cNvSpPr>
            <a:spLocks noChangeArrowheads="1"/>
          </p:cNvSpPr>
          <p:nvPr/>
        </p:nvSpPr>
        <p:spPr bwMode="auto">
          <a:xfrm>
            <a:off x="7637463" y="2058988"/>
            <a:ext cx="914400" cy="582612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6" name="Rectangle 17"/>
          <p:cNvSpPr>
            <a:spLocks noChangeArrowheads="1"/>
          </p:cNvSpPr>
          <p:nvPr/>
        </p:nvSpPr>
        <p:spPr bwMode="auto">
          <a:xfrm>
            <a:off x="7646988" y="3251200"/>
            <a:ext cx="914400" cy="582613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7" name="Rectangle 18"/>
          <p:cNvSpPr>
            <a:spLocks noChangeArrowheads="1"/>
          </p:cNvSpPr>
          <p:nvPr/>
        </p:nvSpPr>
        <p:spPr bwMode="auto">
          <a:xfrm>
            <a:off x="7632700" y="4438650"/>
            <a:ext cx="914400" cy="582613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099" name="Text Box 20"/>
          <p:cNvSpPr txBox="1">
            <a:spLocks noChangeArrowheads="1"/>
          </p:cNvSpPr>
          <p:nvPr/>
        </p:nvSpPr>
        <p:spPr bwMode="auto">
          <a:xfrm>
            <a:off x="7750175" y="2159000"/>
            <a:ext cx="787375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 dirty="0">
                <a:latin typeface="Arial" charset="0"/>
                <a:ea typeface="Arial" charset="0"/>
                <a:cs typeface="Arial" charset="0"/>
              </a:rPr>
              <a:t>HTTP</a:t>
            </a:r>
          </a:p>
        </p:txBody>
      </p:sp>
      <p:sp>
        <p:nvSpPr>
          <p:cNvPr id="46100" name="Text Box 21"/>
          <p:cNvSpPr txBox="1">
            <a:spLocks noChangeArrowheads="1"/>
          </p:cNvSpPr>
          <p:nvPr/>
        </p:nvSpPr>
        <p:spPr bwMode="auto">
          <a:xfrm>
            <a:off x="7834313" y="3349625"/>
            <a:ext cx="646311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>
                <a:latin typeface="Arial" charset="0"/>
                <a:ea typeface="Arial" charset="0"/>
                <a:cs typeface="Arial" charset="0"/>
              </a:rPr>
              <a:t>TCP</a:t>
            </a:r>
          </a:p>
        </p:txBody>
      </p:sp>
      <p:sp>
        <p:nvSpPr>
          <p:cNvPr id="46101" name="Text Box 22"/>
          <p:cNvSpPr txBox="1">
            <a:spLocks noChangeArrowheads="1"/>
          </p:cNvSpPr>
          <p:nvPr/>
        </p:nvSpPr>
        <p:spPr bwMode="auto">
          <a:xfrm>
            <a:off x="7929563" y="4554538"/>
            <a:ext cx="402654" cy="369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800" b="0">
                <a:latin typeface="Arial" charset="0"/>
                <a:ea typeface="Arial" charset="0"/>
                <a:cs typeface="Arial" charset="0"/>
              </a:rPr>
              <a:t>IP</a:t>
            </a:r>
          </a:p>
        </p:txBody>
      </p:sp>
      <p:sp>
        <p:nvSpPr>
          <p:cNvPr id="46103" name="Line 24"/>
          <p:cNvSpPr>
            <a:spLocks noChangeShapeType="1"/>
          </p:cNvSpPr>
          <p:nvPr/>
        </p:nvSpPr>
        <p:spPr bwMode="auto">
          <a:xfrm>
            <a:off x="8091488" y="2633663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04" name="Line 25"/>
          <p:cNvSpPr>
            <a:spLocks noChangeShapeType="1"/>
          </p:cNvSpPr>
          <p:nvPr/>
        </p:nvSpPr>
        <p:spPr bwMode="auto">
          <a:xfrm>
            <a:off x="8091488" y="3840163"/>
            <a:ext cx="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06" name="Rectangle 27"/>
          <p:cNvSpPr>
            <a:spLocks noChangeArrowheads="1"/>
          </p:cNvSpPr>
          <p:nvPr/>
        </p:nvSpPr>
        <p:spPr bwMode="auto">
          <a:xfrm>
            <a:off x="7481888" y="1857375"/>
            <a:ext cx="1303337" cy="4848225"/>
          </a:xfrm>
          <a:prstGeom prst="rect">
            <a:avLst/>
          </a:prstGeom>
          <a:noFill/>
          <a:ln w="19050">
            <a:solidFill>
              <a:srgbClr val="3333FF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1430" tIns="45716" rIns="91430" bIns="45716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grpSp>
        <p:nvGrpSpPr>
          <p:cNvPr id="46109" name="Group 30"/>
          <p:cNvGrpSpPr>
            <a:grpSpLocks/>
          </p:cNvGrpSpPr>
          <p:nvPr/>
        </p:nvGrpSpPr>
        <p:grpSpPr bwMode="auto">
          <a:xfrm>
            <a:off x="2894013" y="4467225"/>
            <a:ext cx="914400" cy="582613"/>
            <a:chOff x="323" y="2664"/>
            <a:chExt cx="576" cy="367"/>
          </a:xfrm>
          <a:solidFill>
            <a:schemeClr val="accent2">
              <a:lumMod val="50000"/>
              <a:lumOff val="50000"/>
            </a:schemeClr>
          </a:solidFill>
        </p:grpSpPr>
        <p:sp>
          <p:nvSpPr>
            <p:cNvPr id="46147" name="Rectangle 31"/>
            <p:cNvSpPr>
              <a:spLocks noChangeArrowheads="1"/>
            </p:cNvSpPr>
            <p:nvPr/>
          </p:nvSpPr>
          <p:spPr bwMode="auto">
            <a:xfrm>
              <a:off x="323" y="2664"/>
              <a:ext cx="576" cy="367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46148" name="Text Box 32"/>
            <p:cNvSpPr txBox="1">
              <a:spLocks noChangeArrowheads="1"/>
            </p:cNvSpPr>
            <p:nvPr/>
          </p:nvSpPr>
          <p:spPr bwMode="auto">
            <a:xfrm>
              <a:off x="500" y="2729"/>
              <a:ext cx="254" cy="23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 b="0">
                  <a:latin typeface="Arial" charset="0"/>
                  <a:ea typeface="Arial" charset="0"/>
                  <a:cs typeface="Arial" charset="0"/>
                </a:rPr>
                <a:t>IP</a:t>
              </a:r>
            </a:p>
          </p:txBody>
        </p:sp>
      </p:grpSp>
      <p:grpSp>
        <p:nvGrpSpPr>
          <p:cNvPr id="46110" name="Group 33"/>
          <p:cNvGrpSpPr>
            <a:grpSpLocks/>
          </p:cNvGrpSpPr>
          <p:nvPr/>
        </p:nvGrpSpPr>
        <p:grpSpPr bwMode="auto">
          <a:xfrm>
            <a:off x="5538788" y="4467225"/>
            <a:ext cx="914400" cy="582613"/>
            <a:chOff x="323" y="2664"/>
            <a:chExt cx="576" cy="367"/>
          </a:xfrm>
          <a:solidFill>
            <a:schemeClr val="accent2">
              <a:lumMod val="50000"/>
              <a:lumOff val="50000"/>
            </a:schemeClr>
          </a:solidFill>
        </p:grpSpPr>
        <p:sp>
          <p:nvSpPr>
            <p:cNvPr id="46145" name="Rectangle 34"/>
            <p:cNvSpPr>
              <a:spLocks noChangeArrowheads="1"/>
            </p:cNvSpPr>
            <p:nvPr/>
          </p:nvSpPr>
          <p:spPr bwMode="auto">
            <a:xfrm>
              <a:off x="323" y="2664"/>
              <a:ext cx="576" cy="367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46146" name="Text Box 35"/>
            <p:cNvSpPr txBox="1">
              <a:spLocks noChangeArrowheads="1"/>
            </p:cNvSpPr>
            <p:nvPr/>
          </p:nvSpPr>
          <p:spPr bwMode="auto">
            <a:xfrm>
              <a:off x="500" y="2729"/>
              <a:ext cx="254" cy="23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 b="0">
                  <a:latin typeface="Arial" charset="0"/>
                  <a:ea typeface="Arial" charset="0"/>
                  <a:cs typeface="Arial" charset="0"/>
                </a:rPr>
                <a:t>IP</a:t>
              </a:r>
            </a:p>
          </p:txBody>
        </p:sp>
      </p:grpSp>
      <p:sp>
        <p:nvSpPr>
          <p:cNvPr id="46129" name="Text Box 58"/>
          <p:cNvSpPr txBox="1">
            <a:spLocks noChangeArrowheads="1"/>
          </p:cNvSpPr>
          <p:nvPr/>
        </p:nvSpPr>
        <p:spPr bwMode="auto">
          <a:xfrm>
            <a:off x="849313" y="1481138"/>
            <a:ext cx="726461" cy="4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host</a:t>
            </a:r>
          </a:p>
        </p:txBody>
      </p:sp>
      <p:sp>
        <p:nvSpPr>
          <p:cNvPr id="46130" name="Text Box 59"/>
          <p:cNvSpPr txBox="1">
            <a:spLocks noChangeArrowheads="1"/>
          </p:cNvSpPr>
          <p:nvPr/>
        </p:nvSpPr>
        <p:spPr bwMode="auto">
          <a:xfrm>
            <a:off x="7804150" y="1466850"/>
            <a:ext cx="726461" cy="4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host</a:t>
            </a:r>
          </a:p>
        </p:txBody>
      </p:sp>
      <p:sp>
        <p:nvSpPr>
          <p:cNvPr id="46131" name="Text Box 60"/>
          <p:cNvSpPr txBox="1">
            <a:spLocks noChangeArrowheads="1"/>
          </p:cNvSpPr>
          <p:nvPr/>
        </p:nvSpPr>
        <p:spPr bwMode="auto">
          <a:xfrm>
            <a:off x="2970213" y="3863975"/>
            <a:ext cx="925233" cy="4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router</a:t>
            </a:r>
          </a:p>
        </p:txBody>
      </p:sp>
      <p:sp>
        <p:nvSpPr>
          <p:cNvPr id="46132" name="Text Box 61"/>
          <p:cNvSpPr txBox="1">
            <a:spLocks noChangeArrowheads="1"/>
          </p:cNvSpPr>
          <p:nvPr/>
        </p:nvSpPr>
        <p:spPr bwMode="auto">
          <a:xfrm>
            <a:off x="5600700" y="3878263"/>
            <a:ext cx="925233" cy="4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router</a:t>
            </a:r>
          </a:p>
        </p:txBody>
      </p:sp>
      <p:sp>
        <p:nvSpPr>
          <p:cNvPr id="46133" name="Line 62"/>
          <p:cNvSpPr>
            <a:spLocks noChangeShapeType="1"/>
          </p:cNvSpPr>
          <p:nvPr/>
        </p:nvSpPr>
        <p:spPr bwMode="auto">
          <a:xfrm>
            <a:off x="1608138" y="2355850"/>
            <a:ext cx="6040437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34" name="Line 63"/>
          <p:cNvSpPr>
            <a:spLocks noChangeShapeType="1"/>
          </p:cNvSpPr>
          <p:nvPr/>
        </p:nvSpPr>
        <p:spPr bwMode="auto">
          <a:xfrm>
            <a:off x="1636713" y="3546475"/>
            <a:ext cx="6040437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35" name="Text Box 64"/>
          <p:cNvSpPr txBox="1">
            <a:spLocks noChangeArrowheads="1"/>
          </p:cNvSpPr>
          <p:nvPr/>
        </p:nvSpPr>
        <p:spPr bwMode="auto">
          <a:xfrm>
            <a:off x="3994150" y="1987550"/>
            <a:ext cx="1649277" cy="338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>
                <a:latin typeface="Arial" charset="0"/>
                <a:ea typeface="Arial" charset="0"/>
                <a:cs typeface="Arial" charset="0"/>
              </a:rPr>
              <a:t>HTTP message</a:t>
            </a:r>
          </a:p>
        </p:txBody>
      </p:sp>
      <p:sp>
        <p:nvSpPr>
          <p:cNvPr id="46136" name="Text Box 65"/>
          <p:cNvSpPr txBox="1">
            <a:spLocks noChangeArrowheads="1"/>
          </p:cNvSpPr>
          <p:nvPr/>
        </p:nvSpPr>
        <p:spPr bwMode="auto">
          <a:xfrm>
            <a:off x="4092575" y="3192463"/>
            <a:ext cx="1490581" cy="338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>
                <a:latin typeface="Arial" charset="0"/>
                <a:ea typeface="Arial" charset="0"/>
                <a:cs typeface="Arial" charset="0"/>
              </a:rPr>
              <a:t>TCP segment</a:t>
            </a:r>
          </a:p>
        </p:txBody>
      </p:sp>
      <p:sp>
        <p:nvSpPr>
          <p:cNvPr id="46137" name="Line 66"/>
          <p:cNvSpPr>
            <a:spLocks noChangeShapeType="1"/>
          </p:cNvSpPr>
          <p:nvPr/>
        </p:nvSpPr>
        <p:spPr bwMode="auto">
          <a:xfrm flipV="1">
            <a:off x="1609725" y="4751388"/>
            <a:ext cx="13017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38" name="Line 67"/>
          <p:cNvSpPr>
            <a:spLocks noChangeShapeType="1"/>
          </p:cNvSpPr>
          <p:nvPr/>
        </p:nvSpPr>
        <p:spPr bwMode="auto">
          <a:xfrm flipV="1">
            <a:off x="3840163" y="4751388"/>
            <a:ext cx="1693863" cy="14287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39" name="Line 68"/>
          <p:cNvSpPr>
            <a:spLocks noChangeShapeType="1"/>
          </p:cNvSpPr>
          <p:nvPr/>
        </p:nvSpPr>
        <p:spPr bwMode="auto">
          <a:xfrm flipV="1">
            <a:off x="6457950" y="4751388"/>
            <a:ext cx="117633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arrow" w="med" len="med"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1430" tIns="45716" rIns="91430" bIns="4571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140" name="Text Box 69"/>
          <p:cNvSpPr txBox="1">
            <a:spLocks noChangeArrowheads="1"/>
          </p:cNvSpPr>
          <p:nvPr/>
        </p:nvSpPr>
        <p:spPr bwMode="auto">
          <a:xfrm>
            <a:off x="1765300" y="4343400"/>
            <a:ext cx="1005840" cy="338546"/>
          </a:xfrm>
          <a:prstGeom prst="rect">
            <a:avLst/>
          </a:prstGeom>
          <a:solidFill>
            <a:srgbClr val="D3A600"/>
          </a:solidFill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>
                <a:latin typeface="Arial" charset="0"/>
                <a:ea typeface="Arial" charset="0"/>
                <a:cs typeface="Arial" charset="0"/>
              </a:rPr>
              <a:t>IP packet</a:t>
            </a:r>
          </a:p>
        </p:txBody>
      </p:sp>
      <p:sp>
        <p:nvSpPr>
          <p:cNvPr id="46141" name="Text Box 70"/>
          <p:cNvSpPr txBox="1">
            <a:spLocks noChangeArrowheads="1"/>
          </p:cNvSpPr>
          <p:nvPr/>
        </p:nvSpPr>
        <p:spPr bwMode="auto">
          <a:xfrm>
            <a:off x="6553200" y="4371975"/>
            <a:ext cx="1005840" cy="338546"/>
          </a:xfrm>
          <a:prstGeom prst="rect">
            <a:avLst/>
          </a:prstGeom>
          <a:solidFill>
            <a:srgbClr val="D3A600"/>
          </a:solidFill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>
                <a:latin typeface="Arial" charset="0"/>
                <a:ea typeface="Arial" charset="0"/>
                <a:cs typeface="Arial" charset="0"/>
              </a:rPr>
              <a:t>IP packet</a:t>
            </a:r>
          </a:p>
        </p:txBody>
      </p:sp>
      <p:sp>
        <p:nvSpPr>
          <p:cNvPr id="46142" name="Text Box 71"/>
          <p:cNvSpPr txBox="1">
            <a:spLocks noChangeArrowheads="1"/>
          </p:cNvSpPr>
          <p:nvPr/>
        </p:nvSpPr>
        <p:spPr bwMode="auto">
          <a:xfrm>
            <a:off x="4189413" y="4357687"/>
            <a:ext cx="1005840" cy="338546"/>
          </a:xfrm>
          <a:prstGeom prst="rect">
            <a:avLst/>
          </a:prstGeom>
          <a:solidFill>
            <a:srgbClr val="D3A600"/>
          </a:solidFill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 dirty="0">
                <a:latin typeface="Arial" charset="0"/>
                <a:ea typeface="Arial" charset="0"/>
                <a:cs typeface="Arial" charset="0"/>
              </a:rPr>
              <a:t>IP packet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55EB104-35E6-E843-A76A-8EBED40E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F213D-38F7-B545-8167-35D3C78C2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027735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1" grpId="0" animBg="1"/>
      <p:bldP spid="59436" grpId="0" animBg="1"/>
      <p:bldP spid="46084" grpId="0" animBg="1"/>
      <p:bldP spid="46085" grpId="0" animBg="1"/>
      <p:bldP spid="46086" grpId="0"/>
      <p:bldP spid="46087" grpId="0"/>
      <p:bldP spid="46091" grpId="0" animBg="1"/>
      <p:bldP spid="46092" grpId="0" animBg="1"/>
      <p:bldP spid="46094" grpId="0" animBg="1"/>
      <p:bldP spid="46095" grpId="0" animBg="1"/>
      <p:bldP spid="46096" grpId="0" animBg="1"/>
      <p:bldP spid="46097" grpId="0" animBg="1"/>
      <p:bldP spid="46099" grpId="0"/>
      <p:bldP spid="46100" grpId="0"/>
      <p:bldP spid="46101" grpId="0"/>
      <p:bldP spid="46103" grpId="0" animBg="1"/>
      <p:bldP spid="46104" grpId="0" animBg="1"/>
      <p:bldP spid="46106" grpId="0" animBg="1"/>
      <p:bldP spid="46129" grpId="0"/>
      <p:bldP spid="46130" grpId="0"/>
      <p:bldP spid="46131" grpId="0"/>
      <p:bldP spid="46132" grpId="0"/>
      <p:bldP spid="46133" grpId="0" animBg="1"/>
      <p:bldP spid="46134" grpId="0" animBg="1"/>
      <p:bldP spid="46135" grpId="0"/>
      <p:bldP spid="46136" grpId="0"/>
      <p:bldP spid="46137" grpId="0" animBg="1"/>
      <p:bldP spid="46138" grpId="0" animBg="1"/>
      <p:bldP spid="46139" grpId="0" animBg="1"/>
      <p:bldP spid="46139" grpId="1" animBg="1"/>
      <p:bldP spid="46140" grpId="0" animBg="1"/>
      <p:bldP spid="46141" grpId="0" animBg="1"/>
      <p:bldP spid="4614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Recall: IP packet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4047054"/>
            <a:ext cx="7924800" cy="1972746"/>
          </a:xfrm>
        </p:spPr>
        <p:txBody>
          <a:bodyPr/>
          <a:lstStyle/>
          <a:p>
            <a:r>
              <a:rPr lang="en-US" dirty="0"/>
              <a:t>IP packet contains a header and payload</a:t>
            </a:r>
          </a:p>
          <a:p>
            <a:pPr lvl="1"/>
            <a:r>
              <a:rPr lang="en-US" dirty="0"/>
              <a:t>Payload is opaque to the network</a:t>
            </a:r>
          </a:p>
          <a:p>
            <a:pPr lvl="1"/>
            <a:r>
              <a:rPr lang="en-US" dirty="0"/>
              <a:t>Header is what we care about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First end-to-end layer (going bottom-up)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0" name="Group 9"/>
          <p:cNvGrpSpPr/>
          <p:nvPr/>
        </p:nvGrpSpPr>
        <p:grpSpPr>
          <a:xfrm>
            <a:off x="1946690" y="2448580"/>
            <a:ext cx="5901910" cy="838200"/>
            <a:chOff x="1828800" y="1898664"/>
            <a:chExt cx="5901910" cy="2162025"/>
          </a:xfrm>
        </p:grpSpPr>
        <p:sp>
          <p:nvSpPr>
            <p:cNvPr id="11" name="Rectangle 10"/>
            <p:cNvSpPr/>
            <p:nvPr/>
          </p:nvSpPr>
          <p:spPr>
            <a:xfrm>
              <a:off x="1898771" y="1898664"/>
              <a:ext cx="1615188" cy="215757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513959" y="1898664"/>
              <a:ext cx="4216751" cy="2157573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28575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828800" y="2265502"/>
              <a:ext cx="1752600" cy="11908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0" dirty="0">
                  <a:solidFill>
                    <a:srgbClr val="0000FF"/>
                  </a:solidFill>
                  <a:ea typeface="Arial" charset="0"/>
                  <a:cs typeface="Arial" charset="0"/>
                </a:rPr>
                <a:t>IP header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638476" y="2265502"/>
              <a:ext cx="3711234" cy="1190803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IP payload</a:t>
              </a:r>
            </a:p>
          </p:txBody>
        </p:sp>
        <p:cxnSp>
          <p:nvCxnSpPr>
            <p:cNvPr id="15" name="Straight Connector 14"/>
            <p:cNvCxnSpPr/>
            <p:nvPr/>
          </p:nvCxnSpPr>
          <p:spPr>
            <a:xfrm>
              <a:off x="3304357" y="1898664"/>
              <a:ext cx="0" cy="2157573"/>
            </a:xfrm>
            <a:prstGeom prst="line">
              <a:avLst/>
            </a:prstGeom>
            <a:ln w="3175" cmpd="sng">
              <a:solidFill>
                <a:schemeClr val="tx1"/>
              </a:solidFill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3062197" y="1903116"/>
              <a:ext cx="0" cy="2157573"/>
            </a:xfrm>
            <a:prstGeom prst="line">
              <a:avLst/>
            </a:prstGeom>
            <a:ln w="3175" cmpd="sng">
              <a:solidFill>
                <a:schemeClr val="tx1"/>
              </a:solidFill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2783058" y="1903116"/>
              <a:ext cx="0" cy="2157573"/>
            </a:xfrm>
            <a:prstGeom prst="line">
              <a:avLst/>
            </a:prstGeom>
            <a:ln w="3175" cmpd="sng">
              <a:solidFill>
                <a:schemeClr val="tx1"/>
              </a:solidFill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2503919" y="1903116"/>
              <a:ext cx="0" cy="2157573"/>
            </a:xfrm>
            <a:prstGeom prst="line">
              <a:avLst/>
            </a:prstGeom>
            <a:ln w="3175" cmpd="sng">
              <a:solidFill>
                <a:schemeClr val="tx1"/>
              </a:solidFill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224780" y="1903116"/>
              <a:ext cx="0" cy="2157573"/>
            </a:xfrm>
            <a:prstGeom prst="line">
              <a:avLst/>
            </a:prstGeom>
            <a:ln w="3175" cmpd="sng">
              <a:solidFill>
                <a:schemeClr val="tx1"/>
              </a:solidFill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3470690" y="3210580"/>
            <a:ext cx="2057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>
                <a:ea typeface="Arial" charset="0"/>
                <a:cs typeface="Arial" charset="0"/>
              </a:rPr>
              <a:t>IP packet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02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Designing the IP header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Think of the IP header as an interface</a:t>
            </a:r>
          </a:p>
          <a:p>
            <a:pPr lvl="1"/>
            <a:r>
              <a:rPr lang="en-US" dirty="0"/>
              <a:t>Between the source and destination end-systems</a:t>
            </a:r>
          </a:p>
          <a:p>
            <a:pPr lvl="1"/>
            <a:r>
              <a:rPr lang="en-US" dirty="0"/>
              <a:t>Between the source and network (routers)</a:t>
            </a:r>
          </a:p>
          <a:p>
            <a:r>
              <a:rPr lang="en-US" dirty="0"/>
              <a:t>Designing an interface</a:t>
            </a:r>
          </a:p>
          <a:p>
            <a:pPr lvl="1"/>
            <a:r>
              <a:rPr lang="en-US" dirty="0"/>
              <a:t>What task(s) are we trying to accomplish?</a:t>
            </a:r>
          </a:p>
          <a:p>
            <a:pPr lvl="1"/>
            <a:r>
              <a:rPr lang="en-US" dirty="0"/>
              <a:t>What information is needed to do it?</a:t>
            </a:r>
          </a:p>
          <a:p>
            <a:r>
              <a:rPr lang="en-US" dirty="0"/>
              <a:t>Header reflects information needed for basic tasks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80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are these tasks? (in network)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Parse packet</a:t>
            </a:r>
          </a:p>
          <a:p>
            <a:r>
              <a:rPr lang="en-US" dirty="0"/>
              <a:t>Carry packet to the destination</a:t>
            </a:r>
          </a:p>
          <a:p>
            <a:r>
              <a:rPr lang="en-US" dirty="0"/>
              <a:t>Deal with problems along the way</a:t>
            </a:r>
          </a:p>
          <a:p>
            <a:pPr lvl="1"/>
            <a:r>
              <a:rPr lang="en-US" dirty="0"/>
              <a:t>Loops</a:t>
            </a:r>
          </a:p>
          <a:p>
            <a:pPr lvl="1"/>
            <a:r>
              <a:rPr lang="en-US" dirty="0"/>
              <a:t>Corruption</a:t>
            </a:r>
          </a:p>
          <a:p>
            <a:pPr lvl="1"/>
            <a:r>
              <a:rPr lang="en-US" dirty="0"/>
              <a:t>Packet too large</a:t>
            </a:r>
          </a:p>
          <a:p>
            <a:r>
              <a:rPr lang="en-US" dirty="0"/>
              <a:t>Accommodate evolution</a:t>
            </a:r>
          </a:p>
          <a:p>
            <a:r>
              <a:rPr lang="en-US" dirty="0"/>
              <a:t>Specify any special handling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920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information do we need?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Parse packet</a:t>
            </a:r>
          </a:p>
          <a:p>
            <a:r>
              <a:rPr lang="en-US" dirty="0"/>
              <a:t>Carry packet to the destination</a:t>
            </a:r>
          </a:p>
          <a:p>
            <a:r>
              <a:rPr lang="en-US" dirty="0"/>
              <a:t>Deal with problems along the way</a:t>
            </a:r>
          </a:p>
          <a:p>
            <a:pPr lvl="1"/>
            <a:r>
              <a:rPr lang="en-US" dirty="0"/>
              <a:t>Loops</a:t>
            </a:r>
          </a:p>
          <a:p>
            <a:pPr lvl="1"/>
            <a:r>
              <a:rPr lang="en-US" dirty="0"/>
              <a:t>Corruption</a:t>
            </a:r>
          </a:p>
          <a:p>
            <a:pPr lvl="1"/>
            <a:r>
              <a:rPr lang="en-US" dirty="0"/>
              <a:t>Packet too large</a:t>
            </a:r>
          </a:p>
          <a:p>
            <a:r>
              <a:rPr lang="en-US" dirty="0"/>
              <a:t>Accommodate evolution</a:t>
            </a:r>
          </a:p>
          <a:p>
            <a:r>
              <a:rPr lang="en-US" dirty="0"/>
              <a:t>Specify any special handling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36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information do we need?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Parse packet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IP version number (4 bits), packet length (16 bits)</a:t>
            </a:r>
          </a:p>
          <a:p>
            <a:r>
              <a:rPr lang="en-US" dirty="0"/>
              <a:t>Carry packet to the destination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Destination’s IP address (32 bits)</a:t>
            </a:r>
          </a:p>
          <a:p>
            <a:r>
              <a:rPr lang="en-US" dirty="0"/>
              <a:t>Deal with problems along the way</a:t>
            </a:r>
          </a:p>
          <a:p>
            <a:pPr lvl="1"/>
            <a:r>
              <a:rPr lang="en-US" dirty="0"/>
              <a:t>Loops:</a:t>
            </a:r>
          </a:p>
          <a:p>
            <a:pPr lvl="1"/>
            <a:r>
              <a:rPr lang="en-US" dirty="0"/>
              <a:t>Corruption:</a:t>
            </a:r>
          </a:p>
          <a:p>
            <a:pPr lvl="1"/>
            <a:r>
              <a:rPr lang="en-US" dirty="0"/>
              <a:t>Packet too large: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12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information do we need?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Parse packet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IP version number (4 bits), packet length (16 bits)</a:t>
            </a:r>
          </a:p>
          <a:p>
            <a:r>
              <a:rPr lang="en-US" dirty="0"/>
              <a:t>Carry packet to the destination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Destination’s IP address (32 bits)</a:t>
            </a:r>
          </a:p>
          <a:p>
            <a:r>
              <a:rPr lang="en-US" dirty="0"/>
              <a:t>Deal with problems along the way</a:t>
            </a:r>
          </a:p>
          <a:p>
            <a:pPr lvl="1"/>
            <a:r>
              <a:rPr lang="en-US" dirty="0"/>
              <a:t>Loops: </a:t>
            </a:r>
            <a:r>
              <a:rPr lang="en-US" dirty="0">
                <a:solidFill>
                  <a:srgbClr val="0000FF"/>
                </a:solidFill>
              </a:rPr>
              <a:t>TTL (8 bits)</a:t>
            </a:r>
          </a:p>
          <a:p>
            <a:pPr lvl="1"/>
            <a:r>
              <a:rPr lang="en-US" dirty="0"/>
              <a:t>Corruption: </a:t>
            </a:r>
            <a:r>
              <a:rPr lang="en-US" dirty="0">
                <a:solidFill>
                  <a:srgbClr val="0000FF"/>
                </a:solidFill>
              </a:rPr>
              <a:t>checksum (16 bits)</a:t>
            </a:r>
          </a:p>
          <a:p>
            <a:pPr lvl="1"/>
            <a:r>
              <a:rPr lang="en-US" dirty="0"/>
              <a:t>Packet too large: </a:t>
            </a:r>
            <a:r>
              <a:rPr lang="en-US" dirty="0">
                <a:solidFill>
                  <a:srgbClr val="0000FF"/>
                </a:solidFill>
              </a:rPr>
              <a:t>fragmentation fields (32 bits)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3000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Preventing loops (TTL)</a:t>
            </a:r>
          </a:p>
        </p:txBody>
      </p:sp>
      <p:sp>
        <p:nvSpPr>
          <p:cNvPr id="9656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Forwarding loops cause packets to cycle for a long time</a:t>
            </a:r>
          </a:p>
          <a:p>
            <a:pPr lvl="1"/>
            <a:r>
              <a:rPr lang="en-US" dirty="0"/>
              <a:t>Left unchecked would accumulate to consume all capacity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Time-to-Live (TTL) Field  (8 bits)</a:t>
            </a:r>
          </a:p>
          <a:p>
            <a:pPr lvl="1"/>
            <a:r>
              <a:rPr lang="en-US" dirty="0"/>
              <a:t>Decremented at each hop; packet discarded if 0</a:t>
            </a:r>
          </a:p>
          <a:p>
            <a:pPr lvl="2"/>
            <a:r>
              <a:rPr lang="ja-JP" altLang="en-US" dirty="0"/>
              <a:t>“</a:t>
            </a:r>
            <a:r>
              <a:rPr lang="en-US" altLang="ja-JP" dirty="0"/>
              <a:t>Time exceeded</a:t>
            </a:r>
            <a:r>
              <a:rPr lang="ja-JP" altLang="en-US" dirty="0"/>
              <a:t>”</a:t>
            </a:r>
            <a:r>
              <a:rPr lang="en-US" altLang="ja-JP" dirty="0"/>
              <a:t> message is sent to the source</a:t>
            </a:r>
          </a:p>
        </p:txBody>
      </p:sp>
      <p:pic>
        <p:nvPicPr>
          <p:cNvPr id="965636" name="Picture 4"/>
          <p:cNvPicPr>
            <a:picLocks noChangeArrowheads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3438" y="3689350"/>
            <a:ext cx="609600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65637" name="Picture 5"/>
          <p:cNvPicPr>
            <a:picLocks noChangeArrowheads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5463" y="3689350"/>
            <a:ext cx="609600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65638" name="Picture 6"/>
          <p:cNvPicPr>
            <a:picLocks noChangeArrowheads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9075" y="3689350"/>
            <a:ext cx="609600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65639" name="Line 7"/>
          <p:cNvSpPr>
            <a:spLocks noChangeShapeType="1"/>
          </p:cNvSpPr>
          <p:nvPr/>
        </p:nvSpPr>
        <p:spPr bwMode="auto">
          <a:xfrm>
            <a:off x="885825" y="3843337"/>
            <a:ext cx="122872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65640" name="Line 8"/>
          <p:cNvSpPr>
            <a:spLocks noChangeShapeType="1"/>
          </p:cNvSpPr>
          <p:nvPr/>
        </p:nvSpPr>
        <p:spPr bwMode="auto">
          <a:xfrm>
            <a:off x="2574925" y="3843337"/>
            <a:ext cx="188277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65641" name="Line 9"/>
          <p:cNvSpPr>
            <a:spLocks noChangeShapeType="1"/>
          </p:cNvSpPr>
          <p:nvPr/>
        </p:nvSpPr>
        <p:spPr bwMode="auto">
          <a:xfrm flipV="1">
            <a:off x="4840288" y="3843337"/>
            <a:ext cx="176847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65642" name="Line 10"/>
          <p:cNvSpPr>
            <a:spLocks noChangeShapeType="1"/>
          </p:cNvSpPr>
          <p:nvPr/>
        </p:nvSpPr>
        <p:spPr bwMode="auto">
          <a:xfrm>
            <a:off x="7069138" y="3843337"/>
            <a:ext cx="122872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65643" name="Freeform 11"/>
          <p:cNvSpPr>
            <a:spLocks/>
          </p:cNvSpPr>
          <p:nvPr/>
        </p:nvSpPr>
        <p:spPr bwMode="auto">
          <a:xfrm>
            <a:off x="923925" y="4179887"/>
            <a:ext cx="3973513" cy="620713"/>
          </a:xfrm>
          <a:custGeom>
            <a:avLst/>
            <a:gdLst>
              <a:gd name="T0" fmla="*/ 0 w 2503"/>
              <a:gd name="T1" fmla="*/ 60483799 h 391"/>
              <a:gd name="T2" fmla="*/ 2147483647 w 2503"/>
              <a:gd name="T3" fmla="*/ 120967597 h 391"/>
              <a:gd name="T4" fmla="*/ 2147483647 w 2503"/>
              <a:gd name="T5" fmla="*/ 791329700 h 391"/>
              <a:gd name="T6" fmla="*/ 2147483647 w 2503"/>
              <a:gd name="T7" fmla="*/ 914818249 h 391"/>
              <a:gd name="T8" fmla="*/ 2147483647 w 2503"/>
              <a:gd name="T9" fmla="*/ 365423744 h 391"/>
              <a:gd name="T10" fmla="*/ 2147483647 w 2503"/>
              <a:gd name="T11" fmla="*/ 365423744 h 391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03"/>
              <a:gd name="T19" fmla="*/ 0 h 391"/>
              <a:gd name="T20" fmla="*/ 2503 w 2503"/>
              <a:gd name="T21" fmla="*/ 391 h 391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03" h="391">
                <a:moveTo>
                  <a:pt x="0" y="24"/>
                </a:moveTo>
                <a:cubicBezTo>
                  <a:pt x="925" y="12"/>
                  <a:pt x="1851" y="0"/>
                  <a:pt x="2177" y="48"/>
                </a:cubicBezTo>
                <a:cubicBezTo>
                  <a:pt x="2503" y="96"/>
                  <a:pt x="2132" y="262"/>
                  <a:pt x="1959" y="314"/>
                </a:cubicBezTo>
                <a:cubicBezTo>
                  <a:pt x="1786" y="366"/>
                  <a:pt x="1274" y="391"/>
                  <a:pt x="1137" y="363"/>
                </a:cubicBezTo>
                <a:cubicBezTo>
                  <a:pt x="1000" y="335"/>
                  <a:pt x="1056" y="181"/>
                  <a:pt x="1137" y="145"/>
                </a:cubicBezTo>
                <a:cubicBezTo>
                  <a:pt x="1218" y="109"/>
                  <a:pt x="1419" y="127"/>
                  <a:pt x="1621" y="145"/>
                </a:cubicBezTo>
              </a:path>
            </a:pathLst>
          </a:custGeom>
          <a:noFill/>
          <a:ln w="63500">
            <a:solidFill>
              <a:srgbClr val="FF3300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65644" name="Line 12"/>
          <p:cNvSpPr>
            <a:spLocks noChangeShapeType="1"/>
          </p:cNvSpPr>
          <p:nvPr/>
        </p:nvSpPr>
        <p:spPr bwMode="auto">
          <a:xfrm>
            <a:off x="2228850" y="3505200"/>
            <a:ext cx="10366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65645" name="Line 13"/>
          <p:cNvSpPr>
            <a:spLocks noChangeShapeType="1"/>
          </p:cNvSpPr>
          <p:nvPr/>
        </p:nvSpPr>
        <p:spPr bwMode="auto">
          <a:xfrm flipH="1">
            <a:off x="3611563" y="3505200"/>
            <a:ext cx="10366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9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5635" grpId="0" build="p"/>
      <p:bldP spid="965639" grpId="0" animBg="1"/>
      <p:bldP spid="965640" grpId="0" animBg="1"/>
      <p:bldP spid="965641" grpId="0" animBg="1"/>
      <p:bldP spid="965642" grpId="0" animBg="1"/>
      <p:bldP spid="965643" grpId="0" animBg="1"/>
      <p:bldP spid="965644" grpId="0" animBg="1"/>
      <p:bldP spid="96564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Header corruption (Checksum)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Checksum (16 bits)</a:t>
            </a:r>
          </a:p>
          <a:p>
            <a:pPr lvl="1"/>
            <a:r>
              <a:rPr lang="en-US" dirty="0"/>
              <a:t>Particular form of checksum over packet header</a:t>
            </a:r>
          </a:p>
          <a:p>
            <a:r>
              <a:rPr lang="en-US" dirty="0"/>
              <a:t>If not correct, router discards packets</a:t>
            </a:r>
          </a:p>
          <a:p>
            <a:pPr lvl="1"/>
            <a:r>
              <a:rPr lang="en-US" dirty="0"/>
              <a:t>So it doesn’t act on bogus information</a:t>
            </a:r>
          </a:p>
          <a:p>
            <a:r>
              <a:rPr lang="en-US" dirty="0"/>
              <a:t>Checksum recalculated at every router</a:t>
            </a:r>
          </a:p>
          <a:p>
            <a:pPr lvl="1"/>
            <a:r>
              <a:rPr lang="en-US" dirty="0"/>
              <a:t>Why?</a:t>
            </a:r>
          </a:p>
          <a:p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186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Fragmentation </a:t>
            </a:r>
            <a:endParaRPr lang="en-US" dirty="0"/>
          </a:p>
        </p:txBody>
      </p:sp>
      <p:sp>
        <p:nvSpPr>
          <p:cNvPr id="9472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link has a “Maximum Transmission Unit” (MTU)</a:t>
            </a:r>
          </a:p>
          <a:p>
            <a:pPr lvl="1"/>
            <a:r>
              <a:rPr lang="en-US" dirty="0"/>
              <a:t>Largest number of bits it can carry as one unit</a:t>
            </a:r>
          </a:p>
          <a:p>
            <a:r>
              <a:rPr lang="en-US" dirty="0"/>
              <a:t>A router can split a packet into multiple “</a:t>
            </a:r>
            <a:r>
              <a:rPr lang="en-US" altLang="ja-JP" dirty="0"/>
              <a:t>fragments</a:t>
            </a:r>
            <a:r>
              <a:rPr lang="ja-JP" altLang="en-US" dirty="0"/>
              <a:t>”</a:t>
            </a:r>
            <a:r>
              <a:rPr lang="en-US" altLang="ja-JP" dirty="0"/>
              <a:t> if the packet size exceeds the link’s MTU</a:t>
            </a:r>
          </a:p>
          <a:p>
            <a:r>
              <a:rPr lang="en-US" dirty="0"/>
              <a:t>Must reassemble to recover original packet</a:t>
            </a:r>
          </a:p>
          <a:p>
            <a:r>
              <a:rPr lang="en-US" dirty="0"/>
              <a:t>Will return to fragmentation later today…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964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720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information do we need?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Parse packet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IP version number (4 bits), packet length (16 bits)</a:t>
            </a:r>
          </a:p>
          <a:p>
            <a:r>
              <a:rPr lang="en-US" dirty="0"/>
              <a:t>Carry packet to the destination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Destination’s IP address (32 bits)</a:t>
            </a:r>
          </a:p>
          <a:p>
            <a:r>
              <a:rPr lang="en-US" dirty="0"/>
              <a:t>Deal with problems along the way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TTL (8 bits), checksum (16 bits), frag. (32 bits)</a:t>
            </a:r>
          </a:p>
          <a:p>
            <a:r>
              <a:rPr lang="en-US" dirty="0"/>
              <a:t>Accommodate evolution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Version number (4 bits) (+ fields for special handling) </a:t>
            </a:r>
          </a:p>
          <a:p>
            <a:r>
              <a:rPr lang="en-US" dirty="0"/>
              <a:t>Specify any special handling</a:t>
            </a:r>
          </a:p>
          <a:p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437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Special handling</a:t>
            </a:r>
            <a:endParaRPr lang="en-US" dirty="0"/>
          </a:p>
        </p:txBody>
      </p:sp>
      <p:sp>
        <p:nvSpPr>
          <p:cNvPr id="9431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“Type of Service” (8 bits) </a:t>
            </a:r>
          </a:p>
          <a:p>
            <a:pPr lvl="1"/>
            <a:r>
              <a:rPr lang="en-US" dirty="0"/>
              <a:t>Allow packets to be treated differently based on needs</a:t>
            </a:r>
          </a:p>
          <a:p>
            <a:pPr lvl="2"/>
            <a:r>
              <a:rPr lang="en-US" dirty="0"/>
              <a:t>e.g., indicate priority, congestion notification</a:t>
            </a:r>
          </a:p>
          <a:p>
            <a:pPr lvl="1"/>
            <a:r>
              <a:rPr lang="en-US" dirty="0"/>
              <a:t>Has been redefined several times</a:t>
            </a:r>
          </a:p>
          <a:p>
            <a:pPr lvl="1"/>
            <a:r>
              <a:rPr lang="en-US" dirty="0"/>
              <a:t>Now called “Differentiated Services Code Point (DSCP)”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82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3107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Options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Optional directives to the network</a:t>
            </a:r>
          </a:p>
          <a:p>
            <a:pPr lvl="1"/>
            <a:r>
              <a:rPr lang="en-US" dirty="0"/>
              <a:t>Not used very often</a:t>
            </a:r>
          </a:p>
          <a:p>
            <a:pPr lvl="1"/>
            <a:r>
              <a:rPr lang="en-US" dirty="0"/>
              <a:t>16 bits of metadata + option-specific data</a:t>
            </a:r>
          </a:p>
          <a:p>
            <a:r>
              <a:rPr lang="en-US" dirty="0"/>
              <a:t>Examples of options</a:t>
            </a:r>
          </a:p>
          <a:p>
            <a:pPr lvl="1"/>
            <a:r>
              <a:rPr lang="en-US" dirty="0"/>
              <a:t>Record Route</a:t>
            </a:r>
          </a:p>
          <a:p>
            <a:pPr lvl="1"/>
            <a:r>
              <a:rPr lang="en-US" dirty="0"/>
              <a:t>Strict Source Route</a:t>
            </a:r>
          </a:p>
          <a:p>
            <a:pPr lvl="1"/>
            <a:r>
              <a:rPr lang="en-US" dirty="0"/>
              <a:t>Loose Source Route</a:t>
            </a:r>
          </a:p>
          <a:p>
            <a:pPr lvl="1"/>
            <a:r>
              <a:rPr lang="en-US" dirty="0"/>
              <a:t>Timestamp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02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information do we need?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Parse packet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IP version number (4 bits), packet length (16 bits)</a:t>
            </a:r>
          </a:p>
          <a:p>
            <a:r>
              <a:rPr lang="en-US" dirty="0"/>
              <a:t>Carry packet to the destination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Destination’s IP address (32 bits)</a:t>
            </a:r>
          </a:p>
          <a:p>
            <a:r>
              <a:rPr lang="en-US" dirty="0"/>
              <a:t>Deal with problems along the way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TTL (8 bits), checksum (16 bits), frag. (32 bits)</a:t>
            </a:r>
          </a:p>
          <a:p>
            <a:r>
              <a:rPr lang="en-US" dirty="0"/>
              <a:t>Accommodate evolution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Version number (4 bits) (+ fields for special handling) </a:t>
            </a:r>
          </a:p>
          <a:p>
            <a:r>
              <a:rPr lang="en-US" dirty="0"/>
              <a:t>Specify any special handling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ToS (8 bits), Options (variable length)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82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packet structure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18288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V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ersion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25146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Len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3200400" y="15240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ToS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4572000" y="15240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Total Length (Bytes)</a:t>
            </a:r>
          </a:p>
        </p:txBody>
      </p:sp>
      <p:sp>
        <p:nvSpPr>
          <p:cNvPr id="13" name="Rectangle 12"/>
          <p:cNvSpPr/>
          <p:nvPr/>
        </p:nvSpPr>
        <p:spPr bwMode="auto">
          <a:xfrm>
            <a:off x="4572000" y="28956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 Checksum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5" name="Rectangle 14"/>
          <p:cNvSpPr/>
          <p:nvPr/>
        </p:nvSpPr>
        <p:spPr bwMode="auto">
          <a:xfrm>
            <a:off x="18250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TTL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7" name="Rectangle 16"/>
          <p:cNvSpPr/>
          <p:nvPr/>
        </p:nvSpPr>
        <p:spPr bwMode="auto">
          <a:xfrm>
            <a:off x="1828800" y="42672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Destination IP Address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1828800" y="49530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Options</a:t>
            </a:r>
            <a:r>
              <a:rPr kumimoji="0" lang="en-US" sz="16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(if any)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9" name="Rectangle 18"/>
          <p:cNvSpPr/>
          <p:nvPr/>
        </p:nvSpPr>
        <p:spPr bwMode="auto">
          <a:xfrm>
            <a:off x="1825082" y="5638800"/>
            <a:ext cx="5486400" cy="1371600"/>
          </a:xfrm>
          <a:prstGeom prst="rect">
            <a:avLst/>
          </a:prstGeom>
          <a:solidFill>
            <a:schemeClr val="tx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400" b="0" dirty="0">
                <a:solidFill>
                  <a:schemeClr val="bg1"/>
                </a:solidFill>
              </a:rPr>
              <a:t>Payload</a:t>
            </a: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20" name="Rectangle 19"/>
          <p:cNvSpPr/>
          <p:nvPr/>
        </p:nvSpPr>
        <p:spPr bwMode="auto">
          <a:xfrm>
            <a:off x="1806794" y="1505712"/>
            <a:ext cx="5522976" cy="4151376"/>
          </a:xfrm>
          <a:prstGeom prst="rect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1574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Parse packet</a:t>
            </a:r>
            <a:endParaRPr lang="en-US" dirty="0"/>
          </a:p>
        </p:txBody>
      </p:sp>
      <p:sp>
        <p:nvSpPr>
          <p:cNvPr id="9431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Header length (4 bits)</a:t>
            </a:r>
          </a:p>
          <a:p>
            <a:pPr lvl="1"/>
            <a:r>
              <a:rPr lang="en-US"/>
              <a:t>Number of 32-bit words in the header</a:t>
            </a:r>
          </a:p>
          <a:p>
            <a:pPr lvl="1"/>
            <a:r>
              <a:rPr lang="en-US"/>
              <a:t>Typically </a:t>
            </a:r>
            <a:r>
              <a:rPr lang="ja-JP" altLang="en-US"/>
              <a:t>“</a:t>
            </a:r>
            <a:r>
              <a:rPr lang="en-US" altLang="ja-JP"/>
              <a:t>5</a:t>
            </a:r>
            <a:r>
              <a:rPr lang="ja-JP" altLang="en-US"/>
              <a:t>”</a:t>
            </a:r>
            <a:r>
              <a:rPr lang="en-US" altLang="ja-JP"/>
              <a:t> (for a 20-byte IPv4 header)</a:t>
            </a:r>
          </a:p>
          <a:p>
            <a:pPr lvl="1"/>
            <a:r>
              <a:rPr lang="en-US"/>
              <a:t>Can be more when IP options are used</a:t>
            </a:r>
            <a:br>
              <a:rPr lang="en-US"/>
            </a:br>
            <a:endParaRPr lang="en-US"/>
          </a:p>
          <a:p>
            <a:endParaRPr lang="en-US"/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576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packet structure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18288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V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ersion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25146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Len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3200400" y="15240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ToS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4572000" y="15240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Total Length (Bytes)</a:t>
            </a:r>
          </a:p>
        </p:txBody>
      </p:sp>
      <p:sp>
        <p:nvSpPr>
          <p:cNvPr id="13" name="Rectangle 12"/>
          <p:cNvSpPr/>
          <p:nvPr/>
        </p:nvSpPr>
        <p:spPr bwMode="auto">
          <a:xfrm>
            <a:off x="4572000" y="28956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 Checksum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5" name="Rectangle 14"/>
          <p:cNvSpPr/>
          <p:nvPr/>
        </p:nvSpPr>
        <p:spPr bwMode="auto">
          <a:xfrm>
            <a:off x="18250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TTL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7" name="Rectangle 16"/>
          <p:cNvSpPr/>
          <p:nvPr/>
        </p:nvSpPr>
        <p:spPr bwMode="auto">
          <a:xfrm>
            <a:off x="1828800" y="42672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Destination IP Address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1828800" y="49530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Options</a:t>
            </a:r>
            <a:r>
              <a:rPr kumimoji="0" lang="en-US" sz="16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(if any)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0" name="Rectangle 19"/>
          <p:cNvSpPr/>
          <p:nvPr/>
        </p:nvSpPr>
        <p:spPr bwMode="auto">
          <a:xfrm>
            <a:off x="1806794" y="1505712"/>
            <a:ext cx="5522976" cy="4151376"/>
          </a:xfrm>
          <a:prstGeom prst="rect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1828800" y="2209800"/>
            <a:ext cx="5482682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FF"/>
                </a:solidFill>
              </a:rPr>
              <a:t>For Fragmentation</a:t>
            </a:r>
            <a:endParaRPr kumimoji="0" lang="en-US" sz="1600" i="0" u="none" strike="noStrike" cap="none" normalizeH="0" baseline="0" dirty="0">
              <a:ln>
                <a:noFill/>
              </a:ln>
              <a:solidFill>
                <a:srgbClr val="0000FF"/>
              </a:solidFill>
              <a:effectLst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09938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Tasks at the destination end-system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destination what to do with the received packet</a:t>
            </a:r>
          </a:p>
          <a:p>
            <a:r>
              <a:rPr lang="en-US" dirty="0"/>
              <a:t>Get responses to the packet back to the source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695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Telling end-host how to handle packet</a:t>
            </a:r>
          </a:p>
        </p:txBody>
      </p:sp>
      <p:sp>
        <p:nvSpPr>
          <p:cNvPr id="829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Protocol (8 bits)</a:t>
            </a:r>
          </a:p>
          <a:p>
            <a:pPr lvl="1"/>
            <a:r>
              <a:rPr lang="en-US" dirty="0"/>
              <a:t>Identifies the higher-level protocol</a:t>
            </a:r>
          </a:p>
          <a:p>
            <a:pPr lvl="1"/>
            <a:r>
              <a:rPr lang="en-US" dirty="0"/>
              <a:t>Important for de-multiplexing at receiving host</a:t>
            </a:r>
          </a:p>
        </p:txBody>
      </p:sp>
      <p:cxnSp>
        <p:nvCxnSpPr>
          <p:cNvPr id="9" name="Straight Arrow Connector 8"/>
          <p:cNvCxnSpPr/>
          <p:nvPr/>
        </p:nvCxnSpPr>
        <p:spPr bwMode="auto">
          <a:xfrm flipV="1">
            <a:off x="1066800" y="3500374"/>
            <a:ext cx="0" cy="2438400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89" name="Group 88"/>
          <p:cNvGrpSpPr>
            <a:grpSpLocks noChangeAspect="1"/>
          </p:cNvGrpSpPr>
          <p:nvPr/>
        </p:nvGrpSpPr>
        <p:grpSpPr>
          <a:xfrm>
            <a:off x="1447800" y="3200400"/>
            <a:ext cx="6400800" cy="3038348"/>
            <a:chOff x="860745" y="1905000"/>
            <a:chExt cx="8283261" cy="3931920"/>
          </a:xfrm>
        </p:grpSpPr>
        <p:sp>
          <p:nvSpPr>
            <p:cNvPr id="90" name="Rectangle 29"/>
            <p:cNvSpPr>
              <a:spLocks noChangeArrowheads="1"/>
            </p:cNvSpPr>
            <p:nvPr/>
          </p:nvSpPr>
          <p:spPr bwMode="auto">
            <a:xfrm>
              <a:off x="3505200" y="3502343"/>
              <a:ext cx="5638806" cy="737235"/>
            </a:xfrm>
            <a:prstGeom prst="rect">
              <a:avLst/>
            </a:prstGeom>
            <a:solidFill>
              <a:schemeClr val="accent2">
                <a:lumMod val="50000"/>
                <a:lumOff val="5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 sz="1200"/>
            </a:p>
          </p:txBody>
        </p:sp>
        <p:sp>
          <p:nvSpPr>
            <p:cNvPr id="91" name="Rectangle 25"/>
            <p:cNvSpPr>
              <a:spLocks noChangeArrowheads="1"/>
            </p:cNvSpPr>
            <p:nvPr/>
          </p:nvSpPr>
          <p:spPr bwMode="auto">
            <a:xfrm>
              <a:off x="3505200" y="2703671"/>
              <a:ext cx="5638806" cy="737235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 sz="1200"/>
            </a:p>
          </p:txBody>
        </p:sp>
        <p:sp>
          <p:nvSpPr>
            <p:cNvPr id="92" name="Rectangle 1"/>
            <p:cNvSpPr>
              <a:spLocks noChangeArrowheads="1"/>
            </p:cNvSpPr>
            <p:nvPr/>
          </p:nvSpPr>
          <p:spPr bwMode="auto">
            <a:xfrm>
              <a:off x="3505200" y="1905000"/>
              <a:ext cx="5638806" cy="737235"/>
            </a:xfrm>
            <a:prstGeom prst="rect">
              <a:avLst/>
            </a:prstGeom>
            <a:solidFill>
              <a:schemeClr val="accent2">
                <a:lumMod val="10000"/>
                <a:lumOff val="9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 sz="1200"/>
            </a:p>
          </p:txBody>
        </p:sp>
        <p:sp>
          <p:nvSpPr>
            <p:cNvPr id="93" name="Rectangle 29"/>
            <p:cNvSpPr>
              <a:spLocks noChangeArrowheads="1"/>
            </p:cNvSpPr>
            <p:nvPr/>
          </p:nvSpPr>
          <p:spPr bwMode="auto">
            <a:xfrm>
              <a:off x="3504807" y="4301014"/>
              <a:ext cx="5638806" cy="737235"/>
            </a:xfrm>
            <a:prstGeom prst="rect">
              <a:avLst/>
            </a:prstGeom>
            <a:solidFill>
              <a:schemeClr val="accent2">
                <a:lumMod val="75000"/>
                <a:lumOff val="25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 sz="1200"/>
            </a:p>
          </p:txBody>
        </p:sp>
        <p:sp>
          <p:nvSpPr>
            <p:cNvPr id="94" name="Rectangle 29"/>
            <p:cNvSpPr>
              <a:spLocks noChangeArrowheads="1"/>
            </p:cNvSpPr>
            <p:nvPr/>
          </p:nvSpPr>
          <p:spPr bwMode="auto">
            <a:xfrm>
              <a:off x="3504956" y="5099685"/>
              <a:ext cx="5639044" cy="737235"/>
            </a:xfrm>
            <a:prstGeom prst="rect">
              <a:avLst/>
            </a:prstGeom>
            <a:solidFill>
              <a:schemeClr val="accent2">
                <a:lumMod val="90000"/>
                <a:lumOff val="1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 sz="1200"/>
            </a:p>
          </p:txBody>
        </p:sp>
        <p:grpSp>
          <p:nvGrpSpPr>
            <p:cNvPr id="95" name="Group 94"/>
            <p:cNvGrpSpPr>
              <a:grpSpLocks/>
            </p:cNvGrpSpPr>
            <p:nvPr/>
          </p:nvGrpSpPr>
          <p:grpSpPr bwMode="auto">
            <a:xfrm>
              <a:off x="1371600" y="2125425"/>
              <a:ext cx="1649412" cy="431800"/>
              <a:chOff x="0" y="0"/>
              <a:chExt cx="943" cy="272"/>
            </a:xfrm>
            <a:solidFill>
              <a:srgbClr val="0000FF"/>
            </a:solidFill>
            <a:effectLst/>
          </p:grpSpPr>
          <p:sp>
            <p:nvSpPr>
              <p:cNvPr id="127" name="Rectangle 126"/>
              <p:cNvSpPr>
                <a:spLocks/>
              </p:cNvSpPr>
              <p:nvPr/>
            </p:nvSpPr>
            <p:spPr bwMode="auto">
              <a:xfrm>
                <a:off x="0" y="0"/>
                <a:ext cx="943" cy="272"/>
              </a:xfrm>
              <a:prstGeom prst="rect">
                <a:avLst/>
              </a:prstGeom>
              <a:grpFill/>
              <a:ln w="25400">
                <a:solidFill>
                  <a:srgbClr val="FFFFFF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63500" dist="101600" dir="2700000" algn="ctr" rotWithShape="0">
                  <a:schemeClr val="bg2">
                    <a:alpha val="75000"/>
                  </a:scheme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en-US" sz="1200">
                  <a:solidFill>
                    <a:schemeClr val="bg1"/>
                  </a:solidFill>
                </a:endParaRPr>
              </a:p>
            </p:txBody>
          </p:sp>
          <p:sp>
            <p:nvSpPr>
              <p:cNvPr id="128" name="Rectangle 127"/>
              <p:cNvSpPr>
                <a:spLocks/>
              </p:cNvSpPr>
              <p:nvPr/>
            </p:nvSpPr>
            <p:spPr bwMode="auto">
              <a:xfrm>
                <a:off x="58" y="16"/>
                <a:ext cx="825" cy="238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 type="none" w="med" len="med"/>
                    <a:tailEnd type="none" w="med" len="med"/>
                  </a14:hiddenLine>
                </a:ext>
              </a:extLst>
            </p:spPr>
            <p:txBody>
              <a:bodyPr wrap="none" lIns="38100" tIns="38100" rIns="90479" bIns="38100" anchor="ctr">
                <a:spAutoFit/>
              </a:bodyPr>
              <a:lstStyle/>
              <a:p>
                <a:pPr marL="12699" algn="ctr">
                  <a:defRPr/>
                </a:pPr>
                <a:r>
                  <a:rPr lang="en-US" sz="1400" dirty="0">
                    <a:solidFill>
                      <a:schemeClr val="bg1"/>
                    </a:solidFill>
                    <a:latin typeface="Arial" charset="0"/>
                    <a:cs typeface="Arial" charset="0"/>
                    <a:sym typeface="Arial" charset="0"/>
                  </a:rPr>
                  <a:t>Application</a:t>
                </a:r>
              </a:p>
            </p:txBody>
          </p:sp>
        </p:grpSp>
        <p:grpSp>
          <p:nvGrpSpPr>
            <p:cNvPr id="96" name="Group 95"/>
            <p:cNvGrpSpPr>
              <a:grpSpLocks/>
            </p:cNvGrpSpPr>
            <p:nvPr/>
          </p:nvGrpSpPr>
          <p:grpSpPr bwMode="auto">
            <a:xfrm>
              <a:off x="1371600" y="2819400"/>
              <a:ext cx="1649412" cy="431800"/>
              <a:chOff x="0" y="0"/>
              <a:chExt cx="943" cy="272"/>
            </a:xfrm>
            <a:solidFill>
              <a:srgbClr val="0000FF"/>
            </a:solidFill>
            <a:effectLst/>
          </p:grpSpPr>
          <p:sp>
            <p:nvSpPr>
              <p:cNvPr id="125" name="Rectangle 124"/>
              <p:cNvSpPr>
                <a:spLocks/>
              </p:cNvSpPr>
              <p:nvPr/>
            </p:nvSpPr>
            <p:spPr bwMode="auto">
              <a:xfrm>
                <a:off x="0" y="0"/>
                <a:ext cx="943" cy="272"/>
              </a:xfrm>
              <a:prstGeom prst="rect">
                <a:avLst/>
              </a:prstGeom>
              <a:grpFill/>
              <a:ln w="25400">
                <a:solidFill>
                  <a:srgbClr val="FFFFFF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63500" dist="101600" dir="2700000" algn="ctr" rotWithShape="0">
                  <a:schemeClr val="bg2">
                    <a:alpha val="75000"/>
                  </a:scheme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en-US" sz="1200"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Rectangle 125"/>
              <p:cNvSpPr>
                <a:spLocks/>
              </p:cNvSpPr>
              <p:nvPr/>
            </p:nvSpPr>
            <p:spPr bwMode="auto">
              <a:xfrm>
                <a:off x="110" y="16"/>
                <a:ext cx="716" cy="238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 type="none" w="med" len="med"/>
                    <a:tailEnd type="none" w="med" len="med"/>
                  </a14:hiddenLine>
                </a:ext>
              </a:extLst>
            </p:spPr>
            <p:txBody>
              <a:bodyPr wrap="none" lIns="38100" tIns="38100" rIns="90479" bIns="38100" anchor="ctr">
                <a:spAutoFit/>
              </a:bodyPr>
              <a:lstStyle/>
              <a:p>
                <a:pPr marL="12699" algn="ctr">
                  <a:defRPr/>
                </a:pPr>
                <a:r>
                  <a:rPr lang="en-US" sz="1400" dirty="0">
                    <a:solidFill>
                      <a:schemeClr val="bg1"/>
                    </a:solidFill>
                    <a:latin typeface="Arial" charset="0"/>
                    <a:cs typeface="Arial" charset="0"/>
                    <a:sym typeface="Arial" charset="0"/>
                  </a:rPr>
                  <a:t>Transport</a:t>
                </a:r>
              </a:p>
            </p:txBody>
          </p:sp>
        </p:grpSp>
        <p:grpSp>
          <p:nvGrpSpPr>
            <p:cNvPr id="97" name="Group 96"/>
            <p:cNvGrpSpPr>
              <a:grpSpLocks/>
            </p:cNvGrpSpPr>
            <p:nvPr/>
          </p:nvGrpSpPr>
          <p:grpSpPr bwMode="auto">
            <a:xfrm>
              <a:off x="1371600" y="3657600"/>
              <a:ext cx="1649413" cy="428625"/>
              <a:chOff x="0" y="0"/>
              <a:chExt cx="943" cy="270"/>
            </a:xfrm>
            <a:solidFill>
              <a:srgbClr val="0000FF"/>
            </a:solidFill>
            <a:effectLst/>
          </p:grpSpPr>
          <p:sp>
            <p:nvSpPr>
              <p:cNvPr id="123" name="Rectangle 122"/>
              <p:cNvSpPr>
                <a:spLocks/>
              </p:cNvSpPr>
              <p:nvPr/>
            </p:nvSpPr>
            <p:spPr bwMode="auto">
              <a:xfrm>
                <a:off x="0" y="0"/>
                <a:ext cx="943" cy="270"/>
              </a:xfrm>
              <a:prstGeom prst="rect">
                <a:avLst/>
              </a:prstGeom>
              <a:grpFill/>
              <a:ln w="25400">
                <a:solidFill>
                  <a:srgbClr val="FFFFFF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63500" dist="101600" dir="2700000" algn="ctr" rotWithShape="0">
                  <a:schemeClr val="bg2">
                    <a:alpha val="75000"/>
                  </a:scheme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en-US" sz="1200">
                  <a:solidFill>
                    <a:schemeClr val="bg1"/>
                  </a:solidFill>
                </a:endParaRPr>
              </a:p>
            </p:txBody>
          </p:sp>
          <p:sp>
            <p:nvSpPr>
              <p:cNvPr id="124" name="Rectangle 123"/>
              <p:cNvSpPr>
                <a:spLocks/>
              </p:cNvSpPr>
              <p:nvPr/>
            </p:nvSpPr>
            <p:spPr bwMode="auto">
              <a:xfrm>
                <a:off x="158" y="15"/>
                <a:ext cx="628" cy="238"/>
              </a:xfrm>
              <a:prstGeom prst="rect">
                <a:avLst/>
              </a:prstGeom>
              <a:grp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38100" tIns="38100" rIns="90479" bIns="38100" anchor="ctr">
                <a:spAutoFit/>
              </a:bodyPr>
              <a:lstStyle/>
              <a:p>
                <a:pPr marL="11113" algn="ctr"/>
                <a:r>
                  <a:rPr lang="en-US" sz="1400">
                    <a:solidFill>
                      <a:schemeClr val="bg1"/>
                    </a:solidFill>
                    <a:latin typeface="Arial" charset="0"/>
                    <a:cs typeface="Arial" charset="0"/>
                    <a:sym typeface="Arial" charset="0"/>
                  </a:rPr>
                  <a:t>Network</a:t>
                </a:r>
              </a:p>
            </p:txBody>
          </p:sp>
        </p:grpSp>
        <p:grpSp>
          <p:nvGrpSpPr>
            <p:cNvPr id="98" name="Group 97"/>
            <p:cNvGrpSpPr>
              <a:grpSpLocks/>
            </p:cNvGrpSpPr>
            <p:nvPr/>
          </p:nvGrpSpPr>
          <p:grpSpPr bwMode="auto">
            <a:xfrm>
              <a:off x="1371600" y="4419600"/>
              <a:ext cx="1649413" cy="431800"/>
              <a:chOff x="0" y="0"/>
              <a:chExt cx="943" cy="272"/>
            </a:xfrm>
            <a:solidFill>
              <a:srgbClr val="0000FF"/>
            </a:solidFill>
            <a:effectLst/>
          </p:grpSpPr>
          <p:sp>
            <p:nvSpPr>
              <p:cNvPr id="121" name="Rectangle 120"/>
              <p:cNvSpPr>
                <a:spLocks/>
              </p:cNvSpPr>
              <p:nvPr/>
            </p:nvSpPr>
            <p:spPr bwMode="auto">
              <a:xfrm>
                <a:off x="0" y="0"/>
                <a:ext cx="943" cy="272"/>
              </a:xfrm>
              <a:prstGeom prst="rect">
                <a:avLst/>
              </a:prstGeom>
              <a:grpFill/>
              <a:ln w="25400">
                <a:solidFill>
                  <a:srgbClr val="FFFFFF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63500" dist="101600" dir="2700000" algn="ctr" rotWithShape="0">
                  <a:schemeClr val="bg2">
                    <a:alpha val="75000"/>
                  </a:scheme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en-US" sz="1200">
                  <a:solidFill>
                    <a:schemeClr val="bg1"/>
                  </a:solidFill>
                </a:endParaRPr>
              </a:p>
            </p:txBody>
          </p:sp>
          <p:sp>
            <p:nvSpPr>
              <p:cNvPr id="122" name="Rectangle 121"/>
              <p:cNvSpPr>
                <a:spLocks/>
              </p:cNvSpPr>
              <p:nvPr/>
            </p:nvSpPr>
            <p:spPr bwMode="auto">
              <a:xfrm>
                <a:off x="146" y="16"/>
                <a:ext cx="656" cy="238"/>
              </a:xfrm>
              <a:prstGeom prst="rect">
                <a:avLst/>
              </a:prstGeom>
              <a:grp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38100" tIns="38100" rIns="90479" bIns="38100" anchor="ctr">
                <a:spAutoFit/>
              </a:bodyPr>
              <a:lstStyle/>
              <a:p>
                <a:pPr marL="11113" algn="ctr"/>
                <a:r>
                  <a:rPr lang="en-US" sz="1400">
                    <a:solidFill>
                      <a:schemeClr val="bg1"/>
                    </a:solidFill>
                    <a:latin typeface="Arial" charset="0"/>
                    <a:cs typeface="Arial" charset="0"/>
                    <a:sym typeface="Arial" charset="0"/>
                  </a:rPr>
                  <a:t>Data link</a:t>
                </a:r>
              </a:p>
            </p:txBody>
          </p:sp>
        </p:grpSp>
        <p:grpSp>
          <p:nvGrpSpPr>
            <p:cNvPr id="99" name="Group 98"/>
            <p:cNvGrpSpPr>
              <a:grpSpLocks/>
            </p:cNvGrpSpPr>
            <p:nvPr/>
          </p:nvGrpSpPr>
          <p:grpSpPr bwMode="auto">
            <a:xfrm>
              <a:off x="1371600" y="5208588"/>
              <a:ext cx="1649413" cy="430212"/>
              <a:chOff x="0" y="0"/>
              <a:chExt cx="943" cy="271"/>
            </a:xfrm>
            <a:solidFill>
              <a:srgbClr val="0000FF"/>
            </a:solidFill>
            <a:effectLst/>
          </p:grpSpPr>
          <p:sp>
            <p:nvSpPr>
              <p:cNvPr id="119" name="Rectangle 118"/>
              <p:cNvSpPr>
                <a:spLocks/>
              </p:cNvSpPr>
              <p:nvPr/>
            </p:nvSpPr>
            <p:spPr bwMode="auto">
              <a:xfrm>
                <a:off x="0" y="0"/>
                <a:ext cx="943" cy="271"/>
              </a:xfrm>
              <a:prstGeom prst="rect">
                <a:avLst/>
              </a:prstGeom>
              <a:grpFill/>
              <a:ln w="25400">
                <a:solidFill>
                  <a:srgbClr val="FFFFFF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63500" dist="101600" dir="2700000" algn="ctr" rotWithShape="0">
                  <a:schemeClr val="bg2">
                    <a:alpha val="75000"/>
                  </a:scheme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en-US" sz="1200">
                  <a:solidFill>
                    <a:schemeClr val="bg1"/>
                  </a:solidFill>
                </a:endParaRPr>
              </a:p>
            </p:txBody>
          </p:sp>
          <p:sp>
            <p:nvSpPr>
              <p:cNvPr id="120" name="Rectangle 119"/>
              <p:cNvSpPr>
                <a:spLocks/>
              </p:cNvSpPr>
              <p:nvPr/>
            </p:nvSpPr>
            <p:spPr bwMode="auto">
              <a:xfrm>
                <a:off x="152" y="15"/>
                <a:ext cx="642" cy="238"/>
              </a:xfrm>
              <a:prstGeom prst="rect">
                <a:avLst/>
              </a:prstGeom>
              <a:grp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38100" tIns="38100" rIns="90479" bIns="38100" anchor="ctr">
                <a:spAutoFit/>
              </a:bodyPr>
              <a:lstStyle/>
              <a:p>
                <a:pPr marL="11113" algn="ctr"/>
                <a:r>
                  <a:rPr lang="en-US" sz="1400">
                    <a:solidFill>
                      <a:schemeClr val="bg1"/>
                    </a:solidFill>
                    <a:latin typeface="Arial" charset="0"/>
                    <a:cs typeface="Arial" charset="0"/>
                    <a:sym typeface="Arial" charset="0"/>
                  </a:rPr>
                  <a:t>Physical</a:t>
                </a:r>
              </a:p>
            </p:txBody>
          </p:sp>
        </p:grpSp>
        <p:sp>
          <p:nvSpPr>
            <p:cNvPr id="100" name="TextBox 99"/>
            <p:cNvSpPr txBox="1"/>
            <p:nvPr/>
          </p:nvSpPr>
          <p:spPr>
            <a:xfrm>
              <a:off x="860745" y="2130981"/>
              <a:ext cx="508653" cy="398294"/>
            </a:xfrm>
            <a:prstGeom prst="rect">
              <a:avLst/>
            </a:prstGeom>
            <a:solidFill>
              <a:schemeClr val="bg1"/>
            </a:solidFill>
            <a:effectLst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L7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860745" y="2850634"/>
              <a:ext cx="508653" cy="398294"/>
            </a:xfrm>
            <a:prstGeom prst="rect">
              <a:avLst/>
            </a:prstGeom>
            <a:solidFill>
              <a:schemeClr val="bg1"/>
            </a:solidFill>
            <a:effectLst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L4</a:t>
              </a:r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860745" y="3687246"/>
              <a:ext cx="508653" cy="398294"/>
            </a:xfrm>
            <a:prstGeom prst="rect">
              <a:avLst/>
            </a:prstGeom>
            <a:solidFill>
              <a:schemeClr val="bg1"/>
            </a:solidFill>
            <a:effectLst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L3</a:t>
              </a: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860745" y="4450834"/>
              <a:ext cx="508653" cy="398294"/>
            </a:xfrm>
            <a:prstGeom prst="rect">
              <a:avLst/>
            </a:prstGeom>
            <a:solidFill>
              <a:schemeClr val="bg1"/>
            </a:solidFill>
            <a:effectLst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L2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860745" y="5239029"/>
              <a:ext cx="508653" cy="398294"/>
            </a:xfrm>
            <a:prstGeom prst="rect">
              <a:avLst/>
            </a:prstGeom>
            <a:solidFill>
              <a:schemeClr val="bg1"/>
            </a:solidFill>
            <a:effectLst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L1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4180051" y="2157991"/>
              <a:ext cx="884128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SMTP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5459052" y="2129139"/>
              <a:ext cx="844713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HTTP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4953000" y="2858889"/>
              <a:ext cx="703651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TCP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7329021" y="2857388"/>
              <a:ext cx="730619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UDP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6302926" y="3687246"/>
              <a:ext cx="458866" cy="398294"/>
            </a:xfrm>
            <a:prstGeom prst="rect">
              <a:avLst/>
            </a:prstGeom>
            <a:solidFill>
              <a:srgbClr val="D3A600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IP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7278470" y="4484965"/>
              <a:ext cx="705726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PPP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6134725" y="4488601"/>
              <a:ext cx="780406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FDDI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4724399" y="4492570"/>
              <a:ext cx="1178699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Ethernet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7670804" y="5283636"/>
              <a:ext cx="859234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PSTN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6610076" y="5304528"/>
              <a:ext cx="882053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Radio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5382636" y="5304528"/>
              <a:ext cx="1050084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Copper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180843" y="5304528"/>
              <a:ext cx="1023115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Optical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7824691" y="2141634"/>
              <a:ext cx="703651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NTP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6699580" y="2135052"/>
              <a:ext cx="730619" cy="398294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DNS</a:t>
              </a:r>
            </a:p>
          </p:txBody>
        </p:sp>
      </p:grp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7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Telling end-host how to handle packet</a:t>
            </a:r>
          </a:p>
        </p:txBody>
      </p:sp>
      <p:sp>
        <p:nvSpPr>
          <p:cNvPr id="829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Protocol (8 bits)</a:t>
            </a:r>
          </a:p>
          <a:p>
            <a:pPr lvl="1"/>
            <a:r>
              <a:rPr lang="en-US" dirty="0"/>
              <a:t>Identifies the higher-level protocol</a:t>
            </a:r>
          </a:p>
          <a:p>
            <a:pPr lvl="1"/>
            <a:r>
              <a:rPr lang="en-US" dirty="0"/>
              <a:t>Important for de-multiplexing at receiving host</a:t>
            </a:r>
          </a:p>
          <a:p>
            <a:r>
              <a:rPr lang="en-US" sz="2400" dirty="0">
                <a:latin typeface="Arial" charset="0"/>
                <a:ea typeface="Arial" charset="0"/>
                <a:cs typeface="Arial" charset="0"/>
              </a:rPr>
              <a:t>Most common examples</a:t>
            </a:r>
          </a:p>
          <a:p>
            <a:pPr lvl="1"/>
            <a:r>
              <a:rPr lang="en-US" sz="2000" dirty="0">
                <a:latin typeface="Arial" charset="0"/>
                <a:ea typeface="Arial" charset="0"/>
                <a:cs typeface="Arial" charset="0"/>
              </a:rPr>
              <a:t>E.g., </a:t>
            </a:r>
            <a:r>
              <a:rPr lang="ja-JP" altLang="en-US" sz="2000" dirty="0">
                <a:latin typeface="Arial" charset="0"/>
                <a:ea typeface="Arial" charset="0"/>
                <a:cs typeface="Arial" charset="0"/>
              </a:rPr>
              <a:t>“</a:t>
            </a:r>
            <a:r>
              <a:rPr lang="en-US" altLang="ja-JP" sz="2000" dirty="0">
                <a:latin typeface="Arial" charset="0"/>
                <a:ea typeface="Arial" charset="0"/>
                <a:cs typeface="Arial" charset="0"/>
              </a:rPr>
              <a:t>6</a:t>
            </a:r>
            <a:r>
              <a:rPr lang="ja-JP" altLang="en-US" sz="2000" dirty="0">
                <a:latin typeface="Arial" charset="0"/>
                <a:ea typeface="Arial" charset="0"/>
                <a:cs typeface="Arial" charset="0"/>
              </a:rPr>
              <a:t>”</a:t>
            </a:r>
            <a:r>
              <a:rPr lang="en-US" altLang="ja-JP" sz="2000" dirty="0">
                <a:latin typeface="Arial" charset="0"/>
                <a:ea typeface="Arial" charset="0"/>
                <a:cs typeface="Arial" charset="0"/>
              </a:rPr>
              <a:t> for the Transmission Control Protocol (TCP)</a:t>
            </a:r>
          </a:p>
          <a:p>
            <a:pPr lvl="1"/>
            <a:r>
              <a:rPr lang="en-US" sz="2000" dirty="0">
                <a:latin typeface="Arial" charset="0"/>
                <a:ea typeface="Arial" charset="0"/>
                <a:cs typeface="Arial" charset="0"/>
              </a:rPr>
              <a:t>E.g., </a:t>
            </a:r>
            <a:r>
              <a:rPr lang="ja-JP" altLang="en-US" sz="2000" dirty="0">
                <a:latin typeface="Arial" charset="0"/>
                <a:ea typeface="Arial" charset="0"/>
                <a:cs typeface="Arial" charset="0"/>
              </a:rPr>
              <a:t>“</a:t>
            </a:r>
            <a:r>
              <a:rPr lang="en-US" altLang="ja-JP" sz="2000" dirty="0">
                <a:latin typeface="Arial" charset="0"/>
                <a:ea typeface="Arial" charset="0"/>
                <a:cs typeface="Arial" charset="0"/>
              </a:rPr>
              <a:t>17</a:t>
            </a:r>
            <a:r>
              <a:rPr lang="ja-JP" altLang="en-US" sz="2000" dirty="0">
                <a:latin typeface="Arial" charset="0"/>
                <a:ea typeface="Arial" charset="0"/>
                <a:cs typeface="Arial" charset="0"/>
              </a:rPr>
              <a:t>”</a:t>
            </a:r>
            <a:r>
              <a:rPr lang="en-US" altLang="ja-JP" sz="2000" dirty="0">
                <a:latin typeface="Arial" charset="0"/>
                <a:ea typeface="Arial" charset="0"/>
                <a:cs typeface="Arial" charset="0"/>
              </a:rPr>
              <a:t> for the User Datagram Protocol (UDP)</a:t>
            </a:r>
          </a:p>
          <a:p>
            <a:endParaRPr lang="en-US" dirty="0"/>
          </a:p>
        </p:txBody>
      </p:sp>
      <p:grpSp>
        <p:nvGrpSpPr>
          <p:cNvPr id="45" name="Group 44"/>
          <p:cNvGrpSpPr/>
          <p:nvPr/>
        </p:nvGrpSpPr>
        <p:grpSpPr>
          <a:xfrm>
            <a:off x="1768475" y="4202112"/>
            <a:ext cx="5607050" cy="2198688"/>
            <a:chOff x="1806575" y="4343400"/>
            <a:chExt cx="5607050" cy="2427288"/>
          </a:xfrm>
        </p:grpSpPr>
        <p:sp>
          <p:nvSpPr>
            <p:cNvPr id="46" name="Text Box 4"/>
            <p:cNvSpPr txBox="1">
              <a:spLocks noChangeArrowheads="1"/>
            </p:cNvSpPr>
            <p:nvPr/>
          </p:nvSpPr>
          <p:spPr bwMode="auto">
            <a:xfrm>
              <a:off x="1806575" y="4811713"/>
              <a:ext cx="1958975" cy="396875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/>
                <a:t>IP header</a:t>
              </a:r>
            </a:p>
          </p:txBody>
        </p:sp>
        <p:sp>
          <p:nvSpPr>
            <p:cNvPr id="47" name="Text Box 5"/>
            <p:cNvSpPr txBox="1">
              <a:spLocks noChangeArrowheads="1"/>
            </p:cNvSpPr>
            <p:nvPr/>
          </p:nvSpPr>
          <p:spPr bwMode="auto">
            <a:xfrm>
              <a:off x="5378450" y="4811713"/>
              <a:ext cx="2035175" cy="396875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/>
                <a:t>IP header</a:t>
              </a:r>
            </a:p>
          </p:txBody>
        </p:sp>
        <p:sp>
          <p:nvSpPr>
            <p:cNvPr id="48" name="Text Box 6"/>
            <p:cNvSpPr txBox="1">
              <a:spLocks noChangeArrowheads="1"/>
            </p:cNvSpPr>
            <p:nvPr/>
          </p:nvSpPr>
          <p:spPr bwMode="auto">
            <a:xfrm>
              <a:off x="1806575" y="5195888"/>
              <a:ext cx="1957388" cy="441710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>
                  <a:solidFill>
                    <a:schemeClr val="bg1"/>
                  </a:solidFill>
                </a:rPr>
                <a:t>TCP header</a:t>
              </a:r>
            </a:p>
          </p:txBody>
        </p:sp>
        <p:sp>
          <p:nvSpPr>
            <p:cNvPr id="49" name="Text Box 7"/>
            <p:cNvSpPr txBox="1">
              <a:spLocks noChangeArrowheads="1"/>
            </p:cNvSpPr>
            <p:nvPr/>
          </p:nvSpPr>
          <p:spPr bwMode="auto">
            <a:xfrm>
              <a:off x="5378450" y="5195888"/>
              <a:ext cx="2033588" cy="39687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/>
                <a:t>UDP header</a:t>
              </a:r>
            </a:p>
          </p:txBody>
        </p:sp>
        <p:sp>
          <p:nvSpPr>
            <p:cNvPr id="50" name="Rectangle 8"/>
            <p:cNvSpPr>
              <a:spLocks noChangeArrowheads="1"/>
            </p:cNvSpPr>
            <p:nvPr/>
          </p:nvSpPr>
          <p:spPr bwMode="auto">
            <a:xfrm>
              <a:off x="1806575" y="5580063"/>
              <a:ext cx="1958975" cy="11906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" name="Rectangle 9"/>
            <p:cNvSpPr>
              <a:spLocks noChangeArrowheads="1"/>
            </p:cNvSpPr>
            <p:nvPr/>
          </p:nvSpPr>
          <p:spPr bwMode="auto">
            <a:xfrm>
              <a:off x="5378450" y="5580063"/>
              <a:ext cx="2035175" cy="11906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Text Box 10"/>
            <p:cNvSpPr txBox="1">
              <a:spLocks noChangeArrowheads="1"/>
            </p:cNvSpPr>
            <p:nvPr/>
          </p:nvSpPr>
          <p:spPr bwMode="auto">
            <a:xfrm>
              <a:off x="1949450" y="4343400"/>
              <a:ext cx="1708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dirty="0"/>
                <a:t>protocol=6</a:t>
              </a:r>
            </a:p>
          </p:txBody>
        </p:sp>
        <p:sp>
          <p:nvSpPr>
            <p:cNvPr id="53" name="Text Box 11"/>
            <p:cNvSpPr txBox="1">
              <a:spLocks noChangeArrowheads="1"/>
            </p:cNvSpPr>
            <p:nvPr/>
          </p:nvSpPr>
          <p:spPr bwMode="auto">
            <a:xfrm>
              <a:off x="5410200" y="4343400"/>
              <a:ext cx="1860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dirty="0"/>
                <a:t>protocol=17</a:t>
              </a:r>
            </a:p>
          </p:txBody>
        </p: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789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Tasks at the destination end-system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destination what to do with the received packet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Transport layer protocol (8 bits)</a:t>
            </a:r>
          </a:p>
          <a:p>
            <a:r>
              <a:rPr lang="en-US" dirty="0"/>
              <a:t>Get responses to the packet back to the source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Source IP address (32 bits)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47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packet structure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18288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V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ersion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25146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Len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3200400" y="15240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ToS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4572000" y="15240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Total Length (Bytes)</a:t>
            </a:r>
          </a:p>
        </p:txBody>
      </p:sp>
      <p:sp>
        <p:nvSpPr>
          <p:cNvPr id="13" name="Rectangle 12"/>
          <p:cNvSpPr/>
          <p:nvPr/>
        </p:nvSpPr>
        <p:spPr bwMode="auto">
          <a:xfrm>
            <a:off x="4572000" y="28956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 Checksum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5" name="Rectangle 14"/>
          <p:cNvSpPr/>
          <p:nvPr/>
        </p:nvSpPr>
        <p:spPr bwMode="auto">
          <a:xfrm>
            <a:off x="18250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TTL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7" name="Rectangle 16"/>
          <p:cNvSpPr/>
          <p:nvPr/>
        </p:nvSpPr>
        <p:spPr bwMode="auto">
          <a:xfrm>
            <a:off x="1828800" y="42672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Destination IP Address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1828800" y="49530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Options</a:t>
            </a:r>
            <a:r>
              <a:rPr kumimoji="0" lang="en-US" sz="16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(if any)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0" name="Rectangle 19"/>
          <p:cNvSpPr/>
          <p:nvPr/>
        </p:nvSpPr>
        <p:spPr bwMode="auto">
          <a:xfrm>
            <a:off x="1806794" y="1505712"/>
            <a:ext cx="5522976" cy="4151376"/>
          </a:xfrm>
          <a:prstGeom prst="rect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1828800" y="2209800"/>
            <a:ext cx="5482682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FF"/>
                </a:solidFill>
              </a:rPr>
              <a:t>For Fragmentation</a:t>
            </a:r>
            <a:endParaRPr kumimoji="0" lang="en-US" sz="1600" i="0" u="none" strike="noStrike" cap="none" normalizeH="0" baseline="0" dirty="0">
              <a:ln>
                <a:noFill/>
              </a:ln>
              <a:solidFill>
                <a:srgbClr val="0000FF"/>
              </a:solidFill>
              <a:effectLst/>
            </a:endParaRPr>
          </a:p>
        </p:txBody>
      </p:sp>
      <p:sp>
        <p:nvSpPr>
          <p:cNvPr id="21" name="Rectangle 20"/>
          <p:cNvSpPr/>
          <p:nvPr/>
        </p:nvSpPr>
        <p:spPr bwMode="auto">
          <a:xfrm>
            <a:off x="31966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Protocol</a:t>
            </a:r>
          </a:p>
        </p:txBody>
      </p:sp>
      <p:sp>
        <p:nvSpPr>
          <p:cNvPr id="22" name="Rectangle 21"/>
          <p:cNvSpPr/>
          <p:nvPr/>
        </p:nvSpPr>
        <p:spPr bwMode="auto">
          <a:xfrm>
            <a:off x="1825082" y="35814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Source IP Address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56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5-minute break!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7508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fragmentation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64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closer look at fragmentation </a:t>
            </a:r>
          </a:p>
        </p:txBody>
      </p:sp>
      <p:sp>
        <p:nvSpPr>
          <p:cNvPr id="9472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link has a “Maximum Transmission Unit” (MTU)</a:t>
            </a:r>
          </a:p>
          <a:p>
            <a:pPr lvl="1"/>
            <a:r>
              <a:rPr lang="en-US" dirty="0"/>
              <a:t>Largest number of bits it can carry as one unit</a:t>
            </a:r>
          </a:p>
          <a:p>
            <a:r>
              <a:rPr lang="en-US" dirty="0"/>
              <a:t>A router can split a packet into multiple “</a:t>
            </a:r>
            <a:r>
              <a:rPr lang="en-US" altLang="ja-JP" dirty="0"/>
              <a:t>fragments</a:t>
            </a:r>
            <a:r>
              <a:rPr lang="ja-JP" altLang="en-US" dirty="0"/>
              <a:t>”</a:t>
            </a:r>
            <a:r>
              <a:rPr lang="en-US" altLang="ja-JP" dirty="0"/>
              <a:t> if the packet size exceeds the link’s MTU</a:t>
            </a:r>
          </a:p>
          <a:p>
            <a:r>
              <a:rPr lang="en-US" dirty="0"/>
              <a:t>Must reassemble to recover original packet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503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720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fragmentation</a:t>
            </a:r>
            <a:endParaRPr lang="en-US" dirty="0"/>
          </a:p>
        </p:txBody>
      </p:sp>
      <p:sp>
        <p:nvSpPr>
          <p:cNvPr id="68622" name="Rectangle 38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4000 byte packet crosses a link w/ MTU=1500B</a:t>
            </a:r>
            <a:endParaRPr lang="en-US" dirty="0"/>
          </a:p>
        </p:txBody>
      </p:sp>
      <p:grpSp>
        <p:nvGrpSpPr>
          <p:cNvPr id="12" name="Group 11"/>
          <p:cNvGrpSpPr/>
          <p:nvPr/>
        </p:nvGrpSpPr>
        <p:grpSpPr>
          <a:xfrm>
            <a:off x="1709057" y="2723991"/>
            <a:ext cx="5682343" cy="781209"/>
            <a:chOff x="1676400" y="3582895"/>
            <a:chExt cx="5029200" cy="455705"/>
          </a:xfrm>
        </p:grpSpPr>
        <p:sp>
          <p:nvSpPr>
            <p:cNvPr id="7" name="Rounded Rectangle 6"/>
            <p:cNvSpPr/>
            <p:nvPr/>
          </p:nvSpPr>
          <p:spPr bwMode="auto">
            <a:xfrm>
              <a:off x="3048000" y="3733800"/>
              <a:ext cx="457200" cy="304800"/>
            </a:xfrm>
            <a:prstGeom prst="round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endParaRPr>
            </a:p>
          </p:txBody>
        </p:sp>
        <p:sp>
          <p:nvSpPr>
            <p:cNvPr id="43" name="Rounded Rectangle 42"/>
            <p:cNvSpPr/>
            <p:nvPr/>
          </p:nvSpPr>
          <p:spPr bwMode="auto">
            <a:xfrm>
              <a:off x="4876800" y="3733800"/>
              <a:ext cx="457200" cy="304800"/>
            </a:xfrm>
            <a:prstGeom prst="roundRect">
              <a:avLst/>
            </a:prstGeom>
            <a:solidFill>
              <a:schemeClr val="tx1">
                <a:lumMod val="60000"/>
                <a:lumOff val="40000"/>
              </a:schemeClr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endParaRPr>
            </a:p>
          </p:txBody>
        </p:sp>
        <p:cxnSp>
          <p:nvCxnSpPr>
            <p:cNvPr id="9" name="Straight Connector 8"/>
            <p:cNvCxnSpPr>
              <a:endCxn id="43" idx="1"/>
            </p:cNvCxnSpPr>
            <p:nvPr/>
          </p:nvCxnSpPr>
          <p:spPr bwMode="auto">
            <a:xfrm>
              <a:off x="3505200" y="3886200"/>
              <a:ext cx="1371600" cy="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7" name="Straight Connector 46"/>
            <p:cNvCxnSpPr/>
            <p:nvPr/>
          </p:nvCxnSpPr>
          <p:spPr bwMode="auto">
            <a:xfrm>
              <a:off x="1676400" y="3886200"/>
              <a:ext cx="1371600" cy="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8" name="Straight Connector 47"/>
            <p:cNvCxnSpPr/>
            <p:nvPr/>
          </p:nvCxnSpPr>
          <p:spPr bwMode="auto">
            <a:xfrm>
              <a:off x="5334000" y="3886200"/>
              <a:ext cx="1371600" cy="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1" name="TextBox 10"/>
            <p:cNvSpPr txBox="1"/>
            <p:nvPr/>
          </p:nvSpPr>
          <p:spPr>
            <a:xfrm>
              <a:off x="1812461" y="3582895"/>
              <a:ext cx="686959" cy="19749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b="0" dirty="0">
                  <a:latin typeface="Arial" charset="0"/>
                  <a:ea typeface="Arial" charset="0"/>
                  <a:cs typeface="Arial" charset="0"/>
                </a:rPr>
                <a:t>4000B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3895801" y="3671850"/>
              <a:ext cx="686959" cy="1974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0" dirty="0">
                  <a:ea typeface="Arial" charset="0"/>
                  <a:cs typeface="Arial" charset="0"/>
                </a:rPr>
                <a:t>1500B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5626538" y="3638492"/>
              <a:ext cx="345040" cy="1974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>
                  <a:ea typeface="Arial" charset="0"/>
                  <a:cs typeface="Arial" charset="0"/>
                </a:rPr>
                <a:t>…</a:t>
              </a:r>
            </a:p>
          </p:txBody>
        </p:sp>
        <p:cxnSp>
          <p:nvCxnSpPr>
            <p:cNvPr id="6" name="Straight Arrow Connector 5"/>
            <p:cNvCxnSpPr/>
            <p:nvPr/>
          </p:nvCxnSpPr>
          <p:spPr bwMode="auto">
            <a:xfrm>
              <a:off x="2591676" y="3771842"/>
              <a:ext cx="381000" cy="0"/>
            </a:xfrm>
            <a:prstGeom prst="straightConnector1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033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fragmentation</a:t>
            </a:r>
            <a:endParaRPr lang="en-US" dirty="0"/>
          </a:p>
        </p:txBody>
      </p:sp>
      <p:sp>
        <p:nvSpPr>
          <p:cNvPr id="68622" name="Rectangle 38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4000 byte packet crosses a link w/ MTU=1500B</a:t>
            </a:r>
          </a:p>
          <a:p>
            <a:endParaRPr lang="en-US" dirty="0"/>
          </a:p>
        </p:txBody>
      </p:sp>
      <p:sp>
        <p:nvSpPr>
          <p:cNvPr id="1517571" name="Rectangle 3"/>
          <p:cNvSpPr>
            <a:spLocks noChangeArrowheads="1"/>
          </p:cNvSpPr>
          <p:nvPr/>
        </p:nvSpPr>
        <p:spPr bwMode="auto">
          <a:xfrm>
            <a:off x="838200" y="4038600"/>
            <a:ext cx="609600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20</a:t>
            </a:r>
          </a:p>
        </p:txBody>
      </p:sp>
      <p:sp>
        <p:nvSpPr>
          <p:cNvPr id="68612" name="Line 4"/>
          <p:cNvSpPr>
            <a:spLocks noChangeShapeType="1"/>
          </p:cNvSpPr>
          <p:nvPr/>
        </p:nvSpPr>
        <p:spPr bwMode="auto">
          <a:xfrm>
            <a:off x="838200" y="38100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3" name="Line 5"/>
          <p:cNvSpPr>
            <a:spLocks noChangeShapeType="1"/>
          </p:cNvSpPr>
          <p:nvPr/>
        </p:nvSpPr>
        <p:spPr bwMode="auto">
          <a:xfrm>
            <a:off x="838200" y="3886200"/>
            <a:ext cx="6934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4" name="Line 6"/>
          <p:cNvSpPr>
            <a:spLocks noChangeShapeType="1"/>
          </p:cNvSpPr>
          <p:nvPr/>
        </p:nvSpPr>
        <p:spPr bwMode="auto">
          <a:xfrm>
            <a:off x="7772400" y="38100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5" name="Text Box 7"/>
          <p:cNvSpPr txBox="1">
            <a:spLocks noChangeArrowheads="1"/>
          </p:cNvSpPr>
          <p:nvPr/>
        </p:nvSpPr>
        <p:spPr bwMode="auto">
          <a:xfrm>
            <a:off x="4337050" y="3519488"/>
            <a:ext cx="75533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>
                <a:latin typeface="Arial" charset="0"/>
                <a:ea typeface="Arial" charset="0"/>
                <a:cs typeface="Arial" charset="0"/>
              </a:rPr>
              <a:t>4000</a:t>
            </a:r>
          </a:p>
        </p:txBody>
      </p:sp>
      <p:sp>
        <p:nvSpPr>
          <p:cNvPr id="1517576" name="Rectangle 8"/>
          <p:cNvSpPr>
            <a:spLocks noChangeArrowheads="1"/>
          </p:cNvSpPr>
          <p:nvPr/>
        </p:nvSpPr>
        <p:spPr bwMode="auto">
          <a:xfrm>
            <a:off x="1447800" y="4038600"/>
            <a:ext cx="63246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>
                <a:ea typeface="Arial" charset="0"/>
                <a:cs typeface="Arial" charset="0"/>
              </a:rPr>
              <a:t>3980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304800" y="4419601"/>
            <a:ext cx="3352800" cy="2014538"/>
            <a:chOff x="192" y="2352"/>
            <a:chExt cx="2112" cy="1269"/>
          </a:xfrm>
        </p:grpSpPr>
        <p:sp>
          <p:nvSpPr>
            <p:cNvPr id="1517578" name="Rectangle 10"/>
            <p:cNvSpPr>
              <a:spLocks noChangeArrowheads="1"/>
            </p:cNvSpPr>
            <p:nvPr/>
          </p:nvSpPr>
          <p:spPr bwMode="auto">
            <a:xfrm>
              <a:off x="192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79" name="Rectangle 11"/>
            <p:cNvSpPr>
              <a:spLocks noChangeArrowheads="1"/>
            </p:cNvSpPr>
            <p:nvPr/>
          </p:nvSpPr>
          <p:spPr bwMode="auto">
            <a:xfrm>
              <a:off x="576" y="2976"/>
              <a:ext cx="1392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1480</a:t>
              </a:r>
            </a:p>
          </p:txBody>
        </p:sp>
        <p:sp>
          <p:nvSpPr>
            <p:cNvPr id="68641" name="Line 12"/>
            <p:cNvSpPr>
              <a:spLocks noChangeShapeType="1"/>
            </p:cNvSpPr>
            <p:nvPr/>
          </p:nvSpPr>
          <p:spPr bwMode="auto">
            <a:xfrm>
              <a:off x="192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2" name="Line 13"/>
            <p:cNvSpPr>
              <a:spLocks noChangeShapeType="1"/>
            </p:cNvSpPr>
            <p:nvPr/>
          </p:nvSpPr>
          <p:spPr bwMode="auto">
            <a:xfrm>
              <a:off x="192" y="3360"/>
              <a:ext cx="17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3" name="Line 14"/>
            <p:cNvSpPr>
              <a:spLocks noChangeShapeType="1"/>
            </p:cNvSpPr>
            <p:nvPr/>
          </p:nvSpPr>
          <p:spPr bwMode="auto">
            <a:xfrm>
              <a:off x="1968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4" name="Text Box 15"/>
            <p:cNvSpPr txBox="1">
              <a:spLocks noChangeArrowheads="1"/>
            </p:cNvSpPr>
            <p:nvPr/>
          </p:nvSpPr>
          <p:spPr bwMode="auto">
            <a:xfrm>
              <a:off x="912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1500</a:t>
              </a:r>
            </a:p>
          </p:txBody>
        </p:sp>
        <p:sp>
          <p:nvSpPr>
            <p:cNvPr id="68645" name="Line 16"/>
            <p:cNvSpPr>
              <a:spLocks noChangeShapeType="1"/>
            </p:cNvSpPr>
            <p:nvPr/>
          </p:nvSpPr>
          <p:spPr bwMode="auto">
            <a:xfrm flipV="1">
              <a:off x="576" y="2352"/>
              <a:ext cx="336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6" name="Line 17"/>
            <p:cNvSpPr>
              <a:spLocks noChangeShapeType="1"/>
            </p:cNvSpPr>
            <p:nvPr/>
          </p:nvSpPr>
          <p:spPr bwMode="auto">
            <a:xfrm flipV="1">
              <a:off x="1968" y="2352"/>
              <a:ext cx="336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3276600" y="4419601"/>
            <a:ext cx="2667000" cy="2014538"/>
            <a:chOff x="2064" y="2352"/>
            <a:chExt cx="1680" cy="1269"/>
          </a:xfrm>
        </p:grpSpPr>
        <p:sp>
          <p:nvSpPr>
            <p:cNvPr id="1517587" name="Rectangle 19"/>
            <p:cNvSpPr>
              <a:spLocks noChangeArrowheads="1"/>
            </p:cNvSpPr>
            <p:nvPr/>
          </p:nvSpPr>
          <p:spPr bwMode="auto">
            <a:xfrm>
              <a:off x="2064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88" name="Rectangle 20"/>
            <p:cNvSpPr>
              <a:spLocks noChangeArrowheads="1"/>
            </p:cNvSpPr>
            <p:nvPr/>
          </p:nvSpPr>
          <p:spPr bwMode="auto">
            <a:xfrm>
              <a:off x="2448" y="2976"/>
              <a:ext cx="1296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1200</a:t>
              </a:r>
            </a:p>
          </p:txBody>
        </p:sp>
        <p:sp>
          <p:nvSpPr>
            <p:cNvPr id="68633" name="Line 21"/>
            <p:cNvSpPr>
              <a:spLocks noChangeShapeType="1"/>
            </p:cNvSpPr>
            <p:nvPr/>
          </p:nvSpPr>
          <p:spPr bwMode="auto">
            <a:xfrm>
              <a:off x="2064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4" name="Line 22"/>
            <p:cNvSpPr>
              <a:spLocks noChangeShapeType="1"/>
            </p:cNvSpPr>
            <p:nvPr/>
          </p:nvSpPr>
          <p:spPr bwMode="auto">
            <a:xfrm>
              <a:off x="2064" y="3360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5" name="Line 23"/>
            <p:cNvSpPr>
              <a:spLocks noChangeShapeType="1"/>
            </p:cNvSpPr>
            <p:nvPr/>
          </p:nvSpPr>
          <p:spPr bwMode="auto">
            <a:xfrm>
              <a:off x="3744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6" name="Text Box 24"/>
            <p:cNvSpPr txBox="1">
              <a:spLocks noChangeArrowheads="1"/>
            </p:cNvSpPr>
            <p:nvPr/>
          </p:nvSpPr>
          <p:spPr bwMode="auto">
            <a:xfrm>
              <a:off x="2784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1220</a:t>
              </a:r>
            </a:p>
          </p:txBody>
        </p:sp>
        <p:sp>
          <p:nvSpPr>
            <p:cNvPr id="68637" name="Line 25"/>
            <p:cNvSpPr>
              <a:spLocks noChangeShapeType="1"/>
            </p:cNvSpPr>
            <p:nvPr/>
          </p:nvSpPr>
          <p:spPr bwMode="auto">
            <a:xfrm flipH="1" flipV="1">
              <a:off x="2304" y="2352"/>
              <a:ext cx="14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8" name="Line 26"/>
            <p:cNvSpPr>
              <a:spLocks noChangeShapeType="1"/>
            </p:cNvSpPr>
            <p:nvPr/>
          </p:nvSpPr>
          <p:spPr bwMode="auto">
            <a:xfrm flipH="1" flipV="1">
              <a:off x="3600" y="2352"/>
              <a:ext cx="14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5715000" y="4419601"/>
            <a:ext cx="3048000" cy="2014538"/>
            <a:chOff x="3600" y="2352"/>
            <a:chExt cx="1920" cy="1269"/>
          </a:xfrm>
        </p:grpSpPr>
        <p:sp>
          <p:nvSpPr>
            <p:cNvPr id="1517596" name="Rectangle 28"/>
            <p:cNvSpPr>
              <a:spLocks noChangeArrowheads="1"/>
            </p:cNvSpPr>
            <p:nvPr/>
          </p:nvSpPr>
          <p:spPr bwMode="auto">
            <a:xfrm>
              <a:off x="3840" y="2976"/>
              <a:ext cx="384" cy="23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97" name="Rectangle 29"/>
            <p:cNvSpPr>
              <a:spLocks noChangeArrowheads="1"/>
            </p:cNvSpPr>
            <p:nvPr/>
          </p:nvSpPr>
          <p:spPr bwMode="auto">
            <a:xfrm>
              <a:off x="4224" y="2976"/>
              <a:ext cx="1296" cy="2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1300</a:t>
              </a:r>
            </a:p>
          </p:txBody>
        </p:sp>
        <p:sp>
          <p:nvSpPr>
            <p:cNvPr id="68625" name="Line 30"/>
            <p:cNvSpPr>
              <a:spLocks noChangeShapeType="1"/>
            </p:cNvSpPr>
            <p:nvPr/>
          </p:nvSpPr>
          <p:spPr bwMode="auto">
            <a:xfrm>
              <a:off x="3840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6" name="Line 31"/>
            <p:cNvSpPr>
              <a:spLocks noChangeShapeType="1"/>
            </p:cNvSpPr>
            <p:nvPr/>
          </p:nvSpPr>
          <p:spPr bwMode="auto">
            <a:xfrm>
              <a:off x="3840" y="3360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7" name="Line 32"/>
            <p:cNvSpPr>
              <a:spLocks noChangeShapeType="1"/>
            </p:cNvSpPr>
            <p:nvPr/>
          </p:nvSpPr>
          <p:spPr bwMode="auto">
            <a:xfrm>
              <a:off x="5520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8" name="Text Box 33"/>
            <p:cNvSpPr txBox="1">
              <a:spLocks noChangeArrowheads="1"/>
            </p:cNvSpPr>
            <p:nvPr/>
          </p:nvSpPr>
          <p:spPr bwMode="auto">
            <a:xfrm>
              <a:off x="4560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1320</a:t>
              </a:r>
            </a:p>
          </p:txBody>
        </p:sp>
        <p:sp>
          <p:nvSpPr>
            <p:cNvPr id="68629" name="Line 34"/>
            <p:cNvSpPr>
              <a:spLocks noChangeShapeType="1"/>
            </p:cNvSpPr>
            <p:nvPr/>
          </p:nvSpPr>
          <p:spPr bwMode="auto">
            <a:xfrm flipH="1" flipV="1">
              <a:off x="3600" y="2352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0" name="Line 35"/>
            <p:cNvSpPr>
              <a:spLocks noChangeShapeType="1"/>
            </p:cNvSpPr>
            <p:nvPr/>
          </p:nvSpPr>
          <p:spPr bwMode="auto">
            <a:xfrm flipH="1" flipV="1">
              <a:off x="4896" y="2352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sp>
        <p:nvSpPr>
          <p:cNvPr id="1517604" name="Line 36"/>
          <p:cNvSpPr>
            <a:spLocks noChangeShapeType="1"/>
          </p:cNvSpPr>
          <p:nvPr/>
        </p:nvSpPr>
        <p:spPr bwMode="auto">
          <a:xfrm>
            <a:off x="3657600" y="40386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517605" name="Line 37"/>
          <p:cNvSpPr>
            <a:spLocks noChangeShapeType="1"/>
          </p:cNvSpPr>
          <p:nvPr/>
        </p:nvSpPr>
        <p:spPr bwMode="auto">
          <a:xfrm>
            <a:off x="5715000" y="40386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3400" y="3200400"/>
            <a:ext cx="11042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ea typeface="Arial" charset="0"/>
                <a:cs typeface="Arial" charset="0"/>
              </a:rPr>
              <a:t>IP header</a:t>
            </a:r>
          </a:p>
        </p:txBody>
      </p:sp>
      <p:cxnSp>
        <p:nvCxnSpPr>
          <p:cNvPr id="7" name="Straight Arrow Connector 6"/>
          <p:cNvCxnSpPr/>
          <p:nvPr/>
        </p:nvCxnSpPr>
        <p:spPr bwMode="auto">
          <a:xfrm>
            <a:off x="990600" y="3581400"/>
            <a:ext cx="0" cy="5334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920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7604" grpId="0" animBg="1"/>
      <p:bldP spid="151760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reassemble?</a:t>
            </a:r>
            <a:endParaRPr lang="en-US" dirty="0"/>
          </a:p>
        </p:txBody>
      </p:sp>
      <p:sp>
        <p:nvSpPr>
          <p:cNvPr id="1517571" name="Rectangle 3"/>
          <p:cNvSpPr>
            <a:spLocks noChangeArrowheads="1"/>
          </p:cNvSpPr>
          <p:nvPr/>
        </p:nvSpPr>
        <p:spPr bwMode="auto">
          <a:xfrm>
            <a:off x="838200" y="2286000"/>
            <a:ext cx="609600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20</a:t>
            </a:r>
          </a:p>
        </p:txBody>
      </p:sp>
      <p:sp>
        <p:nvSpPr>
          <p:cNvPr id="68612" name="Line 4"/>
          <p:cNvSpPr>
            <a:spLocks noChangeShapeType="1"/>
          </p:cNvSpPr>
          <p:nvPr/>
        </p:nvSpPr>
        <p:spPr bwMode="auto">
          <a:xfrm>
            <a:off x="838200" y="2057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3" name="Line 5"/>
          <p:cNvSpPr>
            <a:spLocks noChangeShapeType="1"/>
          </p:cNvSpPr>
          <p:nvPr/>
        </p:nvSpPr>
        <p:spPr bwMode="auto">
          <a:xfrm>
            <a:off x="838200" y="2133600"/>
            <a:ext cx="6934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4" name="Line 6"/>
          <p:cNvSpPr>
            <a:spLocks noChangeShapeType="1"/>
          </p:cNvSpPr>
          <p:nvPr/>
        </p:nvSpPr>
        <p:spPr bwMode="auto">
          <a:xfrm>
            <a:off x="7772400" y="2057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5" name="Text Box 7"/>
          <p:cNvSpPr txBox="1">
            <a:spLocks noChangeArrowheads="1"/>
          </p:cNvSpPr>
          <p:nvPr/>
        </p:nvSpPr>
        <p:spPr bwMode="auto">
          <a:xfrm>
            <a:off x="4337050" y="1766888"/>
            <a:ext cx="75533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>
                <a:latin typeface="Arial" charset="0"/>
                <a:ea typeface="Arial" charset="0"/>
                <a:cs typeface="Arial" charset="0"/>
              </a:rPr>
              <a:t>4000</a:t>
            </a:r>
          </a:p>
        </p:txBody>
      </p:sp>
      <p:sp>
        <p:nvSpPr>
          <p:cNvPr id="1517576" name="Rectangle 8"/>
          <p:cNvSpPr>
            <a:spLocks noChangeArrowheads="1"/>
          </p:cNvSpPr>
          <p:nvPr/>
        </p:nvSpPr>
        <p:spPr bwMode="auto">
          <a:xfrm>
            <a:off x="1447800" y="2286000"/>
            <a:ext cx="63246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>
                <a:ea typeface="Arial" charset="0"/>
                <a:cs typeface="Arial" charset="0"/>
              </a:rPr>
              <a:t>3980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304800" y="2667001"/>
            <a:ext cx="3352800" cy="2014538"/>
            <a:chOff x="192" y="2352"/>
            <a:chExt cx="2112" cy="1269"/>
          </a:xfrm>
        </p:grpSpPr>
        <p:sp>
          <p:nvSpPr>
            <p:cNvPr id="1517578" name="Rectangle 10"/>
            <p:cNvSpPr>
              <a:spLocks noChangeArrowheads="1"/>
            </p:cNvSpPr>
            <p:nvPr/>
          </p:nvSpPr>
          <p:spPr bwMode="auto">
            <a:xfrm>
              <a:off x="192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79" name="Rectangle 11"/>
            <p:cNvSpPr>
              <a:spLocks noChangeArrowheads="1"/>
            </p:cNvSpPr>
            <p:nvPr/>
          </p:nvSpPr>
          <p:spPr bwMode="auto">
            <a:xfrm>
              <a:off x="576" y="2976"/>
              <a:ext cx="1392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1480</a:t>
              </a:r>
            </a:p>
          </p:txBody>
        </p:sp>
        <p:sp>
          <p:nvSpPr>
            <p:cNvPr id="68641" name="Line 12"/>
            <p:cNvSpPr>
              <a:spLocks noChangeShapeType="1"/>
            </p:cNvSpPr>
            <p:nvPr/>
          </p:nvSpPr>
          <p:spPr bwMode="auto">
            <a:xfrm>
              <a:off x="192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2" name="Line 13"/>
            <p:cNvSpPr>
              <a:spLocks noChangeShapeType="1"/>
            </p:cNvSpPr>
            <p:nvPr/>
          </p:nvSpPr>
          <p:spPr bwMode="auto">
            <a:xfrm>
              <a:off x="192" y="3360"/>
              <a:ext cx="17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3" name="Line 14"/>
            <p:cNvSpPr>
              <a:spLocks noChangeShapeType="1"/>
            </p:cNvSpPr>
            <p:nvPr/>
          </p:nvSpPr>
          <p:spPr bwMode="auto">
            <a:xfrm>
              <a:off x="1968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4" name="Text Box 15"/>
            <p:cNvSpPr txBox="1">
              <a:spLocks noChangeArrowheads="1"/>
            </p:cNvSpPr>
            <p:nvPr/>
          </p:nvSpPr>
          <p:spPr bwMode="auto">
            <a:xfrm>
              <a:off x="912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1500</a:t>
              </a:r>
            </a:p>
          </p:txBody>
        </p:sp>
        <p:sp>
          <p:nvSpPr>
            <p:cNvPr id="68645" name="Line 16"/>
            <p:cNvSpPr>
              <a:spLocks noChangeShapeType="1"/>
            </p:cNvSpPr>
            <p:nvPr/>
          </p:nvSpPr>
          <p:spPr bwMode="auto">
            <a:xfrm flipV="1">
              <a:off x="576" y="2352"/>
              <a:ext cx="336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6" name="Line 17"/>
            <p:cNvSpPr>
              <a:spLocks noChangeShapeType="1"/>
            </p:cNvSpPr>
            <p:nvPr/>
          </p:nvSpPr>
          <p:spPr bwMode="auto">
            <a:xfrm flipV="1">
              <a:off x="1968" y="2352"/>
              <a:ext cx="336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3276600" y="2667001"/>
            <a:ext cx="2667000" cy="2014538"/>
            <a:chOff x="2064" y="2352"/>
            <a:chExt cx="1680" cy="1269"/>
          </a:xfrm>
        </p:grpSpPr>
        <p:sp>
          <p:nvSpPr>
            <p:cNvPr id="1517587" name="Rectangle 19"/>
            <p:cNvSpPr>
              <a:spLocks noChangeArrowheads="1"/>
            </p:cNvSpPr>
            <p:nvPr/>
          </p:nvSpPr>
          <p:spPr bwMode="auto">
            <a:xfrm>
              <a:off x="2064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88" name="Rectangle 20"/>
            <p:cNvSpPr>
              <a:spLocks noChangeArrowheads="1"/>
            </p:cNvSpPr>
            <p:nvPr/>
          </p:nvSpPr>
          <p:spPr bwMode="auto">
            <a:xfrm>
              <a:off x="2448" y="2976"/>
              <a:ext cx="1296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1200</a:t>
              </a:r>
            </a:p>
          </p:txBody>
        </p:sp>
        <p:sp>
          <p:nvSpPr>
            <p:cNvPr id="68633" name="Line 21"/>
            <p:cNvSpPr>
              <a:spLocks noChangeShapeType="1"/>
            </p:cNvSpPr>
            <p:nvPr/>
          </p:nvSpPr>
          <p:spPr bwMode="auto">
            <a:xfrm>
              <a:off x="2064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4" name="Line 22"/>
            <p:cNvSpPr>
              <a:spLocks noChangeShapeType="1"/>
            </p:cNvSpPr>
            <p:nvPr/>
          </p:nvSpPr>
          <p:spPr bwMode="auto">
            <a:xfrm>
              <a:off x="2064" y="3360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5" name="Line 23"/>
            <p:cNvSpPr>
              <a:spLocks noChangeShapeType="1"/>
            </p:cNvSpPr>
            <p:nvPr/>
          </p:nvSpPr>
          <p:spPr bwMode="auto">
            <a:xfrm>
              <a:off x="3744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6" name="Text Box 24"/>
            <p:cNvSpPr txBox="1">
              <a:spLocks noChangeArrowheads="1"/>
            </p:cNvSpPr>
            <p:nvPr/>
          </p:nvSpPr>
          <p:spPr bwMode="auto">
            <a:xfrm>
              <a:off x="2784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1220</a:t>
              </a:r>
            </a:p>
          </p:txBody>
        </p:sp>
        <p:sp>
          <p:nvSpPr>
            <p:cNvPr id="68637" name="Line 25"/>
            <p:cNvSpPr>
              <a:spLocks noChangeShapeType="1"/>
            </p:cNvSpPr>
            <p:nvPr/>
          </p:nvSpPr>
          <p:spPr bwMode="auto">
            <a:xfrm flipH="1" flipV="1">
              <a:off x="2304" y="2352"/>
              <a:ext cx="14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8" name="Line 26"/>
            <p:cNvSpPr>
              <a:spLocks noChangeShapeType="1"/>
            </p:cNvSpPr>
            <p:nvPr/>
          </p:nvSpPr>
          <p:spPr bwMode="auto">
            <a:xfrm flipH="1" flipV="1">
              <a:off x="3600" y="2352"/>
              <a:ext cx="14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5715000" y="2667001"/>
            <a:ext cx="3048000" cy="2014538"/>
            <a:chOff x="3600" y="2352"/>
            <a:chExt cx="1920" cy="1269"/>
          </a:xfrm>
        </p:grpSpPr>
        <p:sp>
          <p:nvSpPr>
            <p:cNvPr id="1517596" name="Rectangle 28"/>
            <p:cNvSpPr>
              <a:spLocks noChangeArrowheads="1"/>
            </p:cNvSpPr>
            <p:nvPr/>
          </p:nvSpPr>
          <p:spPr bwMode="auto">
            <a:xfrm>
              <a:off x="3840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97" name="Rectangle 29"/>
            <p:cNvSpPr>
              <a:spLocks noChangeArrowheads="1"/>
            </p:cNvSpPr>
            <p:nvPr/>
          </p:nvSpPr>
          <p:spPr bwMode="auto">
            <a:xfrm>
              <a:off x="4224" y="2976"/>
              <a:ext cx="1296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1300</a:t>
              </a:r>
            </a:p>
          </p:txBody>
        </p:sp>
        <p:sp>
          <p:nvSpPr>
            <p:cNvPr id="68625" name="Line 30"/>
            <p:cNvSpPr>
              <a:spLocks noChangeShapeType="1"/>
            </p:cNvSpPr>
            <p:nvPr/>
          </p:nvSpPr>
          <p:spPr bwMode="auto">
            <a:xfrm>
              <a:off x="3840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6" name="Line 31"/>
            <p:cNvSpPr>
              <a:spLocks noChangeShapeType="1"/>
            </p:cNvSpPr>
            <p:nvPr/>
          </p:nvSpPr>
          <p:spPr bwMode="auto">
            <a:xfrm>
              <a:off x="3840" y="3360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7" name="Line 32"/>
            <p:cNvSpPr>
              <a:spLocks noChangeShapeType="1"/>
            </p:cNvSpPr>
            <p:nvPr/>
          </p:nvSpPr>
          <p:spPr bwMode="auto">
            <a:xfrm>
              <a:off x="5520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8" name="Text Box 33"/>
            <p:cNvSpPr txBox="1">
              <a:spLocks noChangeArrowheads="1"/>
            </p:cNvSpPr>
            <p:nvPr/>
          </p:nvSpPr>
          <p:spPr bwMode="auto">
            <a:xfrm>
              <a:off x="4560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1320</a:t>
              </a:r>
            </a:p>
          </p:txBody>
        </p:sp>
        <p:sp>
          <p:nvSpPr>
            <p:cNvPr id="68629" name="Line 34"/>
            <p:cNvSpPr>
              <a:spLocks noChangeShapeType="1"/>
            </p:cNvSpPr>
            <p:nvPr/>
          </p:nvSpPr>
          <p:spPr bwMode="auto">
            <a:xfrm flipH="1" flipV="1">
              <a:off x="3600" y="2352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0" name="Line 35"/>
            <p:cNvSpPr>
              <a:spLocks noChangeShapeType="1"/>
            </p:cNvSpPr>
            <p:nvPr/>
          </p:nvSpPr>
          <p:spPr bwMode="auto">
            <a:xfrm flipH="1" flipV="1">
              <a:off x="4896" y="2352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sp>
        <p:nvSpPr>
          <p:cNvPr id="1517604" name="Line 36"/>
          <p:cNvSpPr>
            <a:spLocks noChangeShapeType="1"/>
          </p:cNvSpPr>
          <p:nvPr/>
        </p:nvSpPr>
        <p:spPr bwMode="auto">
          <a:xfrm>
            <a:off x="3657600" y="22860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517605" name="Line 37"/>
          <p:cNvSpPr>
            <a:spLocks noChangeShapeType="1"/>
          </p:cNvSpPr>
          <p:nvPr/>
        </p:nvSpPr>
        <p:spPr bwMode="auto">
          <a:xfrm>
            <a:off x="5715000" y="22860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3400" y="1447800"/>
            <a:ext cx="11042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ea typeface="Arial" charset="0"/>
                <a:cs typeface="Arial" charset="0"/>
              </a:rPr>
              <a:t>IP header</a:t>
            </a:r>
          </a:p>
        </p:txBody>
      </p:sp>
      <p:cxnSp>
        <p:nvCxnSpPr>
          <p:cNvPr id="7" name="Straight Arrow Connector 6"/>
          <p:cNvCxnSpPr/>
          <p:nvPr/>
        </p:nvCxnSpPr>
        <p:spPr bwMode="auto">
          <a:xfrm>
            <a:off x="990600" y="1828800"/>
            <a:ext cx="0" cy="5334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44" name="Rectangle 3"/>
          <p:cNvSpPr>
            <a:spLocks noChangeArrowheads="1"/>
          </p:cNvSpPr>
          <p:nvPr/>
        </p:nvSpPr>
        <p:spPr bwMode="auto">
          <a:xfrm>
            <a:off x="914400" y="5257800"/>
            <a:ext cx="609600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20</a:t>
            </a:r>
          </a:p>
        </p:txBody>
      </p:sp>
      <p:sp>
        <p:nvSpPr>
          <p:cNvPr id="45" name="Line 4"/>
          <p:cNvSpPr>
            <a:spLocks noChangeShapeType="1"/>
          </p:cNvSpPr>
          <p:nvPr/>
        </p:nvSpPr>
        <p:spPr bwMode="auto">
          <a:xfrm>
            <a:off x="914400" y="50292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6" name="Line 5"/>
          <p:cNvSpPr>
            <a:spLocks noChangeShapeType="1"/>
          </p:cNvSpPr>
          <p:nvPr/>
        </p:nvSpPr>
        <p:spPr bwMode="auto">
          <a:xfrm>
            <a:off x="914400" y="5014912"/>
            <a:ext cx="6934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7" name="Line 6"/>
          <p:cNvSpPr>
            <a:spLocks noChangeShapeType="1"/>
          </p:cNvSpPr>
          <p:nvPr/>
        </p:nvSpPr>
        <p:spPr bwMode="auto">
          <a:xfrm>
            <a:off x="7848600" y="50292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9" name="Rectangle 8"/>
          <p:cNvSpPr>
            <a:spLocks noChangeArrowheads="1"/>
          </p:cNvSpPr>
          <p:nvPr/>
        </p:nvSpPr>
        <p:spPr bwMode="auto">
          <a:xfrm>
            <a:off x="1524000" y="5257800"/>
            <a:ext cx="63246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endParaRPr lang="en-US" dirty="0">
              <a:ea typeface="Arial" charset="0"/>
              <a:cs typeface="Arial" charset="0"/>
            </a:endParaRPr>
          </a:p>
        </p:txBody>
      </p:sp>
      <p:sp>
        <p:nvSpPr>
          <p:cNvPr id="50" name="Line 36"/>
          <p:cNvSpPr>
            <a:spLocks noChangeShapeType="1"/>
          </p:cNvSpPr>
          <p:nvPr/>
        </p:nvSpPr>
        <p:spPr bwMode="auto">
          <a:xfrm>
            <a:off x="3733800" y="52578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51" name="Line 37"/>
          <p:cNvSpPr>
            <a:spLocks noChangeShapeType="1"/>
          </p:cNvSpPr>
          <p:nvPr/>
        </p:nvSpPr>
        <p:spPr bwMode="auto">
          <a:xfrm>
            <a:off x="5791200" y="52578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54" name="Rectangle 3"/>
          <p:cNvSpPr>
            <a:spLocks noChangeArrowheads="1"/>
          </p:cNvSpPr>
          <p:nvPr/>
        </p:nvSpPr>
        <p:spPr bwMode="auto">
          <a:xfrm>
            <a:off x="1447800" y="2286000"/>
            <a:ext cx="609600" cy="381000"/>
          </a:xfrm>
          <a:prstGeom prst="rect">
            <a:avLst/>
          </a:prstGeom>
          <a:solidFill>
            <a:srgbClr val="D3A600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TCP</a:t>
            </a:r>
          </a:p>
        </p:txBody>
      </p:sp>
      <p:sp>
        <p:nvSpPr>
          <p:cNvPr id="55" name="Rectangle 3"/>
          <p:cNvSpPr>
            <a:spLocks noChangeArrowheads="1"/>
          </p:cNvSpPr>
          <p:nvPr/>
        </p:nvSpPr>
        <p:spPr bwMode="auto">
          <a:xfrm>
            <a:off x="914400" y="3657600"/>
            <a:ext cx="609600" cy="381000"/>
          </a:xfrm>
          <a:prstGeom prst="rect">
            <a:avLst/>
          </a:prstGeom>
          <a:solidFill>
            <a:srgbClr val="D3A600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TCP</a:t>
            </a:r>
          </a:p>
        </p:txBody>
      </p:sp>
      <p:sp>
        <p:nvSpPr>
          <p:cNvPr id="56" name="Rectangle 3"/>
          <p:cNvSpPr>
            <a:spLocks noChangeArrowheads="1"/>
          </p:cNvSpPr>
          <p:nvPr/>
        </p:nvSpPr>
        <p:spPr bwMode="auto">
          <a:xfrm>
            <a:off x="1524000" y="5257800"/>
            <a:ext cx="609600" cy="381000"/>
          </a:xfrm>
          <a:prstGeom prst="rect">
            <a:avLst/>
          </a:prstGeom>
          <a:solidFill>
            <a:srgbClr val="D3A600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TCP</a:t>
            </a:r>
          </a:p>
        </p:txBody>
      </p:sp>
      <p:sp>
        <p:nvSpPr>
          <p:cNvPr id="57" name="Rectangle 3"/>
          <p:cNvSpPr>
            <a:spLocks noChangeArrowheads="1"/>
          </p:cNvSpPr>
          <p:nvPr/>
        </p:nvSpPr>
        <p:spPr bwMode="auto">
          <a:xfrm>
            <a:off x="2057400" y="2286000"/>
            <a:ext cx="762000" cy="381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HTTP</a:t>
            </a:r>
          </a:p>
        </p:txBody>
      </p:sp>
      <p:sp>
        <p:nvSpPr>
          <p:cNvPr id="58" name="Rectangle 3"/>
          <p:cNvSpPr>
            <a:spLocks noChangeArrowheads="1"/>
          </p:cNvSpPr>
          <p:nvPr/>
        </p:nvSpPr>
        <p:spPr bwMode="auto">
          <a:xfrm>
            <a:off x="1524000" y="3657600"/>
            <a:ext cx="762000" cy="381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HTTP</a:t>
            </a:r>
          </a:p>
        </p:txBody>
      </p:sp>
      <p:sp>
        <p:nvSpPr>
          <p:cNvPr id="59" name="Rectangle 3"/>
          <p:cNvSpPr>
            <a:spLocks noChangeArrowheads="1"/>
          </p:cNvSpPr>
          <p:nvPr/>
        </p:nvSpPr>
        <p:spPr bwMode="auto">
          <a:xfrm>
            <a:off x="2133600" y="5257800"/>
            <a:ext cx="762000" cy="381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HTTP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095" y="5881687"/>
            <a:ext cx="8819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00FF"/>
                </a:solidFill>
                <a:ea typeface="Arial" charset="0"/>
                <a:cs typeface="Arial" charset="0"/>
              </a:rPr>
              <a:t>Must reassemble before sending packet to higher layers!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1060C4-1240-9148-AA3F-EDFCE03A1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853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7571" grpId="0" animBg="1"/>
      <p:bldP spid="68612" grpId="0" animBg="1"/>
      <p:bldP spid="68613" grpId="0" animBg="1"/>
      <p:bldP spid="68614" grpId="0" animBg="1"/>
      <p:bldP spid="68615" grpId="0"/>
      <p:bldP spid="1517576" grpId="0" animBg="1"/>
      <p:bldP spid="1517604" grpId="0" animBg="1"/>
      <p:bldP spid="1517605" grpId="0" animBg="1"/>
      <p:bldP spid="5" grpId="0"/>
      <p:bldP spid="44" grpId="0" animBg="1"/>
      <p:bldP spid="45" grpId="0" animBg="1"/>
      <p:bldP spid="46" grpId="0" animBg="1"/>
      <p:bldP spid="47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few considerations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to reassemble?</a:t>
            </a:r>
          </a:p>
          <a:p>
            <a:r>
              <a:rPr lang="en-US" dirty="0"/>
              <a:t>Fragments can get lost</a:t>
            </a:r>
          </a:p>
          <a:p>
            <a:r>
              <a:rPr lang="en-US" dirty="0"/>
              <a:t>Fragments can follow different paths </a:t>
            </a:r>
          </a:p>
          <a:p>
            <a:r>
              <a:rPr lang="en-US" dirty="0"/>
              <a:t>Fragments can get fragmented again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14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 should reassembly occur?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Classic case of E2E principle</a:t>
            </a:r>
          </a:p>
          <a:p>
            <a:r>
              <a:rPr lang="en-US" dirty="0"/>
              <a:t>At next-hop router imposes burden on network</a:t>
            </a:r>
          </a:p>
          <a:p>
            <a:pPr lvl="1"/>
            <a:r>
              <a:rPr lang="en-US" dirty="0"/>
              <a:t>Complicated reassembly algorithm</a:t>
            </a:r>
          </a:p>
          <a:p>
            <a:pPr lvl="1"/>
            <a:r>
              <a:rPr lang="en-US" dirty="0"/>
              <a:t>Must hold onto fragments/state</a:t>
            </a:r>
          </a:p>
          <a:p>
            <a:r>
              <a:rPr lang="en-US" dirty="0"/>
              <a:t>Any other router may not work</a:t>
            </a:r>
          </a:p>
          <a:p>
            <a:pPr lvl="1"/>
            <a:r>
              <a:rPr lang="en-US" dirty="0"/>
              <a:t>Fragments may take different paths</a:t>
            </a:r>
          </a:p>
          <a:p>
            <a:r>
              <a:rPr lang="en-US" dirty="0"/>
              <a:t>Little benefit, large cost for network reassembly</a:t>
            </a:r>
          </a:p>
          <a:p>
            <a:r>
              <a:rPr lang="en-US" dirty="0"/>
              <a:t>Hence, reassembly is done at the destination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295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Reassembly: What fields?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 a way to identify fragments of the packet</a:t>
            </a:r>
            <a:endParaRPr lang="en-US" dirty="0">
              <a:sym typeface="Wingdings"/>
            </a:endParaRPr>
          </a:p>
          <a:p>
            <a:pPr lvl="1"/>
            <a:r>
              <a:rPr lang="en-US" dirty="0">
                <a:sym typeface="Wingdings"/>
              </a:rPr>
              <a:t>Introduce an identifier</a:t>
            </a:r>
            <a:endParaRPr lang="en-US" dirty="0"/>
          </a:p>
          <a:p>
            <a:r>
              <a:rPr lang="en-US" dirty="0"/>
              <a:t>Fragments can get lost</a:t>
            </a:r>
          </a:p>
          <a:p>
            <a:pPr lvl="1"/>
            <a:r>
              <a:rPr lang="en-US" dirty="0">
                <a:sym typeface="Wingdings"/>
              </a:rPr>
              <a:t>N</a:t>
            </a:r>
            <a:r>
              <a:rPr lang="en-US" sz="2400" dirty="0">
                <a:sym typeface="Wingdings"/>
              </a:rPr>
              <a:t>eed some form of sequence number or offset</a:t>
            </a:r>
          </a:p>
          <a:p>
            <a:r>
              <a:rPr lang="en-US" dirty="0">
                <a:sym typeface="Wingdings"/>
              </a:rPr>
              <a:t>Sequence numbers / offset</a:t>
            </a:r>
          </a:p>
          <a:p>
            <a:pPr lvl="1"/>
            <a:r>
              <a:rPr lang="en-US" dirty="0">
                <a:sym typeface="Wingdings"/>
              </a:rPr>
              <a:t>How do I know when I have them all? (need max </a:t>
            </a:r>
            <a:r>
              <a:rPr lang="en-US" dirty="0" err="1">
                <a:sym typeface="Wingdings"/>
              </a:rPr>
              <a:t>seq</a:t>
            </a:r>
            <a:r>
              <a:rPr lang="en-US" dirty="0">
                <a:sym typeface="Wingdings"/>
              </a:rPr>
              <a:t># / flag)</a:t>
            </a:r>
          </a:p>
          <a:p>
            <a:pPr lvl="1"/>
            <a:r>
              <a:rPr lang="en-US" dirty="0">
                <a:sym typeface="Wingdings"/>
              </a:rPr>
              <a:t>What if a fragment gets re-fragmented?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605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IPv4’s fragmentation fields</a:t>
            </a:r>
            <a:endParaRPr lang="en-US" dirty="0"/>
          </a:p>
        </p:txBody>
      </p:sp>
      <p:sp>
        <p:nvSpPr>
          <p:cNvPr id="9512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Identifier</a:t>
            </a:r>
            <a:r>
              <a:rPr lang="en-US" dirty="0"/>
              <a:t>: which fragments belong together</a:t>
            </a:r>
          </a:p>
          <a:p>
            <a:r>
              <a:rPr lang="en-US" dirty="0">
                <a:solidFill>
                  <a:srgbClr val="0000FF"/>
                </a:solidFill>
              </a:rPr>
              <a:t>Flags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Reserved: ignore</a:t>
            </a:r>
          </a:p>
          <a:p>
            <a:pPr lvl="1"/>
            <a:r>
              <a:rPr lang="en-US" dirty="0"/>
              <a:t>DF: don’t fragment </a:t>
            </a:r>
          </a:p>
          <a:p>
            <a:pPr lvl="2"/>
            <a:r>
              <a:rPr lang="en-US" dirty="0"/>
              <a:t>May trigger error message back to sender</a:t>
            </a:r>
          </a:p>
          <a:p>
            <a:pPr lvl="1"/>
            <a:r>
              <a:rPr lang="en-US" dirty="0"/>
              <a:t>MF: more fragments coming</a:t>
            </a:r>
          </a:p>
          <a:p>
            <a:r>
              <a:rPr lang="en-US" dirty="0">
                <a:solidFill>
                  <a:srgbClr val="0000FF"/>
                </a:solidFill>
              </a:rPr>
              <a:t>Offset</a:t>
            </a:r>
            <a:r>
              <a:rPr lang="en-US" dirty="0"/>
              <a:t>: portion of original payload this fragment contains</a:t>
            </a:r>
          </a:p>
          <a:p>
            <a:pPr lvl="1"/>
            <a:r>
              <a:rPr lang="en-US" dirty="0"/>
              <a:t> In 8-byte units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5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299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packet structure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18288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V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ersion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25146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Len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3200400" y="15240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ToS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4572000" y="15240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Total Length (Bytes)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1828800" y="22098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Identification</a:t>
            </a:r>
          </a:p>
        </p:txBody>
      </p:sp>
      <p:sp>
        <p:nvSpPr>
          <p:cNvPr id="11" name="Rectangle 10"/>
          <p:cNvSpPr/>
          <p:nvPr/>
        </p:nvSpPr>
        <p:spPr bwMode="auto">
          <a:xfrm>
            <a:off x="5177881" y="2209800"/>
            <a:ext cx="2133601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13-bit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Fragment Offset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4572000" y="2209800"/>
            <a:ext cx="605881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Flags</a:t>
            </a:r>
          </a:p>
        </p:txBody>
      </p:sp>
      <p:sp>
        <p:nvSpPr>
          <p:cNvPr id="13" name="Rectangle 12"/>
          <p:cNvSpPr/>
          <p:nvPr/>
        </p:nvSpPr>
        <p:spPr bwMode="auto">
          <a:xfrm>
            <a:off x="4572000" y="28956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 Checksum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4" name="Rectangle 13"/>
          <p:cNvSpPr/>
          <p:nvPr/>
        </p:nvSpPr>
        <p:spPr bwMode="auto">
          <a:xfrm>
            <a:off x="31966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Protocol</a:t>
            </a:r>
          </a:p>
        </p:txBody>
      </p:sp>
      <p:sp>
        <p:nvSpPr>
          <p:cNvPr id="15" name="Rectangle 14"/>
          <p:cNvSpPr/>
          <p:nvPr/>
        </p:nvSpPr>
        <p:spPr bwMode="auto">
          <a:xfrm>
            <a:off x="18250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TTL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1825082" y="35814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Source IP Address</a:t>
            </a:r>
          </a:p>
        </p:txBody>
      </p:sp>
      <p:sp>
        <p:nvSpPr>
          <p:cNvPr id="17" name="Rectangle 16"/>
          <p:cNvSpPr/>
          <p:nvPr/>
        </p:nvSpPr>
        <p:spPr bwMode="auto">
          <a:xfrm>
            <a:off x="1828800" y="42672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Destination IP Address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1828800" y="49530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Options</a:t>
            </a:r>
            <a:r>
              <a:rPr kumimoji="0" lang="en-US" sz="16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(if any)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0" name="Rectangle 19"/>
          <p:cNvSpPr/>
          <p:nvPr/>
        </p:nvSpPr>
        <p:spPr bwMode="auto">
          <a:xfrm>
            <a:off x="1806794" y="1505712"/>
            <a:ext cx="5522976" cy="4151376"/>
          </a:xfrm>
          <a:prstGeom prst="rect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1" name="Rectangle 20"/>
          <p:cNvSpPr/>
          <p:nvPr/>
        </p:nvSpPr>
        <p:spPr bwMode="auto">
          <a:xfrm>
            <a:off x="1828800" y="2209800"/>
            <a:ext cx="5482682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FF"/>
                </a:solidFill>
              </a:rPr>
              <a:t>For Fragmentation</a:t>
            </a:r>
            <a:endParaRPr kumimoji="0" lang="en-US" sz="1600" i="0" u="none" strike="noStrike" cap="none" normalizeH="0" baseline="0" dirty="0">
              <a:ln>
                <a:noFill/>
              </a:ln>
              <a:solidFill>
                <a:srgbClr val="0000FF"/>
              </a:solidFill>
              <a:effectLst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77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this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Fragment without MF set (last fragment)</a:t>
            </a:r>
          </a:p>
          <a:p>
            <a:pPr lvl="1"/>
            <a:r>
              <a:rPr lang="en-US" dirty="0"/>
              <a:t>Tells host which are the last bits in original payload</a:t>
            </a:r>
          </a:p>
          <a:p>
            <a:r>
              <a:rPr lang="en-US" dirty="0"/>
              <a:t>All other fragments fill in holes</a:t>
            </a:r>
          </a:p>
          <a:p>
            <a:r>
              <a:rPr lang="en-US" dirty="0"/>
              <a:t>Can tell when holes are filled, regardless of order</a:t>
            </a:r>
          </a:p>
          <a:p>
            <a:pPr lvl="1"/>
            <a:r>
              <a:rPr lang="en-US" dirty="0"/>
              <a:t>Use offset field</a:t>
            </a:r>
          </a:p>
          <a:p>
            <a:r>
              <a:rPr lang="en-US" dirty="0"/>
              <a:t>Q: why use a byte-offset for fragments rather than numbering each fragment?</a:t>
            </a:r>
          </a:p>
          <a:p>
            <a:pPr lvl="1"/>
            <a:r>
              <a:rPr lang="en-US" dirty="0"/>
              <a:t>Allows further fragmentation of fragments </a:t>
            </a:r>
          </a:p>
          <a:p>
            <a:pPr lvl="1"/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045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fragmentation (contd.</a:t>
            </a:r>
            <a:r>
              <a:rPr lang="en-US" altLang="ja-JP"/>
              <a:t>)</a:t>
            </a:r>
            <a:endParaRPr lang="en-US" dirty="0"/>
          </a:p>
        </p:txBody>
      </p:sp>
      <p:sp>
        <p:nvSpPr>
          <p:cNvPr id="68622" name="Rectangle 38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Packet split into 3 pieces</a:t>
            </a:r>
          </a:p>
          <a:p>
            <a:r>
              <a:rPr lang="en-US"/>
              <a:t>Example:</a:t>
            </a:r>
            <a:endParaRPr lang="en-US" dirty="0"/>
          </a:p>
        </p:txBody>
      </p:sp>
      <p:sp>
        <p:nvSpPr>
          <p:cNvPr id="1517571" name="Rectangle 3"/>
          <p:cNvSpPr>
            <a:spLocks noChangeArrowheads="1"/>
          </p:cNvSpPr>
          <p:nvPr/>
        </p:nvSpPr>
        <p:spPr bwMode="auto">
          <a:xfrm>
            <a:off x="838200" y="3352800"/>
            <a:ext cx="609600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dirty="0">
                <a:ea typeface="Arial" charset="0"/>
                <a:cs typeface="Arial" charset="0"/>
              </a:rPr>
              <a:t>20</a:t>
            </a:r>
          </a:p>
        </p:txBody>
      </p:sp>
      <p:sp>
        <p:nvSpPr>
          <p:cNvPr id="68612" name="Line 4"/>
          <p:cNvSpPr>
            <a:spLocks noChangeShapeType="1"/>
          </p:cNvSpPr>
          <p:nvPr/>
        </p:nvSpPr>
        <p:spPr bwMode="auto">
          <a:xfrm>
            <a:off x="838200" y="31242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3" name="Line 5"/>
          <p:cNvSpPr>
            <a:spLocks noChangeShapeType="1"/>
          </p:cNvSpPr>
          <p:nvPr/>
        </p:nvSpPr>
        <p:spPr bwMode="auto">
          <a:xfrm>
            <a:off x="838200" y="3200400"/>
            <a:ext cx="6934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4" name="Line 6"/>
          <p:cNvSpPr>
            <a:spLocks noChangeShapeType="1"/>
          </p:cNvSpPr>
          <p:nvPr/>
        </p:nvSpPr>
        <p:spPr bwMode="auto">
          <a:xfrm>
            <a:off x="7772400" y="31242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68615" name="Text Box 7"/>
          <p:cNvSpPr txBox="1">
            <a:spLocks noChangeArrowheads="1"/>
          </p:cNvSpPr>
          <p:nvPr/>
        </p:nvSpPr>
        <p:spPr bwMode="auto">
          <a:xfrm>
            <a:off x="4337050" y="2833688"/>
            <a:ext cx="75533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>
                <a:latin typeface="Arial" charset="0"/>
                <a:ea typeface="Arial" charset="0"/>
                <a:cs typeface="Arial" charset="0"/>
              </a:rPr>
              <a:t>4000</a:t>
            </a:r>
          </a:p>
        </p:txBody>
      </p:sp>
      <p:sp>
        <p:nvSpPr>
          <p:cNvPr id="1517576" name="Rectangle 8"/>
          <p:cNvSpPr>
            <a:spLocks noChangeArrowheads="1"/>
          </p:cNvSpPr>
          <p:nvPr/>
        </p:nvSpPr>
        <p:spPr bwMode="auto">
          <a:xfrm>
            <a:off x="1447800" y="3352800"/>
            <a:ext cx="63246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>
                <a:ea typeface="Arial" charset="0"/>
                <a:cs typeface="Arial" charset="0"/>
              </a:rPr>
              <a:t>3980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304800" y="3733801"/>
            <a:ext cx="3352800" cy="2014538"/>
            <a:chOff x="192" y="2352"/>
            <a:chExt cx="2112" cy="1269"/>
          </a:xfrm>
        </p:grpSpPr>
        <p:sp>
          <p:nvSpPr>
            <p:cNvPr id="1517578" name="Rectangle 10"/>
            <p:cNvSpPr>
              <a:spLocks noChangeArrowheads="1"/>
            </p:cNvSpPr>
            <p:nvPr/>
          </p:nvSpPr>
          <p:spPr bwMode="auto">
            <a:xfrm>
              <a:off x="192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79" name="Rectangle 11"/>
            <p:cNvSpPr>
              <a:spLocks noChangeArrowheads="1"/>
            </p:cNvSpPr>
            <p:nvPr/>
          </p:nvSpPr>
          <p:spPr bwMode="auto">
            <a:xfrm>
              <a:off x="576" y="2976"/>
              <a:ext cx="1392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1480</a:t>
              </a:r>
            </a:p>
          </p:txBody>
        </p:sp>
        <p:sp>
          <p:nvSpPr>
            <p:cNvPr id="68641" name="Line 12"/>
            <p:cNvSpPr>
              <a:spLocks noChangeShapeType="1"/>
            </p:cNvSpPr>
            <p:nvPr/>
          </p:nvSpPr>
          <p:spPr bwMode="auto">
            <a:xfrm>
              <a:off x="192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2" name="Line 13"/>
            <p:cNvSpPr>
              <a:spLocks noChangeShapeType="1"/>
            </p:cNvSpPr>
            <p:nvPr/>
          </p:nvSpPr>
          <p:spPr bwMode="auto">
            <a:xfrm>
              <a:off x="192" y="3360"/>
              <a:ext cx="17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3" name="Line 14"/>
            <p:cNvSpPr>
              <a:spLocks noChangeShapeType="1"/>
            </p:cNvSpPr>
            <p:nvPr/>
          </p:nvSpPr>
          <p:spPr bwMode="auto">
            <a:xfrm>
              <a:off x="1968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4" name="Text Box 15"/>
            <p:cNvSpPr txBox="1">
              <a:spLocks noChangeArrowheads="1"/>
            </p:cNvSpPr>
            <p:nvPr/>
          </p:nvSpPr>
          <p:spPr bwMode="auto">
            <a:xfrm>
              <a:off x="912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1500</a:t>
              </a:r>
            </a:p>
          </p:txBody>
        </p:sp>
        <p:sp>
          <p:nvSpPr>
            <p:cNvPr id="68645" name="Line 16"/>
            <p:cNvSpPr>
              <a:spLocks noChangeShapeType="1"/>
            </p:cNvSpPr>
            <p:nvPr/>
          </p:nvSpPr>
          <p:spPr bwMode="auto">
            <a:xfrm flipV="1">
              <a:off x="576" y="2352"/>
              <a:ext cx="336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46" name="Line 17"/>
            <p:cNvSpPr>
              <a:spLocks noChangeShapeType="1"/>
            </p:cNvSpPr>
            <p:nvPr/>
          </p:nvSpPr>
          <p:spPr bwMode="auto">
            <a:xfrm flipV="1">
              <a:off x="1968" y="2352"/>
              <a:ext cx="336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3276600" y="3733801"/>
            <a:ext cx="2667000" cy="2014538"/>
            <a:chOff x="2064" y="2352"/>
            <a:chExt cx="1680" cy="1269"/>
          </a:xfrm>
        </p:grpSpPr>
        <p:sp>
          <p:nvSpPr>
            <p:cNvPr id="1517587" name="Rectangle 19"/>
            <p:cNvSpPr>
              <a:spLocks noChangeArrowheads="1"/>
            </p:cNvSpPr>
            <p:nvPr/>
          </p:nvSpPr>
          <p:spPr bwMode="auto">
            <a:xfrm>
              <a:off x="2064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88" name="Rectangle 20"/>
            <p:cNvSpPr>
              <a:spLocks noChangeArrowheads="1"/>
            </p:cNvSpPr>
            <p:nvPr/>
          </p:nvSpPr>
          <p:spPr bwMode="auto">
            <a:xfrm>
              <a:off x="2448" y="2976"/>
              <a:ext cx="1296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1200</a:t>
              </a:r>
            </a:p>
          </p:txBody>
        </p:sp>
        <p:sp>
          <p:nvSpPr>
            <p:cNvPr id="68633" name="Line 21"/>
            <p:cNvSpPr>
              <a:spLocks noChangeShapeType="1"/>
            </p:cNvSpPr>
            <p:nvPr/>
          </p:nvSpPr>
          <p:spPr bwMode="auto">
            <a:xfrm>
              <a:off x="2064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4" name="Line 22"/>
            <p:cNvSpPr>
              <a:spLocks noChangeShapeType="1"/>
            </p:cNvSpPr>
            <p:nvPr/>
          </p:nvSpPr>
          <p:spPr bwMode="auto">
            <a:xfrm>
              <a:off x="2064" y="3360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5" name="Line 23"/>
            <p:cNvSpPr>
              <a:spLocks noChangeShapeType="1"/>
            </p:cNvSpPr>
            <p:nvPr/>
          </p:nvSpPr>
          <p:spPr bwMode="auto">
            <a:xfrm>
              <a:off x="3744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6" name="Text Box 24"/>
            <p:cNvSpPr txBox="1">
              <a:spLocks noChangeArrowheads="1"/>
            </p:cNvSpPr>
            <p:nvPr/>
          </p:nvSpPr>
          <p:spPr bwMode="auto">
            <a:xfrm>
              <a:off x="2784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1220</a:t>
              </a:r>
            </a:p>
          </p:txBody>
        </p:sp>
        <p:sp>
          <p:nvSpPr>
            <p:cNvPr id="68637" name="Line 25"/>
            <p:cNvSpPr>
              <a:spLocks noChangeShapeType="1"/>
            </p:cNvSpPr>
            <p:nvPr/>
          </p:nvSpPr>
          <p:spPr bwMode="auto">
            <a:xfrm flipH="1" flipV="1">
              <a:off x="2304" y="2352"/>
              <a:ext cx="14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8" name="Line 26"/>
            <p:cNvSpPr>
              <a:spLocks noChangeShapeType="1"/>
            </p:cNvSpPr>
            <p:nvPr/>
          </p:nvSpPr>
          <p:spPr bwMode="auto">
            <a:xfrm flipH="1" flipV="1">
              <a:off x="3600" y="2352"/>
              <a:ext cx="14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5715000" y="3733801"/>
            <a:ext cx="3048000" cy="2014538"/>
            <a:chOff x="3600" y="2352"/>
            <a:chExt cx="1920" cy="1269"/>
          </a:xfrm>
        </p:grpSpPr>
        <p:sp>
          <p:nvSpPr>
            <p:cNvPr id="1517596" name="Rectangle 28"/>
            <p:cNvSpPr>
              <a:spLocks noChangeArrowheads="1"/>
            </p:cNvSpPr>
            <p:nvPr/>
          </p:nvSpPr>
          <p:spPr bwMode="auto">
            <a:xfrm>
              <a:off x="3840" y="2976"/>
              <a:ext cx="384" cy="240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ea typeface="Arial" charset="0"/>
                  <a:cs typeface="Arial" charset="0"/>
                </a:rPr>
                <a:t>20</a:t>
              </a:r>
            </a:p>
          </p:txBody>
        </p:sp>
        <p:sp>
          <p:nvSpPr>
            <p:cNvPr id="1517597" name="Rectangle 29"/>
            <p:cNvSpPr>
              <a:spLocks noChangeArrowheads="1"/>
            </p:cNvSpPr>
            <p:nvPr/>
          </p:nvSpPr>
          <p:spPr bwMode="auto">
            <a:xfrm>
              <a:off x="4224" y="2976"/>
              <a:ext cx="1296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r>
                <a:rPr lang="en-US">
                  <a:ea typeface="Arial" charset="0"/>
                  <a:cs typeface="Arial" charset="0"/>
                </a:rPr>
                <a:t>1300</a:t>
              </a:r>
            </a:p>
          </p:txBody>
        </p:sp>
        <p:sp>
          <p:nvSpPr>
            <p:cNvPr id="68625" name="Line 30"/>
            <p:cNvSpPr>
              <a:spLocks noChangeShapeType="1"/>
            </p:cNvSpPr>
            <p:nvPr/>
          </p:nvSpPr>
          <p:spPr bwMode="auto">
            <a:xfrm>
              <a:off x="3840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6" name="Line 31"/>
            <p:cNvSpPr>
              <a:spLocks noChangeShapeType="1"/>
            </p:cNvSpPr>
            <p:nvPr/>
          </p:nvSpPr>
          <p:spPr bwMode="auto">
            <a:xfrm>
              <a:off x="3840" y="3360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7" name="Line 32"/>
            <p:cNvSpPr>
              <a:spLocks noChangeShapeType="1"/>
            </p:cNvSpPr>
            <p:nvPr/>
          </p:nvSpPr>
          <p:spPr bwMode="auto">
            <a:xfrm>
              <a:off x="5520" y="3312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28" name="Text Box 33"/>
            <p:cNvSpPr txBox="1">
              <a:spLocks noChangeArrowheads="1"/>
            </p:cNvSpPr>
            <p:nvPr/>
          </p:nvSpPr>
          <p:spPr bwMode="auto">
            <a:xfrm>
              <a:off x="4560" y="3369"/>
              <a:ext cx="47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Arial" charset="0"/>
                  <a:ea typeface="Arial" charset="0"/>
                  <a:cs typeface="Arial" charset="0"/>
                </a:rPr>
                <a:t>1320</a:t>
              </a:r>
            </a:p>
          </p:txBody>
        </p:sp>
        <p:sp>
          <p:nvSpPr>
            <p:cNvPr id="68629" name="Line 34"/>
            <p:cNvSpPr>
              <a:spLocks noChangeShapeType="1"/>
            </p:cNvSpPr>
            <p:nvPr/>
          </p:nvSpPr>
          <p:spPr bwMode="auto">
            <a:xfrm flipH="1" flipV="1">
              <a:off x="3600" y="2352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68630" name="Line 35"/>
            <p:cNvSpPr>
              <a:spLocks noChangeShapeType="1"/>
            </p:cNvSpPr>
            <p:nvPr/>
          </p:nvSpPr>
          <p:spPr bwMode="auto">
            <a:xfrm flipH="1" flipV="1">
              <a:off x="4896" y="2352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sp>
        <p:nvSpPr>
          <p:cNvPr id="1517604" name="Line 36"/>
          <p:cNvSpPr>
            <a:spLocks noChangeShapeType="1"/>
          </p:cNvSpPr>
          <p:nvPr/>
        </p:nvSpPr>
        <p:spPr bwMode="auto">
          <a:xfrm>
            <a:off x="3657600" y="33528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517605" name="Line 37"/>
          <p:cNvSpPr>
            <a:spLocks noChangeShapeType="1"/>
          </p:cNvSpPr>
          <p:nvPr/>
        </p:nvSpPr>
        <p:spPr bwMode="auto">
          <a:xfrm>
            <a:off x="5715000" y="33528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387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7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7604" grpId="0" animBg="1"/>
      <p:bldP spid="151760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fragmentation, contd.</a:t>
            </a:r>
            <a:endParaRPr lang="en-US" dirty="0"/>
          </a:p>
        </p:txBody>
      </p:sp>
      <p:sp>
        <p:nvSpPr>
          <p:cNvPr id="9533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4000 byte packet from host 1.2.3.4 to 5.6.7.8 traverses a link with MTU 1,500 bytes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6586" name="Rectangle 26"/>
          <p:cNvSpPr>
            <a:spLocks noChangeArrowheads="1"/>
          </p:cNvSpPr>
          <p:nvPr/>
        </p:nvSpPr>
        <p:spPr bwMode="auto">
          <a:xfrm>
            <a:off x="3128128" y="6282158"/>
            <a:ext cx="3501060" cy="335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eaLnBrk="0" hangingPunct="0"/>
            <a:r>
              <a:rPr lang="en-US" sz="1600" dirty="0">
                <a:solidFill>
                  <a:srgbClr val="0000FF"/>
                </a:solidFill>
                <a:latin typeface="Arial" charset="0"/>
              </a:rPr>
              <a:t>(3980 more bytes of payload here)</a:t>
            </a:r>
            <a:endParaRPr lang="en-US" sz="1400" b="0" dirty="0">
              <a:solidFill>
                <a:srgbClr val="0000FF"/>
              </a:solidFill>
              <a:latin typeface="Arial" charset="0"/>
            </a:endParaRPr>
          </a:p>
        </p:txBody>
      </p:sp>
      <p:grpSp>
        <p:nvGrpSpPr>
          <p:cNvPr id="29" name="Group 28"/>
          <p:cNvGrpSpPr/>
          <p:nvPr/>
        </p:nvGrpSpPr>
        <p:grpSpPr>
          <a:xfrm>
            <a:off x="1810512" y="2747418"/>
            <a:ext cx="5522976" cy="3447288"/>
            <a:chOff x="1806794" y="1505712"/>
            <a:chExt cx="5522976" cy="3447288"/>
          </a:xfrm>
        </p:grpSpPr>
        <p:sp>
          <p:nvSpPr>
            <p:cNvPr id="30" name="Rectangle 29"/>
            <p:cNvSpPr/>
            <p:nvPr/>
          </p:nvSpPr>
          <p:spPr bwMode="auto">
            <a:xfrm>
              <a:off x="18288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V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ersion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1" name="Rectangle 30"/>
            <p:cNvSpPr/>
            <p:nvPr/>
          </p:nvSpPr>
          <p:spPr bwMode="auto">
            <a:xfrm>
              <a:off x="25146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Len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3200400" y="15240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3" name="Rectangle 32"/>
            <p:cNvSpPr/>
            <p:nvPr/>
          </p:nvSpPr>
          <p:spPr bwMode="auto">
            <a:xfrm>
              <a:off x="4572000" y="15240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Total Length (Bytes)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4000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4" name="Rectangle 33"/>
            <p:cNvSpPr/>
            <p:nvPr/>
          </p:nvSpPr>
          <p:spPr bwMode="auto">
            <a:xfrm>
              <a:off x="1828800" y="22098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Identification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56273</a:t>
              </a:r>
            </a:p>
          </p:txBody>
        </p:sp>
        <p:sp>
          <p:nvSpPr>
            <p:cNvPr id="35" name="Rectangle 34"/>
            <p:cNvSpPr/>
            <p:nvPr/>
          </p:nvSpPr>
          <p:spPr bwMode="auto">
            <a:xfrm>
              <a:off x="5177881" y="2209800"/>
              <a:ext cx="213360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Fragment Offset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0</a:t>
              </a:r>
            </a:p>
          </p:txBody>
        </p:sp>
        <p:sp>
          <p:nvSpPr>
            <p:cNvPr id="36" name="Rectangle 35"/>
            <p:cNvSpPr/>
            <p:nvPr/>
          </p:nvSpPr>
          <p:spPr bwMode="auto">
            <a:xfrm>
              <a:off x="4572000" y="2209800"/>
              <a:ext cx="60588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R/D/M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0000FF"/>
                  </a:solidFill>
                </a:rPr>
                <a:t>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4572000" y="28956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 Checksum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44019</a:t>
              </a: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31966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Protocol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6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9" name="Rectangle 38"/>
            <p:cNvSpPr/>
            <p:nvPr/>
          </p:nvSpPr>
          <p:spPr bwMode="auto">
            <a:xfrm>
              <a:off x="18250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TTL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127</a:t>
              </a:r>
            </a:p>
          </p:txBody>
        </p:sp>
        <p:sp>
          <p:nvSpPr>
            <p:cNvPr id="40" name="Rectangle 39"/>
            <p:cNvSpPr/>
            <p:nvPr/>
          </p:nvSpPr>
          <p:spPr bwMode="auto">
            <a:xfrm>
              <a:off x="1825082" y="35814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Source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1.2.3.4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1" name="Rectangle 40"/>
            <p:cNvSpPr/>
            <p:nvPr/>
          </p:nvSpPr>
          <p:spPr bwMode="auto">
            <a:xfrm>
              <a:off x="1828800" y="42672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Destination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5.6.7.8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2" name="Rectangle 41"/>
            <p:cNvSpPr/>
            <p:nvPr/>
          </p:nvSpPr>
          <p:spPr bwMode="auto">
            <a:xfrm>
              <a:off x="1806794" y="1505712"/>
              <a:ext cx="5522976" cy="3447288"/>
            </a:xfrm>
            <a:prstGeom prst="rect">
              <a:avLst/>
            </a:prstGeom>
            <a:noFill/>
            <a:ln w="381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0544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fragmentation, contd.</a:t>
            </a:r>
            <a:endParaRPr lang="en-US" dirty="0"/>
          </a:p>
        </p:txBody>
      </p:sp>
      <p:sp>
        <p:nvSpPr>
          <p:cNvPr id="706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Datagram split into 3 pieces. Possible first piece: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1810512" y="2747418"/>
            <a:ext cx="5522976" cy="3447288"/>
            <a:chOff x="1806794" y="1505712"/>
            <a:chExt cx="5522976" cy="3447288"/>
          </a:xfrm>
        </p:grpSpPr>
        <p:sp>
          <p:nvSpPr>
            <p:cNvPr id="31" name="Rectangle 30"/>
            <p:cNvSpPr/>
            <p:nvPr/>
          </p:nvSpPr>
          <p:spPr bwMode="auto">
            <a:xfrm>
              <a:off x="18288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V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ersion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25146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Len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3" name="Rectangle 32"/>
            <p:cNvSpPr/>
            <p:nvPr/>
          </p:nvSpPr>
          <p:spPr bwMode="auto">
            <a:xfrm>
              <a:off x="3200400" y="15240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4" name="Rectangle 33"/>
            <p:cNvSpPr/>
            <p:nvPr/>
          </p:nvSpPr>
          <p:spPr bwMode="auto">
            <a:xfrm>
              <a:off x="4572000" y="15240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Total Length (Bytes)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FF0000"/>
                  </a:solidFill>
                </a:rPr>
                <a:t>1500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35" name="Rectangle 34"/>
            <p:cNvSpPr/>
            <p:nvPr/>
          </p:nvSpPr>
          <p:spPr bwMode="auto">
            <a:xfrm>
              <a:off x="1828800" y="22098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Identification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56273</a:t>
              </a:r>
            </a:p>
          </p:txBody>
        </p:sp>
        <p:sp>
          <p:nvSpPr>
            <p:cNvPr id="36" name="Rectangle 35"/>
            <p:cNvSpPr/>
            <p:nvPr/>
          </p:nvSpPr>
          <p:spPr bwMode="auto">
            <a:xfrm>
              <a:off x="5177881" y="2209800"/>
              <a:ext cx="213360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Fragment Offset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0</a:t>
              </a: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4572000" y="2209800"/>
              <a:ext cx="60588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R/D/M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FF0000"/>
                  </a:solidFill>
                </a:rPr>
                <a:t>1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4572000" y="28956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 Checksum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charset="0"/>
                </a:rPr>
                <a:t>xxx</a:t>
              </a:r>
            </a:p>
          </p:txBody>
        </p:sp>
        <p:sp>
          <p:nvSpPr>
            <p:cNvPr id="39" name="Rectangle 38"/>
            <p:cNvSpPr/>
            <p:nvPr/>
          </p:nvSpPr>
          <p:spPr bwMode="auto">
            <a:xfrm>
              <a:off x="31966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Protocol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6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0" name="Rectangle 39"/>
            <p:cNvSpPr/>
            <p:nvPr/>
          </p:nvSpPr>
          <p:spPr bwMode="auto">
            <a:xfrm>
              <a:off x="18250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TTL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127</a:t>
              </a:r>
            </a:p>
          </p:txBody>
        </p:sp>
        <p:sp>
          <p:nvSpPr>
            <p:cNvPr id="41" name="Rectangle 40"/>
            <p:cNvSpPr/>
            <p:nvPr/>
          </p:nvSpPr>
          <p:spPr bwMode="auto">
            <a:xfrm>
              <a:off x="1825082" y="35814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Source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1.2.3.4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2" name="Rectangle 41"/>
            <p:cNvSpPr/>
            <p:nvPr/>
          </p:nvSpPr>
          <p:spPr bwMode="auto">
            <a:xfrm>
              <a:off x="1828800" y="42672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Destination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5.6.7.8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3" name="Rectangle 42"/>
            <p:cNvSpPr/>
            <p:nvPr/>
          </p:nvSpPr>
          <p:spPr bwMode="auto">
            <a:xfrm>
              <a:off x="1806794" y="1505712"/>
              <a:ext cx="5522976" cy="3447288"/>
            </a:xfrm>
            <a:prstGeom prst="rect">
              <a:avLst/>
            </a:prstGeom>
            <a:noFill/>
            <a:ln w="381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5725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fragmentation, contd.</a:t>
            </a:r>
            <a:endParaRPr lang="en-US" dirty="0"/>
          </a:p>
        </p:txBody>
      </p:sp>
      <p:sp>
        <p:nvSpPr>
          <p:cNvPr id="727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 second piece: Frag#1 covered 1480bytes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1810512" y="2747418"/>
            <a:ext cx="5522976" cy="3447288"/>
            <a:chOff x="1806794" y="1505712"/>
            <a:chExt cx="5522976" cy="3447288"/>
          </a:xfrm>
        </p:grpSpPr>
        <p:sp>
          <p:nvSpPr>
            <p:cNvPr id="30" name="Rectangle 29"/>
            <p:cNvSpPr/>
            <p:nvPr/>
          </p:nvSpPr>
          <p:spPr bwMode="auto">
            <a:xfrm>
              <a:off x="18288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V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ersion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1" name="Rectangle 30"/>
            <p:cNvSpPr/>
            <p:nvPr/>
          </p:nvSpPr>
          <p:spPr bwMode="auto">
            <a:xfrm>
              <a:off x="25146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Len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3200400" y="15240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3" name="Rectangle 32"/>
            <p:cNvSpPr/>
            <p:nvPr/>
          </p:nvSpPr>
          <p:spPr bwMode="auto">
            <a:xfrm>
              <a:off x="4572000" y="15240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Total Length (Bytes)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FF0000"/>
                  </a:solidFill>
                </a:rPr>
                <a:t>1220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34" name="Rectangle 33"/>
            <p:cNvSpPr/>
            <p:nvPr/>
          </p:nvSpPr>
          <p:spPr bwMode="auto">
            <a:xfrm>
              <a:off x="1828800" y="22098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Identification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56273</a:t>
              </a:r>
            </a:p>
          </p:txBody>
        </p:sp>
        <p:sp>
          <p:nvSpPr>
            <p:cNvPr id="35" name="Rectangle 34"/>
            <p:cNvSpPr/>
            <p:nvPr/>
          </p:nvSpPr>
          <p:spPr bwMode="auto">
            <a:xfrm>
              <a:off x="5177881" y="2209800"/>
              <a:ext cx="213360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Fragment Offset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charset="0"/>
                </a:rPr>
                <a:t>185 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charset="0"/>
                </a:rPr>
                <a:t>(185 * 8 = 1480)</a:t>
              </a:r>
            </a:p>
          </p:txBody>
        </p:sp>
        <p:sp>
          <p:nvSpPr>
            <p:cNvPr id="36" name="Rectangle 35"/>
            <p:cNvSpPr/>
            <p:nvPr/>
          </p:nvSpPr>
          <p:spPr bwMode="auto">
            <a:xfrm>
              <a:off x="4572000" y="2209800"/>
              <a:ext cx="60588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R/D/M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FF0000"/>
                  </a:solidFill>
                </a:rPr>
                <a:t>1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4572000" y="28956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 Checksum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 err="1">
                  <a:ln>
                    <a:noFill/>
                  </a:ln>
                  <a:solidFill>
                    <a:srgbClr val="FF0000"/>
                  </a:solidFill>
                  <a:effectLst/>
                  <a:latin typeface="Arial" charset="0"/>
                </a:rPr>
                <a:t>yyy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charset="0"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31966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Protocol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6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9" name="Rectangle 38"/>
            <p:cNvSpPr/>
            <p:nvPr/>
          </p:nvSpPr>
          <p:spPr bwMode="auto">
            <a:xfrm>
              <a:off x="18250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TTL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127</a:t>
              </a:r>
            </a:p>
          </p:txBody>
        </p:sp>
        <p:sp>
          <p:nvSpPr>
            <p:cNvPr id="40" name="Rectangle 39"/>
            <p:cNvSpPr/>
            <p:nvPr/>
          </p:nvSpPr>
          <p:spPr bwMode="auto">
            <a:xfrm>
              <a:off x="1825082" y="35814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Source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1.2.3.4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1" name="Rectangle 40"/>
            <p:cNvSpPr/>
            <p:nvPr/>
          </p:nvSpPr>
          <p:spPr bwMode="auto">
            <a:xfrm>
              <a:off x="1828800" y="42672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Destination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5.6.7.8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2" name="Rectangle 41"/>
            <p:cNvSpPr/>
            <p:nvPr/>
          </p:nvSpPr>
          <p:spPr bwMode="auto">
            <a:xfrm>
              <a:off x="1806794" y="1505712"/>
              <a:ext cx="5522976" cy="3447288"/>
            </a:xfrm>
            <a:prstGeom prst="rect">
              <a:avLst/>
            </a:prstGeom>
            <a:noFill/>
            <a:ln w="381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9191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fragmentation, contd.</a:t>
            </a:r>
            <a:endParaRPr lang="en-US" dirty="0"/>
          </a:p>
        </p:txBody>
      </p:sp>
      <p:sp>
        <p:nvSpPr>
          <p:cNvPr id="747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Possible third piece: 1480+1200 = 2680</a:t>
            </a:r>
            <a:endParaRPr lang="en-US" dirty="0"/>
          </a:p>
        </p:txBody>
      </p:sp>
      <p:grpSp>
        <p:nvGrpSpPr>
          <p:cNvPr id="28" name="Group 27"/>
          <p:cNvGrpSpPr/>
          <p:nvPr/>
        </p:nvGrpSpPr>
        <p:grpSpPr>
          <a:xfrm>
            <a:off x="1810512" y="2747418"/>
            <a:ext cx="5522976" cy="3447288"/>
            <a:chOff x="1806794" y="1505712"/>
            <a:chExt cx="5522976" cy="3447288"/>
          </a:xfrm>
        </p:grpSpPr>
        <p:sp>
          <p:nvSpPr>
            <p:cNvPr id="29" name="Rectangle 28"/>
            <p:cNvSpPr/>
            <p:nvPr/>
          </p:nvSpPr>
          <p:spPr bwMode="auto">
            <a:xfrm>
              <a:off x="18288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V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ersion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0" name="Rectangle 29"/>
            <p:cNvSpPr/>
            <p:nvPr/>
          </p:nvSpPr>
          <p:spPr bwMode="auto">
            <a:xfrm>
              <a:off x="2514600" y="1524000"/>
              <a:ext cx="6858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Len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1" name="Rectangle 30"/>
            <p:cNvSpPr/>
            <p:nvPr/>
          </p:nvSpPr>
          <p:spPr bwMode="auto">
            <a:xfrm>
              <a:off x="3200400" y="15240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4572000" y="15240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Total Length (Bytes)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FF0000"/>
                  </a:solidFill>
                </a:rPr>
                <a:t>1320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33" name="Rectangle 32"/>
            <p:cNvSpPr/>
            <p:nvPr/>
          </p:nvSpPr>
          <p:spPr bwMode="auto">
            <a:xfrm>
              <a:off x="1828800" y="22098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Identification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56273</a:t>
              </a:r>
            </a:p>
          </p:txBody>
        </p:sp>
        <p:sp>
          <p:nvSpPr>
            <p:cNvPr id="34" name="Rectangle 33"/>
            <p:cNvSpPr/>
            <p:nvPr/>
          </p:nvSpPr>
          <p:spPr bwMode="auto">
            <a:xfrm>
              <a:off x="5177881" y="2209800"/>
              <a:ext cx="213360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Fragment Offset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charset="0"/>
                </a:rPr>
                <a:t>335 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charset="0"/>
                </a:rPr>
                <a:t>(335 * 8 = 2680)</a:t>
              </a:r>
            </a:p>
          </p:txBody>
        </p:sp>
        <p:sp>
          <p:nvSpPr>
            <p:cNvPr id="35" name="Rectangle 34"/>
            <p:cNvSpPr/>
            <p:nvPr/>
          </p:nvSpPr>
          <p:spPr bwMode="auto">
            <a:xfrm>
              <a:off x="4572000" y="2209800"/>
              <a:ext cx="605881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R/D/M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0000FF"/>
                  </a:solidFill>
                </a:rPr>
                <a:t>0</a:t>
              </a:r>
              <a:r>
                <a:rPr lang="en-US" dirty="0"/>
                <a:t>/</a:t>
              </a:r>
              <a:r>
                <a:rPr lang="en-US" dirty="0">
                  <a:solidFill>
                    <a:srgbClr val="FF0000"/>
                  </a:solidFill>
                </a:rPr>
                <a:t>0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36" name="Rectangle 35"/>
            <p:cNvSpPr/>
            <p:nvPr/>
          </p:nvSpPr>
          <p:spPr bwMode="auto">
            <a:xfrm>
              <a:off x="4572000" y="2895600"/>
              <a:ext cx="27432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Header Checksum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 err="1">
                  <a:solidFill>
                    <a:srgbClr val="FF0000"/>
                  </a:solidFill>
                </a:rPr>
                <a:t>zzz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charset="0"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31966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Protocol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6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1825082" y="2895600"/>
              <a:ext cx="13716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TTL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127</a:t>
              </a:r>
            </a:p>
          </p:txBody>
        </p:sp>
        <p:sp>
          <p:nvSpPr>
            <p:cNvPr id="39" name="Rectangle 38"/>
            <p:cNvSpPr/>
            <p:nvPr/>
          </p:nvSpPr>
          <p:spPr bwMode="auto">
            <a:xfrm>
              <a:off x="1825082" y="35814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Source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1.2.3.4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0" name="Rectangle 39"/>
            <p:cNvSpPr/>
            <p:nvPr/>
          </p:nvSpPr>
          <p:spPr bwMode="auto">
            <a:xfrm>
              <a:off x="1828800" y="4267200"/>
              <a:ext cx="5486400" cy="6858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/>
                <a:t>Destination IP Address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solidFill>
                    <a:srgbClr val="0000FF"/>
                  </a:solidFill>
                </a:rPr>
                <a:t>5.6.7.8</a:t>
              </a:r>
              <a:endParaRPr kumimoji="0" lang="en-US" sz="160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</a:endParaRPr>
            </a:p>
          </p:txBody>
        </p:sp>
        <p:sp>
          <p:nvSpPr>
            <p:cNvPr id="41" name="Rectangle 40"/>
            <p:cNvSpPr/>
            <p:nvPr/>
          </p:nvSpPr>
          <p:spPr bwMode="auto">
            <a:xfrm>
              <a:off x="1806794" y="1505712"/>
              <a:ext cx="5522976" cy="3447288"/>
            </a:xfrm>
            <a:prstGeom prst="rect">
              <a:avLst/>
            </a:prstGeom>
            <a:noFill/>
            <a:ln w="381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92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look into IPv6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97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IPv6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Motivated (prematurely) by address exhaustion</a:t>
            </a:r>
          </a:p>
          <a:p>
            <a:pPr lvl="1"/>
            <a:r>
              <a:rPr lang="en-US" dirty="0"/>
              <a:t>Addresses four times as big (128-bit)</a:t>
            </a:r>
          </a:p>
          <a:p>
            <a:r>
              <a:rPr lang="en-US" dirty="0"/>
              <a:t>Focused on simplifying IP</a:t>
            </a:r>
          </a:p>
          <a:p>
            <a:pPr lvl="1"/>
            <a:r>
              <a:rPr lang="en-US" dirty="0"/>
              <a:t>Got rid of all fields that were not absolutely necessary</a:t>
            </a:r>
          </a:p>
          <a:p>
            <a:r>
              <a:rPr lang="en-US" dirty="0"/>
              <a:t>Result is an elegant, if unambitious, protocol</a:t>
            </a:r>
          </a:p>
          <a:p>
            <a:pPr lvl="1"/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28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2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“clean up” would you do?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 bwMode="auto">
          <a:xfrm>
            <a:off x="18288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V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ersion</a:t>
            </a:r>
          </a:p>
        </p:txBody>
      </p:sp>
      <p:sp>
        <p:nvSpPr>
          <p:cNvPr id="35" name="Rectangle 34"/>
          <p:cNvSpPr/>
          <p:nvPr/>
        </p:nvSpPr>
        <p:spPr bwMode="auto">
          <a:xfrm>
            <a:off x="2514600" y="1524000"/>
            <a:ext cx="6858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4-bit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Len</a:t>
            </a:r>
          </a:p>
        </p:txBody>
      </p:sp>
      <p:sp>
        <p:nvSpPr>
          <p:cNvPr id="36" name="Rectangle 35"/>
          <p:cNvSpPr/>
          <p:nvPr/>
        </p:nvSpPr>
        <p:spPr bwMode="auto">
          <a:xfrm>
            <a:off x="3200400" y="15240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ToS</a:t>
            </a:r>
          </a:p>
        </p:txBody>
      </p:sp>
      <p:sp>
        <p:nvSpPr>
          <p:cNvPr id="37" name="Rectangle 36"/>
          <p:cNvSpPr/>
          <p:nvPr/>
        </p:nvSpPr>
        <p:spPr bwMode="auto">
          <a:xfrm>
            <a:off x="4572000" y="15240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Total Length (Bytes)</a:t>
            </a:r>
          </a:p>
        </p:txBody>
      </p:sp>
      <p:sp>
        <p:nvSpPr>
          <p:cNvPr id="38" name="Rectangle 37"/>
          <p:cNvSpPr/>
          <p:nvPr/>
        </p:nvSpPr>
        <p:spPr bwMode="auto">
          <a:xfrm>
            <a:off x="1828800" y="22098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Identification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5177881" y="2209800"/>
            <a:ext cx="2133601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13-bit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Fragment Offset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4572000" y="2209800"/>
            <a:ext cx="605881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Flags</a:t>
            </a:r>
          </a:p>
        </p:txBody>
      </p:sp>
      <p:sp>
        <p:nvSpPr>
          <p:cNvPr id="41" name="Rectangle 40"/>
          <p:cNvSpPr/>
          <p:nvPr/>
        </p:nvSpPr>
        <p:spPr bwMode="auto">
          <a:xfrm>
            <a:off x="4572000" y="2895600"/>
            <a:ext cx="27432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16-bit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Header Checksum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31966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Protocol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1825082" y="2895600"/>
            <a:ext cx="13716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8-bit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TTL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825082" y="35814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Source IP Address</a:t>
            </a:r>
          </a:p>
        </p:txBody>
      </p:sp>
      <p:sp>
        <p:nvSpPr>
          <p:cNvPr id="45" name="Rectangle 44"/>
          <p:cNvSpPr/>
          <p:nvPr/>
        </p:nvSpPr>
        <p:spPr bwMode="auto">
          <a:xfrm>
            <a:off x="1828800" y="42672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32-bit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 dirty="0"/>
              <a:t>Destination IP Address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1828800" y="4953000"/>
            <a:ext cx="5486400" cy="68580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Options</a:t>
            </a:r>
            <a:r>
              <a:rPr kumimoji="0" lang="en-US" sz="16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(if any)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7" name="Rectangle 46"/>
          <p:cNvSpPr/>
          <p:nvPr/>
        </p:nvSpPr>
        <p:spPr bwMode="auto">
          <a:xfrm>
            <a:off x="1806794" y="1505712"/>
            <a:ext cx="5522976" cy="4151376"/>
          </a:xfrm>
          <a:prstGeom prst="rect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1825082" y="5638800"/>
            <a:ext cx="5486400" cy="1371600"/>
          </a:xfrm>
          <a:prstGeom prst="rect">
            <a:avLst/>
          </a:prstGeom>
          <a:solidFill>
            <a:schemeClr val="tx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400" b="0" dirty="0">
                <a:solidFill>
                  <a:schemeClr val="bg1"/>
                </a:solidFill>
              </a:rPr>
              <a:t>Payload</a:t>
            </a: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923089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IPv4 and IPv6 header comparison</a:t>
            </a:r>
            <a:endParaRPr lang="en-US" dirty="0"/>
          </a:p>
        </p:txBody>
      </p:sp>
      <p:graphicFrame>
        <p:nvGraphicFramePr>
          <p:cNvPr id="34819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530286"/>
              </p:ext>
            </p:extLst>
          </p:nvPr>
        </p:nvGraphicFramePr>
        <p:xfrm>
          <a:off x="90488" y="1905000"/>
          <a:ext cx="4557711" cy="3276599"/>
        </p:xfrm>
        <a:graphic>
          <a:graphicData uri="http://schemas.openxmlformats.org/drawingml/2006/table">
            <a:tbl>
              <a:tblPr/>
              <a:tblGrid>
                <a:gridCol w="778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5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7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2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65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80556"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Version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3A6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IHL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Type of Service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Total Length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0556">
                <a:tc gridSpan="3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Identification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Flags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Fragment Offset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2625">
                <a:tc gridSpan="2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Time to Live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Protocol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Header Checksum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055">
                <a:tc gridSpan="6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Source Address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3A6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986">
                <a:tc gridSpan="6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Destination Address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3A6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821">
                <a:tc gridSpan="5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Options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Padding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849" name="Group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2393888"/>
              </p:ext>
            </p:extLst>
          </p:nvPr>
        </p:nvGraphicFramePr>
        <p:xfrm>
          <a:off x="4724400" y="1905000"/>
          <a:ext cx="4343400" cy="4572001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741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1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6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7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85825"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Version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3A6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Traffic Class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</a:rPr>
                        <a:t>Flow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 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</a:rPr>
                        <a:t>Label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1688">
                <a:tc gridSpan="3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Payload Length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Next Header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</a:rPr>
                        <a:t>Hop Limit</a:t>
                      </a:r>
                    </a:p>
                  </a:txBody>
                  <a:tcPr marL="73025" marR="73025" marT="36512" marB="36512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7163">
                <a:tc gridSpan="5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128-bit</a:t>
                      </a:r>
                    </a:p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Source Address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3A6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7325">
                <a:tc gridSpan="5">
                  <a:txBody>
                    <a:bodyPr/>
                    <a:lstStyle/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128-bit</a:t>
                      </a:r>
                    </a:p>
                    <a:p>
                      <a:pPr marL="0" marR="0" lvl="0" indent="0" algn="ctr" defTabSz="814388" rtl="0" eaLnBrk="0" fontAlgn="base" latinLnBrk="0" hangingPunct="0">
                        <a:lnSpc>
                          <a:spcPct val="95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100000"/>
                        <a:buFont typeface="Arial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</a:rPr>
                        <a:t>Destination Address</a:t>
                      </a:r>
                    </a:p>
                  </a:txBody>
                  <a:tcPr marL="73025" marR="73025" marT="36512" marB="3651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3A6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869" name="Rectangle 53"/>
          <p:cNvSpPr>
            <a:spLocks noChangeArrowheads="1"/>
          </p:cNvSpPr>
          <p:nvPr/>
        </p:nvSpPr>
        <p:spPr bwMode="gray">
          <a:xfrm>
            <a:off x="1752600" y="1447800"/>
            <a:ext cx="763588" cy="442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73025" tIns="36512" rIns="73025" bIns="36512">
            <a:spAutoFit/>
          </a:bodyPr>
          <a:lstStyle/>
          <a:p>
            <a:pPr algn="ctr">
              <a:defRPr/>
            </a:pPr>
            <a:r>
              <a:rPr lang="en-US" sz="2400" b="0" dirty="0">
                <a:latin typeface="+mn-lt"/>
                <a:ea typeface="+mn-ea"/>
                <a:cs typeface="+mn-cs"/>
              </a:rPr>
              <a:t>IPv4</a:t>
            </a:r>
          </a:p>
        </p:txBody>
      </p:sp>
      <p:sp>
        <p:nvSpPr>
          <p:cNvPr id="34870" name="Rectangle 54"/>
          <p:cNvSpPr>
            <a:spLocks noChangeArrowheads="1"/>
          </p:cNvSpPr>
          <p:nvPr/>
        </p:nvSpPr>
        <p:spPr bwMode="gray">
          <a:xfrm>
            <a:off x="5334000" y="1371600"/>
            <a:ext cx="2514600" cy="442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73025" tIns="36512" rIns="73025" bIns="36512">
            <a:spAutoFit/>
          </a:bodyPr>
          <a:lstStyle/>
          <a:p>
            <a:pPr algn="ctr">
              <a:defRPr/>
            </a:pPr>
            <a:r>
              <a:rPr lang="en-US" sz="2400" b="0" dirty="0">
                <a:latin typeface="Arial" charset="0"/>
                <a:cs typeface="Arial" charset="0"/>
              </a:rPr>
              <a:t>IPv6</a:t>
            </a:r>
            <a:endParaRPr lang="en-US" sz="2400" b="0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cs typeface="Arial" charset="0"/>
            </a:endParaRPr>
          </a:p>
        </p:txBody>
      </p:sp>
      <p:sp>
        <p:nvSpPr>
          <p:cNvPr id="34871" name="AutoShape 55"/>
          <p:cNvSpPr>
            <a:spLocks noChangeArrowheads="1"/>
          </p:cNvSpPr>
          <p:nvPr/>
        </p:nvSpPr>
        <p:spPr bwMode="auto">
          <a:xfrm>
            <a:off x="381000" y="5334000"/>
            <a:ext cx="328613" cy="2286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6350">
            <a:solidFill>
              <a:srgbClr val="808080"/>
            </a:solidFill>
            <a:round/>
            <a:headEnd/>
            <a:tailEnd/>
          </a:ln>
          <a:effectLst>
            <a:outerShdw blurRad="63500" dist="38099" dir="2700000" algn="ctr" rotWithShape="0">
              <a:schemeClr val="bg2">
                <a:alpha val="74998"/>
              </a:schemeClr>
            </a:outerShdw>
          </a:effectLst>
        </p:spPr>
        <p:txBody>
          <a:bodyPr wrap="none" lIns="82124" tIns="41061" rIns="82124" bIns="41061" anchor="ctr"/>
          <a:lstStyle/>
          <a:p>
            <a:pPr>
              <a:defRPr/>
            </a:pPr>
            <a:endParaRPr lang="en-US">
              <a:ea typeface="+mn-ea"/>
              <a:cs typeface="+mn-cs"/>
            </a:endParaRPr>
          </a:p>
        </p:txBody>
      </p:sp>
      <p:sp>
        <p:nvSpPr>
          <p:cNvPr id="34872" name="AutoShape 56"/>
          <p:cNvSpPr>
            <a:spLocks noChangeArrowheads="1"/>
          </p:cNvSpPr>
          <p:nvPr/>
        </p:nvSpPr>
        <p:spPr bwMode="auto">
          <a:xfrm>
            <a:off x="381000" y="5664200"/>
            <a:ext cx="328613" cy="228600"/>
          </a:xfrm>
          <a:prstGeom prst="roundRect">
            <a:avLst>
              <a:gd name="adj" fmla="val 16667"/>
            </a:avLst>
          </a:prstGeom>
          <a:solidFill>
            <a:schemeClr val="tx2">
              <a:lumMod val="20000"/>
              <a:lumOff val="80000"/>
            </a:schemeClr>
          </a:solidFill>
          <a:ln w="6350">
            <a:solidFill>
              <a:srgbClr val="808080"/>
            </a:solidFill>
            <a:round/>
            <a:headEnd/>
            <a:tailEnd/>
          </a:ln>
          <a:effectLst>
            <a:outerShdw blurRad="63500" dist="38099" dir="2700000" algn="ctr" rotWithShape="0">
              <a:schemeClr val="bg2">
                <a:alpha val="74998"/>
              </a:schemeClr>
            </a:outerShdw>
          </a:effectLst>
        </p:spPr>
        <p:txBody>
          <a:bodyPr wrap="none" lIns="82124" tIns="41061" rIns="82124" bIns="41061" anchor="ctr"/>
          <a:lstStyle/>
          <a:p>
            <a:pPr>
              <a:defRPr/>
            </a:pPr>
            <a:endParaRPr lang="en-US">
              <a:ea typeface="+mn-ea"/>
              <a:cs typeface="+mn-cs"/>
            </a:endParaRPr>
          </a:p>
        </p:txBody>
      </p:sp>
      <p:sp>
        <p:nvSpPr>
          <p:cNvPr id="34873" name="AutoShape 57"/>
          <p:cNvSpPr>
            <a:spLocks noChangeArrowheads="1"/>
          </p:cNvSpPr>
          <p:nvPr/>
        </p:nvSpPr>
        <p:spPr bwMode="auto">
          <a:xfrm>
            <a:off x="381000" y="5994400"/>
            <a:ext cx="328613" cy="228600"/>
          </a:xfrm>
          <a:prstGeom prst="roundRect">
            <a:avLst>
              <a:gd name="adj" fmla="val 16667"/>
            </a:avLst>
          </a:prstGeom>
          <a:solidFill>
            <a:schemeClr val="tx1">
              <a:lumMod val="20000"/>
              <a:lumOff val="80000"/>
            </a:schemeClr>
          </a:solidFill>
          <a:ln w="6350">
            <a:solidFill>
              <a:srgbClr val="808080"/>
            </a:solidFill>
            <a:round/>
            <a:headEnd/>
            <a:tailEnd/>
          </a:ln>
          <a:effectLst>
            <a:outerShdw blurRad="63500" dist="38099" dir="2700000" algn="ctr" rotWithShape="0">
              <a:schemeClr val="bg2">
                <a:alpha val="74998"/>
              </a:schemeClr>
            </a:outerShdw>
          </a:effectLst>
        </p:spPr>
        <p:txBody>
          <a:bodyPr wrap="none" lIns="82124" tIns="41061" rIns="82124" bIns="41061" anchor="ctr"/>
          <a:lstStyle/>
          <a:p>
            <a:pPr>
              <a:defRPr/>
            </a:pPr>
            <a:endParaRPr lang="en-US">
              <a:ea typeface="+mn-ea"/>
              <a:cs typeface="+mn-cs"/>
            </a:endParaRPr>
          </a:p>
        </p:txBody>
      </p:sp>
      <p:sp>
        <p:nvSpPr>
          <p:cNvPr id="34874" name="AutoShape 58"/>
          <p:cNvSpPr>
            <a:spLocks noChangeArrowheads="1"/>
          </p:cNvSpPr>
          <p:nvPr/>
        </p:nvSpPr>
        <p:spPr bwMode="auto">
          <a:xfrm>
            <a:off x="381000" y="6324600"/>
            <a:ext cx="328613" cy="228600"/>
          </a:xfrm>
          <a:prstGeom prst="roundRect">
            <a:avLst>
              <a:gd name="adj" fmla="val 16667"/>
            </a:avLst>
          </a:prstGeom>
          <a:solidFill>
            <a:srgbClr val="009900"/>
          </a:solidFill>
          <a:ln w="6350">
            <a:solidFill>
              <a:srgbClr val="808080"/>
            </a:solidFill>
            <a:round/>
            <a:headEnd/>
            <a:tailEnd/>
          </a:ln>
          <a:effectLst>
            <a:outerShdw blurRad="63500" dist="38099" dir="2700000" algn="ctr" rotWithShape="0">
              <a:schemeClr val="bg2">
                <a:alpha val="74998"/>
              </a:schemeClr>
            </a:outerShdw>
          </a:effectLst>
        </p:spPr>
        <p:txBody>
          <a:bodyPr wrap="none" lIns="82124" tIns="41061" rIns="82124" bIns="41061" anchor="ctr"/>
          <a:lstStyle/>
          <a:p>
            <a:pPr>
              <a:defRPr/>
            </a:pPr>
            <a:endParaRPr lang="en-US">
              <a:ea typeface="+mn-ea"/>
              <a:cs typeface="+mn-cs"/>
            </a:endParaRPr>
          </a:p>
        </p:txBody>
      </p:sp>
      <p:sp>
        <p:nvSpPr>
          <p:cNvPr id="92218" name="Text Box 59"/>
          <p:cNvSpPr txBox="1">
            <a:spLocks noChangeArrowheads="1"/>
          </p:cNvSpPr>
          <p:nvPr/>
        </p:nvSpPr>
        <p:spPr bwMode="auto">
          <a:xfrm>
            <a:off x="785814" y="5326063"/>
            <a:ext cx="3100386" cy="1227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82124" tIns="41061" rIns="82124" bIns="41061" anchorCtr="1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>
              <a:lnSpc>
                <a:spcPct val="95000"/>
              </a:lnSpc>
              <a:spcBef>
                <a:spcPct val="50000"/>
              </a:spcBef>
              <a:buClr>
                <a:srgbClr val="35C5FF"/>
              </a:buClr>
              <a:buSzPct val="100000"/>
              <a:buFont typeface="Arial" charset="0"/>
              <a:buNone/>
            </a:pPr>
            <a:r>
              <a:rPr lang="en-US" sz="1400" dirty="0">
                <a:latin typeface="Arial" charset="0"/>
              </a:rPr>
              <a:t>Field </a:t>
            </a:r>
            <a:r>
              <a:rPr lang="en-GB" sz="1400" dirty="0">
                <a:latin typeface="Arial" charset="0"/>
              </a:rPr>
              <a:t>name </a:t>
            </a:r>
            <a:r>
              <a:rPr lang="en-US" sz="1400" dirty="0">
                <a:latin typeface="Arial" charset="0"/>
              </a:rPr>
              <a:t>kept from IPv4 to IPv6</a:t>
            </a:r>
          </a:p>
          <a:p>
            <a:pPr algn="l" eaLnBrk="1" hangingPunct="1">
              <a:lnSpc>
                <a:spcPct val="95000"/>
              </a:lnSpc>
              <a:spcBef>
                <a:spcPct val="50000"/>
              </a:spcBef>
              <a:buClr>
                <a:srgbClr val="35C5FF"/>
              </a:buClr>
              <a:buSzPct val="100000"/>
              <a:buFont typeface="Arial" charset="0"/>
              <a:buNone/>
            </a:pPr>
            <a:r>
              <a:rPr lang="en-US" sz="1400" dirty="0">
                <a:latin typeface="Arial" charset="0"/>
              </a:rPr>
              <a:t>Fields not kept in IPv6</a:t>
            </a:r>
          </a:p>
          <a:p>
            <a:pPr algn="l" eaLnBrk="1" hangingPunct="1">
              <a:lnSpc>
                <a:spcPct val="95000"/>
              </a:lnSpc>
              <a:spcBef>
                <a:spcPct val="50000"/>
              </a:spcBef>
              <a:buClr>
                <a:srgbClr val="35C5FF"/>
              </a:buClr>
              <a:buSzPct val="100000"/>
              <a:buFont typeface="Arial" charset="0"/>
              <a:buNone/>
            </a:pPr>
            <a:r>
              <a:rPr lang="en-GB" sz="1400" dirty="0">
                <a:latin typeface="Arial" charset="0"/>
              </a:rPr>
              <a:t>Name &amp; position changed in IPv6</a:t>
            </a:r>
          </a:p>
          <a:p>
            <a:pPr algn="l" eaLnBrk="1" hangingPunct="1">
              <a:lnSpc>
                <a:spcPct val="95000"/>
              </a:lnSpc>
              <a:spcBef>
                <a:spcPct val="50000"/>
              </a:spcBef>
              <a:buClr>
                <a:srgbClr val="35C5FF"/>
              </a:buClr>
              <a:buSzPct val="100000"/>
              <a:buFont typeface="Arial" charset="0"/>
              <a:buNone/>
            </a:pPr>
            <a:r>
              <a:rPr lang="en-GB" sz="1400" dirty="0">
                <a:latin typeface="Arial" charset="0"/>
              </a:rPr>
              <a:t>New field in IPv6</a:t>
            </a:r>
            <a:endParaRPr lang="en-US" sz="1400" dirty="0">
              <a:latin typeface="Arial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DFA4D-BF37-C7C8-7895-292990516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641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69" grpId="0"/>
      <p:bldP spid="34870" grpId="0"/>
      <p:bldP spid="34871" grpId="0" animBg="1"/>
      <p:bldP spid="34872" grpId="0" animBg="1"/>
      <p:bldP spid="34873" grpId="0" animBg="1"/>
      <p:bldP spid="34874" grpId="0" animBg="1"/>
      <p:bldP spid="9221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changes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Eliminated fragmentation (why?)</a:t>
            </a:r>
          </a:p>
          <a:p>
            <a:r>
              <a:rPr lang="en-US" dirty="0"/>
              <a:t>Eliminated checksum (why?)</a:t>
            </a:r>
          </a:p>
          <a:p>
            <a:r>
              <a:rPr lang="en-US" dirty="0"/>
              <a:t>New options mechanism (why?)</a:t>
            </a:r>
          </a:p>
          <a:p>
            <a:r>
              <a:rPr lang="en-US" dirty="0"/>
              <a:t>Eliminated header length (why?)</a:t>
            </a:r>
          </a:p>
          <a:p>
            <a:r>
              <a:rPr lang="en-US" dirty="0"/>
              <a:t>Expanded addresses </a:t>
            </a:r>
          </a:p>
          <a:p>
            <a:r>
              <a:rPr lang="en-US" dirty="0"/>
              <a:t>Added Flow Label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43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Philosophy of changes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deal with problems: leave to ends</a:t>
            </a:r>
          </a:p>
          <a:p>
            <a:pPr lvl="1"/>
            <a:r>
              <a:rPr lang="en-US" dirty="0"/>
              <a:t>Eliminated fragmentation and checksum</a:t>
            </a:r>
          </a:p>
          <a:p>
            <a:pPr lvl="1"/>
            <a:r>
              <a:rPr lang="en-US" dirty="0"/>
              <a:t>Why retain TTL?</a:t>
            </a:r>
          </a:p>
          <a:p>
            <a:r>
              <a:rPr lang="en-US" dirty="0"/>
              <a:t>Simplify handling:</a:t>
            </a:r>
          </a:p>
          <a:p>
            <a:pPr lvl="1"/>
            <a:r>
              <a:rPr lang="en-US" dirty="0"/>
              <a:t>New options mechanism (uses next header)</a:t>
            </a:r>
          </a:p>
          <a:p>
            <a:pPr lvl="1"/>
            <a:r>
              <a:rPr lang="en-US" dirty="0"/>
              <a:t>Eliminated header length</a:t>
            </a:r>
          </a:p>
          <a:p>
            <a:pPr lvl="2"/>
            <a:r>
              <a:rPr lang="en-US" dirty="0"/>
              <a:t>Why couldn’t IPv4 do this?</a:t>
            </a:r>
          </a:p>
          <a:p>
            <a:r>
              <a:rPr lang="en-US" dirty="0"/>
              <a:t>Provide general flow label for packet</a:t>
            </a:r>
          </a:p>
          <a:p>
            <a:pPr lvl="1"/>
            <a:r>
              <a:rPr lang="en-US" dirty="0"/>
              <a:t>Not tied to semantics</a:t>
            </a:r>
          </a:p>
          <a:p>
            <a:pPr lvl="1"/>
            <a:r>
              <a:rPr lang="en-US" dirty="0"/>
              <a:t>Provides great flexibility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73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 layer can be divided into data plane and control plane</a:t>
            </a:r>
          </a:p>
          <a:p>
            <a:pPr lvl="1"/>
            <a:r>
              <a:rPr lang="en-US" dirty="0"/>
              <a:t>Data plane deals with “how?”</a:t>
            </a:r>
          </a:p>
          <a:p>
            <a:pPr lvl="1"/>
            <a:r>
              <a:rPr lang="en-US" dirty="0"/>
              <a:t>Control plane deals with “what?”</a:t>
            </a:r>
          </a:p>
          <a:p>
            <a:r>
              <a:rPr lang="en-US" dirty="0"/>
              <a:t>IP is simple yet nuanced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17,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10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theme/theme1.xml><?xml version="1.0" encoding="utf-8"?>
<a:theme xmlns:a="http://schemas.openxmlformats.org/drawingml/2006/main" name="dbllineb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c:\msoffice\powerpnt\template\bwovrhd\dbllineb.ppt</Template>
  <TotalTime>1490453275</TotalTime>
  <Pages>7</Pages>
  <Words>2745</Words>
  <Application>Microsoft Macintosh PowerPoint</Application>
  <PresentationFormat>On-screen Show (4:3)</PresentationFormat>
  <Paragraphs>842</Paragraphs>
  <Slides>56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5" baseType="lpstr">
      <vt:lpstr>ＭＳ Ｐゴシック</vt:lpstr>
      <vt:lpstr>Arial</vt:lpstr>
      <vt:lpstr>Arial Black</vt:lpstr>
      <vt:lpstr>Courier New</vt:lpstr>
      <vt:lpstr>Gill Sans</vt:lpstr>
      <vt:lpstr>Monotype Sorts</vt:lpstr>
      <vt:lpstr>Times New Roman</vt:lpstr>
      <vt:lpstr>Wingdings</vt:lpstr>
      <vt:lpstr>dbllineb</vt:lpstr>
      <vt:lpstr>EECS 489 Computer Networks  Winter 2025</vt:lpstr>
      <vt:lpstr>Agenda</vt:lpstr>
      <vt:lpstr>Network layer</vt:lpstr>
      <vt:lpstr>Context and terminology</vt:lpstr>
      <vt:lpstr>Forwarding</vt:lpstr>
      <vt:lpstr>Forwarding</vt:lpstr>
      <vt:lpstr>Forwarding</vt:lpstr>
      <vt:lpstr>Routing</vt:lpstr>
      <vt:lpstr>Forwarding vs. routing</vt:lpstr>
      <vt:lpstr>The IP layer</vt:lpstr>
      <vt:lpstr>Lecture 2:  Layer encapsulation</vt:lpstr>
      <vt:lpstr>Recall: IP packet</vt:lpstr>
      <vt:lpstr>Designing the IP header</vt:lpstr>
      <vt:lpstr>What are these tasks? (in network)</vt:lpstr>
      <vt:lpstr>What information do we need?</vt:lpstr>
      <vt:lpstr>What information do we need?</vt:lpstr>
      <vt:lpstr>What information do we need?</vt:lpstr>
      <vt:lpstr>Preventing loops (TTL)</vt:lpstr>
      <vt:lpstr>Header corruption (Checksum)</vt:lpstr>
      <vt:lpstr>Fragmentation </vt:lpstr>
      <vt:lpstr>What information do we need?</vt:lpstr>
      <vt:lpstr>Special handling</vt:lpstr>
      <vt:lpstr>Options</vt:lpstr>
      <vt:lpstr>What information do we need?</vt:lpstr>
      <vt:lpstr>IP packet structure</vt:lpstr>
      <vt:lpstr>Parse packet</vt:lpstr>
      <vt:lpstr>IP packet structure</vt:lpstr>
      <vt:lpstr>Tasks at the destination end-system</vt:lpstr>
      <vt:lpstr>Telling end-host how to handle packet</vt:lpstr>
      <vt:lpstr>Telling end-host how to handle packet</vt:lpstr>
      <vt:lpstr>Tasks at the destination end-system</vt:lpstr>
      <vt:lpstr>IP packet structure</vt:lpstr>
      <vt:lpstr>5-minute break!</vt:lpstr>
      <vt:lpstr>Dealing with fragmentation</vt:lpstr>
      <vt:lpstr>A closer look at fragmentation </vt:lpstr>
      <vt:lpstr>Example of fragmentation</vt:lpstr>
      <vt:lpstr>Example of fragmentation</vt:lpstr>
      <vt:lpstr>Why reassemble?</vt:lpstr>
      <vt:lpstr>A few considerations</vt:lpstr>
      <vt:lpstr>Where should reassembly occur?</vt:lpstr>
      <vt:lpstr>Reassembly: What fields?</vt:lpstr>
      <vt:lpstr>IPv4’s fragmentation fields</vt:lpstr>
      <vt:lpstr>IP packet structure</vt:lpstr>
      <vt:lpstr>Why this works</vt:lpstr>
      <vt:lpstr>Example of fragmentation (contd.)</vt:lpstr>
      <vt:lpstr>Example of fragmentation, contd.</vt:lpstr>
      <vt:lpstr>Example of fragmentation, contd.</vt:lpstr>
      <vt:lpstr>Example of fragmentation, contd.</vt:lpstr>
      <vt:lpstr>Example of fragmentation, contd.</vt:lpstr>
      <vt:lpstr>A quick look into IPv6</vt:lpstr>
      <vt:lpstr>IPv6</vt:lpstr>
      <vt:lpstr>What “clean up” would you do?</vt:lpstr>
      <vt:lpstr>IPv4 and IPv6 header comparison</vt:lpstr>
      <vt:lpstr>Summary of changes</vt:lpstr>
      <vt:lpstr>Philosophy of changes</vt:lpstr>
      <vt:lpstr>Summary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Chowdhury, Mosharaf</cp:lastModifiedBy>
  <cp:revision>1239</cp:revision>
  <cp:lastPrinted>1999-09-08T17:25:07Z</cp:lastPrinted>
  <dcterms:created xsi:type="dcterms:W3CDTF">2014-01-14T18:15:50Z</dcterms:created>
  <dcterms:modified xsi:type="dcterms:W3CDTF">2025-02-13T16:14:01Z</dcterms:modified>
  <cp:category/>
</cp:coreProperties>
</file>