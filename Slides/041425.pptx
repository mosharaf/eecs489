
<file path=[Content_Types].xml><?xml version="1.0" encoding="utf-8"?>
<Types xmlns="http://schemas.openxmlformats.org/package/2006/content-types">
  <Default Extension="emf" ContentType="image/x-emf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tags/tag1.xml" ContentType="application/vnd.openxmlformats-officedocument.presentationml.tags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tags/tag2.xml" ContentType="application/vnd.openxmlformats-officedocument.presentationml.tags+xml"/>
  <Override PartName="/ppt/notesSlides/notesSlide15.xml" ContentType="application/vnd.openxmlformats-officedocument.presentationml.notesSlide+xml"/>
  <Override PartName="/ppt/tags/tag3.xml" ContentType="application/vnd.openxmlformats-officedocument.presentationml.tags+xml"/>
  <Override PartName="/ppt/notesSlides/notesSlide16.xml" ContentType="application/vnd.openxmlformats-officedocument.presentationml.notesSlide+xml"/>
  <Override PartName="/ppt/tags/tag4.xml" ContentType="application/vnd.openxmlformats-officedocument.presentationml.tags+xml"/>
  <Override PartName="/ppt/notesSlides/notesSlide17.xml" ContentType="application/vnd.openxmlformats-officedocument.presentationml.notesSlide+xml"/>
  <Override PartName="/ppt/charts/chart1.xml" ContentType="application/vnd.openxmlformats-officedocument.drawingml.chart+xml"/>
  <Override PartName="/ppt/tags/tag5.xml" ContentType="application/vnd.openxmlformats-officedocument.presentationml.tags+xml"/>
  <Override PartName="/ppt/notesSlides/notesSlide18.xml" ContentType="application/vnd.openxmlformats-officedocument.presentationml.notesSlide+xml"/>
  <Override PartName="/ppt/tags/tag6.xml" ContentType="application/vnd.openxmlformats-officedocument.presentationml.tags+xml"/>
  <Override PartName="/ppt/notesSlides/notesSlide19.xml" ContentType="application/vnd.openxmlformats-officedocument.presentationml.notesSlide+xml"/>
  <Override PartName="/ppt/tags/tag7.xml" ContentType="application/vnd.openxmlformats-officedocument.presentationml.tags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>
  <p:sldMasterIdLst>
    <p:sldMasterId id="2147483648" r:id="rId1"/>
  </p:sldMasterIdLst>
  <p:notesMasterIdLst>
    <p:notesMasterId r:id="rId49"/>
  </p:notesMasterIdLst>
  <p:handoutMasterIdLst>
    <p:handoutMasterId r:id="rId50"/>
  </p:handoutMasterIdLst>
  <p:sldIdLst>
    <p:sldId id="258" r:id="rId2"/>
    <p:sldId id="487" r:id="rId3"/>
    <p:sldId id="513" r:id="rId4"/>
    <p:sldId id="514" r:id="rId5"/>
    <p:sldId id="516" r:id="rId6"/>
    <p:sldId id="517" r:id="rId7"/>
    <p:sldId id="518" r:id="rId8"/>
    <p:sldId id="519" r:id="rId9"/>
    <p:sldId id="520" r:id="rId10"/>
    <p:sldId id="521" r:id="rId11"/>
    <p:sldId id="524" r:id="rId12"/>
    <p:sldId id="525" r:id="rId13"/>
    <p:sldId id="526" r:id="rId14"/>
    <p:sldId id="527" r:id="rId15"/>
    <p:sldId id="528" r:id="rId16"/>
    <p:sldId id="529" r:id="rId17"/>
    <p:sldId id="530" r:id="rId18"/>
    <p:sldId id="531" r:id="rId19"/>
    <p:sldId id="532" r:id="rId20"/>
    <p:sldId id="533" r:id="rId21"/>
    <p:sldId id="534" r:id="rId22"/>
    <p:sldId id="535" r:id="rId23"/>
    <p:sldId id="536" r:id="rId24"/>
    <p:sldId id="559" r:id="rId25"/>
    <p:sldId id="537" r:id="rId26"/>
    <p:sldId id="538" r:id="rId27"/>
    <p:sldId id="539" r:id="rId28"/>
    <p:sldId id="540" r:id="rId29"/>
    <p:sldId id="541" r:id="rId30"/>
    <p:sldId id="543" r:id="rId31"/>
    <p:sldId id="544" r:id="rId32"/>
    <p:sldId id="545" r:id="rId33"/>
    <p:sldId id="547" r:id="rId34"/>
    <p:sldId id="548" r:id="rId35"/>
    <p:sldId id="549" r:id="rId36"/>
    <p:sldId id="550" r:id="rId37"/>
    <p:sldId id="551" r:id="rId38"/>
    <p:sldId id="552" r:id="rId39"/>
    <p:sldId id="553" r:id="rId40"/>
    <p:sldId id="554" r:id="rId41"/>
    <p:sldId id="556" r:id="rId42"/>
    <p:sldId id="512" r:id="rId43"/>
    <p:sldId id="558" r:id="rId44"/>
    <p:sldId id="522" r:id="rId45"/>
    <p:sldId id="523" r:id="rId46"/>
    <p:sldId id="546" r:id="rId47"/>
    <p:sldId id="557" r:id="rId48"/>
  </p:sldIdLst>
  <p:sldSz cx="9144000" cy="6858000" type="screen4x3"/>
  <p:notesSz cx="7315200" cy="96012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1pPr>
    <a:lvl2pPr marL="457200" algn="l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2pPr>
    <a:lvl3pPr marL="914400" algn="l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3pPr>
    <a:lvl4pPr marL="1371600" algn="l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4pPr>
    <a:lvl5pPr marL="1828800" algn="l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5pPr>
    <a:lvl6pPr marL="2286000" algn="l" defTabSz="457200" rtl="0" eaLnBrk="1" latinLnBrk="0" hangingPunct="1"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6pPr>
    <a:lvl7pPr marL="2743200" algn="l" defTabSz="457200" rtl="0" eaLnBrk="1" latinLnBrk="0" hangingPunct="1"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7pPr>
    <a:lvl8pPr marL="3200400" algn="l" defTabSz="457200" rtl="0" eaLnBrk="1" latinLnBrk="0" hangingPunct="1"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8pPr>
    <a:lvl9pPr marL="3657600" algn="l" defTabSz="457200" rtl="0" eaLnBrk="1" latinLnBrk="0" hangingPunct="1"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24">
          <p15:clr>
            <a:srgbClr val="A4A3A4"/>
          </p15:clr>
        </p15:guide>
        <p15:guide id="2" pos="230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D3A600"/>
    <a:srgbClr val="333399"/>
    <a:srgbClr val="FFCB05"/>
    <a:srgbClr val="FF9900"/>
    <a:srgbClr val="00274C"/>
    <a:srgbClr val="009900"/>
    <a:srgbClr val="D60093"/>
    <a:srgbClr val="FF3300"/>
    <a:srgbClr val="FFCC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154"/>
    <p:restoredTop sz="94507"/>
  </p:normalViewPr>
  <p:slideViewPr>
    <p:cSldViewPr>
      <p:cViewPr varScale="1">
        <p:scale>
          <a:sx n="112" d="100"/>
          <a:sy n="112" d="100"/>
        </p:scale>
        <p:origin x="1528" y="18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>
      <p:cViewPr varScale="1">
        <p:scale>
          <a:sx n="82" d="100"/>
          <a:sy n="82" d="100"/>
        </p:scale>
        <p:origin x="-1914" y="-90"/>
      </p:cViewPr>
      <p:guideLst>
        <p:guide orient="horz" pos="3024"/>
        <p:guide pos="2304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oleObject" Target="Workbook1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26"/>
    </mc:Choice>
    <mc:Fallback>
      <c:style val="26"/>
    </mc:Fallback>
  </mc:AlternateContent>
  <c:chart>
    <c:autoTitleDeleted val="0"/>
    <c:plotArea>
      <c:layout>
        <c:manualLayout>
          <c:layoutTarget val="inner"/>
          <c:xMode val="edge"/>
          <c:yMode val="edge"/>
          <c:x val="0.29198719486178698"/>
          <c:y val="0.146432545931759"/>
          <c:w val="0.408602417344891"/>
          <c:h val="0.61172335958005197"/>
        </c:manualLayout>
      </c:layout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Ideal</c:v>
                </c:pt>
              </c:strCache>
            </c:strRef>
          </c:tx>
          <c:spPr>
            <a:ln w="38100">
              <a:solidFill>
                <a:srgbClr val="D3A600"/>
              </a:solidFill>
            </a:ln>
            <a:effectLst/>
          </c:spPr>
          <c:marker>
            <c:symbol val="diamond"/>
            <c:size val="6"/>
            <c:spPr>
              <a:solidFill>
                <a:srgbClr val="D3A600"/>
              </a:solidFill>
              <a:ln>
                <a:solidFill>
                  <a:srgbClr val="D3A600"/>
                </a:solidFill>
              </a:ln>
              <a:effectLst/>
            </c:spPr>
          </c:marker>
          <c:cat>
            <c:numRef>
              <c:f>Sheet1!$A$21:$A$28</c:f>
              <c:numCache>
                <c:formatCode>General</c:formatCode>
                <c:ptCount val="8"/>
                <c:pt idx="0">
                  <c:v>0.1</c:v>
                </c:pt>
                <c:pt idx="1">
                  <c:v>0.2</c:v>
                </c:pt>
                <c:pt idx="2">
                  <c:v>0.3</c:v>
                </c:pt>
                <c:pt idx="3">
                  <c:v>0.4</c:v>
                </c:pt>
                <c:pt idx="4">
                  <c:v>0.5</c:v>
                </c:pt>
                <c:pt idx="5">
                  <c:v>0.6</c:v>
                </c:pt>
                <c:pt idx="6">
                  <c:v>0.7</c:v>
                </c:pt>
                <c:pt idx="7">
                  <c:v>0.8</c:v>
                </c:pt>
              </c:numCache>
            </c:numRef>
          </c:cat>
          <c:val>
            <c:numRef>
              <c:f>Sheet1!$B$21:$B$28</c:f>
              <c:numCache>
                <c:formatCode>General</c:formatCode>
                <c:ptCount val="8"/>
                <c:pt idx="0">
                  <c:v>1.0066459999999999</c:v>
                </c:pt>
                <c:pt idx="1">
                  <c:v>1.001773</c:v>
                </c:pt>
                <c:pt idx="2">
                  <c:v>1.0026189999999999</c:v>
                </c:pt>
                <c:pt idx="3">
                  <c:v>1.003519</c:v>
                </c:pt>
                <c:pt idx="4">
                  <c:v>1.005064</c:v>
                </c:pt>
                <c:pt idx="5">
                  <c:v>1.0060819999999999</c:v>
                </c:pt>
                <c:pt idx="6">
                  <c:v>1.0069889999999999</c:v>
                </c:pt>
                <c:pt idx="7">
                  <c:v>1.008016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C62-204C-BAE5-51EB8B9AFDB4}"/>
            </c:ext>
          </c:extLst>
        </c:ser>
        <c:ser>
          <c:idx val="3"/>
          <c:order val="1"/>
          <c:tx>
            <c:strRef>
              <c:f>Sheet1!$E$1</c:f>
              <c:strCache>
                <c:ptCount val="1"/>
                <c:pt idx="0">
                  <c:v>DCTCP</c:v>
                </c:pt>
              </c:strCache>
            </c:strRef>
          </c:tx>
          <c:spPr>
            <a:ln w="38100"/>
          </c:spPr>
          <c:marker>
            <c:symbol val="x"/>
            <c:size val="6"/>
          </c:marker>
          <c:cat>
            <c:numRef>
              <c:f>Sheet1!$A$21:$A$28</c:f>
              <c:numCache>
                <c:formatCode>General</c:formatCode>
                <c:ptCount val="8"/>
                <c:pt idx="0">
                  <c:v>0.1</c:v>
                </c:pt>
                <c:pt idx="1">
                  <c:v>0.2</c:v>
                </c:pt>
                <c:pt idx="2">
                  <c:v>0.3</c:v>
                </c:pt>
                <c:pt idx="3">
                  <c:v>0.4</c:v>
                </c:pt>
                <c:pt idx="4">
                  <c:v>0.5</c:v>
                </c:pt>
                <c:pt idx="5">
                  <c:v>0.6</c:v>
                </c:pt>
                <c:pt idx="6">
                  <c:v>0.7</c:v>
                </c:pt>
                <c:pt idx="7">
                  <c:v>0.8</c:v>
                </c:pt>
              </c:numCache>
            </c:numRef>
          </c:cat>
          <c:val>
            <c:numRef>
              <c:f>Sheet1!$E$21:$E$28</c:f>
              <c:numCache>
                <c:formatCode>General</c:formatCode>
                <c:ptCount val="8"/>
                <c:pt idx="0">
                  <c:v>1.2776909999999999</c:v>
                </c:pt>
                <c:pt idx="1">
                  <c:v>1.5442210000000001</c:v>
                </c:pt>
                <c:pt idx="2">
                  <c:v>1.791598</c:v>
                </c:pt>
                <c:pt idx="3">
                  <c:v>2.0475970000000001</c:v>
                </c:pt>
                <c:pt idx="4">
                  <c:v>2.3293520000000001</c:v>
                </c:pt>
                <c:pt idx="5">
                  <c:v>2.661969</c:v>
                </c:pt>
                <c:pt idx="6">
                  <c:v>3.063145</c:v>
                </c:pt>
                <c:pt idx="7">
                  <c:v>3.5959500000000002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6C62-204C-BAE5-51EB8B9AFDB4}"/>
            </c:ext>
          </c:extLst>
        </c:ser>
        <c:ser>
          <c:idx val="4"/>
          <c:order val="2"/>
          <c:tx>
            <c:strRef>
              <c:f>Sheet1!$F$1</c:f>
              <c:strCache>
                <c:ptCount val="1"/>
                <c:pt idx="0">
                  <c:v>TCP-DropTail</c:v>
                </c:pt>
              </c:strCache>
            </c:strRef>
          </c:tx>
          <c:spPr>
            <a:ln w="38100">
              <a:solidFill>
                <a:schemeClr val="accent6"/>
              </a:solidFill>
            </a:ln>
          </c:spPr>
          <c:marker>
            <c:symbol val="circle"/>
            <c:size val="6"/>
            <c:spPr>
              <a:solidFill>
                <a:schemeClr val="accent6"/>
              </a:solidFill>
              <a:ln>
                <a:solidFill>
                  <a:schemeClr val="accent6">
                    <a:lumMod val="75000"/>
                  </a:schemeClr>
                </a:solidFill>
              </a:ln>
            </c:spPr>
          </c:marker>
          <c:cat>
            <c:numRef>
              <c:f>Sheet1!$A$21:$A$28</c:f>
              <c:numCache>
                <c:formatCode>General</c:formatCode>
                <c:ptCount val="8"/>
                <c:pt idx="0">
                  <c:v>0.1</c:v>
                </c:pt>
                <c:pt idx="1">
                  <c:v>0.2</c:v>
                </c:pt>
                <c:pt idx="2">
                  <c:v>0.3</c:v>
                </c:pt>
                <c:pt idx="3">
                  <c:v>0.4</c:v>
                </c:pt>
                <c:pt idx="4">
                  <c:v>0.5</c:v>
                </c:pt>
                <c:pt idx="5">
                  <c:v>0.6</c:v>
                </c:pt>
                <c:pt idx="6">
                  <c:v>0.7</c:v>
                </c:pt>
                <c:pt idx="7">
                  <c:v>0.8</c:v>
                </c:pt>
              </c:numCache>
            </c:numRef>
          </c:cat>
          <c:val>
            <c:numRef>
              <c:f>Sheet1!$F$21:$F$28</c:f>
              <c:numCache>
                <c:formatCode>General</c:formatCode>
                <c:ptCount val="8"/>
                <c:pt idx="0">
                  <c:v>2.712796</c:v>
                </c:pt>
                <c:pt idx="1">
                  <c:v>3.8866070000000001</c:v>
                </c:pt>
                <c:pt idx="2">
                  <c:v>5.0536940000000001</c:v>
                </c:pt>
                <c:pt idx="3">
                  <c:v>6.5398189999999996</c:v>
                </c:pt>
                <c:pt idx="4">
                  <c:v>8.4255969999999998</c:v>
                </c:pt>
                <c:pt idx="5">
                  <c:v>11.081239</c:v>
                </c:pt>
                <c:pt idx="6">
                  <c:v>15.050176</c:v>
                </c:pt>
                <c:pt idx="7">
                  <c:v>20.373317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6C62-204C-BAE5-51EB8B9AFDB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-1079108944"/>
        <c:axId val="-1079102000"/>
      </c:lineChart>
      <c:catAx>
        <c:axId val="-107910894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/>
                </a:pPr>
                <a:r>
                  <a:rPr lang="en-US"/>
                  <a:t>Load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nextTo"/>
        <c:spPr>
          <a:ln>
            <a:solidFill>
              <a:schemeClr val="accent2"/>
            </a:solidFill>
          </a:ln>
        </c:spPr>
        <c:crossAx val="-1079102000"/>
        <c:crosses val="autoZero"/>
        <c:auto val="1"/>
        <c:lblAlgn val="ctr"/>
        <c:lblOffset val="100"/>
        <c:noMultiLvlLbl val="0"/>
      </c:catAx>
      <c:valAx>
        <c:axId val="-1079102000"/>
        <c:scaling>
          <c:orientation val="minMax"/>
          <c:max val="10"/>
        </c:scaling>
        <c:delete val="0"/>
        <c:axPos val="l"/>
        <c:title>
          <c:tx>
            <c:rich>
              <a:bodyPr rot="-5400000" vert="horz"/>
              <a:lstStyle/>
              <a:p>
                <a:pPr>
                  <a:defRPr/>
                </a:pPr>
                <a:r>
                  <a:rPr lang="en-US"/>
                  <a:t>Normalized FCT 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nextTo"/>
        <c:spPr>
          <a:ln>
            <a:solidFill>
              <a:schemeClr val="accent2"/>
            </a:solidFill>
          </a:ln>
        </c:spPr>
        <c:crossAx val="-1079108944"/>
        <c:crosses val="autoZero"/>
        <c:crossBetween val="between"/>
      </c:valAx>
    </c:plotArea>
    <c:legend>
      <c:legendPos val="t"/>
      <c:layout>
        <c:manualLayout>
          <c:xMode val="edge"/>
          <c:yMode val="edge"/>
          <c:x val="0.19390072564458899"/>
          <c:y val="3.0314960629921099E-4"/>
          <c:w val="0.61982476455149005"/>
          <c:h val="0.109467979002625"/>
        </c:manualLayout>
      </c:layout>
      <c:overlay val="0"/>
    </c:legend>
    <c:plotVisOnly val="1"/>
    <c:dispBlanksAs val="gap"/>
    <c:showDLblsOverMax val="0"/>
  </c:chart>
  <c:txPr>
    <a:bodyPr/>
    <a:lstStyle/>
    <a:p>
      <a:pPr>
        <a:defRPr sz="1600">
          <a:solidFill>
            <a:schemeClr val="accent2"/>
          </a:solidFill>
        </a:defRPr>
      </a:pPr>
      <a:endParaRPr lang="en-US"/>
    </a:p>
  </c:txPr>
  <c:externalData r:id="rId1">
    <c:autoUpdate val="0"/>
  </c:externalData>
</c:chartSpac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t" anchorCtr="0" compatLnSpc="1">
            <a:prstTxWarp prst="textNoShape">
              <a:avLst/>
            </a:prstTxWarp>
          </a:bodyPr>
          <a:lstStyle>
            <a:lvl1pPr defTabSz="965200" eaLnBrk="0" hangingPunct="0">
              <a:defRPr sz="1100" b="0" i="1"/>
            </a:lvl1pPr>
          </a:lstStyle>
          <a:p>
            <a:endParaRPr lang="en-US"/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143375" y="0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t" anchorCtr="0" compatLnSpc="1">
            <a:prstTxWarp prst="textNoShape">
              <a:avLst/>
            </a:prstTxWarp>
          </a:bodyPr>
          <a:lstStyle>
            <a:lvl1pPr algn="r" defTabSz="965200" eaLnBrk="0" hangingPunct="0">
              <a:defRPr sz="1100" b="0" i="1"/>
            </a:lvl1pPr>
          </a:lstStyle>
          <a:p>
            <a:endParaRPr lang="en-US"/>
          </a:p>
        </p:txBody>
      </p:sp>
      <p:sp>
        <p:nvSpPr>
          <p:cNvPr id="307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121775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b" anchorCtr="0" compatLnSpc="1">
            <a:prstTxWarp prst="textNoShape">
              <a:avLst/>
            </a:prstTxWarp>
          </a:bodyPr>
          <a:lstStyle>
            <a:lvl1pPr defTabSz="965200" eaLnBrk="0" hangingPunct="0">
              <a:defRPr sz="1100" b="0" i="1"/>
            </a:lvl1pPr>
          </a:lstStyle>
          <a:p>
            <a:endParaRPr lang="en-US"/>
          </a:p>
        </p:txBody>
      </p:sp>
      <p:sp>
        <p:nvSpPr>
          <p:cNvPr id="307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143375" y="9121775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b" anchorCtr="0" compatLnSpc="1">
            <a:prstTxWarp prst="textNoShape">
              <a:avLst/>
            </a:prstTxWarp>
          </a:bodyPr>
          <a:lstStyle>
            <a:lvl1pPr algn="r" defTabSz="965200" eaLnBrk="0" hangingPunct="0">
              <a:defRPr sz="1100" b="0" i="1"/>
            </a:lvl1pPr>
          </a:lstStyle>
          <a:p>
            <a:fld id="{B29687F7-08B4-A54B-BC56-F290ADA497A1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38747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t" anchorCtr="0" compatLnSpc="1">
            <a:prstTxWarp prst="textNoShape">
              <a:avLst/>
            </a:prstTxWarp>
          </a:bodyPr>
          <a:lstStyle>
            <a:lvl1pPr defTabSz="965200" eaLnBrk="0" hangingPunct="0">
              <a:defRPr sz="1100" b="0" i="1">
                <a:latin typeface="Times New Roman" charset="0"/>
              </a:defRPr>
            </a:lvl1pPr>
          </a:lstStyle>
          <a:p>
            <a:endParaRPr lang="en-US"/>
          </a:p>
        </p:txBody>
      </p:sp>
      <p:sp>
        <p:nvSpPr>
          <p:cNvPr id="205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4143375" y="0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t" anchorCtr="0" compatLnSpc="1">
            <a:prstTxWarp prst="textNoShape">
              <a:avLst/>
            </a:prstTxWarp>
          </a:bodyPr>
          <a:lstStyle>
            <a:lvl1pPr algn="r" defTabSz="965200" eaLnBrk="0" hangingPunct="0">
              <a:defRPr sz="1100" b="0" i="1">
                <a:latin typeface="Times New Roman" charset="0"/>
              </a:defRPr>
            </a:lvl1pPr>
          </a:lstStyle>
          <a:p>
            <a:endParaRPr lang="en-US"/>
          </a:p>
        </p:txBody>
      </p:sp>
      <p:sp>
        <p:nvSpPr>
          <p:cNvPr id="2052" name="Rectangle 4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121775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b" anchorCtr="0" compatLnSpc="1">
            <a:prstTxWarp prst="textNoShape">
              <a:avLst/>
            </a:prstTxWarp>
          </a:bodyPr>
          <a:lstStyle>
            <a:lvl1pPr defTabSz="965200" eaLnBrk="0" hangingPunct="0">
              <a:defRPr sz="1100" b="0" i="1">
                <a:latin typeface="Times New Roman" charset="0"/>
              </a:defRPr>
            </a:lvl1pPr>
          </a:lstStyle>
          <a:p>
            <a:endParaRPr lang="en-US"/>
          </a:p>
        </p:txBody>
      </p:sp>
      <p:sp>
        <p:nvSpPr>
          <p:cNvPr id="2053" name="Rectangle 5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143375" y="9121775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b" anchorCtr="0" compatLnSpc="1">
            <a:prstTxWarp prst="textNoShape">
              <a:avLst/>
            </a:prstTxWarp>
          </a:bodyPr>
          <a:lstStyle>
            <a:lvl1pPr algn="r" defTabSz="965200" eaLnBrk="0" hangingPunct="0">
              <a:defRPr sz="1100" b="0" i="1">
                <a:latin typeface="Times New Roman" charset="0"/>
              </a:defRPr>
            </a:lvl1pPr>
          </a:lstStyle>
          <a:p>
            <a:fld id="{C7E9A20B-E167-2E4E-BE18-AA9F5BF5FBB1}" type="slidenum">
              <a:rPr lang="en-US"/>
              <a:pPr/>
              <a:t>‹#›</a:t>
            </a:fld>
            <a:endParaRPr lang="en-US"/>
          </a:p>
        </p:txBody>
      </p:sp>
      <p:sp>
        <p:nvSpPr>
          <p:cNvPr id="2054" name="Rectangle 6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74725" y="4560888"/>
            <a:ext cx="5365750" cy="43195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7154" tIns="48580" rIns="97154" bIns="4858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notes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343" name="Rectangle 7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268413" y="727075"/>
            <a:ext cx="4781550" cy="3586163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</p:spTree>
    <p:extLst>
      <p:ext uri="{BB962C8B-B14F-4D97-AF65-F5344CB8AC3E}">
        <p14:creationId xmlns:p14="http://schemas.microsoft.com/office/powerpoint/2010/main" val="215147315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ＭＳ Ｐゴシック" charset="-128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5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5200" eaLnBrk="0" hangingPunct="0"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defTabSz="965200" eaLnBrk="0" hangingPunct="0"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fld id="{914EF427-E3A8-D542-91D3-317F25033480}" type="slidenum">
              <a:rPr lang="en-US" sz="1100" b="0">
                <a:latin typeface="Times New Roman" charset="0"/>
              </a:rPr>
              <a:pPr/>
              <a:t>1</a:t>
            </a:fld>
            <a:endParaRPr lang="en-US" sz="1100" b="0">
              <a:latin typeface="Times New Roman" charset="0"/>
            </a:endParaRPr>
          </a:p>
        </p:txBody>
      </p:sp>
      <p:sp>
        <p:nvSpPr>
          <p:cNvPr id="1638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268413" y="727075"/>
            <a:ext cx="4781550" cy="3586163"/>
          </a:xfrm>
          <a:ln/>
        </p:spPr>
      </p:sp>
      <p:sp>
        <p:nvSpPr>
          <p:cNvPr id="1638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13302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E9A20B-E167-2E4E-BE18-AA9F5BF5FBB1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172060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Few</a:t>
            </a:r>
            <a:r>
              <a:rPr lang="en-US" baseline="0" dirty="0"/>
              <a:t> things to notice: </a:t>
            </a:r>
          </a:p>
          <a:p>
            <a:pPr marL="228600" indent="-228600">
              <a:buAutoNum type="arabicParenR"/>
            </a:pPr>
            <a:r>
              <a:rPr lang="en-US" baseline="0" dirty="0"/>
              <a:t>3 stages (can think of as edge / aggregation / core) </a:t>
            </a:r>
          </a:p>
          <a:p>
            <a:pPr marL="228600" indent="-228600">
              <a:buAutoNum type="arabicParenR"/>
            </a:pPr>
            <a:r>
              <a:rPr lang="en-US" baseline="0" dirty="0"/>
              <a:t>All switches have same number of ports (=4) [hence k^3/4=16 end hosts]</a:t>
            </a:r>
          </a:p>
          <a:p>
            <a:pPr marL="228600" indent="-228600">
              <a:buAutoNum type="arabicParenR"/>
            </a:pPr>
            <a:r>
              <a:rPr lang="en-US" baseline="0" dirty="0"/>
              <a:t>All links have same speed</a:t>
            </a:r>
          </a:p>
          <a:p>
            <a:pPr marL="228600" indent="-228600">
              <a:buAutoNum type="arabicParenR"/>
            </a:pPr>
            <a:r>
              <a:rPr lang="en-US" baseline="0" dirty="0"/>
              <a:t>Many paths</a:t>
            </a:r>
          </a:p>
          <a:p>
            <a:pPr marL="0" indent="0">
              <a:buNone/>
            </a:pPr>
            <a:endParaRPr lang="en-US" baseline="0" dirty="0"/>
          </a:p>
          <a:p>
            <a:pPr marL="228600" indent="-228600">
              <a:buAutoNum type="arabicParenR"/>
            </a:pPr>
            <a:endParaRPr lang="en-US" baseline="0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28F53F2-D707-B442-9ED8-EC380A4FAAA7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0132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Few</a:t>
            </a:r>
            <a:r>
              <a:rPr lang="en-US" baseline="0" dirty="0"/>
              <a:t> things to notice: </a:t>
            </a:r>
          </a:p>
          <a:p>
            <a:pPr marL="228600" indent="-228600">
              <a:buAutoNum type="arabicParenR"/>
            </a:pPr>
            <a:r>
              <a:rPr lang="en-US" baseline="0" dirty="0"/>
              <a:t>3 stages (can think of as edge / aggregation / core) </a:t>
            </a:r>
          </a:p>
          <a:p>
            <a:pPr marL="228600" indent="-228600">
              <a:buAutoNum type="arabicParenR"/>
            </a:pPr>
            <a:r>
              <a:rPr lang="en-US" baseline="0" dirty="0"/>
              <a:t>All switches have same number of ports (=4) [hence k^3/4=16 end hosts]</a:t>
            </a:r>
          </a:p>
          <a:p>
            <a:pPr marL="228600" indent="-228600">
              <a:buAutoNum type="arabicParenR"/>
            </a:pPr>
            <a:r>
              <a:rPr lang="en-US" baseline="0" dirty="0"/>
              <a:t>All links have same speed</a:t>
            </a:r>
          </a:p>
          <a:p>
            <a:pPr marL="228600" indent="-228600">
              <a:buAutoNum type="arabicParenR"/>
            </a:pPr>
            <a:r>
              <a:rPr lang="en-US" baseline="0" dirty="0"/>
              <a:t>Many paths</a:t>
            </a:r>
          </a:p>
          <a:p>
            <a:pPr marL="0" indent="0">
              <a:buNone/>
            </a:pPr>
            <a:endParaRPr lang="en-US" baseline="0" dirty="0"/>
          </a:p>
          <a:p>
            <a:pPr marL="228600" indent="-228600">
              <a:buAutoNum type="arabicParenR"/>
            </a:pPr>
            <a:endParaRPr lang="en-US" baseline="0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28F53F2-D707-B442-9ED8-EC380A4FAAA7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570588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Few</a:t>
            </a:r>
            <a:r>
              <a:rPr lang="en-US" baseline="0" dirty="0"/>
              <a:t> things to notice: </a:t>
            </a:r>
          </a:p>
          <a:p>
            <a:pPr marL="228600" indent="-228600">
              <a:buAutoNum type="arabicParenR"/>
            </a:pPr>
            <a:r>
              <a:rPr lang="en-US" baseline="0" dirty="0"/>
              <a:t>3 stages (can think of as edge / aggregation / core) </a:t>
            </a:r>
          </a:p>
          <a:p>
            <a:pPr marL="228600" indent="-228600">
              <a:buAutoNum type="arabicParenR"/>
            </a:pPr>
            <a:r>
              <a:rPr lang="en-US" baseline="0" dirty="0"/>
              <a:t>All switches have same number of ports (=4) [hence k^3/4=16 end hosts]</a:t>
            </a:r>
          </a:p>
          <a:p>
            <a:pPr marL="228600" indent="-228600">
              <a:buAutoNum type="arabicParenR"/>
            </a:pPr>
            <a:r>
              <a:rPr lang="en-US" baseline="0" dirty="0"/>
              <a:t>All links have same speed</a:t>
            </a:r>
          </a:p>
          <a:p>
            <a:pPr marL="228600" indent="-228600">
              <a:buAutoNum type="arabicParenR"/>
            </a:pPr>
            <a:r>
              <a:rPr lang="en-US" baseline="0" dirty="0"/>
              <a:t>Many paths</a:t>
            </a:r>
          </a:p>
          <a:p>
            <a:pPr marL="0" indent="0">
              <a:buNone/>
            </a:pPr>
            <a:endParaRPr lang="en-US" baseline="0" dirty="0"/>
          </a:p>
          <a:p>
            <a:pPr marL="228600" indent="-228600">
              <a:buAutoNum type="arabicParenR"/>
            </a:pPr>
            <a:endParaRPr lang="en-US" baseline="0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28F53F2-D707-B442-9ED8-EC380A4FAAA7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125549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Few</a:t>
            </a:r>
            <a:r>
              <a:rPr lang="en-US" baseline="0" dirty="0"/>
              <a:t> things to notice: </a:t>
            </a:r>
          </a:p>
          <a:p>
            <a:pPr marL="228600" indent="-228600">
              <a:buAutoNum type="arabicParenR"/>
            </a:pPr>
            <a:r>
              <a:rPr lang="en-US" baseline="0" dirty="0"/>
              <a:t>3 stages (can think of as edge / aggregation / core) </a:t>
            </a:r>
          </a:p>
          <a:p>
            <a:pPr marL="228600" indent="-228600">
              <a:buAutoNum type="arabicParenR"/>
            </a:pPr>
            <a:r>
              <a:rPr lang="en-US" baseline="0" dirty="0"/>
              <a:t>All switches have same number of ports (=4) [hence k^3/4=16 end hosts]</a:t>
            </a:r>
          </a:p>
          <a:p>
            <a:pPr marL="228600" indent="-228600">
              <a:buAutoNum type="arabicParenR"/>
            </a:pPr>
            <a:r>
              <a:rPr lang="en-US" baseline="0" dirty="0"/>
              <a:t>All links have same speed</a:t>
            </a:r>
          </a:p>
          <a:p>
            <a:pPr marL="228600" indent="-228600">
              <a:buAutoNum type="arabicParenR"/>
            </a:pPr>
            <a:r>
              <a:rPr lang="en-US" baseline="0" dirty="0"/>
              <a:t>Many paths</a:t>
            </a:r>
          </a:p>
          <a:p>
            <a:pPr marL="0" indent="0">
              <a:buNone/>
            </a:pPr>
            <a:endParaRPr lang="en-US" baseline="0" dirty="0"/>
          </a:p>
          <a:p>
            <a:pPr marL="228600" indent="-228600">
              <a:buAutoNum type="arabicParenR"/>
            </a:pPr>
            <a:endParaRPr lang="en-US" baseline="0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28F53F2-D707-B442-9ED8-EC380A4FAAA7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545561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Few</a:t>
            </a:r>
            <a:r>
              <a:rPr lang="en-US" baseline="0" dirty="0"/>
              <a:t> things to notice: </a:t>
            </a:r>
          </a:p>
          <a:p>
            <a:pPr marL="228600" indent="-228600">
              <a:buAutoNum type="arabicParenR"/>
            </a:pPr>
            <a:r>
              <a:rPr lang="en-US" baseline="0" dirty="0"/>
              <a:t>3 stages (can think of as edge / aggregation / core) </a:t>
            </a:r>
          </a:p>
          <a:p>
            <a:pPr marL="228600" indent="-228600">
              <a:buAutoNum type="arabicParenR"/>
            </a:pPr>
            <a:r>
              <a:rPr lang="en-US" baseline="0" dirty="0"/>
              <a:t>All switches have same number of ports (=4) [hence k^3/4=16 end hosts]</a:t>
            </a:r>
          </a:p>
          <a:p>
            <a:pPr marL="228600" indent="-228600">
              <a:buAutoNum type="arabicParenR"/>
            </a:pPr>
            <a:r>
              <a:rPr lang="en-US" baseline="0" dirty="0"/>
              <a:t>All links have same speed</a:t>
            </a:r>
          </a:p>
          <a:p>
            <a:pPr marL="228600" indent="-228600">
              <a:buAutoNum type="arabicParenR"/>
            </a:pPr>
            <a:r>
              <a:rPr lang="en-US" baseline="0" dirty="0"/>
              <a:t>Many paths</a:t>
            </a:r>
          </a:p>
          <a:p>
            <a:pPr marL="0" indent="0">
              <a:buNone/>
            </a:pPr>
            <a:endParaRPr lang="en-US" baseline="0" dirty="0"/>
          </a:p>
          <a:p>
            <a:pPr marL="228600" indent="-228600">
              <a:buAutoNum type="arabicParenR"/>
            </a:pPr>
            <a:endParaRPr lang="en-US" baseline="0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28F53F2-D707-B442-9ED8-EC380A4FAAA7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16888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Few</a:t>
            </a:r>
            <a:r>
              <a:rPr lang="en-US" baseline="0" dirty="0"/>
              <a:t> things to notice: </a:t>
            </a:r>
          </a:p>
          <a:p>
            <a:pPr marL="228600" indent="-228600">
              <a:buAutoNum type="arabicParenR"/>
            </a:pPr>
            <a:r>
              <a:rPr lang="en-US" baseline="0" dirty="0"/>
              <a:t>3 stages (can think of as edge / aggregation / core) </a:t>
            </a:r>
          </a:p>
          <a:p>
            <a:pPr marL="228600" indent="-228600">
              <a:buAutoNum type="arabicParenR"/>
            </a:pPr>
            <a:r>
              <a:rPr lang="en-US" baseline="0" dirty="0"/>
              <a:t>All switches have same number of ports (=4) [hence k^3/4=16 end hosts]</a:t>
            </a:r>
          </a:p>
          <a:p>
            <a:pPr marL="228600" indent="-228600">
              <a:buAutoNum type="arabicParenR"/>
            </a:pPr>
            <a:r>
              <a:rPr lang="en-US" baseline="0" dirty="0"/>
              <a:t>All links have same speed</a:t>
            </a:r>
          </a:p>
          <a:p>
            <a:pPr marL="228600" indent="-228600">
              <a:buAutoNum type="arabicParenR"/>
            </a:pPr>
            <a:r>
              <a:rPr lang="en-US" baseline="0" dirty="0"/>
              <a:t>Many paths</a:t>
            </a:r>
          </a:p>
          <a:p>
            <a:pPr marL="0" indent="0">
              <a:buNone/>
            </a:pPr>
            <a:endParaRPr lang="en-US" baseline="0" dirty="0"/>
          </a:p>
          <a:p>
            <a:pPr marL="228600" indent="-228600">
              <a:buAutoNum type="arabicParenR"/>
            </a:pPr>
            <a:endParaRPr lang="en-US" baseline="0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28F53F2-D707-B442-9ED8-EC380A4FAAA7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10710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Few</a:t>
            </a:r>
            <a:r>
              <a:rPr lang="en-US" baseline="0" dirty="0"/>
              <a:t> things to notice: </a:t>
            </a:r>
          </a:p>
          <a:p>
            <a:pPr marL="228600" indent="-228600">
              <a:buAutoNum type="arabicParenR"/>
            </a:pPr>
            <a:r>
              <a:rPr lang="en-US" baseline="0" dirty="0"/>
              <a:t>3 stages (can think of as edge / aggregation / core) </a:t>
            </a:r>
          </a:p>
          <a:p>
            <a:pPr marL="228600" indent="-228600">
              <a:buAutoNum type="arabicParenR"/>
            </a:pPr>
            <a:r>
              <a:rPr lang="en-US" baseline="0" dirty="0"/>
              <a:t>All switches have same number of ports (=4) [hence k^3/4=16 end hosts]</a:t>
            </a:r>
          </a:p>
          <a:p>
            <a:pPr marL="228600" indent="-228600">
              <a:buAutoNum type="arabicParenR"/>
            </a:pPr>
            <a:r>
              <a:rPr lang="en-US" baseline="0" dirty="0"/>
              <a:t>All links have same speed</a:t>
            </a:r>
          </a:p>
          <a:p>
            <a:pPr marL="228600" indent="-228600">
              <a:buAutoNum type="arabicParenR"/>
            </a:pPr>
            <a:r>
              <a:rPr lang="en-US" baseline="0" dirty="0"/>
              <a:t>Many paths</a:t>
            </a:r>
          </a:p>
          <a:p>
            <a:pPr marL="0" indent="0">
              <a:buNone/>
            </a:pPr>
            <a:endParaRPr lang="en-US" baseline="0" dirty="0"/>
          </a:p>
          <a:p>
            <a:pPr marL="228600" indent="-228600">
              <a:buAutoNum type="arabicParenR"/>
            </a:pPr>
            <a:endParaRPr lang="en-US" baseline="0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28F53F2-D707-B442-9ED8-EC380A4FAAA7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206763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Few</a:t>
            </a:r>
            <a:r>
              <a:rPr lang="en-US" baseline="0" dirty="0"/>
              <a:t> things to notice: </a:t>
            </a:r>
          </a:p>
          <a:p>
            <a:pPr marL="228600" indent="-228600">
              <a:buAutoNum type="arabicParenR"/>
            </a:pPr>
            <a:r>
              <a:rPr lang="en-US" baseline="0" dirty="0"/>
              <a:t>3 stages (can think of as edge / aggregation / core) </a:t>
            </a:r>
          </a:p>
          <a:p>
            <a:pPr marL="228600" indent="-228600">
              <a:buAutoNum type="arabicParenR"/>
            </a:pPr>
            <a:r>
              <a:rPr lang="en-US" baseline="0" dirty="0"/>
              <a:t>All switches have same number of ports (=4) [hence k^3/4=16 end hosts]</a:t>
            </a:r>
          </a:p>
          <a:p>
            <a:pPr marL="228600" indent="-228600">
              <a:buAutoNum type="arabicParenR"/>
            </a:pPr>
            <a:r>
              <a:rPr lang="en-US" baseline="0" dirty="0"/>
              <a:t>All links have same speed</a:t>
            </a:r>
          </a:p>
          <a:p>
            <a:pPr marL="228600" indent="-228600">
              <a:buAutoNum type="arabicParenR"/>
            </a:pPr>
            <a:r>
              <a:rPr lang="en-US" baseline="0" dirty="0"/>
              <a:t>Many paths</a:t>
            </a:r>
          </a:p>
          <a:p>
            <a:pPr marL="0" indent="0">
              <a:buNone/>
            </a:pPr>
            <a:endParaRPr lang="en-US" baseline="0" dirty="0"/>
          </a:p>
          <a:p>
            <a:pPr marL="228600" indent="-228600">
              <a:buAutoNum type="arabicParenR"/>
            </a:pPr>
            <a:endParaRPr lang="en-US" baseline="0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28F53F2-D707-B442-9ED8-EC380A4FAAA7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42122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Few</a:t>
            </a:r>
            <a:r>
              <a:rPr lang="en-US" baseline="0" dirty="0"/>
              <a:t> things to notice: </a:t>
            </a:r>
          </a:p>
          <a:p>
            <a:pPr marL="228600" indent="-228600">
              <a:buAutoNum type="arabicParenR"/>
            </a:pPr>
            <a:r>
              <a:rPr lang="en-US" baseline="0" dirty="0"/>
              <a:t>3 stages (can think of as edge / aggregation / core) </a:t>
            </a:r>
          </a:p>
          <a:p>
            <a:pPr marL="228600" indent="-228600">
              <a:buAutoNum type="arabicParenR"/>
            </a:pPr>
            <a:r>
              <a:rPr lang="en-US" baseline="0" dirty="0"/>
              <a:t>All switches have same number of ports (=4) [hence k^3/4=16 end hosts]</a:t>
            </a:r>
          </a:p>
          <a:p>
            <a:pPr marL="228600" indent="-228600">
              <a:buAutoNum type="arabicParenR"/>
            </a:pPr>
            <a:r>
              <a:rPr lang="en-US" baseline="0" dirty="0"/>
              <a:t>All links have same speed</a:t>
            </a:r>
          </a:p>
          <a:p>
            <a:pPr marL="228600" indent="-228600">
              <a:buAutoNum type="arabicParenR"/>
            </a:pPr>
            <a:r>
              <a:rPr lang="en-US" baseline="0" dirty="0"/>
              <a:t>Many paths</a:t>
            </a:r>
          </a:p>
          <a:p>
            <a:pPr marL="0" indent="0">
              <a:buNone/>
            </a:pPr>
            <a:endParaRPr lang="en-US" baseline="0" dirty="0"/>
          </a:p>
          <a:p>
            <a:pPr marL="228600" indent="-228600">
              <a:buAutoNum type="arabicParenR"/>
            </a:pPr>
            <a:endParaRPr lang="en-US" baseline="0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28F53F2-D707-B442-9ED8-EC380A4FAAA7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83861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Few</a:t>
            </a:r>
            <a:r>
              <a:rPr lang="en-US" baseline="0" dirty="0"/>
              <a:t> things to notice: </a:t>
            </a:r>
          </a:p>
          <a:p>
            <a:pPr marL="228600" indent="-228600">
              <a:buAutoNum type="arabicParenR"/>
            </a:pPr>
            <a:r>
              <a:rPr lang="en-US" baseline="0" dirty="0"/>
              <a:t>3 stages (can think of as edge / aggregation / core) </a:t>
            </a:r>
          </a:p>
          <a:p>
            <a:pPr marL="228600" indent="-228600">
              <a:buAutoNum type="arabicParenR"/>
            </a:pPr>
            <a:r>
              <a:rPr lang="en-US" baseline="0" dirty="0"/>
              <a:t>All switches have same number of ports (=4) [hence k^3/4=16 end hosts]</a:t>
            </a:r>
          </a:p>
          <a:p>
            <a:pPr marL="228600" indent="-228600">
              <a:buAutoNum type="arabicParenR"/>
            </a:pPr>
            <a:r>
              <a:rPr lang="en-US" baseline="0" dirty="0"/>
              <a:t>All links have same speed</a:t>
            </a:r>
          </a:p>
          <a:p>
            <a:pPr marL="228600" indent="-228600">
              <a:buAutoNum type="arabicParenR"/>
            </a:pPr>
            <a:r>
              <a:rPr lang="en-US" baseline="0" dirty="0"/>
              <a:t>Many paths</a:t>
            </a:r>
          </a:p>
          <a:p>
            <a:pPr marL="0" indent="0">
              <a:buNone/>
            </a:pPr>
            <a:endParaRPr lang="en-US" baseline="0" dirty="0"/>
          </a:p>
          <a:p>
            <a:pPr marL="228600" indent="-228600">
              <a:buAutoNum type="arabicParenR"/>
            </a:pPr>
            <a:endParaRPr lang="en-US" baseline="0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28F53F2-D707-B442-9ED8-EC380A4FAAA7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039981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Deep</a:t>
            </a:r>
            <a:r>
              <a:rPr lang="en-US" baseline="0" dirty="0"/>
              <a:t> Buffers – bad for latency</a:t>
            </a:r>
          </a:p>
          <a:p>
            <a:r>
              <a:rPr lang="en-US" baseline="0" dirty="0"/>
              <a:t>Shallow Buffers – bad for bursts &amp; throughput</a:t>
            </a:r>
          </a:p>
          <a:p>
            <a:r>
              <a:rPr lang="en-US" baseline="0" dirty="0"/>
              <a:t>Reduce </a:t>
            </a:r>
            <a:r>
              <a:rPr lang="en-US" baseline="0" dirty="0" err="1"/>
              <a:t>RTO</a:t>
            </a:r>
            <a:r>
              <a:rPr lang="en-US" baseline="-25000" dirty="0" err="1"/>
              <a:t>min</a:t>
            </a:r>
            <a:r>
              <a:rPr lang="en-US" baseline="0" dirty="0"/>
              <a:t> – no good for latency</a:t>
            </a:r>
          </a:p>
          <a:p>
            <a:r>
              <a:rPr lang="en-US" baseline="0" dirty="0"/>
              <a:t>AQM – Difficult to tune, not fast enough for </a:t>
            </a:r>
            <a:r>
              <a:rPr lang="en-US" baseline="0" dirty="0" err="1"/>
              <a:t>incast</a:t>
            </a:r>
            <a:r>
              <a:rPr lang="en-US" baseline="0" dirty="0"/>
              <a:t>-style micro-bursts, lose throughput in low stat-</a:t>
            </a:r>
            <a:r>
              <a:rPr lang="en-US" baseline="0" dirty="0" err="1"/>
              <a:t>mux</a:t>
            </a:r>
            <a:endParaRPr lang="en-US" baseline="0" dirty="0"/>
          </a:p>
          <a:p>
            <a:endParaRPr lang="en-US" baseline="0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770630E-C6A9-444B-A16B-2B64151D1DEE}" type="slidenum">
              <a:rPr lang="en-US" smtClean="0"/>
              <a:pPr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25959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026EA2B-EFC1-4DB2-A297-B21C4C7A67B1}" type="slidenum">
              <a:rPr lang="en-US" smtClean="0"/>
              <a:pPr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723965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770630E-C6A9-444B-A16B-2B64151D1DEE}" type="slidenum">
              <a:rPr lang="en-US" smtClean="0"/>
              <a:pPr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4101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770630E-C6A9-444B-A16B-2B64151D1DEE}" type="slidenum">
              <a:rPr lang="en-US" smtClean="0"/>
              <a:pPr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573273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30A9A-2637-4F4B-B8F8-240F39B08293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624709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30A9A-2637-4F4B-B8F8-240F39B08293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608413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our existing solutions</a:t>
            </a:r>
            <a:r>
              <a:rPr lang="en-US" baseline="0" dirty="0"/>
              <a:t> rely on point-to-point flow abstraction. </a:t>
            </a:r>
          </a:p>
          <a:p>
            <a:endParaRPr lang="en-US" dirty="0"/>
          </a:p>
          <a:p>
            <a:r>
              <a:rPr lang="en-US" dirty="0"/>
              <a:t>We have seen hundreds, if not thousands,</a:t>
            </a:r>
            <a:r>
              <a:rPr lang="en-US" baseline="0" dirty="0"/>
              <a:t> of proposals to try to address the performance issues using flow as a basic abstraction.</a:t>
            </a:r>
          </a:p>
          <a:p>
            <a:r>
              <a:rPr lang="en-US" baseline="0" dirty="0"/>
              <a:t>In the early days, it was all about fair allocation.</a:t>
            </a:r>
          </a:p>
          <a:p>
            <a:r>
              <a:rPr lang="en-US" baseline="0" dirty="0"/>
              <a:t>Recently, as datacenters became more widely used, it’s all about improving flow completion time.</a:t>
            </a:r>
          </a:p>
          <a:p>
            <a:endParaRPr lang="en-US" baseline="0" dirty="0"/>
          </a:p>
          <a:p>
            <a:r>
              <a:rPr lang="en-US" baseline="0" dirty="0"/>
              <a:t>However, flows fundamentally cannot capture the collective communication behavior seen in of data-parallel applications.</a:t>
            </a:r>
          </a:p>
          <a:p>
            <a:endParaRPr lang="en-US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F61EA0F-A667-4B49-8422-0062BC55E249}" type="slidenum">
              <a:rPr lang="en-US" smtClean="0">
                <a:solidFill>
                  <a:prstClr val="black"/>
                </a:solidFill>
                <a:latin typeface="Calibri"/>
              </a:rPr>
              <a:pPr/>
              <a:t>39</a:t>
            </a:fld>
            <a:endParaRPr lang="en-US">
              <a:solidFill>
                <a:prstClr val="black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83208487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</a:t>
            </a:r>
            <a:r>
              <a:rPr lang="en-US" baseline="0" dirty="0"/>
              <a:t>et us see the potentials of inter-coflow scheduling through a simple example.</a:t>
            </a:r>
          </a:p>
          <a:p>
            <a:r>
              <a:rPr lang="en-US" dirty="0"/>
              <a:t>We have two</a:t>
            </a:r>
            <a:r>
              <a:rPr lang="en-US" baseline="0" dirty="0"/>
              <a:t> coflows: coflow1 in black with one flow on link1 and coflow2 with two flows. </a:t>
            </a:r>
          </a:p>
          <a:p>
            <a:r>
              <a:rPr lang="en-US" baseline="0" dirty="0"/>
              <a:t>Each block represent a unit of data.</a:t>
            </a:r>
          </a:p>
          <a:p>
            <a:r>
              <a:rPr lang="en-US" baseline="0" dirty="0"/>
              <a:t>Assume, it takes a unit time time to send each unit of data.</a:t>
            </a:r>
          </a:p>
          <a:p>
            <a:endParaRPr lang="en-US" baseline="0" dirty="0"/>
          </a:p>
          <a:p>
            <a:r>
              <a:rPr lang="en-US" dirty="0"/>
              <a:t>Let’s start</a:t>
            </a:r>
            <a:r>
              <a:rPr lang="en-US" baseline="0" dirty="0"/>
              <a:t> with considering what happens today.</a:t>
            </a:r>
          </a:p>
          <a:p>
            <a:r>
              <a:rPr lang="en-US" baseline="0" dirty="0"/>
              <a:t>In this plot, we have time in the X-axis and the links on Y-axis.</a:t>
            </a:r>
          </a:p>
          <a:p>
            <a:r>
              <a:rPr lang="en-US" baseline="0" dirty="0"/>
              <a:t>Link1 will be almost equally shared between the two flows from two different coflows and the other link will be used completely by coflow2’s flow.</a:t>
            </a:r>
          </a:p>
          <a:p>
            <a:r>
              <a:rPr lang="en-US" dirty="0"/>
              <a:t>After, 6 time units, both coflows will finish. </a:t>
            </a:r>
          </a:p>
          <a:p>
            <a:endParaRPr lang="en-US" dirty="0"/>
          </a:p>
          <a:p>
            <a:r>
              <a:rPr lang="en-US" dirty="0"/>
              <a:t>Recently,</a:t>
            </a:r>
            <a:r>
              <a:rPr lang="en-US" baseline="0" dirty="0"/>
              <a:t> there has been a lot of focus on minimizing flow completion times by prioritizing flows of smaller size. </a:t>
            </a:r>
          </a:p>
          <a:p>
            <a:r>
              <a:rPr lang="en-US" baseline="0" dirty="0"/>
              <a:t>In that case, the orange flow in link1 will be prioritized over the black flow.</a:t>
            </a:r>
          </a:p>
          <a:p>
            <a:r>
              <a:rPr lang="en-US" baseline="0" dirty="0"/>
              <a:t>After 3 time units, the orange flow will finish.</a:t>
            </a:r>
          </a:p>
          <a:p>
            <a:r>
              <a:rPr lang="en-US" baseline="0" dirty="0"/>
              <a:t>Note that coflow2 hasn’t finished yet, because it still has 3 more data units from its flow on link2.</a:t>
            </a:r>
          </a:p>
          <a:p>
            <a:r>
              <a:rPr lang="en-US" baseline="0" dirty="0"/>
              <a:t>Eventually, when all flow finishes, the coflow completion times remain the same even thought the flow completion time has improved.</a:t>
            </a:r>
          </a:p>
          <a:p>
            <a:endParaRPr lang="en-US" baseline="0" dirty="0"/>
          </a:p>
          <a:p>
            <a:r>
              <a:rPr lang="en-US" baseline="0" dirty="0"/>
              <a:t>The optimal solution for minimizing application-level performance, in this case, would be to let the black coflow finish first.</a:t>
            </a:r>
          </a:p>
          <a:p>
            <a:r>
              <a:rPr lang="en-US" baseline="0" dirty="0"/>
              <a:t>As a result, we can see application-level performance improvement for coflow1 without any impact on the other coflow.</a:t>
            </a:r>
          </a:p>
          <a:p>
            <a:endParaRPr lang="en-US" dirty="0"/>
          </a:p>
          <a:p>
            <a:r>
              <a:rPr lang="en-US" dirty="0"/>
              <a:t>In fact, it is quite easy to show that significantly decreasing flow completion times</a:t>
            </a:r>
            <a:r>
              <a:rPr lang="en-US" baseline="0" dirty="0"/>
              <a:t> might still not result in any improvement in user experience.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F61EA0F-A667-4B49-8422-0062BC55E249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473598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E9A20B-E167-2E4E-BE18-AA9F5BF5FBB1}" type="slidenum">
              <a:rPr lang="en-US" smtClean="0"/>
              <a:pPr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565733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E88F11-916A-C446-A3D3-EB791675F867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35716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40" name="Rectangle 8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Font typeface="Monotype Sorts" pitchFamily="96" charset="2"/>
              <a:buNone/>
              <a:defRPr/>
            </a:lvl1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8441" name="Rectangle 9"/>
          <p:cNvSpPr>
            <a:spLocks noGrp="1" noChangeArrowheads="1"/>
          </p:cNvSpPr>
          <p:nvPr>
            <p:ph type="ctrTitle"/>
          </p:nvPr>
        </p:nvSpPr>
        <p:spPr>
          <a:xfrm>
            <a:off x="685800" y="1143000"/>
            <a:ext cx="7772400" cy="20574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Rectangle 2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sz="1050" b="0">
                <a:latin typeface="Times New Roman" charset="0"/>
              </a:defRPr>
            </a:lvl1pPr>
          </a:lstStyle>
          <a:p>
            <a:r>
              <a:rPr lang="en-US"/>
              <a:t>April 14, 2024</a:t>
            </a:r>
          </a:p>
        </p:txBody>
      </p:sp>
      <p:sp>
        <p:nvSpPr>
          <p:cNvPr id="5" name="Rectangle 3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sz="1050" b="0">
                <a:latin typeface="Times New Roman" charset="0"/>
              </a:defRPr>
            </a:lvl1pPr>
          </a:lstStyle>
          <a:p>
            <a:r>
              <a:rPr lang="en-US"/>
              <a:t>EECS 489 – Lecture 20</a:t>
            </a:r>
          </a:p>
        </p:txBody>
      </p:sp>
    </p:spTree>
    <p:extLst>
      <p:ext uri="{BB962C8B-B14F-4D97-AF65-F5344CB8AC3E}">
        <p14:creationId xmlns:p14="http://schemas.microsoft.com/office/powerpoint/2010/main" val="35119642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Rectangle 2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April 14, 2024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Rectangle 3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EECS 489 – Lecture 20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Rectangle 12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190D881-957A-7944-A8D0-1584E528B88F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44048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2"/>
            <a:ext cx="7772400" cy="1362075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1500"/>
            </a:lvl1pPr>
            <a:lvl2pPr marL="342900" indent="0">
              <a:buNone/>
              <a:defRPr sz="1350"/>
            </a:lvl2pPr>
            <a:lvl3pPr marL="685800" indent="0">
              <a:buNone/>
              <a:defRPr sz="1200"/>
            </a:lvl3pPr>
            <a:lvl4pPr marL="1028700" indent="0">
              <a:buNone/>
              <a:defRPr sz="1050"/>
            </a:lvl4pPr>
            <a:lvl5pPr marL="1371600" indent="0">
              <a:buNone/>
              <a:defRPr sz="1050"/>
            </a:lvl5pPr>
            <a:lvl6pPr marL="1714500" indent="0">
              <a:buNone/>
              <a:defRPr sz="1050"/>
            </a:lvl6pPr>
            <a:lvl7pPr marL="2057400" indent="0">
              <a:buNone/>
              <a:defRPr sz="1050"/>
            </a:lvl7pPr>
            <a:lvl8pPr marL="2400300" indent="0">
              <a:buNone/>
              <a:defRPr sz="1050"/>
            </a:lvl8pPr>
            <a:lvl9pPr marL="2743200" indent="0">
              <a:buNone/>
              <a:defRPr sz="10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2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April 14, 2024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Rectangle 3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EECS 489 – Lecture 20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Rectangle 12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81F2EB77-FB6C-2244-A076-ADF097535D48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00208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1600200"/>
            <a:ext cx="3886200" cy="4419600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4400" y="1600200"/>
            <a:ext cx="3886200" cy="4419600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2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April 14, 2024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Rectangle 3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EECS 489 – Lecture 20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7" name="Rectangle 12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36FED86-94EF-254D-90EE-B810FE8299EE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6827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535113"/>
            <a:ext cx="4041775" cy="63976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2174875"/>
            <a:ext cx="4041775" cy="3951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2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April 14, 2024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8" name="Rectangle 3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EECS 489 – Lecture 20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9" name="Rectangle 12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11CF967-1287-0948-92AE-55309D196149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25453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2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April 14, 2024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4" name="Rectangle 3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EECS 489 – Lecture 20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Rectangle 12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9507A418-0CEB-9E4A-BA45-3B7D3D133EB9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12183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April 14, 2024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3" name="Rectangle 3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EECS 489 – Lecture 20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4" name="Rectangle 12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3D7AD44-FDD5-3640-B5FD-B68DA213B14F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08545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73050"/>
            <a:ext cx="3008313" cy="1162050"/>
          </a:xfrm>
        </p:spPr>
        <p:txBody>
          <a:bodyPr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2"/>
            <a:ext cx="5111750" cy="5853113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435102"/>
            <a:ext cx="3008313" cy="4691063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2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April 14, 2024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Rectangle 3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EECS 489 – Lecture 20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7" name="Rectangle 12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C1E35D2-F4F4-2848-A65C-22D2D75C674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52277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2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April 14, 2024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Rectangle 3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EECS 489 – Lecture 20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7" name="Rectangle 12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7309860-561E-FA4E-8AD9-21F393B80F88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28224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2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April 14, 2024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Rectangle 3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EECS 489 – Lecture 20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Rectangle 12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B500292D-9130-BA41-A2F4-8C3DF7A50D3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70804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705600" y="152400"/>
            <a:ext cx="2133600" cy="58674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4800" y="152400"/>
            <a:ext cx="6248400" cy="58674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2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April 14, 2024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Rectangle 3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EECS 489 – Lecture 20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Rectangle 12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0E995D8D-2725-7449-9768-A6F305723FFE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16466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r>
              <a:t>Title Text</a:t>
            </a:r>
          </a:p>
        </p:txBody>
      </p:sp>
      <p:sp>
        <p:nvSpPr>
          <p:cNvPr id="11" name="Shape 11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>
            <a:lvl2pPr marL="937584" indent="-401822">
              <a:spcBef>
                <a:spcPts val="1687"/>
              </a:spcBef>
              <a:buChar char="-"/>
              <a:defRPr sz="2500" i="1"/>
            </a:lvl2pPr>
            <a:lvl3pPr marL="1250112" indent="-401822">
              <a:spcBef>
                <a:spcPts val="1687"/>
              </a:spcBef>
              <a:buFont typeface="Gill Sans"/>
              <a:buChar char="-"/>
              <a:defRPr sz="2500" i="1">
                <a:latin typeface="Gill Sans"/>
                <a:ea typeface="Gill Sans"/>
                <a:cs typeface="Gill Sans"/>
                <a:sym typeface="Gill Sans"/>
              </a:defRPr>
            </a:lvl3pPr>
            <a:lvl4pPr marL="1562640" indent="-401822">
              <a:spcBef>
                <a:spcPts val="1687"/>
              </a:spcBef>
              <a:buFont typeface="Gill Sans"/>
              <a:buChar char="-"/>
              <a:defRPr sz="2500" i="1">
                <a:latin typeface="Gill Sans"/>
                <a:ea typeface="Gill Sans"/>
                <a:cs typeface="Gill Sans"/>
                <a:sym typeface="Gill Sans"/>
              </a:defRPr>
            </a:lvl4pPr>
            <a:lvl5pPr marL="1875168" indent="-401822">
              <a:spcBef>
                <a:spcPts val="1687"/>
              </a:spcBef>
              <a:buFont typeface="Gill Sans"/>
              <a:buChar char="-"/>
              <a:defRPr sz="2500" i="1">
                <a:latin typeface="Gill Sans"/>
                <a:ea typeface="Gill Sans"/>
                <a:cs typeface="Gill Sans"/>
                <a:sym typeface="Gill Sans"/>
              </a:defRPr>
            </a:lvl5pPr>
          </a:lstStyle>
          <a:p>
            <a:pPr lvl="0"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hape 1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E2893C13-EE0C-EE4E-AB27-289AE4B3B289}" type="slidenum">
              <a:rPr lang="en-US" altLang="x-none"/>
              <a:pPr/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6635229"/>
      </p:ext>
    </p:extLst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0" y="-1"/>
            <a:ext cx="9144000" cy="1330525"/>
          </a:xfrm>
        </p:spPr>
        <p:txBody>
          <a:bodyPr anchor="ctr">
            <a:normAutofit/>
          </a:bodyPr>
          <a:lstStyle>
            <a:lvl1pPr marL="0" indent="514350">
              <a:defRPr sz="405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>
                <a:solidFill>
                  <a:prstClr val="black">
                    <a:tint val="75000"/>
                  </a:prstClr>
                </a:solidFill>
                <a:latin typeface="Segoe UI"/>
              </a:rPr>
              <a:t>April 14, 2024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prstClr val="black">
                    <a:tint val="75000"/>
                  </a:prstClr>
                </a:solidFill>
                <a:latin typeface="Segoe UI"/>
              </a:rPr>
              <a:t>EECS 489 – Lecture 20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379334" y="6356351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B784BE6-8AD8-2A49-BC7C-EB31A7D2B34C}" type="slidenum">
              <a:rPr lang="en-US" smtClean="0">
                <a:solidFill>
                  <a:prstClr val="black">
                    <a:tint val="75000"/>
                  </a:prstClr>
                </a:solidFill>
                <a:latin typeface="Segoe UI"/>
              </a:rPr>
              <a:pPr/>
              <a:t>‹#›</a:t>
            </a:fld>
            <a:endParaRPr lang="en-US">
              <a:solidFill>
                <a:prstClr val="black">
                  <a:tint val="75000"/>
                </a:prstClr>
              </a:solidFill>
              <a:latin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8691012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85800" y="6248400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2075" tIns="46038" rIns="92075" bIns="46038" numCol="1" anchor="ctr" anchorCtr="0" compatLnSpc="1">
            <a:prstTxWarp prst="textNoShape">
              <a:avLst/>
            </a:prstTxWarp>
          </a:bodyPr>
          <a:lstStyle>
            <a:lvl1pPr eaLnBrk="0" hangingPunct="0">
              <a:defRPr sz="750"/>
            </a:lvl1pPr>
          </a:lstStyle>
          <a:p>
            <a:r>
              <a:rPr lang="en-US"/>
              <a:t>April 14, 2024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8400"/>
            <a:ext cx="2895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2075" tIns="46038" rIns="92075" bIns="46038" numCol="1" anchor="ctr" anchorCtr="0" compatLnSpc="1">
            <a:prstTxWarp prst="textNoShape">
              <a:avLst/>
            </a:prstTxWarp>
          </a:bodyPr>
          <a:lstStyle>
            <a:lvl1pPr algn="ctr" eaLnBrk="0" hangingPunct="0">
              <a:defRPr sz="750"/>
            </a:lvl1pPr>
          </a:lstStyle>
          <a:p>
            <a:r>
              <a:rPr lang="en-US"/>
              <a:t>EECS 489 – Lecture 20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1028" name="Rectangle 8"/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1600200"/>
            <a:ext cx="7924800" cy="4419600"/>
          </a:xfrm>
          <a:prstGeom prst="rect">
            <a:avLst/>
          </a:prstGeom>
          <a:noFill/>
          <a:ln>
            <a:noFill/>
          </a:ln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33" name="Rectangle 9"/>
          <p:cNvSpPr>
            <a:spLocks noGrp="1" noChangeArrowheads="1"/>
          </p:cNvSpPr>
          <p:nvPr>
            <p:ph type="title"/>
          </p:nvPr>
        </p:nvSpPr>
        <p:spPr bwMode="auto">
          <a:xfrm>
            <a:off x="304800" y="152400"/>
            <a:ext cx="85344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075" tIns="46038" rIns="92075" bIns="46038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1036" name="Rectangle 12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001000" y="6248400"/>
            <a:ext cx="609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2075" tIns="46038" rIns="92075" bIns="46038" numCol="1" anchor="ctr" anchorCtr="0" compatLnSpc="1">
            <a:prstTxWarp prst="textNoShape">
              <a:avLst/>
            </a:prstTxWarp>
          </a:bodyPr>
          <a:lstStyle>
            <a:lvl1pPr algn="r" eaLnBrk="0" hangingPunct="0">
              <a:defRPr sz="750"/>
            </a:lvl1pPr>
          </a:lstStyle>
          <a:p>
            <a:fld id="{6CABC02E-5657-E248-B9C6-199B1358382F}" type="slidenum">
              <a:rPr lang="en-US"/>
              <a:pPr/>
              <a:t>‹#›</a:t>
            </a:fld>
            <a:endParaRPr lang="en-US"/>
          </a:p>
        </p:txBody>
      </p:sp>
      <p:sp>
        <p:nvSpPr>
          <p:cNvPr id="1037" name="Line 13"/>
          <p:cNvSpPr>
            <a:spLocks noChangeShapeType="1"/>
          </p:cNvSpPr>
          <p:nvPr/>
        </p:nvSpPr>
        <p:spPr bwMode="auto">
          <a:xfrm>
            <a:off x="0" y="1371600"/>
            <a:ext cx="8305800" cy="0"/>
          </a:xfrm>
          <a:prstGeom prst="line">
            <a:avLst/>
          </a:prstGeom>
          <a:noFill/>
          <a:ln w="44450">
            <a:solidFill>
              <a:srgbClr val="FFCB05"/>
            </a:solidFill>
            <a:round/>
            <a:headEnd/>
            <a:tailEnd/>
          </a:ln>
          <a:effectLst>
            <a:outerShdw dist="53882" dir="2700000" algn="ctr" rotWithShape="0">
              <a:srgbClr val="D3A600"/>
            </a:outerShdw>
          </a:effectLst>
        </p:spPr>
        <p:txBody>
          <a:bodyPr wrap="none" anchor="ctr"/>
          <a:lstStyle/>
          <a:p>
            <a:pPr eaLnBrk="0" hangingPunct="0">
              <a:defRPr/>
            </a:pPr>
            <a:endParaRPr lang="en-US" sz="1200">
              <a:ea typeface="+mn-ea"/>
              <a:cs typeface="+mn-cs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7" r:id="rId1"/>
    <p:sldLayoutId id="2147483697" r:id="rId2"/>
    <p:sldLayoutId id="2147483698" r:id="rId3"/>
    <p:sldLayoutId id="2147483699" r:id="rId4"/>
    <p:sldLayoutId id="2147483700" r:id="rId5"/>
    <p:sldLayoutId id="2147483701" r:id="rId6"/>
    <p:sldLayoutId id="2147483702" r:id="rId7"/>
    <p:sldLayoutId id="2147483703" r:id="rId8"/>
    <p:sldLayoutId id="2147483704" r:id="rId9"/>
    <p:sldLayoutId id="2147483705" r:id="rId10"/>
    <p:sldLayoutId id="2147483706" r:id="rId11"/>
    <p:sldLayoutId id="2147483708" r:id="rId12"/>
    <p:sldLayoutId id="2147483709" r:id="rId13"/>
  </p:sldLayoutIdLst>
  <p:hf hdr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4000">
          <a:solidFill>
            <a:schemeClr val="tx1"/>
          </a:solidFill>
          <a:effectLst/>
          <a:latin typeface="+mj-lt"/>
          <a:ea typeface="ＭＳ Ｐゴシック" charset="-128"/>
          <a:cs typeface="ＭＳ Ｐゴシック" charset="-128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  <a:ea typeface="ＭＳ Ｐゴシック" charset="-128"/>
          <a:cs typeface="ＭＳ Ｐゴシック" charset="-128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  <a:ea typeface="ＭＳ Ｐゴシック" charset="-128"/>
          <a:cs typeface="ＭＳ Ｐゴシック" charset="-128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  <a:ea typeface="ＭＳ Ｐゴシック" charset="-128"/>
          <a:cs typeface="ＭＳ Ｐゴシック" charset="-128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  <a:ea typeface="ＭＳ Ｐゴシック" charset="-128"/>
          <a:cs typeface="ＭＳ Ｐゴシック" charset="-128"/>
        </a:defRPr>
      </a:lvl5pPr>
      <a:lvl6pPr marL="342900" algn="l" rtl="0" eaLnBrk="0" fontAlgn="base" hangingPunct="0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</a:defRPr>
      </a:lvl6pPr>
      <a:lvl7pPr marL="685800" algn="l" rtl="0" eaLnBrk="0" fontAlgn="base" hangingPunct="0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</a:defRPr>
      </a:lvl7pPr>
      <a:lvl8pPr marL="1028700" algn="l" rtl="0" eaLnBrk="0" fontAlgn="base" hangingPunct="0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</a:defRPr>
      </a:lvl8pPr>
      <a:lvl9pPr marL="1371600" algn="l" rtl="0" eaLnBrk="0" fontAlgn="base" hangingPunct="0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</a:defRPr>
      </a:lvl9pPr>
    </p:titleStyle>
    <p:bodyStyle>
      <a:lvl1pPr marL="257175" indent="-257175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charset="0"/>
        <a:buChar char="l"/>
        <a:defRPr sz="2800">
          <a:solidFill>
            <a:schemeClr val="accent2"/>
          </a:solidFill>
          <a:latin typeface="+mn-lt"/>
          <a:ea typeface="ＭＳ Ｐゴシック" charset="-128"/>
          <a:cs typeface="ＭＳ Ｐゴシック" charset="-128"/>
        </a:defRPr>
      </a:lvl1pPr>
      <a:lvl2pPr marL="557213" indent="-214313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SzPct val="50000"/>
        <a:buFont typeface="Wingdings" pitchFamily="2" charset="2"/>
        <a:buChar char="Ø"/>
        <a:defRPr sz="2400">
          <a:solidFill>
            <a:schemeClr val="accent2"/>
          </a:solidFill>
          <a:latin typeface="+mn-lt"/>
          <a:ea typeface="ＭＳ Ｐゴシック" charset="-128"/>
        </a:defRPr>
      </a:lvl2pPr>
      <a:lvl3pPr marL="857250" indent="-17145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Char char="»"/>
        <a:defRPr sz="2400">
          <a:solidFill>
            <a:schemeClr val="accent2"/>
          </a:solidFill>
          <a:latin typeface="+mn-lt"/>
          <a:ea typeface="ＭＳ Ｐゴシック" charset="-128"/>
        </a:defRPr>
      </a:lvl3pPr>
      <a:lvl4pPr marL="1200150" indent="-17145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charset="0"/>
        <a:buChar char="n"/>
        <a:defRPr sz="1200">
          <a:solidFill>
            <a:schemeClr val="accent2"/>
          </a:solidFill>
          <a:latin typeface="+mn-lt"/>
          <a:ea typeface="ＭＳ Ｐゴシック" charset="-128"/>
        </a:defRPr>
      </a:lvl4pPr>
      <a:lvl5pPr marL="1543050" indent="-17145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charset="0"/>
        <a:buChar char="l"/>
        <a:defRPr sz="1200">
          <a:solidFill>
            <a:schemeClr val="accent2"/>
          </a:solidFill>
          <a:latin typeface="+mn-lt"/>
          <a:ea typeface="ＭＳ Ｐゴシック" charset="-128"/>
        </a:defRPr>
      </a:lvl5pPr>
      <a:lvl6pPr marL="1885950" indent="-17145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pitchFamily="96" charset="2"/>
        <a:buChar char="l"/>
        <a:defRPr sz="1200">
          <a:solidFill>
            <a:schemeClr val="accent2"/>
          </a:solidFill>
          <a:latin typeface="+mn-lt"/>
        </a:defRPr>
      </a:lvl6pPr>
      <a:lvl7pPr marL="2228850" indent="-17145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pitchFamily="96" charset="2"/>
        <a:buChar char="l"/>
        <a:defRPr sz="1200">
          <a:solidFill>
            <a:schemeClr val="accent2"/>
          </a:solidFill>
          <a:latin typeface="+mn-lt"/>
        </a:defRPr>
      </a:lvl7pPr>
      <a:lvl8pPr marL="2571750" indent="-17145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pitchFamily="96" charset="2"/>
        <a:buChar char="l"/>
        <a:defRPr sz="1200">
          <a:solidFill>
            <a:schemeClr val="accent2"/>
          </a:solidFill>
          <a:latin typeface="+mn-lt"/>
        </a:defRPr>
      </a:lvl8pPr>
      <a:lvl9pPr marL="2914650" indent="-17145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pitchFamily="96" charset="2"/>
        <a:buChar char="l"/>
        <a:defRPr sz="1200">
          <a:solidFill>
            <a:schemeClr val="accent2"/>
          </a:solidFill>
          <a:latin typeface="+mn-lt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5.xml"/><Relationship Id="rId1" Type="http://schemas.openxmlformats.org/officeDocument/2006/relationships/tags" Target="../tags/tag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6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7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4.xml"/><Relationship Id="rId4" Type="http://schemas.openxmlformats.org/officeDocument/2006/relationships/chart" Target="../charts/char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8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9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6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0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657350" y="1257300"/>
            <a:ext cx="5829300" cy="2286000"/>
          </a:xfrm>
        </p:spPr>
        <p:txBody>
          <a:bodyPr/>
          <a:lstStyle/>
          <a:p>
            <a:pPr algn="ctr"/>
            <a:r>
              <a:rPr lang="en-US" dirty="0">
                <a:effectLst/>
                <a:latin typeface="Arial Black" charset="0"/>
                <a:ea typeface="ＭＳ Ｐゴシック" charset="0"/>
                <a:cs typeface="ＭＳ Ｐゴシック" charset="0"/>
              </a:rPr>
              <a:t>EECS 489</a:t>
            </a:r>
            <a:br>
              <a:rPr lang="en-US" dirty="0">
                <a:effectLst/>
                <a:latin typeface="Arial Black" charset="0"/>
                <a:ea typeface="ＭＳ Ｐゴシック" charset="0"/>
                <a:cs typeface="ＭＳ Ｐゴシック" charset="0"/>
              </a:rPr>
            </a:br>
            <a:r>
              <a:rPr lang="en-US" dirty="0"/>
              <a:t>Computer Networks</a:t>
            </a:r>
            <a:br>
              <a:rPr lang="en-US" dirty="0">
                <a:effectLst/>
                <a:latin typeface="Arial Black" charset="0"/>
                <a:ea typeface="ＭＳ Ｐゴシック" charset="0"/>
                <a:cs typeface="ＭＳ Ｐゴシック" charset="0"/>
              </a:rPr>
            </a:br>
            <a:br>
              <a:rPr lang="en-US" sz="2400" dirty="0">
                <a:latin typeface="Arial Black" charset="0"/>
                <a:ea typeface="ＭＳ Ｐゴシック" charset="0"/>
                <a:cs typeface="ＭＳ Ｐゴシック" charset="0"/>
              </a:rPr>
            </a:br>
            <a:r>
              <a:rPr lang="en-US" sz="2400" dirty="0">
                <a:latin typeface="Arial Black" charset="0"/>
                <a:ea typeface="ＭＳ Ｐゴシック" charset="0"/>
                <a:cs typeface="ＭＳ Ｐゴシック" charset="0"/>
              </a:rPr>
              <a:t>Winter 2025</a:t>
            </a:r>
            <a:endParaRPr lang="en-US" dirty="0">
              <a:effectLst/>
              <a:latin typeface="Arial Black" charset="0"/>
              <a:ea typeface="ＭＳ Ｐゴシック" charset="0"/>
              <a:cs typeface="ＭＳ Ｐゴシック" charset="0"/>
            </a:endParaRPr>
          </a:p>
        </p:txBody>
      </p:sp>
      <p:sp>
        <p:nvSpPr>
          <p:cNvPr id="1741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800100" y="3771900"/>
            <a:ext cx="7543800" cy="1828800"/>
          </a:xfrm>
        </p:spPr>
        <p:txBody>
          <a:bodyPr/>
          <a:lstStyle/>
          <a:p>
            <a:r>
              <a:rPr lang="en-US" dirty="0">
                <a:latin typeface="Arial" charset="0"/>
                <a:ea typeface="ＭＳ Ｐゴシック" charset="0"/>
                <a:cs typeface="ＭＳ Ｐゴシック" charset="0"/>
              </a:rPr>
              <a:t>Mosharaf Chowdhury</a:t>
            </a:r>
          </a:p>
          <a:p>
            <a:pPr>
              <a:buFont typeface="Monotype Sorts" charset="0"/>
              <a:buNone/>
            </a:pPr>
            <a:endParaRPr lang="en-US" dirty="0">
              <a:latin typeface="Arial" charset="0"/>
              <a:ea typeface="ＭＳ Ｐゴシック" charset="0"/>
              <a:cs typeface="ＭＳ Ｐゴシック" charset="0"/>
            </a:endParaRPr>
          </a:p>
          <a:p>
            <a:pPr>
              <a:buFont typeface="Monotype Sorts" charset="0"/>
              <a:buNone/>
            </a:pPr>
            <a:endParaRPr lang="en-US" dirty="0">
              <a:latin typeface="Arial" charset="0"/>
              <a:ea typeface="ＭＳ Ｐゴシック" charset="0"/>
              <a:cs typeface="ＭＳ Ｐゴシック" charset="0"/>
            </a:endParaRPr>
          </a:p>
          <a:p>
            <a:pPr algn="l"/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Material with thanks to Aditya </a:t>
            </a:r>
            <a:r>
              <a:rPr lang="en-US" sz="1800" i="1" dirty="0" err="1">
                <a:latin typeface="Arial" charset="0"/>
                <a:ea typeface="ＭＳ Ｐゴシック" charset="0"/>
                <a:cs typeface="ＭＳ Ｐゴシック" charset="0"/>
              </a:rPr>
              <a:t>Akella</a:t>
            </a:r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, </a:t>
            </a:r>
            <a:r>
              <a:rPr lang="en-US" sz="1800" i="1" dirty="0" err="1">
                <a:latin typeface="Arial" charset="0"/>
                <a:ea typeface="ＭＳ Ｐゴシック" charset="0"/>
                <a:cs typeface="ＭＳ Ｐゴシック" charset="0"/>
              </a:rPr>
              <a:t>Sugih</a:t>
            </a:r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sz="1800" i="1" dirty="0" err="1">
                <a:latin typeface="Arial" charset="0"/>
                <a:ea typeface="ＭＳ Ｐゴシック" charset="0"/>
                <a:cs typeface="ＭＳ Ｐゴシック" charset="0"/>
              </a:rPr>
              <a:t>Jamin</a:t>
            </a:r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, Philip Levis, Sylvia Ratnasamy, Peter </a:t>
            </a:r>
            <a:r>
              <a:rPr lang="en-US" sz="1800" i="1" dirty="0" err="1">
                <a:latin typeface="Arial" charset="0"/>
                <a:ea typeface="ＭＳ Ｐゴシック" charset="0"/>
                <a:cs typeface="ＭＳ Ｐゴシック" charset="0"/>
              </a:rPr>
              <a:t>Steenkiste</a:t>
            </a:r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, and many other colleagues.</a:t>
            </a:r>
          </a:p>
          <a:p>
            <a:pPr>
              <a:buFont typeface="Monotype Sorts" charset="0"/>
              <a:buNone/>
            </a:pPr>
            <a:endParaRPr lang="en-US" dirty="0">
              <a:latin typeface="Arial" charset="0"/>
              <a:ea typeface="ＭＳ Ｐゴシック" charset="0"/>
              <a:cs typeface="ＭＳ Ｐゴシック" charset="0"/>
            </a:endParaRPr>
          </a:p>
          <a:p>
            <a:pPr>
              <a:buFont typeface="Monotype Sorts" charset="0"/>
              <a:buNone/>
            </a:pPr>
            <a:endParaRPr lang="en-US" dirty="0">
              <a:effectLst>
                <a:outerShdw blurRad="38100" dist="38100" dir="2700000" algn="tl">
                  <a:srgbClr val="DDDDDD"/>
                </a:outerShdw>
              </a:effectLst>
              <a:latin typeface="Arial" charset="0"/>
              <a:ea typeface="ＭＳ Ｐゴシック" charset="0"/>
              <a:cs typeface="ＭＳ Ｐゴシック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Datacenter networking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April 14, 2024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20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62F7DE6-7755-E746-BD9F-974CD6766D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16490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Recap: Datacenter network requirements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High “bisection bandwidth”</a:t>
            </a:r>
          </a:p>
          <a:p>
            <a:r>
              <a:rPr lang="en-US" dirty="0"/>
              <a:t>Low latency, even in the worst-case</a:t>
            </a:r>
          </a:p>
          <a:p>
            <a:r>
              <a:rPr lang="en-US" dirty="0"/>
              <a:t>Large scale </a:t>
            </a:r>
          </a:p>
          <a:p>
            <a:r>
              <a:rPr lang="en-US" dirty="0"/>
              <a:t>Low cost</a:t>
            </a:r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April 14, 2024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20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8AD4BD-624C-AC4B-B619-74ACA9D0AF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22897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solidFill>
            <a:schemeClr val="bg1"/>
          </a:solidFill>
        </p:spPr>
        <p:txBody>
          <a:bodyPr/>
          <a:lstStyle/>
          <a:p>
            <a:r>
              <a:rPr lang="en-US" dirty="0"/>
              <a:t>Recap: Clos topology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Multi-stage network</a:t>
            </a:r>
          </a:p>
          <a:p>
            <a:r>
              <a:rPr lang="en-US" dirty="0"/>
              <a:t>k pods, where each pod has two layers of k/2 switches</a:t>
            </a:r>
          </a:p>
          <a:p>
            <a:pPr lvl="1"/>
            <a:r>
              <a:rPr lang="en-US" dirty="0"/>
              <a:t>k/2 ports up and k/2 down</a:t>
            </a:r>
          </a:p>
          <a:p>
            <a:r>
              <a:rPr lang="en-US" dirty="0"/>
              <a:t>All links have the same b/w</a:t>
            </a:r>
          </a:p>
          <a:p>
            <a:r>
              <a:rPr lang="en-US" dirty="0"/>
              <a:t>At most k</a:t>
            </a:r>
            <a:r>
              <a:rPr lang="en-US" baseline="30000" dirty="0"/>
              <a:t>3</a:t>
            </a:r>
            <a:r>
              <a:rPr lang="en-US" dirty="0"/>
              <a:t>/4 machines</a:t>
            </a:r>
          </a:p>
          <a:p>
            <a:endParaRPr lang="en-US" dirty="0"/>
          </a:p>
          <a:p>
            <a:r>
              <a:rPr lang="en-US" dirty="0"/>
              <a:t>Example</a:t>
            </a:r>
          </a:p>
          <a:p>
            <a:pPr lvl="1"/>
            <a:r>
              <a:rPr lang="en-US" dirty="0"/>
              <a:t>k = 4</a:t>
            </a:r>
          </a:p>
          <a:p>
            <a:pPr lvl="1"/>
            <a:r>
              <a:rPr lang="en-US" dirty="0"/>
              <a:t>16 machines</a:t>
            </a:r>
          </a:p>
          <a:p>
            <a:r>
              <a:rPr lang="en-US" dirty="0"/>
              <a:t>For k=48, 27648 machines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April 14, 2024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20</a:t>
            </a:r>
            <a:endParaRPr lang="en-US" sz="1050" b="0">
              <a:latin typeface="Times New Roman" charset="0"/>
            </a:endParaRPr>
          </a:p>
        </p:txBody>
      </p:sp>
      <p:grpSp>
        <p:nvGrpSpPr>
          <p:cNvPr id="320" name="Group 319"/>
          <p:cNvGrpSpPr/>
          <p:nvPr/>
        </p:nvGrpSpPr>
        <p:grpSpPr>
          <a:xfrm>
            <a:off x="4850781" y="2953047"/>
            <a:ext cx="3657600" cy="1364373"/>
            <a:chOff x="4850781" y="2953047"/>
            <a:chExt cx="3657600" cy="1364373"/>
          </a:xfrm>
        </p:grpSpPr>
        <p:sp>
          <p:nvSpPr>
            <p:cNvPr id="183" name="Rectangle 182"/>
            <p:cNvSpPr/>
            <p:nvPr/>
          </p:nvSpPr>
          <p:spPr>
            <a:xfrm>
              <a:off x="4862668" y="4245600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4" name="Rectangle 183"/>
            <p:cNvSpPr/>
            <p:nvPr/>
          </p:nvSpPr>
          <p:spPr>
            <a:xfrm>
              <a:off x="4862668" y="4190935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5" name="Rectangle 184"/>
            <p:cNvSpPr/>
            <p:nvPr/>
          </p:nvSpPr>
          <p:spPr>
            <a:xfrm>
              <a:off x="4862668" y="4134157"/>
              <a:ext cx="219919" cy="3611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6" name="Rectangle 185"/>
            <p:cNvSpPr/>
            <p:nvPr/>
          </p:nvSpPr>
          <p:spPr>
            <a:xfrm>
              <a:off x="4850781" y="4107108"/>
              <a:ext cx="245180" cy="21031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5" name="Rectangle 194"/>
            <p:cNvSpPr/>
            <p:nvPr/>
          </p:nvSpPr>
          <p:spPr>
            <a:xfrm>
              <a:off x="5296151" y="4245495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6" name="Rectangle 195"/>
            <p:cNvSpPr/>
            <p:nvPr/>
          </p:nvSpPr>
          <p:spPr>
            <a:xfrm>
              <a:off x="5296151" y="4190830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7" name="Rectangle 196"/>
            <p:cNvSpPr/>
            <p:nvPr/>
          </p:nvSpPr>
          <p:spPr>
            <a:xfrm>
              <a:off x="5296151" y="4134052"/>
              <a:ext cx="219919" cy="3611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8" name="Rectangle 197"/>
            <p:cNvSpPr/>
            <p:nvPr/>
          </p:nvSpPr>
          <p:spPr>
            <a:xfrm>
              <a:off x="5284264" y="4107004"/>
              <a:ext cx="245180" cy="21031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7" name="Rectangle 206"/>
            <p:cNvSpPr/>
            <p:nvPr/>
          </p:nvSpPr>
          <p:spPr>
            <a:xfrm>
              <a:off x="5859759" y="4245600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8" name="Rectangle 207"/>
            <p:cNvSpPr/>
            <p:nvPr/>
          </p:nvSpPr>
          <p:spPr>
            <a:xfrm>
              <a:off x="5859759" y="4190935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9" name="Rectangle 208"/>
            <p:cNvSpPr/>
            <p:nvPr/>
          </p:nvSpPr>
          <p:spPr>
            <a:xfrm>
              <a:off x="5859759" y="4134157"/>
              <a:ext cx="219919" cy="3611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0" name="Rectangle 209"/>
            <p:cNvSpPr/>
            <p:nvPr/>
          </p:nvSpPr>
          <p:spPr>
            <a:xfrm>
              <a:off x="5847872" y="4107108"/>
              <a:ext cx="245180" cy="21031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9" name="Rectangle 218"/>
            <p:cNvSpPr/>
            <p:nvPr/>
          </p:nvSpPr>
          <p:spPr>
            <a:xfrm>
              <a:off x="6293242" y="4245495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0" name="Rectangle 219"/>
            <p:cNvSpPr/>
            <p:nvPr/>
          </p:nvSpPr>
          <p:spPr>
            <a:xfrm>
              <a:off x="6293242" y="4190830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1" name="Rectangle 220"/>
            <p:cNvSpPr/>
            <p:nvPr/>
          </p:nvSpPr>
          <p:spPr>
            <a:xfrm>
              <a:off x="6293242" y="4134052"/>
              <a:ext cx="219919" cy="3611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1" name="Rectangle 230"/>
            <p:cNvSpPr/>
            <p:nvPr/>
          </p:nvSpPr>
          <p:spPr>
            <a:xfrm>
              <a:off x="6856850" y="4245600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2" name="Rectangle 231"/>
            <p:cNvSpPr/>
            <p:nvPr/>
          </p:nvSpPr>
          <p:spPr>
            <a:xfrm>
              <a:off x="6856850" y="4190935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3" name="Rectangle 232"/>
            <p:cNvSpPr/>
            <p:nvPr/>
          </p:nvSpPr>
          <p:spPr>
            <a:xfrm>
              <a:off x="6856850" y="4134157"/>
              <a:ext cx="219919" cy="3611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4" name="Rectangle 233"/>
            <p:cNvSpPr/>
            <p:nvPr/>
          </p:nvSpPr>
          <p:spPr>
            <a:xfrm>
              <a:off x="6844963" y="4107108"/>
              <a:ext cx="245180" cy="21031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3" name="Rectangle 242"/>
            <p:cNvSpPr/>
            <p:nvPr/>
          </p:nvSpPr>
          <p:spPr>
            <a:xfrm>
              <a:off x="7290333" y="4245495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4" name="Rectangle 243"/>
            <p:cNvSpPr/>
            <p:nvPr/>
          </p:nvSpPr>
          <p:spPr>
            <a:xfrm>
              <a:off x="7290333" y="4190830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5" name="Rectangle 244"/>
            <p:cNvSpPr/>
            <p:nvPr/>
          </p:nvSpPr>
          <p:spPr>
            <a:xfrm>
              <a:off x="7290333" y="4134052"/>
              <a:ext cx="219919" cy="3611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6" name="Rectangle 245"/>
            <p:cNvSpPr/>
            <p:nvPr/>
          </p:nvSpPr>
          <p:spPr>
            <a:xfrm>
              <a:off x="7278447" y="4107004"/>
              <a:ext cx="245180" cy="21031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5" name="Rectangle 254"/>
            <p:cNvSpPr/>
            <p:nvPr/>
          </p:nvSpPr>
          <p:spPr>
            <a:xfrm>
              <a:off x="7841605" y="4245600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6" name="Rectangle 255"/>
            <p:cNvSpPr/>
            <p:nvPr/>
          </p:nvSpPr>
          <p:spPr>
            <a:xfrm>
              <a:off x="7841605" y="4190935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7" name="Rectangle 256"/>
            <p:cNvSpPr/>
            <p:nvPr/>
          </p:nvSpPr>
          <p:spPr>
            <a:xfrm>
              <a:off x="7841605" y="4134157"/>
              <a:ext cx="219919" cy="3611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8" name="Rectangle 257"/>
            <p:cNvSpPr/>
            <p:nvPr/>
          </p:nvSpPr>
          <p:spPr>
            <a:xfrm>
              <a:off x="7829718" y="4107108"/>
              <a:ext cx="245180" cy="21031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7" name="Rectangle 266"/>
            <p:cNvSpPr/>
            <p:nvPr/>
          </p:nvSpPr>
          <p:spPr>
            <a:xfrm>
              <a:off x="8275088" y="4245495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8" name="Rectangle 267"/>
            <p:cNvSpPr/>
            <p:nvPr/>
          </p:nvSpPr>
          <p:spPr>
            <a:xfrm>
              <a:off x="8275088" y="4190830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9" name="Rectangle 268"/>
            <p:cNvSpPr/>
            <p:nvPr/>
          </p:nvSpPr>
          <p:spPr>
            <a:xfrm>
              <a:off x="8275088" y="4134052"/>
              <a:ext cx="219919" cy="3611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0" name="Rectangle 269"/>
            <p:cNvSpPr/>
            <p:nvPr/>
          </p:nvSpPr>
          <p:spPr>
            <a:xfrm>
              <a:off x="8263201" y="4107004"/>
              <a:ext cx="245180" cy="21031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1" name="Rectangle 270"/>
            <p:cNvSpPr/>
            <p:nvPr/>
          </p:nvSpPr>
          <p:spPr>
            <a:xfrm>
              <a:off x="4911431" y="3703245"/>
              <a:ext cx="250911" cy="18780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dirty="0">
                <a:solidFill>
                  <a:schemeClr val="accent2"/>
                </a:solidFill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72" name="Rectangle 271"/>
            <p:cNvSpPr/>
            <p:nvPr/>
          </p:nvSpPr>
          <p:spPr>
            <a:xfrm>
              <a:off x="5905090" y="3702000"/>
              <a:ext cx="250911" cy="18780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dirty="0">
                <a:solidFill>
                  <a:schemeClr val="accent2"/>
                </a:solidFill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73" name="Rectangle 272"/>
            <p:cNvSpPr/>
            <p:nvPr/>
          </p:nvSpPr>
          <p:spPr>
            <a:xfrm>
              <a:off x="6908369" y="3703691"/>
              <a:ext cx="250911" cy="18780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dirty="0">
                <a:solidFill>
                  <a:schemeClr val="accent2"/>
                </a:solidFill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74" name="Rectangle 273"/>
            <p:cNvSpPr/>
            <p:nvPr/>
          </p:nvSpPr>
          <p:spPr>
            <a:xfrm>
              <a:off x="7890728" y="3703245"/>
              <a:ext cx="250911" cy="18780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dirty="0">
                <a:solidFill>
                  <a:schemeClr val="accent2"/>
                </a:solidFill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75" name="Rectangle 274"/>
            <p:cNvSpPr/>
            <p:nvPr/>
          </p:nvSpPr>
          <p:spPr>
            <a:xfrm>
              <a:off x="5244085" y="2956595"/>
              <a:ext cx="627276" cy="298654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dirty="0">
                <a:solidFill>
                  <a:schemeClr val="accent2"/>
                </a:solidFill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76" name="Rectangle 275"/>
            <p:cNvSpPr/>
            <p:nvPr/>
          </p:nvSpPr>
          <p:spPr>
            <a:xfrm>
              <a:off x="6040958" y="2955367"/>
              <a:ext cx="627276" cy="298654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dirty="0">
                <a:solidFill>
                  <a:schemeClr val="accent2"/>
                </a:solidFill>
                <a:latin typeface="Gill Sans" charset="0"/>
                <a:ea typeface="Gill Sans" charset="0"/>
                <a:cs typeface="Gill Sans" charset="0"/>
              </a:endParaRPr>
            </a:p>
          </p:txBody>
        </p:sp>
        <p:cxnSp>
          <p:nvCxnSpPr>
            <p:cNvPr id="277" name="Straight Connector 276"/>
            <p:cNvCxnSpPr>
              <a:stCxn id="314" idx="0"/>
            </p:cNvCxnSpPr>
            <p:nvPr/>
          </p:nvCxnSpPr>
          <p:spPr>
            <a:xfrm flipV="1">
              <a:off x="5036886" y="3255249"/>
              <a:ext cx="520837" cy="447996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8" name="Straight Connector 277"/>
            <p:cNvCxnSpPr>
              <a:stCxn id="315" idx="0"/>
            </p:cNvCxnSpPr>
            <p:nvPr/>
          </p:nvCxnSpPr>
          <p:spPr>
            <a:xfrm flipH="1" flipV="1">
              <a:off x="5557723" y="3255249"/>
              <a:ext cx="472823" cy="446751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9" name="Straight Connector 278"/>
            <p:cNvCxnSpPr>
              <a:stCxn id="314" idx="0"/>
            </p:cNvCxnSpPr>
            <p:nvPr/>
          </p:nvCxnSpPr>
          <p:spPr>
            <a:xfrm flipV="1">
              <a:off x="5036886" y="3254021"/>
              <a:ext cx="1317711" cy="449224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0" name="Straight Connector 279"/>
            <p:cNvCxnSpPr/>
            <p:nvPr/>
          </p:nvCxnSpPr>
          <p:spPr>
            <a:xfrm flipH="1" flipV="1">
              <a:off x="5557723" y="3255249"/>
              <a:ext cx="1476101" cy="448442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1" name="Straight Connector 280"/>
            <p:cNvCxnSpPr>
              <a:stCxn id="315" idx="0"/>
            </p:cNvCxnSpPr>
            <p:nvPr/>
          </p:nvCxnSpPr>
          <p:spPr>
            <a:xfrm flipV="1">
              <a:off x="6030546" y="3254021"/>
              <a:ext cx="324051" cy="447979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2" name="Straight Connector 281"/>
            <p:cNvCxnSpPr/>
            <p:nvPr/>
          </p:nvCxnSpPr>
          <p:spPr>
            <a:xfrm flipH="1" flipV="1">
              <a:off x="5557723" y="3255249"/>
              <a:ext cx="2458460" cy="447996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3" name="Straight Connector 282"/>
            <p:cNvCxnSpPr/>
            <p:nvPr/>
          </p:nvCxnSpPr>
          <p:spPr>
            <a:xfrm flipH="1" flipV="1">
              <a:off x="6354597" y="3254021"/>
              <a:ext cx="679228" cy="449670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4" name="Straight Connector 283"/>
            <p:cNvCxnSpPr/>
            <p:nvPr/>
          </p:nvCxnSpPr>
          <p:spPr>
            <a:xfrm flipH="1" flipV="1">
              <a:off x="6354597" y="3254021"/>
              <a:ext cx="1661586" cy="449224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5" name="Straight Connector 284"/>
            <p:cNvCxnSpPr>
              <a:stCxn id="274" idx="0"/>
            </p:cNvCxnSpPr>
            <p:nvPr/>
          </p:nvCxnSpPr>
          <p:spPr>
            <a:xfrm flipV="1">
              <a:off x="6967553" y="3891496"/>
              <a:ext cx="66272" cy="215613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6" name="Straight Connector 285"/>
            <p:cNvCxnSpPr>
              <a:stCxn id="313" idx="0"/>
            </p:cNvCxnSpPr>
            <p:nvPr/>
          </p:nvCxnSpPr>
          <p:spPr>
            <a:xfrm flipH="1" flipV="1">
              <a:off x="8016183" y="3891050"/>
              <a:ext cx="369608" cy="215954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7" name="Straight Connector 286"/>
            <p:cNvCxnSpPr>
              <a:stCxn id="300" idx="0"/>
            </p:cNvCxnSpPr>
            <p:nvPr/>
          </p:nvCxnSpPr>
          <p:spPr>
            <a:xfrm flipV="1">
              <a:off x="7952308" y="3891050"/>
              <a:ext cx="63875" cy="216059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8" name="Straight Connector 287"/>
            <p:cNvCxnSpPr>
              <a:stCxn id="287" idx="0"/>
            </p:cNvCxnSpPr>
            <p:nvPr/>
          </p:nvCxnSpPr>
          <p:spPr>
            <a:xfrm flipH="1" flipV="1">
              <a:off x="7033824" y="3891496"/>
              <a:ext cx="367212" cy="215508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9" name="Straight Connector 288"/>
            <p:cNvCxnSpPr>
              <a:endCxn id="315" idx="2"/>
            </p:cNvCxnSpPr>
            <p:nvPr/>
          </p:nvCxnSpPr>
          <p:spPr>
            <a:xfrm flipH="1" flipV="1">
              <a:off x="6030546" y="3889805"/>
              <a:ext cx="373400" cy="217199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0" name="Straight Connector 289"/>
            <p:cNvCxnSpPr>
              <a:endCxn id="315" idx="2"/>
            </p:cNvCxnSpPr>
            <p:nvPr/>
          </p:nvCxnSpPr>
          <p:spPr>
            <a:xfrm flipV="1">
              <a:off x="5970462" y="3889805"/>
              <a:ext cx="60084" cy="217304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1" name="Straight Connector 290"/>
            <p:cNvCxnSpPr>
              <a:endCxn id="314" idx="2"/>
            </p:cNvCxnSpPr>
            <p:nvPr/>
          </p:nvCxnSpPr>
          <p:spPr>
            <a:xfrm flipV="1">
              <a:off x="4973371" y="3891050"/>
              <a:ext cx="63515" cy="216059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2" name="Straight Connector 291"/>
            <p:cNvCxnSpPr>
              <a:endCxn id="314" idx="2"/>
            </p:cNvCxnSpPr>
            <p:nvPr/>
          </p:nvCxnSpPr>
          <p:spPr>
            <a:xfrm flipH="1" flipV="1">
              <a:off x="5036886" y="3891050"/>
              <a:ext cx="369968" cy="215954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3" name="Rectangle 292"/>
            <p:cNvSpPr/>
            <p:nvPr/>
          </p:nvSpPr>
          <p:spPr>
            <a:xfrm>
              <a:off x="5236853" y="3699840"/>
              <a:ext cx="250911" cy="18780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dirty="0">
                <a:solidFill>
                  <a:schemeClr val="accent2"/>
                </a:solidFill>
                <a:latin typeface="Gill Sans" charset="0"/>
                <a:ea typeface="Gill Sans" charset="0"/>
                <a:cs typeface="Gill Sans" charset="0"/>
              </a:endParaRPr>
            </a:p>
          </p:txBody>
        </p:sp>
        <p:cxnSp>
          <p:nvCxnSpPr>
            <p:cNvPr id="294" name="Straight Connector 293"/>
            <p:cNvCxnSpPr/>
            <p:nvPr/>
          </p:nvCxnSpPr>
          <p:spPr>
            <a:xfrm flipV="1">
              <a:off x="4973371" y="3887646"/>
              <a:ext cx="388937" cy="219462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5" name="Straight Connector 294"/>
            <p:cNvCxnSpPr/>
            <p:nvPr/>
          </p:nvCxnSpPr>
          <p:spPr>
            <a:xfrm flipV="1">
              <a:off x="4973371" y="3887646"/>
              <a:ext cx="388938" cy="219462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6" name="Straight Connector 295"/>
            <p:cNvCxnSpPr/>
            <p:nvPr/>
          </p:nvCxnSpPr>
          <p:spPr>
            <a:xfrm flipH="1" flipV="1">
              <a:off x="5362308" y="3887645"/>
              <a:ext cx="44546" cy="219359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7" name="Rectangle 296"/>
            <p:cNvSpPr/>
            <p:nvPr/>
          </p:nvSpPr>
          <p:spPr>
            <a:xfrm>
              <a:off x="6228283" y="3697140"/>
              <a:ext cx="250911" cy="18780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dirty="0">
                <a:solidFill>
                  <a:schemeClr val="accent2"/>
                </a:solidFill>
                <a:latin typeface="Gill Sans" charset="0"/>
                <a:ea typeface="Gill Sans" charset="0"/>
                <a:cs typeface="Gill Sans" charset="0"/>
              </a:endParaRPr>
            </a:p>
          </p:txBody>
        </p:sp>
        <p:cxnSp>
          <p:nvCxnSpPr>
            <p:cNvPr id="298" name="Straight Connector 297"/>
            <p:cNvCxnSpPr/>
            <p:nvPr/>
          </p:nvCxnSpPr>
          <p:spPr>
            <a:xfrm flipV="1">
              <a:off x="5970462" y="3884945"/>
              <a:ext cx="383277" cy="222163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9" name="Straight Connector 298"/>
            <p:cNvCxnSpPr/>
            <p:nvPr/>
          </p:nvCxnSpPr>
          <p:spPr>
            <a:xfrm flipH="1" flipV="1">
              <a:off x="6353739" y="3884945"/>
              <a:ext cx="50207" cy="222059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0" name="Rectangle 299"/>
            <p:cNvSpPr/>
            <p:nvPr/>
          </p:nvSpPr>
          <p:spPr>
            <a:xfrm>
              <a:off x="7219739" y="3702000"/>
              <a:ext cx="250911" cy="18780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dirty="0">
                <a:solidFill>
                  <a:schemeClr val="accent2"/>
                </a:solidFill>
                <a:latin typeface="Gill Sans" charset="0"/>
                <a:ea typeface="Gill Sans" charset="0"/>
                <a:cs typeface="Gill Sans" charset="0"/>
              </a:endParaRPr>
            </a:p>
          </p:txBody>
        </p:sp>
        <p:cxnSp>
          <p:nvCxnSpPr>
            <p:cNvPr id="301" name="Straight Connector 300"/>
            <p:cNvCxnSpPr>
              <a:stCxn id="287" idx="0"/>
            </p:cNvCxnSpPr>
            <p:nvPr/>
          </p:nvCxnSpPr>
          <p:spPr>
            <a:xfrm flipH="1" flipV="1">
              <a:off x="7345194" y="3889805"/>
              <a:ext cx="55842" cy="217199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2" name="Straight Connector 301"/>
            <p:cNvCxnSpPr>
              <a:stCxn id="274" idx="0"/>
            </p:cNvCxnSpPr>
            <p:nvPr/>
          </p:nvCxnSpPr>
          <p:spPr>
            <a:xfrm flipV="1">
              <a:off x="6967553" y="3889805"/>
              <a:ext cx="377641" cy="217304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3" name="Rectangle 302"/>
            <p:cNvSpPr/>
            <p:nvPr/>
          </p:nvSpPr>
          <p:spPr>
            <a:xfrm>
              <a:off x="8201826" y="3699840"/>
              <a:ext cx="250911" cy="18780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dirty="0">
                <a:solidFill>
                  <a:schemeClr val="accent2"/>
                </a:solidFill>
                <a:latin typeface="Gill Sans" charset="0"/>
                <a:ea typeface="Gill Sans" charset="0"/>
                <a:cs typeface="Gill Sans" charset="0"/>
              </a:endParaRPr>
            </a:p>
          </p:txBody>
        </p:sp>
        <p:cxnSp>
          <p:nvCxnSpPr>
            <p:cNvPr id="304" name="Straight Connector 303"/>
            <p:cNvCxnSpPr>
              <a:stCxn id="300" idx="0"/>
            </p:cNvCxnSpPr>
            <p:nvPr/>
          </p:nvCxnSpPr>
          <p:spPr>
            <a:xfrm flipV="1">
              <a:off x="7952308" y="3887645"/>
              <a:ext cx="374974" cy="219464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5" name="Straight Connector 304"/>
            <p:cNvCxnSpPr>
              <a:stCxn id="313" idx="0"/>
            </p:cNvCxnSpPr>
            <p:nvPr/>
          </p:nvCxnSpPr>
          <p:spPr>
            <a:xfrm flipH="1" flipV="1">
              <a:off x="8327282" y="3887645"/>
              <a:ext cx="58509" cy="219360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6" name="Rectangle 305"/>
            <p:cNvSpPr/>
            <p:nvPr/>
          </p:nvSpPr>
          <p:spPr>
            <a:xfrm>
              <a:off x="6841428" y="2954275"/>
              <a:ext cx="627276" cy="298654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dirty="0">
                <a:solidFill>
                  <a:schemeClr val="accent2"/>
                </a:solidFill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307" name="Rectangle 306"/>
            <p:cNvSpPr/>
            <p:nvPr/>
          </p:nvSpPr>
          <p:spPr>
            <a:xfrm>
              <a:off x="7638302" y="2953047"/>
              <a:ext cx="627276" cy="298654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dirty="0">
                <a:solidFill>
                  <a:schemeClr val="accent2"/>
                </a:solidFill>
                <a:latin typeface="Gill Sans" charset="0"/>
                <a:ea typeface="Gill Sans" charset="0"/>
                <a:cs typeface="Gill Sans" charset="0"/>
              </a:endParaRPr>
            </a:p>
          </p:txBody>
        </p:sp>
        <p:cxnSp>
          <p:nvCxnSpPr>
            <p:cNvPr id="308" name="Straight Connector 307"/>
            <p:cNvCxnSpPr/>
            <p:nvPr/>
          </p:nvCxnSpPr>
          <p:spPr>
            <a:xfrm flipV="1">
              <a:off x="5362308" y="3252929"/>
              <a:ext cx="1792758" cy="446911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9" name="Straight Connector 308"/>
            <p:cNvCxnSpPr/>
            <p:nvPr/>
          </p:nvCxnSpPr>
          <p:spPr>
            <a:xfrm flipV="1">
              <a:off x="6353739" y="3252929"/>
              <a:ext cx="801328" cy="444211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0" name="Straight Connector 309"/>
            <p:cNvCxnSpPr/>
            <p:nvPr/>
          </p:nvCxnSpPr>
          <p:spPr>
            <a:xfrm flipV="1">
              <a:off x="5362308" y="3251701"/>
              <a:ext cx="2589632" cy="448139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1" name="Straight Connector 310"/>
            <p:cNvCxnSpPr/>
            <p:nvPr/>
          </p:nvCxnSpPr>
          <p:spPr>
            <a:xfrm flipH="1" flipV="1">
              <a:off x="7155066" y="3252929"/>
              <a:ext cx="190128" cy="449071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2" name="Straight Connector 311"/>
            <p:cNvCxnSpPr/>
            <p:nvPr/>
          </p:nvCxnSpPr>
          <p:spPr>
            <a:xfrm flipV="1">
              <a:off x="6353739" y="3251701"/>
              <a:ext cx="1598201" cy="445439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3" name="Straight Connector 312"/>
            <p:cNvCxnSpPr/>
            <p:nvPr/>
          </p:nvCxnSpPr>
          <p:spPr>
            <a:xfrm flipH="1" flipV="1">
              <a:off x="7155066" y="3252929"/>
              <a:ext cx="1172215" cy="446911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4" name="Straight Connector 313"/>
            <p:cNvCxnSpPr/>
            <p:nvPr/>
          </p:nvCxnSpPr>
          <p:spPr>
            <a:xfrm flipV="1">
              <a:off x="7345194" y="3251701"/>
              <a:ext cx="606746" cy="450299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5" name="Straight Connector 314"/>
            <p:cNvCxnSpPr/>
            <p:nvPr/>
          </p:nvCxnSpPr>
          <p:spPr>
            <a:xfrm flipH="1" flipV="1">
              <a:off x="7951940" y="3251701"/>
              <a:ext cx="375342" cy="448139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9" name="Rectangle 318"/>
            <p:cNvSpPr/>
            <p:nvPr/>
          </p:nvSpPr>
          <p:spPr>
            <a:xfrm>
              <a:off x="6274740" y="4107004"/>
              <a:ext cx="245180" cy="21031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21" name="TextBox 320"/>
          <p:cNvSpPr txBox="1"/>
          <p:nvPr/>
        </p:nvSpPr>
        <p:spPr>
          <a:xfrm>
            <a:off x="4871450" y="4444076"/>
            <a:ext cx="60465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Pod 1</a:t>
            </a:r>
          </a:p>
        </p:txBody>
      </p:sp>
      <p:sp>
        <p:nvSpPr>
          <p:cNvPr id="322" name="TextBox 321"/>
          <p:cNvSpPr txBox="1"/>
          <p:nvPr/>
        </p:nvSpPr>
        <p:spPr>
          <a:xfrm>
            <a:off x="5925956" y="4440581"/>
            <a:ext cx="60465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Pod 2</a:t>
            </a:r>
          </a:p>
        </p:txBody>
      </p:sp>
      <p:sp>
        <p:nvSpPr>
          <p:cNvPr id="323" name="TextBox 322"/>
          <p:cNvSpPr txBox="1"/>
          <p:nvPr/>
        </p:nvSpPr>
        <p:spPr>
          <a:xfrm>
            <a:off x="6918974" y="4443734"/>
            <a:ext cx="60465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Pod 3</a:t>
            </a:r>
          </a:p>
        </p:txBody>
      </p:sp>
      <p:sp>
        <p:nvSpPr>
          <p:cNvPr id="324" name="TextBox 323"/>
          <p:cNvSpPr txBox="1"/>
          <p:nvPr/>
        </p:nvSpPr>
        <p:spPr>
          <a:xfrm>
            <a:off x="7928713" y="4444076"/>
            <a:ext cx="60465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Pod 4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0EA8FE0-8861-2048-9D58-4A11342E1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6FED86-94EF-254D-90EE-B810FE8299EE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1868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Networking in modern datacenters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L2/L3 design</a:t>
            </a:r>
          </a:p>
          <a:p>
            <a:pPr lvl="2"/>
            <a:r>
              <a:rPr lang="en-US" dirty="0"/>
              <a:t>Addressing / routing / forwarding in the Fat-Tree</a:t>
            </a:r>
          </a:p>
          <a:p>
            <a:pPr lvl="1"/>
            <a:r>
              <a:rPr lang="en-US" dirty="0"/>
              <a:t>L4 design</a:t>
            </a:r>
          </a:p>
          <a:p>
            <a:pPr lvl="2"/>
            <a:r>
              <a:rPr lang="en-US" dirty="0"/>
              <a:t>Transport protocol design (w/ Fat-Tree)</a:t>
            </a:r>
          </a:p>
          <a:p>
            <a:pPr lvl="1"/>
            <a:r>
              <a:rPr lang="en-US" dirty="0"/>
              <a:t>L7 design</a:t>
            </a:r>
          </a:p>
          <a:p>
            <a:pPr lvl="2"/>
            <a:r>
              <a:rPr lang="en-US" dirty="0"/>
              <a:t>Exploiting application-level information (w/ Fat-Tree)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April 14, 2024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20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0103FC8-BABF-FB4A-8542-A31BA4F477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93046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789099" y="1417638"/>
            <a:ext cx="7545766" cy="4611236"/>
            <a:chOff x="9276" y="915023"/>
            <a:chExt cx="9022668" cy="5097981"/>
          </a:xfrm>
        </p:grpSpPr>
        <p:pic>
          <p:nvPicPr>
            <p:cNvPr id="17" name="Picture 16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276" y="915023"/>
              <a:ext cx="9022668" cy="5097981"/>
            </a:xfrm>
            <a:prstGeom prst="rect">
              <a:avLst/>
            </a:prstGeom>
          </p:spPr>
        </p:pic>
        <p:sp>
          <p:nvSpPr>
            <p:cNvPr id="18" name="Rectangle 17"/>
            <p:cNvSpPr/>
            <p:nvPr/>
          </p:nvSpPr>
          <p:spPr>
            <a:xfrm>
              <a:off x="2347265" y="1876481"/>
              <a:ext cx="4728615" cy="13020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354300" y="3802655"/>
              <a:ext cx="447129" cy="13020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5364596" y="3789025"/>
              <a:ext cx="447129" cy="13020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4826534" y="4583834"/>
              <a:ext cx="447129" cy="13020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ectangle 21"/>
            <p:cNvSpPr/>
            <p:nvPr/>
          </p:nvSpPr>
          <p:spPr>
            <a:xfrm>
              <a:off x="1563615" y="4723905"/>
              <a:ext cx="447129" cy="13020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multiple paths well</a:t>
            </a:r>
          </a:p>
        </p:txBody>
      </p:sp>
      <p:sp>
        <p:nvSpPr>
          <p:cNvPr id="5" name="Freeform 4"/>
          <p:cNvSpPr/>
          <p:nvPr/>
        </p:nvSpPr>
        <p:spPr>
          <a:xfrm>
            <a:off x="1122002" y="2724707"/>
            <a:ext cx="4746927" cy="2724706"/>
          </a:xfrm>
          <a:custGeom>
            <a:avLst/>
            <a:gdLst>
              <a:gd name="connsiteX0" fmla="*/ 0 w 4746927"/>
              <a:gd name="connsiteY0" fmla="*/ 2724706 h 2724706"/>
              <a:gd name="connsiteX1" fmla="*/ 172616 w 4746927"/>
              <a:gd name="connsiteY1" fmla="*/ 2441139 h 2724706"/>
              <a:gd name="connsiteX2" fmla="*/ 197275 w 4746927"/>
              <a:gd name="connsiteY2" fmla="*/ 1602768 h 2724706"/>
              <a:gd name="connsiteX3" fmla="*/ 1849452 w 4746927"/>
              <a:gd name="connsiteY3" fmla="*/ 0 h 2724706"/>
              <a:gd name="connsiteX4" fmla="*/ 4068795 w 4746927"/>
              <a:gd name="connsiteY4" fmla="*/ 1541123 h 2724706"/>
              <a:gd name="connsiteX5" fmla="*/ 4685279 w 4746927"/>
              <a:gd name="connsiteY5" fmla="*/ 2145244 h 2724706"/>
              <a:gd name="connsiteX6" fmla="*/ 4746927 w 4746927"/>
              <a:gd name="connsiteY6" fmla="*/ 2650732 h 2724706"/>
              <a:gd name="connsiteX7" fmla="*/ 4746927 w 4746927"/>
              <a:gd name="connsiteY7" fmla="*/ 2650732 h 27247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746927" h="2724706">
                <a:moveTo>
                  <a:pt x="0" y="2724706"/>
                </a:moveTo>
                <a:lnTo>
                  <a:pt x="172616" y="2441139"/>
                </a:lnTo>
                <a:lnTo>
                  <a:pt x="197275" y="1602768"/>
                </a:lnTo>
                <a:lnTo>
                  <a:pt x="1849452" y="0"/>
                </a:lnTo>
                <a:lnTo>
                  <a:pt x="4068795" y="1541123"/>
                </a:lnTo>
                <a:lnTo>
                  <a:pt x="4685279" y="2145244"/>
                </a:lnTo>
                <a:lnTo>
                  <a:pt x="4746927" y="2650732"/>
                </a:lnTo>
                <a:lnTo>
                  <a:pt x="4746927" y="2650732"/>
                </a:lnTo>
              </a:path>
            </a:pathLst>
          </a:cu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 5"/>
          <p:cNvSpPr/>
          <p:nvPr/>
        </p:nvSpPr>
        <p:spPr>
          <a:xfrm>
            <a:off x="1208309" y="2626075"/>
            <a:ext cx="4734597" cy="2860325"/>
          </a:xfrm>
          <a:custGeom>
            <a:avLst/>
            <a:gdLst>
              <a:gd name="connsiteX0" fmla="*/ 0 w 4734597"/>
              <a:gd name="connsiteY0" fmla="*/ 2774022 h 2860325"/>
              <a:gd name="connsiteX1" fmla="*/ 197275 w 4734597"/>
              <a:gd name="connsiteY1" fmla="*/ 2305521 h 2860325"/>
              <a:gd name="connsiteX2" fmla="*/ 283582 w 4734597"/>
              <a:gd name="connsiteY2" fmla="*/ 1689071 h 2860325"/>
              <a:gd name="connsiteX3" fmla="*/ 2946794 w 4734597"/>
              <a:gd name="connsiteY3" fmla="*/ 0 h 2860325"/>
              <a:gd name="connsiteX4" fmla="*/ 3982487 w 4734597"/>
              <a:gd name="connsiteY4" fmla="*/ 1504136 h 2860325"/>
              <a:gd name="connsiteX5" fmla="*/ 4672949 w 4734597"/>
              <a:gd name="connsiteY5" fmla="*/ 2182231 h 2860325"/>
              <a:gd name="connsiteX6" fmla="*/ 4734597 w 4734597"/>
              <a:gd name="connsiteY6" fmla="*/ 2860325 h 286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734597" h="2860325">
                <a:moveTo>
                  <a:pt x="0" y="2774022"/>
                </a:moveTo>
                <a:lnTo>
                  <a:pt x="197275" y="2305521"/>
                </a:lnTo>
                <a:lnTo>
                  <a:pt x="283582" y="1689071"/>
                </a:lnTo>
                <a:lnTo>
                  <a:pt x="2946794" y="0"/>
                </a:lnTo>
                <a:lnTo>
                  <a:pt x="3982487" y="1504136"/>
                </a:lnTo>
                <a:lnTo>
                  <a:pt x="4672949" y="2182231"/>
                </a:lnTo>
                <a:lnTo>
                  <a:pt x="4734597" y="2860325"/>
                </a:lnTo>
              </a:path>
            </a:pathLst>
          </a:cu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 6"/>
          <p:cNvSpPr/>
          <p:nvPr/>
        </p:nvSpPr>
        <p:spPr>
          <a:xfrm>
            <a:off x="1282287" y="2576759"/>
            <a:ext cx="4771587" cy="2884983"/>
          </a:xfrm>
          <a:custGeom>
            <a:avLst/>
            <a:gdLst>
              <a:gd name="connsiteX0" fmla="*/ 0 w 4771587"/>
              <a:gd name="connsiteY0" fmla="*/ 2884983 h 2884983"/>
              <a:gd name="connsiteX1" fmla="*/ 209604 w 4771587"/>
              <a:gd name="connsiteY1" fmla="*/ 2453468 h 2884983"/>
              <a:gd name="connsiteX2" fmla="*/ 875407 w 4771587"/>
              <a:gd name="connsiteY2" fmla="*/ 1812361 h 2884983"/>
              <a:gd name="connsiteX3" fmla="*/ 4056465 w 4771587"/>
              <a:gd name="connsiteY3" fmla="*/ 0 h 2884983"/>
              <a:gd name="connsiteX4" fmla="*/ 4771587 w 4771587"/>
              <a:gd name="connsiteY4" fmla="*/ 1615097 h 2884983"/>
              <a:gd name="connsiteX5" fmla="*/ 4771587 w 4771587"/>
              <a:gd name="connsiteY5" fmla="*/ 2330179 h 2884983"/>
              <a:gd name="connsiteX6" fmla="*/ 4709938 w 4771587"/>
              <a:gd name="connsiteY6" fmla="*/ 2811009 h 2884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771587" h="2884983">
                <a:moveTo>
                  <a:pt x="0" y="2884983"/>
                </a:moveTo>
                <a:lnTo>
                  <a:pt x="209604" y="2453468"/>
                </a:lnTo>
                <a:lnTo>
                  <a:pt x="875407" y="1812361"/>
                </a:lnTo>
                <a:lnTo>
                  <a:pt x="4056465" y="0"/>
                </a:lnTo>
                <a:lnTo>
                  <a:pt x="4771587" y="1615097"/>
                </a:lnTo>
                <a:lnTo>
                  <a:pt x="4771587" y="2330179"/>
                </a:lnTo>
                <a:lnTo>
                  <a:pt x="4709938" y="2811009"/>
                </a:lnTo>
              </a:path>
            </a:pathLst>
          </a:cu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 7"/>
          <p:cNvSpPr/>
          <p:nvPr/>
        </p:nvSpPr>
        <p:spPr>
          <a:xfrm>
            <a:off x="1368595" y="2737036"/>
            <a:ext cx="5079828" cy="2700048"/>
          </a:xfrm>
          <a:custGeom>
            <a:avLst/>
            <a:gdLst>
              <a:gd name="connsiteX0" fmla="*/ 0 w 5079828"/>
              <a:gd name="connsiteY0" fmla="*/ 2700048 h 2700048"/>
              <a:gd name="connsiteX1" fmla="*/ 184945 w 5079828"/>
              <a:gd name="connsiteY1" fmla="*/ 2305520 h 2700048"/>
              <a:gd name="connsiteX2" fmla="*/ 924726 w 5079828"/>
              <a:gd name="connsiteY2" fmla="*/ 1664413 h 2700048"/>
              <a:gd name="connsiteX3" fmla="*/ 5079828 w 5079828"/>
              <a:gd name="connsiteY3" fmla="*/ 0 h 2700048"/>
              <a:gd name="connsiteX4" fmla="*/ 4771586 w 5079828"/>
              <a:gd name="connsiteY4" fmla="*/ 1479478 h 2700048"/>
              <a:gd name="connsiteX5" fmla="*/ 4734597 w 5079828"/>
              <a:gd name="connsiteY5" fmla="*/ 2219217 h 2700048"/>
              <a:gd name="connsiteX6" fmla="*/ 4660619 w 5079828"/>
              <a:gd name="connsiteY6" fmla="*/ 2663061 h 27000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079828" h="2700048">
                <a:moveTo>
                  <a:pt x="0" y="2700048"/>
                </a:moveTo>
                <a:lnTo>
                  <a:pt x="184945" y="2305520"/>
                </a:lnTo>
                <a:lnTo>
                  <a:pt x="924726" y="1664413"/>
                </a:lnTo>
                <a:lnTo>
                  <a:pt x="5079828" y="0"/>
                </a:lnTo>
                <a:lnTo>
                  <a:pt x="4771586" y="1479478"/>
                </a:lnTo>
                <a:lnTo>
                  <a:pt x="4734597" y="2219217"/>
                </a:lnTo>
                <a:lnTo>
                  <a:pt x="4660619" y="2663061"/>
                </a:lnTo>
              </a:path>
            </a:pathLst>
          </a:cu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April 14, 2024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20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CB40C1A5-A3C0-194E-B965-0971298AC4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67963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L2/L3 design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Routing protocol must expose all available paths</a:t>
            </a:r>
          </a:p>
          <a:p>
            <a:r>
              <a:rPr lang="en-US" dirty="0"/>
              <a:t>Forwarding must spread traffic evenly over all paths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April 14, 2024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20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FCA6DBE-FB36-2742-9782-BADD6CCE80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64021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Extend DV / LS 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Routing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Distance-Vector:</a:t>
            </a:r>
            <a:r>
              <a:rPr lang="en-US" dirty="0"/>
              <a:t> Remember all next-hops that advertise equal cost to a destination 	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Link-State:</a:t>
            </a:r>
            <a:r>
              <a:rPr lang="en-US" dirty="0"/>
              <a:t> Extend Dijkstra’s to compute all equal cost shortest paths to each destination </a:t>
            </a:r>
          </a:p>
          <a:p>
            <a:r>
              <a:rPr lang="en-US" dirty="0"/>
              <a:t>Forwarding: how to spread traffic across next hops?</a:t>
            </a:r>
          </a:p>
          <a:p>
            <a:pPr lvl="1"/>
            <a:endParaRPr lang="en-US" dirty="0"/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April 14, 2024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20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BC1BD9-FCA6-7143-99C2-EDB78C570C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45615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Forwarding 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/>
          </a:p>
          <a:p>
            <a:r>
              <a:rPr lang="en-US"/>
              <a:t>Per-packet </a:t>
            </a:r>
            <a:r>
              <a:rPr lang="en-US" dirty="0"/>
              <a:t>load balancing </a:t>
            </a:r>
          </a:p>
        </p:txBody>
      </p:sp>
      <p:grpSp>
        <p:nvGrpSpPr>
          <p:cNvPr id="44" name="Group 43"/>
          <p:cNvGrpSpPr/>
          <p:nvPr/>
        </p:nvGrpSpPr>
        <p:grpSpPr>
          <a:xfrm>
            <a:off x="3084998" y="1620484"/>
            <a:ext cx="3313923" cy="2438348"/>
            <a:chOff x="3084998" y="1620484"/>
            <a:chExt cx="3313923" cy="2438348"/>
          </a:xfrm>
        </p:grpSpPr>
        <p:grpSp>
          <p:nvGrpSpPr>
            <p:cNvPr id="43" name="Group 42"/>
            <p:cNvGrpSpPr/>
            <p:nvPr/>
          </p:nvGrpSpPr>
          <p:grpSpPr>
            <a:xfrm>
              <a:off x="3084998" y="1620484"/>
              <a:ext cx="3313923" cy="1480601"/>
              <a:chOff x="3084998" y="1620484"/>
              <a:chExt cx="3313923" cy="1480601"/>
            </a:xfrm>
          </p:grpSpPr>
          <p:sp>
            <p:nvSpPr>
              <p:cNvPr id="5" name="Rounded Rectangle 4"/>
              <p:cNvSpPr/>
              <p:nvPr/>
            </p:nvSpPr>
            <p:spPr>
              <a:xfrm>
                <a:off x="4049276" y="2558609"/>
                <a:ext cx="1331606" cy="542476"/>
              </a:xfrm>
              <a:prstGeom prst="roundRect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7" name="Straight Arrow Connector 6"/>
              <p:cNvCxnSpPr/>
              <p:nvPr/>
            </p:nvCxnSpPr>
            <p:spPr>
              <a:xfrm flipH="1" flipV="1">
                <a:off x="3665097" y="2120349"/>
                <a:ext cx="649665" cy="43826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arrow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Straight Arrow Connector 7"/>
              <p:cNvCxnSpPr/>
              <p:nvPr/>
            </p:nvCxnSpPr>
            <p:spPr>
              <a:xfrm flipH="1" flipV="1">
                <a:off x="4682538" y="2058941"/>
                <a:ext cx="1" cy="49179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arrow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Arrow Connector 9"/>
              <p:cNvCxnSpPr/>
              <p:nvPr/>
            </p:nvCxnSpPr>
            <p:spPr>
              <a:xfrm flipV="1">
                <a:off x="4921247" y="2058941"/>
                <a:ext cx="677123" cy="499669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arrow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" name="TextBox 18"/>
              <p:cNvSpPr txBox="1"/>
              <p:nvPr/>
            </p:nvSpPr>
            <p:spPr>
              <a:xfrm>
                <a:off x="4382178" y="1620484"/>
                <a:ext cx="62160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/>
                  <a:t>to D</a:t>
                </a:r>
              </a:p>
            </p:txBody>
          </p:sp>
          <p:sp>
            <p:nvSpPr>
              <p:cNvPr id="20" name="TextBox 19"/>
              <p:cNvSpPr txBox="1"/>
              <p:nvPr/>
            </p:nvSpPr>
            <p:spPr>
              <a:xfrm>
                <a:off x="3084998" y="1720238"/>
                <a:ext cx="62160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/>
                  <a:t>to D</a:t>
                </a:r>
              </a:p>
            </p:txBody>
          </p:sp>
          <p:sp>
            <p:nvSpPr>
              <p:cNvPr id="21" name="TextBox 20"/>
              <p:cNvSpPr txBox="1"/>
              <p:nvPr/>
            </p:nvSpPr>
            <p:spPr>
              <a:xfrm>
                <a:off x="5777312" y="1842990"/>
                <a:ext cx="62160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/>
                  <a:t>to D</a:t>
                </a:r>
              </a:p>
            </p:txBody>
          </p:sp>
        </p:grpSp>
        <p:cxnSp>
          <p:nvCxnSpPr>
            <p:cNvPr id="22" name="Straight Arrow Connector 21"/>
            <p:cNvCxnSpPr/>
            <p:nvPr/>
          </p:nvCxnSpPr>
          <p:spPr>
            <a:xfrm flipV="1">
              <a:off x="3596680" y="3101086"/>
              <a:ext cx="797828" cy="789054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/>
            <p:cNvCxnSpPr/>
            <p:nvPr/>
          </p:nvCxnSpPr>
          <p:spPr>
            <a:xfrm flipH="1" flipV="1">
              <a:off x="4682537" y="3101086"/>
              <a:ext cx="1" cy="957746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Arrow Connector 25"/>
            <p:cNvCxnSpPr/>
            <p:nvPr/>
          </p:nvCxnSpPr>
          <p:spPr>
            <a:xfrm flipH="1" flipV="1">
              <a:off x="5003788" y="3101085"/>
              <a:ext cx="594582" cy="789055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5" name="Group 44"/>
          <p:cNvGrpSpPr/>
          <p:nvPr/>
        </p:nvGrpSpPr>
        <p:grpSpPr>
          <a:xfrm>
            <a:off x="2516707" y="3430053"/>
            <a:ext cx="1189900" cy="1394298"/>
            <a:chOff x="2516707" y="3430053"/>
            <a:chExt cx="1189900" cy="1394298"/>
          </a:xfrm>
        </p:grpSpPr>
        <p:sp>
          <p:nvSpPr>
            <p:cNvPr id="28" name="Rectangle 27"/>
            <p:cNvSpPr/>
            <p:nvPr/>
          </p:nvSpPr>
          <p:spPr>
            <a:xfrm>
              <a:off x="3395803" y="3430053"/>
              <a:ext cx="310804" cy="197264"/>
            </a:xfrm>
            <a:prstGeom prst="rect">
              <a:avLst/>
            </a:prstGeom>
            <a:solidFill>
              <a:srgbClr val="008000"/>
            </a:solidFill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3252283" y="3582453"/>
              <a:ext cx="310804" cy="197264"/>
            </a:xfrm>
            <a:prstGeom prst="rect">
              <a:avLst/>
            </a:prstGeom>
            <a:solidFill>
              <a:srgbClr val="008000"/>
            </a:solidFill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3096881" y="3733777"/>
              <a:ext cx="310804" cy="197264"/>
            </a:xfrm>
            <a:prstGeom prst="rect">
              <a:avLst/>
            </a:prstGeom>
            <a:solidFill>
              <a:srgbClr val="008000"/>
            </a:solidFill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Rectangle 30"/>
            <p:cNvSpPr/>
            <p:nvPr/>
          </p:nvSpPr>
          <p:spPr>
            <a:xfrm>
              <a:off x="2953361" y="3898506"/>
              <a:ext cx="310804" cy="197264"/>
            </a:xfrm>
            <a:prstGeom prst="rect">
              <a:avLst/>
            </a:prstGeom>
            <a:solidFill>
              <a:srgbClr val="008000"/>
            </a:solidFill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2516707" y="4116465"/>
              <a:ext cx="902811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from A</a:t>
              </a:r>
              <a:br>
                <a:rPr lang="en-US" sz="2000" dirty="0"/>
              </a:br>
              <a:r>
                <a:rPr lang="en-US" sz="2000" dirty="0"/>
                <a:t> (to D)</a:t>
              </a:r>
            </a:p>
          </p:txBody>
        </p:sp>
      </p:grpSp>
      <p:grpSp>
        <p:nvGrpSpPr>
          <p:cNvPr id="46" name="Group 45"/>
          <p:cNvGrpSpPr/>
          <p:nvPr/>
        </p:nvGrpSpPr>
        <p:grpSpPr>
          <a:xfrm>
            <a:off x="3996063" y="3475993"/>
            <a:ext cx="902811" cy="1360687"/>
            <a:chOff x="3996063" y="3475993"/>
            <a:chExt cx="902811" cy="1360687"/>
          </a:xfrm>
        </p:grpSpPr>
        <p:sp>
          <p:nvSpPr>
            <p:cNvPr id="32" name="Rectangle 31"/>
            <p:cNvSpPr/>
            <p:nvPr/>
          </p:nvSpPr>
          <p:spPr>
            <a:xfrm>
              <a:off x="4314762" y="3475993"/>
              <a:ext cx="310804" cy="197264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Rectangle 32"/>
            <p:cNvSpPr/>
            <p:nvPr/>
          </p:nvSpPr>
          <p:spPr>
            <a:xfrm>
              <a:off x="4314762" y="3861568"/>
              <a:ext cx="310804" cy="197264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3996063" y="4128794"/>
              <a:ext cx="902811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from B</a:t>
              </a:r>
              <a:br>
                <a:rPr lang="en-US" sz="2000" dirty="0"/>
              </a:br>
              <a:r>
                <a:rPr lang="en-US" sz="2000" dirty="0"/>
                <a:t> (to D)</a:t>
              </a:r>
            </a:p>
          </p:txBody>
        </p:sp>
      </p:grpSp>
      <p:grpSp>
        <p:nvGrpSpPr>
          <p:cNvPr id="47" name="Group 46"/>
          <p:cNvGrpSpPr/>
          <p:nvPr/>
        </p:nvGrpSpPr>
        <p:grpSpPr>
          <a:xfrm>
            <a:off x="5380882" y="3500602"/>
            <a:ext cx="902811" cy="1316994"/>
            <a:chOff x="5380882" y="3500602"/>
            <a:chExt cx="902811" cy="1316994"/>
          </a:xfrm>
        </p:grpSpPr>
        <p:sp>
          <p:nvSpPr>
            <p:cNvPr id="34" name="Rectangle 33"/>
            <p:cNvSpPr/>
            <p:nvPr/>
          </p:nvSpPr>
          <p:spPr>
            <a:xfrm>
              <a:off x="5466508" y="3500602"/>
              <a:ext cx="310804" cy="197264"/>
            </a:xfrm>
            <a:prstGeom prst="rect">
              <a:avLst/>
            </a:prstGeom>
            <a:solidFill>
              <a:schemeClr val="accent4"/>
            </a:solidFill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5380882" y="4109710"/>
              <a:ext cx="902811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from C</a:t>
              </a:r>
              <a:br>
                <a:rPr lang="en-US" sz="2000" dirty="0"/>
              </a:br>
              <a:r>
                <a:rPr lang="en-US" sz="2000" dirty="0"/>
                <a:t> (to D)</a:t>
              </a:r>
            </a:p>
          </p:txBody>
        </p:sp>
      </p:grp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April 14, 2024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11" name="Footer Placeholder 10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20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D049E2-0FA7-A34E-9F03-7A623C927F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40994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400"/>
                            </p:stCondLst>
                            <p:childTnLst>
                              <p:par>
                                <p:cTn id="15" presetID="1" presetClass="entr" presetSubtype="0" fill="hold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Forwarding 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Per-packet load balancing </a:t>
            </a:r>
          </a:p>
          <a:p>
            <a:pPr lvl="1"/>
            <a:r>
              <a:rPr lang="en-US" dirty="0"/>
              <a:t>Traffic well spread (even w/ elephant flows)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BUT</a:t>
            </a:r>
            <a:r>
              <a:rPr lang="en-US" dirty="0"/>
              <a:t> Interacts poorly w/ TCP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049276" y="2558609"/>
            <a:ext cx="1331606" cy="542476"/>
          </a:xfrm>
          <a:prstGeom prst="round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Arrow Connector 6"/>
          <p:cNvCxnSpPr/>
          <p:nvPr/>
        </p:nvCxnSpPr>
        <p:spPr>
          <a:xfrm flipH="1" flipV="1">
            <a:off x="3665097" y="2120348"/>
            <a:ext cx="687902" cy="49179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/>
          <p:nvPr/>
        </p:nvCxnSpPr>
        <p:spPr>
          <a:xfrm flipH="1" flipV="1">
            <a:off x="4682538" y="2058941"/>
            <a:ext cx="1" cy="49179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/>
          <p:cNvCxnSpPr/>
          <p:nvPr/>
        </p:nvCxnSpPr>
        <p:spPr>
          <a:xfrm flipV="1">
            <a:off x="4921247" y="2058941"/>
            <a:ext cx="677123" cy="49966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382178" y="1620484"/>
            <a:ext cx="62160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to 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84998" y="1720238"/>
            <a:ext cx="62160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to 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77312" y="1842990"/>
            <a:ext cx="62160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to D</a:t>
            </a:r>
          </a:p>
        </p:txBody>
      </p:sp>
      <p:cxnSp>
        <p:nvCxnSpPr>
          <p:cNvPr id="22" name="Straight Arrow Connector 21"/>
          <p:cNvCxnSpPr/>
          <p:nvPr/>
        </p:nvCxnSpPr>
        <p:spPr>
          <a:xfrm flipV="1">
            <a:off x="3596680" y="3101086"/>
            <a:ext cx="797828" cy="78905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/>
          <p:nvPr/>
        </p:nvCxnSpPr>
        <p:spPr>
          <a:xfrm flipH="1" flipV="1">
            <a:off x="4682537" y="3101086"/>
            <a:ext cx="1" cy="95774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/>
          <p:cNvCxnSpPr/>
          <p:nvPr/>
        </p:nvCxnSpPr>
        <p:spPr>
          <a:xfrm flipH="1" flipV="1">
            <a:off x="5003788" y="3101085"/>
            <a:ext cx="594582" cy="78905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3326047" y="2120348"/>
            <a:ext cx="310804" cy="197264"/>
          </a:xfrm>
          <a:prstGeom prst="rect">
            <a:avLst/>
          </a:prstGeom>
          <a:solidFill>
            <a:srgbClr val="00800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/>
          <p:cNvSpPr/>
          <p:nvPr/>
        </p:nvSpPr>
        <p:spPr>
          <a:xfrm>
            <a:off x="4314762" y="2065987"/>
            <a:ext cx="310804" cy="197264"/>
          </a:xfrm>
          <a:prstGeom prst="rect">
            <a:avLst/>
          </a:prstGeom>
          <a:solidFill>
            <a:srgbClr val="00800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/>
          <p:cNvSpPr/>
          <p:nvPr/>
        </p:nvSpPr>
        <p:spPr>
          <a:xfrm>
            <a:off x="5272269" y="2216535"/>
            <a:ext cx="310804" cy="197264"/>
          </a:xfrm>
          <a:prstGeom prst="rect">
            <a:avLst/>
          </a:prstGeom>
          <a:solidFill>
            <a:srgbClr val="00800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/>
          <p:cNvSpPr/>
          <p:nvPr/>
        </p:nvSpPr>
        <p:spPr>
          <a:xfrm>
            <a:off x="3627099" y="2483860"/>
            <a:ext cx="310804" cy="197264"/>
          </a:xfrm>
          <a:prstGeom prst="rect">
            <a:avLst/>
          </a:prstGeom>
          <a:solidFill>
            <a:srgbClr val="00800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/>
          <p:cNvSpPr/>
          <p:nvPr/>
        </p:nvSpPr>
        <p:spPr>
          <a:xfrm>
            <a:off x="3447057" y="2335857"/>
            <a:ext cx="310804" cy="197264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/>
          <p:cNvSpPr/>
          <p:nvPr/>
        </p:nvSpPr>
        <p:spPr>
          <a:xfrm>
            <a:off x="5287566" y="2375438"/>
            <a:ext cx="310804" cy="197264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/>
          <p:cNvSpPr/>
          <p:nvPr/>
        </p:nvSpPr>
        <p:spPr>
          <a:xfrm>
            <a:off x="4267200" y="2243100"/>
            <a:ext cx="310804" cy="197264"/>
          </a:xfrm>
          <a:prstGeom prst="rect">
            <a:avLst/>
          </a:prstGeom>
          <a:solidFill>
            <a:schemeClr val="accent4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/>
          <p:cNvSpPr txBox="1"/>
          <p:nvPr/>
        </p:nvSpPr>
        <p:spPr>
          <a:xfrm>
            <a:off x="2516707" y="4116465"/>
            <a:ext cx="90281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from A</a:t>
            </a:r>
            <a:br>
              <a:rPr lang="en-US" sz="2000" dirty="0"/>
            </a:br>
            <a:r>
              <a:rPr lang="en-US" sz="2000" dirty="0"/>
              <a:t> (to D)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996063" y="4128794"/>
            <a:ext cx="90281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from B</a:t>
            </a:r>
            <a:br>
              <a:rPr lang="en-US" sz="2000" dirty="0"/>
            </a:br>
            <a:r>
              <a:rPr lang="en-US" sz="2000" dirty="0"/>
              <a:t> (to D)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80882" y="4109710"/>
            <a:ext cx="90281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from C</a:t>
            </a:r>
            <a:br>
              <a:rPr lang="en-US" sz="2000" dirty="0"/>
            </a:br>
            <a:r>
              <a:rPr lang="en-US" sz="2000" dirty="0"/>
              <a:t> (to D)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84276C1-BB55-DD46-83F9-53E49870B3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26152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Forwarding 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Per-flow load balancing (ECMP, “Equal Cost Multi Path”)</a:t>
            </a:r>
          </a:p>
          <a:p>
            <a:pPr lvl="1"/>
            <a:r>
              <a:rPr lang="en-US" dirty="0"/>
              <a:t>E.g., based on (src and dst IP and port)</a:t>
            </a:r>
          </a:p>
          <a:p>
            <a:pPr lvl="1"/>
            <a:endParaRPr lang="en-US" dirty="0"/>
          </a:p>
        </p:txBody>
      </p:sp>
      <p:sp>
        <p:nvSpPr>
          <p:cNvPr id="5" name="Rounded Rectangle 4"/>
          <p:cNvSpPr/>
          <p:nvPr/>
        </p:nvSpPr>
        <p:spPr>
          <a:xfrm>
            <a:off x="4049276" y="2558609"/>
            <a:ext cx="1331606" cy="542476"/>
          </a:xfrm>
          <a:prstGeom prst="round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Arrow Connector 6"/>
          <p:cNvCxnSpPr/>
          <p:nvPr/>
        </p:nvCxnSpPr>
        <p:spPr>
          <a:xfrm flipH="1" flipV="1">
            <a:off x="3665097" y="2120349"/>
            <a:ext cx="649665" cy="43826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/>
          <p:nvPr/>
        </p:nvCxnSpPr>
        <p:spPr>
          <a:xfrm flipH="1" flipV="1">
            <a:off x="4682538" y="2058941"/>
            <a:ext cx="1" cy="49179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/>
          <p:cNvCxnSpPr/>
          <p:nvPr/>
        </p:nvCxnSpPr>
        <p:spPr>
          <a:xfrm flipV="1">
            <a:off x="4921247" y="2058941"/>
            <a:ext cx="677123" cy="49966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382178" y="1620484"/>
            <a:ext cx="62160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to 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84998" y="1720238"/>
            <a:ext cx="62160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to 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77312" y="1842990"/>
            <a:ext cx="62160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to D</a:t>
            </a:r>
          </a:p>
        </p:txBody>
      </p:sp>
      <p:cxnSp>
        <p:nvCxnSpPr>
          <p:cNvPr id="22" name="Straight Arrow Connector 21"/>
          <p:cNvCxnSpPr/>
          <p:nvPr/>
        </p:nvCxnSpPr>
        <p:spPr>
          <a:xfrm flipV="1">
            <a:off x="3596680" y="3101086"/>
            <a:ext cx="797828" cy="78905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/>
          <p:nvPr/>
        </p:nvCxnSpPr>
        <p:spPr>
          <a:xfrm flipH="1" flipV="1">
            <a:off x="4682537" y="3101086"/>
            <a:ext cx="1" cy="95774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/>
          <p:cNvCxnSpPr/>
          <p:nvPr/>
        </p:nvCxnSpPr>
        <p:spPr>
          <a:xfrm flipH="1" flipV="1">
            <a:off x="5003788" y="3101085"/>
            <a:ext cx="594582" cy="78905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3395803" y="3430053"/>
            <a:ext cx="310804" cy="197264"/>
          </a:xfrm>
          <a:prstGeom prst="rect">
            <a:avLst/>
          </a:prstGeom>
          <a:solidFill>
            <a:srgbClr val="00800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/>
          <p:cNvSpPr/>
          <p:nvPr/>
        </p:nvSpPr>
        <p:spPr>
          <a:xfrm>
            <a:off x="3252283" y="3582453"/>
            <a:ext cx="310804" cy="197264"/>
          </a:xfrm>
          <a:prstGeom prst="rect">
            <a:avLst/>
          </a:prstGeom>
          <a:solidFill>
            <a:srgbClr val="00800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/>
          <p:cNvSpPr/>
          <p:nvPr/>
        </p:nvSpPr>
        <p:spPr>
          <a:xfrm>
            <a:off x="3096881" y="3733777"/>
            <a:ext cx="310804" cy="197264"/>
          </a:xfrm>
          <a:prstGeom prst="rect">
            <a:avLst/>
          </a:prstGeom>
          <a:solidFill>
            <a:srgbClr val="00800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/>
          <p:cNvSpPr/>
          <p:nvPr/>
        </p:nvSpPr>
        <p:spPr>
          <a:xfrm>
            <a:off x="2953361" y="3898506"/>
            <a:ext cx="310804" cy="197264"/>
          </a:xfrm>
          <a:prstGeom prst="rect">
            <a:avLst/>
          </a:prstGeom>
          <a:solidFill>
            <a:srgbClr val="00800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/>
          <p:cNvSpPr/>
          <p:nvPr/>
        </p:nvSpPr>
        <p:spPr>
          <a:xfrm>
            <a:off x="4314762" y="3475993"/>
            <a:ext cx="310804" cy="197264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/>
          <p:cNvSpPr/>
          <p:nvPr/>
        </p:nvSpPr>
        <p:spPr>
          <a:xfrm>
            <a:off x="4314762" y="3861568"/>
            <a:ext cx="310804" cy="197264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/>
          <p:cNvSpPr/>
          <p:nvPr/>
        </p:nvSpPr>
        <p:spPr>
          <a:xfrm>
            <a:off x="5466508" y="3500602"/>
            <a:ext cx="310804" cy="197264"/>
          </a:xfrm>
          <a:prstGeom prst="rect">
            <a:avLst/>
          </a:prstGeom>
          <a:solidFill>
            <a:schemeClr val="accent4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/>
          <p:cNvSpPr txBox="1"/>
          <p:nvPr/>
        </p:nvSpPr>
        <p:spPr>
          <a:xfrm>
            <a:off x="2516707" y="4116465"/>
            <a:ext cx="90281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from A</a:t>
            </a:r>
            <a:br>
              <a:rPr lang="en-US" sz="2000" dirty="0"/>
            </a:br>
            <a:r>
              <a:rPr lang="en-US" sz="2000" dirty="0"/>
              <a:t> (to D)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996063" y="4128794"/>
            <a:ext cx="90281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from B</a:t>
            </a:r>
            <a:br>
              <a:rPr lang="en-US" sz="2000" dirty="0"/>
            </a:br>
            <a:r>
              <a:rPr lang="en-US" sz="2000" dirty="0"/>
              <a:t> (to D)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80882" y="4109710"/>
            <a:ext cx="90281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from C</a:t>
            </a:r>
            <a:br>
              <a:rPr lang="en-US" sz="2000" dirty="0"/>
            </a:br>
            <a:r>
              <a:rPr lang="en-US" sz="2000" dirty="0"/>
              <a:t> (to D)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E89BBD0-1DB0-5E4B-9AEF-6475B2C74D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59388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Forwarding 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Per-flow load balancing (ECMP)</a:t>
            </a:r>
          </a:p>
          <a:p>
            <a:pPr lvl="1"/>
            <a:r>
              <a:rPr lang="en-US" dirty="0"/>
              <a:t>A flow follows a single path (</a:t>
            </a:r>
            <a:r>
              <a:rPr lang="en-US" dirty="0">
                <a:sym typeface="Wingdings"/>
              </a:rPr>
              <a:t> </a:t>
            </a:r>
            <a:r>
              <a:rPr lang="en-US" dirty="0"/>
              <a:t>TCP is happy) </a:t>
            </a:r>
          </a:p>
          <a:p>
            <a:pPr lvl="1"/>
            <a:r>
              <a:rPr lang="en-US" dirty="0"/>
              <a:t>Suboptimal load-balancing; elephants are a problem</a:t>
            </a:r>
          </a:p>
          <a:p>
            <a:pPr lvl="1"/>
            <a:endParaRPr lang="en-US" dirty="0"/>
          </a:p>
        </p:txBody>
      </p:sp>
      <p:sp>
        <p:nvSpPr>
          <p:cNvPr id="5" name="Rounded Rectangle 4"/>
          <p:cNvSpPr/>
          <p:nvPr/>
        </p:nvSpPr>
        <p:spPr>
          <a:xfrm>
            <a:off x="4049276" y="2558609"/>
            <a:ext cx="1331606" cy="542476"/>
          </a:xfrm>
          <a:prstGeom prst="round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Arrow Connector 6"/>
          <p:cNvCxnSpPr/>
          <p:nvPr/>
        </p:nvCxnSpPr>
        <p:spPr>
          <a:xfrm flipH="1" flipV="1">
            <a:off x="3665097" y="2120349"/>
            <a:ext cx="649665" cy="43826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/>
          <p:nvPr/>
        </p:nvCxnSpPr>
        <p:spPr>
          <a:xfrm flipH="1" flipV="1">
            <a:off x="4682538" y="2058941"/>
            <a:ext cx="1" cy="49179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/>
          <p:cNvCxnSpPr/>
          <p:nvPr/>
        </p:nvCxnSpPr>
        <p:spPr>
          <a:xfrm flipV="1">
            <a:off x="4921247" y="2058941"/>
            <a:ext cx="677123" cy="49966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382178" y="1620484"/>
            <a:ext cx="62160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to 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84998" y="1720238"/>
            <a:ext cx="62160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to 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77312" y="1842990"/>
            <a:ext cx="62160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to D</a:t>
            </a:r>
          </a:p>
        </p:txBody>
      </p:sp>
      <p:cxnSp>
        <p:nvCxnSpPr>
          <p:cNvPr id="22" name="Straight Arrow Connector 21"/>
          <p:cNvCxnSpPr/>
          <p:nvPr/>
        </p:nvCxnSpPr>
        <p:spPr>
          <a:xfrm flipV="1">
            <a:off x="3596680" y="3101086"/>
            <a:ext cx="797828" cy="78905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/>
          <p:nvPr/>
        </p:nvCxnSpPr>
        <p:spPr>
          <a:xfrm flipH="1" flipV="1">
            <a:off x="4682537" y="3101086"/>
            <a:ext cx="1" cy="95774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/>
          <p:cNvCxnSpPr/>
          <p:nvPr/>
        </p:nvCxnSpPr>
        <p:spPr>
          <a:xfrm flipH="1" flipV="1">
            <a:off x="5003788" y="3101085"/>
            <a:ext cx="594582" cy="78905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5334000" y="1733783"/>
            <a:ext cx="310804" cy="197264"/>
          </a:xfrm>
          <a:prstGeom prst="rect">
            <a:avLst/>
          </a:prstGeom>
          <a:solidFill>
            <a:srgbClr val="00800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/>
          <p:cNvSpPr/>
          <p:nvPr/>
        </p:nvSpPr>
        <p:spPr>
          <a:xfrm>
            <a:off x="5182729" y="1846074"/>
            <a:ext cx="310804" cy="197264"/>
          </a:xfrm>
          <a:prstGeom prst="rect">
            <a:avLst/>
          </a:prstGeom>
          <a:solidFill>
            <a:srgbClr val="00800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/>
          <p:cNvSpPr/>
          <p:nvPr/>
        </p:nvSpPr>
        <p:spPr>
          <a:xfrm>
            <a:off x="5060759" y="1999506"/>
            <a:ext cx="310804" cy="197264"/>
          </a:xfrm>
          <a:prstGeom prst="rect">
            <a:avLst/>
          </a:prstGeom>
          <a:solidFill>
            <a:srgbClr val="00800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/>
          <p:cNvSpPr/>
          <p:nvPr/>
        </p:nvSpPr>
        <p:spPr>
          <a:xfrm>
            <a:off x="4894913" y="2126875"/>
            <a:ext cx="310804" cy="197264"/>
          </a:xfrm>
          <a:prstGeom prst="rect">
            <a:avLst/>
          </a:prstGeom>
          <a:solidFill>
            <a:srgbClr val="00800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/>
          <p:cNvSpPr/>
          <p:nvPr/>
        </p:nvSpPr>
        <p:spPr>
          <a:xfrm>
            <a:off x="3332035" y="2149846"/>
            <a:ext cx="310804" cy="197264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/>
          <p:cNvSpPr/>
          <p:nvPr/>
        </p:nvSpPr>
        <p:spPr>
          <a:xfrm>
            <a:off x="3486155" y="2390844"/>
            <a:ext cx="310804" cy="197264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/>
          <p:cNvSpPr/>
          <p:nvPr/>
        </p:nvSpPr>
        <p:spPr>
          <a:xfrm>
            <a:off x="4750668" y="2235117"/>
            <a:ext cx="310804" cy="197264"/>
          </a:xfrm>
          <a:prstGeom prst="rect">
            <a:avLst/>
          </a:prstGeom>
          <a:solidFill>
            <a:schemeClr val="accent4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/>
          <p:cNvSpPr txBox="1"/>
          <p:nvPr/>
        </p:nvSpPr>
        <p:spPr>
          <a:xfrm>
            <a:off x="2516707" y="4116465"/>
            <a:ext cx="90281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from A</a:t>
            </a:r>
            <a:br>
              <a:rPr lang="en-US" sz="2000" dirty="0"/>
            </a:br>
            <a:r>
              <a:rPr lang="en-US" sz="2000" dirty="0"/>
              <a:t> (to D)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996063" y="4128794"/>
            <a:ext cx="90281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from B</a:t>
            </a:r>
            <a:br>
              <a:rPr lang="en-US" sz="2000" dirty="0"/>
            </a:br>
            <a:r>
              <a:rPr lang="en-US" sz="2000" dirty="0"/>
              <a:t> (to D)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80882" y="4109710"/>
            <a:ext cx="90281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from C</a:t>
            </a:r>
            <a:br>
              <a:rPr lang="en-US" sz="2000" dirty="0"/>
            </a:br>
            <a:r>
              <a:rPr lang="en-US" sz="2000" dirty="0"/>
              <a:t> (to D)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0B843E1-B78A-4946-8E48-0E05328FAA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00548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Extend DV / LS 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How: </a:t>
            </a:r>
          </a:p>
          <a:p>
            <a:pPr lvl="1"/>
            <a:r>
              <a:rPr lang="en-US" dirty="0"/>
              <a:t>Simple extensions to DV/LS</a:t>
            </a:r>
          </a:p>
          <a:p>
            <a:pPr lvl="1"/>
            <a:r>
              <a:rPr lang="en-US" dirty="0"/>
              <a:t>ECMP for load balancing </a:t>
            </a:r>
          </a:p>
          <a:p>
            <a:r>
              <a:rPr lang="en-US" dirty="0"/>
              <a:t>Benefits</a:t>
            </a:r>
          </a:p>
          <a:p>
            <a:pPr lvl="1"/>
            <a:r>
              <a:rPr lang="en-US" dirty="0"/>
              <a:t>Simple; reuses existing solutions</a:t>
            </a:r>
          </a:p>
          <a:p>
            <a:r>
              <a:rPr lang="en-US" dirty="0">
                <a:solidFill>
                  <a:srgbClr val="0000FF"/>
                </a:solidFill>
              </a:rPr>
              <a:t>Problem</a:t>
            </a:r>
            <a:r>
              <a:rPr lang="en-US" dirty="0"/>
              <a:t>: poor scaling</a:t>
            </a:r>
          </a:p>
          <a:p>
            <a:pPr lvl="1"/>
            <a:r>
              <a:rPr lang="en-US" dirty="0"/>
              <a:t>With N destinations, O(N) routing entries and messages</a:t>
            </a:r>
          </a:p>
          <a:p>
            <a:pPr lvl="1"/>
            <a:r>
              <a:rPr lang="en-US" dirty="0"/>
              <a:t>N now in the millions!</a:t>
            </a:r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April 14, 2024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20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30533E-8F90-6A43-B439-A83B6082C0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19439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/>
          <p:cNvGrpSpPr/>
          <p:nvPr/>
        </p:nvGrpSpPr>
        <p:grpSpPr>
          <a:xfrm>
            <a:off x="665802" y="887688"/>
            <a:ext cx="8366141" cy="4820634"/>
            <a:chOff x="9276" y="915023"/>
            <a:chExt cx="9022668" cy="5097981"/>
          </a:xfrm>
        </p:grpSpPr>
        <p:pic>
          <p:nvPicPr>
            <p:cNvPr id="6" name="Picture 5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276" y="915023"/>
              <a:ext cx="9022668" cy="5097981"/>
            </a:xfrm>
            <a:prstGeom prst="rect">
              <a:avLst/>
            </a:prstGeom>
          </p:spPr>
        </p:pic>
        <p:sp>
          <p:nvSpPr>
            <p:cNvPr id="7" name="Rectangle 6"/>
            <p:cNvSpPr/>
            <p:nvPr/>
          </p:nvSpPr>
          <p:spPr>
            <a:xfrm>
              <a:off x="2347265" y="1862851"/>
              <a:ext cx="4728615" cy="13020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/>
            <p:cNvSpPr/>
            <p:nvPr/>
          </p:nvSpPr>
          <p:spPr>
            <a:xfrm>
              <a:off x="354300" y="3802655"/>
              <a:ext cx="447129" cy="13020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/>
            <p:cNvSpPr/>
            <p:nvPr/>
          </p:nvSpPr>
          <p:spPr>
            <a:xfrm>
              <a:off x="5364596" y="3802655"/>
              <a:ext cx="447129" cy="13020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4826534" y="4583834"/>
              <a:ext cx="447129" cy="13020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1563615" y="4723905"/>
              <a:ext cx="447129" cy="13020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3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Solution 1: Topology-aware addressing</a:t>
            </a:r>
            <a:endParaRPr lang="en-US" dirty="0"/>
          </a:p>
        </p:txBody>
      </p:sp>
      <p:sp>
        <p:nvSpPr>
          <p:cNvPr id="2" name="TextBox 1"/>
          <p:cNvSpPr txBox="1"/>
          <p:nvPr/>
        </p:nvSpPr>
        <p:spPr>
          <a:xfrm>
            <a:off x="1109397" y="5881008"/>
            <a:ext cx="1035635" cy="40011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chemeClr val="tx1"/>
                </a:solidFill>
              </a:rPr>
              <a:t>10.0.*.*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51486" y="5874508"/>
            <a:ext cx="1035635" cy="400110"/>
          </a:xfrm>
          <a:prstGeom prst="rect">
            <a:avLst/>
          </a:prstGeom>
          <a:solidFill>
            <a:srgbClr val="D3A600"/>
          </a:solidFill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chemeClr val="tx1"/>
                </a:solidFill>
              </a:rPr>
              <a:t>10.1.*.*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93496" y="5843104"/>
            <a:ext cx="1035635" cy="400110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chemeClr val="tx1"/>
                </a:solidFill>
              </a:rPr>
              <a:t>10.2.*.*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06315" y="5820107"/>
            <a:ext cx="1035635" cy="400110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chemeClr val="tx1"/>
                </a:solidFill>
              </a:rPr>
              <a:t>10.3.*.*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April 14, 2024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17" name="Footer Placeholder 1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20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9D3D616-EE26-B741-82E9-C3ADE0F596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7A418-0CEB-9E4A-BA45-3B7D3D133EB9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578134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/>
          <p:cNvGrpSpPr/>
          <p:nvPr/>
        </p:nvGrpSpPr>
        <p:grpSpPr>
          <a:xfrm>
            <a:off x="665802" y="887688"/>
            <a:ext cx="8366141" cy="4820634"/>
            <a:chOff x="9276" y="915023"/>
            <a:chExt cx="9022668" cy="5097981"/>
          </a:xfrm>
        </p:grpSpPr>
        <p:pic>
          <p:nvPicPr>
            <p:cNvPr id="6" name="Picture 5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276" y="915023"/>
              <a:ext cx="9022668" cy="5097981"/>
            </a:xfrm>
            <a:prstGeom prst="rect">
              <a:avLst/>
            </a:prstGeom>
          </p:spPr>
        </p:pic>
        <p:sp>
          <p:nvSpPr>
            <p:cNvPr id="7" name="Rectangle 6"/>
            <p:cNvSpPr/>
            <p:nvPr/>
          </p:nvSpPr>
          <p:spPr>
            <a:xfrm>
              <a:off x="2347265" y="1862851"/>
              <a:ext cx="4728615" cy="13020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/>
            <p:cNvSpPr/>
            <p:nvPr/>
          </p:nvSpPr>
          <p:spPr>
            <a:xfrm>
              <a:off x="354300" y="3802655"/>
              <a:ext cx="447129" cy="13020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/>
            <p:cNvSpPr/>
            <p:nvPr/>
          </p:nvSpPr>
          <p:spPr>
            <a:xfrm>
              <a:off x="5364596" y="3802655"/>
              <a:ext cx="447129" cy="13020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4826534" y="4583834"/>
              <a:ext cx="447129" cy="13020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1563615" y="4723905"/>
              <a:ext cx="447129" cy="13020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3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Solution 1: Topology-aware addressing</a:t>
            </a:r>
            <a:endParaRPr lang="en-US" dirty="0"/>
          </a:p>
        </p:txBody>
      </p:sp>
      <p:sp>
        <p:nvSpPr>
          <p:cNvPr id="2" name="TextBox 1"/>
          <p:cNvSpPr txBox="1"/>
          <p:nvPr/>
        </p:nvSpPr>
        <p:spPr>
          <a:xfrm>
            <a:off x="725996" y="5719903"/>
            <a:ext cx="865441" cy="338554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chemeClr val="tx1"/>
                </a:solidFill>
              </a:rPr>
              <a:t>10.0.0.*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31095" y="5705231"/>
            <a:ext cx="865441" cy="338554"/>
          </a:xfrm>
          <a:prstGeom prst="rect">
            <a:avLst/>
          </a:prstGeom>
          <a:solidFill>
            <a:srgbClr val="D3A600"/>
          </a:solidFill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chemeClr val="tx1"/>
                </a:solidFill>
              </a:rPr>
              <a:t>10.1.0.*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32536" y="5719903"/>
            <a:ext cx="865441" cy="338554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chemeClr val="tx1"/>
                </a:solidFill>
              </a:rPr>
              <a:t>10.2.0.*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36421" y="5719903"/>
            <a:ext cx="865441" cy="338554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chemeClr val="tx1"/>
                </a:solidFill>
              </a:rPr>
              <a:t>10.3.0.*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82187" y="5707574"/>
            <a:ext cx="865441" cy="338554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chemeClr val="tx1"/>
                </a:solidFill>
              </a:rPr>
              <a:t>10.0.1.*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48936" y="5719903"/>
            <a:ext cx="865441" cy="338554"/>
          </a:xfrm>
          <a:prstGeom prst="rect">
            <a:avLst/>
          </a:prstGeom>
          <a:solidFill>
            <a:srgbClr val="D3A600"/>
          </a:solidFill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chemeClr val="tx1"/>
                </a:solidFill>
              </a:rPr>
              <a:t>10.1.1.*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01112" y="5708322"/>
            <a:ext cx="865441" cy="338554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chemeClr val="tx1"/>
                </a:solidFill>
              </a:rPr>
              <a:t>10.2.1.*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91162" y="5707574"/>
            <a:ext cx="865441" cy="338554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chemeClr val="tx1"/>
                </a:solidFill>
              </a:rPr>
              <a:t>10.3.1.*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April 14, 2024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21" name="Footer Placeholder 20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20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9DFFAE6-4136-C040-84E9-1BEAA745A5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7A418-0CEB-9E4A-BA45-3B7D3D133EB9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194540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/>
          <p:cNvGrpSpPr/>
          <p:nvPr/>
        </p:nvGrpSpPr>
        <p:grpSpPr>
          <a:xfrm>
            <a:off x="665802" y="887688"/>
            <a:ext cx="8366141" cy="4820634"/>
            <a:chOff x="9276" y="915023"/>
            <a:chExt cx="9022668" cy="5097981"/>
          </a:xfrm>
        </p:grpSpPr>
        <p:pic>
          <p:nvPicPr>
            <p:cNvPr id="6" name="Picture 5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276" y="915023"/>
              <a:ext cx="9022668" cy="5097981"/>
            </a:xfrm>
            <a:prstGeom prst="rect">
              <a:avLst/>
            </a:prstGeom>
          </p:spPr>
        </p:pic>
        <p:sp>
          <p:nvSpPr>
            <p:cNvPr id="7" name="Rectangle 6"/>
            <p:cNvSpPr/>
            <p:nvPr/>
          </p:nvSpPr>
          <p:spPr>
            <a:xfrm>
              <a:off x="2347265" y="1862851"/>
              <a:ext cx="4728615" cy="13020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/>
            <p:cNvSpPr/>
            <p:nvPr/>
          </p:nvSpPr>
          <p:spPr>
            <a:xfrm>
              <a:off x="354300" y="3802655"/>
              <a:ext cx="447129" cy="13020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/>
            <p:cNvSpPr/>
            <p:nvPr/>
          </p:nvSpPr>
          <p:spPr>
            <a:xfrm>
              <a:off x="5364596" y="3802655"/>
              <a:ext cx="447129" cy="13020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4826534" y="4583834"/>
              <a:ext cx="447129" cy="13020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1563615" y="4723905"/>
              <a:ext cx="447129" cy="13020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3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Solution 1: Topology-aware addressing</a:t>
            </a:r>
            <a:endParaRPr lang="en-US" dirty="0"/>
          </a:p>
        </p:txBody>
      </p:sp>
      <p:sp>
        <p:nvSpPr>
          <p:cNvPr id="2" name="TextBox 1"/>
          <p:cNvSpPr txBox="1"/>
          <p:nvPr/>
        </p:nvSpPr>
        <p:spPr>
          <a:xfrm rot="3373215">
            <a:off x="635850" y="5753831"/>
            <a:ext cx="869048" cy="338554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chemeClr val="tx1"/>
                </a:solidFill>
              </a:rPr>
              <a:t>10.0.0.0</a:t>
            </a:r>
          </a:p>
        </p:txBody>
      </p:sp>
      <p:sp>
        <p:nvSpPr>
          <p:cNvPr id="23" name="TextBox 22"/>
          <p:cNvSpPr txBox="1"/>
          <p:nvPr/>
        </p:nvSpPr>
        <p:spPr>
          <a:xfrm rot="3314277">
            <a:off x="1015111" y="5752034"/>
            <a:ext cx="869048" cy="338554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chemeClr val="tx1"/>
                </a:solidFill>
              </a:rPr>
              <a:t>10.0.0.1</a:t>
            </a:r>
          </a:p>
        </p:txBody>
      </p:sp>
      <p:sp>
        <p:nvSpPr>
          <p:cNvPr id="26" name="TextBox 25"/>
          <p:cNvSpPr txBox="1"/>
          <p:nvPr/>
        </p:nvSpPr>
        <p:spPr>
          <a:xfrm rot="3373215">
            <a:off x="1669387" y="5807599"/>
            <a:ext cx="869048" cy="338554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chemeClr val="tx1"/>
                </a:solidFill>
              </a:rPr>
              <a:t>10.0.1.0</a:t>
            </a:r>
          </a:p>
        </p:txBody>
      </p:sp>
      <p:sp>
        <p:nvSpPr>
          <p:cNvPr id="27" name="TextBox 26"/>
          <p:cNvSpPr txBox="1"/>
          <p:nvPr/>
        </p:nvSpPr>
        <p:spPr>
          <a:xfrm rot="3314277">
            <a:off x="2048648" y="5805802"/>
            <a:ext cx="869048" cy="338554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chemeClr val="tx1"/>
                </a:solidFill>
              </a:rPr>
              <a:t>10.0.1.1</a:t>
            </a:r>
          </a:p>
        </p:txBody>
      </p:sp>
      <p:sp>
        <p:nvSpPr>
          <p:cNvPr id="28" name="TextBox 27"/>
          <p:cNvSpPr txBox="1"/>
          <p:nvPr/>
        </p:nvSpPr>
        <p:spPr>
          <a:xfrm rot="3373215">
            <a:off x="2933229" y="5807600"/>
            <a:ext cx="869048" cy="338554"/>
          </a:xfrm>
          <a:prstGeom prst="rect">
            <a:avLst/>
          </a:prstGeom>
          <a:solidFill>
            <a:srgbClr val="D3A600"/>
          </a:solidFill>
          <a:ln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chemeClr val="tx1"/>
                </a:solidFill>
              </a:rPr>
              <a:t>10.1.0.0</a:t>
            </a:r>
          </a:p>
        </p:txBody>
      </p:sp>
      <p:sp>
        <p:nvSpPr>
          <p:cNvPr id="29" name="TextBox 28"/>
          <p:cNvSpPr txBox="1"/>
          <p:nvPr/>
        </p:nvSpPr>
        <p:spPr>
          <a:xfrm rot="3314277">
            <a:off x="3337150" y="5805803"/>
            <a:ext cx="869048" cy="338554"/>
          </a:xfrm>
          <a:prstGeom prst="rect">
            <a:avLst/>
          </a:prstGeom>
          <a:solidFill>
            <a:srgbClr val="D3A600"/>
          </a:solidFill>
          <a:ln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chemeClr val="tx1"/>
                </a:solidFill>
              </a:rPr>
              <a:t>10.1.0.1</a:t>
            </a:r>
          </a:p>
        </p:txBody>
      </p:sp>
      <p:sp>
        <p:nvSpPr>
          <p:cNvPr id="30" name="TextBox 29"/>
          <p:cNvSpPr txBox="1"/>
          <p:nvPr/>
        </p:nvSpPr>
        <p:spPr>
          <a:xfrm rot="3373215">
            <a:off x="3991426" y="5861368"/>
            <a:ext cx="869048" cy="338554"/>
          </a:xfrm>
          <a:prstGeom prst="rect">
            <a:avLst/>
          </a:prstGeom>
          <a:solidFill>
            <a:srgbClr val="D3A600"/>
          </a:solidFill>
          <a:ln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chemeClr val="tx1"/>
                </a:solidFill>
              </a:rPr>
              <a:t>10.1.1.0</a:t>
            </a:r>
          </a:p>
        </p:txBody>
      </p:sp>
      <p:sp>
        <p:nvSpPr>
          <p:cNvPr id="31" name="TextBox 30"/>
          <p:cNvSpPr txBox="1"/>
          <p:nvPr/>
        </p:nvSpPr>
        <p:spPr>
          <a:xfrm rot="3314277">
            <a:off x="4370687" y="5859571"/>
            <a:ext cx="869048" cy="338554"/>
          </a:xfrm>
          <a:prstGeom prst="rect">
            <a:avLst/>
          </a:prstGeom>
          <a:solidFill>
            <a:srgbClr val="D3A600"/>
          </a:solidFill>
          <a:ln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chemeClr val="tx1"/>
                </a:solidFill>
              </a:rPr>
              <a:t>10.1.1.1</a:t>
            </a:r>
          </a:p>
        </p:txBody>
      </p:sp>
      <p:sp>
        <p:nvSpPr>
          <p:cNvPr id="32" name="TextBox 31"/>
          <p:cNvSpPr txBox="1"/>
          <p:nvPr/>
        </p:nvSpPr>
        <p:spPr>
          <a:xfrm rot="3373215">
            <a:off x="5055320" y="5753830"/>
            <a:ext cx="869048" cy="338554"/>
          </a:xfrm>
          <a:prstGeom prst="rect">
            <a:avLst/>
          </a:prstGeom>
          <a:solidFill>
            <a:srgbClr val="92D050"/>
          </a:solidFill>
          <a:ln/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chemeClr val="tx1"/>
                </a:solidFill>
              </a:rPr>
              <a:t>10.2.0.0</a:t>
            </a:r>
          </a:p>
        </p:txBody>
      </p:sp>
      <p:sp>
        <p:nvSpPr>
          <p:cNvPr id="33" name="TextBox 32"/>
          <p:cNvSpPr txBox="1"/>
          <p:nvPr/>
        </p:nvSpPr>
        <p:spPr>
          <a:xfrm rot="3314277">
            <a:off x="5459241" y="5752033"/>
            <a:ext cx="869048" cy="338554"/>
          </a:xfrm>
          <a:prstGeom prst="rect">
            <a:avLst/>
          </a:prstGeom>
          <a:solidFill>
            <a:srgbClr val="92D050"/>
          </a:solidFill>
          <a:ln/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chemeClr val="tx1"/>
                </a:solidFill>
              </a:rPr>
              <a:t>10.2.0.1</a:t>
            </a:r>
          </a:p>
        </p:txBody>
      </p:sp>
      <p:sp>
        <p:nvSpPr>
          <p:cNvPr id="34" name="TextBox 33"/>
          <p:cNvSpPr txBox="1"/>
          <p:nvPr/>
        </p:nvSpPr>
        <p:spPr>
          <a:xfrm rot="3373215">
            <a:off x="6113517" y="5807598"/>
            <a:ext cx="869048" cy="338554"/>
          </a:xfrm>
          <a:prstGeom prst="rect">
            <a:avLst/>
          </a:prstGeom>
          <a:solidFill>
            <a:srgbClr val="92D050"/>
          </a:solidFill>
          <a:ln/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chemeClr val="tx1"/>
                </a:solidFill>
              </a:rPr>
              <a:t>10.2.1.0</a:t>
            </a:r>
          </a:p>
        </p:txBody>
      </p:sp>
      <p:sp>
        <p:nvSpPr>
          <p:cNvPr id="35" name="TextBox 34"/>
          <p:cNvSpPr txBox="1"/>
          <p:nvPr/>
        </p:nvSpPr>
        <p:spPr>
          <a:xfrm rot="3314277">
            <a:off x="6492778" y="5805801"/>
            <a:ext cx="869048" cy="338554"/>
          </a:xfrm>
          <a:prstGeom prst="rect">
            <a:avLst/>
          </a:prstGeom>
          <a:solidFill>
            <a:srgbClr val="92D050"/>
          </a:solidFill>
          <a:ln/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chemeClr val="tx1"/>
                </a:solidFill>
              </a:rPr>
              <a:t>10.2.1.1</a:t>
            </a:r>
          </a:p>
        </p:txBody>
      </p:sp>
      <p:sp>
        <p:nvSpPr>
          <p:cNvPr id="36" name="TextBox 35"/>
          <p:cNvSpPr txBox="1"/>
          <p:nvPr/>
        </p:nvSpPr>
        <p:spPr>
          <a:xfrm rot="3373215">
            <a:off x="7159960" y="5779205"/>
            <a:ext cx="869048" cy="338554"/>
          </a:xfrm>
          <a:prstGeom prst="rect">
            <a:avLst/>
          </a:prstGeom>
          <a:solidFill>
            <a:srgbClr val="FF0000"/>
          </a:solidFill>
          <a:ln/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chemeClr val="tx1"/>
                </a:solidFill>
              </a:rPr>
              <a:t>10.3.0.0</a:t>
            </a:r>
          </a:p>
        </p:txBody>
      </p:sp>
      <p:sp>
        <p:nvSpPr>
          <p:cNvPr id="37" name="TextBox 36"/>
          <p:cNvSpPr txBox="1"/>
          <p:nvPr/>
        </p:nvSpPr>
        <p:spPr>
          <a:xfrm rot="3314277">
            <a:off x="7563881" y="5777408"/>
            <a:ext cx="869048" cy="338554"/>
          </a:xfrm>
          <a:prstGeom prst="rect">
            <a:avLst/>
          </a:prstGeom>
          <a:solidFill>
            <a:srgbClr val="FF0000"/>
          </a:solidFill>
          <a:ln/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chemeClr val="tx1"/>
                </a:solidFill>
              </a:rPr>
              <a:t>10.3.0.1</a:t>
            </a:r>
          </a:p>
        </p:txBody>
      </p:sp>
      <p:sp>
        <p:nvSpPr>
          <p:cNvPr id="38" name="TextBox 37"/>
          <p:cNvSpPr txBox="1"/>
          <p:nvPr/>
        </p:nvSpPr>
        <p:spPr>
          <a:xfrm rot="3373215">
            <a:off x="8101172" y="5808315"/>
            <a:ext cx="869048" cy="338554"/>
          </a:xfrm>
          <a:prstGeom prst="rect">
            <a:avLst/>
          </a:prstGeom>
          <a:solidFill>
            <a:srgbClr val="FF0000"/>
          </a:solidFill>
          <a:ln/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chemeClr val="tx1"/>
                </a:solidFill>
              </a:rPr>
              <a:t>10.3.1.0</a:t>
            </a:r>
          </a:p>
        </p:txBody>
      </p:sp>
      <p:sp>
        <p:nvSpPr>
          <p:cNvPr id="39" name="TextBox 38"/>
          <p:cNvSpPr txBox="1"/>
          <p:nvPr/>
        </p:nvSpPr>
        <p:spPr>
          <a:xfrm rot="3314277">
            <a:off x="8480433" y="5757202"/>
            <a:ext cx="869048" cy="338554"/>
          </a:xfrm>
          <a:prstGeom prst="rect">
            <a:avLst/>
          </a:prstGeom>
          <a:solidFill>
            <a:srgbClr val="FF0000"/>
          </a:solidFill>
          <a:ln/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chemeClr val="tx1"/>
                </a:solidFill>
              </a:rPr>
              <a:t>10.3.1.1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April 14, 2024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5F265E7-DD32-A249-B3E2-8F2FF5B4E2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20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F85C59C-BF19-1748-9D4B-B2C77D87DB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7A418-0CEB-9E4A-BA45-3B7D3D133EB9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101160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/>
          <p:cNvGrpSpPr/>
          <p:nvPr/>
        </p:nvGrpSpPr>
        <p:grpSpPr>
          <a:xfrm>
            <a:off x="665802" y="887688"/>
            <a:ext cx="8366141" cy="4820634"/>
            <a:chOff x="9276" y="915023"/>
            <a:chExt cx="9022668" cy="5097981"/>
          </a:xfrm>
        </p:grpSpPr>
        <p:pic>
          <p:nvPicPr>
            <p:cNvPr id="6" name="Picture 5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276" y="915023"/>
              <a:ext cx="9022668" cy="5097981"/>
            </a:xfrm>
            <a:prstGeom prst="rect">
              <a:avLst/>
            </a:prstGeom>
          </p:spPr>
        </p:pic>
        <p:sp>
          <p:nvSpPr>
            <p:cNvPr id="7" name="Rectangle 6"/>
            <p:cNvSpPr/>
            <p:nvPr/>
          </p:nvSpPr>
          <p:spPr>
            <a:xfrm>
              <a:off x="2347265" y="1862851"/>
              <a:ext cx="4728615" cy="13020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/>
            <p:cNvSpPr/>
            <p:nvPr/>
          </p:nvSpPr>
          <p:spPr>
            <a:xfrm>
              <a:off x="354300" y="3802655"/>
              <a:ext cx="447129" cy="13020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/>
            <p:cNvSpPr/>
            <p:nvPr/>
          </p:nvSpPr>
          <p:spPr>
            <a:xfrm>
              <a:off x="5364596" y="3802655"/>
              <a:ext cx="447129" cy="13020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4826534" y="4583834"/>
              <a:ext cx="447129" cy="13020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1563615" y="4723905"/>
              <a:ext cx="447129" cy="13020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3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Solution 1: Topology-aware addressing</a:t>
            </a:r>
            <a:endParaRPr lang="en-US" dirty="0"/>
          </a:p>
        </p:txBody>
      </p:sp>
      <p:sp>
        <p:nvSpPr>
          <p:cNvPr id="3" name="Rounded Rectangular Callout 2"/>
          <p:cNvSpPr/>
          <p:nvPr/>
        </p:nvSpPr>
        <p:spPr>
          <a:xfrm>
            <a:off x="234264" y="1676741"/>
            <a:ext cx="1862090" cy="1282215"/>
          </a:xfrm>
          <a:prstGeom prst="wedgeRoundRectCallout">
            <a:avLst>
              <a:gd name="adj1" fmla="val 97822"/>
              <a:gd name="adj2" fmla="val -19417"/>
              <a:gd name="adj3" fmla="val 16667"/>
            </a:avLst>
          </a:prstGeom>
          <a:solidFill>
            <a:schemeClr val="tx1">
              <a:lumMod val="75000"/>
              <a:lumOff val="25000"/>
            </a:schemeClr>
          </a:solidFill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10.0.*.* </a:t>
            </a:r>
            <a:r>
              <a:rPr lang="en-US" dirty="0">
                <a:sym typeface="Wingdings"/>
              </a:rPr>
              <a:t> 1</a:t>
            </a:r>
            <a:r>
              <a:rPr lang="en-US" dirty="0"/>
              <a:t>  </a:t>
            </a:r>
          </a:p>
          <a:p>
            <a:r>
              <a:rPr lang="en-US" dirty="0"/>
              <a:t>10.1.*.* </a:t>
            </a:r>
            <a:r>
              <a:rPr lang="en-US" dirty="0">
                <a:sym typeface="Wingdings"/>
              </a:rPr>
              <a:t> 2</a:t>
            </a:r>
            <a:endParaRPr lang="en-US" dirty="0"/>
          </a:p>
          <a:p>
            <a:r>
              <a:rPr lang="en-US" dirty="0"/>
              <a:t>10.2.*.* </a:t>
            </a:r>
            <a:r>
              <a:rPr lang="en-US" dirty="0">
                <a:sym typeface="Wingdings"/>
              </a:rPr>
              <a:t> 3</a:t>
            </a:r>
            <a:endParaRPr lang="en-US" dirty="0"/>
          </a:p>
          <a:p>
            <a:r>
              <a:rPr lang="en-US" dirty="0"/>
              <a:t>10.3.*.* </a:t>
            </a:r>
            <a:r>
              <a:rPr lang="en-US" dirty="0">
                <a:sym typeface="Wingdings"/>
              </a:rPr>
              <a:t> 4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2594307" y="2194829"/>
            <a:ext cx="3146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983942" y="2211879"/>
            <a:ext cx="3146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96632" y="2179344"/>
            <a:ext cx="3146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483403" y="1974741"/>
            <a:ext cx="3146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43" name="TextBox 42"/>
          <p:cNvSpPr txBox="1"/>
          <p:nvPr/>
        </p:nvSpPr>
        <p:spPr>
          <a:xfrm rot="3373215">
            <a:off x="635850" y="5753831"/>
            <a:ext cx="869048" cy="338554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chemeClr val="tx1"/>
                </a:solidFill>
              </a:rPr>
              <a:t>10.0.0.0</a:t>
            </a:r>
          </a:p>
        </p:txBody>
      </p:sp>
      <p:sp>
        <p:nvSpPr>
          <p:cNvPr id="44" name="TextBox 43"/>
          <p:cNvSpPr txBox="1"/>
          <p:nvPr/>
        </p:nvSpPr>
        <p:spPr>
          <a:xfrm rot="3314277">
            <a:off x="1015111" y="5752034"/>
            <a:ext cx="869048" cy="338554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chemeClr val="tx1"/>
                </a:solidFill>
              </a:rPr>
              <a:t>10.0.0.1</a:t>
            </a:r>
          </a:p>
        </p:txBody>
      </p:sp>
      <p:sp>
        <p:nvSpPr>
          <p:cNvPr id="45" name="TextBox 44"/>
          <p:cNvSpPr txBox="1"/>
          <p:nvPr/>
        </p:nvSpPr>
        <p:spPr>
          <a:xfrm rot="3373215">
            <a:off x="1669387" y="5807599"/>
            <a:ext cx="869048" cy="338554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chemeClr val="tx1"/>
                </a:solidFill>
              </a:rPr>
              <a:t>10.0.1.0</a:t>
            </a:r>
          </a:p>
        </p:txBody>
      </p:sp>
      <p:sp>
        <p:nvSpPr>
          <p:cNvPr id="46" name="TextBox 45"/>
          <p:cNvSpPr txBox="1"/>
          <p:nvPr/>
        </p:nvSpPr>
        <p:spPr>
          <a:xfrm rot="3314277">
            <a:off x="2048648" y="5805802"/>
            <a:ext cx="869048" cy="338554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chemeClr val="tx1"/>
                </a:solidFill>
              </a:rPr>
              <a:t>10.0.1.1</a:t>
            </a:r>
          </a:p>
        </p:txBody>
      </p:sp>
      <p:sp>
        <p:nvSpPr>
          <p:cNvPr id="47" name="TextBox 46"/>
          <p:cNvSpPr txBox="1"/>
          <p:nvPr/>
        </p:nvSpPr>
        <p:spPr>
          <a:xfrm rot="3373215">
            <a:off x="2933229" y="5807600"/>
            <a:ext cx="869048" cy="338554"/>
          </a:xfrm>
          <a:prstGeom prst="rect">
            <a:avLst/>
          </a:prstGeom>
          <a:solidFill>
            <a:srgbClr val="D3A600"/>
          </a:solidFill>
          <a:ln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chemeClr val="tx1"/>
                </a:solidFill>
              </a:rPr>
              <a:t>10.1.0.0</a:t>
            </a:r>
          </a:p>
        </p:txBody>
      </p:sp>
      <p:sp>
        <p:nvSpPr>
          <p:cNvPr id="48" name="TextBox 47"/>
          <p:cNvSpPr txBox="1"/>
          <p:nvPr/>
        </p:nvSpPr>
        <p:spPr>
          <a:xfrm rot="3314277">
            <a:off x="3337150" y="5805803"/>
            <a:ext cx="869048" cy="338554"/>
          </a:xfrm>
          <a:prstGeom prst="rect">
            <a:avLst/>
          </a:prstGeom>
          <a:solidFill>
            <a:srgbClr val="D3A600"/>
          </a:solidFill>
          <a:ln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chemeClr val="tx1"/>
                </a:solidFill>
              </a:rPr>
              <a:t>10.1.0.1</a:t>
            </a:r>
          </a:p>
        </p:txBody>
      </p:sp>
      <p:sp>
        <p:nvSpPr>
          <p:cNvPr id="49" name="TextBox 48"/>
          <p:cNvSpPr txBox="1"/>
          <p:nvPr/>
        </p:nvSpPr>
        <p:spPr>
          <a:xfrm rot="3373215">
            <a:off x="3991426" y="5861368"/>
            <a:ext cx="869048" cy="338554"/>
          </a:xfrm>
          <a:prstGeom prst="rect">
            <a:avLst/>
          </a:prstGeom>
          <a:solidFill>
            <a:srgbClr val="D3A600"/>
          </a:solidFill>
          <a:ln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chemeClr val="tx1"/>
                </a:solidFill>
              </a:rPr>
              <a:t>10.1.1.0</a:t>
            </a:r>
          </a:p>
        </p:txBody>
      </p:sp>
      <p:sp>
        <p:nvSpPr>
          <p:cNvPr id="50" name="TextBox 49"/>
          <p:cNvSpPr txBox="1"/>
          <p:nvPr/>
        </p:nvSpPr>
        <p:spPr>
          <a:xfrm rot="3314277">
            <a:off x="4370687" y="5859571"/>
            <a:ext cx="869048" cy="338554"/>
          </a:xfrm>
          <a:prstGeom prst="rect">
            <a:avLst/>
          </a:prstGeom>
          <a:solidFill>
            <a:srgbClr val="D3A600"/>
          </a:solidFill>
          <a:ln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chemeClr val="tx1"/>
                </a:solidFill>
              </a:rPr>
              <a:t>10.1.1.1</a:t>
            </a:r>
          </a:p>
        </p:txBody>
      </p:sp>
      <p:sp>
        <p:nvSpPr>
          <p:cNvPr id="51" name="TextBox 50"/>
          <p:cNvSpPr txBox="1"/>
          <p:nvPr/>
        </p:nvSpPr>
        <p:spPr>
          <a:xfrm rot="3373215">
            <a:off x="5055320" y="5753830"/>
            <a:ext cx="869048" cy="338554"/>
          </a:xfrm>
          <a:prstGeom prst="rect">
            <a:avLst/>
          </a:prstGeom>
          <a:solidFill>
            <a:srgbClr val="92D050"/>
          </a:solidFill>
          <a:ln/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chemeClr val="tx1"/>
                </a:solidFill>
              </a:rPr>
              <a:t>10.2.0.0</a:t>
            </a:r>
          </a:p>
        </p:txBody>
      </p:sp>
      <p:sp>
        <p:nvSpPr>
          <p:cNvPr id="52" name="TextBox 51"/>
          <p:cNvSpPr txBox="1"/>
          <p:nvPr/>
        </p:nvSpPr>
        <p:spPr>
          <a:xfrm rot="3314277">
            <a:off x="5459241" y="5752033"/>
            <a:ext cx="869048" cy="338554"/>
          </a:xfrm>
          <a:prstGeom prst="rect">
            <a:avLst/>
          </a:prstGeom>
          <a:solidFill>
            <a:srgbClr val="92D050"/>
          </a:solidFill>
          <a:ln/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chemeClr val="tx1"/>
                </a:solidFill>
              </a:rPr>
              <a:t>10.2.0.1</a:t>
            </a:r>
          </a:p>
        </p:txBody>
      </p:sp>
      <p:sp>
        <p:nvSpPr>
          <p:cNvPr id="53" name="TextBox 52"/>
          <p:cNvSpPr txBox="1"/>
          <p:nvPr/>
        </p:nvSpPr>
        <p:spPr>
          <a:xfrm rot="3373215">
            <a:off x="6113517" y="5807598"/>
            <a:ext cx="869048" cy="338554"/>
          </a:xfrm>
          <a:prstGeom prst="rect">
            <a:avLst/>
          </a:prstGeom>
          <a:solidFill>
            <a:srgbClr val="92D050"/>
          </a:solidFill>
          <a:ln/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chemeClr val="tx1"/>
                </a:solidFill>
              </a:rPr>
              <a:t>10.2.1.0</a:t>
            </a:r>
          </a:p>
        </p:txBody>
      </p:sp>
      <p:sp>
        <p:nvSpPr>
          <p:cNvPr id="54" name="TextBox 53"/>
          <p:cNvSpPr txBox="1"/>
          <p:nvPr/>
        </p:nvSpPr>
        <p:spPr>
          <a:xfrm rot="3314277">
            <a:off x="6492778" y="5805801"/>
            <a:ext cx="869048" cy="338554"/>
          </a:xfrm>
          <a:prstGeom prst="rect">
            <a:avLst/>
          </a:prstGeom>
          <a:solidFill>
            <a:srgbClr val="92D050"/>
          </a:solidFill>
          <a:ln/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chemeClr val="tx1"/>
                </a:solidFill>
              </a:rPr>
              <a:t>10.2.1.1</a:t>
            </a:r>
          </a:p>
        </p:txBody>
      </p:sp>
      <p:sp>
        <p:nvSpPr>
          <p:cNvPr id="55" name="TextBox 54"/>
          <p:cNvSpPr txBox="1"/>
          <p:nvPr/>
        </p:nvSpPr>
        <p:spPr>
          <a:xfrm rot="3373215">
            <a:off x="7159960" y="5779205"/>
            <a:ext cx="869048" cy="338554"/>
          </a:xfrm>
          <a:prstGeom prst="rect">
            <a:avLst/>
          </a:prstGeom>
          <a:solidFill>
            <a:srgbClr val="FF0000"/>
          </a:solidFill>
          <a:ln/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chemeClr val="tx1"/>
                </a:solidFill>
              </a:rPr>
              <a:t>10.3.0.0</a:t>
            </a:r>
          </a:p>
        </p:txBody>
      </p:sp>
      <p:sp>
        <p:nvSpPr>
          <p:cNvPr id="56" name="TextBox 55"/>
          <p:cNvSpPr txBox="1"/>
          <p:nvPr/>
        </p:nvSpPr>
        <p:spPr>
          <a:xfrm rot="3314277">
            <a:off x="7563881" y="5777408"/>
            <a:ext cx="869048" cy="338554"/>
          </a:xfrm>
          <a:prstGeom prst="rect">
            <a:avLst/>
          </a:prstGeom>
          <a:solidFill>
            <a:srgbClr val="FF0000"/>
          </a:solidFill>
          <a:ln/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chemeClr val="tx1"/>
                </a:solidFill>
              </a:rPr>
              <a:t>10.3.0.1</a:t>
            </a:r>
          </a:p>
        </p:txBody>
      </p:sp>
      <p:sp>
        <p:nvSpPr>
          <p:cNvPr id="57" name="TextBox 56"/>
          <p:cNvSpPr txBox="1"/>
          <p:nvPr/>
        </p:nvSpPr>
        <p:spPr>
          <a:xfrm rot="3373215">
            <a:off x="8101172" y="5808315"/>
            <a:ext cx="869048" cy="338554"/>
          </a:xfrm>
          <a:prstGeom prst="rect">
            <a:avLst/>
          </a:prstGeom>
          <a:solidFill>
            <a:srgbClr val="FF0000"/>
          </a:solidFill>
          <a:ln/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chemeClr val="tx1"/>
                </a:solidFill>
              </a:rPr>
              <a:t>10.3.1.0</a:t>
            </a:r>
          </a:p>
        </p:txBody>
      </p:sp>
      <p:sp>
        <p:nvSpPr>
          <p:cNvPr id="58" name="TextBox 57"/>
          <p:cNvSpPr txBox="1"/>
          <p:nvPr/>
        </p:nvSpPr>
        <p:spPr>
          <a:xfrm rot="3314277">
            <a:off x="8480433" y="5757202"/>
            <a:ext cx="869048" cy="338554"/>
          </a:xfrm>
          <a:prstGeom prst="rect">
            <a:avLst/>
          </a:prstGeom>
          <a:solidFill>
            <a:srgbClr val="FF0000"/>
          </a:solidFill>
          <a:ln/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chemeClr val="tx1"/>
                </a:solidFill>
              </a:rPr>
              <a:t>10.3.1.1</a:t>
            </a:r>
          </a:p>
        </p:txBody>
      </p:sp>
      <p:sp>
        <p:nvSpPr>
          <p:cNvPr id="14" name="Date Placeholder 1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April 14, 2024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A527275C-AD16-854B-9CD1-626FC54DCF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20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4BF0CA-F89F-4C4A-A27C-421EDBDEE8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7A418-0CEB-9E4A-BA45-3B7D3D133EB9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80675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/>
          <p:cNvGrpSpPr/>
          <p:nvPr/>
        </p:nvGrpSpPr>
        <p:grpSpPr>
          <a:xfrm>
            <a:off x="665802" y="887688"/>
            <a:ext cx="8366141" cy="4820634"/>
            <a:chOff x="9276" y="915023"/>
            <a:chExt cx="9022668" cy="5097981"/>
          </a:xfrm>
        </p:grpSpPr>
        <p:pic>
          <p:nvPicPr>
            <p:cNvPr id="6" name="Picture 5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276" y="915023"/>
              <a:ext cx="9022668" cy="5097981"/>
            </a:xfrm>
            <a:prstGeom prst="rect">
              <a:avLst/>
            </a:prstGeom>
          </p:spPr>
        </p:pic>
        <p:sp>
          <p:nvSpPr>
            <p:cNvPr id="7" name="Rectangle 6"/>
            <p:cNvSpPr/>
            <p:nvPr/>
          </p:nvSpPr>
          <p:spPr>
            <a:xfrm>
              <a:off x="2347265" y="1862851"/>
              <a:ext cx="4728615" cy="13020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/>
            <p:cNvSpPr/>
            <p:nvPr/>
          </p:nvSpPr>
          <p:spPr>
            <a:xfrm>
              <a:off x="354300" y="3802655"/>
              <a:ext cx="447129" cy="13020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/>
            <p:cNvSpPr/>
            <p:nvPr/>
          </p:nvSpPr>
          <p:spPr>
            <a:xfrm>
              <a:off x="5364596" y="3802655"/>
              <a:ext cx="447129" cy="13020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4826534" y="4583834"/>
              <a:ext cx="447129" cy="13020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1563615" y="4723905"/>
              <a:ext cx="447129" cy="13020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3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Solution 1: Topology-aware addressing</a:t>
            </a:r>
            <a:endParaRPr lang="en-US" dirty="0"/>
          </a:p>
        </p:txBody>
      </p:sp>
      <p:sp>
        <p:nvSpPr>
          <p:cNvPr id="3" name="Rounded Rectangular Callout 2"/>
          <p:cNvSpPr/>
          <p:nvPr/>
        </p:nvSpPr>
        <p:spPr>
          <a:xfrm>
            <a:off x="234264" y="1907075"/>
            <a:ext cx="1862090" cy="1051881"/>
          </a:xfrm>
          <a:prstGeom prst="wedgeRoundRectCallout">
            <a:avLst>
              <a:gd name="adj1" fmla="val -4148"/>
              <a:gd name="adj2" fmla="val 127010"/>
              <a:gd name="adj3" fmla="val 16667"/>
            </a:avLst>
          </a:prstGeom>
          <a:solidFill>
            <a:schemeClr val="tx1">
              <a:lumMod val="75000"/>
              <a:lumOff val="25000"/>
            </a:schemeClr>
          </a:solidFill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10.0.0.* </a:t>
            </a:r>
            <a:r>
              <a:rPr lang="en-US" dirty="0">
                <a:sym typeface="Wingdings"/>
              </a:rPr>
              <a:t> 1</a:t>
            </a:r>
            <a:r>
              <a:rPr lang="en-US" dirty="0"/>
              <a:t>  </a:t>
            </a:r>
          </a:p>
          <a:p>
            <a:r>
              <a:rPr lang="en-US" dirty="0"/>
              <a:t>10.0.1.* </a:t>
            </a:r>
            <a:r>
              <a:rPr lang="en-US" dirty="0">
                <a:sym typeface="Wingdings"/>
              </a:rPr>
              <a:t> 2</a:t>
            </a:r>
            <a:endParaRPr lang="en-US" dirty="0"/>
          </a:p>
          <a:p>
            <a:r>
              <a:rPr lang="en-US" dirty="0"/>
              <a:t>*.*.*.* </a:t>
            </a:r>
            <a:r>
              <a:rPr lang="en-US" dirty="0">
                <a:sym typeface="Wingdings"/>
              </a:rPr>
              <a:t> 3, 4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905487" y="3956794"/>
            <a:ext cx="3146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281726" y="4018439"/>
            <a:ext cx="3146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8317" y="3584037"/>
            <a:ext cx="3146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65084" y="3307217"/>
            <a:ext cx="42510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43" name="TextBox 42"/>
          <p:cNvSpPr txBox="1"/>
          <p:nvPr/>
        </p:nvSpPr>
        <p:spPr>
          <a:xfrm rot="3373215">
            <a:off x="635850" y="5753831"/>
            <a:ext cx="869048" cy="338554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chemeClr val="tx1"/>
                </a:solidFill>
              </a:rPr>
              <a:t>10.0.0.0</a:t>
            </a:r>
          </a:p>
        </p:txBody>
      </p:sp>
      <p:sp>
        <p:nvSpPr>
          <p:cNvPr id="44" name="TextBox 43"/>
          <p:cNvSpPr txBox="1"/>
          <p:nvPr/>
        </p:nvSpPr>
        <p:spPr>
          <a:xfrm rot="3314277">
            <a:off x="1015111" y="5752034"/>
            <a:ext cx="869048" cy="338554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chemeClr val="tx1"/>
                </a:solidFill>
              </a:rPr>
              <a:t>10.0.0.1</a:t>
            </a:r>
          </a:p>
        </p:txBody>
      </p:sp>
      <p:sp>
        <p:nvSpPr>
          <p:cNvPr id="45" name="TextBox 44"/>
          <p:cNvSpPr txBox="1"/>
          <p:nvPr/>
        </p:nvSpPr>
        <p:spPr>
          <a:xfrm rot="3373215">
            <a:off x="1669387" y="5807599"/>
            <a:ext cx="869048" cy="338554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chemeClr val="tx1"/>
                </a:solidFill>
              </a:rPr>
              <a:t>10.0.1.0</a:t>
            </a:r>
          </a:p>
        </p:txBody>
      </p:sp>
      <p:sp>
        <p:nvSpPr>
          <p:cNvPr id="46" name="TextBox 45"/>
          <p:cNvSpPr txBox="1"/>
          <p:nvPr/>
        </p:nvSpPr>
        <p:spPr>
          <a:xfrm rot="3314277">
            <a:off x="2048648" y="5805802"/>
            <a:ext cx="869048" cy="338554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chemeClr val="tx1"/>
                </a:solidFill>
              </a:rPr>
              <a:t>10.0.1.1</a:t>
            </a:r>
          </a:p>
        </p:txBody>
      </p:sp>
      <p:sp>
        <p:nvSpPr>
          <p:cNvPr id="47" name="TextBox 46"/>
          <p:cNvSpPr txBox="1"/>
          <p:nvPr/>
        </p:nvSpPr>
        <p:spPr>
          <a:xfrm rot="3373215">
            <a:off x="2933229" y="5807600"/>
            <a:ext cx="869048" cy="338554"/>
          </a:xfrm>
          <a:prstGeom prst="rect">
            <a:avLst/>
          </a:prstGeom>
          <a:solidFill>
            <a:srgbClr val="D3A600"/>
          </a:solidFill>
          <a:ln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chemeClr val="tx1"/>
                </a:solidFill>
              </a:rPr>
              <a:t>10.1.0.0</a:t>
            </a:r>
          </a:p>
        </p:txBody>
      </p:sp>
      <p:sp>
        <p:nvSpPr>
          <p:cNvPr id="48" name="TextBox 47"/>
          <p:cNvSpPr txBox="1"/>
          <p:nvPr/>
        </p:nvSpPr>
        <p:spPr>
          <a:xfrm rot="3314277">
            <a:off x="3337150" y="5805803"/>
            <a:ext cx="869048" cy="338554"/>
          </a:xfrm>
          <a:prstGeom prst="rect">
            <a:avLst/>
          </a:prstGeom>
          <a:solidFill>
            <a:srgbClr val="D3A600"/>
          </a:solidFill>
          <a:ln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chemeClr val="tx1"/>
                </a:solidFill>
              </a:rPr>
              <a:t>10.1.0.1</a:t>
            </a:r>
          </a:p>
        </p:txBody>
      </p:sp>
      <p:sp>
        <p:nvSpPr>
          <p:cNvPr id="49" name="TextBox 48"/>
          <p:cNvSpPr txBox="1"/>
          <p:nvPr/>
        </p:nvSpPr>
        <p:spPr>
          <a:xfrm rot="3373215">
            <a:off x="3991426" y="5861368"/>
            <a:ext cx="869048" cy="338554"/>
          </a:xfrm>
          <a:prstGeom prst="rect">
            <a:avLst/>
          </a:prstGeom>
          <a:solidFill>
            <a:srgbClr val="D3A600"/>
          </a:solidFill>
          <a:ln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chemeClr val="tx1"/>
                </a:solidFill>
              </a:rPr>
              <a:t>10.1.1.0</a:t>
            </a:r>
          </a:p>
        </p:txBody>
      </p:sp>
      <p:sp>
        <p:nvSpPr>
          <p:cNvPr id="50" name="TextBox 49"/>
          <p:cNvSpPr txBox="1"/>
          <p:nvPr/>
        </p:nvSpPr>
        <p:spPr>
          <a:xfrm rot="3314277">
            <a:off x="4370687" y="5859571"/>
            <a:ext cx="869048" cy="338554"/>
          </a:xfrm>
          <a:prstGeom prst="rect">
            <a:avLst/>
          </a:prstGeom>
          <a:solidFill>
            <a:srgbClr val="D3A600"/>
          </a:solidFill>
          <a:ln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chemeClr val="tx1"/>
                </a:solidFill>
              </a:rPr>
              <a:t>10.1.1.1</a:t>
            </a:r>
          </a:p>
        </p:txBody>
      </p:sp>
      <p:sp>
        <p:nvSpPr>
          <p:cNvPr id="51" name="TextBox 50"/>
          <p:cNvSpPr txBox="1"/>
          <p:nvPr/>
        </p:nvSpPr>
        <p:spPr>
          <a:xfrm rot="3373215">
            <a:off x="5055320" y="5753830"/>
            <a:ext cx="869048" cy="338554"/>
          </a:xfrm>
          <a:prstGeom prst="rect">
            <a:avLst/>
          </a:prstGeom>
          <a:solidFill>
            <a:srgbClr val="92D050"/>
          </a:solidFill>
          <a:ln/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chemeClr val="tx1"/>
                </a:solidFill>
              </a:rPr>
              <a:t>10.2.0.0</a:t>
            </a:r>
          </a:p>
        </p:txBody>
      </p:sp>
      <p:sp>
        <p:nvSpPr>
          <p:cNvPr id="52" name="TextBox 51"/>
          <p:cNvSpPr txBox="1"/>
          <p:nvPr/>
        </p:nvSpPr>
        <p:spPr>
          <a:xfrm rot="3314277">
            <a:off x="5459241" y="5752033"/>
            <a:ext cx="869048" cy="338554"/>
          </a:xfrm>
          <a:prstGeom prst="rect">
            <a:avLst/>
          </a:prstGeom>
          <a:solidFill>
            <a:srgbClr val="92D050"/>
          </a:solidFill>
          <a:ln/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chemeClr val="tx1"/>
                </a:solidFill>
              </a:rPr>
              <a:t>10.2.0.1</a:t>
            </a:r>
          </a:p>
        </p:txBody>
      </p:sp>
      <p:sp>
        <p:nvSpPr>
          <p:cNvPr id="53" name="TextBox 52"/>
          <p:cNvSpPr txBox="1"/>
          <p:nvPr/>
        </p:nvSpPr>
        <p:spPr>
          <a:xfrm rot="3373215">
            <a:off x="6113517" y="5807598"/>
            <a:ext cx="869048" cy="338554"/>
          </a:xfrm>
          <a:prstGeom prst="rect">
            <a:avLst/>
          </a:prstGeom>
          <a:solidFill>
            <a:srgbClr val="92D050"/>
          </a:solidFill>
          <a:ln/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chemeClr val="tx1"/>
                </a:solidFill>
              </a:rPr>
              <a:t>10.2.1.0</a:t>
            </a:r>
          </a:p>
        </p:txBody>
      </p:sp>
      <p:sp>
        <p:nvSpPr>
          <p:cNvPr id="54" name="TextBox 53"/>
          <p:cNvSpPr txBox="1"/>
          <p:nvPr/>
        </p:nvSpPr>
        <p:spPr>
          <a:xfrm rot="3314277">
            <a:off x="6492778" y="5805801"/>
            <a:ext cx="869048" cy="338554"/>
          </a:xfrm>
          <a:prstGeom prst="rect">
            <a:avLst/>
          </a:prstGeom>
          <a:solidFill>
            <a:srgbClr val="92D050"/>
          </a:solidFill>
          <a:ln/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chemeClr val="tx1"/>
                </a:solidFill>
              </a:rPr>
              <a:t>10.2.1.1</a:t>
            </a:r>
          </a:p>
        </p:txBody>
      </p:sp>
      <p:sp>
        <p:nvSpPr>
          <p:cNvPr id="55" name="TextBox 54"/>
          <p:cNvSpPr txBox="1"/>
          <p:nvPr/>
        </p:nvSpPr>
        <p:spPr>
          <a:xfrm rot="3373215">
            <a:off x="7159960" y="5779205"/>
            <a:ext cx="869048" cy="338554"/>
          </a:xfrm>
          <a:prstGeom prst="rect">
            <a:avLst/>
          </a:prstGeom>
          <a:solidFill>
            <a:srgbClr val="FF0000"/>
          </a:solidFill>
          <a:ln/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chemeClr val="tx1"/>
                </a:solidFill>
              </a:rPr>
              <a:t>10.3.0.0</a:t>
            </a:r>
          </a:p>
        </p:txBody>
      </p:sp>
      <p:sp>
        <p:nvSpPr>
          <p:cNvPr id="56" name="TextBox 55"/>
          <p:cNvSpPr txBox="1"/>
          <p:nvPr/>
        </p:nvSpPr>
        <p:spPr>
          <a:xfrm rot="3314277">
            <a:off x="7563881" y="5777408"/>
            <a:ext cx="869048" cy="338554"/>
          </a:xfrm>
          <a:prstGeom prst="rect">
            <a:avLst/>
          </a:prstGeom>
          <a:solidFill>
            <a:srgbClr val="FF0000"/>
          </a:solidFill>
          <a:ln/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chemeClr val="tx1"/>
                </a:solidFill>
              </a:rPr>
              <a:t>10.3.0.1</a:t>
            </a:r>
          </a:p>
        </p:txBody>
      </p:sp>
      <p:sp>
        <p:nvSpPr>
          <p:cNvPr id="57" name="TextBox 56"/>
          <p:cNvSpPr txBox="1"/>
          <p:nvPr/>
        </p:nvSpPr>
        <p:spPr>
          <a:xfrm rot="3373215">
            <a:off x="8101172" y="5808315"/>
            <a:ext cx="869048" cy="338554"/>
          </a:xfrm>
          <a:prstGeom prst="rect">
            <a:avLst/>
          </a:prstGeom>
          <a:solidFill>
            <a:srgbClr val="FF0000"/>
          </a:solidFill>
          <a:ln/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chemeClr val="tx1"/>
                </a:solidFill>
              </a:rPr>
              <a:t>10.3.1.0</a:t>
            </a:r>
          </a:p>
        </p:txBody>
      </p:sp>
      <p:sp>
        <p:nvSpPr>
          <p:cNvPr id="58" name="TextBox 57"/>
          <p:cNvSpPr txBox="1"/>
          <p:nvPr/>
        </p:nvSpPr>
        <p:spPr>
          <a:xfrm rot="3314277">
            <a:off x="8480433" y="5757202"/>
            <a:ext cx="869048" cy="338554"/>
          </a:xfrm>
          <a:prstGeom prst="rect">
            <a:avLst/>
          </a:prstGeom>
          <a:solidFill>
            <a:srgbClr val="FF0000"/>
          </a:solidFill>
          <a:ln/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chemeClr val="tx1"/>
                </a:solidFill>
              </a:rPr>
              <a:t>10.3.1.1</a:t>
            </a:r>
          </a:p>
        </p:txBody>
      </p:sp>
      <p:sp>
        <p:nvSpPr>
          <p:cNvPr id="14" name="Date Placeholder 1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April 14, 2024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017579A0-7038-464B-BA5E-14948823A6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20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C1E36F0-8FE4-0444-BEA5-EB3645C68D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7A418-0CEB-9E4A-BA45-3B7D3D133EB9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8951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/>
          <p:cNvGrpSpPr/>
          <p:nvPr/>
        </p:nvGrpSpPr>
        <p:grpSpPr>
          <a:xfrm>
            <a:off x="665802" y="887688"/>
            <a:ext cx="8366141" cy="4820634"/>
            <a:chOff x="9276" y="915023"/>
            <a:chExt cx="9022668" cy="5097981"/>
          </a:xfrm>
        </p:grpSpPr>
        <p:pic>
          <p:nvPicPr>
            <p:cNvPr id="6" name="Picture 5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276" y="915023"/>
              <a:ext cx="9022668" cy="5097981"/>
            </a:xfrm>
            <a:prstGeom prst="rect">
              <a:avLst/>
            </a:prstGeom>
          </p:spPr>
        </p:pic>
        <p:sp>
          <p:nvSpPr>
            <p:cNvPr id="7" name="Rectangle 6"/>
            <p:cNvSpPr/>
            <p:nvPr/>
          </p:nvSpPr>
          <p:spPr>
            <a:xfrm>
              <a:off x="2347265" y="1862851"/>
              <a:ext cx="4728615" cy="13020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/>
            <p:cNvSpPr/>
            <p:nvPr/>
          </p:nvSpPr>
          <p:spPr>
            <a:xfrm>
              <a:off x="354300" y="3802655"/>
              <a:ext cx="447129" cy="13020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/>
            <p:cNvSpPr/>
            <p:nvPr/>
          </p:nvSpPr>
          <p:spPr>
            <a:xfrm>
              <a:off x="5364596" y="3802655"/>
              <a:ext cx="447129" cy="13020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4826534" y="4583834"/>
              <a:ext cx="447129" cy="13020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1563615" y="4723905"/>
              <a:ext cx="447129" cy="13020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3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Solution 1: Topology-aware addressing</a:t>
            </a:r>
            <a:endParaRPr lang="en-US" dirty="0"/>
          </a:p>
        </p:txBody>
      </p:sp>
      <p:sp>
        <p:nvSpPr>
          <p:cNvPr id="3" name="Rounded Rectangular Callout 2"/>
          <p:cNvSpPr/>
          <p:nvPr/>
        </p:nvSpPr>
        <p:spPr>
          <a:xfrm>
            <a:off x="234264" y="1504137"/>
            <a:ext cx="1862090" cy="1454819"/>
          </a:xfrm>
          <a:prstGeom prst="wedgeRoundRectCallout">
            <a:avLst>
              <a:gd name="adj1" fmla="val -837"/>
              <a:gd name="adj2" fmla="val 108366"/>
              <a:gd name="adj3" fmla="val 16667"/>
            </a:avLst>
          </a:prstGeom>
          <a:solidFill>
            <a:schemeClr val="tx1">
              <a:lumMod val="75000"/>
              <a:lumOff val="25000"/>
            </a:schemeClr>
          </a:solidFill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10.0.0.* </a:t>
            </a:r>
            <a:r>
              <a:rPr lang="en-US" dirty="0">
                <a:sym typeface="Wingdings"/>
              </a:rPr>
              <a:t> 1</a:t>
            </a:r>
            <a:r>
              <a:rPr lang="en-US" dirty="0"/>
              <a:t>  </a:t>
            </a:r>
          </a:p>
          <a:p>
            <a:r>
              <a:rPr lang="en-US" dirty="0"/>
              <a:t>10.0.1.* </a:t>
            </a:r>
            <a:r>
              <a:rPr lang="en-US" dirty="0">
                <a:sym typeface="Wingdings"/>
              </a:rPr>
              <a:t> 2</a:t>
            </a:r>
            <a:endParaRPr lang="en-US" dirty="0"/>
          </a:p>
          <a:p>
            <a:r>
              <a:rPr lang="en-US" b="1" dirty="0">
                <a:solidFill>
                  <a:schemeClr val="bg1"/>
                </a:solidFill>
              </a:rPr>
              <a:t> *.*.*.0 </a:t>
            </a:r>
            <a:r>
              <a:rPr lang="en-US" b="1" dirty="0">
                <a:solidFill>
                  <a:schemeClr val="bg1"/>
                </a:solidFill>
                <a:sym typeface="Wingdings"/>
              </a:rPr>
              <a:t> 3</a:t>
            </a:r>
          </a:p>
          <a:p>
            <a:r>
              <a:rPr lang="en-US" b="1" dirty="0">
                <a:solidFill>
                  <a:schemeClr val="bg1"/>
                </a:solidFill>
                <a:sym typeface="Wingdings"/>
              </a:rPr>
              <a:t> *.*.*.1  4</a:t>
            </a:r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05487" y="3956794"/>
            <a:ext cx="3146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281726" y="4018439"/>
            <a:ext cx="3146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8317" y="3584037"/>
            <a:ext cx="3146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65084" y="3307217"/>
            <a:ext cx="42510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43" name="TextBox 42"/>
          <p:cNvSpPr txBox="1"/>
          <p:nvPr/>
        </p:nvSpPr>
        <p:spPr>
          <a:xfrm rot="3373215">
            <a:off x="635850" y="5753831"/>
            <a:ext cx="869048" cy="338554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chemeClr val="tx1"/>
                </a:solidFill>
              </a:rPr>
              <a:t>10.0.0.0</a:t>
            </a:r>
          </a:p>
        </p:txBody>
      </p:sp>
      <p:sp>
        <p:nvSpPr>
          <p:cNvPr id="44" name="TextBox 43"/>
          <p:cNvSpPr txBox="1"/>
          <p:nvPr/>
        </p:nvSpPr>
        <p:spPr>
          <a:xfrm rot="3314277">
            <a:off x="1015111" y="5752034"/>
            <a:ext cx="869048" cy="338554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chemeClr val="tx1"/>
                </a:solidFill>
              </a:rPr>
              <a:t>10.0.0.1</a:t>
            </a:r>
          </a:p>
        </p:txBody>
      </p:sp>
      <p:sp>
        <p:nvSpPr>
          <p:cNvPr id="45" name="TextBox 44"/>
          <p:cNvSpPr txBox="1"/>
          <p:nvPr/>
        </p:nvSpPr>
        <p:spPr>
          <a:xfrm rot="3373215">
            <a:off x="1669387" y="5807599"/>
            <a:ext cx="869048" cy="338554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chemeClr val="tx1"/>
                </a:solidFill>
              </a:rPr>
              <a:t>10.0.1.0</a:t>
            </a:r>
          </a:p>
        </p:txBody>
      </p:sp>
      <p:sp>
        <p:nvSpPr>
          <p:cNvPr id="46" name="TextBox 45"/>
          <p:cNvSpPr txBox="1"/>
          <p:nvPr/>
        </p:nvSpPr>
        <p:spPr>
          <a:xfrm rot="3314277">
            <a:off x="2048648" y="5805802"/>
            <a:ext cx="869048" cy="338554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chemeClr val="tx1"/>
                </a:solidFill>
              </a:rPr>
              <a:t>10.0.1.1</a:t>
            </a:r>
          </a:p>
        </p:txBody>
      </p:sp>
      <p:sp>
        <p:nvSpPr>
          <p:cNvPr id="47" name="TextBox 46"/>
          <p:cNvSpPr txBox="1"/>
          <p:nvPr/>
        </p:nvSpPr>
        <p:spPr>
          <a:xfrm rot="3373215">
            <a:off x="2933229" y="5807600"/>
            <a:ext cx="869048" cy="338554"/>
          </a:xfrm>
          <a:prstGeom prst="rect">
            <a:avLst/>
          </a:prstGeom>
          <a:solidFill>
            <a:srgbClr val="D3A600"/>
          </a:solidFill>
          <a:ln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chemeClr val="tx1"/>
                </a:solidFill>
              </a:rPr>
              <a:t>10.1.0.0</a:t>
            </a:r>
          </a:p>
        </p:txBody>
      </p:sp>
      <p:sp>
        <p:nvSpPr>
          <p:cNvPr id="48" name="TextBox 47"/>
          <p:cNvSpPr txBox="1"/>
          <p:nvPr/>
        </p:nvSpPr>
        <p:spPr>
          <a:xfrm rot="3314277">
            <a:off x="3337150" y="5805803"/>
            <a:ext cx="869048" cy="338554"/>
          </a:xfrm>
          <a:prstGeom prst="rect">
            <a:avLst/>
          </a:prstGeom>
          <a:solidFill>
            <a:srgbClr val="D3A600"/>
          </a:solidFill>
          <a:ln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chemeClr val="tx1"/>
                </a:solidFill>
              </a:rPr>
              <a:t>10.1.0.1</a:t>
            </a:r>
          </a:p>
        </p:txBody>
      </p:sp>
      <p:sp>
        <p:nvSpPr>
          <p:cNvPr id="49" name="TextBox 48"/>
          <p:cNvSpPr txBox="1"/>
          <p:nvPr/>
        </p:nvSpPr>
        <p:spPr>
          <a:xfrm rot="3373215">
            <a:off x="3991426" y="5861368"/>
            <a:ext cx="869048" cy="338554"/>
          </a:xfrm>
          <a:prstGeom prst="rect">
            <a:avLst/>
          </a:prstGeom>
          <a:solidFill>
            <a:srgbClr val="D3A600"/>
          </a:solidFill>
          <a:ln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chemeClr val="tx1"/>
                </a:solidFill>
              </a:rPr>
              <a:t>10.1.1.0</a:t>
            </a:r>
          </a:p>
        </p:txBody>
      </p:sp>
      <p:sp>
        <p:nvSpPr>
          <p:cNvPr id="50" name="TextBox 49"/>
          <p:cNvSpPr txBox="1"/>
          <p:nvPr/>
        </p:nvSpPr>
        <p:spPr>
          <a:xfrm rot="3314277">
            <a:off x="4370687" y="5859571"/>
            <a:ext cx="869048" cy="338554"/>
          </a:xfrm>
          <a:prstGeom prst="rect">
            <a:avLst/>
          </a:prstGeom>
          <a:solidFill>
            <a:srgbClr val="D3A600"/>
          </a:solidFill>
          <a:ln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chemeClr val="tx1"/>
                </a:solidFill>
              </a:rPr>
              <a:t>10.1.1.1</a:t>
            </a:r>
          </a:p>
        </p:txBody>
      </p:sp>
      <p:sp>
        <p:nvSpPr>
          <p:cNvPr id="51" name="TextBox 50"/>
          <p:cNvSpPr txBox="1"/>
          <p:nvPr/>
        </p:nvSpPr>
        <p:spPr>
          <a:xfrm rot="3373215">
            <a:off x="5055320" y="5753830"/>
            <a:ext cx="869048" cy="338554"/>
          </a:xfrm>
          <a:prstGeom prst="rect">
            <a:avLst/>
          </a:prstGeom>
          <a:solidFill>
            <a:srgbClr val="92D050"/>
          </a:solidFill>
          <a:ln/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chemeClr val="tx1"/>
                </a:solidFill>
              </a:rPr>
              <a:t>10.2.0.0</a:t>
            </a:r>
          </a:p>
        </p:txBody>
      </p:sp>
      <p:sp>
        <p:nvSpPr>
          <p:cNvPr id="52" name="TextBox 51"/>
          <p:cNvSpPr txBox="1"/>
          <p:nvPr/>
        </p:nvSpPr>
        <p:spPr>
          <a:xfrm rot="3314277">
            <a:off x="5459241" y="5752033"/>
            <a:ext cx="869048" cy="338554"/>
          </a:xfrm>
          <a:prstGeom prst="rect">
            <a:avLst/>
          </a:prstGeom>
          <a:solidFill>
            <a:srgbClr val="92D050"/>
          </a:solidFill>
          <a:ln/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chemeClr val="tx1"/>
                </a:solidFill>
              </a:rPr>
              <a:t>10.2.0.1</a:t>
            </a:r>
          </a:p>
        </p:txBody>
      </p:sp>
      <p:sp>
        <p:nvSpPr>
          <p:cNvPr id="53" name="TextBox 52"/>
          <p:cNvSpPr txBox="1"/>
          <p:nvPr/>
        </p:nvSpPr>
        <p:spPr>
          <a:xfrm rot="3373215">
            <a:off x="6113517" y="5807598"/>
            <a:ext cx="869048" cy="338554"/>
          </a:xfrm>
          <a:prstGeom prst="rect">
            <a:avLst/>
          </a:prstGeom>
          <a:solidFill>
            <a:srgbClr val="92D050"/>
          </a:solidFill>
          <a:ln/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chemeClr val="tx1"/>
                </a:solidFill>
              </a:rPr>
              <a:t>10.2.1.0</a:t>
            </a:r>
          </a:p>
        </p:txBody>
      </p:sp>
      <p:sp>
        <p:nvSpPr>
          <p:cNvPr id="54" name="TextBox 53"/>
          <p:cNvSpPr txBox="1"/>
          <p:nvPr/>
        </p:nvSpPr>
        <p:spPr>
          <a:xfrm rot="3314277">
            <a:off x="6492778" y="5805801"/>
            <a:ext cx="869048" cy="338554"/>
          </a:xfrm>
          <a:prstGeom prst="rect">
            <a:avLst/>
          </a:prstGeom>
          <a:solidFill>
            <a:srgbClr val="92D050"/>
          </a:solidFill>
          <a:ln/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chemeClr val="tx1"/>
                </a:solidFill>
              </a:rPr>
              <a:t>10.2.1.1</a:t>
            </a:r>
          </a:p>
        </p:txBody>
      </p:sp>
      <p:sp>
        <p:nvSpPr>
          <p:cNvPr id="55" name="TextBox 54"/>
          <p:cNvSpPr txBox="1"/>
          <p:nvPr/>
        </p:nvSpPr>
        <p:spPr>
          <a:xfrm rot="3373215">
            <a:off x="7159960" y="5779205"/>
            <a:ext cx="869048" cy="338554"/>
          </a:xfrm>
          <a:prstGeom prst="rect">
            <a:avLst/>
          </a:prstGeom>
          <a:solidFill>
            <a:srgbClr val="FF0000"/>
          </a:solidFill>
          <a:ln/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chemeClr val="tx1"/>
                </a:solidFill>
              </a:rPr>
              <a:t>10.3.0.0</a:t>
            </a:r>
          </a:p>
        </p:txBody>
      </p:sp>
      <p:sp>
        <p:nvSpPr>
          <p:cNvPr id="56" name="TextBox 55"/>
          <p:cNvSpPr txBox="1"/>
          <p:nvPr/>
        </p:nvSpPr>
        <p:spPr>
          <a:xfrm rot="3314277">
            <a:off x="7563881" y="5777408"/>
            <a:ext cx="869048" cy="338554"/>
          </a:xfrm>
          <a:prstGeom prst="rect">
            <a:avLst/>
          </a:prstGeom>
          <a:solidFill>
            <a:srgbClr val="FF0000"/>
          </a:solidFill>
          <a:ln/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chemeClr val="tx1"/>
                </a:solidFill>
              </a:rPr>
              <a:t>10.3.0.1</a:t>
            </a:r>
          </a:p>
        </p:txBody>
      </p:sp>
      <p:sp>
        <p:nvSpPr>
          <p:cNvPr id="57" name="TextBox 56"/>
          <p:cNvSpPr txBox="1"/>
          <p:nvPr/>
        </p:nvSpPr>
        <p:spPr>
          <a:xfrm rot="3373215">
            <a:off x="8101172" y="5808315"/>
            <a:ext cx="869048" cy="338554"/>
          </a:xfrm>
          <a:prstGeom prst="rect">
            <a:avLst/>
          </a:prstGeom>
          <a:solidFill>
            <a:srgbClr val="FF0000"/>
          </a:solidFill>
          <a:ln/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chemeClr val="tx1"/>
                </a:solidFill>
              </a:rPr>
              <a:t>10.3.1.0</a:t>
            </a:r>
          </a:p>
        </p:txBody>
      </p:sp>
      <p:sp>
        <p:nvSpPr>
          <p:cNvPr id="58" name="TextBox 57"/>
          <p:cNvSpPr txBox="1"/>
          <p:nvPr/>
        </p:nvSpPr>
        <p:spPr>
          <a:xfrm rot="3314277">
            <a:off x="8480433" y="5757202"/>
            <a:ext cx="869048" cy="338554"/>
          </a:xfrm>
          <a:prstGeom prst="rect">
            <a:avLst/>
          </a:prstGeom>
          <a:solidFill>
            <a:srgbClr val="FF0000"/>
          </a:solidFill>
          <a:ln/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chemeClr val="tx1"/>
                </a:solidFill>
              </a:rPr>
              <a:t>10.3.1.1</a:t>
            </a:r>
          </a:p>
        </p:txBody>
      </p:sp>
      <p:sp>
        <p:nvSpPr>
          <p:cNvPr id="14" name="Date Placeholder 1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April 14, 2024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64D3B346-4820-D448-A096-CFA71F7F20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20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B3A26C6-E5D8-3448-BA9F-99066A20DC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7A418-0CEB-9E4A-BA45-3B7D3D133EB9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781792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/>
          <p:cNvGrpSpPr/>
          <p:nvPr/>
        </p:nvGrpSpPr>
        <p:grpSpPr>
          <a:xfrm>
            <a:off x="665802" y="887688"/>
            <a:ext cx="8366141" cy="4820634"/>
            <a:chOff x="9276" y="915023"/>
            <a:chExt cx="9022668" cy="5097981"/>
          </a:xfrm>
        </p:grpSpPr>
        <p:pic>
          <p:nvPicPr>
            <p:cNvPr id="6" name="Picture 5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276" y="915023"/>
              <a:ext cx="9022668" cy="5097981"/>
            </a:xfrm>
            <a:prstGeom prst="rect">
              <a:avLst/>
            </a:prstGeom>
          </p:spPr>
        </p:pic>
        <p:sp>
          <p:nvSpPr>
            <p:cNvPr id="7" name="Rectangle 6"/>
            <p:cNvSpPr/>
            <p:nvPr/>
          </p:nvSpPr>
          <p:spPr>
            <a:xfrm>
              <a:off x="2347265" y="1862851"/>
              <a:ext cx="4728615" cy="13020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/>
            <p:cNvSpPr/>
            <p:nvPr/>
          </p:nvSpPr>
          <p:spPr>
            <a:xfrm>
              <a:off x="354300" y="3802655"/>
              <a:ext cx="447129" cy="13020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/>
            <p:cNvSpPr/>
            <p:nvPr/>
          </p:nvSpPr>
          <p:spPr>
            <a:xfrm>
              <a:off x="5364596" y="3802655"/>
              <a:ext cx="447129" cy="13020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4826534" y="4583834"/>
              <a:ext cx="447129" cy="13020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1563615" y="4723905"/>
              <a:ext cx="447129" cy="13020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3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Solution 1: Topology-aware addressing</a:t>
            </a:r>
            <a:endParaRPr lang="en-US" dirty="0"/>
          </a:p>
        </p:txBody>
      </p:sp>
      <p:sp>
        <p:nvSpPr>
          <p:cNvPr id="3" name="Rounded Rectangular Callout 2"/>
          <p:cNvSpPr/>
          <p:nvPr/>
        </p:nvSpPr>
        <p:spPr>
          <a:xfrm>
            <a:off x="42340" y="2245623"/>
            <a:ext cx="1862090" cy="1454819"/>
          </a:xfrm>
          <a:prstGeom prst="wedgeRoundRectCallout">
            <a:avLst>
              <a:gd name="adj1" fmla="val -2162"/>
              <a:gd name="adj2" fmla="val 110909"/>
              <a:gd name="adj3" fmla="val 16667"/>
            </a:avLst>
          </a:prstGeom>
          <a:solidFill>
            <a:schemeClr val="tx1">
              <a:lumMod val="75000"/>
              <a:lumOff val="25000"/>
            </a:schemeClr>
          </a:solidFill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10.0.0.0 </a:t>
            </a:r>
            <a:r>
              <a:rPr lang="en-US" dirty="0">
                <a:sym typeface="Wingdings"/>
              </a:rPr>
              <a:t> 1</a:t>
            </a:r>
            <a:r>
              <a:rPr lang="en-US" dirty="0"/>
              <a:t>  </a:t>
            </a:r>
          </a:p>
          <a:p>
            <a:r>
              <a:rPr lang="en-US" dirty="0"/>
              <a:t>10.0.0.1 </a:t>
            </a:r>
            <a:r>
              <a:rPr lang="en-US" dirty="0">
                <a:sym typeface="Wingdings"/>
              </a:rPr>
              <a:t> 2</a:t>
            </a:r>
            <a:endParaRPr lang="en-US" dirty="0"/>
          </a:p>
          <a:p>
            <a:r>
              <a:rPr lang="en-US" b="1" dirty="0">
                <a:solidFill>
                  <a:schemeClr val="bg1"/>
                </a:solidFill>
              </a:rPr>
              <a:t> *.*.*.0 </a:t>
            </a:r>
            <a:r>
              <a:rPr lang="en-US" b="1" dirty="0">
                <a:solidFill>
                  <a:schemeClr val="bg1"/>
                </a:solidFill>
                <a:sym typeface="Wingdings"/>
              </a:rPr>
              <a:t> 3</a:t>
            </a:r>
          </a:p>
          <a:p>
            <a:r>
              <a:rPr lang="en-US" b="1" dirty="0">
                <a:solidFill>
                  <a:schemeClr val="bg1"/>
                </a:solidFill>
                <a:sym typeface="Wingdings"/>
              </a:rPr>
              <a:t> *.*.*.1  4</a:t>
            </a:r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17747" y="4782836"/>
            <a:ext cx="3146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269396" y="4782837"/>
            <a:ext cx="3146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80357" y="4323777"/>
            <a:ext cx="3146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19853" y="4129113"/>
            <a:ext cx="42510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43" name="TextBox 42"/>
          <p:cNvSpPr txBox="1"/>
          <p:nvPr/>
        </p:nvSpPr>
        <p:spPr>
          <a:xfrm rot="3373215">
            <a:off x="635850" y="5753831"/>
            <a:ext cx="869048" cy="338554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chemeClr val="tx1"/>
                </a:solidFill>
              </a:rPr>
              <a:t>10.0.0.0</a:t>
            </a:r>
          </a:p>
        </p:txBody>
      </p:sp>
      <p:sp>
        <p:nvSpPr>
          <p:cNvPr id="44" name="TextBox 43"/>
          <p:cNvSpPr txBox="1"/>
          <p:nvPr/>
        </p:nvSpPr>
        <p:spPr>
          <a:xfrm rot="3314277">
            <a:off x="1015111" y="5752034"/>
            <a:ext cx="869048" cy="338554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chemeClr val="tx1"/>
                </a:solidFill>
              </a:rPr>
              <a:t>10.0.0.1</a:t>
            </a:r>
          </a:p>
        </p:txBody>
      </p:sp>
      <p:sp>
        <p:nvSpPr>
          <p:cNvPr id="45" name="TextBox 44"/>
          <p:cNvSpPr txBox="1"/>
          <p:nvPr/>
        </p:nvSpPr>
        <p:spPr>
          <a:xfrm rot="3373215">
            <a:off x="1669387" y="5807599"/>
            <a:ext cx="869048" cy="338554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chemeClr val="tx1"/>
                </a:solidFill>
              </a:rPr>
              <a:t>10.0.1.0</a:t>
            </a:r>
          </a:p>
        </p:txBody>
      </p:sp>
      <p:sp>
        <p:nvSpPr>
          <p:cNvPr id="46" name="TextBox 45"/>
          <p:cNvSpPr txBox="1"/>
          <p:nvPr/>
        </p:nvSpPr>
        <p:spPr>
          <a:xfrm rot="3314277">
            <a:off x="2048648" y="5805802"/>
            <a:ext cx="869048" cy="338554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chemeClr val="tx1"/>
                </a:solidFill>
              </a:rPr>
              <a:t>10.0.1.1</a:t>
            </a:r>
          </a:p>
        </p:txBody>
      </p:sp>
      <p:sp>
        <p:nvSpPr>
          <p:cNvPr id="47" name="TextBox 46"/>
          <p:cNvSpPr txBox="1"/>
          <p:nvPr/>
        </p:nvSpPr>
        <p:spPr>
          <a:xfrm rot="3373215">
            <a:off x="2933229" y="5807600"/>
            <a:ext cx="869048" cy="338554"/>
          </a:xfrm>
          <a:prstGeom prst="rect">
            <a:avLst/>
          </a:prstGeom>
          <a:solidFill>
            <a:srgbClr val="D3A600"/>
          </a:solidFill>
          <a:ln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chemeClr val="tx1"/>
                </a:solidFill>
              </a:rPr>
              <a:t>10.1.0.0</a:t>
            </a:r>
          </a:p>
        </p:txBody>
      </p:sp>
      <p:sp>
        <p:nvSpPr>
          <p:cNvPr id="48" name="TextBox 47"/>
          <p:cNvSpPr txBox="1"/>
          <p:nvPr/>
        </p:nvSpPr>
        <p:spPr>
          <a:xfrm rot="3314277">
            <a:off x="3337150" y="5805803"/>
            <a:ext cx="869048" cy="338554"/>
          </a:xfrm>
          <a:prstGeom prst="rect">
            <a:avLst/>
          </a:prstGeom>
          <a:solidFill>
            <a:srgbClr val="D3A600"/>
          </a:solidFill>
          <a:ln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chemeClr val="tx1"/>
                </a:solidFill>
              </a:rPr>
              <a:t>10.1.0.1</a:t>
            </a:r>
          </a:p>
        </p:txBody>
      </p:sp>
      <p:sp>
        <p:nvSpPr>
          <p:cNvPr id="49" name="TextBox 48"/>
          <p:cNvSpPr txBox="1"/>
          <p:nvPr/>
        </p:nvSpPr>
        <p:spPr>
          <a:xfrm rot="3373215">
            <a:off x="3991426" y="5861368"/>
            <a:ext cx="869048" cy="338554"/>
          </a:xfrm>
          <a:prstGeom prst="rect">
            <a:avLst/>
          </a:prstGeom>
          <a:solidFill>
            <a:srgbClr val="D3A600"/>
          </a:solidFill>
          <a:ln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chemeClr val="tx1"/>
                </a:solidFill>
              </a:rPr>
              <a:t>10.1.1.0</a:t>
            </a:r>
          </a:p>
        </p:txBody>
      </p:sp>
      <p:sp>
        <p:nvSpPr>
          <p:cNvPr id="50" name="TextBox 49"/>
          <p:cNvSpPr txBox="1"/>
          <p:nvPr/>
        </p:nvSpPr>
        <p:spPr>
          <a:xfrm rot="3314277">
            <a:off x="4370687" y="5859571"/>
            <a:ext cx="869048" cy="338554"/>
          </a:xfrm>
          <a:prstGeom prst="rect">
            <a:avLst/>
          </a:prstGeom>
          <a:solidFill>
            <a:srgbClr val="D3A600"/>
          </a:solidFill>
          <a:ln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chemeClr val="tx1"/>
                </a:solidFill>
              </a:rPr>
              <a:t>10.1.1.1</a:t>
            </a:r>
          </a:p>
        </p:txBody>
      </p:sp>
      <p:sp>
        <p:nvSpPr>
          <p:cNvPr id="51" name="TextBox 50"/>
          <p:cNvSpPr txBox="1"/>
          <p:nvPr/>
        </p:nvSpPr>
        <p:spPr>
          <a:xfrm rot="3373215">
            <a:off x="5055320" y="5753830"/>
            <a:ext cx="869048" cy="338554"/>
          </a:xfrm>
          <a:prstGeom prst="rect">
            <a:avLst/>
          </a:prstGeom>
          <a:solidFill>
            <a:srgbClr val="92D050"/>
          </a:solidFill>
          <a:ln/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chemeClr val="tx1"/>
                </a:solidFill>
              </a:rPr>
              <a:t>10.2.0.0</a:t>
            </a:r>
          </a:p>
        </p:txBody>
      </p:sp>
      <p:sp>
        <p:nvSpPr>
          <p:cNvPr id="52" name="TextBox 51"/>
          <p:cNvSpPr txBox="1"/>
          <p:nvPr/>
        </p:nvSpPr>
        <p:spPr>
          <a:xfrm rot="3314277">
            <a:off x="5459241" y="5752033"/>
            <a:ext cx="869048" cy="338554"/>
          </a:xfrm>
          <a:prstGeom prst="rect">
            <a:avLst/>
          </a:prstGeom>
          <a:solidFill>
            <a:srgbClr val="92D050"/>
          </a:solidFill>
          <a:ln/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chemeClr val="tx1"/>
                </a:solidFill>
              </a:rPr>
              <a:t>10.2.0.1</a:t>
            </a:r>
          </a:p>
        </p:txBody>
      </p:sp>
      <p:sp>
        <p:nvSpPr>
          <p:cNvPr id="53" name="TextBox 52"/>
          <p:cNvSpPr txBox="1"/>
          <p:nvPr/>
        </p:nvSpPr>
        <p:spPr>
          <a:xfrm rot="3373215">
            <a:off x="6113517" y="5807598"/>
            <a:ext cx="869048" cy="338554"/>
          </a:xfrm>
          <a:prstGeom prst="rect">
            <a:avLst/>
          </a:prstGeom>
          <a:solidFill>
            <a:srgbClr val="92D050"/>
          </a:solidFill>
          <a:ln/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chemeClr val="tx1"/>
                </a:solidFill>
              </a:rPr>
              <a:t>10.2.1.0</a:t>
            </a:r>
          </a:p>
        </p:txBody>
      </p:sp>
      <p:sp>
        <p:nvSpPr>
          <p:cNvPr id="54" name="TextBox 53"/>
          <p:cNvSpPr txBox="1"/>
          <p:nvPr/>
        </p:nvSpPr>
        <p:spPr>
          <a:xfrm rot="3314277">
            <a:off x="6492778" y="5805801"/>
            <a:ext cx="869048" cy="338554"/>
          </a:xfrm>
          <a:prstGeom prst="rect">
            <a:avLst/>
          </a:prstGeom>
          <a:solidFill>
            <a:srgbClr val="92D050"/>
          </a:solidFill>
          <a:ln/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chemeClr val="tx1"/>
                </a:solidFill>
              </a:rPr>
              <a:t>10.2.1.1</a:t>
            </a:r>
          </a:p>
        </p:txBody>
      </p:sp>
      <p:sp>
        <p:nvSpPr>
          <p:cNvPr id="55" name="TextBox 54"/>
          <p:cNvSpPr txBox="1"/>
          <p:nvPr/>
        </p:nvSpPr>
        <p:spPr>
          <a:xfrm rot="3373215">
            <a:off x="7159960" y="5779205"/>
            <a:ext cx="869048" cy="338554"/>
          </a:xfrm>
          <a:prstGeom prst="rect">
            <a:avLst/>
          </a:prstGeom>
          <a:solidFill>
            <a:srgbClr val="FF0000"/>
          </a:solidFill>
          <a:ln/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chemeClr val="tx1"/>
                </a:solidFill>
              </a:rPr>
              <a:t>10.3.0.0</a:t>
            </a:r>
          </a:p>
        </p:txBody>
      </p:sp>
      <p:sp>
        <p:nvSpPr>
          <p:cNvPr id="56" name="TextBox 55"/>
          <p:cNvSpPr txBox="1"/>
          <p:nvPr/>
        </p:nvSpPr>
        <p:spPr>
          <a:xfrm rot="3314277">
            <a:off x="7563881" y="5777408"/>
            <a:ext cx="869048" cy="338554"/>
          </a:xfrm>
          <a:prstGeom prst="rect">
            <a:avLst/>
          </a:prstGeom>
          <a:solidFill>
            <a:srgbClr val="FF0000"/>
          </a:solidFill>
          <a:ln/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chemeClr val="tx1"/>
                </a:solidFill>
              </a:rPr>
              <a:t>10.3.0.1</a:t>
            </a:r>
          </a:p>
        </p:txBody>
      </p:sp>
      <p:sp>
        <p:nvSpPr>
          <p:cNvPr id="57" name="TextBox 56"/>
          <p:cNvSpPr txBox="1"/>
          <p:nvPr/>
        </p:nvSpPr>
        <p:spPr>
          <a:xfrm rot="3373215">
            <a:off x="8101172" y="5808315"/>
            <a:ext cx="869048" cy="338554"/>
          </a:xfrm>
          <a:prstGeom prst="rect">
            <a:avLst/>
          </a:prstGeom>
          <a:solidFill>
            <a:srgbClr val="FF0000"/>
          </a:solidFill>
          <a:ln/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chemeClr val="tx1"/>
                </a:solidFill>
              </a:rPr>
              <a:t>10.3.1.0</a:t>
            </a:r>
          </a:p>
        </p:txBody>
      </p:sp>
      <p:sp>
        <p:nvSpPr>
          <p:cNvPr id="58" name="TextBox 57"/>
          <p:cNvSpPr txBox="1"/>
          <p:nvPr/>
        </p:nvSpPr>
        <p:spPr>
          <a:xfrm rot="3314277">
            <a:off x="8480433" y="5757202"/>
            <a:ext cx="869048" cy="338554"/>
          </a:xfrm>
          <a:prstGeom prst="rect">
            <a:avLst/>
          </a:prstGeom>
          <a:solidFill>
            <a:srgbClr val="FF0000"/>
          </a:solidFill>
          <a:ln/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chemeClr val="tx1"/>
                </a:solidFill>
              </a:rPr>
              <a:t>10.3.1.1</a:t>
            </a:r>
          </a:p>
        </p:txBody>
      </p:sp>
      <p:sp>
        <p:nvSpPr>
          <p:cNvPr id="14" name="Date Placeholder 1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April 14, 2024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8C8E195C-2511-C342-8ABC-B8E332B53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20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0AA3331-C842-A34E-83DD-6FC0E3024B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7A418-0CEB-9E4A-BA45-3B7D3D133EB9}" type="slidenum">
              <a:rPr lang="en-US" smtClean="0"/>
              <a:pPr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53487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Solution 1: Topology-aware addressing</a:t>
            </a:r>
            <a:endParaRPr lang="en-US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Addresses embed location in regular topology</a:t>
            </a:r>
          </a:p>
          <a:p>
            <a:r>
              <a:rPr lang="en-US" dirty="0"/>
              <a:t>Maximum #entries/switch: k ( = 4 in example) </a:t>
            </a:r>
          </a:p>
          <a:p>
            <a:pPr lvl="1"/>
            <a:r>
              <a:rPr lang="en-US" dirty="0"/>
              <a:t>Constant, independent of #destinations!</a:t>
            </a:r>
          </a:p>
          <a:p>
            <a:r>
              <a:rPr lang="en-US" dirty="0"/>
              <a:t>No route computation / messages / protocols </a:t>
            </a:r>
          </a:p>
          <a:p>
            <a:pPr lvl="1"/>
            <a:r>
              <a:rPr lang="en-US" dirty="0"/>
              <a:t>Topology is hard-coded, but still need localized link failure detection</a:t>
            </a:r>
          </a:p>
          <a:p>
            <a:r>
              <a:rPr lang="en-US" dirty="0"/>
              <a:t>Problems?</a:t>
            </a:r>
          </a:p>
          <a:p>
            <a:pPr lvl="1"/>
            <a:r>
              <a:rPr lang="en-US" dirty="0"/>
              <a:t>VM migration: ideally, VM keeps its IP address when it moves</a:t>
            </a:r>
          </a:p>
          <a:p>
            <a:pPr lvl="1"/>
            <a:r>
              <a:rPr lang="en-US" dirty="0"/>
              <a:t>Vulnerable to (topology/addresses) misconfiguration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April 14, 2024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20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C3E41FB-DA08-C64E-A663-1066E6AE88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7351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 2: Centralize + Source routes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Centralized “controller” server knows topology and computes routes</a:t>
            </a:r>
          </a:p>
          <a:p>
            <a:r>
              <a:rPr lang="en-US" dirty="0"/>
              <a:t>Controller hands server all paths to each destination</a:t>
            </a:r>
          </a:p>
          <a:p>
            <a:pPr lvl="1"/>
            <a:r>
              <a:rPr lang="en-US" dirty="0"/>
              <a:t>O(#destinations) state per server, but server memory cheap (e.g., 1M routes x 100B/route=100MB)</a:t>
            </a:r>
          </a:p>
          <a:p>
            <a:r>
              <a:rPr lang="en-US" dirty="0"/>
              <a:t>Server inserts entire path vector into packet header (“source routing”)</a:t>
            </a:r>
          </a:p>
          <a:p>
            <a:pPr lvl="1"/>
            <a:r>
              <a:rPr lang="en-US" dirty="0"/>
              <a:t>E.g., header=[dst=D | index=0 | path={S5,S1,S2,S9}]</a:t>
            </a:r>
          </a:p>
          <a:p>
            <a:r>
              <a:rPr lang="en-US" dirty="0"/>
              <a:t>Switch forwards based on packet header</a:t>
            </a:r>
          </a:p>
          <a:p>
            <a:pPr lvl="1"/>
            <a:r>
              <a:rPr lang="en-US" dirty="0"/>
              <a:t>index++;  next-hop = path[index]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8825CE4-95C6-094B-8917-5493F3AB96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75577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 2: Centralize + Source routes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#entries per switch? </a:t>
            </a:r>
          </a:p>
          <a:p>
            <a:pPr lvl="1"/>
            <a:r>
              <a:rPr lang="en-US" dirty="0"/>
              <a:t>None!</a:t>
            </a:r>
          </a:p>
          <a:p>
            <a:r>
              <a:rPr lang="en-US" dirty="0"/>
              <a:t>#routing messages?</a:t>
            </a:r>
          </a:p>
          <a:p>
            <a:pPr lvl="1"/>
            <a:r>
              <a:rPr lang="en-US" dirty="0"/>
              <a:t>Akin to a broadcast from controller to all servers</a:t>
            </a:r>
          </a:p>
          <a:p>
            <a:r>
              <a:rPr lang="en-US" dirty="0"/>
              <a:t>Pro: </a:t>
            </a:r>
          </a:p>
          <a:p>
            <a:pPr lvl="1"/>
            <a:r>
              <a:rPr lang="en-US" dirty="0"/>
              <a:t>Switches very simple and scalable</a:t>
            </a:r>
          </a:p>
          <a:p>
            <a:pPr lvl="1"/>
            <a:r>
              <a:rPr lang="en-US" dirty="0"/>
              <a:t>Flexibility: end-points control route selection</a:t>
            </a:r>
          </a:p>
          <a:p>
            <a:r>
              <a:rPr lang="en-US" dirty="0"/>
              <a:t>Cons:</a:t>
            </a:r>
          </a:p>
          <a:p>
            <a:pPr lvl="1"/>
            <a:r>
              <a:rPr lang="en-US" dirty="0"/>
              <a:t>Scalability / robustness of controller (SDN issue)</a:t>
            </a:r>
          </a:p>
          <a:p>
            <a:pPr lvl="1"/>
            <a:r>
              <a:rPr lang="en-US" dirty="0"/>
              <a:t>Clean-slate design of everything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April 14, 2024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20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881DF57-B475-9848-88B4-27365135C9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15014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5-minute break!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April 14, 2024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20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89222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Networking in modern datacenters</a:t>
            </a:r>
          </a:p>
          <a:p>
            <a:pPr lvl="1"/>
            <a:r>
              <a:rPr lang="en-US" dirty="0"/>
              <a:t>L2/L3 design</a:t>
            </a:r>
          </a:p>
          <a:p>
            <a:pPr lvl="2"/>
            <a:r>
              <a:rPr lang="en-US" dirty="0"/>
              <a:t>Addressing / routing / forwarding in the Fat-Tree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L4 design</a:t>
            </a:r>
          </a:p>
          <a:p>
            <a:pPr lvl="2"/>
            <a:r>
              <a:rPr lang="en-US" dirty="0"/>
              <a:t>Transport protocol design (w/ Fat-Tree)</a:t>
            </a:r>
          </a:p>
          <a:p>
            <a:pPr lvl="1"/>
            <a:r>
              <a:rPr lang="en-US" dirty="0"/>
              <a:t>L7 design</a:t>
            </a:r>
          </a:p>
          <a:p>
            <a:pPr lvl="2"/>
            <a:r>
              <a:rPr lang="en-US" dirty="0"/>
              <a:t>Exploiting application-level information (w/ Fat-Tree)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April 14, 2024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20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603C72F-C854-5945-87AB-B3EC1FBA9A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174658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Workloads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Partition-Aggregate traffic from user-facing queries</a:t>
            </a:r>
          </a:p>
          <a:p>
            <a:pPr lvl="1"/>
            <a:r>
              <a:rPr lang="en-US" dirty="0"/>
              <a:t>Numerous short flows with small traffic footprint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Latency-sensitive</a:t>
            </a:r>
          </a:p>
          <a:p>
            <a:r>
              <a:rPr lang="en-US" dirty="0"/>
              <a:t>Map-Reduce traffic from data analytics</a:t>
            </a:r>
          </a:p>
          <a:p>
            <a:pPr lvl="1"/>
            <a:r>
              <a:rPr lang="en-US" dirty="0"/>
              <a:t>Comparatively fewer large flows with massive traffic footprint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Throughput-sensitive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April 14, 2024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20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FA9F932-352C-B744-8778-14673A5317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7694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Tension between requirements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ctr"/>
            <a:r>
              <a:rPr lang="en-US" sz="2400" dirty="0">
                <a:solidFill>
                  <a:srgbClr val="0000FF"/>
                </a:solidFill>
              </a:rPr>
              <a:t>High throughput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sz="2800" dirty="0"/>
              <a:t>Deep queues at switches</a:t>
            </a:r>
          </a:p>
          <a:p>
            <a:pPr lvl="1"/>
            <a:r>
              <a:rPr lang="en-US" sz="2000" dirty="0"/>
              <a:t>Queueing delays increase latency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algn="ctr"/>
            <a:r>
              <a:rPr lang="en-US" sz="2400" dirty="0">
                <a:solidFill>
                  <a:srgbClr val="0000FF"/>
                </a:solidFill>
              </a:rPr>
              <a:t>Low latency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US" sz="2800" dirty="0"/>
              <a:t>Shallow queues at switches</a:t>
            </a:r>
          </a:p>
          <a:p>
            <a:pPr lvl="1"/>
            <a:r>
              <a:rPr lang="en-US" sz="2000" dirty="0"/>
              <a:t>Bad for bursts and throughput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19712" y="4262006"/>
            <a:ext cx="13858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chemeClr val="bg1"/>
                </a:solidFill>
              </a:rPr>
              <a:t>DCTCP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257300" y="5159973"/>
            <a:ext cx="6629400" cy="830997"/>
          </a:xfrm>
          <a:prstGeom prst="roundRect">
            <a:avLst>
              <a:gd name="adj" fmla="val 0"/>
            </a:avLst>
          </a:prstGeom>
          <a:solidFill>
            <a:srgbClr val="D3A600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lvl="0" algn="ctr"/>
            <a:r>
              <a:rPr lang="en-US" sz="2400" b="1" dirty="0">
                <a:solidFill>
                  <a:srgbClr val="0000FF"/>
                </a:solidFill>
              </a:rPr>
              <a:t>Objective:</a:t>
            </a:r>
          </a:p>
          <a:p>
            <a:pPr lvl="0" algn="ctr"/>
            <a:r>
              <a:rPr lang="en-US" sz="2400" b="1" dirty="0">
                <a:solidFill>
                  <a:schemeClr val="tx1"/>
                </a:solidFill>
              </a:rPr>
              <a:t>Low Queue Occupancy &amp; High Throughput </a:t>
            </a:r>
          </a:p>
        </p:txBody>
      </p:sp>
      <p:sp>
        <p:nvSpPr>
          <p:cNvPr id="10" name="Date Placeholder 9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April 14, 2024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11" name="Footer Placeholder 10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20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DA249FA-D156-424C-B638-72511C01E8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1CF967-1287-0948-92AE-55309D196149}" type="slidenum">
              <a:rPr lang="en-US" smtClean="0"/>
              <a:pPr/>
              <a:t>27</a:t>
            </a:fld>
            <a:endParaRPr 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487667660"/>
      </p:ext>
    </p:extLst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Center TCP (DCTCP)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Proposal from Microsoft Research, 2010</a:t>
            </a:r>
          </a:p>
          <a:p>
            <a:pPr lvl="1"/>
            <a:r>
              <a:rPr lang="en-US" dirty="0"/>
              <a:t>Incremental fixes to TCP for DC environments </a:t>
            </a:r>
          </a:p>
          <a:p>
            <a:pPr lvl="1"/>
            <a:r>
              <a:rPr lang="en-US" dirty="0"/>
              <a:t>Deployed in Microsoft datacenters (~rumor)</a:t>
            </a:r>
          </a:p>
          <a:p>
            <a:r>
              <a:rPr lang="en-US" dirty="0"/>
              <a:t>Leverages Explicit Congestion Notification (ECN)</a:t>
            </a:r>
          </a:p>
          <a:p>
            <a:pPr lvl="1"/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April 14, 2024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20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6BEE91-E09F-194A-A920-377CD35659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792159"/>
      </p:ext>
    </p:extLst>
  </p:cSld>
  <p:clrMapOvr>
    <a:masterClrMapping/>
  </p:clrMapOvr>
  <p:transition spd="slow" advTm="27610"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Recap: Explicit Congestion Notification (ECN)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Defined in RFC 3168 using ToS/DSCP bits in the IP header</a:t>
            </a:r>
          </a:p>
          <a:p>
            <a:r>
              <a:rPr lang="en-US" dirty="0"/>
              <a:t>Single bit in packet header; set by congested routers</a:t>
            </a:r>
          </a:p>
          <a:p>
            <a:pPr lvl="1"/>
            <a:r>
              <a:rPr lang="en-US" dirty="0"/>
              <a:t>If data packet has bit set, then ACK has ECN bit set</a:t>
            </a:r>
          </a:p>
          <a:p>
            <a:r>
              <a:rPr lang="en-US" dirty="0"/>
              <a:t>Routers typically set ECN bit based on average queue length</a:t>
            </a:r>
          </a:p>
          <a:p>
            <a:r>
              <a:rPr lang="en-US" dirty="0">
                <a:solidFill>
                  <a:srgbClr val="0000FF"/>
                </a:solidFill>
              </a:rPr>
              <a:t>Congestion semantics exactly like that of drop</a:t>
            </a:r>
          </a:p>
          <a:p>
            <a:pPr lvl="1"/>
            <a:r>
              <a:rPr lang="en-US" dirty="0"/>
              <a:t>I.e., sender reacts as though it saw a drop</a:t>
            </a:r>
          </a:p>
          <a:p>
            <a:pPr lvl="5"/>
            <a:endParaRPr lang="en-US" dirty="0"/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April 14, 2024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20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A9D7EC-37FA-8D4F-97B8-871A0AA7C8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57768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DCTCP: Key ideas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685800" y="1600200"/>
            <a:ext cx="7924800" cy="1905000"/>
          </a:xfrm>
        </p:spPr>
        <p:txBody>
          <a:bodyPr/>
          <a:lstStyle/>
          <a:p>
            <a:r>
              <a:rPr lang="en-US" dirty="0"/>
              <a:t>React early, quickly, and with certainty using ECN</a:t>
            </a:r>
          </a:p>
          <a:p>
            <a:r>
              <a:rPr lang="en-US" dirty="0"/>
              <a:t>React in </a:t>
            </a:r>
            <a:r>
              <a:rPr lang="en-US" dirty="0">
                <a:solidFill>
                  <a:srgbClr val="0000FF"/>
                </a:solidFill>
              </a:rPr>
              <a:t>proportion to the extent of congestion</a:t>
            </a:r>
            <a:r>
              <a:rPr lang="en-US" dirty="0"/>
              <a:t>, not its presence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7335408"/>
              </p:ext>
            </p:extLst>
          </p:nvPr>
        </p:nvGraphicFramePr>
        <p:xfrm>
          <a:off x="605589" y="3810000"/>
          <a:ext cx="7932821" cy="1699192"/>
        </p:xfrm>
        <a:graphic>
          <a:graphicData uri="http://schemas.openxmlformats.org/drawingml/2006/table">
            <a:tbl>
              <a:tblPr/>
              <a:tblGrid>
                <a:gridCol w="241943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903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229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6409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lt"/>
                          <a:ea typeface="Arial" charset="0"/>
                          <a:cs typeface="Arial" charset="0"/>
                        </a:rPr>
                        <a:t>ECN Marks</a:t>
                      </a:r>
                    </a:p>
                  </a:txBody>
                  <a:tcPr marL="110691" marR="110691" marT="55345" marB="55345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lt"/>
                          <a:ea typeface="Arial" charset="0"/>
                          <a:cs typeface="Arial" charset="0"/>
                        </a:rPr>
                        <a:t>TCP </a:t>
                      </a:r>
                    </a:p>
                  </a:txBody>
                  <a:tcPr marL="110691" marR="110691" marT="55345" marB="55345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lt"/>
                          <a:ea typeface="Arial" charset="0"/>
                          <a:cs typeface="Arial" charset="0"/>
                        </a:rPr>
                        <a:t>DCTCP</a:t>
                      </a:r>
                    </a:p>
                  </a:txBody>
                  <a:tcPr marL="110691" marR="110691" marT="55345" marB="55345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1851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+mn-lt"/>
                          <a:ea typeface="Arial" charset="0"/>
                          <a:cs typeface="Arial" charset="0"/>
                        </a:rPr>
                        <a:t>1 0 1 1 1 1 0 1 1 1</a:t>
                      </a:r>
                    </a:p>
                  </a:txBody>
                  <a:tcPr marL="110691" marR="110691" marT="55345" marB="55345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+mn-lt"/>
                          <a:ea typeface="Arial" charset="0"/>
                          <a:cs typeface="Arial" charset="0"/>
                        </a:rPr>
                        <a:t>Cut window by </a:t>
                      </a: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Arial" charset="0"/>
                          <a:cs typeface="Arial" charset="0"/>
                        </a:rPr>
                        <a:t>50%</a:t>
                      </a:r>
                    </a:p>
                  </a:txBody>
                  <a:tcPr marL="110691" marR="110691" marT="55345" marB="55345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+mn-lt"/>
                          <a:ea typeface="Arial" charset="0"/>
                          <a:cs typeface="Arial" charset="0"/>
                        </a:rPr>
                        <a:t>Cut window by </a:t>
                      </a: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Arial" charset="0"/>
                          <a:cs typeface="Arial" charset="0"/>
                        </a:rPr>
                        <a:t>40%</a:t>
                      </a:r>
                    </a:p>
                  </a:txBody>
                  <a:tcPr marL="110691" marR="110691" marT="55345" marB="55345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1851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+mn-lt"/>
                          <a:ea typeface="Arial" charset="0"/>
                          <a:cs typeface="Arial" charset="0"/>
                        </a:rPr>
                        <a:t>0 0 0 0 0 0 0 0 0 1</a:t>
                      </a:r>
                    </a:p>
                  </a:txBody>
                  <a:tcPr marL="110691" marR="110691" marT="55345" marB="55345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+mn-lt"/>
                          <a:ea typeface="Arial" charset="0"/>
                          <a:cs typeface="Arial" charset="0"/>
                        </a:rPr>
                        <a:t>Cut window by </a:t>
                      </a: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Arial" charset="0"/>
                          <a:cs typeface="Arial" charset="0"/>
                        </a:rPr>
                        <a:t>50%</a:t>
                      </a:r>
                    </a:p>
                  </a:txBody>
                  <a:tcPr marL="110691" marR="110691" marT="55345" marB="55345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+mn-lt"/>
                          <a:ea typeface="Arial" charset="0"/>
                          <a:cs typeface="Arial" charset="0"/>
                        </a:rPr>
                        <a:t>Cut window by  </a:t>
                      </a: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Arial" charset="0"/>
                          <a:cs typeface="Arial" charset="0"/>
                        </a:rPr>
                        <a:t>5%</a:t>
                      </a:r>
                    </a:p>
                  </a:txBody>
                  <a:tcPr marL="110691" marR="110691" marT="55345" marB="55345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April 14, 2024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20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AC6889D-0D7B-3648-8459-327E06744C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30</a:t>
            </a:fld>
            <a:endParaRPr 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2924278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08963"/>
    </mc:Choice>
    <mc:Fallback xmlns="" xmlns:mv="urn:schemas-microsoft-com:mac:vml">
      <mp:transition xmlns:mp="http://schemas.microsoft.com/office/mac/powerpoint/2008/main" spd="slow" advTm="108963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Actions due to DCTCP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At the switch</a:t>
            </a:r>
          </a:p>
          <a:p>
            <a:pPr lvl="1"/>
            <a:r>
              <a:rPr lang="en-US" dirty="0"/>
              <a:t>If </a:t>
            </a:r>
            <a:r>
              <a:rPr lang="en-US" dirty="0">
                <a:solidFill>
                  <a:srgbClr val="0000FF"/>
                </a:solidFill>
              </a:rPr>
              <a:t>instantaneous</a:t>
            </a:r>
            <a:r>
              <a:rPr lang="en-US" dirty="0"/>
              <a:t> queue length &gt; k</a:t>
            </a:r>
          </a:p>
          <a:p>
            <a:pPr lvl="2"/>
            <a:r>
              <a:rPr lang="en-US" dirty="0"/>
              <a:t>Set ECN bit in the packet</a:t>
            </a:r>
          </a:p>
          <a:p>
            <a:r>
              <a:rPr lang="en-US" dirty="0"/>
              <a:t>At the receiver</a:t>
            </a:r>
          </a:p>
          <a:p>
            <a:pPr lvl="1"/>
            <a:r>
              <a:rPr lang="en-US" dirty="0"/>
              <a:t>If ECN bit is set in a packet, set ECN bit for its ACK</a:t>
            </a:r>
          </a:p>
          <a:p>
            <a:r>
              <a:rPr lang="en-US" dirty="0"/>
              <a:t>At the sender</a:t>
            </a:r>
          </a:p>
          <a:p>
            <a:pPr lvl="1"/>
            <a:r>
              <a:rPr lang="en-US" dirty="0"/>
              <a:t>Maintain an EWMA of the fraction of packets marked (α)</a:t>
            </a:r>
          </a:p>
          <a:p>
            <a:pPr lvl="1"/>
            <a:r>
              <a:rPr lang="en-US" dirty="0"/>
              <a:t>Adapt window based on α: </a:t>
            </a:r>
            <a:r>
              <a:rPr lang="en-US" dirty="0">
                <a:solidFill>
                  <a:srgbClr val="0000FF"/>
                </a:solidFill>
              </a:rPr>
              <a:t>W ← (1 – α/2) W</a:t>
            </a:r>
          </a:p>
          <a:p>
            <a:pPr lvl="1"/>
            <a:r>
              <a:rPr lang="en-US" dirty="0"/>
              <a:t>α = 1 implies high congestion: </a:t>
            </a:r>
            <a:r>
              <a:rPr lang="en-US" dirty="0">
                <a:solidFill>
                  <a:srgbClr val="0000FF"/>
                </a:solidFill>
              </a:rPr>
              <a:t>W ← W/2 </a:t>
            </a:r>
            <a:r>
              <a:rPr lang="en-US" dirty="0"/>
              <a:t>(like TCP)</a:t>
            </a:r>
          </a:p>
          <a:p>
            <a:pPr lvl="1"/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April 14, 2024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20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D19588-6BFF-FB43-AF25-C15A7E9A29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75375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DCTCP: Why it works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React early and quickly: use ECN </a:t>
            </a:r>
          </a:p>
          <a:p>
            <a:pPr lvl="1"/>
            <a:r>
              <a:rPr lang="en-US" dirty="0">
                <a:sym typeface="Wingdings"/>
              </a:rPr>
              <a:t>Avoid large buildup in queues  lower latency</a:t>
            </a:r>
          </a:p>
          <a:p>
            <a:r>
              <a:rPr lang="en-US" dirty="0"/>
              <a:t>React in proportion to the extent of congestion, not its presence</a:t>
            </a:r>
          </a:p>
          <a:p>
            <a:pPr lvl="1"/>
            <a:r>
              <a:rPr lang="en-US" dirty="0"/>
              <a:t>Maintain high throughput by not over-reacting to congestion</a:t>
            </a:r>
          </a:p>
          <a:p>
            <a:pPr lvl="1"/>
            <a:r>
              <a:rPr lang="en-US" dirty="0"/>
              <a:t>Reduces variance in sending rates, lowering queue buildups</a:t>
            </a:r>
          </a:p>
          <a:p>
            <a:r>
              <a:rPr lang="en-US" dirty="0">
                <a:solidFill>
                  <a:srgbClr val="0000FF"/>
                </a:solidFill>
              </a:rPr>
              <a:t>Still far from ideal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April 14, 2024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20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FE1AEE3-BD4F-6A4D-A509-A64C50C858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32</a:t>
            </a:fld>
            <a:endParaRPr 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2052389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08963"/>
    </mc:Choice>
    <mc:Fallback xmlns="" xmlns:mv="urn:schemas-microsoft-com:mac:vml">
      <mp:transition xmlns:mp="http://schemas.microsoft.com/office/mac/powerpoint/2008/main" spd="slow" advTm="108963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Flow Completion Time (FCT)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Time from when flow started at the sender, to when all packets in the flow were received at the receiver</a:t>
            </a:r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April 14, 2024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20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92BE73-549A-7244-B0D6-96B9675FE4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93315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FCT with DCTCP</a:t>
            </a:r>
            <a:endParaRPr lang="en-US" dirty="0"/>
          </a:p>
        </p:txBody>
      </p:sp>
      <p:graphicFrame>
        <p:nvGraphicFramePr>
          <p:cNvPr id="12" name="Chart 11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8302861"/>
              </p:ext>
            </p:extLst>
          </p:nvPr>
        </p:nvGraphicFramePr>
        <p:xfrm>
          <a:off x="1023362" y="1780409"/>
          <a:ext cx="7089567" cy="356377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659711" y="5420380"/>
            <a:ext cx="782457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0" dirty="0">
                <a:solidFill>
                  <a:srgbClr val="0000FF"/>
                </a:solidFill>
              </a:rPr>
              <a:t>Queues are still shared ⇒ Head-of-line blocking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April 14, 2024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20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0504D5-098D-4645-8149-CC9AF98D58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7A418-0CEB-9E4A-BA45-3B7D3D133EB9}" type="slidenum">
              <a:rPr lang="en-US" smtClean="0"/>
              <a:pPr/>
              <a:t>34</a:t>
            </a:fld>
            <a:endParaRPr 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4302499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40253"/>
    </mc:Choice>
    <mc:Fallback xmlns="">
      <p:transition xmlns:p14="http://schemas.microsoft.com/office/powerpoint/2010/main" spd="slow" advTm="40253"/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Solution: Use priorities!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Packets carry a single priority number</a:t>
            </a:r>
          </a:p>
          <a:p>
            <a:pPr lvl="1"/>
            <a:r>
              <a:rPr lang="en-US" dirty="0"/>
              <a:t>Priority = remaining flow size</a:t>
            </a:r>
          </a:p>
          <a:p>
            <a:r>
              <a:rPr lang="en-US" dirty="0"/>
              <a:t>Switches </a:t>
            </a:r>
          </a:p>
          <a:p>
            <a:pPr lvl="1"/>
            <a:r>
              <a:rPr lang="en-US" dirty="0"/>
              <a:t>Very small queues (e.g., 10 packets)</a:t>
            </a:r>
          </a:p>
          <a:p>
            <a:pPr lvl="1"/>
            <a:r>
              <a:rPr lang="en-US" dirty="0"/>
              <a:t>Send highest-priority/ drop lowest-priority packet</a:t>
            </a:r>
          </a:p>
          <a:p>
            <a:r>
              <a:rPr lang="en-US" dirty="0"/>
              <a:t>Servers</a:t>
            </a:r>
          </a:p>
          <a:p>
            <a:pPr lvl="1"/>
            <a:r>
              <a:rPr lang="en-US" dirty="0"/>
              <a:t>Transmit/retransmit aggressively (at full link rate)</a:t>
            </a:r>
          </a:p>
          <a:p>
            <a:pPr lvl="1"/>
            <a:r>
              <a:rPr lang="en-US" dirty="0"/>
              <a:t>Drop transmission rate only under extreme loss (timeouts)</a:t>
            </a:r>
          </a:p>
          <a:p>
            <a:r>
              <a:rPr lang="en-US" dirty="0">
                <a:solidFill>
                  <a:srgbClr val="0000FF"/>
                </a:solidFill>
              </a:rPr>
              <a:t>Provides FCT close to the ideal</a:t>
            </a:r>
          </a:p>
          <a:p>
            <a:endParaRPr lang="en-US" dirty="0"/>
          </a:p>
        </p:txBody>
      </p: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April 14, 2024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20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343C0EE-3ACC-D749-B3A3-6B0325782F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35</a:t>
            </a:fld>
            <a:endParaRPr 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10804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92645"/>
    </mc:Choice>
    <mc:Fallback xmlns="">
      <p:transition xmlns:p14="http://schemas.microsoft.com/office/powerpoint/2010/main" spd="slow" advTm="92645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Are we there yet?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Nope!</a:t>
            </a:r>
          </a:p>
          <a:p>
            <a:r>
              <a:rPr lang="en-US" dirty="0"/>
              <a:t>Someone asked “What do datacenter applications </a:t>
            </a:r>
            <a:r>
              <a:rPr lang="en-US" i="1" dirty="0">
                <a:solidFill>
                  <a:srgbClr val="0000FF"/>
                </a:solidFill>
              </a:rPr>
              <a:t>really</a:t>
            </a:r>
            <a:r>
              <a:rPr lang="en-US" dirty="0">
                <a:solidFill>
                  <a:srgbClr val="0000FF"/>
                </a:solidFill>
              </a:rPr>
              <a:t> </a:t>
            </a:r>
            <a:r>
              <a:rPr lang="en-US" dirty="0"/>
              <a:t>care about?”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April 14, 2024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20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D00A5C5-6D09-C24A-88F9-4FA5E335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73253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Networking in modern datacenters</a:t>
            </a:r>
          </a:p>
          <a:p>
            <a:pPr lvl="1"/>
            <a:r>
              <a:rPr lang="en-US" dirty="0"/>
              <a:t>L2/L3 design</a:t>
            </a:r>
          </a:p>
          <a:p>
            <a:pPr lvl="2"/>
            <a:r>
              <a:rPr lang="en-US" dirty="0"/>
              <a:t>Addressing / routing / forwarding in the Fat-Tree</a:t>
            </a:r>
          </a:p>
          <a:p>
            <a:pPr lvl="1"/>
            <a:r>
              <a:rPr lang="en-US" dirty="0"/>
              <a:t>L4 design</a:t>
            </a:r>
          </a:p>
          <a:p>
            <a:pPr lvl="2"/>
            <a:r>
              <a:rPr lang="en-US" dirty="0"/>
              <a:t>Transport protocol design (w/ Fat-Tree)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L7 design</a:t>
            </a:r>
          </a:p>
          <a:p>
            <a:pPr lvl="2"/>
            <a:r>
              <a:rPr lang="en-US" dirty="0"/>
              <a:t>Exploiting application-level information (w/ Fat-Tree)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April 14, 2024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20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014B60-5792-A14F-83A4-448FB57FDD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305446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Map-Reduce Example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April 14, 2024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20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7" name="Oval 6"/>
          <p:cNvSpPr/>
          <p:nvPr/>
        </p:nvSpPr>
        <p:spPr>
          <a:xfrm rot="5400000">
            <a:off x="4281164" y="2543824"/>
            <a:ext cx="370442" cy="370471"/>
          </a:xfrm>
          <a:prstGeom prst="ellipse">
            <a:avLst/>
          </a:prstGeom>
          <a:noFill/>
          <a:ln>
            <a:solidFill>
              <a:schemeClr val="tx1"/>
            </a:solidFill>
            <a:headEnd type="none" w="med" len="med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 rot="5400000">
            <a:off x="4281164" y="3827923"/>
            <a:ext cx="370442" cy="370471"/>
          </a:xfrm>
          <a:prstGeom prst="ellipse">
            <a:avLst/>
          </a:prstGeom>
          <a:noFill/>
          <a:ln>
            <a:solidFill>
              <a:schemeClr val="tx1"/>
            </a:solidFill>
            <a:headEnd type="none" w="med" len="med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" name="Group 8"/>
          <p:cNvGrpSpPr/>
          <p:nvPr/>
        </p:nvGrpSpPr>
        <p:grpSpPr>
          <a:xfrm rot="5400000">
            <a:off x="2282389" y="2496878"/>
            <a:ext cx="2646259" cy="1721735"/>
            <a:chOff x="8426111" y="4014729"/>
            <a:chExt cx="2013198" cy="1309847"/>
          </a:xfrm>
        </p:grpSpPr>
        <p:cxnSp>
          <p:nvCxnSpPr>
            <p:cNvPr id="58" name="Straight Arrow Connector 57"/>
            <p:cNvCxnSpPr/>
            <p:nvPr/>
          </p:nvCxnSpPr>
          <p:spPr>
            <a:xfrm flipV="1">
              <a:off x="8426111" y="4014729"/>
              <a:ext cx="1364308" cy="1309847"/>
            </a:xfrm>
            <a:prstGeom prst="straightConnector1">
              <a:avLst/>
            </a:prstGeom>
            <a:ln w="19050" cmpd="sng">
              <a:solidFill>
                <a:srgbClr val="0000FF"/>
              </a:solidFill>
              <a:headEnd type="none" w="med" len="med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Arrow Connector 58"/>
            <p:cNvCxnSpPr/>
            <p:nvPr/>
          </p:nvCxnSpPr>
          <p:spPr>
            <a:xfrm flipV="1">
              <a:off x="8930959" y="4114376"/>
              <a:ext cx="900732" cy="1210200"/>
            </a:xfrm>
            <a:prstGeom prst="straightConnector1">
              <a:avLst/>
            </a:prstGeom>
            <a:ln w="19050" cmpd="sng">
              <a:solidFill>
                <a:srgbClr val="0000FF"/>
              </a:solidFill>
              <a:headEnd type="none" w="med" len="med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Arrow Connector 59"/>
            <p:cNvCxnSpPr/>
            <p:nvPr/>
          </p:nvCxnSpPr>
          <p:spPr>
            <a:xfrm flipV="1">
              <a:off x="9435808" y="4155651"/>
              <a:ext cx="495522" cy="1168925"/>
            </a:xfrm>
            <a:prstGeom prst="straightConnector1">
              <a:avLst/>
            </a:prstGeom>
            <a:ln w="19050" cmpd="sng">
              <a:solidFill>
                <a:srgbClr val="0000FF"/>
              </a:solidFill>
              <a:headEnd type="none" w="med" len="med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Arrow Connector 60"/>
            <p:cNvCxnSpPr/>
            <p:nvPr/>
          </p:nvCxnSpPr>
          <p:spPr>
            <a:xfrm flipH="1" flipV="1">
              <a:off x="10072241" y="4014729"/>
              <a:ext cx="367068" cy="1309847"/>
            </a:xfrm>
            <a:prstGeom prst="straightConnector1">
              <a:avLst/>
            </a:prstGeom>
            <a:ln w="19050" cmpd="sng">
              <a:solidFill>
                <a:srgbClr val="0000FF"/>
              </a:solidFill>
              <a:headEnd type="none" w="med" len="med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Arrow Connector 61"/>
            <p:cNvCxnSpPr/>
            <p:nvPr/>
          </p:nvCxnSpPr>
          <p:spPr>
            <a:xfrm flipV="1">
              <a:off x="9942533" y="4114376"/>
              <a:ext cx="88436" cy="1210200"/>
            </a:xfrm>
            <a:prstGeom prst="straightConnector1">
              <a:avLst/>
            </a:prstGeom>
            <a:ln w="19050" cmpd="sng">
              <a:solidFill>
                <a:srgbClr val="0000FF"/>
              </a:solidFill>
              <a:headEnd type="none" w="med" len="med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 rot="5400000">
            <a:off x="2282389" y="2496878"/>
            <a:ext cx="2646259" cy="1721735"/>
            <a:chOff x="8426111" y="4014729"/>
            <a:chExt cx="2013198" cy="1309847"/>
          </a:xfrm>
        </p:grpSpPr>
        <p:cxnSp>
          <p:nvCxnSpPr>
            <p:cNvPr id="53" name="Straight Arrow Connector 52"/>
            <p:cNvCxnSpPr/>
            <p:nvPr/>
          </p:nvCxnSpPr>
          <p:spPr>
            <a:xfrm flipV="1">
              <a:off x="8426111" y="4014729"/>
              <a:ext cx="387402" cy="1309847"/>
            </a:xfrm>
            <a:prstGeom prst="straightConnector1">
              <a:avLst/>
            </a:prstGeom>
            <a:ln w="19050" cmpd="sng">
              <a:solidFill>
                <a:srgbClr val="0000FF"/>
              </a:solidFill>
              <a:headEnd type="none" w="med" len="med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Arrow Connector 53"/>
            <p:cNvCxnSpPr/>
            <p:nvPr/>
          </p:nvCxnSpPr>
          <p:spPr>
            <a:xfrm flipH="1" flipV="1">
              <a:off x="8854785" y="4114376"/>
              <a:ext cx="76174" cy="1210200"/>
            </a:xfrm>
            <a:prstGeom prst="straightConnector1">
              <a:avLst/>
            </a:prstGeom>
            <a:ln w="19050" cmpd="sng">
              <a:solidFill>
                <a:srgbClr val="0000FF"/>
              </a:solidFill>
              <a:headEnd type="none" w="med" len="med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Arrow Connector 54"/>
            <p:cNvCxnSpPr/>
            <p:nvPr/>
          </p:nvCxnSpPr>
          <p:spPr>
            <a:xfrm flipH="1" flipV="1">
              <a:off x="8954424" y="4155651"/>
              <a:ext cx="481384" cy="1168925"/>
            </a:xfrm>
            <a:prstGeom prst="straightConnector1">
              <a:avLst/>
            </a:prstGeom>
            <a:ln w="19050" cmpd="sng">
              <a:solidFill>
                <a:srgbClr val="0000FF"/>
              </a:solidFill>
              <a:headEnd type="none" w="med" len="med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/>
            <p:cNvCxnSpPr/>
            <p:nvPr/>
          </p:nvCxnSpPr>
          <p:spPr>
            <a:xfrm flipH="1" flipV="1">
              <a:off x="9054063" y="4114376"/>
              <a:ext cx="888470" cy="1210200"/>
            </a:xfrm>
            <a:prstGeom prst="straightConnector1">
              <a:avLst/>
            </a:prstGeom>
            <a:ln w="19050" cmpd="sng">
              <a:solidFill>
                <a:srgbClr val="0000FF"/>
              </a:solidFill>
              <a:headEnd type="none" w="med" len="med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Arrow Connector 56"/>
            <p:cNvCxnSpPr/>
            <p:nvPr/>
          </p:nvCxnSpPr>
          <p:spPr>
            <a:xfrm flipH="1" flipV="1">
              <a:off x="9095335" y="4014729"/>
              <a:ext cx="1343974" cy="1309847"/>
            </a:xfrm>
            <a:prstGeom prst="straightConnector1">
              <a:avLst/>
            </a:prstGeom>
            <a:ln w="19050" cmpd="sng">
              <a:solidFill>
                <a:srgbClr val="0000FF"/>
              </a:solidFill>
              <a:headEnd type="none" w="med" len="med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/>
          <p:cNvGrpSpPr/>
          <p:nvPr/>
        </p:nvGrpSpPr>
        <p:grpSpPr>
          <a:xfrm>
            <a:off x="2374179" y="1849397"/>
            <a:ext cx="370471" cy="3016700"/>
            <a:chOff x="2374179" y="2077997"/>
            <a:chExt cx="370471" cy="3016700"/>
          </a:xfrm>
        </p:grpSpPr>
        <p:sp>
          <p:nvSpPr>
            <p:cNvPr id="43" name="Oval 42"/>
            <p:cNvSpPr/>
            <p:nvPr/>
          </p:nvSpPr>
          <p:spPr>
            <a:xfrm rot="5400000">
              <a:off x="2374194" y="2077982"/>
              <a:ext cx="370442" cy="370471"/>
            </a:xfrm>
            <a:prstGeom prst="ellipse">
              <a:avLst/>
            </a:prstGeom>
            <a:noFill/>
            <a:ln>
              <a:solidFill>
                <a:schemeClr val="tx1"/>
              </a:solidFill>
              <a:headEnd type="none" w="med" len="med"/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Oval 43"/>
            <p:cNvSpPr/>
            <p:nvPr/>
          </p:nvSpPr>
          <p:spPr>
            <a:xfrm rot="5400000">
              <a:off x="2374194" y="2741582"/>
              <a:ext cx="370442" cy="370471"/>
            </a:xfrm>
            <a:prstGeom prst="ellipse">
              <a:avLst/>
            </a:prstGeom>
            <a:noFill/>
            <a:ln>
              <a:solidFill>
                <a:schemeClr val="tx1"/>
              </a:solidFill>
              <a:headEnd type="none" w="med" len="med"/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Oval 44"/>
            <p:cNvSpPr/>
            <p:nvPr/>
          </p:nvSpPr>
          <p:spPr>
            <a:xfrm rot="5400000">
              <a:off x="2374194" y="3405183"/>
              <a:ext cx="370442" cy="370471"/>
            </a:xfrm>
            <a:prstGeom prst="ellipse">
              <a:avLst/>
            </a:prstGeom>
            <a:noFill/>
            <a:ln>
              <a:solidFill>
                <a:schemeClr val="tx1"/>
              </a:solidFill>
              <a:headEnd type="none" w="med" len="med"/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Oval 45"/>
            <p:cNvSpPr/>
            <p:nvPr/>
          </p:nvSpPr>
          <p:spPr>
            <a:xfrm rot="5400000">
              <a:off x="2374194" y="4071250"/>
              <a:ext cx="370442" cy="370471"/>
            </a:xfrm>
            <a:prstGeom prst="ellipse">
              <a:avLst/>
            </a:prstGeom>
            <a:noFill/>
            <a:ln>
              <a:solidFill>
                <a:schemeClr val="tx1"/>
              </a:solidFill>
              <a:headEnd type="none" w="med" len="med"/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Oval 46"/>
            <p:cNvSpPr/>
            <p:nvPr/>
          </p:nvSpPr>
          <p:spPr>
            <a:xfrm rot="5400000">
              <a:off x="2374194" y="4724240"/>
              <a:ext cx="370442" cy="370471"/>
            </a:xfrm>
            <a:prstGeom prst="ellipse">
              <a:avLst/>
            </a:prstGeom>
            <a:noFill/>
            <a:ln>
              <a:solidFill>
                <a:schemeClr val="tx1"/>
              </a:solidFill>
              <a:headEnd type="none" w="med" len="med"/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1889803" y="2049718"/>
            <a:ext cx="484377" cy="2631159"/>
            <a:chOff x="1889803" y="2278318"/>
            <a:chExt cx="484377" cy="2631159"/>
          </a:xfrm>
        </p:grpSpPr>
        <p:cxnSp>
          <p:nvCxnSpPr>
            <p:cNvPr id="48" name="Straight Arrow Connector 47"/>
            <p:cNvCxnSpPr/>
            <p:nvPr/>
          </p:nvCxnSpPr>
          <p:spPr>
            <a:xfrm rot="5400000" flipV="1">
              <a:off x="2126497" y="2041624"/>
              <a:ext cx="0" cy="473387"/>
            </a:xfrm>
            <a:prstGeom prst="straightConnector1">
              <a:avLst/>
            </a:prstGeom>
            <a:ln w="19050" cmpd="sng">
              <a:solidFill>
                <a:schemeClr val="accent2"/>
              </a:solidFill>
              <a:headEnd type="none" w="med" len="med"/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Arrow Connector 48"/>
            <p:cNvCxnSpPr/>
            <p:nvPr/>
          </p:nvCxnSpPr>
          <p:spPr>
            <a:xfrm rot="5400000" flipV="1">
              <a:off x="2134056" y="2686694"/>
              <a:ext cx="0" cy="480247"/>
            </a:xfrm>
            <a:prstGeom prst="straightConnector1">
              <a:avLst/>
            </a:prstGeom>
            <a:ln w="19050" cmpd="sng">
              <a:solidFill>
                <a:schemeClr val="accent2"/>
              </a:solidFill>
              <a:headEnd type="none" w="med" len="med"/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Arrow Connector 49"/>
            <p:cNvCxnSpPr/>
            <p:nvPr/>
          </p:nvCxnSpPr>
          <p:spPr>
            <a:xfrm rot="5400000" flipV="1">
              <a:off x="2135020" y="4017326"/>
              <a:ext cx="4933" cy="473387"/>
            </a:xfrm>
            <a:prstGeom prst="straightConnector1">
              <a:avLst/>
            </a:prstGeom>
            <a:ln w="19050" cmpd="sng">
              <a:solidFill>
                <a:schemeClr val="accent2"/>
              </a:solidFill>
              <a:headEnd type="none" w="med" len="med"/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/>
            <p:cNvCxnSpPr/>
            <p:nvPr/>
          </p:nvCxnSpPr>
          <p:spPr>
            <a:xfrm rot="5400000" flipV="1">
              <a:off x="2131912" y="4667209"/>
              <a:ext cx="11148" cy="473387"/>
            </a:xfrm>
            <a:prstGeom prst="straightConnector1">
              <a:avLst/>
            </a:prstGeom>
            <a:ln w="19050" cmpd="sng">
              <a:solidFill>
                <a:schemeClr val="accent2"/>
              </a:solidFill>
              <a:headEnd type="none" w="med" len="med"/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Arrow Connector 51"/>
            <p:cNvCxnSpPr/>
            <p:nvPr/>
          </p:nvCxnSpPr>
          <p:spPr>
            <a:xfrm rot="5400000" flipV="1">
              <a:off x="2137486" y="3353725"/>
              <a:ext cx="0" cy="473387"/>
            </a:xfrm>
            <a:prstGeom prst="straightConnector1">
              <a:avLst/>
            </a:prstGeom>
            <a:ln w="19050" cmpd="sng">
              <a:solidFill>
                <a:schemeClr val="accent2"/>
              </a:solidFill>
              <a:headEnd type="none" w="med" len="med"/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" name="Group 5"/>
          <p:cNvGrpSpPr/>
          <p:nvPr/>
        </p:nvGrpSpPr>
        <p:grpSpPr>
          <a:xfrm>
            <a:off x="1509754" y="1828800"/>
            <a:ext cx="370442" cy="3046746"/>
            <a:chOff x="1509754" y="2057400"/>
            <a:chExt cx="370442" cy="3046746"/>
          </a:xfrm>
        </p:grpSpPr>
        <p:sp>
          <p:nvSpPr>
            <p:cNvPr id="38" name="Can 37"/>
            <p:cNvSpPr/>
            <p:nvPr/>
          </p:nvSpPr>
          <p:spPr>
            <a:xfrm>
              <a:off x="1509754" y="2057400"/>
              <a:ext cx="370442" cy="411635"/>
            </a:xfrm>
            <a:prstGeom prst="can">
              <a:avLst/>
            </a:prstGeom>
            <a:noFill/>
            <a:ln>
              <a:solidFill>
                <a:schemeClr val="tx1"/>
              </a:solidFill>
              <a:headEnd type="none" w="med" len="med"/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Can 38"/>
            <p:cNvSpPr/>
            <p:nvPr/>
          </p:nvSpPr>
          <p:spPr>
            <a:xfrm>
              <a:off x="1509754" y="2721000"/>
              <a:ext cx="370442" cy="411635"/>
            </a:xfrm>
            <a:prstGeom prst="can">
              <a:avLst/>
            </a:prstGeom>
            <a:noFill/>
            <a:ln>
              <a:solidFill>
                <a:schemeClr val="tx1"/>
              </a:solidFill>
              <a:headEnd type="none" w="med" len="med"/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Can 39"/>
            <p:cNvSpPr/>
            <p:nvPr/>
          </p:nvSpPr>
          <p:spPr>
            <a:xfrm>
              <a:off x="1509754" y="3384601"/>
              <a:ext cx="370442" cy="411635"/>
            </a:xfrm>
            <a:prstGeom prst="can">
              <a:avLst/>
            </a:prstGeom>
            <a:noFill/>
            <a:ln>
              <a:solidFill>
                <a:schemeClr val="tx1"/>
              </a:solidFill>
              <a:headEnd type="none" w="med" len="med"/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Can 40"/>
            <p:cNvSpPr/>
            <p:nvPr/>
          </p:nvSpPr>
          <p:spPr>
            <a:xfrm>
              <a:off x="1509754" y="4692511"/>
              <a:ext cx="370442" cy="411635"/>
            </a:xfrm>
            <a:prstGeom prst="can">
              <a:avLst/>
            </a:prstGeom>
            <a:noFill/>
            <a:ln>
              <a:solidFill>
                <a:schemeClr val="tx1"/>
              </a:solidFill>
              <a:headEnd type="none" w="med" len="med"/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Can 41"/>
            <p:cNvSpPr/>
            <p:nvPr/>
          </p:nvSpPr>
          <p:spPr>
            <a:xfrm>
              <a:off x="1509754" y="4045736"/>
              <a:ext cx="370442" cy="411635"/>
            </a:xfrm>
            <a:prstGeom prst="can">
              <a:avLst/>
            </a:prstGeom>
            <a:noFill/>
            <a:ln>
              <a:solidFill>
                <a:schemeClr val="tx1"/>
              </a:solidFill>
              <a:headEnd type="none" w="med" len="med"/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3" name="TextBox 62"/>
          <p:cNvSpPr txBox="1"/>
          <p:nvPr/>
        </p:nvSpPr>
        <p:spPr>
          <a:xfrm>
            <a:off x="3690487" y="4969738"/>
            <a:ext cx="158408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chemeClr val="accent2"/>
                </a:solidFill>
                <a:ea typeface="Arial" charset="0"/>
                <a:cs typeface="Arial" charset="0"/>
              </a:rPr>
              <a:t>Reduce Stage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94893" y="4969738"/>
            <a:ext cx="121058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chemeClr val="accent2"/>
                </a:solidFill>
                <a:ea typeface="Arial" charset="0"/>
                <a:cs typeface="Arial" charset="0"/>
              </a:rPr>
              <a:t>Map Stage</a:t>
            </a:r>
          </a:p>
        </p:txBody>
      </p:sp>
      <p:grpSp>
        <p:nvGrpSpPr>
          <p:cNvPr id="66" name="Group 65"/>
          <p:cNvGrpSpPr/>
          <p:nvPr/>
        </p:nvGrpSpPr>
        <p:grpSpPr>
          <a:xfrm>
            <a:off x="4651621" y="1898798"/>
            <a:ext cx="3120780" cy="3090174"/>
            <a:chOff x="4651621" y="2127398"/>
            <a:chExt cx="3120780" cy="3090174"/>
          </a:xfrm>
        </p:grpSpPr>
        <p:sp>
          <p:nvSpPr>
            <p:cNvPr id="67" name="Rectangle 66"/>
            <p:cNvSpPr/>
            <p:nvPr/>
          </p:nvSpPr>
          <p:spPr>
            <a:xfrm rot="5400000">
              <a:off x="4673467" y="2118638"/>
              <a:ext cx="3090174" cy="310769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8" name="Group 67"/>
            <p:cNvGrpSpPr/>
            <p:nvPr/>
          </p:nvGrpSpPr>
          <p:grpSpPr>
            <a:xfrm rot="5400000">
              <a:off x="4496545" y="3112735"/>
              <a:ext cx="1284099" cy="973948"/>
              <a:chOff x="8954424" y="3132855"/>
              <a:chExt cx="976906" cy="740952"/>
            </a:xfrm>
            <a:noFill/>
          </p:grpSpPr>
          <p:sp>
            <p:nvSpPr>
              <p:cNvPr id="83" name="Oval 82"/>
              <p:cNvSpPr/>
              <p:nvPr/>
            </p:nvSpPr>
            <p:spPr>
              <a:xfrm>
                <a:off x="9372156" y="3132855"/>
                <a:ext cx="281822" cy="281844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  <a:headEnd type="none" w="med" len="med"/>
                <a:tailEnd type="non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84" name="Straight Arrow Connector 83"/>
              <p:cNvCxnSpPr/>
              <p:nvPr/>
            </p:nvCxnSpPr>
            <p:spPr>
              <a:xfrm flipV="1">
                <a:off x="8954424" y="3373424"/>
                <a:ext cx="459004" cy="500383"/>
              </a:xfrm>
              <a:prstGeom prst="straightConnector1">
                <a:avLst/>
              </a:prstGeom>
              <a:grpFill/>
              <a:ln w="19050" cmpd="sng">
                <a:solidFill>
                  <a:srgbClr val="09245F"/>
                </a:solidFill>
                <a:headEnd type="none" w="med" len="med"/>
                <a:tailEnd type="stealth" w="lg" len="lg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5" name="Straight Arrow Connector 84"/>
              <p:cNvCxnSpPr/>
              <p:nvPr/>
            </p:nvCxnSpPr>
            <p:spPr>
              <a:xfrm flipH="1" flipV="1">
                <a:off x="9612706" y="3373424"/>
                <a:ext cx="318624" cy="500383"/>
              </a:xfrm>
              <a:prstGeom prst="straightConnector1">
                <a:avLst/>
              </a:prstGeom>
              <a:grpFill/>
              <a:ln w="19050" cmpd="sng">
                <a:solidFill>
                  <a:srgbClr val="09245F"/>
                </a:solidFill>
                <a:headEnd type="none" w="med" len="med"/>
                <a:tailEnd type="stealth" w="lg" len="lg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9" name="Group 68"/>
            <p:cNvGrpSpPr/>
            <p:nvPr/>
          </p:nvGrpSpPr>
          <p:grpSpPr>
            <a:xfrm rot="5400000">
              <a:off x="4900269" y="3197094"/>
              <a:ext cx="2304975" cy="962884"/>
              <a:chOff x="8626067" y="2441595"/>
              <a:chExt cx="1753559" cy="732535"/>
            </a:xfrm>
            <a:noFill/>
          </p:grpSpPr>
          <p:sp>
            <p:nvSpPr>
              <p:cNvPr id="77" name="Oval 76"/>
              <p:cNvSpPr/>
              <p:nvPr/>
            </p:nvSpPr>
            <p:spPr>
              <a:xfrm>
                <a:off x="8626067" y="2441595"/>
                <a:ext cx="281822" cy="281844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  <a:headEnd type="none" w="med" len="med"/>
                <a:tailEnd type="non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" name="Oval 77"/>
              <p:cNvSpPr/>
              <p:nvPr/>
            </p:nvSpPr>
            <p:spPr>
              <a:xfrm>
                <a:off x="10097804" y="2441595"/>
                <a:ext cx="281822" cy="281844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  <a:headEnd type="none" w="med" len="med"/>
                <a:tailEnd type="non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9" name="Oval 78"/>
              <p:cNvSpPr/>
              <p:nvPr/>
            </p:nvSpPr>
            <p:spPr>
              <a:xfrm>
                <a:off x="9383029" y="2441595"/>
                <a:ext cx="281822" cy="281844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  <a:headEnd type="none" w="med" len="med"/>
                <a:tailEnd type="non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80" name="Straight Arrow Connector 79"/>
              <p:cNvCxnSpPr/>
              <p:nvPr/>
            </p:nvCxnSpPr>
            <p:spPr>
              <a:xfrm flipH="1" flipV="1">
                <a:off x="8766978" y="2723439"/>
                <a:ext cx="646450" cy="450691"/>
              </a:xfrm>
              <a:prstGeom prst="straightConnector1">
                <a:avLst/>
              </a:prstGeom>
              <a:grpFill/>
              <a:ln w="19050" cmpd="sng">
                <a:solidFill>
                  <a:srgbClr val="D9001F"/>
                </a:solidFill>
                <a:headEnd type="none" w="med" len="med"/>
                <a:tailEnd type="stealth" w="lg" len="lg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1" name="Straight Arrow Connector 80"/>
              <p:cNvCxnSpPr/>
              <p:nvPr/>
            </p:nvCxnSpPr>
            <p:spPr>
              <a:xfrm flipV="1">
                <a:off x="9513067" y="2723439"/>
                <a:ext cx="10873" cy="409416"/>
              </a:xfrm>
              <a:prstGeom prst="straightConnector1">
                <a:avLst/>
              </a:prstGeom>
              <a:grpFill/>
              <a:ln w="19050" cmpd="sng">
                <a:solidFill>
                  <a:srgbClr val="D9001F"/>
                </a:solidFill>
                <a:headEnd type="none" w="med" len="med"/>
                <a:tailEnd type="stealth" w="lg" len="lg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2" name="Straight Arrow Connector 81"/>
              <p:cNvCxnSpPr/>
              <p:nvPr/>
            </p:nvCxnSpPr>
            <p:spPr>
              <a:xfrm flipV="1">
                <a:off x="9612706" y="2723439"/>
                <a:ext cx="626009" cy="450691"/>
              </a:xfrm>
              <a:prstGeom prst="straightConnector1">
                <a:avLst/>
              </a:prstGeom>
              <a:grpFill/>
              <a:ln w="19050" cmpd="sng">
                <a:solidFill>
                  <a:srgbClr val="D9001F"/>
                </a:solidFill>
                <a:headEnd type="none" w="med" len="med"/>
                <a:tailEnd type="stealth" w="lg" len="lg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0" name="Group 69"/>
            <p:cNvGrpSpPr/>
            <p:nvPr/>
          </p:nvGrpSpPr>
          <p:grpSpPr>
            <a:xfrm rot="5400000">
              <a:off x="5812246" y="3218965"/>
              <a:ext cx="2353315" cy="909411"/>
              <a:chOff x="8603979" y="1749741"/>
              <a:chExt cx="1790335" cy="691854"/>
            </a:xfrm>
            <a:noFill/>
          </p:grpSpPr>
          <p:sp>
            <p:nvSpPr>
              <p:cNvPr id="71" name="Can 70"/>
              <p:cNvSpPr/>
              <p:nvPr/>
            </p:nvSpPr>
            <p:spPr>
              <a:xfrm rot="16200000">
                <a:off x="9386615" y="1734072"/>
                <a:ext cx="281822" cy="313160"/>
              </a:xfrm>
              <a:prstGeom prst="can">
                <a:avLst/>
              </a:prstGeom>
              <a:grpFill/>
              <a:ln>
                <a:solidFill>
                  <a:schemeClr val="tx1"/>
                </a:solidFill>
                <a:headEnd type="none" w="med" len="med"/>
                <a:tailEnd type="non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72" name="Straight Arrow Connector 71"/>
              <p:cNvCxnSpPr/>
              <p:nvPr/>
            </p:nvCxnSpPr>
            <p:spPr>
              <a:xfrm flipV="1">
                <a:off x="9523940" y="2047232"/>
                <a:ext cx="3585" cy="394363"/>
              </a:xfrm>
              <a:prstGeom prst="straightConnector1">
                <a:avLst/>
              </a:prstGeom>
              <a:grpFill/>
              <a:ln w="19050" cmpd="sng">
                <a:solidFill>
                  <a:schemeClr val="tx1"/>
                </a:solidFill>
                <a:headEnd type="none" w="med" len="med"/>
                <a:tailEnd type="arrow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3" name="Can 72"/>
              <p:cNvSpPr/>
              <p:nvPr/>
            </p:nvSpPr>
            <p:spPr>
              <a:xfrm rot="16200000">
                <a:off x="8619648" y="1734072"/>
                <a:ext cx="281822" cy="313160"/>
              </a:xfrm>
              <a:prstGeom prst="can">
                <a:avLst/>
              </a:prstGeom>
              <a:grpFill/>
              <a:ln>
                <a:solidFill>
                  <a:schemeClr val="tx1"/>
                </a:solidFill>
                <a:headEnd type="none" w="med" len="med"/>
                <a:tailEnd type="non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74" name="Straight Arrow Connector 73"/>
              <p:cNvCxnSpPr/>
              <p:nvPr/>
            </p:nvCxnSpPr>
            <p:spPr>
              <a:xfrm flipH="1" flipV="1">
                <a:off x="8760559" y="2047232"/>
                <a:ext cx="6419" cy="394363"/>
              </a:xfrm>
              <a:prstGeom prst="straightConnector1">
                <a:avLst/>
              </a:prstGeom>
              <a:grpFill/>
              <a:ln w="19050" cmpd="sng">
                <a:solidFill>
                  <a:schemeClr val="tx1"/>
                </a:solidFill>
                <a:headEnd type="none" w="med" len="med"/>
                <a:tailEnd type="arrow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5" name="Can 74"/>
              <p:cNvSpPr/>
              <p:nvPr/>
            </p:nvSpPr>
            <p:spPr>
              <a:xfrm rot="16200000">
                <a:off x="10096823" y="1734072"/>
                <a:ext cx="281822" cy="313160"/>
              </a:xfrm>
              <a:prstGeom prst="can">
                <a:avLst/>
              </a:prstGeom>
              <a:grpFill/>
              <a:ln>
                <a:solidFill>
                  <a:schemeClr val="tx1"/>
                </a:solidFill>
                <a:headEnd type="none" w="med" len="med"/>
                <a:tailEnd type="non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76" name="Straight Arrow Connector 75"/>
              <p:cNvCxnSpPr/>
              <p:nvPr/>
            </p:nvCxnSpPr>
            <p:spPr>
              <a:xfrm flipH="1" flipV="1">
                <a:off x="10237734" y="2047232"/>
                <a:ext cx="981" cy="394363"/>
              </a:xfrm>
              <a:prstGeom prst="straightConnector1">
                <a:avLst/>
              </a:prstGeom>
              <a:grpFill/>
              <a:ln w="19050" cmpd="sng">
                <a:solidFill>
                  <a:schemeClr val="tx1"/>
                </a:solidFill>
                <a:headEnd type="none" w="med" len="med"/>
                <a:tailEnd type="arrow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4" name="TextBox 13"/>
          <p:cNvSpPr txBox="1"/>
          <p:nvPr/>
        </p:nvSpPr>
        <p:spPr>
          <a:xfrm>
            <a:off x="590550" y="5410200"/>
            <a:ext cx="7962900" cy="1200329"/>
          </a:xfrm>
          <a:prstGeom prst="rect">
            <a:avLst/>
          </a:prstGeom>
          <a:solidFill>
            <a:srgbClr val="D3A6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Observation: </a:t>
            </a:r>
          </a:p>
          <a:p>
            <a:pPr algn="ctr"/>
            <a:r>
              <a:rPr lang="en-US" sz="2400" dirty="0"/>
              <a:t>A communication stage cannot complete until all its flows have completed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8BC1EC87-7B74-1245-BE60-19FB99B6F7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7A418-0CEB-9E4A-BA45-3B7D3D133EB9}" type="slidenum">
              <a:rPr lang="en-US" smtClean="0"/>
              <a:pPr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21163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Flow-based solutions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721" y="3085724"/>
            <a:ext cx="481856" cy="204311"/>
          </a:xfrm>
          <a:prstGeom prst="roundRect">
            <a:avLst/>
          </a:prstGeom>
          <a:noFill/>
          <a:ln w="19050" cmpd="sng">
            <a:solidFill>
              <a:schemeClr val="tx1"/>
            </a:solidFill>
          </a:ln>
        </p:spPr>
        <p:txBody>
          <a:bodyPr wrap="none" lIns="68580" tIns="0" rIns="68580" bIns="0" rtlCol="0">
            <a:spAutoFit/>
          </a:bodyPr>
          <a:lstStyle/>
          <a:p>
            <a:r>
              <a:rPr lang="en-US" sz="1200" dirty="0">
                <a:solidFill>
                  <a:prstClr val="black"/>
                </a:solidFill>
                <a:ea typeface="Arial" charset="0"/>
                <a:cs typeface="Arial" charset="0"/>
              </a:rPr>
              <a:t>GPS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7507" y="3087516"/>
            <a:ext cx="498506" cy="204311"/>
          </a:xfrm>
          <a:prstGeom prst="roundRect">
            <a:avLst/>
          </a:prstGeom>
          <a:noFill/>
          <a:ln w="19050" cmpd="sng">
            <a:solidFill>
              <a:schemeClr val="tx1"/>
            </a:solidFill>
          </a:ln>
        </p:spPr>
        <p:txBody>
          <a:bodyPr wrap="none" lIns="68580" tIns="0" rIns="68580" bIns="0" rtlCol="0">
            <a:spAutoFit/>
          </a:bodyPr>
          <a:lstStyle/>
          <a:p>
            <a:r>
              <a:rPr lang="en-US" sz="1200" dirty="0">
                <a:solidFill>
                  <a:prstClr val="black"/>
                </a:solidFill>
                <a:ea typeface="Arial" charset="0"/>
                <a:cs typeface="Arial" charset="0"/>
              </a:rPr>
              <a:t>RED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2519" y="2802495"/>
            <a:ext cx="518486" cy="204311"/>
          </a:xfrm>
          <a:prstGeom prst="roundRect">
            <a:avLst/>
          </a:prstGeom>
          <a:solidFill>
            <a:srgbClr val="D3A600"/>
          </a:solidFill>
          <a:ln w="19050" cmpd="sng">
            <a:solidFill>
              <a:schemeClr val="tx1"/>
            </a:solidFill>
          </a:ln>
        </p:spPr>
        <p:txBody>
          <a:bodyPr wrap="none" lIns="68580" tIns="0" rIns="68580" bIns="0" rtlCol="0">
            <a:spAutoFit/>
          </a:bodyPr>
          <a:lstStyle/>
          <a:p>
            <a:r>
              <a:rPr lang="en-US" sz="1200" dirty="0">
                <a:solidFill>
                  <a:prstClr val="black"/>
                </a:solidFill>
                <a:ea typeface="Arial" charset="0"/>
                <a:cs typeface="Arial" charset="0"/>
              </a:rPr>
              <a:t>WFQ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45000" y="2802494"/>
            <a:ext cx="591185" cy="204311"/>
          </a:xfrm>
          <a:prstGeom prst="roundRect">
            <a:avLst/>
          </a:prstGeom>
          <a:noFill/>
          <a:ln w="19050" cmpd="sng">
            <a:solidFill>
              <a:schemeClr val="tx1"/>
            </a:solidFill>
          </a:ln>
        </p:spPr>
        <p:txBody>
          <a:bodyPr wrap="none" lIns="68580" tIns="0" rIns="68580" bIns="0" rtlCol="0">
            <a:spAutoFit/>
          </a:bodyPr>
          <a:lstStyle/>
          <a:p>
            <a:r>
              <a:rPr lang="en-US" sz="1200" dirty="0">
                <a:solidFill>
                  <a:prstClr val="black"/>
                </a:solidFill>
                <a:ea typeface="Arial" charset="0"/>
                <a:cs typeface="Arial" charset="0"/>
              </a:rPr>
              <a:t>CSFQ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44984" y="3087515"/>
            <a:ext cx="480190" cy="204311"/>
          </a:xfrm>
          <a:prstGeom prst="roundRect">
            <a:avLst/>
          </a:prstGeom>
          <a:noFill/>
          <a:ln w="19050" cmpd="sng">
            <a:solidFill>
              <a:schemeClr val="tx1"/>
            </a:solidFill>
          </a:ln>
        </p:spPr>
        <p:txBody>
          <a:bodyPr wrap="none" lIns="68580" tIns="0" rIns="68580" bIns="0" rtlCol="0">
            <a:spAutoFit/>
          </a:bodyPr>
          <a:lstStyle/>
          <a:p>
            <a:r>
              <a:rPr lang="en-US" sz="1200" dirty="0">
                <a:solidFill>
                  <a:prstClr val="black"/>
                </a:solidFill>
                <a:ea typeface="Arial" charset="0"/>
                <a:cs typeface="Arial" charset="0"/>
              </a:rPr>
              <a:t>ECN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74944" y="3087515"/>
            <a:ext cx="471866" cy="204311"/>
          </a:xfrm>
          <a:prstGeom prst="roundRect">
            <a:avLst/>
          </a:prstGeom>
          <a:noFill/>
          <a:ln w="19050" cmpd="sng">
            <a:solidFill>
              <a:schemeClr val="tx1"/>
            </a:solidFill>
          </a:ln>
        </p:spPr>
        <p:txBody>
          <a:bodyPr wrap="none" lIns="68580" tIns="0" rIns="68580" bIns="0" rtlCol="0">
            <a:spAutoFit/>
          </a:bodyPr>
          <a:lstStyle/>
          <a:p>
            <a:r>
              <a:rPr lang="en-US" sz="1200" dirty="0">
                <a:solidFill>
                  <a:prstClr val="black"/>
                </a:solidFill>
                <a:ea typeface="Arial" charset="0"/>
                <a:cs typeface="Arial" charset="0"/>
              </a:rPr>
              <a:t>XCP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7294" y="3087516"/>
            <a:ext cx="632423" cy="204311"/>
          </a:xfrm>
          <a:prstGeom prst="roundRect">
            <a:avLst/>
          </a:prstGeom>
          <a:noFill/>
          <a:ln w="19050" cmpd="sng">
            <a:solidFill>
              <a:schemeClr val="tx1"/>
            </a:solidFill>
          </a:ln>
        </p:spPr>
        <p:txBody>
          <a:bodyPr wrap="none" lIns="68580" tIns="0" rIns="68580" bIns="0" rtlCol="0">
            <a:spAutoFit/>
          </a:bodyPr>
          <a:lstStyle/>
          <a:p>
            <a:r>
              <a:rPr lang="en-US" sz="1200" dirty="0">
                <a:solidFill>
                  <a:prstClr val="black"/>
                </a:solidFill>
                <a:ea typeface="Arial" charset="0"/>
                <a:cs typeface="Arial" charset="0"/>
              </a:rPr>
              <a:t>D</a:t>
            </a:r>
            <a:r>
              <a:rPr lang="en-US" sz="1200" baseline="30000" dirty="0">
                <a:solidFill>
                  <a:prstClr val="black"/>
                </a:solidFill>
                <a:ea typeface="Arial" charset="0"/>
                <a:cs typeface="Arial" charset="0"/>
              </a:rPr>
              <a:t>2</a:t>
            </a:r>
            <a:r>
              <a:rPr lang="en-US" sz="1200" dirty="0">
                <a:solidFill>
                  <a:prstClr val="black"/>
                </a:solidFill>
                <a:ea typeface="Arial" charset="0"/>
                <a:cs typeface="Arial" charset="0"/>
              </a:rPr>
              <a:t>TCP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44839" y="3087515"/>
            <a:ext cx="686857" cy="204311"/>
          </a:xfrm>
          <a:prstGeom prst="roundRect">
            <a:avLst/>
          </a:prstGeom>
          <a:solidFill>
            <a:srgbClr val="D3A600"/>
          </a:solidFill>
          <a:ln w="19050" cmpd="sng">
            <a:solidFill>
              <a:schemeClr val="tx1"/>
            </a:solidFill>
          </a:ln>
        </p:spPr>
        <p:txBody>
          <a:bodyPr wrap="none" lIns="68580" tIns="0" rIns="68580" bIns="0" rtlCol="0">
            <a:spAutoFit/>
          </a:bodyPr>
          <a:lstStyle/>
          <a:p>
            <a:r>
              <a:rPr lang="en-US" sz="1200" dirty="0">
                <a:solidFill>
                  <a:prstClr val="black"/>
                </a:solidFill>
                <a:ea typeface="Arial" charset="0"/>
                <a:cs typeface="Arial" charset="0"/>
              </a:rPr>
              <a:t>DCTCP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24771" y="2802494"/>
            <a:ext cx="490180" cy="204311"/>
          </a:xfrm>
          <a:prstGeom prst="roundRect">
            <a:avLst/>
          </a:prstGeom>
          <a:noFill/>
          <a:ln w="19050" cmpd="sng">
            <a:solidFill>
              <a:schemeClr val="tx1"/>
            </a:solidFill>
          </a:ln>
        </p:spPr>
        <p:txBody>
          <a:bodyPr wrap="none" lIns="68580" tIns="0" rIns="68580" bIns="0" rtlCol="0">
            <a:spAutoFit/>
          </a:bodyPr>
          <a:lstStyle/>
          <a:p>
            <a:r>
              <a:rPr lang="en-US" sz="1200" dirty="0">
                <a:solidFill>
                  <a:prstClr val="black"/>
                </a:solidFill>
                <a:ea typeface="Arial" charset="0"/>
                <a:cs typeface="Arial" charset="0"/>
              </a:rPr>
              <a:t>PDQ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29815" y="2802494"/>
            <a:ext cx="324619" cy="204311"/>
          </a:xfrm>
          <a:prstGeom prst="roundRect">
            <a:avLst/>
          </a:prstGeom>
          <a:noFill/>
          <a:ln w="19050" cmpd="sng">
            <a:solidFill>
              <a:schemeClr val="tx1"/>
            </a:solidFill>
          </a:ln>
        </p:spPr>
        <p:txBody>
          <a:bodyPr wrap="none" lIns="68580" tIns="0" rIns="68580" bIns="0" rtlCol="0">
            <a:spAutoFit/>
          </a:bodyPr>
          <a:lstStyle/>
          <a:p>
            <a:r>
              <a:rPr lang="en-US" sz="1200" dirty="0">
                <a:solidFill>
                  <a:prstClr val="black"/>
                </a:solidFill>
                <a:ea typeface="Arial" charset="0"/>
                <a:cs typeface="Arial" charset="0"/>
              </a:rPr>
              <a:t>D</a:t>
            </a:r>
            <a:r>
              <a:rPr lang="en-US" sz="1200" baseline="30000" dirty="0">
                <a:solidFill>
                  <a:prstClr val="black"/>
                </a:solidFill>
                <a:ea typeface="Arial" charset="0"/>
                <a:cs typeface="Arial" charset="0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59751" y="3087515"/>
            <a:ext cx="473530" cy="204311"/>
          </a:xfrm>
          <a:prstGeom prst="roundRect">
            <a:avLst/>
          </a:prstGeom>
          <a:noFill/>
          <a:ln w="19050" cmpd="sng">
            <a:solidFill>
              <a:schemeClr val="tx1"/>
            </a:solidFill>
          </a:ln>
        </p:spPr>
        <p:txBody>
          <a:bodyPr wrap="none" lIns="68580" tIns="0" rIns="68580" bIns="0" rtlCol="0">
            <a:spAutoFit/>
          </a:bodyPr>
          <a:lstStyle/>
          <a:p>
            <a:r>
              <a:rPr lang="en-US" sz="1200" dirty="0">
                <a:solidFill>
                  <a:prstClr val="black"/>
                </a:solidFill>
                <a:ea typeface="Arial" charset="0"/>
                <a:cs typeface="Arial" charset="0"/>
              </a:rPr>
              <a:t>FCP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64797" y="2802495"/>
            <a:ext cx="605833" cy="204311"/>
          </a:xfrm>
          <a:prstGeom prst="roundRect">
            <a:avLst/>
          </a:prstGeom>
          <a:noFill/>
          <a:ln w="19050" cmpd="sng">
            <a:solidFill>
              <a:schemeClr val="tx1"/>
            </a:solidFill>
          </a:ln>
        </p:spPr>
        <p:txBody>
          <a:bodyPr wrap="none" lIns="68580" tIns="0" rIns="68580" bIns="0" rtlCol="0">
            <a:spAutoFit/>
          </a:bodyPr>
          <a:lstStyle/>
          <a:p>
            <a:r>
              <a:rPr lang="en-US" sz="1200" dirty="0">
                <a:solidFill>
                  <a:prstClr val="black"/>
                </a:solidFill>
                <a:ea typeface="Arial" charset="0"/>
                <a:cs typeface="Arial" charset="0"/>
              </a:rPr>
              <a:t>DeTail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87248" y="2802494"/>
            <a:ext cx="730533" cy="204311"/>
          </a:xfrm>
          <a:prstGeom prst="roundRect">
            <a:avLst/>
          </a:prstGeom>
          <a:solidFill>
            <a:srgbClr val="D3A600"/>
          </a:solidFill>
          <a:ln w="19050" cmpd="sng">
            <a:solidFill>
              <a:schemeClr val="tx1"/>
            </a:solidFill>
          </a:ln>
        </p:spPr>
        <p:txBody>
          <a:bodyPr wrap="none" lIns="68580" tIns="0" rIns="68580" bIns="0" rtlCol="0">
            <a:spAutoFit/>
          </a:bodyPr>
          <a:lstStyle/>
          <a:p>
            <a:r>
              <a:rPr lang="en-US" sz="1200" dirty="0">
                <a:solidFill>
                  <a:prstClr val="black"/>
                </a:solidFill>
                <a:ea typeface="Arial" charset="0"/>
                <a:cs typeface="Arial" charset="0"/>
              </a:rPr>
              <a:t>pFabric</a:t>
            </a:r>
          </a:p>
        </p:txBody>
      </p:sp>
      <p:grpSp>
        <p:nvGrpSpPr>
          <p:cNvPr id="33" name="Group 32"/>
          <p:cNvGrpSpPr/>
          <p:nvPr/>
        </p:nvGrpSpPr>
        <p:grpSpPr>
          <a:xfrm>
            <a:off x="431183" y="3343378"/>
            <a:ext cx="8249817" cy="358404"/>
            <a:chOff x="574911" y="3314838"/>
            <a:chExt cx="10999756" cy="477871"/>
          </a:xfrm>
        </p:grpSpPr>
        <p:cxnSp>
          <p:nvCxnSpPr>
            <p:cNvPr id="4" name="Straight Arrow Connector 3"/>
            <p:cNvCxnSpPr/>
            <p:nvPr/>
          </p:nvCxnSpPr>
          <p:spPr>
            <a:xfrm>
              <a:off x="769978" y="3380246"/>
              <a:ext cx="10804689" cy="0"/>
            </a:xfrm>
            <a:prstGeom prst="straightConnector1">
              <a:avLst/>
            </a:prstGeom>
            <a:ln w="57150" cmpd="sng">
              <a:solidFill>
                <a:schemeClr val="accent6">
                  <a:lumMod val="75000"/>
                </a:schemeClr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Oval 4"/>
            <p:cNvSpPr/>
            <p:nvPr/>
          </p:nvSpPr>
          <p:spPr>
            <a:xfrm>
              <a:off x="5266370" y="3320061"/>
              <a:ext cx="131704" cy="132230"/>
            </a:xfrm>
            <a:prstGeom prst="ellipse">
              <a:avLst/>
            </a:prstGeom>
            <a:solidFill>
              <a:srgbClr val="D3A6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>
                <a:solidFill>
                  <a:prstClr val="white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6" name="Oval 5"/>
            <p:cNvSpPr/>
            <p:nvPr/>
          </p:nvSpPr>
          <p:spPr>
            <a:xfrm>
              <a:off x="7346978" y="3321942"/>
              <a:ext cx="131704" cy="132230"/>
            </a:xfrm>
            <a:prstGeom prst="ellipse">
              <a:avLst/>
            </a:prstGeom>
            <a:solidFill>
              <a:srgbClr val="D3A6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>
                <a:solidFill>
                  <a:prstClr val="white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7" name="Oval 6"/>
            <p:cNvSpPr/>
            <p:nvPr/>
          </p:nvSpPr>
          <p:spPr>
            <a:xfrm>
              <a:off x="10607585" y="3321943"/>
              <a:ext cx="131704" cy="132230"/>
            </a:xfrm>
            <a:prstGeom prst="ellipse">
              <a:avLst/>
            </a:prstGeom>
            <a:solidFill>
              <a:srgbClr val="D3A6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>
                <a:solidFill>
                  <a:prstClr val="white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5012371" y="3423376"/>
              <a:ext cx="699337" cy="369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solidFill>
                    <a:prstClr val="black"/>
                  </a:solidFill>
                  <a:ea typeface="Arial" charset="0"/>
                  <a:cs typeface="Arial" charset="0"/>
                </a:rPr>
                <a:t>2005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7098623" y="3423376"/>
              <a:ext cx="699337" cy="369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solidFill>
                    <a:prstClr val="black"/>
                  </a:solidFill>
                  <a:ea typeface="Arial" charset="0"/>
                  <a:cs typeface="Arial" charset="0"/>
                </a:rPr>
                <a:t>2010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0353586" y="3423377"/>
              <a:ext cx="69933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solidFill>
                    <a:prstClr val="black"/>
                  </a:solidFill>
                  <a:ea typeface="Arial" charset="0"/>
                  <a:cs typeface="Arial" charset="0"/>
                </a:rPr>
                <a:t>2015</a:t>
              </a:r>
            </a:p>
          </p:txBody>
        </p:sp>
        <p:sp>
          <p:nvSpPr>
            <p:cNvPr id="28" name="Oval 27"/>
            <p:cNvSpPr/>
            <p:nvPr/>
          </p:nvSpPr>
          <p:spPr>
            <a:xfrm>
              <a:off x="1418885" y="3322450"/>
              <a:ext cx="131704" cy="132230"/>
            </a:xfrm>
            <a:prstGeom prst="ellipse">
              <a:avLst/>
            </a:prstGeom>
            <a:solidFill>
              <a:srgbClr val="D3A6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>
                <a:solidFill>
                  <a:prstClr val="white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574911" y="3423376"/>
              <a:ext cx="831852" cy="369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solidFill>
                    <a:prstClr val="black"/>
                  </a:solidFill>
                  <a:ea typeface="Arial" charset="0"/>
                  <a:cs typeface="Arial" charset="0"/>
                </a:rPr>
                <a:t>1980s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1864867" y="3423376"/>
              <a:ext cx="831852" cy="369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solidFill>
                    <a:prstClr val="black"/>
                  </a:solidFill>
                  <a:ea typeface="Arial" charset="0"/>
                  <a:cs typeface="Arial" charset="0"/>
                </a:rPr>
                <a:t>1990s</a:t>
              </a:r>
            </a:p>
          </p:txBody>
        </p:sp>
        <p:sp>
          <p:nvSpPr>
            <p:cNvPr id="31" name="Oval 30"/>
            <p:cNvSpPr/>
            <p:nvPr/>
          </p:nvSpPr>
          <p:spPr>
            <a:xfrm>
              <a:off x="3291230" y="3314838"/>
              <a:ext cx="131704" cy="132230"/>
            </a:xfrm>
            <a:prstGeom prst="ellipse">
              <a:avLst/>
            </a:prstGeom>
            <a:solidFill>
              <a:srgbClr val="D3A6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>
                <a:solidFill>
                  <a:prstClr val="white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3347219" y="3423376"/>
              <a:ext cx="831852" cy="369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solidFill>
                    <a:prstClr val="black"/>
                  </a:solidFill>
                  <a:ea typeface="Arial" charset="0"/>
                  <a:cs typeface="Arial" charset="0"/>
                </a:rPr>
                <a:t>2000s</a:t>
              </a:r>
            </a:p>
          </p:txBody>
        </p:sp>
      </p:grpSp>
      <p:cxnSp>
        <p:nvCxnSpPr>
          <p:cNvPr id="35" name="Straight Connector 34"/>
          <p:cNvCxnSpPr/>
          <p:nvPr/>
        </p:nvCxnSpPr>
        <p:spPr>
          <a:xfrm flipH="1">
            <a:off x="4447762" y="2004834"/>
            <a:ext cx="197" cy="2789504"/>
          </a:xfrm>
          <a:prstGeom prst="line">
            <a:avLst/>
          </a:prstGeom>
          <a:ln w="38100" cmpd="sng">
            <a:solidFill>
              <a:schemeClr val="accent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4507401" y="3087515"/>
            <a:ext cx="493510" cy="204311"/>
          </a:xfrm>
          <a:prstGeom prst="roundRect">
            <a:avLst/>
          </a:prstGeom>
          <a:noFill/>
          <a:ln w="19050" cmpd="sng">
            <a:solidFill>
              <a:schemeClr val="tx1"/>
            </a:solidFill>
          </a:ln>
        </p:spPr>
        <p:txBody>
          <a:bodyPr wrap="none" lIns="68580" tIns="0" rIns="68580" bIns="0" rtlCol="0">
            <a:spAutoFit/>
          </a:bodyPr>
          <a:lstStyle/>
          <a:p>
            <a:r>
              <a:rPr lang="en-US" sz="1200" dirty="0">
                <a:solidFill>
                  <a:prstClr val="black"/>
                </a:solidFill>
                <a:ea typeface="Arial" charset="0"/>
                <a:cs typeface="Arial" charset="0"/>
              </a:rPr>
              <a:t>RCP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9429" y="4092441"/>
            <a:ext cx="28344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prstClr val="black">
                    <a:lumMod val="85000"/>
                    <a:lumOff val="15000"/>
                  </a:prstClr>
                </a:solidFill>
                <a:ea typeface="Arial" charset="0"/>
                <a:cs typeface="Arial" charset="0"/>
              </a:rPr>
              <a:t>Per-</a:t>
            </a:r>
            <a:r>
              <a:rPr lang="en-US" sz="2400" dirty="0">
                <a:solidFill>
                  <a:srgbClr val="0000FF"/>
                </a:solidFill>
                <a:ea typeface="Arial" charset="0"/>
                <a:cs typeface="Arial" charset="0"/>
              </a:rPr>
              <a:t>Flow</a:t>
            </a:r>
            <a:r>
              <a:rPr lang="en-US" sz="2400" dirty="0">
                <a:solidFill>
                  <a:prstClr val="black">
                    <a:lumMod val="85000"/>
                    <a:lumOff val="15000"/>
                  </a:prstClr>
                </a:solidFill>
                <a:ea typeface="Arial" charset="0"/>
                <a:cs typeface="Arial" charset="0"/>
              </a:rPr>
              <a:t> Fairness</a:t>
            </a:r>
            <a:endParaRPr lang="en-US" sz="788" dirty="0">
              <a:solidFill>
                <a:prstClr val="black">
                  <a:lumMod val="85000"/>
                  <a:lumOff val="15000"/>
                </a:prstClr>
              </a:solidFill>
              <a:ea typeface="Arial" charset="0"/>
              <a:cs typeface="Arial" charset="0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4966079" y="4092441"/>
            <a:ext cx="34572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ea typeface="Arial" charset="0"/>
                <a:cs typeface="Arial" charset="0"/>
              </a:rPr>
              <a:t>Flow </a:t>
            </a:r>
            <a:r>
              <a:rPr lang="en-US" sz="2400" dirty="0">
                <a:solidFill>
                  <a:prstClr val="black">
                    <a:lumMod val="85000"/>
                    <a:lumOff val="15000"/>
                  </a:prstClr>
                </a:solidFill>
                <a:ea typeface="Arial" charset="0"/>
                <a:cs typeface="Arial" charset="0"/>
              </a:rPr>
              <a:t>Completion Time</a:t>
            </a:r>
            <a:endParaRPr lang="en-US" sz="788" dirty="0">
              <a:solidFill>
                <a:prstClr val="black">
                  <a:lumMod val="85000"/>
                  <a:lumOff val="15000"/>
                </a:prstClr>
              </a:solidFill>
              <a:ea typeface="Arial" charset="0"/>
              <a:cs typeface="Arial" charset="0"/>
            </a:endParaRPr>
          </a:p>
        </p:txBody>
      </p:sp>
      <p:sp>
        <p:nvSpPr>
          <p:cNvPr id="25" name="Date Placeholder 2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April 14, 2024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26" name="Footer Placeholder 2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20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34" name="Rectangle 33"/>
          <p:cNvSpPr/>
          <p:nvPr/>
        </p:nvSpPr>
        <p:spPr>
          <a:xfrm>
            <a:off x="593887" y="5374880"/>
            <a:ext cx="7956226" cy="1330720"/>
          </a:xfrm>
          <a:prstGeom prst="rect">
            <a:avLst/>
          </a:prstGeom>
          <a:solidFill>
            <a:srgbClr val="D3A600"/>
          </a:solidFill>
          <a:ln w="28575" cmpd="sng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rgbClr val="333399"/>
                </a:solidFill>
                <a:latin typeface="Arial" charset="0"/>
                <a:ea typeface="Arial" charset="0"/>
                <a:cs typeface="Arial" charset="0"/>
              </a:rPr>
              <a:t>Independent flows cannot capture collective communication patterns that are common in data-parallel applications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A327353-5665-3448-B05D-C551FF20B3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7A418-0CEB-9E4A-BA45-3B7D3D133EB9}" type="slidenum">
              <a:rPr lang="en-US" smtClean="0"/>
              <a:pPr/>
              <a:t>39</a:t>
            </a:fld>
            <a:endParaRPr 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9482070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1000"/>
                            </p:stCondLst>
                            <p:childTnLst>
                              <p:par>
                                <p:cTn id="12" presetID="1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500"/>
                            </p:stCondLst>
                            <p:childTnLst>
                              <p:par>
                                <p:cTn id="15" presetID="1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00"/>
                            </p:stCondLst>
                            <p:childTnLst>
                              <p:par>
                                <p:cTn id="18" presetID="1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500"/>
                            </p:stCondLst>
                            <p:childTnLst>
                              <p:par>
                                <p:cTn id="21" presetID="1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3000"/>
                            </p:stCondLst>
                            <p:childTnLst>
                              <p:par>
                                <p:cTn id="24" presetID="1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3500"/>
                            </p:stCondLst>
                            <p:childTnLst>
                              <p:par>
                                <p:cTn id="27" presetID="1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0"/>
                            </p:stCondLst>
                            <p:childTnLst>
                              <p:par>
                                <p:cTn id="36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1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00"/>
                            </p:stCondLst>
                            <p:childTnLst>
                              <p:par>
                                <p:cTn id="42" presetID="1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500"/>
                            </p:stCondLst>
                            <p:childTnLst>
                              <p:par>
                                <p:cTn id="45" presetID="1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2000"/>
                            </p:stCondLst>
                            <p:childTnLst>
                              <p:par>
                                <p:cTn id="48" presetID="1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2500"/>
                            </p:stCondLst>
                            <p:childTnLst>
                              <p:par>
                                <p:cTn id="51" presetID="1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3000"/>
                            </p:stCondLst>
                            <p:childTnLst>
                              <p:par>
                                <p:cTn id="54" presetID="1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3500"/>
                            </p:stCondLst>
                            <p:childTnLst>
                              <p:par>
                                <p:cTn id="57" presetID="1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17" grpId="0" animBg="1"/>
      <p:bldP spid="39" grpId="0"/>
      <p:bldP spid="40" grpId="0"/>
      <p:bldP spid="34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Coflow abstraction [SIGCOMM’14]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Coflow is a communication abstraction for data-parallel applications to express their performance goals; e.g., </a:t>
            </a:r>
          </a:p>
          <a:p>
            <a:pPr lvl="1"/>
            <a:r>
              <a:rPr lang="en-US" dirty="0"/>
              <a:t>Minimize completion times,</a:t>
            </a:r>
          </a:p>
          <a:p>
            <a:pPr lvl="1"/>
            <a:r>
              <a:rPr lang="en-US" dirty="0"/>
              <a:t>Meet deadlines, or </a:t>
            </a:r>
          </a:p>
          <a:p>
            <a:pPr lvl="1"/>
            <a:r>
              <a:rPr lang="en-US" dirty="0"/>
              <a:t>Perform fair allocation</a:t>
            </a:r>
          </a:p>
          <a:p>
            <a:r>
              <a:rPr lang="en-US" dirty="0">
                <a:solidFill>
                  <a:srgbClr val="0000FF"/>
                </a:solidFill>
              </a:rPr>
              <a:t>Not for individual flows; for entire stages!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April 14, 2024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20</a:t>
            </a:r>
            <a:endParaRPr lang="en-US" sz="1050" b="0">
              <a:latin typeface="Times New Roman" charset="0"/>
            </a:endParaRPr>
          </a:p>
        </p:txBody>
      </p:sp>
      <p:grpSp>
        <p:nvGrpSpPr>
          <p:cNvPr id="41" name="Group 40"/>
          <p:cNvGrpSpPr>
            <a:grpSpLocks noChangeAspect="1"/>
          </p:cNvGrpSpPr>
          <p:nvPr/>
        </p:nvGrpSpPr>
        <p:grpSpPr>
          <a:xfrm>
            <a:off x="2277265" y="4871142"/>
            <a:ext cx="1097280" cy="1453458"/>
            <a:chOff x="2374179" y="1849397"/>
            <a:chExt cx="2277441" cy="3016700"/>
          </a:xfrm>
        </p:grpSpPr>
        <p:sp>
          <p:nvSpPr>
            <p:cNvPr id="21" name="Oval 20"/>
            <p:cNvSpPr/>
            <p:nvPr/>
          </p:nvSpPr>
          <p:spPr>
            <a:xfrm rot="5400000">
              <a:off x="4281164" y="2543824"/>
              <a:ext cx="370442" cy="370471"/>
            </a:xfrm>
            <a:prstGeom prst="ellipse">
              <a:avLst/>
            </a:prstGeom>
            <a:noFill/>
            <a:ln>
              <a:solidFill>
                <a:schemeClr val="accent2"/>
              </a:solidFill>
              <a:headEnd type="none" w="med" len="med"/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Oval 21"/>
            <p:cNvSpPr/>
            <p:nvPr/>
          </p:nvSpPr>
          <p:spPr>
            <a:xfrm rot="5400000">
              <a:off x="4281164" y="3827923"/>
              <a:ext cx="370442" cy="370471"/>
            </a:xfrm>
            <a:prstGeom prst="ellipse">
              <a:avLst/>
            </a:prstGeom>
            <a:noFill/>
            <a:ln>
              <a:solidFill>
                <a:schemeClr val="accent2"/>
              </a:solidFill>
              <a:headEnd type="none" w="med" len="med"/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3" name="Group 22"/>
            <p:cNvGrpSpPr/>
            <p:nvPr/>
          </p:nvGrpSpPr>
          <p:grpSpPr>
            <a:xfrm rot="5400000">
              <a:off x="2282389" y="2496878"/>
              <a:ext cx="2646259" cy="1721735"/>
              <a:chOff x="8426111" y="4014729"/>
              <a:chExt cx="2013198" cy="1309847"/>
            </a:xfrm>
          </p:grpSpPr>
          <p:cxnSp>
            <p:nvCxnSpPr>
              <p:cNvPr id="24" name="Straight Arrow Connector 23"/>
              <p:cNvCxnSpPr/>
              <p:nvPr/>
            </p:nvCxnSpPr>
            <p:spPr>
              <a:xfrm flipV="1">
                <a:off x="8426111" y="4014729"/>
                <a:ext cx="1364308" cy="1309847"/>
              </a:xfrm>
              <a:prstGeom prst="straightConnector1">
                <a:avLst/>
              </a:prstGeom>
              <a:ln w="19050" cmpd="sng">
                <a:solidFill>
                  <a:schemeClr val="accent2"/>
                </a:solidFill>
                <a:headEnd type="none" w="med" len="med"/>
                <a:tailEnd type="stealth" w="lg" len="lg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Straight Arrow Connector 24"/>
              <p:cNvCxnSpPr/>
              <p:nvPr/>
            </p:nvCxnSpPr>
            <p:spPr>
              <a:xfrm flipV="1">
                <a:off x="8930959" y="4114376"/>
                <a:ext cx="900732" cy="1210200"/>
              </a:xfrm>
              <a:prstGeom prst="straightConnector1">
                <a:avLst/>
              </a:prstGeom>
              <a:ln w="19050" cmpd="sng">
                <a:solidFill>
                  <a:schemeClr val="accent2"/>
                </a:solidFill>
                <a:headEnd type="none" w="med" len="med"/>
                <a:tailEnd type="stealth" w="lg" len="lg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Arrow Connector 25"/>
              <p:cNvCxnSpPr/>
              <p:nvPr/>
            </p:nvCxnSpPr>
            <p:spPr>
              <a:xfrm flipV="1">
                <a:off x="9435808" y="4155651"/>
                <a:ext cx="495522" cy="1168925"/>
              </a:xfrm>
              <a:prstGeom prst="straightConnector1">
                <a:avLst/>
              </a:prstGeom>
              <a:ln w="19050" cmpd="sng">
                <a:solidFill>
                  <a:schemeClr val="accent2"/>
                </a:solidFill>
                <a:headEnd type="none" w="med" len="med"/>
                <a:tailEnd type="stealth" w="lg" len="lg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Arrow Connector 26"/>
              <p:cNvCxnSpPr/>
              <p:nvPr/>
            </p:nvCxnSpPr>
            <p:spPr>
              <a:xfrm flipH="1" flipV="1">
                <a:off x="10072241" y="4014729"/>
                <a:ext cx="367068" cy="1309847"/>
              </a:xfrm>
              <a:prstGeom prst="straightConnector1">
                <a:avLst/>
              </a:prstGeom>
              <a:ln w="19050" cmpd="sng">
                <a:solidFill>
                  <a:schemeClr val="accent2"/>
                </a:solidFill>
                <a:headEnd type="none" w="med" len="med"/>
                <a:tailEnd type="stealth" w="lg" len="lg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Arrow Connector 27"/>
              <p:cNvCxnSpPr/>
              <p:nvPr/>
            </p:nvCxnSpPr>
            <p:spPr>
              <a:xfrm flipV="1">
                <a:off x="9942533" y="4114376"/>
                <a:ext cx="88436" cy="1210200"/>
              </a:xfrm>
              <a:prstGeom prst="straightConnector1">
                <a:avLst/>
              </a:prstGeom>
              <a:ln w="19050" cmpd="sng">
                <a:solidFill>
                  <a:schemeClr val="accent2"/>
                </a:solidFill>
                <a:headEnd type="none" w="med" len="med"/>
                <a:tailEnd type="stealth" w="lg" len="lg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9" name="Group 28"/>
            <p:cNvGrpSpPr/>
            <p:nvPr/>
          </p:nvGrpSpPr>
          <p:grpSpPr>
            <a:xfrm rot="5400000">
              <a:off x="2282389" y="2496878"/>
              <a:ext cx="2646259" cy="1721735"/>
              <a:chOff x="8426111" y="4014729"/>
              <a:chExt cx="2013198" cy="1309847"/>
            </a:xfrm>
          </p:grpSpPr>
          <p:cxnSp>
            <p:nvCxnSpPr>
              <p:cNvPr id="30" name="Straight Arrow Connector 29"/>
              <p:cNvCxnSpPr/>
              <p:nvPr/>
            </p:nvCxnSpPr>
            <p:spPr>
              <a:xfrm flipV="1">
                <a:off x="8426111" y="4014729"/>
                <a:ext cx="387402" cy="1309847"/>
              </a:xfrm>
              <a:prstGeom prst="straightConnector1">
                <a:avLst/>
              </a:prstGeom>
              <a:ln w="19050" cmpd="sng">
                <a:solidFill>
                  <a:schemeClr val="accent2"/>
                </a:solidFill>
                <a:headEnd type="none" w="med" len="med"/>
                <a:tailEnd type="stealth" w="lg" len="lg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Straight Arrow Connector 30"/>
              <p:cNvCxnSpPr/>
              <p:nvPr/>
            </p:nvCxnSpPr>
            <p:spPr>
              <a:xfrm flipH="1" flipV="1">
                <a:off x="8854785" y="4114376"/>
                <a:ext cx="76174" cy="1210200"/>
              </a:xfrm>
              <a:prstGeom prst="straightConnector1">
                <a:avLst/>
              </a:prstGeom>
              <a:ln w="19050" cmpd="sng">
                <a:solidFill>
                  <a:schemeClr val="accent2"/>
                </a:solidFill>
                <a:headEnd type="none" w="med" len="med"/>
                <a:tailEnd type="stealth" w="lg" len="lg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Straight Arrow Connector 31"/>
              <p:cNvCxnSpPr/>
              <p:nvPr/>
            </p:nvCxnSpPr>
            <p:spPr>
              <a:xfrm flipH="1" flipV="1">
                <a:off x="8954424" y="4155651"/>
                <a:ext cx="481384" cy="1168925"/>
              </a:xfrm>
              <a:prstGeom prst="straightConnector1">
                <a:avLst/>
              </a:prstGeom>
              <a:ln w="19050" cmpd="sng">
                <a:solidFill>
                  <a:schemeClr val="accent2"/>
                </a:solidFill>
                <a:headEnd type="none" w="med" len="med"/>
                <a:tailEnd type="stealth" w="lg" len="lg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Straight Arrow Connector 32"/>
              <p:cNvCxnSpPr/>
              <p:nvPr/>
            </p:nvCxnSpPr>
            <p:spPr>
              <a:xfrm flipH="1" flipV="1">
                <a:off x="9054063" y="4114376"/>
                <a:ext cx="888470" cy="1210200"/>
              </a:xfrm>
              <a:prstGeom prst="straightConnector1">
                <a:avLst/>
              </a:prstGeom>
              <a:ln w="19050" cmpd="sng">
                <a:solidFill>
                  <a:schemeClr val="accent2"/>
                </a:solidFill>
                <a:headEnd type="none" w="med" len="med"/>
                <a:tailEnd type="stealth" w="lg" len="lg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Arrow Connector 33"/>
              <p:cNvCxnSpPr/>
              <p:nvPr/>
            </p:nvCxnSpPr>
            <p:spPr>
              <a:xfrm flipH="1" flipV="1">
                <a:off x="9095335" y="4014729"/>
                <a:ext cx="1343974" cy="1309847"/>
              </a:xfrm>
              <a:prstGeom prst="straightConnector1">
                <a:avLst/>
              </a:prstGeom>
              <a:ln w="19050" cmpd="sng">
                <a:solidFill>
                  <a:schemeClr val="accent2"/>
                </a:solidFill>
                <a:headEnd type="none" w="med" len="med"/>
                <a:tailEnd type="stealth" w="lg" len="lg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5" name="Group 34"/>
            <p:cNvGrpSpPr/>
            <p:nvPr/>
          </p:nvGrpSpPr>
          <p:grpSpPr>
            <a:xfrm>
              <a:off x="2374179" y="1849397"/>
              <a:ext cx="370471" cy="3016700"/>
              <a:chOff x="2374179" y="2077997"/>
              <a:chExt cx="370471" cy="3016700"/>
            </a:xfrm>
          </p:grpSpPr>
          <p:sp>
            <p:nvSpPr>
              <p:cNvPr id="36" name="Oval 35"/>
              <p:cNvSpPr/>
              <p:nvPr/>
            </p:nvSpPr>
            <p:spPr>
              <a:xfrm rot="5400000">
                <a:off x="2374194" y="2077982"/>
                <a:ext cx="370442" cy="370471"/>
              </a:xfrm>
              <a:prstGeom prst="ellipse">
                <a:avLst/>
              </a:prstGeom>
              <a:noFill/>
              <a:ln>
                <a:solidFill>
                  <a:schemeClr val="accent2"/>
                </a:solidFill>
                <a:headEnd type="none" w="med" len="med"/>
                <a:tailEnd type="non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" name="Oval 36"/>
              <p:cNvSpPr/>
              <p:nvPr/>
            </p:nvSpPr>
            <p:spPr>
              <a:xfrm rot="5400000">
                <a:off x="2374194" y="2741582"/>
                <a:ext cx="370442" cy="370471"/>
              </a:xfrm>
              <a:prstGeom prst="ellipse">
                <a:avLst/>
              </a:prstGeom>
              <a:noFill/>
              <a:ln>
                <a:solidFill>
                  <a:schemeClr val="accent2"/>
                </a:solidFill>
                <a:headEnd type="none" w="med" len="med"/>
                <a:tailEnd type="non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8" name="Oval 37"/>
              <p:cNvSpPr/>
              <p:nvPr/>
            </p:nvSpPr>
            <p:spPr>
              <a:xfrm rot="5400000">
                <a:off x="2374194" y="3405183"/>
                <a:ext cx="370442" cy="370471"/>
              </a:xfrm>
              <a:prstGeom prst="ellipse">
                <a:avLst/>
              </a:prstGeom>
              <a:noFill/>
              <a:ln>
                <a:solidFill>
                  <a:schemeClr val="accent2"/>
                </a:solidFill>
                <a:headEnd type="none" w="med" len="med"/>
                <a:tailEnd type="non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Oval 38"/>
              <p:cNvSpPr/>
              <p:nvPr/>
            </p:nvSpPr>
            <p:spPr>
              <a:xfrm rot="5400000">
                <a:off x="2374194" y="4071250"/>
                <a:ext cx="370442" cy="370471"/>
              </a:xfrm>
              <a:prstGeom prst="ellipse">
                <a:avLst/>
              </a:prstGeom>
              <a:noFill/>
              <a:ln>
                <a:solidFill>
                  <a:schemeClr val="accent2"/>
                </a:solidFill>
                <a:headEnd type="none" w="med" len="med"/>
                <a:tailEnd type="non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" name="Oval 39"/>
              <p:cNvSpPr/>
              <p:nvPr/>
            </p:nvSpPr>
            <p:spPr>
              <a:xfrm rot="5400000">
                <a:off x="2374194" y="4724240"/>
                <a:ext cx="370442" cy="370471"/>
              </a:xfrm>
              <a:prstGeom prst="ellipse">
                <a:avLst/>
              </a:prstGeom>
              <a:noFill/>
              <a:ln>
                <a:solidFill>
                  <a:schemeClr val="accent2"/>
                </a:solidFill>
                <a:headEnd type="none" w="med" len="med"/>
                <a:tailEnd type="non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42" name="Group 41"/>
          <p:cNvGrpSpPr>
            <a:grpSpLocks noChangeAspect="1"/>
          </p:cNvGrpSpPr>
          <p:nvPr/>
        </p:nvGrpSpPr>
        <p:grpSpPr>
          <a:xfrm>
            <a:off x="4342266" y="5117078"/>
            <a:ext cx="731520" cy="900260"/>
            <a:chOff x="1404596" y="2821322"/>
            <a:chExt cx="1344424" cy="1654541"/>
          </a:xfrm>
        </p:grpSpPr>
        <p:sp>
          <p:nvSpPr>
            <p:cNvPr id="43" name="Oval 42"/>
            <p:cNvSpPr/>
            <p:nvPr/>
          </p:nvSpPr>
          <p:spPr>
            <a:xfrm rot="5400000">
              <a:off x="1404611" y="2821307"/>
              <a:ext cx="370442" cy="370471"/>
            </a:xfrm>
            <a:prstGeom prst="ellipse">
              <a:avLst/>
            </a:prstGeom>
            <a:noFill/>
            <a:ln>
              <a:solidFill>
                <a:schemeClr val="accent2"/>
              </a:solidFill>
              <a:headEnd type="none" w="med" len="med"/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Oval 43"/>
            <p:cNvSpPr/>
            <p:nvPr/>
          </p:nvSpPr>
          <p:spPr>
            <a:xfrm rot="5400000">
              <a:off x="1404611" y="4105406"/>
              <a:ext cx="370442" cy="370471"/>
            </a:xfrm>
            <a:prstGeom prst="ellipse">
              <a:avLst/>
            </a:prstGeom>
            <a:noFill/>
            <a:ln>
              <a:solidFill>
                <a:schemeClr val="accent2"/>
              </a:solidFill>
              <a:headEnd type="none" w="med" len="med"/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45" name="Group 44"/>
            <p:cNvGrpSpPr/>
            <p:nvPr/>
          </p:nvGrpSpPr>
          <p:grpSpPr>
            <a:xfrm rot="5400000">
              <a:off x="1658352" y="3069002"/>
              <a:ext cx="1153132" cy="1028205"/>
              <a:chOff x="8954420" y="3132855"/>
              <a:chExt cx="877270" cy="782230"/>
            </a:xfrm>
            <a:noFill/>
          </p:grpSpPr>
          <p:sp>
            <p:nvSpPr>
              <p:cNvPr id="46" name="Oval 45"/>
              <p:cNvSpPr/>
              <p:nvPr/>
            </p:nvSpPr>
            <p:spPr>
              <a:xfrm>
                <a:off x="9283851" y="3132855"/>
                <a:ext cx="281822" cy="281844"/>
              </a:xfrm>
              <a:prstGeom prst="ellipse">
                <a:avLst/>
              </a:prstGeom>
              <a:grpFill/>
              <a:ln>
                <a:solidFill>
                  <a:schemeClr val="accent2"/>
                </a:solidFill>
                <a:headEnd type="none" w="med" len="med"/>
                <a:tailEnd type="non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7" name="Straight Arrow Connector 46"/>
              <p:cNvCxnSpPr/>
              <p:nvPr/>
            </p:nvCxnSpPr>
            <p:spPr>
              <a:xfrm rot="16200000">
                <a:off x="8889578" y="3438267"/>
                <a:ext cx="500388" cy="370703"/>
              </a:xfrm>
              <a:prstGeom prst="straightConnector1">
                <a:avLst/>
              </a:prstGeom>
              <a:grpFill/>
              <a:ln w="19050" cmpd="sng">
                <a:solidFill>
                  <a:schemeClr val="accent2"/>
                </a:solidFill>
                <a:headEnd type="none" w="med" len="med"/>
                <a:tailEnd type="stealth" w="lg" len="lg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Straight Arrow Connector 47"/>
              <p:cNvCxnSpPr/>
              <p:nvPr/>
            </p:nvCxnSpPr>
            <p:spPr>
              <a:xfrm rot="16200000" flipV="1">
                <a:off x="9407215" y="3490610"/>
                <a:ext cx="541661" cy="307289"/>
              </a:xfrm>
              <a:prstGeom prst="straightConnector1">
                <a:avLst/>
              </a:prstGeom>
              <a:grpFill/>
              <a:ln w="19050" cmpd="sng">
                <a:solidFill>
                  <a:schemeClr val="accent2"/>
                </a:solidFill>
                <a:headEnd type="none" w="med" len="med"/>
                <a:tailEnd type="stealth" w="lg" len="lg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49" name="Group 48"/>
          <p:cNvGrpSpPr>
            <a:grpSpLocks noChangeAspect="1"/>
          </p:cNvGrpSpPr>
          <p:nvPr/>
        </p:nvGrpSpPr>
        <p:grpSpPr>
          <a:xfrm>
            <a:off x="5974080" y="4906218"/>
            <a:ext cx="731520" cy="1318220"/>
            <a:chOff x="5255097" y="2297449"/>
            <a:chExt cx="1279101" cy="2304975"/>
          </a:xfrm>
        </p:grpSpPr>
        <p:sp>
          <p:nvSpPr>
            <p:cNvPr id="50" name="Oval 49"/>
            <p:cNvSpPr/>
            <p:nvPr/>
          </p:nvSpPr>
          <p:spPr>
            <a:xfrm rot="5400000">
              <a:off x="5255112" y="3278135"/>
              <a:ext cx="370442" cy="370471"/>
            </a:xfrm>
            <a:prstGeom prst="ellipse">
              <a:avLst/>
            </a:prstGeom>
            <a:noFill/>
            <a:ln>
              <a:solidFill>
                <a:schemeClr val="accent2"/>
              </a:solidFill>
              <a:headEnd type="none" w="med" len="med"/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Oval 50"/>
            <p:cNvSpPr/>
            <p:nvPr/>
          </p:nvSpPr>
          <p:spPr>
            <a:xfrm rot="5400000">
              <a:off x="6163742" y="2297434"/>
              <a:ext cx="370442" cy="370471"/>
            </a:xfrm>
            <a:prstGeom prst="ellipse">
              <a:avLst/>
            </a:prstGeom>
            <a:noFill/>
            <a:ln>
              <a:solidFill>
                <a:schemeClr val="accent2"/>
              </a:solidFill>
              <a:headEnd type="none" w="med" len="med"/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Oval 51"/>
            <p:cNvSpPr/>
            <p:nvPr/>
          </p:nvSpPr>
          <p:spPr>
            <a:xfrm rot="5400000">
              <a:off x="6163742" y="4231967"/>
              <a:ext cx="370442" cy="370471"/>
            </a:xfrm>
            <a:prstGeom prst="ellipse">
              <a:avLst/>
            </a:prstGeom>
            <a:noFill/>
            <a:ln>
              <a:solidFill>
                <a:schemeClr val="accent2"/>
              </a:solidFill>
              <a:headEnd type="none" w="med" len="med"/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Oval 52"/>
            <p:cNvSpPr/>
            <p:nvPr/>
          </p:nvSpPr>
          <p:spPr>
            <a:xfrm rot="5400000">
              <a:off x="6163742" y="3292427"/>
              <a:ext cx="370442" cy="370471"/>
            </a:xfrm>
            <a:prstGeom prst="ellipse">
              <a:avLst/>
            </a:prstGeom>
            <a:noFill/>
            <a:ln>
              <a:solidFill>
                <a:schemeClr val="accent2"/>
              </a:solidFill>
              <a:headEnd type="none" w="med" len="med"/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4" name="Straight Arrow Connector 53"/>
            <p:cNvCxnSpPr/>
            <p:nvPr/>
          </p:nvCxnSpPr>
          <p:spPr>
            <a:xfrm rot="5400000" flipH="1" flipV="1">
              <a:off x="5442656" y="2611328"/>
              <a:ext cx="849730" cy="592413"/>
            </a:xfrm>
            <a:prstGeom prst="straightConnector1">
              <a:avLst/>
            </a:prstGeom>
            <a:noFill/>
            <a:ln w="19050" cmpd="sng">
              <a:solidFill>
                <a:schemeClr val="accent2"/>
              </a:solidFill>
              <a:headEnd type="none" w="med" len="med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Arrow Connector 54"/>
            <p:cNvCxnSpPr/>
            <p:nvPr/>
          </p:nvCxnSpPr>
          <p:spPr>
            <a:xfrm rot="5400000" flipV="1">
              <a:off x="5887502" y="3201437"/>
              <a:ext cx="14292" cy="538159"/>
            </a:xfrm>
            <a:prstGeom prst="straightConnector1">
              <a:avLst/>
            </a:prstGeom>
            <a:noFill/>
            <a:ln w="19050" cmpd="sng">
              <a:solidFill>
                <a:schemeClr val="accent2"/>
              </a:solidFill>
              <a:headEnd type="none" w="med" len="med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/>
            <p:cNvCxnSpPr/>
            <p:nvPr/>
          </p:nvCxnSpPr>
          <p:spPr>
            <a:xfrm rot="5400000" flipV="1">
              <a:off x="5456090" y="3709565"/>
              <a:ext cx="822861" cy="592413"/>
            </a:xfrm>
            <a:prstGeom prst="straightConnector1">
              <a:avLst/>
            </a:prstGeom>
            <a:noFill/>
            <a:ln w="19050" cmpd="sng">
              <a:solidFill>
                <a:schemeClr val="accent2"/>
              </a:solidFill>
              <a:headEnd type="none" w="med" len="med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21DAEB-EEFF-7C42-B0BF-8FF070AA09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90008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1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" name="Group 69"/>
          <p:cNvGrpSpPr/>
          <p:nvPr/>
        </p:nvGrpSpPr>
        <p:grpSpPr>
          <a:xfrm>
            <a:off x="6492250" y="3553676"/>
            <a:ext cx="2316649" cy="1353469"/>
            <a:chOff x="1535760" y="4870223"/>
            <a:chExt cx="3088865" cy="1417158"/>
          </a:xfrm>
        </p:grpSpPr>
        <p:cxnSp>
          <p:nvCxnSpPr>
            <p:cNvPr id="77" name="Straight Arrow Connector 76"/>
            <p:cNvCxnSpPr/>
            <p:nvPr/>
          </p:nvCxnSpPr>
          <p:spPr>
            <a:xfrm flipV="1">
              <a:off x="1538245" y="5959333"/>
              <a:ext cx="3086380" cy="1"/>
            </a:xfrm>
            <a:prstGeom prst="straightConnector1">
              <a:avLst/>
            </a:prstGeom>
            <a:ln w="28575" cmpd="sng">
              <a:solidFill>
                <a:schemeClr val="accent2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Arrow Connector 77"/>
            <p:cNvCxnSpPr/>
            <p:nvPr/>
          </p:nvCxnSpPr>
          <p:spPr>
            <a:xfrm flipV="1">
              <a:off x="1535760" y="4879150"/>
              <a:ext cx="2485" cy="1086340"/>
            </a:xfrm>
            <a:prstGeom prst="straightConnector1">
              <a:avLst/>
            </a:prstGeom>
            <a:ln w="28575" cmpd="sng">
              <a:solidFill>
                <a:schemeClr val="accent2"/>
              </a:solidFill>
              <a:headEnd type="non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Connector 78"/>
            <p:cNvCxnSpPr/>
            <p:nvPr/>
          </p:nvCxnSpPr>
          <p:spPr>
            <a:xfrm>
              <a:off x="1985698" y="4870223"/>
              <a:ext cx="0" cy="1090448"/>
            </a:xfrm>
            <a:prstGeom prst="line">
              <a:avLst/>
            </a:prstGeom>
            <a:ln>
              <a:solidFill>
                <a:schemeClr val="bg2">
                  <a:lumMod val="90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Connector 79"/>
            <p:cNvCxnSpPr/>
            <p:nvPr/>
          </p:nvCxnSpPr>
          <p:spPr>
            <a:xfrm>
              <a:off x="2444529" y="4870223"/>
              <a:ext cx="0" cy="1090448"/>
            </a:xfrm>
            <a:prstGeom prst="line">
              <a:avLst/>
            </a:prstGeom>
            <a:ln>
              <a:solidFill>
                <a:schemeClr val="bg2">
                  <a:lumMod val="90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Straight Connector 80"/>
            <p:cNvCxnSpPr/>
            <p:nvPr/>
          </p:nvCxnSpPr>
          <p:spPr>
            <a:xfrm>
              <a:off x="2903360" y="4870223"/>
              <a:ext cx="0" cy="1090448"/>
            </a:xfrm>
            <a:prstGeom prst="line">
              <a:avLst/>
            </a:prstGeom>
            <a:ln>
              <a:solidFill>
                <a:schemeClr val="bg2">
                  <a:lumMod val="90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Straight Connector 81"/>
            <p:cNvCxnSpPr/>
            <p:nvPr/>
          </p:nvCxnSpPr>
          <p:spPr>
            <a:xfrm>
              <a:off x="3362191" y="4870223"/>
              <a:ext cx="0" cy="1090448"/>
            </a:xfrm>
            <a:prstGeom prst="line">
              <a:avLst/>
            </a:prstGeom>
            <a:ln>
              <a:solidFill>
                <a:schemeClr val="bg2">
                  <a:lumMod val="90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Straight Connector 82"/>
            <p:cNvCxnSpPr/>
            <p:nvPr/>
          </p:nvCxnSpPr>
          <p:spPr>
            <a:xfrm>
              <a:off x="3821022" y="4870223"/>
              <a:ext cx="0" cy="1090448"/>
            </a:xfrm>
            <a:prstGeom prst="line">
              <a:avLst/>
            </a:prstGeom>
            <a:ln>
              <a:solidFill>
                <a:schemeClr val="bg2">
                  <a:lumMod val="90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Straight Connector 83"/>
            <p:cNvCxnSpPr/>
            <p:nvPr/>
          </p:nvCxnSpPr>
          <p:spPr>
            <a:xfrm>
              <a:off x="4279854" y="4870223"/>
              <a:ext cx="0" cy="1090448"/>
            </a:xfrm>
            <a:prstGeom prst="line">
              <a:avLst/>
            </a:prstGeom>
            <a:ln>
              <a:solidFill>
                <a:schemeClr val="bg2">
                  <a:lumMod val="90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5" name="TextBox 84"/>
            <p:cNvSpPr txBox="1"/>
            <p:nvPr/>
          </p:nvSpPr>
          <p:spPr>
            <a:xfrm>
              <a:off x="2596567" y="5932896"/>
              <a:ext cx="763457" cy="35448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0" i="1" dirty="0">
                  <a:solidFill>
                    <a:schemeClr val="accent2"/>
                  </a:solidFill>
                  <a:ea typeface="Arial" charset="0"/>
                  <a:cs typeface="Arial" charset="0"/>
                </a:rPr>
                <a:t>time</a:t>
              </a:r>
            </a:p>
          </p:txBody>
        </p:sp>
        <p:sp>
          <p:nvSpPr>
            <p:cNvPr id="86" name="TextBox 85"/>
            <p:cNvSpPr txBox="1"/>
            <p:nvPr/>
          </p:nvSpPr>
          <p:spPr>
            <a:xfrm>
              <a:off x="2308855" y="5925529"/>
              <a:ext cx="359501" cy="29003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0" i="1" dirty="0">
                  <a:solidFill>
                    <a:schemeClr val="accent2"/>
                  </a:solidFill>
                  <a:ea typeface="Arial" charset="0"/>
                  <a:cs typeface="Arial" charset="0"/>
                </a:rPr>
                <a:t>2</a:t>
              </a:r>
            </a:p>
          </p:txBody>
        </p:sp>
        <p:sp>
          <p:nvSpPr>
            <p:cNvPr id="87" name="TextBox 86"/>
            <p:cNvSpPr txBox="1"/>
            <p:nvPr/>
          </p:nvSpPr>
          <p:spPr>
            <a:xfrm>
              <a:off x="3227617" y="5929376"/>
              <a:ext cx="359501" cy="29003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0" i="1" dirty="0">
                  <a:solidFill>
                    <a:schemeClr val="accent2"/>
                  </a:solidFill>
                  <a:ea typeface="Arial" charset="0"/>
                  <a:cs typeface="Arial" charset="0"/>
                </a:rPr>
                <a:t>4</a:t>
              </a:r>
            </a:p>
          </p:txBody>
        </p:sp>
        <p:sp>
          <p:nvSpPr>
            <p:cNvPr id="88" name="TextBox 87"/>
            <p:cNvSpPr txBox="1"/>
            <p:nvPr/>
          </p:nvSpPr>
          <p:spPr>
            <a:xfrm>
              <a:off x="4141778" y="5925529"/>
              <a:ext cx="359501" cy="29003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0" i="1" dirty="0">
                  <a:solidFill>
                    <a:schemeClr val="accent2"/>
                  </a:solidFill>
                  <a:ea typeface="Arial" charset="0"/>
                  <a:cs typeface="Arial" charset="0"/>
                </a:rPr>
                <a:t>6</a:t>
              </a:r>
            </a:p>
          </p:txBody>
        </p:sp>
      </p:grpSp>
      <p:grpSp>
        <p:nvGrpSpPr>
          <p:cNvPr id="45" name="Group 44"/>
          <p:cNvGrpSpPr/>
          <p:nvPr/>
        </p:nvGrpSpPr>
        <p:grpSpPr>
          <a:xfrm>
            <a:off x="3599636" y="3547782"/>
            <a:ext cx="2288298" cy="1353469"/>
            <a:chOff x="1535760" y="4870223"/>
            <a:chExt cx="3051064" cy="1417158"/>
          </a:xfrm>
        </p:grpSpPr>
        <p:cxnSp>
          <p:nvCxnSpPr>
            <p:cNvPr id="46" name="Straight Arrow Connector 45"/>
            <p:cNvCxnSpPr/>
            <p:nvPr/>
          </p:nvCxnSpPr>
          <p:spPr>
            <a:xfrm flipV="1">
              <a:off x="1538245" y="5959333"/>
              <a:ext cx="3048579" cy="1"/>
            </a:xfrm>
            <a:prstGeom prst="straightConnector1">
              <a:avLst/>
            </a:prstGeom>
            <a:ln w="28575" cmpd="sng">
              <a:solidFill>
                <a:schemeClr val="accent2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/>
            <p:cNvCxnSpPr/>
            <p:nvPr/>
          </p:nvCxnSpPr>
          <p:spPr>
            <a:xfrm flipV="1">
              <a:off x="1535760" y="4879150"/>
              <a:ext cx="2485" cy="1086340"/>
            </a:xfrm>
            <a:prstGeom prst="straightConnector1">
              <a:avLst/>
            </a:prstGeom>
            <a:ln w="28575" cmpd="sng">
              <a:solidFill>
                <a:schemeClr val="accent2"/>
              </a:solidFill>
              <a:headEnd type="non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/>
            <p:cNvCxnSpPr/>
            <p:nvPr/>
          </p:nvCxnSpPr>
          <p:spPr>
            <a:xfrm>
              <a:off x="1985698" y="4870223"/>
              <a:ext cx="0" cy="1090448"/>
            </a:xfrm>
            <a:prstGeom prst="line">
              <a:avLst/>
            </a:prstGeom>
            <a:ln>
              <a:solidFill>
                <a:schemeClr val="accent1">
                  <a:lumMod val="90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/>
            <p:cNvCxnSpPr/>
            <p:nvPr/>
          </p:nvCxnSpPr>
          <p:spPr>
            <a:xfrm>
              <a:off x="2444529" y="4870223"/>
              <a:ext cx="0" cy="1090448"/>
            </a:xfrm>
            <a:prstGeom prst="line">
              <a:avLst/>
            </a:prstGeom>
            <a:ln>
              <a:solidFill>
                <a:schemeClr val="accent1">
                  <a:lumMod val="90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/>
            <p:cNvCxnSpPr/>
            <p:nvPr/>
          </p:nvCxnSpPr>
          <p:spPr>
            <a:xfrm>
              <a:off x="2903360" y="4870223"/>
              <a:ext cx="0" cy="1090448"/>
            </a:xfrm>
            <a:prstGeom prst="line">
              <a:avLst/>
            </a:prstGeom>
            <a:ln>
              <a:solidFill>
                <a:schemeClr val="accent1">
                  <a:lumMod val="90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/>
            <p:cNvCxnSpPr/>
            <p:nvPr/>
          </p:nvCxnSpPr>
          <p:spPr>
            <a:xfrm>
              <a:off x="3362191" y="4870223"/>
              <a:ext cx="0" cy="1090448"/>
            </a:xfrm>
            <a:prstGeom prst="line">
              <a:avLst/>
            </a:prstGeom>
            <a:ln>
              <a:solidFill>
                <a:schemeClr val="accent1">
                  <a:lumMod val="90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/>
            <p:cNvCxnSpPr/>
            <p:nvPr/>
          </p:nvCxnSpPr>
          <p:spPr>
            <a:xfrm>
              <a:off x="3821022" y="4870223"/>
              <a:ext cx="0" cy="1090448"/>
            </a:xfrm>
            <a:prstGeom prst="line">
              <a:avLst/>
            </a:prstGeom>
            <a:ln>
              <a:solidFill>
                <a:schemeClr val="accent1">
                  <a:lumMod val="90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/>
            <p:cNvCxnSpPr/>
            <p:nvPr/>
          </p:nvCxnSpPr>
          <p:spPr>
            <a:xfrm>
              <a:off x="4279854" y="4870223"/>
              <a:ext cx="0" cy="1090448"/>
            </a:xfrm>
            <a:prstGeom prst="line">
              <a:avLst/>
            </a:prstGeom>
            <a:ln>
              <a:solidFill>
                <a:schemeClr val="accent1">
                  <a:lumMod val="90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4" name="TextBox 53"/>
            <p:cNvSpPr txBox="1"/>
            <p:nvPr/>
          </p:nvSpPr>
          <p:spPr>
            <a:xfrm>
              <a:off x="2596567" y="5932896"/>
              <a:ext cx="763457" cy="35448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0" i="1" dirty="0">
                  <a:solidFill>
                    <a:schemeClr val="accent2"/>
                  </a:solidFill>
                  <a:ea typeface="Arial" charset="0"/>
                  <a:cs typeface="Arial" charset="0"/>
                </a:rPr>
                <a:t>time</a:t>
              </a:r>
            </a:p>
          </p:txBody>
        </p:sp>
        <p:sp>
          <p:nvSpPr>
            <p:cNvPr id="55" name="TextBox 54"/>
            <p:cNvSpPr txBox="1"/>
            <p:nvPr/>
          </p:nvSpPr>
          <p:spPr>
            <a:xfrm>
              <a:off x="2308855" y="5925529"/>
              <a:ext cx="359501" cy="29003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0" i="1" dirty="0">
                  <a:solidFill>
                    <a:schemeClr val="accent2"/>
                  </a:solidFill>
                  <a:ea typeface="Arial" charset="0"/>
                  <a:cs typeface="Arial" charset="0"/>
                </a:rPr>
                <a:t>2</a:t>
              </a:r>
            </a:p>
          </p:txBody>
        </p:sp>
        <p:sp>
          <p:nvSpPr>
            <p:cNvPr id="56" name="TextBox 55"/>
            <p:cNvSpPr txBox="1"/>
            <p:nvPr/>
          </p:nvSpPr>
          <p:spPr>
            <a:xfrm>
              <a:off x="3227617" y="5929376"/>
              <a:ext cx="359501" cy="29003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0" i="1" dirty="0">
                  <a:solidFill>
                    <a:schemeClr val="accent2"/>
                  </a:solidFill>
                  <a:ea typeface="Arial" charset="0"/>
                  <a:cs typeface="Arial" charset="0"/>
                </a:rPr>
                <a:t>4</a:t>
              </a:r>
            </a:p>
          </p:txBody>
        </p:sp>
        <p:sp>
          <p:nvSpPr>
            <p:cNvPr id="57" name="TextBox 56"/>
            <p:cNvSpPr txBox="1"/>
            <p:nvPr/>
          </p:nvSpPr>
          <p:spPr>
            <a:xfrm>
              <a:off x="4141779" y="5925529"/>
              <a:ext cx="359501" cy="29003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0" i="1" dirty="0">
                  <a:solidFill>
                    <a:schemeClr val="accent2"/>
                  </a:solidFill>
                  <a:ea typeface="Arial" charset="0"/>
                  <a:cs typeface="Arial" charset="0"/>
                </a:rPr>
                <a:t>6</a:t>
              </a:r>
            </a:p>
          </p:txBody>
        </p:sp>
      </p:grpSp>
      <p:grpSp>
        <p:nvGrpSpPr>
          <p:cNvPr id="34" name="Group 33"/>
          <p:cNvGrpSpPr/>
          <p:nvPr/>
        </p:nvGrpSpPr>
        <p:grpSpPr>
          <a:xfrm>
            <a:off x="553933" y="3548531"/>
            <a:ext cx="2313836" cy="1353469"/>
            <a:chOff x="1535760" y="4870223"/>
            <a:chExt cx="3085115" cy="1417158"/>
          </a:xfrm>
          <a:effectLst/>
        </p:grpSpPr>
        <p:cxnSp>
          <p:nvCxnSpPr>
            <p:cNvPr id="10" name="Straight Arrow Connector 9"/>
            <p:cNvCxnSpPr/>
            <p:nvPr/>
          </p:nvCxnSpPr>
          <p:spPr>
            <a:xfrm flipV="1">
              <a:off x="1538245" y="5959333"/>
              <a:ext cx="3082630" cy="1"/>
            </a:xfrm>
            <a:prstGeom prst="straightConnector1">
              <a:avLst/>
            </a:prstGeom>
            <a:ln w="28575" cmpd="sng">
              <a:solidFill>
                <a:schemeClr val="accent2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/>
            <p:cNvCxnSpPr/>
            <p:nvPr/>
          </p:nvCxnSpPr>
          <p:spPr>
            <a:xfrm flipV="1">
              <a:off x="1535760" y="4879150"/>
              <a:ext cx="2485" cy="1086340"/>
            </a:xfrm>
            <a:prstGeom prst="straightConnector1">
              <a:avLst/>
            </a:prstGeom>
            <a:ln w="28575" cmpd="sng">
              <a:solidFill>
                <a:schemeClr val="accent2"/>
              </a:solidFill>
              <a:headEnd type="non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/>
            <p:nvPr/>
          </p:nvCxnSpPr>
          <p:spPr>
            <a:xfrm>
              <a:off x="1985698" y="4870223"/>
              <a:ext cx="0" cy="1090448"/>
            </a:xfrm>
            <a:prstGeom prst="line">
              <a:avLst/>
            </a:prstGeom>
            <a:ln>
              <a:solidFill>
                <a:schemeClr val="bg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/>
            <p:nvPr/>
          </p:nvCxnSpPr>
          <p:spPr>
            <a:xfrm>
              <a:off x="2444529" y="4870223"/>
              <a:ext cx="0" cy="1090448"/>
            </a:xfrm>
            <a:prstGeom prst="line">
              <a:avLst/>
            </a:prstGeom>
            <a:ln>
              <a:solidFill>
                <a:schemeClr val="bg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/>
            <p:cNvCxnSpPr/>
            <p:nvPr/>
          </p:nvCxnSpPr>
          <p:spPr>
            <a:xfrm>
              <a:off x="2903360" y="4870223"/>
              <a:ext cx="0" cy="1090448"/>
            </a:xfrm>
            <a:prstGeom prst="line">
              <a:avLst/>
            </a:prstGeom>
            <a:ln>
              <a:solidFill>
                <a:schemeClr val="bg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/>
            <p:cNvCxnSpPr/>
            <p:nvPr/>
          </p:nvCxnSpPr>
          <p:spPr>
            <a:xfrm>
              <a:off x="3362191" y="4870223"/>
              <a:ext cx="0" cy="1090448"/>
            </a:xfrm>
            <a:prstGeom prst="line">
              <a:avLst/>
            </a:prstGeom>
            <a:ln>
              <a:solidFill>
                <a:schemeClr val="bg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/>
            <p:cNvCxnSpPr/>
            <p:nvPr/>
          </p:nvCxnSpPr>
          <p:spPr>
            <a:xfrm>
              <a:off x="3821022" y="4870223"/>
              <a:ext cx="0" cy="1090448"/>
            </a:xfrm>
            <a:prstGeom prst="line">
              <a:avLst/>
            </a:prstGeom>
            <a:ln>
              <a:solidFill>
                <a:schemeClr val="bg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/>
            <p:cNvCxnSpPr/>
            <p:nvPr/>
          </p:nvCxnSpPr>
          <p:spPr>
            <a:xfrm>
              <a:off x="4279854" y="4870223"/>
              <a:ext cx="0" cy="1090448"/>
            </a:xfrm>
            <a:prstGeom prst="line">
              <a:avLst/>
            </a:prstGeom>
            <a:ln>
              <a:solidFill>
                <a:schemeClr val="bg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/>
            <p:cNvSpPr txBox="1"/>
            <p:nvPr/>
          </p:nvSpPr>
          <p:spPr>
            <a:xfrm>
              <a:off x="2596565" y="5932896"/>
              <a:ext cx="763457" cy="35448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b="0" i="1" dirty="0">
                  <a:solidFill>
                    <a:schemeClr val="accent2"/>
                  </a:solidFill>
                  <a:ea typeface="Arial" charset="0"/>
                  <a:cs typeface="Arial" charset="0"/>
                </a:rPr>
                <a:t>time</a:t>
              </a:r>
              <a:endParaRPr lang="en-US" sz="2000" b="0" i="1" dirty="0">
                <a:solidFill>
                  <a:schemeClr val="accent2"/>
                </a:solidFill>
                <a:ea typeface="Arial" charset="0"/>
                <a:cs typeface="Arial" charset="0"/>
              </a:endParaRP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2308855" y="5925529"/>
              <a:ext cx="359501" cy="290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1200" b="0" i="1" dirty="0">
                  <a:solidFill>
                    <a:schemeClr val="accent2"/>
                  </a:solidFill>
                  <a:ea typeface="Arial" charset="0"/>
                  <a:cs typeface="Arial" charset="0"/>
                </a:rPr>
                <a:t>2</a:t>
              </a: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3227618" y="5929376"/>
              <a:ext cx="359501" cy="290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1200" b="0" i="1" dirty="0">
                  <a:solidFill>
                    <a:schemeClr val="accent2"/>
                  </a:solidFill>
                  <a:ea typeface="Arial" charset="0"/>
                  <a:cs typeface="Arial" charset="0"/>
                </a:rPr>
                <a:t>4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4141778" y="5925529"/>
              <a:ext cx="359501" cy="290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1200" b="0" i="1" dirty="0">
                  <a:solidFill>
                    <a:schemeClr val="accent2"/>
                  </a:solidFill>
                  <a:ea typeface="Arial" charset="0"/>
                  <a:cs typeface="Arial" charset="0"/>
                </a:rPr>
                <a:t>6</a:t>
              </a:r>
            </a:p>
          </p:txBody>
        </p:sp>
      </p:grpSp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Benefits of inter-coflow scheduling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71061" y="3898031"/>
            <a:ext cx="2054310" cy="134191"/>
          </a:xfrm>
          <a:prstGeom prst="rect">
            <a:avLst/>
          </a:prstGeom>
          <a:solidFill>
            <a:srgbClr val="D3A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b="0">
              <a:solidFill>
                <a:schemeClr val="accent2"/>
              </a:solidFill>
              <a:latin typeface="Arial" charset="0"/>
              <a:ea typeface="Arial" charset="0"/>
              <a:cs typeface="Arial" charset="0"/>
            </a:endParaRPr>
          </a:p>
        </p:txBody>
      </p:sp>
      <p:grpSp>
        <p:nvGrpSpPr>
          <p:cNvPr id="37" name="Group 36"/>
          <p:cNvGrpSpPr/>
          <p:nvPr/>
        </p:nvGrpSpPr>
        <p:grpSpPr>
          <a:xfrm>
            <a:off x="448363" y="4246507"/>
            <a:ext cx="2267084" cy="275865"/>
            <a:chOff x="1460689" y="4160512"/>
            <a:chExt cx="3296230" cy="367820"/>
          </a:xfrm>
        </p:grpSpPr>
        <p:sp>
          <p:nvSpPr>
            <p:cNvPr id="35" name="Freeform 34"/>
            <p:cNvSpPr/>
            <p:nvPr/>
          </p:nvSpPr>
          <p:spPr>
            <a:xfrm>
              <a:off x="1461562" y="4160512"/>
              <a:ext cx="3295357" cy="45719"/>
            </a:xfrm>
            <a:custGeom>
              <a:avLst/>
              <a:gdLst>
                <a:gd name="connsiteX0" fmla="*/ 0 w 3295357"/>
                <a:gd name="connsiteY0" fmla="*/ 16423 h 142417"/>
                <a:gd name="connsiteX1" fmla="*/ 1625782 w 3295357"/>
                <a:gd name="connsiteY1" fmla="*/ 142333 h 142417"/>
                <a:gd name="connsiteX2" fmla="*/ 3295357 w 3295357"/>
                <a:gd name="connsiteY2" fmla="*/ 0 h 1424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295357" h="142417">
                  <a:moveTo>
                    <a:pt x="0" y="16423"/>
                  </a:moveTo>
                  <a:cubicBezTo>
                    <a:pt x="538278" y="80746"/>
                    <a:pt x="1076556" y="145070"/>
                    <a:pt x="1625782" y="142333"/>
                  </a:cubicBezTo>
                  <a:cubicBezTo>
                    <a:pt x="2175008" y="139596"/>
                    <a:pt x="3295357" y="0"/>
                    <a:pt x="3295357" y="0"/>
                  </a:cubicBezTo>
                </a:path>
              </a:pathLst>
            </a:cu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400" b="0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36" name="Freeform 35"/>
            <p:cNvSpPr/>
            <p:nvPr/>
          </p:nvSpPr>
          <p:spPr>
            <a:xfrm rot="10800000">
              <a:off x="1460689" y="4482613"/>
              <a:ext cx="3295357" cy="45719"/>
            </a:xfrm>
            <a:custGeom>
              <a:avLst/>
              <a:gdLst>
                <a:gd name="connsiteX0" fmla="*/ 0 w 3295357"/>
                <a:gd name="connsiteY0" fmla="*/ 16423 h 142417"/>
                <a:gd name="connsiteX1" fmla="*/ 1625782 w 3295357"/>
                <a:gd name="connsiteY1" fmla="*/ 142333 h 142417"/>
                <a:gd name="connsiteX2" fmla="*/ 3295357 w 3295357"/>
                <a:gd name="connsiteY2" fmla="*/ 0 h 1424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295357" h="142417">
                  <a:moveTo>
                    <a:pt x="0" y="16423"/>
                  </a:moveTo>
                  <a:cubicBezTo>
                    <a:pt x="538278" y="80746"/>
                    <a:pt x="1076556" y="145070"/>
                    <a:pt x="1625782" y="142333"/>
                  </a:cubicBezTo>
                  <a:cubicBezTo>
                    <a:pt x="2175008" y="139596"/>
                    <a:pt x="3295357" y="0"/>
                    <a:pt x="3295357" y="0"/>
                  </a:cubicBezTo>
                </a:path>
              </a:pathLst>
            </a:cu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400" b="0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</p:grpSp>
      <p:grpSp>
        <p:nvGrpSpPr>
          <p:cNvPr id="39" name="Group 38"/>
          <p:cNvGrpSpPr/>
          <p:nvPr/>
        </p:nvGrpSpPr>
        <p:grpSpPr>
          <a:xfrm>
            <a:off x="447709" y="3831167"/>
            <a:ext cx="2267084" cy="275865"/>
            <a:chOff x="1460689" y="4160512"/>
            <a:chExt cx="3296230" cy="367820"/>
          </a:xfrm>
        </p:grpSpPr>
        <p:sp>
          <p:nvSpPr>
            <p:cNvPr id="40" name="Freeform 39"/>
            <p:cNvSpPr/>
            <p:nvPr/>
          </p:nvSpPr>
          <p:spPr>
            <a:xfrm>
              <a:off x="1461562" y="4160512"/>
              <a:ext cx="3295357" cy="45719"/>
            </a:xfrm>
            <a:custGeom>
              <a:avLst/>
              <a:gdLst>
                <a:gd name="connsiteX0" fmla="*/ 0 w 3295357"/>
                <a:gd name="connsiteY0" fmla="*/ 16423 h 142417"/>
                <a:gd name="connsiteX1" fmla="*/ 1625782 w 3295357"/>
                <a:gd name="connsiteY1" fmla="*/ 142333 h 142417"/>
                <a:gd name="connsiteX2" fmla="*/ 3295357 w 3295357"/>
                <a:gd name="connsiteY2" fmla="*/ 0 h 1424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295357" h="142417">
                  <a:moveTo>
                    <a:pt x="0" y="16423"/>
                  </a:moveTo>
                  <a:cubicBezTo>
                    <a:pt x="538278" y="80746"/>
                    <a:pt x="1076556" y="145070"/>
                    <a:pt x="1625782" y="142333"/>
                  </a:cubicBezTo>
                  <a:cubicBezTo>
                    <a:pt x="2175008" y="139596"/>
                    <a:pt x="3295357" y="0"/>
                    <a:pt x="3295357" y="0"/>
                  </a:cubicBezTo>
                </a:path>
              </a:pathLst>
            </a:cu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400" b="0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41" name="Freeform 40"/>
            <p:cNvSpPr/>
            <p:nvPr/>
          </p:nvSpPr>
          <p:spPr>
            <a:xfrm rot="10800000">
              <a:off x="1460689" y="4482613"/>
              <a:ext cx="3295357" cy="45719"/>
            </a:xfrm>
            <a:custGeom>
              <a:avLst/>
              <a:gdLst>
                <a:gd name="connsiteX0" fmla="*/ 0 w 3295357"/>
                <a:gd name="connsiteY0" fmla="*/ 16423 h 142417"/>
                <a:gd name="connsiteX1" fmla="*/ 1625782 w 3295357"/>
                <a:gd name="connsiteY1" fmla="*/ 142333 h 142417"/>
                <a:gd name="connsiteX2" fmla="*/ 3295357 w 3295357"/>
                <a:gd name="connsiteY2" fmla="*/ 0 h 1424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295357" h="142417">
                  <a:moveTo>
                    <a:pt x="0" y="16423"/>
                  </a:moveTo>
                  <a:cubicBezTo>
                    <a:pt x="538278" y="80746"/>
                    <a:pt x="1076556" y="145070"/>
                    <a:pt x="1625782" y="142333"/>
                  </a:cubicBezTo>
                  <a:cubicBezTo>
                    <a:pt x="2175008" y="139596"/>
                    <a:pt x="3295357" y="0"/>
                    <a:pt x="3295357" y="0"/>
                  </a:cubicBezTo>
                </a:path>
              </a:pathLst>
            </a:cu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400" b="0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</p:grpSp>
      <p:sp>
        <p:nvSpPr>
          <p:cNvPr id="43" name="Rectangle 42"/>
          <p:cNvSpPr/>
          <p:nvPr/>
        </p:nvSpPr>
        <p:spPr>
          <a:xfrm>
            <a:off x="4287941" y="4317803"/>
            <a:ext cx="1036991" cy="132906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b="0">
              <a:solidFill>
                <a:schemeClr val="accent2"/>
              </a:solidFill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44" name="Rectangle 43"/>
          <p:cNvSpPr/>
          <p:nvPr/>
        </p:nvSpPr>
        <p:spPr>
          <a:xfrm>
            <a:off x="3614588" y="4317485"/>
            <a:ext cx="671345" cy="133406"/>
          </a:xfrm>
          <a:prstGeom prst="rect">
            <a:avLst/>
          </a:prstGeom>
          <a:solidFill>
            <a:srgbClr val="D3A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b="0">
              <a:solidFill>
                <a:schemeClr val="accent2"/>
              </a:solidFill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68" name="Rectangle 67"/>
          <p:cNvSpPr/>
          <p:nvPr/>
        </p:nvSpPr>
        <p:spPr>
          <a:xfrm>
            <a:off x="7516878" y="4320904"/>
            <a:ext cx="692211" cy="133351"/>
          </a:xfrm>
          <a:prstGeom prst="rect">
            <a:avLst/>
          </a:prstGeom>
          <a:solidFill>
            <a:srgbClr val="D3A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b="0">
              <a:solidFill>
                <a:schemeClr val="accent2"/>
              </a:solidFill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69" name="Rectangle 68"/>
          <p:cNvSpPr/>
          <p:nvPr/>
        </p:nvSpPr>
        <p:spPr>
          <a:xfrm>
            <a:off x="6505083" y="4319781"/>
            <a:ext cx="1009880" cy="133406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b="0">
              <a:solidFill>
                <a:schemeClr val="accent2"/>
              </a:solidFill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651619" y="4905774"/>
            <a:ext cx="2060244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400" b="0" i="1" dirty="0">
                <a:solidFill>
                  <a:srgbClr val="000000"/>
                </a:solidFill>
                <a:ea typeface="Arial" charset="0"/>
                <a:cs typeface="Arial" charset="0"/>
              </a:rPr>
              <a:t>Coflow1 comp. time = 5</a:t>
            </a:r>
          </a:p>
          <a:p>
            <a:pPr algn="r"/>
            <a:r>
              <a:rPr lang="en-US" sz="1400" b="0" i="1" dirty="0">
                <a:solidFill>
                  <a:srgbClr val="000000"/>
                </a:solidFill>
                <a:ea typeface="Arial" charset="0"/>
                <a:cs typeface="Arial" charset="0"/>
              </a:rPr>
              <a:t>Coflow2 comp. time = 6</a:t>
            </a:r>
          </a:p>
          <a:p>
            <a:pPr algn="r"/>
            <a:r>
              <a:rPr lang="en-US" sz="1400" b="0" dirty="0">
                <a:solidFill>
                  <a:srgbClr val="000000"/>
                </a:solidFill>
                <a:ea typeface="Arial" charset="0"/>
                <a:cs typeface="Arial" charset="0"/>
              </a:rPr>
              <a:t>Average FCT = </a:t>
            </a:r>
            <a:r>
              <a:rPr lang="en-US" sz="1400" b="0" i="1" dirty="0">
                <a:solidFill>
                  <a:srgbClr val="000000"/>
                </a:solidFill>
                <a:ea typeface="Arial" charset="0"/>
                <a:cs typeface="Arial" charset="0"/>
              </a:rPr>
              <a:t>5</a:t>
            </a:r>
            <a:endParaRPr lang="en-US" sz="1400" b="0" dirty="0">
              <a:solidFill>
                <a:srgbClr val="000000"/>
              </a:solidFill>
              <a:ea typeface="Arial" charset="0"/>
              <a:cs typeface="Arial" charset="0"/>
            </a:endParaRPr>
          </a:p>
        </p:txBody>
      </p:sp>
      <p:sp>
        <p:nvSpPr>
          <p:cNvPr id="92" name="TextBox 91"/>
          <p:cNvSpPr txBox="1"/>
          <p:nvPr/>
        </p:nvSpPr>
        <p:spPr>
          <a:xfrm>
            <a:off x="3473324" y="4911671"/>
            <a:ext cx="213177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b="0" i="1" dirty="0">
                <a:solidFill>
                  <a:srgbClr val="000000"/>
                </a:solidFill>
                <a:ea typeface="Arial" charset="0"/>
                <a:cs typeface="Arial" charset="0"/>
              </a:rPr>
              <a:t>Coflow1 comp. time = 5</a:t>
            </a:r>
          </a:p>
          <a:p>
            <a:pPr algn="r"/>
            <a:r>
              <a:rPr lang="en-US" sz="1400" b="0" i="1" dirty="0">
                <a:solidFill>
                  <a:srgbClr val="000000"/>
                </a:solidFill>
                <a:ea typeface="Arial" charset="0"/>
                <a:cs typeface="Arial" charset="0"/>
              </a:rPr>
              <a:t>Coflow2 comp. time = 6</a:t>
            </a:r>
          </a:p>
          <a:p>
            <a:pPr algn="r"/>
            <a:r>
              <a:rPr lang="en-US" sz="1400" b="0" dirty="0">
                <a:solidFill>
                  <a:srgbClr val="000000"/>
                </a:solidFill>
                <a:ea typeface="Arial" charset="0"/>
                <a:cs typeface="Arial" charset="0"/>
              </a:rPr>
              <a:t>Average FCT = </a:t>
            </a:r>
            <a:r>
              <a:rPr lang="en-US" sz="1400" b="0" i="1" dirty="0">
                <a:solidFill>
                  <a:srgbClr val="0000FF"/>
                </a:solidFill>
                <a:ea typeface="Arial" charset="0"/>
                <a:cs typeface="Arial" charset="0"/>
              </a:rPr>
              <a:t>4.33</a:t>
            </a:r>
            <a:endParaRPr lang="en-US" sz="1400" b="0" dirty="0">
              <a:solidFill>
                <a:srgbClr val="0000FF"/>
              </a:solidFill>
              <a:ea typeface="Arial" charset="0"/>
              <a:cs typeface="Arial" charset="0"/>
            </a:endParaRPr>
          </a:p>
        </p:txBody>
      </p:sp>
      <p:sp>
        <p:nvSpPr>
          <p:cNvPr id="95" name="TextBox 94"/>
          <p:cNvSpPr txBox="1"/>
          <p:nvPr/>
        </p:nvSpPr>
        <p:spPr>
          <a:xfrm>
            <a:off x="609600" y="3187334"/>
            <a:ext cx="238187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0">
                <a:solidFill>
                  <a:schemeClr val="accent2"/>
                </a:solidFill>
                <a:ea typeface="Arial" charset="0"/>
                <a:cs typeface="Arial" charset="0"/>
              </a:rPr>
              <a:t>Fair Sharing (TCP, DCTCP)</a:t>
            </a:r>
            <a:endParaRPr lang="en-US" sz="1400" b="0" dirty="0">
              <a:solidFill>
                <a:schemeClr val="accent2"/>
              </a:solidFill>
              <a:ea typeface="Arial" charset="0"/>
              <a:cs typeface="Arial" charset="0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3505200" y="3185484"/>
            <a:ext cx="24721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0" dirty="0">
                <a:solidFill>
                  <a:schemeClr val="accent2"/>
                </a:solidFill>
                <a:ea typeface="Arial" charset="0"/>
                <a:cs typeface="Arial" charset="0"/>
              </a:rPr>
              <a:t>Smallest-Flow First (</a:t>
            </a:r>
            <a:r>
              <a:rPr lang="en-US" sz="1400" b="0" dirty="0" err="1">
                <a:solidFill>
                  <a:schemeClr val="accent2"/>
                </a:solidFill>
                <a:ea typeface="Arial" charset="0"/>
                <a:cs typeface="Arial" charset="0"/>
              </a:rPr>
              <a:t>pFabric</a:t>
            </a:r>
            <a:r>
              <a:rPr lang="en-US" sz="1400" b="0" dirty="0">
                <a:solidFill>
                  <a:schemeClr val="accent2"/>
                </a:solidFill>
                <a:ea typeface="Arial" charset="0"/>
                <a:cs typeface="Arial" charset="0"/>
              </a:rPr>
              <a:t>)</a:t>
            </a:r>
            <a:endParaRPr lang="en-US" sz="1400" b="0" baseline="30000" dirty="0">
              <a:solidFill>
                <a:schemeClr val="accent2"/>
              </a:solidFill>
              <a:ea typeface="Arial" charset="0"/>
              <a:cs typeface="Arial" charset="0"/>
            </a:endParaRPr>
          </a:p>
        </p:txBody>
      </p:sp>
      <p:sp>
        <p:nvSpPr>
          <p:cNvPr id="97" name="TextBox 96"/>
          <p:cNvSpPr txBox="1"/>
          <p:nvPr/>
        </p:nvSpPr>
        <p:spPr>
          <a:xfrm>
            <a:off x="6592961" y="3185485"/>
            <a:ext cx="187743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0" dirty="0">
                <a:solidFill>
                  <a:srgbClr val="0000FF"/>
                </a:solidFill>
                <a:ea typeface="Arial" charset="0"/>
                <a:cs typeface="Arial" charset="0"/>
              </a:rPr>
              <a:t>Smallest-</a:t>
            </a:r>
            <a:r>
              <a:rPr lang="en-US" sz="1400" b="0" dirty="0" err="1">
                <a:solidFill>
                  <a:srgbClr val="0000FF"/>
                </a:solidFill>
                <a:ea typeface="Arial" charset="0"/>
                <a:cs typeface="Arial" charset="0"/>
              </a:rPr>
              <a:t>Coflow</a:t>
            </a:r>
            <a:r>
              <a:rPr lang="en-US" sz="1400" b="0" dirty="0">
                <a:solidFill>
                  <a:srgbClr val="0000FF"/>
                </a:solidFill>
                <a:ea typeface="Arial" charset="0"/>
                <a:cs typeface="Arial" charset="0"/>
              </a:rPr>
              <a:t> First</a:t>
            </a:r>
          </a:p>
        </p:txBody>
      </p:sp>
      <p:grpSp>
        <p:nvGrpSpPr>
          <p:cNvPr id="102" name="Group 101"/>
          <p:cNvGrpSpPr/>
          <p:nvPr/>
        </p:nvGrpSpPr>
        <p:grpSpPr>
          <a:xfrm>
            <a:off x="3473979" y="4245017"/>
            <a:ext cx="2267084" cy="275865"/>
            <a:chOff x="1460689" y="4160512"/>
            <a:chExt cx="3296230" cy="367820"/>
          </a:xfrm>
        </p:grpSpPr>
        <p:sp>
          <p:nvSpPr>
            <p:cNvPr id="108" name="Freeform 107"/>
            <p:cNvSpPr/>
            <p:nvPr/>
          </p:nvSpPr>
          <p:spPr>
            <a:xfrm>
              <a:off x="1461562" y="4160512"/>
              <a:ext cx="3295357" cy="45719"/>
            </a:xfrm>
            <a:custGeom>
              <a:avLst/>
              <a:gdLst>
                <a:gd name="connsiteX0" fmla="*/ 0 w 3295357"/>
                <a:gd name="connsiteY0" fmla="*/ 16423 h 142417"/>
                <a:gd name="connsiteX1" fmla="*/ 1625782 w 3295357"/>
                <a:gd name="connsiteY1" fmla="*/ 142333 h 142417"/>
                <a:gd name="connsiteX2" fmla="*/ 3295357 w 3295357"/>
                <a:gd name="connsiteY2" fmla="*/ 0 h 1424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295357" h="142417">
                  <a:moveTo>
                    <a:pt x="0" y="16423"/>
                  </a:moveTo>
                  <a:cubicBezTo>
                    <a:pt x="538278" y="80746"/>
                    <a:pt x="1076556" y="145070"/>
                    <a:pt x="1625782" y="142333"/>
                  </a:cubicBezTo>
                  <a:cubicBezTo>
                    <a:pt x="2175008" y="139596"/>
                    <a:pt x="3295357" y="0"/>
                    <a:pt x="3295357" y="0"/>
                  </a:cubicBezTo>
                </a:path>
              </a:pathLst>
            </a:cu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400" b="0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109" name="Freeform 108"/>
            <p:cNvSpPr/>
            <p:nvPr/>
          </p:nvSpPr>
          <p:spPr>
            <a:xfrm rot="10800000">
              <a:off x="1460689" y="4482613"/>
              <a:ext cx="3295357" cy="45719"/>
            </a:xfrm>
            <a:custGeom>
              <a:avLst/>
              <a:gdLst>
                <a:gd name="connsiteX0" fmla="*/ 0 w 3295357"/>
                <a:gd name="connsiteY0" fmla="*/ 16423 h 142417"/>
                <a:gd name="connsiteX1" fmla="*/ 1625782 w 3295357"/>
                <a:gd name="connsiteY1" fmla="*/ 142333 h 142417"/>
                <a:gd name="connsiteX2" fmla="*/ 3295357 w 3295357"/>
                <a:gd name="connsiteY2" fmla="*/ 0 h 1424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295357" h="142417">
                  <a:moveTo>
                    <a:pt x="0" y="16423"/>
                  </a:moveTo>
                  <a:cubicBezTo>
                    <a:pt x="538278" y="80746"/>
                    <a:pt x="1076556" y="145070"/>
                    <a:pt x="1625782" y="142333"/>
                  </a:cubicBezTo>
                  <a:cubicBezTo>
                    <a:pt x="2175008" y="139596"/>
                    <a:pt x="3295357" y="0"/>
                    <a:pt x="3295357" y="0"/>
                  </a:cubicBezTo>
                </a:path>
              </a:pathLst>
            </a:cu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400" b="0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</p:grpSp>
      <p:grpSp>
        <p:nvGrpSpPr>
          <p:cNvPr id="112" name="Group 111"/>
          <p:cNvGrpSpPr/>
          <p:nvPr/>
        </p:nvGrpSpPr>
        <p:grpSpPr>
          <a:xfrm>
            <a:off x="3473325" y="3829676"/>
            <a:ext cx="2267084" cy="275865"/>
            <a:chOff x="1460689" y="4160512"/>
            <a:chExt cx="3296230" cy="367820"/>
          </a:xfrm>
        </p:grpSpPr>
        <p:sp>
          <p:nvSpPr>
            <p:cNvPr id="126" name="Freeform 125"/>
            <p:cNvSpPr/>
            <p:nvPr/>
          </p:nvSpPr>
          <p:spPr>
            <a:xfrm>
              <a:off x="1461562" y="4160512"/>
              <a:ext cx="3295357" cy="45719"/>
            </a:xfrm>
            <a:custGeom>
              <a:avLst/>
              <a:gdLst>
                <a:gd name="connsiteX0" fmla="*/ 0 w 3295357"/>
                <a:gd name="connsiteY0" fmla="*/ 16423 h 142417"/>
                <a:gd name="connsiteX1" fmla="*/ 1625782 w 3295357"/>
                <a:gd name="connsiteY1" fmla="*/ 142333 h 142417"/>
                <a:gd name="connsiteX2" fmla="*/ 3295357 w 3295357"/>
                <a:gd name="connsiteY2" fmla="*/ 0 h 1424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295357" h="142417">
                  <a:moveTo>
                    <a:pt x="0" y="16423"/>
                  </a:moveTo>
                  <a:cubicBezTo>
                    <a:pt x="538278" y="80746"/>
                    <a:pt x="1076556" y="145070"/>
                    <a:pt x="1625782" y="142333"/>
                  </a:cubicBezTo>
                  <a:cubicBezTo>
                    <a:pt x="2175008" y="139596"/>
                    <a:pt x="3295357" y="0"/>
                    <a:pt x="3295357" y="0"/>
                  </a:cubicBezTo>
                </a:path>
              </a:pathLst>
            </a:cu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400" b="0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127" name="Freeform 126"/>
            <p:cNvSpPr/>
            <p:nvPr/>
          </p:nvSpPr>
          <p:spPr>
            <a:xfrm rot="10800000">
              <a:off x="1460689" y="4482613"/>
              <a:ext cx="3295357" cy="45719"/>
            </a:xfrm>
            <a:custGeom>
              <a:avLst/>
              <a:gdLst>
                <a:gd name="connsiteX0" fmla="*/ 0 w 3295357"/>
                <a:gd name="connsiteY0" fmla="*/ 16423 h 142417"/>
                <a:gd name="connsiteX1" fmla="*/ 1625782 w 3295357"/>
                <a:gd name="connsiteY1" fmla="*/ 142333 h 142417"/>
                <a:gd name="connsiteX2" fmla="*/ 3295357 w 3295357"/>
                <a:gd name="connsiteY2" fmla="*/ 0 h 1424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295357" h="142417">
                  <a:moveTo>
                    <a:pt x="0" y="16423"/>
                  </a:moveTo>
                  <a:cubicBezTo>
                    <a:pt x="538278" y="80746"/>
                    <a:pt x="1076556" y="145070"/>
                    <a:pt x="1625782" y="142333"/>
                  </a:cubicBezTo>
                  <a:cubicBezTo>
                    <a:pt x="2175008" y="139596"/>
                    <a:pt x="3295357" y="0"/>
                    <a:pt x="3295357" y="0"/>
                  </a:cubicBezTo>
                </a:path>
              </a:pathLst>
            </a:cu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400" b="0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</p:grpSp>
      <p:grpSp>
        <p:nvGrpSpPr>
          <p:cNvPr id="128" name="Group 127"/>
          <p:cNvGrpSpPr/>
          <p:nvPr/>
        </p:nvGrpSpPr>
        <p:grpSpPr>
          <a:xfrm>
            <a:off x="6375938" y="4245743"/>
            <a:ext cx="2267084" cy="275865"/>
            <a:chOff x="1460689" y="4160512"/>
            <a:chExt cx="3296230" cy="367820"/>
          </a:xfrm>
        </p:grpSpPr>
        <p:sp>
          <p:nvSpPr>
            <p:cNvPr id="129" name="Freeform 128"/>
            <p:cNvSpPr/>
            <p:nvPr/>
          </p:nvSpPr>
          <p:spPr>
            <a:xfrm>
              <a:off x="1461562" y="4160512"/>
              <a:ext cx="3295357" cy="45719"/>
            </a:xfrm>
            <a:custGeom>
              <a:avLst/>
              <a:gdLst>
                <a:gd name="connsiteX0" fmla="*/ 0 w 3295357"/>
                <a:gd name="connsiteY0" fmla="*/ 16423 h 142417"/>
                <a:gd name="connsiteX1" fmla="*/ 1625782 w 3295357"/>
                <a:gd name="connsiteY1" fmla="*/ 142333 h 142417"/>
                <a:gd name="connsiteX2" fmla="*/ 3295357 w 3295357"/>
                <a:gd name="connsiteY2" fmla="*/ 0 h 1424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295357" h="142417">
                  <a:moveTo>
                    <a:pt x="0" y="16423"/>
                  </a:moveTo>
                  <a:cubicBezTo>
                    <a:pt x="538278" y="80746"/>
                    <a:pt x="1076556" y="145070"/>
                    <a:pt x="1625782" y="142333"/>
                  </a:cubicBezTo>
                  <a:cubicBezTo>
                    <a:pt x="2175008" y="139596"/>
                    <a:pt x="3295357" y="0"/>
                    <a:pt x="3295357" y="0"/>
                  </a:cubicBezTo>
                </a:path>
              </a:pathLst>
            </a:cu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400" b="0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130" name="Freeform 129"/>
            <p:cNvSpPr/>
            <p:nvPr/>
          </p:nvSpPr>
          <p:spPr>
            <a:xfrm rot="10800000">
              <a:off x="1460689" y="4482613"/>
              <a:ext cx="3295357" cy="45719"/>
            </a:xfrm>
            <a:custGeom>
              <a:avLst/>
              <a:gdLst>
                <a:gd name="connsiteX0" fmla="*/ 0 w 3295357"/>
                <a:gd name="connsiteY0" fmla="*/ 16423 h 142417"/>
                <a:gd name="connsiteX1" fmla="*/ 1625782 w 3295357"/>
                <a:gd name="connsiteY1" fmla="*/ 142333 h 142417"/>
                <a:gd name="connsiteX2" fmla="*/ 3295357 w 3295357"/>
                <a:gd name="connsiteY2" fmla="*/ 0 h 1424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295357" h="142417">
                  <a:moveTo>
                    <a:pt x="0" y="16423"/>
                  </a:moveTo>
                  <a:cubicBezTo>
                    <a:pt x="538278" y="80746"/>
                    <a:pt x="1076556" y="145070"/>
                    <a:pt x="1625782" y="142333"/>
                  </a:cubicBezTo>
                  <a:cubicBezTo>
                    <a:pt x="2175008" y="139596"/>
                    <a:pt x="3295357" y="0"/>
                    <a:pt x="3295357" y="0"/>
                  </a:cubicBezTo>
                </a:path>
              </a:pathLst>
            </a:cu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400" b="0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</p:grpSp>
      <p:grpSp>
        <p:nvGrpSpPr>
          <p:cNvPr id="131" name="Group 130"/>
          <p:cNvGrpSpPr/>
          <p:nvPr/>
        </p:nvGrpSpPr>
        <p:grpSpPr>
          <a:xfrm>
            <a:off x="6375284" y="3830403"/>
            <a:ext cx="2267084" cy="275865"/>
            <a:chOff x="1460689" y="4160512"/>
            <a:chExt cx="3296230" cy="367820"/>
          </a:xfrm>
        </p:grpSpPr>
        <p:sp>
          <p:nvSpPr>
            <p:cNvPr id="132" name="Freeform 131"/>
            <p:cNvSpPr/>
            <p:nvPr/>
          </p:nvSpPr>
          <p:spPr>
            <a:xfrm>
              <a:off x="1461562" y="4160512"/>
              <a:ext cx="3295357" cy="45719"/>
            </a:xfrm>
            <a:custGeom>
              <a:avLst/>
              <a:gdLst>
                <a:gd name="connsiteX0" fmla="*/ 0 w 3295357"/>
                <a:gd name="connsiteY0" fmla="*/ 16423 h 142417"/>
                <a:gd name="connsiteX1" fmla="*/ 1625782 w 3295357"/>
                <a:gd name="connsiteY1" fmla="*/ 142333 h 142417"/>
                <a:gd name="connsiteX2" fmla="*/ 3295357 w 3295357"/>
                <a:gd name="connsiteY2" fmla="*/ 0 h 1424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295357" h="142417">
                  <a:moveTo>
                    <a:pt x="0" y="16423"/>
                  </a:moveTo>
                  <a:cubicBezTo>
                    <a:pt x="538278" y="80746"/>
                    <a:pt x="1076556" y="145070"/>
                    <a:pt x="1625782" y="142333"/>
                  </a:cubicBezTo>
                  <a:cubicBezTo>
                    <a:pt x="2175008" y="139596"/>
                    <a:pt x="3295357" y="0"/>
                    <a:pt x="3295357" y="0"/>
                  </a:cubicBezTo>
                </a:path>
              </a:pathLst>
            </a:cu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400" b="0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133" name="Freeform 132"/>
            <p:cNvSpPr/>
            <p:nvPr/>
          </p:nvSpPr>
          <p:spPr>
            <a:xfrm rot="10800000">
              <a:off x="1460689" y="4482613"/>
              <a:ext cx="3295357" cy="45719"/>
            </a:xfrm>
            <a:custGeom>
              <a:avLst/>
              <a:gdLst>
                <a:gd name="connsiteX0" fmla="*/ 0 w 3295357"/>
                <a:gd name="connsiteY0" fmla="*/ 16423 h 142417"/>
                <a:gd name="connsiteX1" fmla="*/ 1625782 w 3295357"/>
                <a:gd name="connsiteY1" fmla="*/ 142333 h 142417"/>
                <a:gd name="connsiteX2" fmla="*/ 3295357 w 3295357"/>
                <a:gd name="connsiteY2" fmla="*/ 0 h 1424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295357" h="142417">
                  <a:moveTo>
                    <a:pt x="0" y="16423"/>
                  </a:moveTo>
                  <a:cubicBezTo>
                    <a:pt x="538278" y="80746"/>
                    <a:pt x="1076556" y="145070"/>
                    <a:pt x="1625782" y="142333"/>
                  </a:cubicBezTo>
                  <a:cubicBezTo>
                    <a:pt x="2175008" y="139596"/>
                    <a:pt x="3295357" y="0"/>
                    <a:pt x="3295357" y="0"/>
                  </a:cubicBezTo>
                </a:path>
              </a:pathLst>
            </a:cu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400" b="0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</p:grpSp>
      <p:sp>
        <p:nvSpPr>
          <p:cNvPr id="136" name="TextBox 135"/>
          <p:cNvSpPr txBox="1"/>
          <p:nvPr/>
        </p:nvSpPr>
        <p:spPr>
          <a:xfrm>
            <a:off x="6492251" y="4903189"/>
            <a:ext cx="205827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b="0" i="1" dirty="0">
                <a:solidFill>
                  <a:schemeClr val="accent2"/>
                </a:solidFill>
                <a:ea typeface="Arial" charset="0"/>
                <a:cs typeface="Arial" charset="0"/>
              </a:rPr>
              <a:t>Coflow1 comp. time = </a:t>
            </a:r>
            <a:r>
              <a:rPr lang="en-US" sz="1400" b="0" i="1" dirty="0">
                <a:solidFill>
                  <a:srgbClr val="0000FF"/>
                </a:solidFill>
                <a:ea typeface="Arial" charset="0"/>
                <a:cs typeface="Arial" charset="0"/>
              </a:rPr>
              <a:t>3</a:t>
            </a:r>
          </a:p>
          <a:p>
            <a:pPr algn="r"/>
            <a:r>
              <a:rPr lang="en-US" sz="1400" b="0" i="1" dirty="0">
                <a:solidFill>
                  <a:schemeClr val="accent2"/>
                </a:solidFill>
                <a:ea typeface="Arial" charset="0"/>
                <a:cs typeface="Arial" charset="0"/>
              </a:rPr>
              <a:t>Coflow2 comp. time = 6</a:t>
            </a:r>
          </a:p>
          <a:p>
            <a:pPr algn="r"/>
            <a:r>
              <a:rPr lang="en-US" sz="1400" b="0" dirty="0">
                <a:solidFill>
                  <a:schemeClr val="accent2"/>
                </a:solidFill>
                <a:ea typeface="Arial" charset="0"/>
                <a:cs typeface="Arial" charset="0"/>
              </a:rPr>
              <a:t>Average FCT = </a:t>
            </a:r>
            <a:r>
              <a:rPr lang="en-US" sz="1400" b="0" i="1" dirty="0">
                <a:solidFill>
                  <a:schemeClr val="accent2"/>
                </a:solidFill>
                <a:ea typeface="Arial" charset="0"/>
                <a:cs typeface="Arial" charset="0"/>
              </a:rPr>
              <a:t>4.67</a:t>
            </a:r>
            <a:endParaRPr lang="en-US" sz="1400" b="0" dirty="0">
              <a:solidFill>
                <a:schemeClr val="accent2"/>
              </a:solidFill>
              <a:ea typeface="Arial" charset="0"/>
              <a:cs typeface="Arial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28600" y="4245636"/>
            <a:ext cx="3834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0" i="1" dirty="0">
                <a:solidFill>
                  <a:schemeClr val="accent2"/>
                </a:solidFill>
                <a:ea typeface="Arial" charset="0"/>
                <a:cs typeface="Arial" charset="0"/>
              </a:rPr>
              <a:t>L1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28600" y="3831298"/>
            <a:ext cx="3834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0" i="1" dirty="0">
                <a:solidFill>
                  <a:schemeClr val="accent2"/>
                </a:solidFill>
                <a:ea typeface="Arial" charset="0"/>
                <a:cs typeface="Arial" charset="0"/>
              </a:rPr>
              <a:t>L2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276600" y="4245636"/>
            <a:ext cx="3834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0" i="1" dirty="0">
                <a:solidFill>
                  <a:schemeClr val="accent2"/>
                </a:solidFill>
                <a:ea typeface="Arial" charset="0"/>
                <a:cs typeface="Arial" charset="0"/>
              </a:rPr>
              <a:t>L1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276600" y="3831298"/>
            <a:ext cx="3834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0" i="1" dirty="0">
                <a:solidFill>
                  <a:schemeClr val="accent2"/>
                </a:solidFill>
                <a:ea typeface="Arial" charset="0"/>
                <a:cs typeface="Arial" charset="0"/>
              </a:rPr>
              <a:t>L2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160294" y="4245636"/>
            <a:ext cx="3834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0" i="1" dirty="0">
                <a:solidFill>
                  <a:schemeClr val="accent2"/>
                </a:solidFill>
                <a:ea typeface="Arial" charset="0"/>
                <a:cs typeface="Arial" charset="0"/>
              </a:rPr>
              <a:t>L1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160294" y="3831298"/>
            <a:ext cx="3834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0" i="1" dirty="0">
                <a:solidFill>
                  <a:schemeClr val="accent2"/>
                </a:solidFill>
                <a:ea typeface="Arial" charset="0"/>
                <a:cs typeface="Arial" charset="0"/>
              </a:rPr>
              <a:t>L2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-152400" y="2272760"/>
            <a:ext cx="9448800" cy="607920"/>
            <a:chOff x="0" y="1887344"/>
            <a:chExt cx="12192000" cy="810559"/>
          </a:xfrm>
        </p:grpSpPr>
        <p:sp>
          <p:nvSpPr>
            <p:cNvPr id="123" name="TextBox 122"/>
            <p:cNvSpPr txBox="1"/>
            <p:nvPr/>
          </p:nvSpPr>
          <p:spPr>
            <a:xfrm>
              <a:off x="0" y="2287534"/>
              <a:ext cx="12192000" cy="410369"/>
            </a:xfrm>
            <a:prstGeom prst="rect">
              <a:avLst/>
            </a:prstGeom>
            <a:noFill/>
            <a:ln>
              <a:solidFill>
                <a:schemeClr val="accent2"/>
              </a:solidFill>
            </a:ln>
          </p:spPr>
          <p:txBody>
            <a:bodyPr wrap="square" rtlCol="0" anchor="t">
              <a:spAutoFit/>
            </a:bodyPr>
            <a:lstStyle/>
            <a:p>
              <a:r>
                <a:rPr lang="en-US" sz="1400" b="0" dirty="0">
                  <a:solidFill>
                    <a:schemeClr val="accent2"/>
                  </a:solidFill>
                  <a:ea typeface="Arial" charset="0"/>
                  <a:cs typeface="Arial" charset="0"/>
                </a:rPr>
                <a:t>               Link 1</a:t>
              </a:r>
            </a:p>
          </p:txBody>
        </p:sp>
        <p:sp>
          <p:nvSpPr>
            <p:cNvPr id="122" name="TextBox 121"/>
            <p:cNvSpPr txBox="1"/>
            <p:nvPr/>
          </p:nvSpPr>
          <p:spPr>
            <a:xfrm>
              <a:off x="0" y="1887344"/>
              <a:ext cx="12192000" cy="41036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accent2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400" b="0" dirty="0">
                  <a:solidFill>
                    <a:schemeClr val="accent2"/>
                  </a:solidFill>
                  <a:ea typeface="Arial" charset="0"/>
                  <a:cs typeface="Arial" charset="0"/>
                </a:rPr>
                <a:t>               Link 2</a:t>
              </a:r>
            </a:p>
          </p:txBody>
        </p:sp>
      </p:grpSp>
      <p:grpSp>
        <p:nvGrpSpPr>
          <p:cNvPr id="5" name="Group 4"/>
          <p:cNvGrpSpPr/>
          <p:nvPr/>
        </p:nvGrpSpPr>
        <p:grpSpPr>
          <a:xfrm>
            <a:off x="2187864" y="1906302"/>
            <a:ext cx="5611712" cy="1044749"/>
            <a:chOff x="2187864" y="1906302"/>
            <a:chExt cx="5611712" cy="1044749"/>
          </a:xfrm>
        </p:grpSpPr>
        <p:sp>
          <p:nvSpPr>
            <p:cNvPr id="121" name="Rounded Rectangle 120"/>
            <p:cNvSpPr/>
            <p:nvPr/>
          </p:nvSpPr>
          <p:spPr>
            <a:xfrm>
              <a:off x="2191643" y="2192205"/>
              <a:ext cx="2016675" cy="758846"/>
            </a:xfrm>
            <a:prstGeom prst="roundRect">
              <a:avLst/>
            </a:prstGeom>
            <a:noFill/>
            <a:ln w="28575" cmpd="sng">
              <a:solidFill>
                <a:schemeClr val="tx1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0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110" name="TextBox 109"/>
            <p:cNvSpPr txBox="1"/>
            <p:nvPr/>
          </p:nvSpPr>
          <p:spPr>
            <a:xfrm>
              <a:off x="3460964" y="2571990"/>
              <a:ext cx="74251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0" i="1" dirty="0">
                  <a:solidFill>
                    <a:schemeClr val="accent2"/>
                  </a:solidFill>
                  <a:ea typeface="Arial" charset="0"/>
                  <a:cs typeface="Arial" charset="0"/>
                </a:rPr>
                <a:t>3 Units</a:t>
              </a:r>
            </a:p>
          </p:txBody>
        </p:sp>
        <p:sp>
          <p:nvSpPr>
            <p:cNvPr id="124" name="TextBox 123"/>
            <p:cNvSpPr txBox="1"/>
            <p:nvPr/>
          </p:nvSpPr>
          <p:spPr>
            <a:xfrm>
              <a:off x="2187864" y="1908544"/>
              <a:ext cx="201468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b="0" dirty="0">
                  <a:solidFill>
                    <a:schemeClr val="accent2"/>
                  </a:solidFill>
                  <a:ea typeface="Arial" charset="0"/>
                  <a:cs typeface="Arial" charset="0"/>
                </a:rPr>
                <a:t>Coflow 1</a:t>
              </a:r>
            </a:p>
          </p:txBody>
        </p:sp>
        <p:grpSp>
          <p:nvGrpSpPr>
            <p:cNvPr id="150" name="Group 149"/>
            <p:cNvGrpSpPr/>
            <p:nvPr/>
          </p:nvGrpSpPr>
          <p:grpSpPr>
            <a:xfrm>
              <a:off x="2368611" y="2643786"/>
              <a:ext cx="1015764" cy="133406"/>
              <a:chOff x="3223998" y="2381197"/>
              <a:chExt cx="1354352" cy="177874"/>
            </a:xfrm>
          </p:grpSpPr>
          <p:sp>
            <p:nvSpPr>
              <p:cNvPr id="145" name="Rectangle 144"/>
              <p:cNvSpPr/>
              <p:nvPr/>
            </p:nvSpPr>
            <p:spPr>
              <a:xfrm>
                <a:off x="3223998" y="2381197"/>
                <a:ext cx="430427" cy="177874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0">
                  <a:solidFill>
                    <a:schemeClr val="accent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146" name="Rectangle 145"/>
              <p:cNvSpPr/>
              <p:nvPr/>
            </p:nvSpPr>
            <p:spPr>
              <a:xfrm>
                <a:off x="3687548" y="2381197"/>
                <a:ext cx="430427" cy="177874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0">
                  <a:solidFill>
                    <a:schemeClr val="accent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147" name="Rectangle 146"/>
              <p:cNvSpPr/>
              <p:nvPr/>
            </p:nvSpPr>
            <p:spPr>
              <a:xfrm>
                <a:off x="4147923" y="2381197"/>
                <a:ext cx="430427" cy="177874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0">
                  <a:solidFill>
                    <a:schemeClr val="accent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</p:grpSp>
        <p:sp>
          <p:nvSpPr>
            <p:cNvPr id="134" name="Rounded Rectangle 133"/>
            <p:cNvSpPr/>
            <p:nvPr/>
          </p:nvSpPr>
          <p:spPr>
            <a:xfrm>
              <a:off x="4944042" y="2191050"/>
              <a:ext cx="2817101" cy="719367"/>
            </a:xfrm>
            <a:prstGeom prst="roundRect">
              <a:avLst/>
            </a:prstGeom>
            <a:noFill/>
            <a:ln w="28575" cmpd="sng">
              <a:solidFill>
                <a:schemeClr val="tx1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0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120" name="TextBox 119"/>
            <p:cNvSpPr txBox="1"/>
            <p:nvPr/>
          </p:nvSpPr>
          <p:spPr>
            <a:xfrm>
              <a:off x="6858000" y="2254048"/>
              <a:ext cx="94157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400" b="0" i="1" dirty="0">
                  <a:solidFill>
                    <a:schemeClr val="accent2"/>
                  </a:solidFill>
                  <a:ea typeface="Arial" charset="0"/>
                  <a:cs typeface="Arial" charset="0"/>
                </a:rPr>
                <a:t>6 Units</a:t>
              </a:r>
            </a:p>
          </p:txBody>
        </p:sp>
        <p:sp>
          <p:nvSpPr>
            <p:cNvPr id="125" name="TextBox 124"/>
            <p:cNvSpPr txBox="1"/>
            <p:nvPr/>
          </p:nvSpPr>
          <p:spPr>
            <a:xfrm>
              <a:off x="4941455" y="1906302"/>
              <a:ext cx="2690091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b="0" dirty="0">
                  <a:solidFill>
                    <a:schemeClr val="accent2"/>
                  </a:solidFill>
                  <a:ea typeface="Arial" charset="0"/>
                  <a:cs typeface="Arial" charset="0"/>
                </a:rPr>
                <a:t>Coflow 2</a:t>
              </a:r>
            </a:p>
          </p:txBody>
        </p:sp>
        <p:grpSp>
          <p:nvGrpSpPr>
            <p:cNvPr id="160" name="Group 159"/>
            <p:cNvGrpSpPr/>
            <p:nvPr/>
          </p:nvGrpSpPr>
          <p:grpSpPr>
            <a:xfrm>
              <a:off x="5032523" y="2354800"/>
              <a:ext cx="2053989" cy="133406"/>
              <a:chOff x="6700623" y="1981147"/>
              <a:chExt cx="2738652" cy="177874"/>
            </a:xfrm>
            <a:solidFill>
              <a:srgbClr val="D3A600"/>
            </a:solidFill>
          </p:grpSpPr>
          <p:sp>
            <p:nvSpPr>
              <p:cNvPr id="152" name="Rectangle 151"/>
              <p:cNvSpPr/>
              <p:nvPr/>
            </p:nvSpPr>
            <p:spPr>
              <a:xfrm>
                <a:off x="6700623" y="1981147"/>
                <a:ext cx="430427" cy="177874"/>
              </a:xfrm>
              <a:prstGeom prst="rect">
                <a:avLst/>
              </a:prstGeom>
              <a:grpFill/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0">
                  <a:solidFill>
                    <a:schemeClr val="accent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153" name="Rectangle 152"/>
              <p:cNvSpPr/>
              <p:nvPr/>
            </p:nvSpPr>
            <p:spPr>
              <a:xfrm>
                <a:off x="7164173" y="1981147"/>
                <a:ext cx="430427" cy="177874"/>
              </a:xfrm>
              <a:prstGeom prst="rect">
                <a:avLst/>
              </a:prstGeom>
              <a:grpFill/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0">
                  <a:solidFill>
                    <a:schemeClr val="accent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154" name="Rectangle 153"/>
              <p:cNvSpPr/>
              <p:nvPr/>
            </p:nvSpPr>
            <p:spPr>
              <a:xfrm>
                <a:off x="7624548" y="1981147"/>
                <a:ext cx="430427" cy="177874"/>
              </a:xfrm>
              <a:prstGeom prst="rect">
                <a:avLst/>
              </a:prstGeom>
              <a:grpFill/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0">
                  <a:solidFill>
                    <a:schemeClr val="accent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157" name="Rectangle 156"/>
              <p:cNvSpPr/>
              <p:nvPr/>
            </p:nvSpPr>
            <p:spPr>
              <a:xfrm>
                <a:off x="8084923" y="1981147"/>
                <a:ext cx="430427" cy="177874"/>
              </a:xfrm>
              <a:prstGeom prst="rect">
                <a:avLst/>
              </a:prstGeom>
              <a:grpFill/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0">
                  <a:solidFill>
                    <a:schemeClr val="accent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158" name="Rectangle 157"/>
              <p:cNvSpPr/>
              <p:nvPr/>
            </p:nvSpPr>
            <p:spPr>
              <a:xfrm>
                <a:off x="8548473" y="1981147"/>
                <a:ext cx="430427" cy="177874"/>
              </a:xfrm>
              <a:prstGeom prst="rect">
                <a:avLst/>
              </a:prstGeom>
              <a:grpFill/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0">
                  <a:solidFill>
                    <a:schemeClr val="accent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159" name="Rectangle 158"/>
              <p:cNvSpPr/>
              <p:nvPr/>
            </p:nvSpPr>
            <p:spPr>
              <a:xfrm>
                <a:off x="9008848" y="1981147"/>
                <a:ext cx="430427" cy="177874"/>
              </a:xfrm>
              <a:prstGeom prst="rect">
                <a:avLst/>
              </a:prstGeom>
              <a:grpFill/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0">
                  <a:solidFill>
                    <a:schemeClr val="accent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</p:grpSp>
        <p:sp>
          <p:nvSpPr>
            <p:cNvPr id="118" name="TextBox 117"/>
            <p:cNvSpPr txBox="1"/>
            <p:nvPr/>
          </p:nvSpPr>
          <p:spPr>
            <a:xfrm>
              <a:off x="7010400" y="2571990"/>
              <a:ext cx="78316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400" b="0" i="1" dirty="0">
                  <a:solidFill>
                    <a:schemeClr val="accent2"/>
                  </a:solidFill>
                  <a:ea typeface="Arial" charset="0"/>
                  <a:cs typeface="Arial" charset="0"/>
                </a:rPr>
                <a:t>2 Units</a:t>
              </a:r>
            </a:p>
          </p:txBody>
        </p:sp>
        <p:grpSp>
          <p:nvGrpSpPr>
            <p:cNvPr id="119" name="Group 118"/>
            <p:cNvGrpSpPr/>
            <p:nvPr/>
          </p:nvGrpSpPr>
          <p:grpSpPr>
            <a:xfrm>
              <a:off x="5028168" y="2643786"/>
              <a:ext cx="670483" cy="133406"/>
              <a:chOff x="3223998" y="1981147"/>
              <a:chExt cx="893977" cy="177874"/>
            </a:xfrm>
            <a:solidFill>
              <a:srgbClr val="D3A600"/>
            </a:solidFill>
          </p:grpSpPr>
          <p:sp>
            <p:nvSpPr>
              <p:cNvPr id="135" name="Rectangle 134"/>
              <p:cNvSpPr/>
              <p:nvPr/>
            </p:nvSpPr>
            <p:spPr>
              <a:xfrm>
                <a:off x="3223998" y="1981147"/>
                <a:ext cx="430427" cy="177874"/>
              </a:xfrm>
              <a:prstGeom prst="rect">
                <a:avLst/>
              </a:prstGeom>
              <a:grpFill/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0">
                  <a:solidFill>
                    <a:schemeClr val="accent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137" name="Rectangle 136"/>
              <p:cNvSpPr/>
              <p:nvPr/>
            </p:nvSpPr>
            <p:spPr>
              <a:xfrm>
                <a:off x="3687548" y="1981147"/>
                <a:ext cx="430427" cy="177874"/>
              </a:xfrm>
              <a:prstGeom prst="rect">
                <a:avLst/>
              </a:prstGeom>
              <a:grpFill/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0">
                  <a:solidFill>
                    <a:schemeClr val="accent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</p:grpSp>
      </p:grpSp>
      <p:sp>
        <p:nvSpPr>
          <p:cNvPr id="140" name="Rectangle 139"/>
          <p:cNvSpPr/>
          <p:nvPr/>
        </p:nvSpPr>
        <p:spPr>
          <a:xfrm>
            <a:off x="3615999" y="3909674"/>
            <a:ext cx="665564" cy="133406"/>
          </a:xfrm>
          <a:prstGeom prst="rect">
            <a:avLst/>
          </a:prstGeom>
          <a:solidFill>
            <a:srgbClr val="D3A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b="0">
              <a:solidFill>
                <a:schemeClr val="accent2"/>
              </a:solidFill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141" name="Rectangle 140"/>
          <p:cNvSpPr/>
          <p:nvPr/>
        </p:nvSpPr>
        <p:spPr>
          <a:xfrm>
            <a:off x="4290085" y="3909674"/>
            <a:ext cx="1372199" cy="133406"/>
          </a:xfrm>
          <a:prstGeom prst="rect">
            <a:avLst/>
          </a:prstGeom>
          <a:solidFill>
            <a:srgbClr val="D3A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b="0">
              <a:solidFill>
                <a:schemeClr val="accent2"/>
              </a:solidFill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151" name="Rectangle 150"/>
          <p:cNvSpPr/>
          <p:nvPr/>
        </p:nvSpPr>
        <p:spPr>
          <a:xfrm>
            <a:off x="6508070" y="3900432"/>
            <a:ext cx="1009880" cy="133406"/>
          </a:xfrm>
          <a:prstGeom prst="rect">
            <a:avLst/>
          </a:prstGeom>
          <a:solidFill>
            <a:srgbClr val="D3A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b="0">
              <a:solidFill>
                <a:schemeClr val="accent2"/>
              </a:solidFill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155" name="Rectangle 154"/>
          <p:cNvSpPr/>
          <p:nvPr/>
        </p:nvSpPr>
        <p:spPr>
          <a:xfrm>
            <a:off x="7527336" y="3900432"/>
            <a:ext cx="1021511" cy="133406"/>
          </a:xfrm>
          <a:prstGeom prst="rect">
            <a:avLst/>
          </a:prstGeom>
          <a:solidFill>
            <a:srgbClr val="D3A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b="0">
              <a:solidFill>
                <a:schemeClr val="accent2"/>
              </a:solidFill>
              <a:latin typeface="Arial" charset="0"/>
              <a:ea typeface="Arial" charset="0"/>
              <a:cs typeface="Arial" charset="0"/>
            </a:endParaRPr>
          </a:p>
        </p:txBody>
      </p:sp>
      <p:grpSp>
        <p:nvGrpSpPr>
          <p:cNvPr id="2" name="Group 1"/>
          <p:cNvGrpSpPr/>
          <p:nvPr/>
        </p:nvGrpSpPr>
        <p:grpSpPr>
          <a:xfrm>
            <a:off x="571409" y="4313373"/>
            <a:ext cx="1704236" cy="143962"/>
            <a:chOff x="747771" y="4730688"/>
            <a:chExt cx="2272314" cy="191949"/>
          </a:xfrm>
        </p:grpSpPr>
        <p:sp>
          <p:nvSpPr>
            <p:cNvPr id="16" name="Rectangle 15"/>
            <p:cNvSpPr/>
            <p:nvPr/>
          </p:nvSpPr>
          <p:spPr>
            <a:xfrm>
              <a:off x="748178" y="4730688"/>
              <a:ext cx="1813909" cy="95312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0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747771" y="4827325"/>
              <a:ext cx="1813909" cy="95312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0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139" name="Rectangle 138"/>
            <p:cNvSpPr/>
            <p:nvPr/>
          </p:nvSpPr>
          <p:spPr>
            <a:xfrm>
              <a:off x="2564338" y="4732953"/>
              <a:ext cx="455747" cy="188947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0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</p:grp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April 14, 2024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20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138" name="TextBox 137"/>
          <p:cNvSpPr txBox="1"/>
          <p:nvPr/>
        </p:nvSpPr>
        <p:spPr>
          <a:xfrm>
            <a:off x="1458936" y="5791200"/>
            <a:ext cx="6226129" cy="960218"/>
          </a:xfrm>
          <a:prstGeom prst="rect">
            <a:avLst/>
          </a:prstGeom>
          <a:solidFill>
            <a:srgbClr val="D3A600"/>
          </a:solidFill>
          <a:ln w="28575" cmpd="sng">
            <a:noFill/>
          </a:ln>
          <a:effectLst/>
        </p:spPr>
        <p:txBody>
          <a:bodyPr wrap="square" lIns="137160" tIns="34290" rIns="137160" bIns="34290" rtlCol="0" anchor="ctr">
            <a:noAutofit/>
          </a:bodyPr>
          <a:lstStyle/>
          <a:p>
            <a:pPr algn="ctr"/>
            <a:r>
              <a:rPr lang="en-US" sz="2000" dirty="0">
                <a:ea typeface="Arial" charset="0"/>
                <a:cs typeface="Arial" charset="0"/>
              </a:rPr>
              <a:t>Coflow completion time (CCT) is a better predictor </a:t>
            </a:r>
            <a:r>
              <a:rPr lang="en-US" sz="2000">
                <a:ea typeface="Arial" charset="0"/>
                <a:cs typeface="Arial" charset="0"/>
              </a:rPr>
              <a:t>of job-level performance than </a:t>
            </a:r>
            <a:r>
              <a:rPr lang="en-US" sz="2000" dirty="0">
                <a:ea typeface="Arial" charset="0"/>
                <a:cs typeface="Arial" charset="0"/>
              </a:rPr>
              <a:t>FCT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AA4FB7F-40BD-E344-8D35-766C3D330E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7A418-0CEB-9E4A-BA45-3B7D3D133EB9}" type="slidenum">
              <a:rPr lang="en-US" smtClean="0"/>
              <a:pPr/>
              <a:t>41</a:t>
            </a:fld>
            <a:endParaRPr 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940164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3" presetClass="entr" presetSubtype="5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vertical)">
                                      <p:cBhvr>
                                        <p:cTn id="16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3" presetClass="entr" presetSubtype="5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vertical)">
                                      <p:cBhvr>
                                        <p:cTn id="1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3" presetClass="entr" presetSubtype="5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vertical)">
                                      <p:cBhvr>
                                        <p:cTn id="22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3" presetClass="entr" presetSubtype="5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vertical)">
                                      <p:cBhvr>
                                        <p:cTn id="25" dur="5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2000"/>
                            </p:stCondLst>
                            <p:childTnLst>
                              <p:par>
                                <p:cTn id="3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3" presetClass="entr" presetSubtype="5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vertical)">
                                      <p:cBhvr>
                                        <p:cTn id="45" dur="5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3" presetClass="entr" presetSubtype="5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vertical)">
                                      <p:cBhvr>
                                        <p:cTn id="48" dur="5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3" presetClass="entr" presetSubtype="5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vertical)">
                                      <p:cBhvr>
                                        <p:cTn id="51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3" presetClass="entr" presetSubtype="5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vertical)">
                                      <p:cBhvr>
                                        <p:cTn id="54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0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000"/>
                                        <p:tgtEl>
                                          <p:spTgt spid="1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1000"/>
                            </p:stCondLst>
                            <p:childTnLst>
                              <p:par>
                                <p:cTn id="72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3" presetClass="entr" presetSubtype="5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vertical)">
                                      <p:cBhvr>
                                        <p:cTn id="83"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3" presetClass="entr" presetSubtype="5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vertical)">
                                      <p:cBhvr>
                                        <p:cTn id="86"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3" presetClass="entr" presetSubtype="5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vertical)">
                                      <p:cBhvr>
                                        <p:cTn id="89" dur="50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3" presetClass="entr" presetSubtype="5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vertical)">
                                      <p:cBhvr>
                                        <p:cTn id="92"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7" dur="10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0" dur="1000"/>
                                        <p:tgtEl>
                                          <p:spTgt spid="1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1" fill="hold">
                            <p:stCondLst>
                              <p:cond delay="1000"/>
                            </p:stCondLst>
                            <p:childTnLst>
                              <p:par>
                                <p:cTn id="10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4" fill="hold">
                      <p:stCondLst>
                        <p:cond delay="indefinite"/>
                      </p:stCondLst>
                      <p:childTnLst>
                        <p:par>
                          <p:cTn id="105" fill="hold">
                            <p:stCondLst>
                              <p:cond delay="0"/>
                            </p:stCondLst>
                            <p:childTnLst>
                              <p:par>
                                <p:cTn id="10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8" dur="10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1" dur="1000"/>
                                        <p:tgtEl>
                                          <p:spTgt spid="1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13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16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8" fill="hold">
                      <p:stCondLst>
                        <p:cond delay="indefinite"/>
                      </p:stCondLst>
                      <p:childTnLst>
                        <p:par>
                          <p:cTn id="119" fill="hold">
                            <p:stCondLst>
                              <p:cond delay="0"/>
                            </p:stCondLst>
                            <p:childTnLst>
                              <p:par>
                                <p:cTn id="12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 animBg="1"/>
      <p:bldP spid="43" grpId="0" animBg="1"/>
      <p:bldP spid="44" grpId="0" animBg="1"/>
      <p:bldP spid="68" grpId="0" animBg="1"/>
      <p:bldP spid="69" grpId="0" animBg="1"/>
      <p:bldP spid="90" grpId="0"/>
      <p:bldP spid="92" grpId="0"/>
      <p:bldP spid="95" grpId="0"/>
      <p:bldP spid="96" grpId="0"/>
      <p:bldP spid="97" grpId="0"/>
      <p:bldP spid="4" grpId="0"/>
      <p:bldP spid="107" grpId="0"/>
      <p:bldP spid="113" grpId="0"/>
      <p:bldP spid="114" grpId="0"/>
      <p:bldP spid="115" grpId="0"/>
      <p:bldP spid="116" grpId="0"/>
      <p:bldP spid="140" grpId="0" animBg="1"/>
      <p:bldP spid="141" grpId="0" animBg="1"/>
      <p:bldP spid="151" grpId="0" animBg="1"/>
      <p:bldP spid="155" grpId="0" animBg="1"/>
      <p:bldP spid="138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Networking in modern datacenters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L2/L3:</a:t>
            </a:r>
            <a:r>
              <a:rPr lang="en-US" dirty="0"/>
              <a:t> Source routing and load balancing to exploit multiple paths over the Clos topology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L4:</a:t>
            </a:r>
            <a:r>
              <a:rPr lang="en-US" dirty="0"/>
              <a:t> Find a better balance between latency and throughput requirements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L7:</a:t>
            </a:r>
            <a:r>
              <a:rPr lang="en-US" dirty="0"/>
              <a:t> Exploit application-level information with </a:t>
            </a:r>
            <a:r>
              <a:rPr lang="en-US" dirty="0" err="1">
                <a:solidFill>
                  <a:srgbClr val="0000FF"/>
                </a:solidFill>
              </a:rPr>
              <a:t>coflows</a:t>
            </a:r>
            <a:endParaRPr lang="en-US" dirty="0"/>
          </a:p>
          <a:p>
            <a:endParaRPr lang="en-US" dirty="0">
              <a:solidFill>
                <a:srgbClr val="0000FF"/>
              </a:solidFill>
            </a:endParaRPr>
          </a:p>
          <a:p>
            <a:r>
              <a:rPr lang="en-US" dirty="0">
                <a:solidFill>
                  <a:srgbClr val="0000FF"/>
                </a:solidFill>
              </a:rPr>
              <a:t>Last class</a:t>
            </a:r>
            <a:r>
              <a:rPr lang="en-US" dirty="0"/>
              <a:t>: Final Review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April 14, 2024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20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C97160-56B7-EB44-9B7A-49440AD18D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93813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3E6538-A3D2-5849-B7E3-AB3ADA7B43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5E2DF2-4CA2-8F47-BE24-E1BE6A5BCA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4BF23B-0C12-7D47-B217-97391E37D4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April 14, 2024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A323FA-92D1-204C-AF2C-9F64C71F5F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20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522E58-206C-1D45-8AED-334DFE0CC5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518726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TCP w/ per-packet load balancing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Consider</a:t>
            </a:r>
          </a:p>
          <a:p>
            <a:pPr lvl="1"/>
            <a:r>
              <a:rPr lang="en-US" dirty="0"/>
              <a:t>Sender sends </a:t>
            </a:r>
            <a:r>
              <a:rPr lang="en-US" dirty="0" err="1"/>
              <a:t>seq</a:t>
            </a:r>
            <a:r>
              <a:rPr lang="en-US" dirty="0"/>
              <a:t>#: 1,2,3,4,5 </a:t>
            </a:r>
          </a:p>
          <a:p>
            <a:pPr lvl="1"/>
            <a:r>
              <a:rPr lang="en-US" dirty="0"/>
              <a:t>Receiver receives: 5,4,3,2,1</a:t>
            </a:r>
          </a:p>
          <a:p>
            <a:pPr lvl="1"/>
            <a:r>
              <a:rPr lang="en-US" dirty="0"/>
              <a:t>Sender will enter fast retransmit, reduce CWND, retransmit #1, …</a:t>
            </a:r>
          </a:p>
          <a:p>
            <a:pPr lvl="1"/>
            <a:r>
              <a:rPr lang="en-US" dirty="0"/>
              <a:t>Repeatedly!</a:t>
            </a:r>
          </a:p>
          <a:p>
            <a:r>
              <a:rPr lang="en-US" dirty="0"/>
              <a:t>Information sharing between multiple paths affects TCP</a:t>
            </a:r>
          </a:p>
          <a:p>
            <a:pPr lvl="1"/>
            <a:r>
              <a:rPr lang="en-US" dirty="0"/>
              <a:t>One RTT and timeout estimator for multiple paths</a:t>
            </a:r>
          </a:p>
          <a:p>
            <a:pPr lvl="1"/>
            <a:r>
              <a:rPr lang="en-US" dirty="0"/>
              <a:t>CWND halved when a packet is dropped on any path</a:t>
            </a:r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April 14, 2024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20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CB85CD-04D0-EB46-9711-0FE4F081C0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49024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Multipath TCP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Multipath TCP (MPTCP) is an ongoing effort to extend TCP to coexist with multipath routing </a:t>
            </a:r>
          </a:p>
          <a:p>
            <a:pPr lvl="1"/>
            <a:r>
              <a:rPr lang="en-US" dirty="0"/>
              <a:t>Value beyond datacenters (e.g., spread traffic across WiFi and 4G access)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April 14, 2024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20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6D9CC8-1EAA-5042-873D-D917B07B54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708193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What’s ideal for a transport protocol?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 the flow is completely transferred?</a:t>
            </a:r>
          </a:p>
          <a:p>
            <a:r>
              <a:rPr lang="en-US" dirty="0"/>
              <a:t>Latency of each packet in the flow?</a:t>
            </a:r>
          </a:p>
          <a:p>
            <a:r>
              <a:rPr lang="en-US" dirty="0"/>
              <a:t>Number of packet drops?</a:t>
            </a:r>
          </a:p>
          <a:p>
            <a:r>
              <a:rPr lang="en-US" dirty="0"/>
              <a:t>Link utilization? </a:t>
            </a:r>
          </a:p>
          <a:p>
            <a:r>
              <a:rPr lang="en-US" dirty="0"/>
              <a:t>Average queue length at switches?</a:t>
            </a:r>
          </a:p>
          <a:p>
            <a:pPr lvl="1"/>
            <a:endParaRPr lang="en-US" dirty="0"/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April 14, 2024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20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5DFCA8-BA0E-6748-BA4A-8B4E919A9D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07207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implement coflows?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Modify applications to annotate coflows</a:t>
            </a:r>
          </a:p>
          <a:p>
            <a:pPr lvl="1"/>
            <a:r>
              <a:rPr lang="en-US" dirty="0"/>
              <a:t>Possible to infer them as well [SIGCOMM’16]</a:t>
            </a:r>
          </a:p>
          <a:p>
            <a:r>
              <a:rPr lang="en-US" dirty="0"/>
              <a:t>Managed communication</a:t>
            </a:r>
          </a:p>
          <a:p>
            <a:pPr lvl="1"/>
            <a:r>
              <a:rPr lang="en-US" dirty="0"/>
              <a:t>Applications do not communicate; instead, a central entity does the communication on their behalf</a:t>
            </a:r>
          </a:p>
          <a:p>
            <a:r>
              <a:rPr lang="en-US" dirty="0"/>
              <a:t>Centralized scheduling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April 14, 2024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20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E07E241-A764-1747-8CC1-9155AE380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2176314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.1|0.5|0.1|0.6|0.6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55.4|37.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55.4|37.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8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9.6|16.7|34.2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4.7|23.2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0.2|8.9|12.2|14.5|8.8|8.4|1.9|2.2"/>
</p:tagLst>
</file>

<file path=ppt/theme/theme1.xml><?xml version="1.0" encoding="utf-8"?>
<a:theme xmlns:a="http://schemas.openxmlformats.org/drawingml/2006/main" name="dbllineb">
  <a:themeElements>
    <a:clrScheme name="">
      <a:dk1>
        <a:srgbClr val="333399"/>
      </a:dk1>
      <a:lt1>
        <a:srgbClr val="FFFFFF"/>
      </a:lt1>
      <a:dk2>
        <a:srgbClr val="CC0000"/>
      </a:dk2>
      <a:lt2>
        <a:srgbClr val="CECECE"/>
      </a:lt2>
      <a:accent1>
        <a:srgbClr val="EBEBEB"/>
      </a:accent1>
      <a:accent2>
        <a:srgbClr val="232323"/>
      </a:accent2>
      <a:accent3>
        <a:srgbClr val="FFFFFF"/>
      </a:accent3>
      <a:accent4>
        <a:srgbClr val="2A2A82"/>
      </a:accent4>
      <a:accent5>
        <a:srgbClr val="F3F3F3"/>
      </a:accent5>
      <a:accent6>
        <a:srgbClr val="1F1F1F"/>
      </a:accent6>
      <a:hlink>
        <a:srgbClr val="9C9C9C"/>
      </a:hlink>
      <a:folHlink>
        <a:srgbClr val="676767"/>
      </a:folHlink>
    </a:clrScheme>
    <a:fontScheme name="dbllineb">
      <a:majorFont>
        <a:latin typeface="Arial Black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accent2"/>
          </a:solidFill>
          <a:prstDash val="solid"/>
          <a:round/>
          <a:headEnd type="none" w="med" len="med"/>
          <a:tailEnd type="stealth" w="med" len="lg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6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accent2"/>
          </a:solidFill>
          <a:prstDash val="solid"/>
          <a:round/>
          <a:headEnd type="none" w="med" len="med"/>
          <a:tailEnd type="stealth" w="med" len="lg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6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dbllineb 1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bllineb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33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bllineb 3">
        <a:dk1>
          <a:srgbClr val="000000"/>
        </a:dk1>
        <a:lt1>
          <a:srgbClr val="FFFFCC"/>
        </a:lt1>
        <a:dk2>
          <a:srgbClr val="999933"/>
        </a:dk2>
        <a:lt2>
          <a:srgbClr val="808000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bllineb 4">
        <a:dk1>
          <a:srgbClr val="000000"/>
        </a:dk1>
        <a:lt1>
          <a:srgbClr val="FFFFFF"/>
        </a:lt1>
        <a:dk2>
          <a:srgbClr val="000000"/>
        </a:dk2>
        <a:lt2>
          <a:srgbClr val="393939"/>
        </a:lt2>
        <a:accent1>
          <a:srgbClr val="CBCBCB"/>
        </a:accent1>
        <a:accent2>
          <a:srgbClr val="868686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797979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bllineb 5">
        <a:dk1>
          <a:srgbClr val="000000"/>
        </a:dk1>
        <a:lt1>
          <a:srgbClr val="FFFFFF"/>
        </a:lt1>
        <a:dk2>
          <a:srgbClr val="000000"/>
        </a:dk2>
        <a:lt2>
          <a:srgbClr val="9F9F9F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bllineb 6">
        <a:dk1>
          <a:srgbClr val="000000"/>
        </a:dk1>
        <a:lt1>
          <a:srgbClr val="FFFFFF"/>
        </a:lt1>
        <a:dk2>
          <a:srgbClr val="000000"/>
        </a:dk2>
        <a:lt2>
          <a:srgbClr val="868686"/>
        </a:lt2>
        <a:accent1>
          <a:srgbClr val="CBCBCB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005CE7"/>
        </a:accent6>
        <a:hlink>
          <a:srgbClr val="FF0033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bllineb 7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919191"/>
      </a:lt2>
      <a:accent1>
        <a:srgbClr val="618FFD"/>
      </a:accent1>
      <a:accent2>
        <a:srgbClr val="00AE00"/>
      </a:accent2>
      <a:accent3>
        <a:srgbClr val="FFFFFF"/>
      </a:accent3>
      <a:accent4>
        <a:srgbClr val="000000"/>
      </a:accent4>
      <a:accent5>
        <a:srgbClr val="B7C6FE"/>
      </a:accent5>
      <a:accent6>
        <a:srgbClr val="009D00"/>
      </a:accent6>
      <a:hlink>
        <a:srgbClr val="FC0128"/>
      </a:hlink>
      <a:folHlink>
        <a:srgbClr val="CECEC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919191"/>
      </a:lt2>
      <a:accent1>
        <a:srgbClr val="618FFD"/>
      </a:accent1>
      <a:accent2>
        <a:srgbClr val="00AE00"/>
      </a:accent2>
      <a:accent3>
        <a:srgbClr val="FFFFFF"/>
      </a:accent3>
      <a:accent4>
        <a:srgbClr val="000000"/>
      </a:accent4>
      <a:accent5>
        <a:srgbClr val="B7C6FE"/>
      </a:accent5>
      <a:accent6>
        <a:srgbClr val="009D00"/>
      </a:accent6>
      <a:hlink>
        <a:srgbClr val="FC0128"/>
      </a:hlink>
      <a:folHlink>
        <a:srgbClr val="CECEC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c:\msoffice\powerpnt\template\bwovrhd\dbllineb.ppt</Template>
  <TotalTime>1490453646</TotalTime>
  <Pages>7</Pages>
  <Words>3187</Words>
  <Application>Microsoft Macintosh PowerPoint</Application>
  <PresentationFormat>On-screen Show (4:3)</PresentationFormat>
  <Paragraphs>734</Paragraphs>
  <Slides>47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7" baseType="lpstr">
      <vt:lpstr>ＭＳ Ｐゴシック</vt:lpstr>
      <vt:lpstr>Arial</vt:lpstr>
      <vt:lpstr>Arial Black</vt:lpstr>
      <vt:lpstr>Calibri</vt:lpstr>
      <vt:lpstr>Gill Sans</vt:lpstr>
      <vt:lpstr>Monotype Sorts</vt:lpstr>
      <vt:lpstr>Segoe UI</vt:lpstr>
      <vt:lpstr>Times New Roman</vt:lpstr>
      <vt:lpstr>Wingdings</vt:lpstr>
      <vt:lpstr>dbllineb</vt:lpstr>
      <vt:lpstr>EECS 489 Computer Networks  Winter 2025</vt:lpstr>
      <vt:lpstr>Agenda</vt:lpstr>
      <vt:lpstr>Recap: Datacenter network requirements</vt:lpstr>
      <vt:lpstr>Recap: Clos topology</vt:lpstr>
      <vt:lpstr>Agenda</vt:lpstr>
      <vt:lpstr>Using multiple paths well</vt:lpstr>
      <vt:lpstr>L2/L3 design goals</vt:lpstr>
      <vt:lpstr>Extend DV / LS ?</vt:lpstr>
      <vt:lpstr>Forwarding </vt:lpstr>
      <vt:lpstr>Forwarding </vt:lpstr>
      <vt:lpstr>Forwarding </vt:lpstr>
      <vt:lpstr>Forwarding </vt:lpstr>
      <vt:lpstr>Extend DV / LS ?</vt:lpstr>
      <vt:lpstr>Solution 1: Topology-aware addressing</vt:lpstr>
      <vt:lpstr>Solution 1: Topology-aware addressing</vt:lpstr>
      <vt:lpstr>Solution 1: Topology-aware addressing</vt:lpstr>
      <vt:lpstr>Solution 1: Topology-aware addressing</vt:lpstr>
      <vt:lpstr>Solution 1: Topology-aware addressing</vt:lpstr>
      <vt:lpstr>Solution 1: Topology-aware addressing</vt:lpstr>
      <vt:lpstr>Solution 1: Topology-aware addressing</vt:lpstr>
      <vt:lpstr>Solution 1: Topology-aware addressing</vt:lpstr>
      <vt:lpstr>Solution 2: Centralize + Source routes</vt:lpstr>
      <vt:lpstr>Solution 2: Centralize + Source routes</vt:lpstr>
      <vt:lpstr>5-minute break!</vt:lpstr>
      <vt:lpstr>Agenda</vt:lpstr>
      <vt:lpstr>Workloads</vt:lpstr>
      <vt:lpstr>Tension between requirements</vt:lpstr>
      <vt:lpstr>Data Center TCP (DCTCP)</vt:lpstr>
      <vt:lpstr>Recap: Explicit Congestion Notification (ECN)</vt:lpstr>
      <vt:lpstr>DCTCP: Key ideas</vt:lpstr>
      <vt:lpstr>Actions due to DCTCP</vt:lpstr>
      <vt:lpstr>DCTCP: Why it works</vt:lpstr>
      <vt:lpstr>Flow Completion Time (FCT)</vt:lpstr>
      <vt:lpstr>FCT with DCTCP</vt:lpstr>
      <vt:lpstr>Solution: Use priorities!</vt:lpstr>
      <vt:lpstr>Are we there yet?</vt:lpstr>
      <vt:lpstr>Agenda</vt:lpstr>
      <vt:lpstr>The Map-Reduce Example</vt:lpstr>
      <vt:lpstr>Flow-based solutions</vt:lpstr>
      <vt:lpstr>The Coflow abstraction [SIGCOMM’14]</vt:lpstr>
      <vt:lpstr>Benefits of inter-coflow scheduling</vt:lpstr>
      <vt:lpstr>Summary</vt:lpstr>
      <vt:lpstr>PowerPoint Presentation</vt:lpstr>
      <vt:lpstr>TCP w/ per-packet load balancing</vt:lpstr>
      <vt:lpstr>Multipath TCP</vt:lpstr>
      <vt:lpstr>What’s ideal for a transport protocol?</vt:lpstr>
      <vt:lpstr>How to implement coflows?</vt:lpstr>
    </vt:vector>
  </TitlesOfParts>
  <Manager/>
  <Company>UC Riverside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CS153: Lecture 3 - Processes</dc:title>
  <dc:subject/>
  <dc:creator>Harsha V. Madhyastha</dc:creator>
  <cp:keywords/>
  <dc:description/>
  <cp:lastModifiedBy>Chowdhury, Mosharaf</cp:lastModifiedBy>
  <cp:revision>1269</cp:revision>
  <cp:lastPrinted>1999-09-08T17:25:07Z</cp:lastPrinted>
  <dcterms:created xsi:type="dcterms:W3CDTF">2014-01-14T18:15:50Z</dcterms:created>
  <dcterms:modified xsi:type="dcterms:W3CDTF">2025-04-14T14:20:16Z</dcterms:modified>
  <cp:category/>
</cp:coreProperties>
</file>